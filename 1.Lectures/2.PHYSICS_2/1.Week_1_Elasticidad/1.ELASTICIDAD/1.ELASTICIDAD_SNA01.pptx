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363" r:id="rId2"/>
    <p:sldId id="256" r:id="rId3"/>
    <p:sldId id="365" r:id="rId4"/>
    <p:sldId id="366" r:id="rId5"/>
    <p:sldId id="367" r:id="rId6"/>
    <p:sldId id="389" r:id="rId7"/>
    <p:sldId id="395" r:id="rId8"/>
    <p:sldId id="396" r:id="rId9"/>
    <p:sldId id="397" r:id="rId10"/>
    <p:sldId id="369" r:id="rId11"/>
    <p:sldId id="398" r:id="rId12"/>
    <p:sldId id="387" r:id="rId13"/>
    <p:sldId id="399" r:id="rId14"/>
    <p:sldId id="381" r:id="rId15"/>
    <p:sldId id="384" r:id="rId16"/>
    <p:sldId id="376" r:id="rId17"/>
    <p:sldId id="382" r:id="rId18"/>
    <p:sldId id="378" r:id="rId19"/>
  </p:sldIdLst>
  <p:sldSz cx="9906000" cy="6858000" type="A4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1611"/>
    <a:srgbClr val="0000FF"/>
    <a:srgbClr val="A51313"/>
    <a:srgbClr val="B71515"/>
    <a:srgbClr val="D51919"/>
    <a:srgbClr val="B6120E"/>
    <a:srgbClr val="930E0B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36" autoAdjust="0"/>
    <p:restoredTop sz="94660"/>
  </p:normalViewPr>
  <p:slideViewPr>
    <p:cSldViewPr>
      <p:cViewPr varScale="1">
        <p:scale>
          <a:sx n="84" d="100"/>
          <a:sy n="84" d="100"/>
        </p:scale>
        <p:origin x="1464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219AD7-51CE-483B-A812-AE489C31F232}" type="datetimeFigureOut">
              <a:rPr lang="es-MX" smtClean="0"/>
              <a:t>05/11/2019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76D70-7FD1-490F-953D-DAC7EFCA246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52353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223AA-9B34-4DCC-A6E4-0C980A794CD5}" type="datetimeFigureOut">
              <a:rPr lang="es-MX" smtClean="0"/>
              <a:t>05/11/2019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07FDC-64A3-4F2D-9092-2E95035D7FC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6993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7"/>
          <p:cNvSpPr/>
          <p:nvPr/>
        </p:nvSpPr>
        <p:spPr>
          <a:xfrm>
            <a:off x="1" y="1835150"/>
            <a:ext cx="259689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4479" y="1848218"/>
            <a:ext cx="8420100" cy="345317"/>
          </a:xfrm>
          <a:prstGeom prst="rect">
            <a:avLst/>
          </a:prstGeom>
        </p:spPr>
        <p:txBody>
          <a:bodyPr/>
          <a:lstStyle>
            <a:lvl1pPr>
              <a:defRPr sz="2800" cap="all">
                <a:solidFill>
                  <a:srgbClr val="272727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4479" y="2287320"/>
            <a:ext cx="6934200" cy="97839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pic>
        <p:nvPicPr>
          <p:cNvPr id="5" name="4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3260" y="5949280"/>
            <a:ext cx="2340260" cy="648072"/>
          </a:xfrm>
          <a:prstGeom prst="rect">
            <a:avLst/>
          </a:prstGeom>
        </p:spPr>
      </p:pic>
      <p:sp>
        <p:nvSpPr>
          <p:cNvPr id="7" name="Rectángulo 7"/>
          <p:cNvSpPr/>
          <p:nvPr/>
        </p:nvSpPr>
        <p:spPr>
          <a:xfrm>
            <a:off x="1" y="1835150"/>
            <a:ext cx="259689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" name="7 Rectángulo"/>
          <p:cNvSpPr/>
          <p:nvPr userDrawn="1"/>
        </p:nvSpPr>
        <p:spPr>
          <a:xfrm>
            <a:off x="7825563" y="12700"/>
            <a:ext cx="2066679" cy="11247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7"/>
          <p:cNvSpPr/>
          <p:nvPr userDrawn="1"/>
        </p:nvSpPr>
        <p:spPr>
          <a:xfrm>
            <a:off x="0" y="1835150"/>
            <a:ext cx="239713" cy="1430564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None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6" name="Rectangle 5"/>
          <p:cNvSpPr/>
          <p:nvPr/>
        </p:nvSpPr>
        <p:spPr>
          <a:xfrm>
            <a:off x="495300" y="393580"/>
            <a:ext cx="15007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LOGROS</a:t>
            </a:r>
            <a:endParaRPr lang="es-MX" sz="2400" dirty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95300" y="1078523"/>
            <a:ext cx="4375150" cy="51414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5035550" y="1078523"/>
            <a:ext cx="4375150" cy="51414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 dirty="0"/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95301" y="393580"/>
            <a:ext cx="50225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REFERENCIAS BIBLIOGRÁFICAS</a:t>
            </a:r>
            <a:endParaRPr lang="es-MX" sz="2400" dirty="0">
              <a:solidFill>
                <a:srgbClr val="FFC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REFERENCIAS BIBLIOGRAF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8"/>
          <p:cNvSpPr/>
          <p:nvPr/>
        </p:nvSpPr>
        <p:spPr>
          <a:xfrm>
            <a:off x="9684148" y="487363"/>
            <a:ext cx="235611" cy="474662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95300" y="1078523"/>
            <a:ext cx="8915400" cy="5141425"/>
          </a:xfrm>
          <a:prstGeom prst="rect">
            <a:avLst/>
          </a:prstGeom>
        </p:spPr>
        <p:txBody>
          <a:bodyPr/>
          <a:lstStyle>
            <a:lvl1pPr marL="457200" indent="-457200">
              <a:buFont typeface="+mj-lt"/>
              <a:buAutoNum type="arabicPeriod"/>
              <a:defRPr sz="2000"/>
            </a:lvl1pPr>
            <a:lvl2pPr marL="914400" indent="-457200">
              <a:buFont typeface="+mj-lt"/>
              <a:buAutoNum type="arabicPeriod"/>
              <a:defRPr sz="2000"/>
            </a:lvl2pPr>
          </a:lstStyle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endParaRPr lang="es-ES" dirty="0"/>
          </a:p>
        </p:txBody>
      </p:sp>
      <p:sp>
        <p:nvSpPr>
          <p:cNvPr id="12" name="Rectangle 11"/>
          <p:cNvSpPr/>
          <p:nvPr/>
        </p:nvSpPr>
        <p:spPr>
          <a:xfrm>
            <a:off x="495300" y="393580"/>
            <a:ext cx="26484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400" dirty="0" smtClean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CONCLUSIONES</a:t>
            </a:r>
            <a:endParaRPr lang="es-MX" sz="2400" dirty="0">
              <a:solidFill>
                <a:srgbClr val="FFC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6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8"/>
          <p:cNvSpPr/>
          <p:nvPr/>
        </p:nvSpPr>
        <p:spPr>
          <a:xfrm>
            <a:off x="9658351" y="482601"/>
            <a:ext cx="259689" cy="492125"/>
          </a:xfrm>
          <a:prstGeom prst="rect">
            <a:avLst/>
          </a:prstGeom>
          <a:solidFill>
            <a:srgbClr val="EFA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710100"/>
          </a:xfrm>
          <a:prstGeom prst="rect">
            <a:avLst/>
          </a:prstGeo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 dirty="0"/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1443" y="332656"/>
            <a:ext cx="482730" cy="654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77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772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 l="-9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0" r:id="rId8"/>
    <p:sldLayoutId id="2147483671" r:id="rId9"/>
  </p:sldLayoutIdLst>
  <p:transition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kern="1200" cap="all">
          <a:solidFill>
            <a:srgbClr val="EFA82F"/>
          </a:solidFill>
          <a:latin typeface="Arial"/>
          <a:ea typeface="ＭＳ Ｐゴシック" charset="-128"/>
          <a:cs typeface="+mj-cs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rgbClr val="EFA82F"/>
          </a:solidFill>
          <a:latin typeface="Arial" pitchFamily="34" charset="0"/>
          <a:ea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FA82F"/>
        </a:buClr>
        <a:buFont typeface="Arial" pitchFamily="34" charset="0"/>
        <a:buChar char="•"/>
        <a:defRPr sz="1600" kern="1200">
          <a:solidFill>
            <a:srgbClr val="676767"/>
          </a:solidFill>
          <a:latin typeface="Arial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isicarecreativa.com/" TargetMode="External"/><Relationship Id="rId2" Type="http://schemas.openxmlformats.org/officeDocument/2006/relationships/hyperlink" Target="http://www.sc.ehu.es/sbweb/fisica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28464" y="2578004"/>
            <a:ext cx="3600400" cy="288032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2400" dirty="0">
                <a:solidFill>
                  <a:schemeClr val="tx1"/>
                </a:solidFill>
              </a:rPr>
              <a:t>Elasticidad de los materiales. </a:t>
            </a:r>
            <a:endParaRPr lang="es-PE" sz="2400" dirty="0" smtClean="0">
              <a:solidFill>
                <a:schemeClr val="tx1"/>
              </a:solidFill>
            </a:endParaRPr>
          </a:p>
          <a:p>
            <a:r>
              <a:rPr lang="es-PE" sz="2400" dirty="0" smtClean="0">
                <a:solidFill>
                  <a:schemeClr val="tx1"/>
                </a:solidFill>
              </a:rPr>
              <a:t>Esfuerzo y Deformación</a:t>
            </a:r>
            <a:r>
              <a:rPr lang="es-PE" sz="2400" dirty="0">
                <a:solidFill>
                  <a:schemeClr val="tx1"/>
                </a:solidFill>
              </a:rPr>
              <a:t>. </a:t>
            </a:r>
            <a:endParaRPr lang="es-PE" sz="2400" dirty="0" smtClean="0">
              <a:solidFill>
                <a:schemeClr val="tx1"/>
              </a:solidFill>
            </a:endParaRPr>
          </a:p>
          <a:p>
            <a:r>
              <a:rPr lang="es-PE" sz="2400" dirty="0" smtClean="0">
                <a:solidFill>
                  <a:schemeClr val="tx1"/>
                </a:solidFill>
              </a:rPr>
              <a:t>Ley  de Hooke</a:t>
            </a:r>
            <a:r>
              <a:rPr lang="es-PE" sz="2400" dirty="0">
                <a:solidFill>
                  <a:schemeClr val="tx1"/>
                </a:solidFill>
              </a:rPr>
              <a:t>. </a:t>
            </a:r>
            <a:endParaRPr lang="es-PE" sz="2400" dirty="0" smtClean="0">
              <a:solidFill>
                <a:schemeClr val="tx1"/>
              </a:solidFill>
            </a:endParaRPr>
          </a:p>
          <a:p>
            <a:r>
              <a:rPr lang="es-PE" sz="2400" dirty="0" smtClean="0">
                <a:solidFill>
                  <a:schemeClr val="tx1"/>
                </a:solidFill>
              </a:rPr>
              <a:t>Módulos </a:t>
            </a:r>
            <a:r>
              <a:rPr lang="es-PE" sz="2400" dirty="0">
                <a:solidFill>
                  <a:schemeClr val="tx1"/>
                </a:solidFill>
              </a:rPr>
              <a:t>de Elasticidad. Energía elástica.</a:t>
            </a:r>
            <a:endParaRPr lang="es-PE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548194" y="760506"/>
            <a:ext cx="6645166" cy="6480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04975" indent="-1704975"/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01:  ELASTICIDAD DE LOS MATERIALES.</a:t>
            </a:r>
            <a:endParaRPr lang="es-PE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920" y="2492896"/>
            <a:ext cx="5397103" cy="305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92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640632" y="764704"/>
            <a:ext cx="5961184" cy="967154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200" b="1" dirty="0" smtClean="0">
                <a:solidFill>
                  <a:schemeClr val="tx1"/>
                </a:solidFill>
              </a:rPr>
              <a:t>OBSERVA LA IMÁGEN .  .  .</a:t>
            </a:r>
            <a:endParaRPr lang="es-PE" sz="3200" b="1" dirty="0">
              <a:solidFill>
                <a:schemeClr val="tx1"/>
              </a:solidFill>
            </a:endParaRPr>
          </a:p>
        </p:txBody>
      </p:sp>
      <p:sp>
        <p:nvSpPr>
          <p:cNvPr id="8" name="Rectángulo redondeado 7"/>
          <p:cNvSpPr/>
          <p:nvPr/>
        </p:nvSpPr>
        <p:spPr>
          <a:xfrm>
            <a:off x="556247" y="5925472"/>
            <a:ext cx="8264769" cy="646114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200" b="1" dirty="0" smtClean="0">
                <a:solidFill>
                  <a:schemeClr val="tx1"/>
                </a:solidFill>
              </a:rPr>
              <a:t>¿Qué opinión tienes al respecto?</a:t>
            </a:r>
            <a:endParaRPr lang="es-PE" sz="3200" b="1" dirty="0">
              <a:solidFill>
                <a:schemeClr val="tx1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17" y="2492896"/>
            <a:ext cx="8230749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73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2039815" y="879231"/>
            <a:ext cx="2985193" cy="677561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3200" dirty="0" smtClean="0">
                <a:solidFill>
                  <a:schemeClr val="tx1"/>
                </a:solidFill>
              </a:rPr>
              <a:t>PENSEMOS. . .</a:t>
            </a:r>
            <a:endParaRPr lang="es-PE" sz="3200" dirty="0">
              <a:solidFill>
                <a:schemeClr val="tx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6393160" y="1796483"/>
            <a:ext cx="3312368" cy="4516173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2400" b="1" dirty="0" smtClean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s-PE" sz="24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s-PE" sz="2000" b="1" dirty="0" smtClean="0">
                <a:solidFill>
                  <a:schemeClr val="tx1"/>
                </a:solidFill>
              </a:rPr>
              <a:t>¿</a:t>
            </a:r>
            <a:r>
              <a:rPr lang="es-PE" sz="2000" b="1" dirty="0">
                <a:solidFill>
                  <a:schemeClr val="tx1"/>
                </a:solidFill>
              </a:rPr>
              <a:t>Qué entiendes </a:t>
            </a:r>
            <a:r>
              <a:rPr lang="es-PE" sz="2000" b="1" dirty="0" smtClean="0">
                <a:solidFill>
                  <a:schemeClr val="tx1"/>
                </a:solidFill>
              </a:rPr>
              <a:t> elasticidad?</a:t>
            </a:r>
            <a:r>
              <a:rPr lang="es-PE" sz="2000" b="1" dirty="0">
                <a:solidFill>
                  <a:schemeClr val="tx1"/>
                </a:solidFill>
              </a:rPr>
              <a:t/>
            </a:r>
            <a:br>
              <a:rPr lang="es-PE" sz="2000" b="1" dirty="0">
                <a:solidFill>
                  <a:schemeClr val="tx1"/>
                </a:solidFill>
              </a:rPr>
            </a:br>
            <a:r>
              <a:rPr lang="es-PE" sz="2000" b="1" dirty="0" smtClean="0">
                <a:solidFill>
                  <a:schemeClr val="tx1"/>
                </a:solidFill>
              </a:rPr>
              <a:t>¿Qué entiendes por deformación?</a:t>
            </a:r>
            <a:r>
              <a:rPr lang="es-PE" sz="2000" b="1" dirty="0">
                <a:solidFill>
                  <a:schemeClr val="tx1"/>
                </a:solidFill>
              </a:rPr>
              <a:t/>
            </a:r>
            <a:br>
              <a:rPr lang="es-PE" sz="2000" b="1" dirty="0">
                <a:solidFill>
                  <a:schemeClr val="tx1"/>
                </a:solidFill>
              </a:rPr>
            </a:br>
            <a:r>
              <a:rPr lang="es-PE" sz="2000" b="1" dirty="0" smtClean="0">
                <a:solidFill>
                  <a:schemeClr val="tx1"/>
                </a:solidFill>
              </a:rPr>
              <a:t>¿Cómo es la energía potencial de un cuerpo deformado?</a:t>
            </a:r>
          </a:p>
          <a:p>
            <a:pPr>
              <a:lnSpc>
                <a:spcPct val="150000"/>
              </a:lnSpc>
            </a:pPr>
            <a:r>
              <a:rPr lang="es-PE" sz="2000" b="1" dirty="0" smtClean="0">
                <a:solidFill>
                  <a:schemeClr val="tx1"/>
                </a:solidFill>
              </a:rPr>
              <a:t>¿Qué es el modulo de Young?</a:t>
            </a:r>
            <a:r>
              <a:rPr lang="es-PE" sz="2000" b="1" dirty="0">
                <a:solidFill>
                  <a:schemeClr val="tx1"/>
                </a:solidFill>
              </a:rPr>
              <a:t/>
            </a:r>
            <a:br>
              <a:rPr lang="es-PE" sz="2000" b="1" dirty="0">
                <a:solidFill>
                  <a:schemeClr val="tx1"/>
                </a:solidFill>
              </a:rPr>
            </a:br>
            <a:r>
              <a:rPr lang="es-PE" sz="2400" b="1" dirty="0">
                <a:solidFill>
                  <a:schemeClr val="tx1"/>
                </a:solidFill>
              </a:rPr>
              <a:t/>
            </a:r>
            <a:br>
              <a:rPr lang="es-PE" sz="2400" b="1" dirty="0">
                <a:solidFill>
                  <a:schemeClr val="tx1"/>
                </a:solidFill>
              </a:rPr>
            </a:b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96" y="1948693"/>
            <a:ext cx="5622022" cy="421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1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2664295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PROPÓSITO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8" name="2 Redondear rectángulo de esquina diagonal"/>
          <p:cNvSpPr/>
          <p:nvPr/>
        </p:nvSpPr>
        <p:spPr>
          <a:xfrm>
            <a:off x="5241032" y="1484784"/>
            <a:ext cx="4104475" cy="4452123"/>
          </a:xfrm>
          <a:prstGeom prst="round2DiagRect">
            <a:avLst>
              <a:gd name="adj1" fmla="val 14362"/>
              <a:gd name="adj2" fmla="val 0"/>
            </a:avLst>
          </a:prstGeom>
          <a:solidFill>
            <a:srgbClr val="11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PE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termino de 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sesión, el estudiante resuelve problemas </a:t>
            </a:r>
            <a:r>
              <a:rPr lang="es-PE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elasticidad de los cuerpos solidos de forma </a:t>
            </a:r>
            <a:r>
              <a:rPr lang="es-P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correcta, con orden y precisión en el cálculo.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PE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6" y="2132856"/>
            <a:ext cx="3909322" cy="380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Conector recto 29"/>
          <p:cNvCxnSpPr/>
          <p:nvPr/>
        </p:nvCxnSpPr>
        <p:spPr>
          <a:xfrm>
            <a:off x="2932622" y="3626482"/>
            <a:ext cx="4154" cy="7010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="" xmlns:a16="http://schemas.microsoft.com/office/drawing/2014/main" id="{8001D105-DCAC-42FF-A68E-0D3DE034E8B2}"/>
              </a:ext>
            </a:extLst>
          </p:cNvPr>
          <p:cNvCxnSpPr>
            <a:cxnSpLocks/>
          </p:cNvCxnSpPr>
          <p:nvPr/>
        </p:nvCxnSpPr>
        <p:spPr>
          <a:xfrm>
            <a:off x="6881766" y="4025210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9" name="Rectángulo redondeado 8"/>
          <p:cNvSpPr/>
          <p:nvPr/>
        </p:nvSpPr>
        <p:spPr>
          <a:xfrm>
            <a:off x="1640632" y="1003815"/>
            <a:ext cx="4352925" cy="527000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 smtClean="0">
                <a:solidFill>
                  <a:schemeClr val="tx1"/>
                </a:solidFill>
              </a:rPr>
              <a:t>CONTENIDO TEMÁTICO</a:t>
            </a:r>
            <a:endParaRPr lang="es-PE" sz="2800" dirty="0">
              <a:solidFill>
                <a:schemeClr val="tx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="" xmlns:a16="http://schemas.microsoft.com/office/drawing/2014/main" id="{8029014D-9243-4890-AF00-9E6FC9945B2C}"/>
              </a:ext>
            </a:extLst>
          </p:cNvPr>
          <p:cNvSpPr/>
          <p:nvPr/>
        </p:nvSpPr>
        <p:spPr>
          <a:xfrm>
            <a:off x="2600759" y="1844824"/>
            <a:ext cx="5195686" cy="576064"/>
          </a:xfrm>
          <a:prstGeom prst="rect">
            <a:avLst/>
          </a:prstGeom>
          <a:solidFill>
            <a:srgbClr val="1199FF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b="1" dirty="0" smtClean="0">
                <a:solidFill>
                  <a:schemeClr val="tx1"/>
                </a:solidFill>
              </a:rPr>
              <a:t>ELASTICIDAD DE LOS MATERIALES</a:t>
            </a:r>
            <a:endParaRPr lang="es-PE" b="1" dirty="0">
              <a:solidFill>
                <a:schemeClr val="tx1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="" xmlns:a16="http://schemas.microsoft.com/office/drawing/2014/main" id="{008A15F1-A2F7-4515-8854-56CDE8B68B99}"/>
              </a:ext>
            </a:extLst>
          </p:cNvPr>
          <p:cNvCxnSpPr>
            <a:cxnSpLocks/>
          </p:cNvCxnSpPr>
          <p:nvPr/>
        </p:nvCxnSpPr>
        <p:spPr>
          <a:xfrm>
            <a:off x="4916462" y="2451052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3" name="Rectángulo 12">
            <a:extLst>
              <a:ext uri="{FF2B5EF4-FFF2-40B4-BE49-F238E27FC236}">
                <a16:creationId xmlns="" xmlns:a16="http://schemas.microsoft.com/office/drawing/2014/main" id="{B377CFE4-F974-430F-8D3E-31A44641DDDD}"/>
              </a:ext>
            </a:extLst>
          </p:cNvPr>
          <p:cNvSpPr/>
          <p:nvPr/>
        </p:nvSpPr>
        <p:spPr>
          <a:xfrm>
            <a:off x="2187679" y="3036424"/>
            <a:ext cx="1508771" cy="590058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solidFill>
                  <a:schemeClr val="tx1"/>
                </a:solidFill>
              </a:rPr>
              <a:t>CANTIDADES </a:t>
            </a:r>
            <a:r>
              <a:rPr lang="es-PE" sz="1600" b="1" dirty="0"/>
              <a:t>FÍSICAS</a:t>
            </a:r>
            <a:endParaRPr lang="es-PE" sz="1600" b="1" dirty="0">
              <a:solidFill>
                <a:schemeClr val="tx1"/>
              </a:solidFill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="" xmlns:a16="http://schemas.microsoft.com/office/drawing/2014/main" id="{43098481-B66C-4565-AFF8-F4FBF153DF92}"/>
              </a:ext>
            </a:extLst>
          </p:cNvPr>
          <p:cNvCxnSpPr>
            <a:cxnSpLocks/>
          </p:cNvCxnSpPr>
          <p:nvPr/>
        </p:nvCxnSpPr>
        <p:spPr>
          <a:xfrm flipH="1" flipV="1">
            <a:off x="1203775" y="2800075"/>
            <a:ext cx="7391093" cy="2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="" xmlns:a16="http://schemas.microsoft.com/office/drawing/2014/main" id="{E4375B2A-706A-4D8E-8409-0FE4926350F3}"/>
              </a:ext>
            </a:extLst>
          </p:cNvPr>
          <p:cNvCxnSpPr>
            <a:cxnSpLocks/>
          </p:cNvCxnSpPr>
          <p:nvPr/>
        </p:nvCxnSpPr>
        <p:spPr>
          <a:xfrm>
            <a:off x="4918241" y="2811092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16" name="Rectángulo 15">
            <a:extLst>
              <a:ext uri="{FF2B5EF4-FFF2-40B4-BE49-F238E27FC236}">
                <a16:creationId xmlns="" xmlns:a16="http://schemas.microsoft.com/office/drawing/2014/main" id="{B32EC4F4-40F8-440A-A577-A55B582660EF}"/>
              </a:ext>
            </a:extLst>
          </p:cNvPr>
          <p:cNvSpPr/>
          <p:nvPr/>
        </p:nvSpPr>
        <p:spPr>
          <a:xfrm>
            <a:off x="7787629" y="3019702"/>
            <a:ext cx="1917899" cy="1035690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600" b="1" dirty="0">
                <a:cs typeface="Arial" panose="020B0604020202020204" pitchFamily="34" charset="0"/>
              </a:rPr>
              <a:t>ENERGÍA DE DEFORMACIÓN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8EF499C7-AECE-44DE-89A6-BD7D3BC55E42}"/>
              </a:ext>
            </a:extLst>
          </p:cNvPr>
          <p:cNvSpPr/>
          <p:nvPr/>
        </p:nvSpPr>
        <p:spPr>
          <a:xfrm>
            <a:off x="41476" y="4025210"/>
            <a:ext cx="1944176" cy="2757984"/>
          </a:xfrm>
          <a:prstGeom prst="rect">
            <a:avLst/>
          </a:prstGeom>
          <a:solidFill>
            <a:srgbClr val="EAF991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r>
              <a:rPr lang="es-PE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Es una propiedad que muestran los solidos que al ser afectados por una fuerza o carga se deforman pero cuando cesa la fuerza recuperan sus dimensiones originales.</a:t>
            </a:r>
            <a:endParaRPr lang="es-PE" sz="1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="" xmlns:a16="http://schemas.microsoft.com/office/drawing/2014/main" id="{491CDA35-9E9C-46DA-B439-A69909018FD2}"/>
              </a:ext>
            </a:extLst>
          </p:cNvPr>
          <p:cNvSpPr/>
          <p:nvPr/>
        </p:nvSpPr>
        <p:spPr>
          <a:xfrm>
            <a:off x="2033114" y="4055393"/>
            <a:ext cx="1891285" cy="2181919"/>
          </a:xfrm>
          <a:prstGeom prst="rect">
            <a:avLst/>
          </a:prstGeom>
          <a:solidFill>
            <a:srgbClr val="EAF991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03200" lvl="0" indent="-203200" algn="just">
              <a:buFont typeface="Arial" panose="020B0604020202020204" pitchFamily="34" charset="0"/>
              <a:buChar char="•"/>
            </a:pPr>
            <a:endParaRPr kumimoji="1" lang="en-GB" altLang="es-PE" sz="16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3200" lvl="0" indent="-203200" algn="just">
              <a:buFont typeface="Arial" panose="020B0604020202020204" pitchFamily="34" charset="0"/>
              <a:buChar char="•"/>
            </a:pPr>
            <a:r>
              <a:rPr kumimoji="1" lang="en-GB" altLang="es-PE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 transversal</a:t>
            </a:r>
          </a:p>
          <a:p>
            <a:pPr marL="203200" lvl="0" indent="-203200" algn="just">
              <a:buFont typeface="Arial" panose="020B0604020202020204" pitchFamily="34" charset="0"/>
              <a:buChar char="•"/>
            </a:pPr>
            <a:r>
              <a:rPr kumimoji="1" lang="en-GB" altLang="es-PE"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Fuerza</a:t>
            </a:r>
            <a:endParaRPr kumimoji="1" lang="en-GB" altLang="es-PE" sz="16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Esfuerzo</a:t>
            </a:r>
            <a:r>
              <a:rPr kumimoji="1" lang="en-GB" altLang="es-PE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</a:t>
            </a: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Esfuerzo</a:t>
            </a:r>
            <a:r>
              <a:rPr kumimoji="1" lang="en-GB" altLang="es-PE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GB" altLang="es-PE"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tangencial</a:t>
            </a:r>
            <a:r>
              <a:rPr kumimoji="1" lang="en-GB" altLang="es-PE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Deformación</a:t>
            </a:r>
            <a:endParaRPr kumimoji="1" lang="en-GB" altLang="es-PE" sz="16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0" indent="-177800" algn="just">
              <a:buFont typeface="Arial" panose="020B0604020202020204" pitchFamily="34" charset="0"/>
              <a:buChar char="•"/>
            </a:pPr>
            <a:r>
              <a:rPr kumimoji="1" lang="en-GB" altLang="es-PE"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Energía</a:t>
            </a:r>
            <a:r>
              <a:rPr kumimoji="1" lang="en-GB" altLang="es-PE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kumimoji="1" lang="en-GB" altLang="es-PE"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deformación</a:t>
            </a:r>
            <a:r>
              <a:rPr kumimoji="1" lang="en-GB" altLang="es-PE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P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="" xmlns:a16="http://schemas.microsoft.com/office/drawing/2014/main" id="{B377CFE4-F974-430F-8D3E-31A44641DDDD}"/>
              </a:ext>
            </a:extLst>
          </p:cNvPr>
          <p:cNvSpPr/>
          <p:nvPr/>
        </p:nvSpPr>
        <p:spPr>
          <a:xfrm>
            <a:off x="200472" y="3036423"/>
            <a:ext cx="1853559" cy="716169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b="1" dirty="0" smtClean="0">
                <a:solidFill>
                  <a:schemeClr val="tx1"/>
                </a:solidFill>
              </a:rPr>
              <a:t>ELASTICIDAD</a:t>
            </a:r>
            <a:endParaRPr lang="es-PE" sz="1600" b="1" dirty="0">
              <a:solidFill>
                <a:schemeClr val="tx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="" xmlns:a16="http://schemas.microsoft.com/office/drawing/2014/main" id="{6B0406B6-735E-446A-993D-567F64EC9E37}"/>
              </a:ext>
            </a:extLst>
          </p:cNvPr>
          <p:cNvSpPr/>
          <p:nvPr/>
        </p:nvSpPr>
        <p:spPr>
          <a:xfrm>
            <a:off x="3965337" y="3019701"/>
            <a:ext cx="1982738" cy="964199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600" b="1" dirty="0" smtClean="0">
                <a:cs typeface="Arial" panose="020B0604020202020204" pitchFamily="34" charset="0"/>
              </a:rPr>
              <a:t>ESFUERZO NORMAL Y ESFUERZO TANGENCIAL</a:t>
            </a:r>
            <a:endParaRPr lang="es-PE" sz="1600" b="1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ángulo 21">
                <a:extLst>
                  <a:ext uri="{FF2B5EF4-FFF2-40B4-BE49-F238E27FC236}">
                    <a16:creationId xmlns="" xmlns:a16="http://schemas.microsoft.com/office/drawing/2014/main" id="{491CDA35-9E9C-46DA-B439-A69909018FD2}"/>
                  </a:ext>
                </a:extLst>
              </p:cNvPr>
              <p:cNvSpPr/>
              <p:nvPr/>
            </p:nvSpPr>
            <p:spPr>
              <a:xfrm>
                <a:off x="7905328" y="4332663"/>
                <a:ext cx="1848370" cy="1503777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:endParaRPr lang="es-PE" sz="1600" b="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b="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b="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PE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PE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P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PE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∙∆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</m:t>
                      </m:r>
                      <m:sSub>
                        <m:sSubPr>
                          <m:ctrlPr>
                            <a:rPr lang="es-PE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P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𝐸</m:t>
                          </m:r>
                        </m:e>
                        <m:sub>
                          <m:r>
                            <a:rPr lang="es-P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sub>
                      </m:sSub>
                      <m:r>
                        <a:rPr lang="es-PE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PE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s-P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𝐴𝑌</m:t>
                          </m:r>
                        </m:num>
                        <m:den>
                          <m:r>
                            <a:rPr lang="es-P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s-P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</m:den>
                      </m:f>
                      <m:sSup>
                        <m:sSupPr>
                          <m:ctrlPr>
                            <a:rPr lang="es-P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P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s-P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∆</m:t>
                          </m:r>
                          <m:r>
                            <a:rPr lang="es-P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  <m:r>
                            <a:rPr lang="es-P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  <m:sup>
                          <m:r>
                            <a:rPr lang="es-P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91CDA35-9E9C-46DA-B439-A69909018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328" y="4332663"/>
                <a:ext cx="1848370" cy="150377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22">
            <a:extLst>
              <a:ext uri="{FF2B5EF4-FFF2-40B4-BE49-F238E27FC236}">
                <a16:creationId xmlns="" xmlns:a16="http://schemas.microsoft.com/office/drawing/2014/main" id="{C2DA4E98-4D40-4E2B-AC84-9B82C98610BC}"/>
              </a:ext>
            </a:extLst>
          </p:cNvPr>
          <p:cNvCxnSpPr>
            <a:cxnSpLocks/>
          </p:cNvCxnSpPr>
          <p:nvPr/>
        </p:nvCxnSpPr>
        <p:spPr>
          <a:xfrm>
            <a:off x="1127251" y="3767360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24" name="Rectángulo 23">
            <a:extLst>
              <a:ext uri="{FF2B5EF4-FFF2-40B4-BE49-F238E27FC236}">
                <a16:creationId xmlns="" xmlns:a16="http://schemas.microsoft.com/office/drawing/2014/main" id="{6B0406B6-735E-446A-993D-567F64EC9E37}"/>
              </a:ext>
            </a:extLst>
          </p:cNvPr>
          <p:cNvSpPr/>
          <p:nvPr/>
        </p:nvSpPr>
        <p:spPr>
          <a:xfrm>
            <a:off x="6084836" y="3044331"/>
            <a:ext cx="1522476" cy="986432"/>
          </a:xfrm>
          <a:prstGeom prst="rect">
            <a:avLst/>
          </a:prstGeom>
          <a:solidFill>
            <a:srgbClr val="F9B367"/>
          </a:solidFill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s-PE" sz="1600" b="1"/>
              <a:t> ECUACIONES DE ELASTICIDAD </a:t>
            </a:r>
          </a:p>
          <a:p>
            <a:pPr lvl="0" algn="ctr"/>
            <a:r>
              <a:rPr lang="es-PE" sz="1600" b="1">
                <a:cs typeface="Arial" panose="020B0604020202020204" pitchFamily="34" charset="0"/>
              </a:rPr>
              <a:t>LEY DE HOOK</a:t>
            </a:r>
            <a:endParaRPr lang="es-PE" sz="1600" b="1" dirty="0">
              <a:cs typeface="Arial" panose="020B0604020202020204" pitchFamily="34" charset="0"/>
            </a:endParaRPr>
          </a:p>
        </p:txBody>
      </p:sp>
      <p:cxnSp>
        <p:nvCxnSpPr>
          <p:cNvPr id="26" name="Conector recto 25"/>
          <p:cNvCxnSpPr/>
          <p:nvPr/>
        </p:nvCxnSpPr>
        <p:spPr>
          <a:xfrm>
            <a:off x="1201213" y="2800075"/>
            <a:ext cx="0" cy="23634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/>
          <p:cNvCxnSpPr/>
          <p:nvPr/>
        </p:nvCxnSpPr>
        <p:spPr>
          <a:xfrm>
            <a:off x="8594868" y="2800075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/>
          <p:nvPr/>
        </p:nvCxnSpPr>
        <p:spPr>
          <a:xfrm>
            <a:off x="6846074" y="2811092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/>
          <p:cNvCxnSpPr/>
          <p:nvPr/>
        </p:nvCxnSpPr>
        <p:spPr>
          <a:xfrm>
            <a:off x="3014684" y="2793078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/>
          <p:cNvCxnSpPr/>
          <p:nvPr/>
        </p:nvCxnSpPr>
        <p:spPr>
          <a:xfrm>
            <a:off x="8841432" y="4090592"/>
            <a:ext cx="0" cy="24334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ángulo 32">
                <a:extLst>
                  <a:ext uri="{FF2B5EF4-FFF2-40B4-BE49-F238E27FC236}">
                    <a16:creationId xmlns="" xmlns:a16="http://schemas.microsoft.com/office/drawing/2014/main" id="{491CDA35-9E9C-46DA-B439-A69909018FD2}"/>
                  </a:ext>
                </a:extLst>
              </p:cNvPr>
              <p:cNvSpPr/>
              <p:nvPr/>
            </p:nvSpPr>
            <p:spPr>
              <a:xfrm>
                <a:off x="4156978" y="5050500"/>
                <a:ext cx="1709755" cy="1402836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PE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s-P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b>
                      </m:sSub>
                      <m:r>
                        <a:rPr lang="es-PE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PE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PE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PE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s-P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:endParaRPr lang="es-PE" sz="16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0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P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s-PE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s-PE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s-P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P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PE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s-P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s-PE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91CDA35-9E9C-46DA-B439-A69909018F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978" y="5050500"/>
                <a:ext cx="1709755" cy="140283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cto 5"/>
          <p:cNvCxnSpPr/>
          <p:nvPr/>
        </p:nvCxnSpPr>
        <p:spPr>
          <a:xfrm flipH="1">
            <a:off x="4993751" y="3983900"/>
            <a:ext cx="8076" cy="1066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="" xmlns:a16="http://schemas.microsoft.com/office/drawing/2014/main" id="{44822C0F-02DC-406F-8E12-F1FFDD5CFB2F}"/>
                  </a:ext>
                </a:extLst>
              </p:cNvPr>
              <p:cNvSpPr/>
              <p:nvPr/>
            </p:nvSpPr>
            <p:spPr>
              <a:xfrm>
                <a:off x="6089284" y="4386991"/>
                <a:ext cx="1592445" cy="1518722"/>
              </a:xfrm>
              <a:prstGeom prst="rect">
                <a:avLst/>
              </a:prstGeom>
              <a:solidFill>
                <a:srgbClr val="EAF991"/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s-PE" sz="16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P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s-P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s-PE" sz="16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s-PE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s-PE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es-PE" sz="1600" dirty="0"/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4822C0F-02DC-406F-8E12-F1FFDD5CF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284" y="4386991"/>
                <a:ext cx="1592445" cy="151872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799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33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Marcador de contenido 2"/>
          <p:cNvSpPr txBox="1">
            <a:spLocks/>
          </p:cNvSpPr>
          <p:nvPr/>
        </p:nvSpPr>
        <p:spPr bwMode="auto">
          <a:xfrm>
            <a:off x="691381" y="1916832"/>
            <a:ext cx="8640960" cy="271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100" b="0" i="0" u="none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eaLnBrk="0" hangingPunct="0">
              <a:spcBef>
                <a:spcPct val="0"/>
              </a:spcBef>
              <a:buClrTx/>
              <a:buNone/>
            </a:pPr>
            <a:r>
              <a:rPr kumimoji="0" lang="es-MX" sz="1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El cuerpo rígido es un modelo idealizado útil, pero en muchos casos el estiramiento, el aplastamiento y las torsiones de los cuerpos reales cuando se les aplican fuerzas son demasiado importantes para despreciarse.</a:t>
            </a:r>
            <a:r>
              <a:rPr lang="es-PE" sz="1800" dirty="0">
                <a:solidFill>
                  <a:prstClr val="black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</a:t>
            </a:r>
            <a:endParaRPr lang="es-PE" sz="1800" dirty="0" smtClean="0">
              <a:solidFill>
                <a:prstClr val="black"/>
              </a:solidFill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marL="0" lvl="0" indent="0" algn="just" eaLnBrk="0" hangingPunct="0">
              <a:spcBef>
                <a:spcPct val="0"/>
              </a:spcBef>
              <a:buClrTx/>
              <a:buNone/>
            </a:pPr>
            <a:r>
              <a:rPr lang="es-PE" sz="1800" dirty="0" smtClean="0">
                <a:solidFill>
                  <a:prstClr val="black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</a:t>
            </a:r>
            <a:r>
              <a:rPr lang="es-PE" sz="1800" dirty="0">
                <a:solidFill>
                  <a:prstClr val="black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) Los cables de un puente sometidos a esfuerzo de tensión, estirados por fuerzas que actúan en sus extremos. b) Buzo sometido a esfuerzo de volumen, aplastado por todos lados por fuerzas debidas a la presión del agua. c) Listón sometido a esfuerzo de corte.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SzTx/>
              <a:buNone/>
              <a:tabLst/>
              <a:defRPr/>
            </a:pPr>
            <a:endParaRPr kumimoji="0" lang="es-PE" sz="2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ＭＳ Ｐゴシック" charset="-128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58" y="4227476"/>
            <a:ext cx="2831196" cy="2120664"/>
          </a:xfrm>
          <a:prstGeom prst="rect">
            <a:avLst/>
          </a:prstGeom>
        </p:spPr>
      </p:pic>
      <p:pic>
        <p:nvPicPr>
          <p:cNvPr id="12" name="Picture 6" descr="Resultado de imagen para un buz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227" y="4227181"/>
            <a:ext cx="2829095" cy="212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Resultado de imagen para una tijera cortand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064" y="4227476"/>
            <a:ext cx="2877592" cy="2158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 redondeado 13"/>
          <p:cNvSpPr/>
          <p:nvPr/>
        </p:nvSpPr>
        <p:spPr>
          <a:xfrm>
            <a:off x="1712640" y="1052169"/>
            <a:ext cx="2160240" cy="527000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 smtClean="0">
                <a:solidFill>
                  <a:schemeClr val="tx1"/>
                </a:solidFill>
              </a:rPr>
              <a:t>SOLIDO</a:t>
            </a:r>
            <a:endParaRPr lang="es-PE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64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ítulo 1"/>
          <p:cNvSpPr txBox="1">
            <a:spLocks/>
          </p:cNvSpPr>
          <p:nvPr/>
        </p:nvSpPr>
        <p:spPr>
          <a:xfrm>
            <a:off x="1761067" y="885338"/>
            <a:ext cx="6563072" cy="710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b="0" i="0" u="none" kern="1200" cap="all">
                <a:solidFill>
                  <a:schemeClr val="tx1"/>
                </a:solidFill>
                <a:latin typeface="Arial"/>
                <a:ea typeface="ＭＳ Ｐゴシック" charset="-128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PE" sz="2400" b="0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ＭＳ Ｐゴシック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Marcador de contenido 2"/>
              <p:cNvSpPr txBox="1">
                <a:spLocks/>
              </p:cNvSpPr>
              <p:nvPr/>
            </p:nvSpPr>
            <p:spPr bwMode="auto">
              <a:xfrm>
                <a:off x="560512" y="2031904"/>
                <a:ext cx="5400600" cy="41908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2300" kern="1200">
                    <a:solidFill>
                      <a:schemeClr val="tx1"/>
                    </a:solidFill>
                    <a:latin typeface="Arial"/>
                    <a:ea typeface="ＭＳ Ｐゴシック" charset="-128"/>
                    <a:cs typeface="+mn-cs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2100" b="0" i="0" u="none" kern="1200">
                    <a:solidFill>
                      <a:schemeClr val="tx1"/>
                    </a:solidFill>
                    <a:latin typeface="Arial"/>
                    <a:ea typeface="ＭＳ Ｐゴシック" charset="-128"/>
                    <a:cs typeface="+mn-cs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/>
                    <a:ea typeface="ＭＳ Ｐゴシック" charset="-128"/>
                    <a:cs typeface="+mn-cs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/>
                    <a:ea typeface="ＭＳ Ｐゴシック" charset="-128"/>
                    <a:cs typeface="+mn-cs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/>
                    <a:ea typeface="ＭＳ Ｐゴシック" charset="-128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just" defTabSz="4572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s-PE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ＭＳ Ｐゴシック" charset="-128"/>
                  </a:rPr>
                  <a:t>Un cuerpo elástico es aquel que regresa a su forma original después de retirada</a:t>
                </a:r>
                <a:r>
                  <a:rPr kumimoji="0" lang="es-PE" sz="2400" b="0" i="0" u="none" strike="noStrike" kern="1200" cap="none" spc="0" normalizeH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ＭＳ Ｐゴシック" charset="-128"/>
                  </a:rPr>
                  <a:t> la causa que origino la</a:t>
                </a:r>
                <a:r>
                  <a:rPr kumimoji="0" lang="es-PE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ＭＳ Ｐゴシック" charset="-128"/>
                  </a:rPr>
                  <a:t> deformación</a:t>
                </a:r>
                <a:r>
                  <a:rPr kumimoji="0" lang="es-PE" sz="23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ea typeface="ＭＳ Ｐゴシック" charset="-128"/>
                  </a:rPr>
                  <a:t>.</a:t>
                </a:r>
                <a:endParaRPr kumimoji="0" lang="es-PE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ＭＳ Ｐゴシック" charset="-128"/>
                </a:endParaRPr>
              </a:p>
              <a:p>
                <a:pPr lvl="0" algn="just">
                  <a:defRPr/>
                </a:pPr>
                <a:r>
                  <a:rPr lang="es-MX" sz="2400" dirty="0" smtClean="0">
                    <a:solidFill>
                      <a:prstClr val="black"/>
                    </a:solidFill>
                  </a:rPr>
                  <a:t>Ahora</a:t>
                </a:r>
                <a:r>
                  <a:rPr lang="es-MX" sz="2400" dirty="0">
                    <a:solidFill>
                      <a:prstClr val="black"/>
                    </a:solidFill>
                  </a:rPr>
                  <a:t>, para analizar cada clase de alteración de la forma, introduciremos una cantidad llamada </a:t>
                </a:r>
                <a14:m>
                  <m:oMath xmlns:m="http://schemas.openxmlformats.org/officeDocument/2006/math">
                    <m:r>
                      <a:rPr lang="es-MX" sz="2400" b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𝐞𝐬𝐟𝐮𝐞𝐫𝐳𝐨</m:t>
                    </m:r>
                    <m:r>
                      <a:rPr lang="es-MX" sz="2400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2400" dirty="0"/>
                  <a:t>que caracteriza la intensidad de las fuerzas que causan el cambio de forma</a:t>
                </a:r>
                <a:r>
                  <a:rPr lang="es-MX" sz="2400" dirty="0">
                    <a:solidFill>
                      <a:prstClr val="black"/>
                    </a:solidFill>
                  </a:rPr>
                  <a:t>.</a:t>
                </a:r>
                <a:endParaRPr lang="es-PE" dirty="0">
                  <a:solidFill>
                    <a:prstClr val="black"/>
                  </a:solidFill>
                </a:endParaRPr>
              </a:p>
              <a:p>
                <a:pPr marL="342900" marR="0" lvl="0" indent="-342900" algn="just" defTabSz="4572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SzTx/>
                  <a:buFont typeface="Arial" pitchFamily="34" charset="0"/>
                  <a:buChar char="•"/>
                  <a:tabLst/>
                  <a:defRPr/>
                </a:pPr>
                <a:endParaRPr kumimoji="0" lang="es-PE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ＭＳ Ｐゴシック" charset="-128"/>
                </a:endParaRPr>
              </a:p>
              <a:p>
                <a:pPr marL="342900" marR="0" lvl="0" indent="-342900" algn="l" defTabSz="4572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SzTx/>
                  <a:buFont typeface="Arial" pitchFamily="34" charset="0"/>
                  <a:buChar char="•"/>
                  <a:tabLst/>
                  <a:defRPr/>
                </a:pPr>
                <a:endParaRPr kumimoji="0" lang="es-PE" sz="23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ea typeface="ＭＳ Ｐゴシック" charset="-128"/>
                </a:endParaRPr>
              </a:p>
            </p:txBody>
          </p:sp>
        </mc:Choice>
        <mc:Fallback xmlns="">
          <p:sp>
            <p:nvSpPr>
              <p:cNvPr id="11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0512" y="2031904"/>
                <a:ext cx="5400600" cy="4190817"/>
              </a:xfrm>
              <a:prstGeom prst="rect">
                <a:avLst/>
              </a:prstGeom>
              <a:blipFill rotWithShape="0">
                <a:blip r:embed="rId2"/>
                <a:stretch>
                  <a:fillRect l="-1580" t="-1017" r="-169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n 11" descr="Imagen que contiene persona, de pie, esquí&#10;&#10;Descripción generada con confianza muy alta">
            <a:extLst>
              <a:ext uri="{FF2B5EF4-FFF2-40B4-BE49-F238E27FC236}">
                <a16:creationId xmlns:a16="http://schemas.microsoft.com/office/drawing/2014/main" xmlns="" id="{87D24054-5A88-4852-ACA6-9C1E22FE49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87" t="5132" r="6687" b="5987"/>
          <a:stretch/>
        </p:blipFill>
        <p:spPr>
          <a:xfrm>
            <a:off x="6897216" y="1960903"/>
            <a:ext cx="2417646" cy="2166409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216" y="4293096"/>
            <a:ext cx="2583986" cy="2166409"/>
          </a:xfrm>
          <a:prstGeom prst="rect">
            <a:avLst/>
          </a:prstGeom>
        </p:spPr>
      </p:pic>
      <p:sp>
        <p:nvSpPr>
          <p:cNvPr id="14" name="Rectángulo redondeado 13"/>
          <p:cNvSpPr/>
          <p:nvPr/>
        </p:nvSpPr>
        <p:spPr>
          <a:xfrm>
            <a:off x="1603814" y="1014763"/>
            <a:ext cx="6720325" cy="560768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PE" sz="2400" b="1" cap="all" dirty="0" smtClean="0">
              <a:solidFill>
                <a:sysClr val="windowText" lastClr="000000"/>
              </a:solidFill>
              <a:latin typeface="Arial"/>
              <a:ea typeface="ＭＳ Ｐゴシック" charset="-128"/>
            </a:endParaRPr>
          </a:p>
          <a:p>
            <a:pPr lvl="0" algn="ctr"/>
            <a:r>
              <a:rPr lang="es-PE" sz="2400" b="1" cap="all" dirty="0" smtClean="0">
                <a:solidFill>
                  <a:sysClr val="windowText" lastClr="000000"/>
                </a:solidFill>
                <a:latin typeface="Arial"/>
                <a:ea typeface="ＭＳ Ｐゴシック" charset="-128"/>
              </a:rPr>
              <a:t>Propiedades </a:t>
            </a:r>
            <a:r>
              <a:rPr lang="es-PE" sz="2400" b="1" cap="all" dirty="0">
                <a:solidFill>
                  <a:sysClr val="windowText" lastClr="000000"/>
                </a:solidFill>
                <a:latin typeface="Arial"/>
                <a:ea typeface="ＭＳ Ｐゴシック" charset="-128"/>
              </a:rPr>
              <a:t>elásticas de la materia</a:t>
            </a:r>
            <a:endParaRPr lang="es-PE" sz="2400" cap="all" dirty="0">
              <a:solidFill>
                <a:sysClr val="windowText" lastClr="000000"/>
              </a:solidFill>
              <a:latin typeface="Arial"/>
              <a:ea typeface="ＭＳ Ｐゴシック" charset="-128"/>
            </a:endParaRPr>
          </a:p>
          <a:p>
            <a:pPr algn="ctr"/>
            <a:endParaRPr lang="es-PE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66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xmlns="" id="{F7D50F28-6BAB-45E9-A717-2F290046FC81}"/>
              </a:ext>
            </a:extLst>
          </p:cNvPr>
          <p:cNvSpPr txBox="1">
            <a:spLocks/>
          </p:cNvSpPr>
          <p:nvPr/>
        </p:nvSpPr>
        <p:spPr>
          <a:xfrm>
            <a:off x="1640632" y="1418430"/>
            <a:ext cx="10515600" cy="1325563"/>
          </a:xfrm>
          <a:prstGeom prst="rect">
            <a:avLst/>
          </a:prstGeo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kern="1200" cap="all">
                <a:solidFill>
                  <a:srgbClr val="EFA82F"/>
                </a:solidFill>
                <a:latin typeface="Arial"/>
                <a:ea typeface="ＭＳ Ｐゴシック" charset="-128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9pPr>
          </a:lstStyle>
          <a:p>
            <a:endParaRPr lang="es-PE" b="1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xmlns="" id="{FCE42F0C-3BF3-48DF-B96D-AE9D493F08B0}"/>
              </a:ext>
            </a:extLst>
          </p:cNvPr>
          <p:cNvSpPr txBox="1">
            <a:spLocks/>
          </p:cNvSpPr>
          <p:nvPr/>
        </p:nvSpPr>
        <p:spPr bwMode="auto">
          <a:xfrm>
            <a:off x="329902" y="2012844"/>
            <a:ext cx="3053508" cy="511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None/>
              <a:defRPr sz="2000" kern="1200" baseline="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000" b="0" i="0" u="none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 smtClean="0"/>
              <a:t>Esfuerzo de tracción</a:t>
            </a:r>
            <a:endParaRPr lang="es-PE" b="1" dirty="0" smtClean="0"/>
          </a:p>
          <a:p>
            <a:pPr algn="just"/>
            <a:endParaRPr lang="es-PE" dirty="0" smtClean="0"/>
          </a:p>
          <a:p>
            <a:endParaRPr lang="es-PE" dirty="0" smtClean="0"/>
          </a:p>
          <a:p>
            <a:endParaRPr lang="es-PE" dirty="0"/>
          </a:p>
        </p:txBody>
      </p:sp>
      <p:pic>
        <p:nvPicPr>
          <p:cNvPr id="12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45" y="2471864"/>
            <a:ext cx="3219450" cy="1725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xmlns="" id="{FCE42F0C-3BF3-48DF-B96D-AE9D493F08B0}"/>
              </a:ext>
            </a:extLst>
          </p:cNvPr>
          <p:cNvSpPr txBox="1">
            <a:spLocks/>
          </p:cNvSpPr>
          <p:nvPr/>
        </p:nvSpPr>
        <p:spPr>
          <a:xfrm>
            <a:off x="4016896" y="1854887"/>
            <a:ext cx="2742655" cy="669132"/>
          </a:xfrm>
          <a:prstGeom prst="rect">
            <a:avLst/>
          </a:prstGeom>
          <a:solidFill>
            <a:schemeClr val="bg1"/>
          </a:solidFill>
        </p:spPr>
        <p:txBody>
          <a:bodyPr>
            <a:normAutofit lnSpcReduction="10000"/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r>
              <a:rPr lang="es-E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Esfuerzo de compresión</a:t>
            </a:r>
            <a:endParaRPr lang="es-PE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30">
            <a:extLst>
              <a:ext uri="{FF2B5EF4-FFF2-40B4-BE49-F238E27FC236}">
                <a16:creationId xmlns:a16="http://schemas.microsoft.com/office/drawing/2014/main" xmlns="" id="{2FBE70BD-07D6-435C-B26F-9B86321D5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326" y="2535293"/>
            <a:ext cx="2688779" cy="155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8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236" y="2533985"/>
            <a:ext cx="2484575" cy="1647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45" y="4764581"/>
            <a:ext cx="1911848" cy="1742978"/>
          </a:xfrm>
          <a:prstGeom prst="rect">
            <a:avLst/>
          </a:prstGeom>
        </p:spPr>
      </p:pic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xmlns="" id="{FCE42F0C-3BF3-48DF-B96D-AE9D493F08B0}"/>
              </a:ext>
            </a:extLst>
          </p:cNvPr>
          <p:cNvSpPr txBox="1">
            <a:spLocks/>
          </p:cNvSpPr>
          <p:nvPr/>
        </p:nvSpPr>
        <p:spPr bwMode="auto">
          <a:xfrm>
            <a:off x="200116" y="4348942"/>
            <a:ext cx="4680876" cy="48455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100" b="0" i="0" u="none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r>
              <a:rPr lang="es-ES" sz="2200" b="1" dirty="0" smtClean="0"/>
              <a:t>Esfuerzo de corte o </a:t>
            </a:r>
            <a:r>
              <a:rPr lang="es-ES" sz="2200" b="1" dirty="0" err="1" smtClean="0"/>
              <a:t>cizalladura</a:t>
            </a:r>
            <a:endParaRPr lang="es-PE" sz="2200" b="1" dirty="0" smtClean="0"/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xmlns="" id="{FCE42F0C-3BF3-48DF-B96D-AE9D493F08B0}"/>
              </a:ext>
            </a:extLst>
          </p:cNvPr>
          <p:cNvSpPr txBox="1">
            <a:spLocks/>
          </p:cNvSpPr>
          <p:nvPr/>
        </p:nvSpPr>
        <p:spPr>
          <a:xfrm>
            <a:off x="5848797" y="4467024"/>
            <a:ext cx="2610761" cy="59511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sz="2200" b="1" dirty="0" smtClean="0"/>
              <a:t>Esfuerzo de torsión</a:t>
            </a:r>
            <a:endParaRPr lang="es-PE" sz="2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s-PE" dirty="0"/>
          </a:p>
        </p:txBody>
      </p:sp>
      <p:pic>
        <p:nvPicPr>
          <p:cNvPr id="19" name="Imagen 37">
            <a:extLst>
              <a:ext uri="{FF2B5EF4-FFF2-40B4-BE49-F238E27FC236}">
                <a16:creationId xmlns:a16="http://schemas.microsoft.com/office/drawing/2014/main" xmlns="" id="{2C48397F-7DB7-4263-AFD6-92127FC6D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540" y="5082534"/>
            <a:ext cx="2201276" cy="1493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xmlns="" id="{FCE42F0C-3BF3-48DF-B96D-AE9D493F08B0}"/>
              </a:ext>
            </a:extLst>
          </p:cNvPr>
          <p:cNvSpPr txBox="1">
            <a:spLocks/>
          </p:cNvSpPr>
          <p:nvPr/>
        </p:nvSpPr>
        <p:spPr>
          <a:xfrm>
            <a:off x="7185976" y="1854887"/>
            <a:ext cx="2484575" cy="68987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s-E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Esfuerzo de flexión</a:t>
            </a:r>
            <a:endParaRPr lang="es-PE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PE" dirty="0"/>
          </a:p>
        </p:txBody>
      </p:sp>
      <p:sp>
        <p:nvSpPr>
          <p:cNvPr id="21" name="Rectángulo redondeado 20"/>
          <p:cNvSpPr/>
          <p:nvPr/>
        </p:nvSpPr>
        <p:spPr>
          <a:xfrm>
            <a:off x="1640632" y="826359"/>
            <a:ext cx="4032448" cy="560768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PE" sz="2400" b="1" cap="all" dirty="0" smtClean="0">
              <a:solidFill>
                <a:sysClr val="windowText" lastClr="000000"/>
              </a:solidFill>
              <a:latin typeface="Arial"/>
              <a:ea typeface="ＭＳ Ｐゴシック" charset="-128"/>
            </a:endParaRPr>
          </a:p>
          <a:p>
            <a:pPr algn="ctr"/>
            <a:r>
              <a:rPr lang="es-PE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ESFUERZOS</a:t>
            </a:r>
          </a:p>
          <a:p>
            <a:pPr algn="ctr"/>
            <a:endParaRPr lang="es-PE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25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  <p:bldP spid="13" grpId="0" build="p" animBg="1"/>
      <p:bldP spid="17" grpId="0" build="p" animBg="1"/>
      <p:bldP spid="18" grpId="0" build="p" animBg="1"/>
      <p:bldP spid="20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867201" y="986931"/>
            <a:ext cx="5462063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ESFUERZO Y DEFORMACIÓN </a:t>
            </a:r>
            <a:endParaRPr lang="es-PE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xmlns="" id="{BE1480CA-A9A0-4CF5-83B4-A88475EFAE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179" y="1899621"/>
                <a:ext cx="9081325" cy="3761627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/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EFA82F"/>
                  </a:buClr>
                  <a:buFont typeface="Arial" pitchFamily="34" charset="0"/>
                  <a:buChar char="•"/>
                  <a:defRPr sz="1600" kern="1200">
                    <a:solidFill>
                      <a:srgbClr val="676767"/>
                    </a:solidFill>
                    <a:latin typeface="Arial"/>
                    <a:ea typeface="ＭＳ Ｐゴシック" charset="-128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Font typeface="Arial" pitchFamily="34" charset="0"/>
                  <a:buNone/>
                </a:pPr>
                <a:r>
                  <a:rPr lang="es-PE" sz="2200" b="1" dirty="0" smtClean="0">
                    <a:solidFill>
                      <a:schemeClr val="tx1"/>
                    </a:solidFill>
                  </a:rPr>
                  <a:t>ESFUERZO (</a:t>
                </a:r>
                <a14:m>
                  <m:oMath xmlns:m="http://schemas.openxmlformats.org/officeDocument/2006/math">
                    <m:r>
                      <a:rPr lang="es-PE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s-PE" sz="2200" b="1" dirty="0" smtClean="0">
                    <a:solidFill>
                      <a:schemeClr val="tx1"/>
                    </a:solidFill>
                  </a:rPr>
                  <a:t>)</a:t>
                </a:r>
                <a:r>
                  <a:rPr lang="es-PE" sz="2200" dirty="0" smtClean="0">
                    <a:solidFill>
                      <a:schemeClr val="tx1"/>
                    </a:solidFill>
                  </a:rPr>
                  <a:t> : es </a:t>
                </a:r>
                <a:r>
                  <a:rPr lang="es-PE" sz="2200" dirty="0">
                    <a:solidFill>
                      <a:schemeClr val="tx1"/>
                    </a:solidFill>
                  </a:rPr>
                  <a:t>la razón de una fuerza aplicada </a:t>
                </a:r>
                <a14:m>
                  <m:oMath xmlns:m="http://schemas.openxmlformats.org/officeDocument/2006/math">
                    <m:r>
                      <a:rPr lang="es-PE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s-PE" sz="2200" dirty="0">
                    <a:solidFill>
                      <a:schemeClr val="tx1"/>
                    </a:solidFill>
                  </a:rPr>
                  <a:t> al área </a:t>
                </a:r>
                <a14:m>
                  <m:oMath xmlns:m="http://schemas.openxmlformats.org/officeDocument/2006/math">
                    <m:r>
                      <a:rPr lang="es-PE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PE" sz="2200" dirty="0">
                    <a:solidFill>
                      <a:schemeClr val="tx1"/>
                    </a:solidFill>
                  </a:rPr>
                  <a:t> sobre la que </a:t>
                </a:r>
                <a:r>
                  <a:rPr lang="es-PE" sz="2200" dirty="0" smtClean="0">
                    <a:solidFill>
                      <a:schemeClr val="tx1"/>
                    </a:solidFill>
                  </a:rPr>
                  <a:t>actúa.</a:t>
                </a:r>
                <a:endParaRPr lang="es-PE" sz="2200" dirty="0">
                  <a:solidFill>
                    <a:schemeClr val="tx1"/>
                  </a:solidFill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s-PE" dirty="0">
                  <a:solidFill>
                    <a:schemeClr val="tx1"/>
                  </a:solidFill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s-PE" sz="2200" b="1" dirty="0" smtClean="0">
                  <a:solidFill>
                    <a:schemeClr val="tx1"/>
                  </a:solidFill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s-PE" sz="2200" b="1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buFont typeface="Arial" pitchFamily="34" charset="0"/>
                  <a:buNone/>
                </a:pPr>
                <a:r>
                  <a:rPr lang="es-PE" sz="2200" b="1" dirty="0" smtClean="0">
                    <a:solidFill>
                      <a:schemeClr val="tx1"/>
                    </a:solidFill>
                  </a:rPr>
                  <a:t>DEFORMACIÓN (</a:t>
                </a:r>
                <a14:m>
                  <m:oMath xmlns:m="http://schemas.openxmlformats.org/officeDocument/2006/math">
                    <m:r>
                      <a:rPr lang="es-PE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  <m:r>
                      <a:rPr lang="es-PE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PE" sz="2200" b="1" dirty="0" smtClean="0">
                    <a:solidFill>
                      <a:schemeClr val="tx1"/>
                    </a:solidFill>
                  </a:rPr>
                  <a:t>): </a:t>
                </a:r>
                <a:r>
                  <a:rPr lang="es-PE" sz="2200" dirty="0" smtClean="0">
                    <a:solidFill>
                      <a:schemeClr val="tx1"/>
                    </a:solidFill>
                  </a:rPr>
                  <a:t> </a:t>
                </a:r>
                <a:r>
                  <a:rPr lang="es-PE" sz="2200" dirty="0">
                    <a:solidFill>
                      <a:schemeClr val="tx1"/>
                    </a:solidFill>
                  </a:rPr>
                  <a:t>es el cambio relativo en las dimensiones (puede ser longitud, área </a:t>
                </a:r>
                <a:r>
                  <a:rPr lang="es-PE" sz="2200" dirty="0" smtClean="0">
                    <a:solidFill>
                      <a:schemeClr val="tx1"/>
                    </a:solidFill>
                  </a:rPr>
                  <a:t>o </a:t>
                </a:r>
                <a:r>
                  <a:rPr lang="es-PE" sz="2200" dirty="0">
                    <a:solidFill>
                      <a:schemeClr val="tx1"/>
                    </a:solidFill>
                  </a:rPr>
                  <a:t>volumen) o forma de un cuerpo como resultado de un esfuerzo </a:t>
                </a:r>
                <a:r>
                  <a:rPr lang="es-PE" sz="2200" dirty="0" smtClean="0">
                    <a:solidFill>
                      <a:schemeClr val="tx1"/>
                    </a:solidFill>
                  </a:rPr>
                  <a:t>aplicado</a:t>
                </a:r>
                <a:r>
                  <a:rPr lang="es-PE" sz="2200" dirty="0">
                    <a:solidFill>
                      <a:schemeClr val="tx1"/>
                    </a:solidFill>
                  </a:rPr>
                  <a:t>.</a:t>
                </a:r>
                <a:endParaRPr lang="es-PE" sz="2200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buFont typeface="Arial" pitchFamily="34" charset="0"/>
                  <a:buNone/>
                </a:pPr>
                <a:endParaRPr lang="es-PE" dirty="0"/>
              </a:p>
              <a:p>
                <a:pPr marL="0" indent="0">
                  <a:buFont typeface="Arial" pitchFamily="34" charset="0"/>
                  <a:buNone/>
                </a:pPr>
                <a:endParaRPr lang="es-MX" altLang="es-PE" dirty="0" smtClean="0">
                  <a:solidFill>
                    <a:srgbClr val="000000"/>
                  </a:solidFill>
                </a:endParaRPr>
              </a:p>
              <a:p>
                <a:pPr marL="0" indent="0">
                  <a:buFont typeface="Arial" pitchFamily="34" charset="0"/>
                  <a:buNone/>
                </a:pPr>
                <a:endParaRPr lang="es-MX" altLang="es-PE" dirty="0">
                  <a:solidFill>
                    <a:srgbClr val="000000"/>
                  </a:solidFill>
                </a:endParaRPr>
              </a:p>
              <a:p>
                <a:pPr marL="0" indent="0" algn="just">
                  <a:buFont typeface="Arial" pitchFamily="34" charset="0"/>
                  <a:buNone/>
                </a:pPr>
                <a:r>
                  <a:rPr lang="es-MX" altLang="es-PE" sz="1800" b="1" dirty="0" smtClean="0">
                    <a:solidFill>
                      <a:srgbClr val="000000"/>
                    </a:solidFill>
                  </a:rPr>
                  <a:t>Ejemplos</a:t>
                </a:r>
                <a:r>
                  <a:rPr lang="es-MX" altLang="es-PE" sz="1800" dirty="0">
                    <a:solidFill>
                      <a:srgbClr val="000000"/>
                    </a:solidFill>
                  </a:rPr>
                  <a:t>: Cambio en longitud por unidad de longitud; cambio en volumen por unidad de volumen.</a:t>
                </a:r>
                <a:endParaRPr lang="es-PE" sz="1800" dirty="0"/>
              </a:p>
              <a:p>
                <a:pPr marL="0" indent="0">
                  <a:buFont typeface="Arial" pitchFamily="34" charset="0"/>
                  <a:buNone/>
                </a:pPr>
                <a:endParaRPr lang="es-PE" sz="1800" dirty="0"/>
              </a:p>
            </p:txBody>
          </p:sp>
        </mc:Choice>
        <mc:Fallback xmlns="">
          <p:sp>
            <p:nvSpPr>
              <p:cNvPr id="7" name="Marcador de contenido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E1480CA-A9A0-4CF5-83B4-A88475EFA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79" y="1899621"/>
                <a:ext cx="9081325" cy="3761627"/>
              </a:xfrm>
              <a:prstGeom prst="rect">
                <a:avLst/>
              </a:prstGeom>
              <a:blipFill rotWithShape="0">
                <a:blip r:embed="rId2"/>
                <a:stretch>
                  <a:fillRect l="-872" t="-486" r="-872" b="-2123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104" y="2924944"/>
            <a:ext cx="3077819" cy="6956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 8"/>
              <p:cNvSpPr/>
              <p:nvPr/>
            </p:nvSpPr>
            <p:spPr>
              <a:xfrm>
                <a:off x="2199768" y="2730680"/>
                <a:ext cx="2895023" cy="78136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s-P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s-PE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s-PE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PE" sz="2400">
                          <a:latin typeface="Cambria Math" panose="02040503050406030204" pitchFamily="18" charset="0"/>
                        </a:rPr>
                        <m:t>unidades</m:t>
                      </m:r>
                      <m:r>
                        <a:rPr lang="es-PE" sz="2400"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s-P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PE" sz="240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es-P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PE" sz="24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es-P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9" name="Rectángulo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768" y="2730680"/>
                <a:ext cx="2895023" cy="78136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ángulo 9"/>
              <p:cNvSpPr/>
              <p:nvPr/>
            </p:nvSpPr>
            <p:spPr>
              <a:xfrm>
                <a:off x="4376936" y="4725144"/>
                <a:ext cx="1173398" cy="8563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s-P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sSub>
                            <m:sSubPr>
                              <m:ctrlPr>
                                <a:rPr lang="es-P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PE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PE" sz="2400" dirty="0"/>
              </a:p>
            </p:txBody>
          </p:sp>
        </mc:Choice>
        <mc:Fallback xmlns="">
          <p:sp>
            <p:nvSpPr>
              <p:cNvPr id="10" name="Rectá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936" y="4725144"/>
                <a:ext cx="1173398" cy="85632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02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735968" y="720158"/>
            <a:ext cx="3944888" cy="709612"/>
          </a:xfrm>
          <a:prstGeom prst="rect">
            <a:avLst/>
          </a:prstGeo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kern="1200" cap="all">
                <a:solidFill>
                  <a:srgbClr val="EFA82F"/>
                </a:solidFill>
                <a:latin typeface="Arial"/>
                <a:ea typeface="ＭＳ Ｐゴシック" charset="-128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9pPr>
          </a:lstStyle>
          <a:p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12" name="Rectángulo redondeado 11"/>
          <p:cNvSpPr/>
          <p:nvPr/>
        </p:nvSpPr>
        <p:spPr>
          <a:xfrm>
            <a:off x="1735968" y="782897"/>
            <a:ext cx="4177667" cy="751914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400" b="1" dirty="0" smtClean="0">
                <a:solidFill>
                  <a:schemeClr val="tx1"/>
                </a:solidFill>
              </a:rPr>
              <a:t>LEY DE HOOK PARA SOLIDOS </a:t>
            </a: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14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30" y="1988840"/>
            <a:ext cx="3896433" cy="3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889" y="854768"/>
            <a:ext cx="3335338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466" y="5301208"/>
            <a:ext cx="2664183" cy="138391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500" y="1894106"/>
            <a:ext cx="1615580" cy="786452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1181" y="2977136"/>
            <a:ext cx="1140051" cy="780356"/>
          </a:xfrm>
          <a:prstGeom prst="rect">
            <a:avLst/>
          </a:prstGeom>
        </p:spPr>
      </p:pic>
      <p:pic>
        <p:nvPicPr>
          <p:cNvPr id="36" name="Imagen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1181" y="4037338"/>
            <a:ext cx="1170533" cy="786452"/>
          </a:xfrm>
          <a:prstGeom prst="rect">
            <a:avLst/>
          </a:prstGeom>
        </p:spPr>
      </p:pic>
      <p:pic>
        <p:nvPicPr>
          <p:cNvPr id="37" name="Imagen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5456" y="5275488"/>
            <a:ext cx="1261981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12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735968" y="720158"/>
            <a:ext cx="3944888" cy="709612"/>
          </a:xfrm>
          <a:prstGeom prst="rect">
            <a:avLst/>
          </a:prstGeom>
        </p:spPr>
        <p:txBody>
          <a:bodyPr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400" kern="1200" cap="all">
                <a:solidFill>
                  <a:srgbClr val="EFA82F"/>
                </a:solidFill>
                <a:latin typeface="Arial"/>
                <a:ea typeface="ＭＳ Ｐゴシック" charset="-128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ＭＳ Ｐゴシック" charset="-128"/>
              </a:defRPr>
            </a:lvl9pPr>
          </a:lstStyle>
          <a:p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12" name="Rectángulo redondeado 11"/>
          <p:cNvSpPr/>
          <p:nvPr/>
        </p:nvSpPr>
        <p:spPr>
          <a:xfrm>
            <a:off x="1735968" y="782897"/>
            <a:ext cx="4177667" cy="751914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2400" b="1" dirty="0" smtClean="0">
                <a:solidFill>
                  <a:schemeClr val="tx1"/>
                </a:solidFill>
              </a:rPr>
              <a:t>LEY DE HOOK PARA SOLIDOS </a:t>
            </a: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181" y="2977136"/>
            <a:ext cx="1140051" cy="780356"/>
          </a:xfrm>
          <a:prstGeom prst="rect">
            <a:avLst/>
          </a:prstGeom>
        </p:spPr>
      </p:pic>
      <p:pic>
        <p:nvPicPr>
          <p:cNvPr id="15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51" y="2060848"/>
            <a:ext cx="68961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51" y="5460939"/>
            <a:ext cx="3401863" cy="78645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5288" y="2977136"/>
            <a:ext cx="2036240" cy="58526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9009" y="5189643"/>
            <a:ext cx="1536325" cy="132904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2851" y="5441586"/>
            <a:ext cx="1207113" cy="78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7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2" y="908720"/>
            <a:ext cx="4392488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MODULOS DE ELASTICIDAD</a:t>
            </a: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20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80" y="2060848"/>
            <a:ext cx="9086719" cy="3980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327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2" y="908720"/>
            <a:ext cx="6840760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s-E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DIAGRAMA DE ESFUERZO DEFORMACIÓN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32" y="1628800"/>
            <a:ext cx="7135221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0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712640" y="981978"/>
            <a:ext cx="3744416" cy="609582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ENERGÍA ELASTICA</a:t>
            </a:r>
            <a:endParaRPr lang="es-PE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752" y="1844824"/>
            <a:ext cx="3660048" cy="2954726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848544" y="4869160"/>
            <a:ext cx="417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Definimos el trabajo realizado por la fuerza como: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/>
              <p:cNvSpPr txBox="1"/>
              <p:nvPr/>
            </p:nvSpPr>
            <p:spPr>
              <a:xfrm>
                <a:off x="1568624" y="5733256"/>
                <a:ext cx="1527341" cy="7265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s-PE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" name="Cuadro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624" y="5733256"/>
                <a:ext cx="1527341" cy="7265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/>
          <p:cNvSpPr txBox="1"/>
          <p:nvPr/>
        </p:nvSpPr>
        <p:spPr>
          <a:xfrm>
            <a:off x="5484369" y="1778863"/>
            <a:ext cx="417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Para nuestro caso de deformación normal </a:t>
            </a:r>
            <a:r>
              <a:rPr lang="es-PE" dirty="0"/>
              <a:t>tenemos </a:t>
            </a:r>
            <a:r>
              <a:rPr lang="es-PE" dirty="0" smtClean="0"/>
              <a:t>: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/>
              <p:cNvSpPr txBox="1"/>
              <p:nvPr/>
            </p:nvSpPr>
            <p:spPr>
              <a:xfrm>
                <a:off x="5712589" y="6007640"/>
                <a:ext cx="3502242" cy="4346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s-PE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PE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PE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s-PE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PE" sz="2000" b="0" i="1" smtClean="0">
                        <a:latin typeface="Cambria Math" panose="02040503050406030204" pitchFamily="18" charset="0"/>
                      </a:rPr>
                      <m:t>𝐺</m:t>
                    </m:r>
                    <m:sSup>
                      <m:sSupPr>
                        <m:ctrlPr>
                          <a:rPr lang="es-PE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(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PE" sz="2000" dirty="0" smtClean="0"/>
                  <a:t>       </a:t>
                </a:r>
                <a:endParaRPr lang="es-PE" sz="2000" dirty="0"/>
              </a:p>
            </p:txBody>
          </p:sp>
        </mc:Choice>
        <mc:Fallback xmlns="">
          <p:sp>
            <p:nvSpPr>
              <p:cNvPr id="13" name="Cuadro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589" y="6007640"/>
                <a:ext cx="3502242" cy="434606"/>
              </a:xfrm>
              <a:prstGeom prst="rect">
                <a:avLst/>
              </a:prstGeom>
              <a:blipFill rotWithShape="0">
                <a:blip r:embed="rId4"/>
                <a:stretch>
                  <a:fillRect l="-2435" b="-1408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/>
              <p:cNvSpPr txBox="1"/>
              <p:nvPr/>
            </p:nvSpPr>
            <p:spPr>
              <a:xfrm>
                <a:off x="5559022" y="2425194"/>
                <a:ext cx="3655809" cy="8418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s-PE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nary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P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f>
                            <m:f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𝑌𝐴</m:t>
                              </m:r>
                            </m:num>
                            <m:den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  <m:d>
                            <m:d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s-P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4" name="Cuadro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022" y="2425194"/>
                <a:ext cx="3655809" cy="84183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/>
          <p:cNvSpPr txBox="1"/>
          <p:nvPr/>
        </p:nvSpPr>
        <p:spPr>
          <a:xfrm>
            <a:off x="5484369" y="4005064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Esta ecuación lo podemos escribir como: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/>
              <p:cNvSpPr txBox="1"/>
              <p:nvPr/>
            </p:nvSpPr>
            <p:spPr>
              <a:xfrm>
                <a:off x="5635805" y="3392083"/>
                <a:ext cx="3502242" cy="4386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s-PE" sz="20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s-PE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𝐴𝑌</m:t>
                        </m:r>
                      </m:num>
                      <m:den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  <m:sSup>
                      <m:sSupPr>
                        <m:ctrlPr>
                          <a:rPr lang="es-PE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P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s-P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  <m:sup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PE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PE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PE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s-PE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(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PE" sz="2000" dirty="0" smtClean="0"/>
                  <a:t>       </a:t>
                </a:r>
                <a:endParaRPr lang="es-PE" sz="2000" dirty="0"/>
              </a:p>
            </p:txBody>
          </p:sp>
        </mc:Choice>
        <mc:Fallback xmlns="">
          <p:sp>
            <p:nvSpPr>
              <p:cNvPr id="16" name="CuadroTex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05" y="3392083"/>
                <a:ext cx="3502242" cy="43864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/>
          <p:cNvSpPr txBox="1"/>
          <p:nvPr/>
        </p:nvSpPr>
        <p:spPr>
          <a:xfrm>
            <a:off x="5484369" y="5259030"/>
            <a:ext cx="417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Para el caso de deformación tangencial </a:t>
            </a:r>
            <a:r>
              <a:rPr lang="es-PE" dirty="0"/>
              <a:t>tenemos </a:t>
            </a:r>
            <a:r>
              <a:rPr lang="es-PE" dirty="0" smtClean="0"/>
              <a:t>: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/>
              <p:cNvSpPr txBox="1"/>
              <p:nvPr/>
            </p:nvSpPr>
            <p:spPr>
              <a:xfrm>
                <a:off x="5610984" y="4538837"/>
                <a:ext cx="3502242" cy="5214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s-PE" sz="20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𝐴𝑙𝑌</m:t>
                        </m:r>
                      </m:num>
                      <m:den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s-PE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P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PE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P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s-P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</m:t>
                                </m:r>
                              </m:num>
                              <m:den>
                                <m:r>
                                  <a:rPr lang="es-P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PE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PE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s-PE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PE" sz="2000" b="0" i="1" smtClean="0">
                        <a:latin typeface="Cambria Math" panose="02040503050406030204" pitchFamily="18" charset="0"/>
                      </a:rPr>
                      <m:t>𝑌</m:t>
                    </m:r>
                    <m:sSup>
                      <m:sSupPr>
                        <m:ctrlPr>
                          <a:rPr lang="es-PE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PE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s-P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(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s-P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PE" sz="2000" dirty="0" smtClean="0"/>
                  <a:t>       </a:t>
                </a:r>
                <a:endParaRPr lang="es-PE" sz="2000" dirty="0"/>
              </a:p>
            </p:txBody>
          </p:sp>
        </mc:Choice>
        <mc:Fallback xmlns="">
          <p:sp>
            <p:nvSpPr>
              <p:cNvPr id="18" name="Cuadro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984" y="4538837"/>
                <a:ext cx="3502242" cy="52142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41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1546412" y="813699"/>
            <a:ext cx="2254460" cy="74294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EJERCICIOS</a:t>
            </a:r>
            <a:endParaRPr lang="es-PE" sz="2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488504" y="1792046"/>
                <a:ext cx="8928992" cy="26139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El dintel de hormigón armado pretensado de la Figura es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 1.50 m de largo. El hormigón encierra una varilla de refuerzo de acero con área seccional </a:t>
                </a:r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de cruz de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1.50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P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P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  <m:r>
                          <a:rPr lang="es-P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p>
                        <m:r>
                          <a:rPr lang="es-P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La varilla une dos placas finales fuertes. El área transversal del hormigón perpendicular a la varilla es de 50.0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P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P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𝑐𝑚</m:t>
                        </m:r>
                      </m:e>
                      <m:sup>
                        <m:r>
                          <a:rPr lang="es-P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. El módulo de Young para el hormigón es de </a:t>
                </a:r>
                <a14:m>
                  <m:oMath xmlns:m="http://schemas.openxmlformats.org/officeDocument/2006/math">
                    <m:r>
                      <a:rPr lang="es-PE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30,0</m:t>
                    </m:r>
                    <m:r>
                      <a:rPr lang="es-P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sSup>
                      <m:sSupPr>
                        <m:ctrlPr>
                          <a:rPr lang="es-P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P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10</m:t>
                        </m:r>
                      </m:e>
                      <m:sup>
                        <m:r>
                          <a:rPr lang="es-P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9</m:t>
                        </m:r>
                      </m:sup>
                    </m:sSup>
                    <m:r>
                      <a:rPr lang="es-P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s-P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s-P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sSup>
                      <m:sSupPr>
                        <m:ctrlPr>
                          <a:rPr lang="es-P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P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p>
                        <m:r>
                          <a:rPr lang="es-P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Después de </a:t>
                </a:r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curado el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hormigón y la tensión original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PE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s-PE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en la varilla se libera, el hormigón </a:t>
                </a:r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esta sometido a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compresión </a:t>
                </a:r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es-PE" sz="160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  <m:r>
                      <a:rPr lang="es-PE" sz="16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,0</m:t>
                    </m:r>
                    <m:r>
                      <a:rPr lang="es-PE" sz="16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s-PE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sSup>
                      <m:sSupPr>
                        <m:ctrlPr>
                          <a:rPr lang="es-P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P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10</m:t>
                        </m:r>
                      </m:e>
                      <m:sup>
                        <m:r>
                          <a:rPr lang="es-P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6</m:t>
                        </m:r>
                      </m:sup>
                    </m:sSup>
                    <m:r>
                      <a:rPr lang="es-PE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 </m:t>
                    </m:r>
                    <m:r>
                      <a:rPr lang="es-PE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s-PE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sSup>
                      <m:sSupPr>
                        <m:ctrlPr>
                          <a:rPr lang="es-P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P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p>
                        <m:r>
                          <a:rPr lang="es-P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(a) ¿A qué distancia comprimirá la varilla el hormigón cuando se libere la tensión original de la varilla?(b) ¿</a:t>
                </a:r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Cual es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la nueva tensión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PE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s-PE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en la varilla? (c) ¿La varilla será entonces cuánto más </a:t>
                </a:r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larga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su longitud sin apretar? (d) ¿Cuando el hormigón fue vertido, la varilla debería haber sido estirada por qué la distancia de la extensión de su longitud no </a:t>
                </a:r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tensionada?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(e) Encontrar la tensión original necesaria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PE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PE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s-PE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PE" sz="16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PE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en la varilla.</a:t>
                </a:r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04" y="1792046"/>
                <a:ext cx="8928992" cy="2613985"/>
              </a:xfrm>
              <a:prstGeom prst="rect">
                <a:avLst/>
              </a:prstGeom>
              <a:blipFill rotWithShape="0">
                <a:blip r:embed="rId2"/>
                <a:stretch>
                  <a:fillRect l="-341" t="-699" r="-41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28" y="4631384"/>
            <a:ext cx="2829320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2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4736976" y="1988840"/>
            <a:ext cx="4896544" cy="446449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pitchFamily="34" charset="0"/>
              <a:buChar char="•"/>
              <a:defRPr sz="1600" kern="1200">
                <a:solidFill>
                  <a:srgbClr val="676767"/>
                </a:solidFill>
                <a:latin typeface="Arial"/>
                <a:ea typeface="ＭＳ Ｐゴシック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1200"/>
              </a:spcAft>
            </a:pPr>
            <a:r>
              <a:rPr lang="es-MX" sz="2000" dirty="0" smtClean="0">
                <a:solidFill>
                  <a:schemeClr val="tx1"/>
                </a:solidFill>
              </a:rPr>
              <a:t>La elasticidad para cuerpos reales se cumple para deformaciones del orden de centésimas de milímetro.</a:t>
            </a:r>
          </a:p>
          <a:p>
            <a:pPr algn="just">
              <a:spcAft>
                <a:spcPts val="1200"/>
              </a:spcAft>
            </a:pPr>
            <a:r>
              <a:rPr lang="es-MX" sz="2000" dirty="0" smtClean="0">
                <a:solidFill>
                  <a:schemeClr val="tx1"/>
                </a:solidFill>
              </a:rPr>
              <a:t>La energía almacenada en un solido deformado es de tipo potencial y se invierte para que el cuerpo recupere sus dimensiones originales.</a:t>
            </a:r>
          </a:p>
          <a:p>
            <a:pPr algn="just">
              <a:spcAft>
                <a:spcPts val="1200"/>
              </a:spcAft>
            </a:pPr>
            <a:r>
              <a:rPr lang="es-PE" sz="2000" dirty="0" smtClean="0">
                <a:solidFill>
                  <a:schemeClr val="tx1"/>
                </a:solidFill>
              </a:rPr>
              <a:t>Los solidos analizados presentan isotropía mecánica.</a:t>
            </a:r>
          </a:p>
          <a:p>
            <a:pPr algn="just">
              <a:spcAft>
                <a:spcPts val="1200"/>
              </a:spcAft>
            </a:pPr>
            <a:r>
              <a:rPr lang="es-PE" sz="2000" dirty="0" smtClean="0">
                <a:solidFill>
                  <a:schemeClr val="tx1"/>
                </a:solidFill>
              </a:rPr>
              <a:t>La magnitud de los módulos de elasticidad representan que tan fácil o </a:t>
            </a:r>
            <a:r>
              <a:rPr lang="es-PE" sz="2000" dirty="0" err="1" smtClean="0">
                <a:solidFill>
                  <a:schemeClr val="tx1"/>
                </a:solidFill>
              </a:rPr>
              <a:t>dificil</a:t>
            </a:r>
            <a:r>
              <a:rPr lang="es-PE" sz="2000" dirty="0" smtClean="0">
                <a:solidFill>
                  <a:schemeClr val="tx1"/>
                </a:solidFill>
              </a:rPr>
              <a:t> es deformar el cuerpo</a:t>
            </a:r>
            <a:endParaRPr lang="es-PE" sz="2000" dirty="0">
              <a:solidFill>
                <a:schemeClr val="tx1"/>
              </a:solidFill>
            </a:endParaRPr>
          </a:p>
        </p:txBody>
      </p:sp>
      <p:sp>
        <p:nvSpPr>
          <p:cNvPr id="14" name="Rectángulo redondeado 13"/>
          <p:cNvSpPr/>
          <p:nvPr/>
        </p:nvSpPr>
        <p:spPr>
          <a:xfrm>
            <a:off x="1640633" y="980728"/>
            <a:ext cx="3096343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CONCLUSIONES</a:t>
            </a:r>
            <a:endParaRPr lang="es-PE" sz="2400" b="1" dirty="0">
              <a:solidFill>
                <a:schemeClr val="tx1"/>
              </a:solidFill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28" y="1988840"/>
            <a:ext cx="3739432" cy="391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2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3312367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METACOGNICIÓN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8" name="Bocadillo: rectángulo con esquinas redondeadas 1">
            <a:extLst>
              <a:ext uri="{FF2B5EF4-FFF2-40B4-BE49-F238E27FC236}">
                <a16:creationId xmlns="" xmlns:a16="http://schemas.microsoft.com/office/drawing/2014/main" id="{82BC446B-F639-467D-A250-25259F9EF4B8}"/>
              </a:ext>
            </a:extLst>
          </p:cNvPr>
          <p:cNvSpPr/>
          <p:nvPr/>
        </p:nvSpPr>
        <p:spPr>
          <a:xfrm>
            <a:off x="992560" y="2420888"/>
            <a:ext cx="7488832" cy="2664296"/>
          </a:xfrm>
          <a:prstGeom prst="wedgeRoundRectCallout">
            <a:avLst>
              <a:gd name="adj1" fmla="val -17962"/>
              <a:gd name="adj2" fmla="val 48532"/>
              <a:gd name="adj3" fmla="val 16667"/>
            </a:avLst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¿En que se parece la deformación de sólidos con la deformación de un resorte.?</a:t>
            </a:r>
            <a:endParaRPr lang="es-PE" sz="24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¿Cómo determinamos las deformaciones por cizallamiento? </a:t>
            </a:r>
            <a:endParaRPr lang="es-PE" sz="2400" dirty="0">
              <a:solidFill>
                <a:schemeClr val="tx1"/>
              </a:solidFill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PE" sz="2400" dirty="0" smtClean="0">
                <a:solidFill>
                  <a:schemeClr val="tx1"/>
                </a:solidFill>
                <a:cs typeface="Arial" pitchFamily="34" charset="0"/>
              </a:rPr>
              <a:t>¿En qué campos de la Ingeniera podríamos apreciar la aplicación de la elasticidad de los cuerpos?</a:t>
            </a:r>
            <a:endParaRPr lang="es-PE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  <a:p>
            <a:pPr algn="ctr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5846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56656" y="116632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UNIVERSIDAD NACIONAL DEL CALLAO</a:t>
            </a:r>
          </a:p>
          <a:p>
            <a:pPr algn="ctr"/>
            <a:r>
              <a:rPr lang="es-PE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FACULTAD DE INGENIERÍA MECÁNICA Y DE ENERGÍA</a:t>
            </a:r>
            <a:endParaRPr lang="es-PE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1640633" y="980728"/>
            <a:ext cx="2448271" cy="504056"/>
          </a:xfrm>
          <a:prstGeom prst="roundRect">
            <a:avLst/>
          </a:prstGeom>
          <a:solidFill>
            <a:srgbClr val="11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800" b="1" dirty="0" smtClean="0">
                <a:solidFill>
                  <a:schemeClr val="tx1"/>
                </a:solidFill>
              </a:rPr>
              <a:t>REFERENCIAS</a:t>
            </a:r>
            <a:endParaRPr lang="es-PE" sz="2800" b="1" dirty="0">
              <a:solidFill>
                <a:schemeClr val="tx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272480" y="1700808"/>
            <a:ext cx="9561512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u="sng" dirty="0" smtClean="0"/>
              <a:t>Bibliografía </a:t>
            </a:r>
            <a:r>
              <a:rPr lang="es-ES" sz="1600" b="1" u="sng" dirty="0"/>
              <a:t>Básica</a:t>
            </a:r>
            <a:r>
              <a:rPr lang="es-ES" sz="1600" b="1" u="sng" dirty="0" smtClean="0"/>
              <a:t>:</a:t>
            </a:r>
            <a:r>
              <a:rPr lang="es-ES" sz="1600" dirty="0"/>
              <a:t> </a:t>
            </a:r>
            <a:endParaRPr lang="es-PE" sz="1600" dirty="0"/>
          </a:p>
          <a:p>
            <a:r>
              <a:rPr lang="es-ES" sz="1600" dirty="0"/>
              <a:t>1. </a:t>
            </a:r>
            <a:r>
              <a:rPr lang="es-ES" sz="1600" b="1" dirty="0" err="1"/>
              <a:t>Serway</a:t>
            </a:r>
            <a:r>
              <a:rPr lang="es-ES" sz="1600" b="1" dirty="0"/>
              <a:t>, R. A. y </a:t>
            </a:r>
            <a:r>
              <a:rPr lang="es-ES" sz="1600" b="1" dirty="0" err="1"/>
              <a:t>Jewett</a:t>
            </a:r>
            <a:r>
              <a:rPr lang="es-ES" sz="1600" b="1" dirty="0"/>
              <a:t>, J. W.</a:t>
            </a:r>
            <a:r>
              <a:rPr lang="es-ES" sz="1600" dirty="0"/>
              <a:t> </a:t>
            </a:r>
            <a:r>
              <a:rPr lang="es-ES" sz="1600" i="1" dirty="0" err="1"/>
              <a:t>Fisica</a:t>
            </a:r>
            <a:r>
              <a:rPr lang="es-ES" sz="1600" i="1" dirty="0"/>
              <a:t> para Ciencias e </a:t>
            </a:r>
            <a:r>
              <a:rPr lang="es-ES" sz="1600" i="1" dirty="0" err="1"/>
              <a:t>Ingeneiría</a:t>
            </a:r>
            <a:r>
              <a:rPr lang="es-ES" sz="1600" i="1" dirty="0"/>
              <a:t>. </a:t>
            </a:r>
            <a:r>
              <a:rPr lang="es-ES" sz="1600" dirty="0"/>
              <a:t>México : </a:t>
            </a:r>
            <a:r>
              <a:rPr lang="es-ES" sz="1600" dirty="0" err="1"/>
              <a:t>Cengage</a:t>
            </a:r>
            <a:r>
              <a:rPr lang="es-ES" sz="1600" dirty="0"/>
              <a:t> </a:t>
            </a:r>
            <a:r>
              <a:rPr lang="es-ES" sz="1600" dirty="0" err="1"/>
              <a:t>Learning</a:t>
            </a:r>
            <a:r>
              <a:rPr lang="es-ES" sz="1600" dirty="0"/>
              <a:t>, 2015. Vol. I.</a:t>
            </a:r>
            <a:endParaRPr lang="es-PE" sz="1600" dirty="0"/>
          </a:p>
          <a:p>
            <a:r>
              <a:rPr lang="es-ES" sz="1600" dirty="0"/>
              <a:t>2. </a:t>
            </a:r>
            <a:r>
              <a:rPr lang="es-ES" sz="1600" b="1" dirty="0" err="1"/>
              <a:t>Resnick</a:t>
            </a:r>
            <a:r>
              <a:rPr lang="es-ES" sz="1600" b="1" dirty="0"/>
              <a:t>, R., </a:t>
            </a:r>
            <a:r>
              <a:rPr lang="es-ES" sz="1600" b="1" dirty="0" err="1"/>
              <a:t>Halliday</a:t>
            </a:r>
            <a:r>
              <a:rPr lang="es-ES" sz="1600" b="1" dirty="0"/>
              <a:t>, D. y </a:t>
            </a:r>
            <a:r>
              <a:rPr lang="es-ES" sz="1600" b="1" dirty="0" err="1"/>
              <a:t>Krane</a:t>
            </a:r>
            <a:r>
              <a:rPr lang="es-ES" sz="1600" b="1" dirty="0"/>
              <a:t>, K. S.</a:t>
            </a:r>
            <a:r>
              <a:rPr lang="es-ES" sz="1600" dirty="0"/>
              <a:t> </a:t>
            </a:r>
            <a:r>
              <a:rPr lang="es-ES" sz="1600" i="1" dirty="0"/>
              <a:t>Física. </a:t>
            </a:r>
            <a:r>
              <a:rPr lang="es-ES" sz="1600" dirty="0"/>
              <a:t>Quinta. México : </a:t>
            </a:r>
            <a:r>
              <a:rPr lang="es-ES" sz="1600" dirty="0" err="1"/>
              <a:t>Compañia</a:t>
            </a:r>
            <a:r>
              <a:rPr lang="es-ES" sz="1600" dirty="0"/>
              <a:t> editorial Continental, 2014. Vol. I.</a:t>
            </a:r>
            <a:endParaRPr lang="es-PE" sz="1600" dirty="0"/>
          </a:p>
          <a:p>
            <a:r>
              <a:rPr lang="es-ES" sz="1600" dirty="0"/>
              <a:t>3. </a:t>
            </a:r>
            <a:r>
              <a:rPr lang="es-ES" sz="1600" b="1" dirty="0" err="1"/>
              <a:t>Tipler</a:t>
            </a:r>
            <a:r>
              <a:rPr lang="es-ES" sz="1600" b="1" dirty="0"/>
              <a:t>, P. A. y Mosca, G.</a:t>
            </a:r>
            <a:r>
              <a:rPr lang="es-ES" sz="1600" dirty="0"/>
              <a:t> </a:t>
            </a:r>
            <a:r>
              <a:rPr lang="es-ES" sz="1600" i="1" dirty="0"/>
              <a:t>Física para la Ciencia y la Tecnología. </a:t>
            </a:r>
            <a:r>
              <a:rPr lang="es-ES" sz="1600" dirty="0"/>
              <a:t>Sexta. Barcelona : </a:t>
            </a:r>
            <a:r>
              <a:rPr lang="es-ES" sz="1600" dirty="0" err="1"/>
              <a:t>Reverté</a:t>
            </a:r>
            <a:r>
              <a:rPr lang="es-ES" sz="1600" dirty="0"/>
              <a:t> S.A., 2010. Vol. I.</a:t>
            </a:r>
            <a:endParaRPr lang="es-PE" sz="1600" dirty="0"/>
          </a:p>
          <a:p>
            <a:r>
              <a:rPr lang="es-ES" sz="1600" dirty="0"/>
              <a:t>4. </a:t>
            </a:r>
            <a:r>
              <a:rPr lang="es-ES" sz="1600" b="1" dirty="0" err="1"/>
              <a:t>Zemansky</a:t>
            </a:r>
            <a:r>
              <a:rPr lang="es-ES" sz="1600" b="1" dirty="0"/>
              <a:t>, M. W. y </a:t>
            </a:r>
            <a:r>
              <a:rPr lang="es-ES" sz="1600" b="1" dirty="0" err="1"/>
              <a:t>Freedman</a:t>
            </a:r>
            <a:r>
              <a:rPr lang="es-ES" sz="1600" b="1" dirty="0"/>
              <a:t>, R.A.</a:t>
            </a:r>
            <a:r>
              <a:rPr lang="es-ES" sz="1600" dirty="0"/>
              <a:t> </a:t>
            </a:r>
            <a:r>
              <a:rPr lang="es-ES" sz="1600" i="1" dirty="0"/>
              <a:t>Física Universitaria. </a:t>
            </a:r>
            <a:r>
              <a:rPr lang="es-ES" sz="1600" dirty="0"/>
              <a:t>México : Pearson </a:t>
            </a:r>
            <a:r>
              <a:rPr lang="es-ES" sz="1600" dirty="0" err="1"/>
              <a:t>Education</a:t>
            </a:r>
            <a:r>
              <a:rPr lang="es-ES" sz="1600" dirty="0"/>
              <a:t>, 2009. Vol. I.</a:t>
            </a:r>
            <a:endParaRPr lang="es-PE" sz="1600" dirty="0"/>
          </a:p>
          <a:p>
            <a:r>
              <a:rPr lang="es-ES" sz="1600" dirty="0"/>
              <a:t>5. </a:t>
            </a:r>
            <a:r>
              <a:rPr lang="es-ES" sz="1600" b="1" dirty="0" err="1"/>
              <a:t>Fishbane</a:t>
            </a:r>
            <a:r>
              <a:rPr lang="es-ES" sz="1600" b="1" dirty="0"/>
              <a:t>, P.M., </a:t>
            </a:r>
            <a:r>
              <a:rPr lang="es-ES" sz="1600" b="1" dirty="0" err="1"/>
              <a:t>Gasiorowicz</a:t>
            </a:r>
            <a:r>
              <a:rPr lang="es-ES" sz="1600" b="1" dirty="0"/>
              <a:t>, S. y </a:t>
            </a:r>
            <a:r>
              <a:rPr lang="es-ES" sz="1600" b="1" dirty="0" err="1"/>
              <a:t>Thornton</a:t>
            </a:r>
            <a:r>
              <a:rPr lang="es-ES" sz="1600" b="1" dirty="0"/>
              <a:t>, S.T.</a:t>
            </a:r>
            <a:r>
              <a:rPr lang="es-ES" sz="1600" dirty="0"/>
              <a:t> </a:t>
            </a:r>
            <a:r>
              <a:rPr lang="es-ES" sz="1600" i="1" dirty="0" smtClean="0"/>
              <a:t>Física </a:t>
            </a:r>
            <a:r>
              <a:rPr lang="es-ES" sz="1600" i="1" dirty="0"/>
              <a:t>para Ciencias e </a:t>
            </a:r>
            <a:r>
              <a:rPr lang="es-ES" sz="1600" i="1" dirty="0" err="1"/>
              <a:t>Ingeneiría</a:t>
            </a:r>
            <a:r>
              <a:rPr lang="es-ES" sz="1600" i="1" dirty="0"/>
              <a:t>. </a:t>
            </a:r>
            <a:r>
              <a:rPr lang="es-ES" sz="1600" dirty="0"/>
              <a:t>México : Prentice Hall Hispanoamericana, 1996. Vol. I.</a:t>
            </a:r>
            <a:endParaRPr lang="es-PE" sz="1600" dirty="0"/>
          </a:p>
          <a:p>
            <a:r>
              <a:rPr lang="es-ES" sz="1600" dirty="0"/>
              <a:t>6. </a:t>
            </a:r>
            <a:r>
              <a:rPr lang="es-ES" sz="1600" b="1" dirty="0"/>
              <a:t>Alonso, M. y </a:t>
            </a:r>
            <a:r>
              <a:rPr lang="es-ES" sz="1600" b="1" dirty="0" err="1"/>
              <a:t>Finn</a:t>
            </a:r>
            <a:r>
              <a:rPr lang="es-ES" sz="1600" b="1" dirty="0"/>
              <a:t>, E.J.</a:t>
            </a:r>
            <a:r>
              <a:rPr lang="es-ES" sz="1600" dirty="0"/>
              <a:t> </a:t>
            </a:r>
            <a:r>
              <a:rPr lang="es-ES" sz="1600" i="1" dirty="0"/>
              <a:t>Física: Mecánica. </a:t>
            </a:r>
            <a:r>
              <a:rPr lang="es-ES" sz="1600" dirty="0"/>
              <a:t>México : Fondo Educativo Interamericano S. A., 1971. Vol. I.</a:t>
            </a:r>
            <a:endParaRPr lang="es-PE" sz="1600" dirty="0"/>
          </a:p>
          <a:p>
            <a:r>
              <a:rPr lang="es-ES" sz="1600" b="1" u="sng" dirty="0" smtClean="0"/>
              <a:t>Bibliografía </a:t>
            </a:r>
            <a:r>
              <a:rPr lang="es-ES" sz="1600" b="1" u="sng" dirty="0"/>
              <a:t>Complementaria:</a:t>
            </a:r>
            <a:endParaRPr lang="es-PE" sz="1600" b="1" u="sng" dirty="0"/>
          </a:p>
          <a:p>
            <a:r>
              <a:rPr lang="es-ES" sz="1600" b="1" dirty="0"/>
              <a:t> </a:t>
            </a:r>
            <a:r>
              <a:rPr lang="es-ES" sz="1600" dirty="0" smtClean="0"/>
              <a:t>7</a:t>
            </a:r>
            <a:r>
              <a:rPr lang="es-ES" sz="1600" dirty="0"/>
              <a:t>. </a:t>
            </a:r>
            <a:r>
              <a:rPr lang="es-ES" sz="1600" b="1" dirty="0" err="1"/>
              <a:t>Beer</a:t>
            </a:r>
            <a:r>
              <a:rPr lang="es-ES" sz="1600" b="1" dirty="0"/>
              <a:t>, F. P., y otros.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</a:t>
            </a:r>
            <a:r>
              <a:rPr lang="es-ES" sz="1600" i="1" dirty="0" smtClean="0"/>
              <a:t>: Dinámica</a:t>
            </a:r>
            <a:r>
              <a:rPr lang="es-ES" sz="1600" i="1" dirty="0"/>
              <a:t>. </a:t>
            </a:r>
            <a:r>
              <a:rPr lang="es-ES" sz="1600" dirty="0"/>
              <a:t>México : Mc Graw Hill, 2010. Vol. Novena.</a:t>
            </a:r>
            <a:endParaRPr lang="es-PE" sz="1600" dirty="0"/>
          </a:p>
          <a:p>
            <a:r>
              <a:rPr lang="es-ES" sz="1600" dirty="0"/>
              <a:t>8. </a:t>
            </a:r>
            <a:r>
              <a:rPr lang="es-ES" sz="1600" b="1" dirty="0" err="1"/>
              <a:t>Beer</a:t>
            </a:r>
            <a:r>
              <a:rPr lang="es-ES" sz="1600" b="1" dirty="0"/>
              <a:t>, F.P., y otros.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Ingenieros: Estática. </a:t>
            </a:r>
            <a:r>
              <a:rPr lang="es-ES" sz="1600" dirty="0"/>
              <a:t>Novena. México : Mc Graw Hill, 2010.</a:t>
            </a:r>
            <a:endParaRPr lang="es-PE" sz="1600" dirty="0"/>
          </a:p>
          <a:p>
            <a:r>
              <a:rPr lang="es-ES" sz="1600" dirty="0"/>
              <a:t>9. </a:t>
            </a:r>
            <a:r>
              <a:rPr lang="es-ES" sz="1600" b="1" dirty="0"/>
              <a:t>Bedford, A. y </a:t>
            </a:r>
            <a:r>
              <a:rPr lang="es-ES" sz="1600" b="1" dirty="0" err="1"/>
              <a:t>Fowler</a:t>
            </a:r>
            <a:r>
              <a:rPr lang="es-ES" sz="1600" b="1" dirty="0"/>
              <a:t>, W.</a:t>
            </a:r>
            <a:r>
              <a:rPr lang="es-ES" sz="1600" dirty="0"/>
              <a:t> </a:t>
            </a:r>
            <a:r>
              <a:rPr lang="es-ES" sz="1600" i="1" dirty="0"/>
              <a:t>Mecánica para Ingeniería: Estática. </a:t>
            </a:r>
            <a:r>
              <a:rPr lang="es-ES" sz="1600" dirty="0"/>
              <a:t>Quinta. México : Pearson Educación, 2008.</a:t>
            </a:r>
            <a:endParaRPr lang="es-PE" sz="1600" dirty="0"/>
          </a:p>
          <a:p>
            <a:r>
              <a:rPr lang="es-ES" sz="1600" dirty="0"/>
              <a:t>10. —. </a:t>
            </a:r>
            <a:r>
              <a:rPr lang="es-ES" sz="1600" i="1" dirty="0"/>
              <a:t>Mecánica para Ingeniería: Dinámica. </a:t>
            </a:r>
            <a:r>
              <a:rPr lang="es-ES" sz="1600" dirty="0"/>
              <a:t>Quinta. México : Pearson Educación, 2008.</a:t>
            </a:r>
            <a:endParaRPr lang="es-PE" sz="1600" dirty="0"/>
          </a:p>
          <a:p>
            <a:r>
              <a:rPr lang="es-ES" sz="1600" dirty="0"/>
              <a:t>11. </a:t>
            </a:r>
            <a:r>
              <a:rPr lang="es-ES" sz="1600" b="1" dirty="0" err="1"/>
              <a:t>Hibbeler</a:t>
            </a:r>
            <a:r>
              <a:rPr lang="es-ES" sz="1600" b="1" dirty="0"/>
              <a:t>, R. C.</a:t>
            </a:r>
            <a:r>
              <a:rPr lang="es-ES" sz="1600" dirty="0"/>
              <a:t> </a:t>
            </a:r>
            <a:r>
              <a:rPr lang="es-ES" sz="1600" i="1" dirty="0"/>
              <a:t>Mecánica Vectorial para Ingenieros: Estática. </a:t>
            </a:r>
            <a:r>
              <a:rPr lang="es-ES" sz="1600" dirty="0"/>
              <a:t>Décima. México : Pearson Educación, 2004.</a:t>
            </a:r>
            <a:endParaRPr lang="es-PE" sz="1600" dirty="0"/>
          </a:p>
          <a:p>
            <a:r>
              <a:rPr lang="es-ES" sz="1600" dirty="0"/>
              <a:t>12. —. </a:t>
            </a:r>
            <a:r>
              <a:rPr lang="es-ES" sz="1600" i="1" dirty="0"/>
              <a:t>Mecánica Vectorial para Ingenieros: Dinámica. </a:t>
            </a:r>
            <a:r>
              <a:rPr lang="es-ES" sz="1600" dirty="0"/>
              <a:t>Décima. México : Pearson Educación, 2004.</a:t>
            </a:r>
            <a:r>
              <a:rPr lang="es-ES" sz="1500" dirty="0">
                <a:ea typeface="Symbol" panose="05050102010706020507" pitchFamily="18" charset="2"/>
                <a:cs typeface="Arial" panose="020B0604020202020204" pitchFamily="34" charset="0"/>
              </a:rPr>
              <a:t> </a:t>
            </a:r>
            <a:endParaRPr lang="es-ES" sz="1500" dirty="0" smtClean="0">
              <a:ea typeface="Symbol" panose="05050102010706020507" pitchFamily="18" charset="2"/>
              <a:cs typeface="Arial" panose="020B0604020202020204" pitchFamily="34" charset="0"/>
            </a:endParaRPr>
          </a:p>
          <a:p>
            <a:r>
              <a:rPr lang="es-ES" sz="1500" b="1" u="sng" dirty="0" smtClean="0">
                <a:ea typeface="Times New Roman" panose="02020603050405020304" pitchFamily="18" charset="0"/>
              </a:rPr>
              <a:t>Fuentes </a:t>
            </a:r>
            <a:r>
              <a:rPr lang="es-ES" sz="1500" b="1" u="sng" dirty="0" err="1" smtClean="0">
                <a:ea typeface="Times New Roman" panose="02020603050405020304" pitchFamily="18" charset="0"/>
              </a:rPr>
              <a:t>hemerográficas</a:t>
            </a:r>
            <a:endParaRPr lang="es-ES" sz="1500" b="1" u="sng" dirty="0">
              <a:ea typeface="Times New Roman" panose="02020603050405020304" pitchFamily="18" charset="0"/>
            </a:endParaRPr>
          </a:p>
          <a:p>
            <a:r>
              <a:rPr lang="es-ES" sz="1500" dirty="0" err="1" smtClean="0">
                <a:ea typeface="Times New Roman" panose="02020603050405020304" pitchFamily="18" charset="0"/>
              </a:rPr>
              <a:t>Physics</a:t>
            </a:r>
            <a:r>
              <a:rPr lang="es-ES" sz="1500" dirty="0" smtClean="0">
                <a:ea typeface="Times New Roman" panose="02020603050405020304" pitchFamily="18" charset="0"/>
              </a:rPr>
              <a:t> </a:t>
            </a:r>
            <a:r>
              <a:rPr lang="es-ES" sz="1500" dirty="0" err="1">
                <a:ea typeface="Times New Roman" panose="02020603050405020304" pitchFamily="18" charset="0"/>
              </a:rPr>
              <a:t>today</a:t>
            </a:r>
            <a:r>
              <a:rPr lang="es-ES" sz="1500" dirty="0">
                <a:ea typeface="Times New Roman" panose="02020603050405020304" pitchFamily="18" charset="0"/>
              </a:rPr>
              <a:t>, 68(11), 38(2015); </a:t>
            </a:r>
            <a:r>
              <a:rPr lang="es-ES" sz="1500" dirty="0" err="1">
                <a:ea typeface="Times New Roman" panose="02020603050405020304" pitchFamily="18" charset="0"/>
              </a:rPr>
              <a:t>doi</a:t>
            </a:r>
            <a:r>
              <a:rPr lang="es-ES" sz="1500" dirty="0">
                <a:ea typeface="Times New Roman" panose="02020603050405020304" pitchFamily="18" charset="0"/>
              </a:rPr>
              <a:t> 10.1063/PT </a:t>
            </a:r>
            <a:r>
              <a:rPr lang="es-ES" sz="1500" dirty="0" smtClean="0">
                <a:ea typeface="Times New Roman" panose="02020603050405020304" pitchFamily="18" charset="0"/>
              </a:rPr>
              <a:t>3.2980.</a:t>
            </a:r>
            <a:endParaRPr lang="es-PE" sz="1500" dirty="0">
              <a:ea typeface="Times New Roman" panose="02020603050405020304" pitchFamily="18" charset="0"/>
            </a:endParaRPr>
          </a:p>
          <a:p>
            <a:r>
              <a:rPr lang="es-ES" sz="1500" b="1" u="sng" dirty="0" err="1" smtClean="0">
                <a:ea typeface="Times New Roman" panose="02020603050405020304" pitchFamily="18" charset="0"/>
              </a:rPr>
              <a:t>Webgrafia</a:t>
            </a:r>
            <a:endParaRPr lang="es-ES" sz="1500" b="1" u="sng" dirty="0">
              <a:ea typeface="Times New Roman" panose="02020603050405020304" pitchFamily="18" charset="0"/>
            </a:endParaRPr>
          </a:p>
          <a:p>
            <a:r>
              <a:rPr lang="es-PE" sz="1500" u="sng" dirty="0" smtClean="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</a:t>
            </a:r>
            <a:r>
              <a:rPr lang="es-PE" sz="1500" u="sng" dirty="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://</a:t>
            </a:r>
            <a:r>
              <a:rPr lang="es-PE" sz="1500" u="sng" dirty="0" smtClean="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www.sc.ehu.es/sbweb/fisica/</a:t>
            </a:r>
            <a:endParaRPr lang="es-PE" sz="1500" u="sng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PE" sz="1500" u="sng" dirty="0" smtClean="0"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</a:t>
            </a:r>
            <a:r>
              <a:rPr lang="es-PE" sz="1500" u="sng" dirty="0"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://www.fisicarecreativa.com/</a:t>
            </a:r>
            <a:endParaRPr lang="es-PE" sz="1500" dirty="0"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00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TR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PATRON</Template>
  <TotalTime>8797</TotalTime>
  <Words>816</Words>
  <Application>Microsoft Office PowerPoint</Application>
  <PresentationFormat>A4 (210 x 297 mm)</PresentationFormat>
  <Paragraphs>154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ＭＳ Ｐゴシック</vt:lpstr>
      <vt:lpstr>ＭＳ Ｐゴシック</vt:lpstr>
      <vt:lpstr>Arial</vt:lpstr>
      <vt:lpstr>Calibri</vt:lpstr>
      <vt:lpstr>Cambria Math</vt:lpstr>
      <vt:lpstr>Symbol</vt:lpstr>
      <vt:lpstr>Times New Roman</vt:lpstr>
      <vt:lpstr>PATRON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Privada del Norte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Delfin Narciso</dc:creator>
  <cp:lastModifiedBy>Nelson Alberto</cp:lastModifiedBy>
  <cp:revision>392</cp:revision>
  <dcterms:created xsi:type="dcterms:W3CDTF">2012-09-19T03:34:19Z</dcterms:created>
  <dcterms:modified xsi:type="dcterms:W3CDTF">2019-11-05T22:12:19Z</dcterms:modified>
</cp:coreProperties>
</file>