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handoutMasterIdLst>
    <p:handoutMasterId r:id="rId22"/>
  </p:handoutMasterIdLst>
  <p:sldIdLst>
    <p:sldId id="363" r:id="rId2"/>
    <p:sldId id="256" r:id="rId3"/>
    <p:sldId id="365" r:id="rId4"/>
    <p:sldId id="366" r:id="rId5"/>
    <p:sldId id="367" r:id="rId6"/>
    <p:sldId id="389" r:id="rId7"/>
    <p:sldId id="395" r:id="rId8"/>
    <p:sldId id="401" r:id="rId9"/>
    <p:sldId id="387" r:id="rId10"/>
    <p:sldId id="402" r:id="rId11"/>
    <p:sldId id="381" r:id="rId12"/>
    <p:sldId id="390" r:id="rId13"/>
    <p:sldId id="384" r:id="rId14"/>
    <p:sldId id="400" r:id="rId15"/>
    <p:sldId id="393" r:id="rId16"/>
    <p:sldId id="371" r:id="rId17"/>
    <p:sldId id="376" r:id="rId18"/>
    <p:sldId id="382" r:id="rId19"/>
    <p:sldId id="378" r:id="rId20"/>
  </p:sldIdLst>
  <p:sldSz cx="9906000" cy="6858000" type="A4"/>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1611"/>
    <a:srgbClr val="0000FF"/>
    <a:srgbClr val="A51313"/>
    <a:srgbClr val="B71515"/>
    <a:srgbClr val="D51919"/>
    <a:srgbClr val="B6120E"/>
    <a:srgbClr val="930E0B"/>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94660"/>
  </p:normalViewPr>
  <p:slideViewPr>
    <p:cSldViewPr>
      <p:cViewPr varScale="1">
        <p:scale>
          <a:sx n="95" d="100"/>
          <a:sy n="95" d="100"/>
        </p:scale>
        <p:origin x="1140" y="7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219AD7-51CE-483B-A812-AE489C31F232}" type="datetimeFigureOut">
              <a:rPr lang="es-MX" smtClean="0"/>
              <a:t>01/10/2020</a:t>
            </a:fld>
            <a:endParaRPr lang="es-MX"/>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476D70-7FD1-490F-953D-DAC7EFCA2461}" type="slidenum">
              <a:rPr lang="es-MX" smtClean="0"/>
              <a:t>‹Nº›</a:t>
            </a:fld>
            <a:endParaRPr lang="es-MX"/>
          </a:p>
        </p:txBody>
      </p:sp>
    </p:spTree>
    <p:extLst>
      <p:ext uri="{BB962C8B-B14F-4D97-AF65-F5344CB8AC3E}">
        <p14:creationId xmlns:p14="http://schemas.microsoft.com/office/powerpoint/2010/main" val="1745235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223AA-9B34-4DCC-A6E4-0C980A794CD5}" type="datetimeFigureOut">
              <a:rPr lang="es-MX" smtClean="0"/>
              <a:t>01/10/2020</a:t>
            </a:fld>
            <a:endParaRPr lang="es-MX"/>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07FDC-64A3-4F2D-9092-2E95035D7FC4}" type="slidenum">
              <a:rPr lang="es-MX" smtClean="0"/>
              <a:t>‹Nº›</a:t>
            </a:fld>
            <a:endParaRPr lang="es-MX"/>
          </a:p>
        </p:txBody>
      </p:sp>
    </p:spTree>
    <p:extLst>
      <p:ext uri="{BB962C8B-B14F-4D97-AF65-F5344CB8AC3E}">
        <p14:creationId xmlns:p14="http://schemas.microsoft.com/office/powerpoint/2010/main" val="414699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  </a:t>
            </a:r>
            <a:endParaRPr lang="es-PE" dirty="0"/>
          </a:p>
        </p:txBody>
      </p:sp>
      <p:sp>
        <p:nvSpPr>
          <p:cNvPr id="4" name="Marcador de número de diapositiva 3"/>
          <p:cNvSpPr>
            <a:spLocks noGrp="1"/>
          </p:cNvSpPr>
          <p:nvPr>
            <p:ph type="sldNum" sz="quarter" idx="10"/>
          </p:nvPr>
        </p:nvSpPr>
        <p:spPr/>
        <p:txBody>
          <a:bodyPr/>
          <a:lstStyle/>
          <a:p>
            <a:fld id="{61D07FDC-64A3-4F2D-9092-2E95035D7FC4}" type="slidenum">
              <a:rPr lang="es-MX" smtClean="0"/>
              <a:t>16</a:t>
            </a:fld>
            <a:endParaRPr lang="es-MX"/>
          </a:p>
        </p:txBody>
      </p:sp>
    </p:spTree>
    <p:extLst>
      <p:ext uri="{BB962C8B-B14F-4D97-AF65-F5344CB8AC3E}">
        <p14:creationId xmlns:p14="http://schemas.microsoft.com/office/powerpoint/2010/main" val="9948633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534479" y="1848218"/>
            <a:ext cx="8420100" cy="345317"/>
          </a:xfrm>
          <a:prstGeom prst="rect">
            <a:avLst/>
          </a:prstGeom>
        </p:spPr>
        <p:txBody>
          <a:bodyPr/>
          <a:lstStyle>
            <a:lvl1pPr>
              <a:defRPr sz="2800" cap="all">
                <a:solidFill>
                  <a:srgbClr val="272727"/>
                </a:solidFill>
              </a:defRPr>
            </a:lvl1pPr>
          </a:lstStyle>
          <a:p>
            <a:r>
              <a:rPr lang="es-ES" smtClean="0"/>
              <a:t>Haga clic para modificar el estilo de título del patrón</a:t>
            </a:r>
            <a:endParaRPr lang="es-ES" dirty="0"/>
          </a:p>
        </p:txBody>
      </p:sp>
      <p:sp>
        <p:nvSpPr>
          <p:cNvPr id="3" name="Subtítulo 2"/>
          <p:cNvSpPr>
            <a:spLocks noGrp="1"/>
          </p:cNvSpPr>
          <p:nvPr>
            <p:ph type="subTitle" idx="1"/>
          </p:nvPr>
        </p:nvSpPr>
        <p:spPr>
          <a:xfrm>
            <a:off x="534479" y="2287320"/>
            <a:ext cx="6934200" cy="978395"/>
          </a:xfrm>
          <a:prstGeom prst="rect">
            <a:avLst/>
          </a:prstGeo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93260" y="5949280"/>
            <a:ext cx="2340260" cy="648072"/>
          </a:xfrm>
          <a:prstGeom prst="rect">
            <a:avLst/>
          </a:prstGeom>
        </p:spPr>
      </p:pic>
      <p:sp>
        <p:nvSpPr>
          <p:cNvPr id="7"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825563" y="12700"/>
            <a:ext cx="2066679"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7"/>
          <p:cNvSpPr/>
          <p:nvPr userDrawn="1"/>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
        <p:nvSpPr>
          <p:cNvPr id="6" name="Rectangle 5"/>
          <p:cNvSpPr/>
          <p:nvPr/>
        </p:nvSpPr>
        <p:spPr>
          <a:xfrm>
            <a:off x="495300" y="393580"/>
            <a:ext cx="1500732" cy="461665"/>
          </a:xfrm>
          <a:prstGeom prst="rect">
            <a:avLst/>
          </a:prstGeom>
        </p:spPr>
        <p:txBody>
          <a:bodyPr wrap="none">
            <a:spAutoFit/>
          </a:bodyPr>
          <a:lstStyle/>
          <a:p>
            <a:r>
              <a:rPr lang="es-ES_tradnl" sz="2400" dirty="0" smtClean="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timing>
    <p:tnLst>
      <p:par>
        <p:cTn id="1" dur="indefinite" restart="never" nodeType="tmRoot"/>
      </p:par>
    </p:tnLst>
  </p:timing>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5"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normAutofit/>
          </a:bodyPr>
          <a:lstStyle>
            <a:lvl1pPr>
              <a:defRPr sz="2400" cap="all"/>
            </a:lvl1pPr>
          </a:lstStyle>
          <a:p>
            <a:r>
              <a:rPr lang="es-ES" smtClean="0"/>
              <a:t>Haga clic para modificar el estilo de título del patrón</a:t>
            </a:r>
            <a:endParaRPr lang="es-ES" dirty="0"/>
          </a:p>
        </p:txBody>
      </p:sp>
      <p:sp>
        <p:nvSpPr>
          <p:cNvPr id="3" name="Marcador de contenido 2"/>
          <p:cNvSpPr>
            <a:spLocks noGrp="1"/>
          </p:cNvSpPr>
          <p:nvPr>
            <p:ph idx="1"/>
          </p:nvPr>
        </p:nvSpPr>
        <p:spPr>
          <a:xfrm>
            <a:off x="495300" y="1078523"/>
            <a:ext cx="8915400" cy="5141425"/>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timing>
    <p:tnLst>
      <p:par>
        <p:cTn id="1" dur="indefinite" restart="never" nodeType="tmRoot"/>
      </p:par>
    </p:tnLst>
  </p:timing>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6"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smtClean="0"/>
              <a:t>Haga clic para modificar el estilo de título del patrón</a:t>
            </a:r>
            <a:endParaRPr lang="es-ES" dirty="0"/>
          </a:p>
        </p:txBody>
      </p:sp>
      <p:sp>
        <p:nvSpPr>
          <p:cNvPr id="3" name="Marcador de contenido 2"/>
          <p:cNvSpPr>
            <a:spLocks noGrp="1"/>
          </p:cNvSpPr>
          <p:nvPr>
            <p:ph sz="half" idx="1"/>
          </p:nvPr>
        </p:nvSpPr>
        <p:spPr>
          <a:xfrm>
            <a:off x="49530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sp>
        <p:nvSpPr>
          <p:cNvPr id="4" name="Marcador de contenido 3"/>
          <p:cNvSpPr>
            <a:spLocks noGrp="1"/>
          </p:cNvSpPr>
          <p:nvPr>
            <p:ph sz="half" idx="2"/>
          </p:nvPr>
        </p:nvSpPr>
        <p:spPr>
          <a:xfrm>
            <a:off x="503555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
        <p:nvSpPr>
          <p:cNvPr id="12" name="Rectangle 11"/>
          <p:cNvSpPr/>
          <p:nvPr/>
        </p:nvSpPr>
        <p:spPr>
          <a:xfrm>
            <a:off x="495301" y="393580"/>
            <a:ext cx="5022529" cy="461665"/>
          </a:xfrm>
          <a:prstGeom prst="rect">
            <a:avLst/>
          </a:prstGeom>
        </p:spPr>
        <p:txBody>
          <a:bodyPr wrap="none">
            <a:spAutoFit/>
          </a:bodyPr>
          <a:lstStyle/>
          <a:p>
            <a:r>
              <a:rPr lang="es-ES_tradnl" sz="2400" dirty="0" smtClean="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timing>
    <p:tnLst>
      <p:par>
        <p:cTn id="1" dur="indefinite" restart="never" nodeType="tmRoot"/>
      </p:par>
    </p:tnLst>
  </p:timing>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smtClean="0"/>
              <a:t>Haga clic para modificar el estilo de texto del patrón</a:t>
            </a:r>
          </a:p>
          <a:p>
            <a:pPr lvl="1"/>
            <a:endParaRPr lang="es-ES" dirty="0"/>
          </a:p>
        </p:txBody>
      </p:sp>
      <p:sp>
        <p:nvSpPr>
          <p:cNvPr id="12" name="Rectangle 11"/>
          <p:cNvSpPr/>
          <p:nvPr/>
        </p:nvSpPr>
        <p:spPr>
          <a:xfrm>
            <a:off x="495300" y="393580"/>
            <a:ext cx="2648482" cy="461665"/>
          </a:xfrm>
          <a:prstGeom prst="rect">
            <a:avLst/>
          </a:prstGeom>
        </p:spPr>
        <p:txBody>
          <a:bodyPr wrap="none">
            <a:spAutoFit/>
          </a:bodyPr>
          <a:lstStyle/>
          <a:p>
            <a:r>
              <a:rPr lang="es-ES_tradnl" sz="2400" dirty="0" smtClean="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timing>
    <p:tnLst>
      <p:par>
        <p:cTn id="1" dur="indefinite" restart="never" nodeType="tmRoot"/>
      </p:par>
    </p:tnLst>
  </p:timing>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9658351" y="482601"/>
            <a:ext cx="259689"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smtClean="0"/>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l="-9000" r="-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71" r:id="rId9"/>
  </p:sldLayoutIdLst>
  <p:transition>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es.wikipedia.org/wiki/Material_aug%C3%A9tico" TargetMode="External"/><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9.xml"/><Relationship Id="rId6" Type="http://schemas.openxmlformats.org/officeDocument/2006/relationships/image" Target="../media/image43.png"/><Relationship Id="rId5" Type="http://schemas.openxmlformats.org/officeDocument/2006/relationships/image" Target="../media/image34.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35.png"/><Relationship Id="rId1" Type="http://schemas.openxmlformats.org/officeDocument/2006/relationships/slideLayout" Target="../slideLayouts/slideLayout9.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190.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00.png"/><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9.xml"/><Relationship Id="rId6" Type="http://schemas.openxmlformats.org/officeDocument/2006/relationships/image" Target="../media/image58.png"/><Relationship Id="rId5" Type="http://schemas.openxmlformats.org/officeDocument/2006/relationships/image" Target="../media/image42.png"/><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www.fisicarecreativa.com/" TargetMode="External"/><Relationship Id="rId2" Type="http://schemas.openxmlformats.org/officeDocument/2006/relationships/hyperlink" Target="http://www.sc.ehu.es/sbweb/fisica/"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5" name="Rectángulo redondeado 4"/>
          <p:cNvSpPr/>
          <p:nvPr/>
        </p:nvSpPr>
        <p:spPr>
          <a:xfrm>
            <a:off x="1099969" y="2276872"/>
            <a:ext cx="3744416" cy="37914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s-PE" sz="2400" dirty="0" smtClean="0">
                <a:solidFill>
                  <a:schemeClr val="tx1"/>
                </a:solidFill>
              </a:rPr>
              <a:t>Deformación lateral, modulo de </a:t>
            </a:r>
            <a:r>
              <a:rPr lang="es-PE" sz="2400" dirty="0" err="1" smtClean="0">
                <a:solidFill>
                  <a:schemeClr val="tx1"/>
                </a:solidFill>
              </a:rPr>
              <a:t>Poisson</a:t>
            </a:r>
            <a:r>
              <a:rPr lang="es-PE" sz="2400" dirty="0" smtClean="0">
                <a:solidFill>
                  <a:schemeClr val="tx1"/>
                </a:solidFill>
              </a:rPr>
              <a:t>.</a:t>
            </a:r>
          </a:p>
          <a:p>
            <a:r>
              <a:rPr lang="es-PE" sz="2400" dirty="0" smtClean="0">
                <a:solidFill>
                  <a:schemeClr val="tx1"/>
                </a:solidFill>
              </a:rPr>
              <a:t>Ley de Hook Generalizada.</a:t>
            </a:r>
          </a:p>
          <a:p>
            <a:r>
              <a:rPr lang="es-PE" sz="2400" dirty="0" smtClean="0">
                <a:solidFill>
                  <a:schemeClr val="tx1"/>
                </a:solidFill>
              </a:rPr>
              <a:t>Deformación por Torsión en solidos.</a:t>
            </a:r>
          </a:p>
          <a:p>
            <a:r>
              <a:rPr lang="es-PE" sz="2400" dirty="0" smtClean="0">
                <a:solidFill>
                  <a:schemeClr val="tx1"/>
                </a:solidFill>
              </a:rPr>
              <a:t>Torque máximo. </a:t>
            </a:r>
          </a:p>
          <a:p>
            <a:r>
              <a:rPr lang="es-PE" sz="2400" dirty="0" smtClean="0">
                <a:solidFill>
                  <a:schemeClr val="tx1"/>
                </a:solidFill>
              </a:rPr>
              <a:t>Energía elástica por torsión.</a:t>
            </a:r>
            <a:endParaRPr lang="es-PE" sz="2400" dirty="0">
              <a:solidFill>
                <a:schemeClr val="tx1"/>
              </a:solidFill>
              <a:latin typeface="Arial" panose="020B0604020202020204" pitchFamily="34" charset="0"/>
              <a:cs typeface="Arial" panose="020B0604020202020204" pitchFamily="34" charset="0"/>
            </a:endParaRPr>
          </a:p>
        </p:txBody>
      </p:sp>
      <p:sp>
        <p:nvSpPr>
          <p:cNvPr id="6" name="Rectángulo redondeado 5"/>
          <p:cNvSpPr/>
          <p:nvPr/>
        </p:nvSpPr>
        <p:spPr>
          <a:xfrm>
            <a:off x="1548194" y="760506"/>
            <a:ext cx="6645166"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a:t>
            </a:r>
            <a:r>
              <a:rPr lang="es-PE" sz="2000" b="1" dirty="0" smtClean="0">
                <a:solidFill>
                  <a:schemeClr val="tx1"/>
                </a:solidFill>
                <a:latin typeface="Arial" panose="020B0604020202020204" pitchFamily="34" charset="0"/>
                <a:cs typeface="Arial" panose="020B0604020202020204" pitchFamily="34" charset="0"/>
              </a:rPr>
              <a:t>02:  ELASTICIDAD DE LOS MATERIALES.</a:t>
            </a:r>
            <a:endParaRPr lang="es-PE" sz="2000" b="1" dirty="0">
              <a:solidFill>
                <a:schemeClr val="tx1"/>
              </a:solidFill>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3080" y="2132856"/>
            <a:ext cx="2887242" cy="3935416"/>
          </a:xfrm>
          <a:prstGeom prst="rect">
            <a:avLst/>
          </a:prstGeom>
        </p:spPr>
      </p:pic>
    </p:spTree>
    <p:extLst>
      <p:ext uri="{BB962C8B-B14F-4D97-AF65-F5344CB8AC3E}">
        <p14:creationId xmlns:p14="http://schemas.microsoft.com/office/powerpoint/2010/main" val="3931923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5" name="Rectángulo redondeado 4"/>
          <p:cNvSpPr/>
          <p:nvPr/>
        </p:nvSpPr>
        <p:spPr>
          <a:xfrm>
            <a:off x="1640632" y="764704"/>
            <a:ext cx="5961184" cy="96715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smtClean="0">
                <a:solidFill>
                  <a:schemeClr val="tx1"/>
                </a:solidFill>
              </a:rPr>
              <a:t>OBSERVA LA IMÁGEN .  .  .</a:t>
            </a:r>
            <a:endParaRPr lang="es-PE" sz="3200" b="1" dirty="0">
              <a:solidFill>
                <a:schemeClr val="tx1"/>
              </a:solidFill>
            </a:endParaRPr>
          </a:p>
        </p:txBody>
      </p:sp>
      <p:sp>
        <p:nvSpPr>
          <p:cNvPr id="8" name="Rectángulo redondeado 7"/>
          <p:cNvSpPr/>
          <p:nvPr/>
        </p:nvSpPr>
        <p:spPr>
          <a:xfrm>
            <a:off x="556247" y="5925472"/>
            <a:ext cx="8264769" cy="64611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smtClean="0">
                <a:solidFill>
                  <a:schemeClr val="tx1"/>
                </a:solidFill>
              </a:rPr>
              <a:t>¿Qué opinión tienes al respecto?</a:t>
            </a:r>
            <a:endParaRPr lang="es-PE" sz="3200" b="1" dirty="0">
              <a:solidFill>
                <a:schemeClr val="tx1"/>
              </a:solidFill>
            </a:endParaRPr>
          </a:p>
        </p:txBody>
      </p:sp>
      <p:pic>
        <p:nvPicPr>
          <p:cNvPr id="1026" name="Picture 2" descr="Resultado de imagen para TRANSMISION DE TORQUES POR EJ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896" y="1859399"/>
            <a:ext cx="5904656" cy="3938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7338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7" name="Rectángulo redondeado 6"/>
          <p:cNvSpPr/>
          <p:nvPr/>
        </p:nvSpPr>
        <p:spPr>
          <a:xfrm>
            <a:off x="2039815" y="879231"/>
            <a:ext cx="2985193" cy="67756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3200" dirty="0" smtClean="0">
                <a:solidFill>
                  <a:schemeClr val="tx1"/>
                </a:solidFill>
              </a:rPr>
              <a:t>PENSEMOS. . .</a:t>
            </a:r>
            <a:endParaRPr lang="es-PE" sz="3200" dirty="0">
              <a:solidFill>
                <a:schemeClr val="tx1"/>
              </a:solidFill>
            </a:endParaRPr>
          </a:p>
        </p:txBody>
      </p:sp>
      <p:sp>
        <p:nvSpPr>
          <p:cNvPr id="9" name="Rectángulo redondeado 8"/>
          <p:cNvSpPr/>
          <p:nvPr/>
        </p:nvSpPr>
        <p:spPr>
          <a:xfrm>
            <a:off x="6393160" y="1796483"/>
            <a:ext cx="3312368" cy="4516173"/>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400" b="1" dirty="0" smtClean="0">
              <a:solidFill>
                <a:schemeClr val="tx1"/>
              </a:solidFill>
            </a:endParaRPr>
          </a:p>
          <a:p>
            <a:pPr algn="ctr">
              <a:lnSpc>
                <a:spcPct val="150000"/>
              </a:lnSpc>
            </a:pPr>
            <a:endParaRPr lang="es-PE" sz="2400" b="1" dirty="0" smtClean="0">
              <a:solidFill>
                <a:schemeClr val="tx1"/>
              </a:solidFill>
            </a:endParaRPr>
          </a:p>
          <a:p>
            <a:pPr>
              <a:lnSpc>
                <a:spcPct val="150000"/>
              </a:lnSpc>
            </a:pPr>
            <a:r>
              <a:rPr lang="es-PE" sz="2000" b="1" dirty="0" smtClean="0">
                <a:solidFill>
                  <a:schemeClr val="tx1"/>
                </a:solidFill>
              </a:rPr>
              <a:t>¿</a:t>
            </a:r>
            <a:r>
              <a:rPr lang="es-PE" sz="2000" b="1" dirty="0">
                <a:solidFill>
                  <a:schemeClr val="tx1"/>
                </a:solidFill>
              </a:rPr>
              <a:t>Qué </a:t>
            </a:r>
            <a:r>
              <a:rPr lang="es-PE" sz="2000" b="1" dirty="0" smtClean="0">
                <a:solidFill>
                  <a:schemeClr val="tx1"/>
                </a:solidFill>
              </a:rPr>
              <a:t>entiendes esfuerzo de corte?</a:t>
            </a:r>
            <a:r>
              <a:rPr lang="es-PE" sz="2000" b="1" dirty="0">
                <a:solidFill>
                  <a:schemeClr val="tx1"/>
                </a:solidFill>
              </a:rPr>
              <a:t/>
            </a:r>
            <a:br>
              <a:rPr lang="es-PE" sz="2000" b="1" dirty="0">
                <a:solidFill>
                  <a:schemeClr val="tx1"/>
                </a:solidFill>
              </a:rPr>
            </a:br>
            <a:r>
              <a:rPr lang="es-PE" sz="2000" b="1" dirty="0" smtClean="0">
                <a:solidFill>
                  <a:schemeClr val="tx1"/>
                </a:solidFill>
              </a:rPr>
              <a:t>¿Qué entiendes por deformación por torsión?</a:t>
            </a:r>
            <a:r>
              <a:rPr lang="es-PE" sz="2000" b="1" dirty="0">
                <a:solidFill>
                  <a:schemeClr val="tx1"/>
                </a:solidFill>
              </a:rPr>
              <a:t/>
            </a:r>
            <a:br>
              <a:rPr lang="es-PE" sz="2000" b="1" dirty="0">
                <a:solidFill>
                  <a:schemeClr val="tx1"/>
                </a:solidFill>
              </a:rPr>
            </a:br>
            <a:r>
              <a:rPr lang="es-PE" sz="2000" b="1" dirty="0" smtClean="0">
                <a:solidFill>
                  <a:schemeClr val="tx1"/>
                </a:solidFill>
              </a:rPr>
              <a:t>¿Cómo es la energía potencial de un cuerpo deformado por </a:t>
            </a:r>
            <a:r>
              <a:rPr lang="es-PE" sz="2000" b="1" dirty="0" err="1" smtClean="0">
                <a:solidFill>
                  <a:schemeClr val="tx1"/>
                </a:solidFill>
              </a:rPr>
              <a:t>torsion</a:t>
            </a:r>
            <a:r>
              <a:rPr lang="es-PE" sz="2000" b="1" dirty="0" smtClean="0">
                <a:solidFill>
                  <a:schemeClr val="tx1"/>
                </a:solidFill>
              </a:rPr>
              <a:t>?</a:t>
            </a:r>
          </a:p>
          <a:p>
            <a:pPr>
              <a:lnSpc>
                <a:spcPct val="150000"/>
              </a:lnSpc>
            </a:pPr>
            <a:r>
              <a:rPr lang="es-PE" sz="2000" b="1" dirty="0" smtClean="0">
                <a:solidFill>
                  <a:schemeClr val="tx1"/>
                </a:solidFill>
              </a:rPr>
              <a:t>¿Qué es el modulo de rigidez por torsión G?</a:t>
            </a:r>
            <a:r>
              <a:rPr lang="es-PE" sz="2000" b="1" dirty="0">
                <a:solidFill>
                  <a:schemeClr val="tx1"/>
                </a:solidFill>
              </a:rPr>
              <a:t/>
            </a:r>
            <a:br>
              <a:rPr lang="es-PE" sz="2000" b="1" dirty="0">
                <a:solidFill>
                  <a:schemeClr val="tx1"/>
                </a:solidFill>
              </a:rPr>
            </a:br>
            <a:r>
              <a:rPr lang="es-PE" sz="2400" b="1" dirty="0">
                <a:solidFill>
                  <a:schemeClr val="tx1"/>
                </a:solidFill>
              </a:rPr>
              <a:t/>
            </a:r>
            <a:br>
              <a:rPr lang="es-PE" sz="2400" b="1" dirty="0">
                <a:solidFill>
                  <a:schemeClr val="tx1"/>
                </a:solidFill>
              </a:rPr>
            </a:br>
            <a:endParaRPr lang="es-PE" sz="2400" b="1" dirty="0">
              <a:solidFill>
                <a:schemeClr val="tx1"/>
              </a:solidFill>
            </a:endParaRPr>
          </a:p>
        </p:txBody>
      </p:sp>
      <p:pic>
        <p:nvPicPr>
          <p:cNvPr id="2050" name="Picture 2" descr="Resultado de imagen para TRANSMISION DE TORQUES POR EJ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80" y="2348880"/>
            <a:ext cx="5644161" cy="338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110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640633" y="980728"/>
            <a:ext cx="2664295"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PROPÓSITO</a:t>
            </a:r>
            <a:endParaRPr lang="es-PE" sz="2400" b="1" dirty="0">
              <a:solidFill>
                <a:schemeClr val="tx1"/>
              </a:solidFill>
            </a:endParaRPr>
          </a:p>
        </p:txBody>
      </p:sp>
      <p:sp>
        <p:nvSpPr>
          <p:cNvPr id="8" name="2 Redondear rectángulo de esquina diagonal"/>
          <p:cNvSpPr/>
          <p:nvPr/>
        </p:nvSpPr>
        <p:spPr>
          <a:xfrm>
            <a:off x="5241032" y="1484784"/>
            <a:ext cx="4104475" cy="4452123"/>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2000" dirty="0">
              <a:solidFill>
                <a:schemeClr val="tx1"/>
              </a:solidFill>
              <a:latin typeface="Arial" panose="020B0604020202020204" pitchFamily="34" charset="0"/>
              <a:cs typeface="Arial" panose="020B0604020202020204" pitchFamily="34" charset="0"/>
            </a:endParaRPr>
          </a:p>
          <a:p>
            <a:pPr algn="just">
              <a:lnSpc>
                <a:spcPct val="150000"/>
              </a:lnSpc>
            </a:pPr>
            <a:r>
              <a:rPr lang="es-PE" sz="2000" b="1" dirty="0">
                <a:solidFill>
                  <a:schemeClr val="tx1"/>
                </a:solidFill>
                <a:latin typeface="Arial" panose="020B0604020202020204" pitchFamily="34" charset="0"/>
                <a:cs typeface="Arial" panose="020B0604020202020204" pitchFamily="34" charset="0"/>
              </a:rPr>
              <a:t>Al </a:t>
            </a:r>
            <a:r>
              <a:rPr lang="es-PE" sz="2000" b="1" dirty="0" smtClean="0">
                <a:solidFill>
                  <a:schemeClr val="tx1"/>
                </a:solidFill>
                <a:latin typeface="Arial" panose="020B0604020202020204" pitchFamily="34" charset="0"/>
                <a:cs typeface="Arial" panose="020B0604020202020204" pitchFamily="34" charset="0"/>
              </a:rPr>
              <a:t>termino de </a:t>
            </a:r>
            <a:r>
              <a:rPr lang="es-PE" sz="2000" b="1" dirty="0">
                <a:solidFill>
                  <a:schemeClr val="tx1"/>
                </a:solidFill>
                <a:latin typeface="Arial" panose="020B0604020202020204" pitchFamily="34" charset="0"/>
                <a:cs typeface="Arial" panose="020B0604020202020204" pitchFamily="34" charset="0"/>
              </a:rPr>
              <a:t>la sesión, el estudiante resuelve problemas </a:t>
            </a:r>
            <a:r>
              <a:rPr lang="es-PE" sz="2000" b="1" dirty="0" smtClean="0">
                <a:solidFill>
                  <a:schemeClr val="tx1"/>
                </a:solidFill>
                <a:latin typeface="Arial" panose="020B0604020202020204" pitchFamily="34" charset="0"/>
                <a:cs typeface="Arial" panose="020B0604020202020204" pitchFamily="34" charset="0"/>
              </a:rPr>
              <a:t>de deformaciones laterales y por torsión en los cuerpos solidos de forma </a:t>
            </a:r>
            <a:r>
              <a:rPr lang="es-PE" sz="2000" b="1" dirty="0">
                <a:solidFill>
                  <a:schemeClr val="tx1"/>
                </a:solidFill>
                <a:latin typeface="Arial" panose="020B0604020202020204" pitchFamily="34" charset="0"/>
                <a:cs typeface="Arial" panose="020B0604020202020204" pitchFamily="34" charset="0"/>
              </a:rPr>
              <a:t>correcta, con orden y precisión en el cálculo.</a:t>
            </a:r>
          </a:p>
          <a:p>
            <a:pPr marL="342900" indent="-342900" algn="just">
              <a:lnSpc>
                <a:spcPct val="150000"/>
              </a:lnSpc>
              <a:buFont typeface="Arial" panose="020B0604020202020204" pitchFamily="34" charset="0"/>
              <a:buChar char="•"/>
            </a:pPr>
            <a:endParaRPr lang="es-PE" sz="2000"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2132856"/>
            <a:ext cx="3909322" cy="3807451"/>
          </a:xfrm>
          <a:prstGeom prst="rect">
            <a:avLst/>
          </a:prstGeom>
        </p:spPr>
      </p:pic>
    </p:spTree>
    <p:extLst>
      <p:ext uri="{BB962C8B-B14F-4D97-AF65-F5344CB8AC3E}">
        <p14:creationId xmlns:p14="http://schemas.microsoft.com/office/powerpoint/2010/main" val="1412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Conector recto 29"/>
          <p:cNvCxnSpPr/>
          <p:nvPr/>
        </p:nvCxnSpPr>
        <p:spPr>
          <a:xfrm>
            <a:off x="2932622" y="3626482"/>
            <a:ext cx="4154" cy="7010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cxnSp>
        <p:nvCxnSpPr>
          <p:cNvPr id="7" name="Conector recto 6">
            <a:extLst>
              <a:ext uri="{FF2B5EF4-FFF2-40B4-BE49-F238E27FC236}">
                <a16:creationId xmlns:a16="http://schemas.microsoft.com/office/drawing/2014/main" xmlns="" id="{8001D105-DCAC-42FF-A68E-0D3DE034E8B2}"/>
              </a:ext>
            </a:extLst>
          </p:cNvPr>
          <p:cNvCxnSpPr>
            <a:cxnSpLocks/>
          </p:cNvCxnSpPr>
          <p:nvPr/>
        </p:nvCxnSpPr>
        <p:spPr>
          <a:xfrm>
            <a:off x="6881766" y="4025210"/>
            <a:ext cx="35939" cy="2284111"/>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9" name="Rectángulo redondeado 8"/>
          <p:cNvSpPr/>
          <p:nvPr/>
        </p:nvSpPr>
        <p:spPr>
          <a:xfrm>
            <a:off x="1640632" y="1003815"/>
            <a:ext cx="4352925" cy="52700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smtClean="0">
                <a:solidFill>
                  <a:schemeClr val="tx1"/>
                </a:solidFill>
              </a:rPr>
              <a:t>CONTENIDO TEMÁTICO</a:t>
            </a:r>
            <a:endParaRPr lang="es-PE" sz="2800" dirty="0">
              <a:solidFill>
                <a:schemeClr val="tx1"/>
              </a:solidFill>
            </a:endParaRPr>
          </a:p>
        </p:txBody>
      </p:sp>
      <p:sp>
        <p:nvSpPr>
          <p:cNvPr id="11" name="Rectángulo 10">
            <a:extLst>
              <a:ext uri="{FF2B5EF4-FFF2-40B4-BE49-F238E27FC236}">
                <a16:creationId xmlns:a16="http://schemas.microsoft.com/office/drawing/2014/main" xmlns="" id="{8029014D-9243-4890-AF00-9E6FC9945B2C}"/>
              </a:ext>
            </a:extLst>
          </p:cNvPr>
          <p:cNvSpPr/>
          <p:nvPr/>
        </p:nvSpPr>
        <p:spPr>
          <a:xfrm>
            <a:off x="2600759" y="1844824"/>
            <a:ext cx="5195686" cy="576064"/>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b="1" dirty="0" smtClean="0">
                <a:solidFill>
                  <a:schemeClr val="tx1"/>
                </a:solidFill>
              </a:rPr>
              <a:t>ELASTICIDAD DE LOS MATERIALES</a:t>
            </a:r>
            <a:endParaRPr lang="es-PE" b="1" dirty="0">
              <a:solidFill>
                <a:schemeClr val="tx1"/>
              </a:solidFill>
            </a:endParaRPr>
          </a:p>
        </p:txBody>
      </p:sp>
      <p:cxnSp>
        <p:nvCxnSpPr>
          <p:cNvPr id="12" name="Conector recto 11">
            <a:extLst>
              <a:ext uri="{FF2B5EF4-FFF2-40B4-BE49-F238E27FC236}">
                <a16:creationId xmlns:a16="http://schemas.microsoft.com/office/drawing/2014/main" xmlns="" id="{008A15F1-A2F7-4515-8854-56CDE8B68B99}"/>
              </a:ext>
            </a:extLst>
          </p:cNvPr>
          <p:cNvCxnSpPr>
            <a:cxnSpLocks/>
          </p:cNvCxnSpPr>
          <p:nvPr/>
        </p:nvCxnSpPr>
        <p:spPr>
          <a:xfrm>
            <a:off x="4916462" y="245105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a16="http://schemas.microsoft.com/office/drawing/2014/main" xmlns="" id="{B377CFE4-F974-430F-8D3E-31A44641DDDD}"/>
              </a:ext>
            </a:extLst>
          </p:cNvPr>
          <p:cNvSpPr/>
          <p:nvPr/>
        </p:nvSpPr>
        <p:spPr>
          <a:xfrm>
            <a:off x="2187679" y="3036424"/>
            <a:ext cx="1508771" cy="590058"/>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CANTIDADES </a:t>
            </a:r>
            <a:r>
              <a:rPr lang="es-PE" sz="1600" b="1" dirty="0"/>
              <a:t>FÍSICAS</a:t>
            </a:r>
            <a:endParaRPr lang="es-PE" sz="1600" b="1" dirty="0">
              <a:solidFill>
                <a:schemeClr val="tx1"/>
              </a:solidFill>
            </a:endParaRPr>
          </a:p>
        </p:txBody>
      </p:sp>
      <p:cxnSp>
        <p:nvCxnSpPr>
          <p:cNvPr id="14" name="Conector recto 13">
            <a:extLst>
              <a:ext uri="{FF2B5EF4-FFF2-40B4-BE49-F238E27FC236}">
                <a16:creationId xmlns:a16="http://schemas.microsoft.com/office/drawing/2014/main" xmlns="" id="{43098481-B66C-4565-AFF8-F4FBF153DF92}"/>
              </a:ext>
            </a:extLst>
          </p:cNvPr>
          <p:cNvCxnSpPr>
            <a:cxnSpLocks/>
          </p:cNvCxnSpPr>
          <p:nvPr/>
        </p:nvCxnSpPr>
        <p:spPr>
          <a:xfrm flipH="1" flipV="1">
            <a:off x="1203775" y="2800075"/>
            <a:ext cx="7391093" cy="2779"/>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a16="http://schemas.microsoft.com/office/drawing/2014/main" xmlns="" id="{E4375B2A-706A-4D8E-8409-0FE4926350F3}"/>
              </a:ext>
            </a:extLst>
          </p:cNvPr>
          <p:cNvCxnSpPr>
            <a:cxnSpLocks/>
          </p:cNvCxnSpPr>
          <p:nvPr/>
        </p:nvCxnSpPr>
        <p:spPr>
          <a:xfrm>
            <a:off x="4918241" y="281109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6" name="Rectángulo 15">
            <a:extLst>
              <a:ext uri="{FF2B5EF4-FFF2-40B4-BE49-F238E27FC236}">
                <a16:creationId xmlns:a16="http://schemas.microsoft.com/office/drawing/2014/main" xmlns="" id="{B32EC4F4-40F8-440A-A577-A55B582660EF}"/>
              </a:ext>
            </a:extLst>
          </p:cNvPr>
          <p:cNvSpPr/>
          <p:nvPr/>
        </p:nvSpPr>
        <p:spPr>
          <a:xfrm>
            <a:off x="7787629" y="3019702"/>
            <a:ext cx="1917899" cy="1035690"/>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 DEFORMACIÓN POR TORSIÓN Y ENERGÍA</a:t>
            </a:r>
            <a:endParaRPr lang="es-PE" sz="1600" b="1" dirty="0">
              <a:cs typeface="Arial" panose="020B0604020202020204" pitchFamily="34" charset="0"/>
            </a:endParaRPr>
          </a:p>
        </p:txBody>
      </p:sp>
      <p:sp>
        <p:nvSpPr>
          <p:cNvPr id="17" name="Rectángulo 16">
            <a:extLst>
              <a:ext uri="{FF2B5EF4-FFF2-40B4-BE49-F238E27FC236}">
                <a16:creationId xmlns:mc="http://schemas.openxmlformats.org/markup-compatibility/2006" xmlns:a14="http://schemas.microsoft.com/office/drawing/2010/main" xmlns:a16="http://schemas.microsoft.com/office/drawing/2014/main" xmlns="" id="{8EF499C7-AECE-44DE-89A6-BD7D3BC55E42}"/>
              </a:ext>
            </a:extLst>
          </p:cNvPr>
          <p:cNvSpPr/>
          <p:nvPr/>
        </p:nvSpPr>
        <p:spPr>
          <a:xfrm>
            <a:off x="41476" y="3861048"/>
            <a:ext cx="1944176" cy="2922146"/>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r>
              <a:rPr lang="es-PE" sz="1400" dirty="0">
                <a:latin typeface="Arial" panose="020B0604020202020204" pitchFamily="34" charset="0"/>
                <a:cs typeface="Arial" panose="020B0604020202020204" pitchFamily="34" charset="0"/>
              </a:rPr>
              <a:t>Un momento de torsión es aquel que tiende a hacer girar un miembro respecto a su eje longitudinal. Su efecto es de interés primordial en el diseño de ejes de transmisión, utilizados ampliamente en vehículos y maquinaria.</a:t>
            </a:r>
            <a:endParaRPr lang="es-PE" sz="1400" dirty="0">
              <a:solidFill>
                <a:schemeClr val="tx1"/>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xmlns="" id="{491CDA35-9E9C-46DA-B439-A69909018FD2}"/>
              </a:ext>
            </a:extLst>
          </p:cNvPr>
          <p:cNvSpPr/>
          <p:nvPr/>
        </p:nvSpPr>
        <p:spPr>
          <a:xfrm>
            <a:off x="2033114" y="3860053"/>
            <a:ext cx="1891285" cy="2449268"/>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Deformación</a:t>
            </a:r>
            <a:r>
              <a:rPr kumimoji="1" lang="en-GB" altLang="es-PE" sz="1400" dirty="0" smtClean="0">
                <a:solidFill>
                  <a:schemeClr val="tx1"/>
                </a:solidFill>
                <a:latin typeface="Arial" panose="020B0604020202020204" pitchFamily="34" charset="0"/>
                <a:cs typeface="Arial" panose="020B0604020202020204" pitchFamily="34" charset="0"/>
              </a:rPr>
              <a:t> lateral</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Momento</a:t>
            </a:r>
            <a:r>
              <a:rPr kumimoji="1" lang="en-GB" altLang="es-PE" sz="1400" dirty="0" smtClean="0">
                <a:solidFill>
                  <a:schemeClr val="tx1"/>
                </a:solidFill>
                <a:latin typeface="Arial" panose="020B0604020202020204" pitchFamily="34" charset="0"/>
                <a:cs typeface="Arial" panose="020B0604020202020204" pitchFamily="34" charset="0"/>
              </a:rPr>
              <a:t> de </a:t>
            </a:r>
            <a:r>
              <a:rPr kumimoji="1" lang="en-GB" altLang="es-PE" sz="1400" dirty="0" err="1" smtClean="0">
                <a:solidFill>
                  <a:schemeClr val="tx1"/>
                </a:solidFill>
                <a:latin typeface="Arial" panose="020B0604020202020204" pitchFamily="34" charset="0"/>
                <a:cs typeface="Arial" panose="020B0604020202020204" pitchFamily="34" charset="0"/>
              </a:rPr>
              <a:t>torsión</a:t>
            </a:r>
            <a:r>
              <a:rPr kumimoji="1" lang="en-GB" altLang="es-PE" sz="1400" dirty="0" smtClean="0">
                <a:solidFill>
                  <a:schemeClr val="tx1"/>
                </a:solidFill>
                <a:latin typeface="Arial" panose="020B0604020202020204" pitchFamily="34" charset="0"/>
                <a:cs typeface="Arial" panose="020B0604020202020204" pitchFamily="34" charset="0"/>
              </a:rPr>
              <a:t>.</a:t>
            </a:r>
          </a:p>
          <a:p>
            <a:pPr marL="177800" lvl="0" indent="-1778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Esfuerzo</a:t>
            </a:r>
            <a:r>
              <a:rPr kumimoji="1" lang="en-GB" altLang="es-PE" sz="1400" dirty="0" smtClean="0">
                <a:solidFill>
                  <a:schemeClr val="tx1"/>
                </a:solidFill>
                <a:latin typeface="Arial" panose="020B0604020202020204" pitchFamily="34" charset="0"/>
                <a:cs typeface="Arial" panose="020B0604020202020204" pitchFamily="34" charset="0"/>
              </a:rPr>
              <a:t> de </a:t>
            </a:r>
            <a:r>
              <a:rPr kumimoji="1" lang="en-GB" altLang="es-PE" sz="1400" dirty="0" err="1" smtClean="0">
                <a:solidFill>
                  <a:schemeClr val="tx1"/>
                </a:solidFill>
                <a:latin typeface="Arial" panose="020B0604020202020204" pitchFamily="34" charset="0"/>
                <a:cs typeface="Arial" panose="020B0604020202020204" pitchFamily="34" charset="0"/>
              </a:rPr>
              <a:t>corte</a:t>
            </a:r>
            <a:r>
              <a:rPr kumimoji="1" lang="en-GB" altLang="es-PE" sz="1400" dirty="0" smtClean="0">
                <a:solidFill>
                  <a:schemeClr val="tx1"/>
                </a:solidFill>
                <a:latin typeface="Arial" panose="020B0604020202020204" pitchFamily="34" charset="0"/>
                <a:cs typeface="Arial" panose="020B0604020202020204" pitchFamily="34" charset="0"/>
              </a:rPr>
              <a:t>.</a:t>
            </a:r>
          </a:p>
          <a:p>
            <a:pPr marL="177800" lvl="0" indent="-1778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Deformación</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por</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torsión</a:t>
            </a:r>
            <a:endParaRPr kumimoji="1" lang="en-GB" altLang="es-PE" sz="1400" dirty="0" smtClean="0">
              <a:solidFill>
                <a:schemeClr val="tx1"/>
              </a:solidFill>
              <a:latin typeface="Arial" panose="020B0604020202020204" pitchFamily="34" charset="0"/>
              <a:cs typeface="Arial" panose="020B0604020202020204" pitchFamily="34" charset="0"/>
            </a:endParaRPr>
          </a:p>
          <a:p>
            <a:pPr marL="177800" lvl="0" indent="-1778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Energía</a:t>
            </a:r>
            <a:r>
              <a:rPr kumimoji="1" lang="en-GB" altLang="es-PE" sz="1400" dirty="0" smtClean="0">
                <a:solidFill>
                  <a:schemeClr val="tx1"/>
                </a:solidFill>
                <a:latin typeface="Arial" panose="020B0604020202020204" pitchFamily="34" charset="0"/>
                <a:cs typeface="Arial" panose="020B0604020202020204" pitchFamily="34" charset="0"/>
              </a:rPr>
              <a:t> de </a:t>
            </a:r>
            <a:r>
              <a:rPr kumimoji="1" lang="en-GB" altLang="es-PE" sz="1400" dirty="0" err="1" smtClean="0">
                <a:solidFill>
                  <a:schemeClr val="tx1"/>
                </a:solidFill>
                <a:latin typeface="Arial" panose="020B0604020202020204" pitchFamily="34" charset="0"/>
                <a:cs typeface="Arial" panose="020B0604020202020204" pitchFamily="34" charset="0"/>
              </a:rPr>
              <a:t>deformación</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por</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torsión</a:t>
            </a:r>
            <a:r>
              <a:rPr kumimoji="1" lang="en-GB" altLang="es-PE" sz="1400" dirty="0" smtClean="0">
                <a:solidFill>
                  <a:schemeClr val="tx1"/>
                </a:solidFill>
                <a:latin typeface="Arial" panose="020B0604020202020204" pitchFamily="34" charset="0"/>
                <a:cs typeface="Arial" panose="020B0604020202020204" pitchFamily="34" charset="0"/>
              </a:rPr>
              <a:t>.</a:t>
            </a:r>
            <a:endParaRPr lang="es-PE" sz="1400"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a16="http://schemas.microsoft.com/office/drawing/2014/main" xmlns="" id="{B377CFE4-F974-430F-8D3E-31A44641DDDD}"/>
              </a:ext>
            </a:extLst>
          </p:cNvPr>
          <p:cNvSpPr/>
          <p:nvPr/>
        </p:nvSpPr>
        <p:spPr>
          <a:xfrm>
            <a:off x="200472" y="3036423"/>
            <a:ext cx="1853559" cy="71616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smtClean="0">
                <a:solidFill>
                  <a:schemeClr val="tx1"/>
                </a:solidFill>
              </a:rPr>
              <a:t>MOMENTO DE TORSIÓN</a:t>
            </a:r>
            <a:endParaRPr lang="es-PE" sz="1600" b="1" dirty="0">
              <a:solidFill>
                <a:schemeClr val="tx1"/>
              </a:solidFill>
            </a:endParaRPr>
          </a:p>
        </p:txBody>
      </p:sp>
      <p:sp>
        <p:nvSpPr>
          <p:cNvPr id="21" name="Rectángulo 20">
            <a:extLst>
              <a:ext uri="{FF2B5EF4-FFF2-40B4-BE49-F238E27FC236}">
                <a16:creationId xmlns:a16="http://schemas.microsoft.com/office/drawing/2014/main" xmlns="" id="{6B0406B6-735E-446A-993D-567F64EC9E37}"/>
              </a:ext>
            </a:extLst>
          </p:cNvPr>
          <p:cNvSpPr/>
          <p:nvPr/>
        </p:nvSpPr>
        <p:spPr>
          <a:xfrm>
            <a:off x="3965337" y="3019701"/>
            <a:ext cx="1982738" cy="96419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DEFORMACIÓN LATERAL. MODULO DE POISSON</a:t>
            </a:r>
            <a:endParaRPr lang="es-PE" sz="1600" b="1" dirty="0">
              <a:cs typeface="Arial" panose="020B0604020202020204" pitchFamily="34" charset="0"/>
            </a:endParaRP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xmlns="" id="{491CDA35-9E9C-46DA-B439-A69909018FD2}"/>
                  </a:ext>
                </a:extLst>
              </p:cNvPr>
              <p:cNvSpPr/>
              <p:nvPr/>
            </p:nvSpPr>
            <p:spPr>
              <a:xfrm>
                <a:off x="7905328" y="4332663"/>
                <a:ext cx="1848370" cy="1503777"/>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endParaRPr lang="es-PE" sz="1600" b="0" i="1" dirty="0" smtClean="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PE" sz="1600" i="1" dirty="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PE" sz="1600" b="0" i="1" dirty="0" smtClean="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lvl="0" algn="just"/>
                <a:endParaRPr lang="es-PE" sz="1600" b="0" i="1" dirty="0" smtClean="0">
                  <a:solidFill>
                    <a:schemeClr val="tx1"/>
                  </a:solidFill>
                  <a:latin typeface="Cambria Math" panose="02040503050406030204" pitchFamily="18" charset="0"/>
                  <a:ea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s-PE" sz="1600" i="1">
                              <a:latin typeface="Cambria Math" panose="02040503050406030204" pitchFamily="18" charset="0"/>
                            </a:rPr>
                          </m:ctrlPr>
                        </m:fPr>
                        <m:num>
                          <m:r>
                            <a:rPr lang="es-PE" sz="1600" i="1">
                              <a:latin typeface="Cambria Math" panose="02040503050406030204" pitchFamily="18" charset="0"/>
                            </a:rPr>
                            <m:t>𝑇𝐿</m:t>
                          </m:r>
                        </m:num>
                        <m:den>
                          <m:r>
                            <a:rPr lang="es-PE" sz="1600" i="1">
                              <a:latin typeface="Cambria Math" panose="02040503050406030204" pitchFamily="18" charset="0"/>
                            </a:rPr>
                            <m:t>𝐺𝐽</m:t>
                          </m:r>
                        </m:den>
                      </m:f>
                      <m:r>
                        <a:rPr lang="es-PE" sz="1600" i="1">
                          <a:latin typeface="Cambria Math" panose="02040503050406030204" pitchFamily="18" charset="0"/>
                        </a:rPr>
                        <m:t>=</m:t>
                      </m:r>
                      <m:r>
                        <a:rPr lang="es-PE" sz="1600" i="1">
                          <a:latin typeface="Cambria Math" panose="02040503050406030204" pitchFamily="18" charset="0"/>
                          <a:ea typeface="Cambria Math" panose="02040503050406030204" pitchFamily="18" charset="0"/>
                        </a:rPr>
                        <m:t>𝜃</m:t>
                      </m:r>
                    </m:oMath>
                  </m:oMathPara>
                </a14:m>
                <a:endParaRPr lang="es-PE" sz="1600" dirty="0"/>
              </a:p>
              <a:p>
                <a:pPr/>
                <a14:m>
                  <m:oMathPara xmlns:m="http://schemas.openxmlformats.org/officeDocument/2006/math">
                    <m:oMathParaPr>
                      <m:jc m:val="centerGroup"/>
                    </m:oMathParaPr>
                    <m:oMath xmlns:m="http://schemas.openxmlformats.org/officeDocument/2006/math">
                      <m:r>
                        <a:rPr lang="es-PE" sz="1600" i="1">
                          <a:latin typeface="Cambria Math" panose="02040503050406030204" pitchFamily="18" charset="0"/>
                        </a:rPr>
                        <m:t>𝑊</m:t>
                      </m:r>
                      <m:r>
                        <a:rPr lang="es-PE" sz="1600" i="1">
                          <a:latin typeface="Cambria Math" panose="02040503050406030204" pitchFamily="18" charset="0"/>
                        </a:rPr>
                        <m:t>=</m:t>
                      </m:r>
                      <m:f>
                        <m:fPr>
                          <m:ctrlPr>
                            <a:rPr lang="es-PE" sz="1600" i="1">
                              <a:latin typeface="Cambria Math" panose="02040503050406030204" pitchFamily="18" charset="0"/>
                            </a:rPr>
                          </m:ctrlPr>
                        </m:fPr>
                        <m:num>
                          <m:r>
                            <a:rPr lang="es-PE" sz="1600" i="1">
                              <a:latin typeface="Cambria Math" panose="02040503050406030204" pitchFamily="18" charset="0"/>
                            </a:rPr>
                            <m:t>1</m:t>
                          </m:r>
                        </m:num>
                        <m:den>
                          <m:r>
                            <a:rPr lang="es-PE" sz="1600" i="1">
                              <a:latin typeface="Cambria Math" panose="02040503050406030204" pitchFamily="18" charset="0"/>
                            </a:rPr>
                            <m:t>2</m:t>
                          </m:r>
                        </m:den>
                      </m:f>
                      <m:nary>
                        <m:naryPr>
                          <m:ctrlPr>
                            <a:rPr lang="es-PE" sz="1600" i="1">
                              <a:latin typeface="Cambria Math" panose="02040503050406030204" pitchFamily="18" charset="0"/>
                            </a:rPr>
                          </m:ctrlPr>
                        </m:naryPr>
                        <m:sub>
                          <m:r>
                            <m:rPr>
                              <m:brk m:alnAt="23"/>
                            </m:rPr>
                            <a:rPr lang="es-PE" sz="1600" i="1">
                              <a:latin typeface="Cambria Math" panose="02040503050406030204" pitchFamily="18" charset="0"/>
                            </a:rPr>
                            <m:t>0</m:t>
                          </m:r>
                        </m:sub>
                        <m:sup>
                          <m:r>
                            <a:rPr lang="es-PE" sz="1600" i="1">
                              <a:latin typeface="Cambria Math" panose="02040503050406030204" pitchFamily="18" charset="0"/>
                            </a:rPr>
                            <m:t>𝐿</m:t>
                          </m:r>
                        </m:sup>
                        <m:e>
                          <m:f>
                            <m:fPr>
                              <m:ctrlPr>
                                <a:rPr lang="es-PE" sz="1600" i="1">
                                  <a:latin typeface="Cambria Math" panose="02040503050406030204" pitchFamily="18" charset="0"/>
                                </a:rPr>
                              </m:ctrlPr>
                            </m:fPr>
                            <m:num>
                              <m:sSup>
                                <m:sSupPr>
                                  <m:ctrlPr>
                                    <a:rPr lang="es-PE" sz="1600" i="1">
                                      <a:latin typeface="Cambria Math" panose="02040503050406030204" pitchFamily="18" charset="0"/>
                                    </a:rPr>
                                  </m:ctrlPr>
                                </m:sSupPr>
                                <m:e>
                                  <m:r>
                                    <a:rPr lang="es-PE" sz="1600" i="1">
                                      <a:latin typeface="Cambria Math" panose="02040503050406030204" pitchFamily="18" charset="0"/>
                                    </a:rPr>
                                    <m:t>𝑇</m:t>
                                  </m:r>
                                </m:e>
                                <m:sup>
                                  <m:r>
                                    <a:rPr lang="es-PE" sz="1600" i="1">
                                      <a:latin typeface="Cambria Math" panose="02040503050406030204" pitchFamily="18" charset="0"/>
                                    </a:rPr>
                                    <m:t>2</m:t>
                                  </m:r>
                                </m:sup>
                              </m:sSup>
                            </m:num>
                            <m:den>
                              <m:r>
                                <a:rPr lang="es-PE" sz="1600" i="1">
                                  <a:latin typeface="Cambria Math" panose="02040503050406030204" pitchFamily="18" charset="0"/>
                                </a:rPr>
                                <m:t>𝐺𝐽</m:t>
                              </m:r>
                            </m:den>
                          </m:f>
                          <m:r>
                            <a:rPr lang="es-PE" sz="1600" i="1">
                              <a:latin typeface="Cambria Math" panose="02040503050406030204" pitchFamily="18" charset="0"/>
                            </a:rPr>
                            <m:t>𝑑𝑥</m:t>
                          </m:r>
                        </m:e>
                      </m:nary>
                    </m:oMath>
                  </m:oMathPara>
                </a14:m>
                <a:endParaRPr lang="es-PE" sz="1600" dirty="0" smtClean="0">
                  <a:solidFill>
                    <a:schemeClr val="tx1"/>
                  </a:solidFill>
                  <a:latin typeface="Arial" panose="020B0604020202020204" pitchFamily="34" charset="0"/>
                  <a:cs typeface="Arial" panose="020B0604020202020204" pitchFamily="34" charset="0"/>
                </a:endParaRPr>
              </a:p>
              <a:p>
                <a:pPr lvl="0" algn="just"/>
                <a:endParaRPr lang="es-PE" sz="1600" dirty="0" smtClean="0">
                  <a:solidFill>
                    <a:schemeClr val="tx1"/>
                  </a:solidFill>
                  <a:latin typeface="Arial" panose="020B0604020202020204" pitchFamily="34" charset="0"/>
                  <a:cs typeface="Arial" panose="020B0604020202020204" pitchFamily="34" charset="0"/>
                </a:endParaRPr>
              </a:p>
              <a:p>
                <a:pPr lvl="0" algn="just"/>
                <a:endParaRPr lang="es-PE" sz="1600" dirty="0" smtClean="0">
                  <a:solidFill>
                    <a:schemeClr val="tx1"/>
                  </a:solidFill>
                  <a:latin typeface="Arial" panose="020B0604020202020204" pitchFamily="34" charset="0"/>
                  <a:cs typeface="Arial" panose="020B0604020202020204" pitchFamily="34" charset="0"/>
                </a:endParaRPr>
              </a:p>
              <a:p>
                <a:pPr lvl="0" algn="just"/>
                <a:endParaRPr lang="es-PE" sz="1600" dirty="0" smtClean="0">
                  <a:solidFill>
                    <a:schemeClr val="tx1"/>
                  </a:solidFill>
                  <a:latin typeface="Arial" panose="020B0604020202020204" pitchFamily="34" charset="0"/>
                  <a:cs typeface="Arial" panose="020B0604020202020204" pitchFamily="34" charset="0"/>
                </a:endParaRPr>
              </a:p>
              <a:p>
                <a:pPr lvl="0" algn="just"/>
                <a:endParaRPr lang="es-PE" sz="1600" dirty="0">
                  <a:solidFill>
                    <a:schemeClr val="tx1"/>
                  </a:solidFill>
                  <a:latin typeface="Arial" panose="020B0604020202020204" pitchFamily="34" charset="0"/>
                  <a:cs typeface="Arial" panose="020B0604020202020204" pitchFamily="34" charset="0"/>
                </a:endParaRPr>
              </a:p>
            </p:txBody>
          </p:sp>
        </mc:Choice>
        <mc:Fallback xmlns="">
          <p:sp>
            <p:nvSpPr>
              <p:cNvPr id="22" name="Rectángulo 21">
                <a:extLst>
                  <a:ext uri="{FF2B5EF4-FFF2-40B4-BE49-F238E27FC236}">
                    <a16:creationId xmlns="" xmlns:a16="http://schemas.microsoft.com/office/drawing/2014/main"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7905328" y="4332663"/>
                <a:ext cx="1848370" cy="1503777"/>
              </a:xfrm>
              <a:prstGeom prst="rect">
                <a:avLst/>
              </a:prstGeom>
              <a:blipFill rotWithShape="0">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a16="http://schemas.microsoft.com/office/drawing/2014/main" xmlns="" id="{C2DA4E98-4D40-4E2B-AC84-9B82C98610BC}"/>
              </a:ext>
            </a:extLst>
          </p:cNvPr>
          <p:cNvCxnSpPr>
            <a:cxnSpLocks/>
          </p:cNvCxnSpPr>
          <p:nvPr/>
        </p:nvCxnSpPr>
        <p:spPr>
          <a:xfrm>
            <a:off x="1127251" y="3767360"/>
            <a:ext cx="0" cy="288032"/>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a16="http://schemas.microsoft.com/office/drawing/2014/main" xmlns="" id="{6B0406B6-735E-446A-993D-567F64EC9E37}"/>
              </a:ext>
            </a:extLst>
          </p:cNvPr>
          <p:cNvSpPr/>
          <p:nvPr/>
        </p:nvSpPr>
        <p:spPr>
          <a:xfrm>
            <a:off x="6084836" y="3044331"/>
            <a:ext cx="1522476" cy="986432"/>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LEY </a:t>
            </a:r>
            <a:r>
              <a:rPr lang="es-PE" sz="1600" b="1" dirty="0">
                <a:cs typeface="Arial" panose="020B0604020202020204" pitchFamily="34" charset="0"/>
              </a:rPr>
              <a:t>DE </a:t>
            </a:r>
            <a:r>
              <a:rPr lang="es-PE" sz="1600" b="1" dirty="0" smtClean="0">
                <a:cs typeface="Arial" panose="020B0604020202020204" pitchFamily="34" charset="0"/>
              </a:rPr>
              <a:t>HOOK GENERALIZADA</a:t>
            </a:r>
            <a:endParaRPr lang="es-PE" sz="1600" b="1" dirty="0">
              <a:cs typeface="Arial" panose="020B0604020202020204" pitchFamily="34" charset="0"/>
            </a:endParaRPr>
          </a:p>
        </p:txBody>
      </p:sp>
      <p:cxnSp>
        <p:nvCxnSpPr>
          <p:cNvPr id="26" name="Conector recto 25"/>
          <p:cNvCxnSpPr/>
          <p:nvPr/>
        </p:nvCxnSpPr>
        <p:spPr>
          <a:xfrm>
            <a:off x="1201213" y="2800075"/>
            <a:ext cx="0" cy="23634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p:cNvCxnSpPr/>
          <p:nvPr/>
        </p:nvCxnSpPr>
        <p:spPr>
          <a:xfrm>
            <a:off x="8594868" y="2800075"/>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846074" y="28110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3014684" y="2793078"/>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31"/>
          <p:cNvCxnSpPr/>
          <p:nvPr/>
        </p:nvCxnSpPr>
        <p:spPr>
          <a:xfrm>
            <a:off x="8841432" y="40905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xmlns="" id="{491CDA35-9E9C-46DA-B439-A69909018FD2}"/>
                  </a:ext>
                </a:extLst>
              </p:cNvPr>
              <p:cNvSpPr/>
              <p:nvPr/>
            </p:nvSpPr>
            <p:spPr>
              <a:xfrm>
                <a:off x="4174309" y="4227691"/>
                <a:ext cx="1709755" cy="1402836"/>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14:m>
                  <m:oMathPara xmlns:m="http://schemas.openxmlformats.org/officeDocument/2006/math">
                    <m:oMathParaPr>
                      <m:jc m:val="centerGroup"/>
                    </m:oMathParaPr>
                    <m:oMath xmlns:m="http://schemas.openxmlformats.org/officeDocument/2006/math">
                      <m:f>
                        <m:fPr>
                          <m:ctrlPr>
                            <a:rPr lang="es-PE" sz="1600" i="1" smtClean="0">
                              <a:solidFill>
                                <a:schemeClr val="tx1"/>
                              </a:solidFill>
                              <a:latin typeface="Cambria Math" panose="02040503050406030204" pitchFamily="18" charset="0"/>
                              <a:cs typeface="Arial" panose="020B0604020202020204" pitchFamily="34" charset="0"/>
                            </a:rPr>
                          </m:ctrlPr>
                        </m:fPr>
                        <m:num>
                          <m:r>
                            <a:rPr lang="es-PE"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𝑎</m:t>
                          </m:r>
                        </m:num>
                        <m:den>
                          <m:r>
                            <a:rPr lang="es-PE" sz="1600" b="0" i="1" smtClean="0">
                              <a:solidFill>
                                <a:schemeClr val="tx1"/>
                              </a:solidFill>
                              <a:latin typeface="Cambria Math" panose="02040503050406030204" pitchFamily="18" charset="0"/>
                              <a:cs typeface="Arial" panose="020B0604020202020204" pitchFamily="34" charset="0"/>
                            </a:rPr>
                            <m:t>𝑎</m:t>
                          </m:r>
                        </m:den>
                      </m:f>
                      <m:r>
                        <a:rPr lang="es-PE" sz="1600" i="1" smtClean="0">
                          <a:solidFill>
                            <a:schemeClr val="tx1"/>
                          </a:solidFill>
                          <a:latin typeface="Cambria Math" panose="02040503050406030204" pitchFamily="18" charset="0"/>
                          <a:cs typeface="Arial" panose="020B0604020202020204" pitchFamily="34" charset="0"/>
                        </a:rPr>
                        <m:t>=</m:t>
                      </m:r>
                      <m:r>
                        <a:rPr lang="es-PE" sz="1600" b="0" i="1" smtClean="0">
                          <a:solidFill>
                            <a:schemeClr val="tx1"/>
                          </a:solidFill>
                          <a:latin typeface="Cambria Math" panose="02040503050406030204" pitchFamily="18" charset="0"/>
                          <a:cs typeface="Arial" panose="020B0604020202020204" pitchFamily="34" charset="0"/>
                        </a:rPr>
                        <m:t>−</m:t>
                      </m:r>
                      <m:r>
                        <a:rPr lang="es-PE"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𝜇</m:t>
                      </m:r>
                      <m:f>
                        <m:fPr>
                          <m:ctrlPr>
                            <a:rPr lang="es-PE" sz="1600" i="1" smtClean="0">
                              <a:solidFill>
                                <a:schemeClr val="tx1"/>
                              </a:solidFill>
                              <a:latin typeface="Cambria Math" panose="02040503050406030204" pitchFamily="18" charset="0"/>
                              <a:cs typeface="Arial" panose="020B0604020202020204" pitchFamily="34" charset="0"/>
                            </a:rPr>
                          </m:ctrlPr>
                        </m:fPr>
                        <m:num>
                          <m:r>
                            <a:rPr lang="es-PE" sz="160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𝑙</m:t>
                          </m:r>
                        </m:num>
                        <m:den>
                          <m:r>
                            <a:rPr lang="es-PE" sz="1600" b="0" i="1" smtClean="0">
                              <a:solidFill>
                                <a:schemeClr val="tx1"/>
                              </a:solidFill>
                              <a:latin typeface="Cambria Math" panose="02040503050406030204" pitchFamily="18" charset="0"/>
                              <a:cs typeface="Arial" panose="020B0604020202020204" pitchFamily="34" charset="0"/>
                            </a:rPr>
                            <m:t>𝑙</m:t>
                          </m:r>
                        </m:den>
                      </m:f>
                    </m:oMath>
                  </m:oMathPara>
                </a14:m>
                <a:endParaRPr lang="es-PE" sz="1600" dirty="0" smtClean="0">
                  <a:solidFill>
                    <a:schemeClr val="tx1"/>
                  </a:solidFill>
                  <a:latin typeface="Arial" panose="020B0604020202020204" pitchFamily="34" charset="0"/>
                  <a:cs typeface="Arial" panose="020B0604020202020204" pitchFamily="34" charset="0"/>
                </a:endParaRPr>
              </a:p>
              <a:p>
                <a:pPr lvl="0" algn="just"/>
                <a:endParaRPr lang="es-PE" sz="1600" dirty="0" smtClean="0">
                  <a:solidFill>
                    <a:schemeClr val="tx1"/>
                  </a:solidFill>
                  <a:latin typeface="Arial" panose="020B0604020202020204" pitchFamily="34"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f>
                        <m:fPr>
                          <m:ctrlPr>
                            <a:rPr lang="es-PE" sz="1600" i="1">
                              <a:solidFill>
                                <a:schemeClr val="tx1"/>
                              </a:solidFill>
                              <a:latin typeface="Cambria Math" panose="02040503050406030204" pitchFamily="18" charset="0"/>
                              <a:cs typeface="Arial" panose="020B0604020202020204" pitchFamily="34" charset="0"/>
                            </a:rPr>
                          </m:ctrlPr>
                        </m:fPr>
                        <m:num>
                          <m:r>
                            <a:rPr lang="es-PE" sz="16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h</m:t>
                          </m:r>
                        </m:num>
                        <m:den>
                          <m:r>
                            <a:rPr lang="es-PE" sz="1600" b="0"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h</m:t>
                          </m:r>
                        </m:den>
                      </m:f>
                      <m:r>
                        <a:rPr lang="es-PE" sz="1600" i="1">
                          <a:solidFill>
                            <a:schemeClr val="tx1"/>
                          </a:solidFill>
                          <a:latin typeface="Cambria Math" panose="02040503050406030204" pitchFamily="18" charset="0"/>
                          <a:cs typeface="Arial" panose="020B0604020202020204" pitchFamily="34" charset="0"/>
                        </a:rPr>
                        <m:t>=</m:t>
                      </m:r>
                      <m:r>
                        <a:rPr lang="es-PE" sz="1600" b="0" i="1" smtClean="0">
                          <a:solidFill>
                            <a:schemeClr val="tx1"/>
                          </a:solidFill>
                          <a:latin typeface="Cambria Math" panose="02040503050406030204" pitchFamily="18" charset="0"/>
                          <a:cs typeface="Arial" panose="020B0604020202020204" pitchFamily="34" charset="0"/>
                        </a:rPr>
                        <m:t>−</m:t>
                      </m:r>
                      <m:r>
                        <a:rPr lang="es-PE" sz="1600" i="1">
                          <a:solidFill>
                            <a:schemeClr val="tx1"/>
                          </a:solidFill>
                          <a:latin typeface="Cambria Math" panose="02040503050406030204" pitchFamily="18" charset="0"/>
                          <a:ea typeface="Cambria Math" panose="02040503050406030204" pitchFamily="18" charset="0"/>
                          <a:cs typeface="Arial" panose="020B0604020202020204" pitchFamily="34" charset="0"/>
                        </a:rPr>
                        <m:t>𝜇</m:t>
                      </m:r>
                      <m:f>
                        <m:fPr>
                          <m:ctrlPr>
                            <a:rPr lang="es-PE" sz="1600" i="1">
                              <a:solidFill>
                                <a:schemeClr val="tx1"/>
                              </a:solidFill>
                              <a:latin typeface="Cambria Math" panose="02040503050406030204" pitchFamily="18" charset="0"/>
                              <a:cs typeface="Arial" panose="020B0604020202020204" pitchFamily="34" charset="0"/>
                            </a:rPr>
                          </m:ctrlPr>
                        </m:fPr>
                        <m:num>
                          <m:r>
                            <a:rPr lang="es-PE" sz="1600"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es-PE" sz="1600" i="1">
                              <a:solidFill>
                                <a:schemeClr val="tx1"/>
                              </a:solidFill>
                              <a:latin typeface="Cambria Math" panose="02040503050406030204" pitchFamily="18" charset="0"/>
                              <a:ea typeface="Cambria Math" panose="02040503050406030204" pitchFamily="18" charset="0"/>
                              <a:cs typeface="Arial" panose="020B0604020202020204" pitchFamily="34" charset="0"/>
                            </a:rPr>
                            <m:t>𝑙</m:t>
                          </m:r>
                        </m:num>
                        <m:den>
                          <m:r>
                            <a:rPr lang="es-PE" sz="1600" i="1">
                              <a:solidFill>
                                <a:schemeClr val="tx1"/>
                              </a:solidFill>
                              <a:latin typeface="Cambria Math" panose="02040503050406030204" pitchFamily="18" charset="0"/>
                              <a:cs typeface="Arial" panose="020B0604020202020204" pitchFamily="34" charset="0"/>
                            </a:rPr>
                            <m:t>𝑙</m:t>
                          </m:r>
                        </m:den>
                      </m:f>
                    </m:oMath>
                  </m:oMathPara>
                </a14:m>
                <a:endParaRPr lang="es-PE" sz="1600" dirty="0" smtClean="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 xmlns:a16="http://schemas.microsoft.com/office/drawing/2014/main"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4174309" y="4227691"/>
                <a:ext cx="1709755" cy="1402836"/>
              </a:xfrm>
              <a:prstGeom prst="rect">
                <a:avLst/>
              </a:prstGeom>
              <a:blipFill rotWithShape="0">
                <a:blip r:embed="rId3"/>
                <a:stretch>
                  <a:fillRect/>
                </a:stretch>
              </a:blipFill>
              <a:ln>
                <a:solidFill>
                  <a:schemeClr val="tx1"/>
                </a:solidFill>
              </a:ln>
            </p:spPr>
            <p:txBody>
              <a:bodyPr/>
              <a:lstStyle/>
              <a:p>
                <a:r>
                  <a:rPr lang="es-PE">
                    <a:noFill/>
                  </a:rPr>
                  <a:t> </a:t>
                </a:r>
              </a:p>
            </p:txBody>
          </p:sp>
        </mc:Fallback>
      </mc:AlternateContent>
      <p:cxnSp>
        <p:nvCxnSpPr>
          <p:cNvPr id="6" name="Conector recto 5"/>
          <p:cNvCxnSpPr>
            <a:endCxn id="33" idx="0"/>
          </p:cNvCxnSpPr>
          <p:nvPr/>
        </p:nvCxnSpPr>
        <p:spPr>
          <a:xfrm>
            <a:off x="5001827" y="3983900"/>
            <a:ext cx="27360" cy="2437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xmlns="" id="{44822C0F-02DC-406F-8E12-F1FFDD5CFB2F}"/>
                  </a:ext>
                </a:extLst>
              </p:cNvPr>
              <p:cNvSpPr/>
              <p:nvPr/>
            </p:nvSpPr>
            <p:spPr>
              <a:xfrm>
                <a:off x="5319375" y="5947804"/>
                <a:ext cx="3275493" cy="723034"/>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PE" sz="1600" i="1" dirty="0" smtClean="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s-PE" sz="1600" i="1" smtClean="0">
                              <a:latin typeface="Cambria Math" panose="02040503050406030204" pitchFamily="18" charset="0"/>
                              <a:ea typeface="Cambria Math" panose="02040503050406030204" pitchFamily="18" charset="0"/>
                            </a:rPr>
                          </m:ctrlPr>
                        </m:fPr>
                        <m:num>
                          <m:r>
                            <a:rPr lang="es-PE" sz="160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𝑉</m:t>
                          </m:r>
                        </m:num>
                        <m:den>
                          <m:r>
                            <a:rPr lang="es-PE" sz="1600" b="0" i="1" smtClean="0">
                              <a:latin typeface="Cambria Math" panose="02040503050406030204" pitchFamily="18" charset="0"/>
                              <a:ea typeface="Cambria Math" panose="02040503050406030204" pitchFamily="18" charset="0"/>
                            </a:rPr>
                            <m:t>𝑉</m:t>
                          </m:r>
                        </m:den>
                      </m:f>
                      <m:r>
                        <a:rPr lang="es-PE" sz="1600" b="0" i="1" smtClean="0">
                          <a:latin typeface="Cambria Math" panose="02040503050406030204" pitchFamily="18" charset="0"/>
                          <a:ea typeface="Cambria Math" panose="02040503050406030204" pitchFamily="18" charset="0"/>
                        </a:rPr>
                        <m:t>=</m:t>
                      </m:r>
                      <m:f>
                        <m:fPr>
                          <m:ctrlPr>
                            <a:rPr lang="es-PE" sz="1600" b="0" i="1" smtClean="0">
                              <a:latin typeface="Cambria Math" panose="02040503050406030204" pitchFamily="18" charset="0"/>
                              <a:ea typeface="Cambria Math" panose="02040503050406030204" pitchFamily="18" charset="0"/>
                            </a:rPr>
                          </m:ctrlPr>
                        </m:fPr>
                        <m:num>
                          <m:r>
                            <a:rPr lang="es-PE" sz="1600" b="0" i="1" smtClean="0">
                              <a:latin typeface="Cambria Math" panose="02040503050406030204" pitchFamily="18" charset="0"/>
                              <a:ea typeface="Cambria Math" panose="02040503050406030204" pitchFamily="18" charset="0"/>
                            </a:rPr>
                            <m:t>1</m:t>
                          </m:r>
                        </m:num>
                        <m:den>
                          <m:r>
                            <a:rPr lang="es-PE" sz="1600" b="0" i="1" smtClean="0">
                              <a:latin typeface="Cambria Math" panose="02040503050406030204" pitchFamily="18" charset="0"/>
                              <a:ea typeface="Cambria Math" panose="02040503050406030204" pitchFamily="18" charset="0"/>
                            </a:rPr>
                            <m:t>𝑌</m:t>
                          </m:r>
                        </m:den>
                      </m:f>
                      <m:d>
                        <m:dPr>
                          <m:ctrlPr>
                            <a:rPr lang="es-PE" sz="1600" b="0" i="1" smtClean="0">
                              <a:latin typeface="Cambria Math" panose="02040503050406030204" pitchFamily="18" charset="0"/>
                              <a:ea typeface="Cambria Math" panose="02040503050406030204" pitchFamily="18" charset="0"/>
                            </a:rPr>
                          </m:ctrlPr>
                        </m:dPr>
                        <m:e>
                          <m:sSub>
                            <m:sSubPr>
                              <m:ctrlPr>
                                <a:rPr lang="es-PE" sz="1600" b="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𝜎</m:t>
                              </m:r>
                            </m:e>
                            <m:sub>
                              <m:r>
                                <a:rPr lang="es-PE" sz="1600" b="0" i="1" smtClean="0">
                                  <a:latin typeface="Cambria Math" panose="02040503050406030204" pitchFamily="18" charset="0"/>
                                  <a:ea typeface="Cambria Math" panose="02040503050406030204" pitchFamily="18" charset="0"/>
                                </a:rPr>
                                <m:t>𝑥𝑥</m:t>
                              </m:r>
                            </m:sub>
                          </m:sSub>
                          <m:r>
                            <a:rPr lang="es-PE" sz="1600" b="0" i="1" smtClean="0">
                              <a:latin typeface="Cambria Math" panose="02040503050406030204" pitchFamily="18" charset="0"/>
                              <a:ea typeface="Cambria Math" panose="02040503050406030204" pitchFamily="18" charset="0"/>
                            </a:rPr>
                            <m:t>+</m:t>
                          </m:r>
                          <m:sSub>
                            <m:sSubPr>
                              <m:ctrlPr>
                                <a:rPr lang="es-PE" sz="1600" b="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𝜎</m:t>
                              </m:r>
                            </m:e>
                            <m:sub>
                              <m:r>
                                <a:rPr lang="es-PE" sz="1600" b="0" i="1" smtClean="0">
                                  <a:latin typeface="Cambria Math" panose="02040503050406030204" pitchFamily="18" charset="0"/>
                                  <a:ea typeface="Cambria Math" panose="02040503050406030204" pitchFamily="18" charset="0"/>
                                </a:rPr>
                                <m:t>𝑦𝑦</m:t>
                              </m:r>
                            </m:sub>
                          </m:sSub>
                          <m:r>
                            <a:rPr lang="es-PE" sz="1600" b="0" i="1" smtClean="0">
                              <a:latin typeface="Cambria Math" panose="02040503050406030204" pitchFamily="18" charset="0"/>
                              <a:ea typeface="Cambria Math" panose="02040503050406030204" pitchFamily="18" charset="0"/>
                            </a:rPr>
                            <m:t>+</m:t>
                          </m:r>
                          <m:sSub>
                            <m:sSubPr>
                              <m:ctrlPr>
                                <a:rPr lang="es-PE" sz="1600" b="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𝜎</m:t>
                              </m:r>
                            </m:e>
                            <m:sub>
                              <m:r>
                                <a:rPr lang="es-PE" sz="1600" b="0" i="1" smtClean="0">
                                  <a:latin typeface="Cambria Math" panose="02040503050406030204" pitchFamily="18" charset="0"/>
                                  <a:ea typeface="Cambria Math" panose="02040503050406030204" pitchFamily="18" charset="0"/>
                                </a:rPr>
                                <m:t>𝑧𝑧</m:t>
                              </m:r>
                            </m:sub>
                          </m:sSub>
                        </m:e>
                      </m:d>
                      <m:d>
                        <m:dPr>
                          <m:ctrlPr>
                            <a:rPr lang="es-PE" sz="1600" b="0" i="1" smtClean="0">
                              <a:latin typeface="Cambria Math" panose="02040503050406030204" pitchFamily="18" charset="0"/>
                              <a:ea typeface="Cambria Math" panose="02040503050406030204" pitchFamily="18" charset="0"/>
                            </a:rPr>
                          </m:ctrlPr>
                        </m:dPr>
                        <m:e>
                          <m:r>
                            <a:rPr lang="es-PE" sz="1600" b="0" i="1" smtClean="0">
                              <a:latin typeface="Cambria Math" panose="02040503050406030204" pitchFamily="18" charset="0"/>
                              <a:ea typeface="Cambria Math" panose="02040503050406030204" pitchFamily="18" charset="0"/>
                            </a:rPr>
                            <m:t>1−2</m:t>
                          </m:r>
                          <m:r>
                            <a:rPr lang="es-PE" sz="1600" b="0" i="1" smtClean="0">
                              <a:latin typeface="Cambria Math" panose="02040503050406030204" pitchFamily="18" charset="0"/>
                              <a:ea typeface="Cambria Math" panose="02040503050406030204" pitchFamily="18" charset="0"/>
                            </a:rPr>
                            <m:t>𝜇</m:t>
                          </m:r>
                        </m:e>
                      </m:d>
                    </m:oMath>
                  </m:oMathPara>
                </a14:m>
                <a:endParaRPr lang="es-PE" sz="1600" dirty="0" smtClean="0"/>
              </a:p>
              <a:p>
                <a:endParaRPr lang="es-PE" sz="1600" dirty="0"/>
              </a:p>
            </p:txBody>
          </p:sp>
        </mc:Choice>
        <mc:Fallback xmlns="">
          <p:sp>
            <p:nvSpPr>
              <p:cNvPr id="19" name="Rectángulo 18">
                <a:extLst>
                  <a:ext uri="{FF2B5EF4-FFF2-40B4-BE49-F238E27FC236}">
                    <a16:creationId xmlns="" xmlns:a16="http://schemas.microsoft.com/office/drawing/2014/main" xmlns:a14="http://schemas.microsoft.com/office/drawing/2010/main" id="{44822C0F-02DC-406F-8E12-F1FFDD5CFB2F}"/>
                  </a:ext>
                </a:extLst>
              </p:cNvPr>
              <p:cNvSpPr>
                <a:spLocks noRot="1" noChangeAspect="1" noMove="1" noResize="1" noEditPoints="1" noAdjustHandles="1" noChangeArrowheads="1" noChangeShapeType="1" noTextEdit="1"/>
              </p:cNvSpPr>
              <p:nvPr/>
            </p:nvSpPr>
            <p:spPr>
              <a:xfrm>
                <a:off x="5319375" y="5947804"/>
                <a:ext cx="3275493" cy="723034"/>
              </a:xfrm>
              <a:prstGeom prst="rect">
                <a:avLst/>
              </a:prstGeom>
              <a:blipFill rotWithShape="0">
                <a:blip r:embed="rId4"/>
                <a:stretch>
                  <a:fillRect/>
                </a:stretch>
              </a:blipFill>
              <a:ln>
                <a:solidFill>
                  <a:schemeClr val="tx1"/>
                </a:solidFill>
              </a:ln>
            </p:spPr>
            <p:txBody>
              <a:bodyPr/>
              <a:lstStyle/>
              <a:p>
                <a:r>
                  <a:rPr lang="es-PE">
                    <a:noFill/>
                  </a:rPr>
                  <a:t> </a:t>
                </a:r>
              </a:p>
            </p:txBody>
          </p:sp>
        </mc:Fallback>
      </mc:AlternateContent>
    </p:spTree>
    <p:extLst>
      <p:ext uri="{BB962C8B-B14F-4D97-AF65-F5344CB8AC3E}">
        <p14:creationId xmlns:p14="http://schemas.microsoft.com/office/powerpoint/2010/main" val="126799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7" grpId="0" animBg="1"/>
      <p:bldP spid="18" grpId="0" animBg="1"/>
      <p:bldP spid="20" grpId="0" animBg="1"/>
      <p:bldP spid="21" grpId="0" animBg="1"/>
      <p:bldP spid="22" grpId="0" animBg="1"/>
      <p:bldP spid="24" grpId="0" animBg="1"/>
      <p:bldP spid="33"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10" name="Marcador de contenido 2"/>
          <p:cNvSpPr txBox="1">
            <a:spLocks/>
          </p:cNvSpPr>
          <p:nvPr/>
        </p:nvSpPr>
        <p:spPr bwMode="auto">
          <a:xfrm>
            <a:off x="192334" y="5280153"/>
            <a:ext cx="4407017" cy="13167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lgn="just" eaLnBrk="0" hangingPunct="0">
              <a:spcBef>
                <a:spcPct val="0"/>
              </a:spcBef>
              <a:buClrTx/>
              <a:buNone/>
            </a:pPr>
            <a:r>
              <a:rPr kumimoji="0" lang="es-MX" sz="1800" b="0" i="0" u="none" strike="noStrike" kern="1200" cap="none" spc="0" normalizeH="0" baseline="0" noProof="0" dirty="0" smtClean="0">
                <a:ln>
                  <a:noFill/>
                </a:ln>
                <a:solidFill>
                  <a:sysClr val="windowText" lastClr="000000"/>
                </a:solidFill>
                <a:effectLst/>
                <a:uLnTx/>
                <a:uFillTx/>
                <a:latin typeface="Arial" panose="020B0604020202020204" pitchFamily="34" charset="0"/>
                <a:cs typeface="Arial" panose="020B0604020202020204" pitchFamily="34" charset="0"/>
              </a:rPr>
              <a:t>Un cuerpo sometido</a:t>
            </a:r>
            <a:r>
              <a:rPr kumimoji="0" lang="es-MX" sz="1800" b="0" i="0" u="none" strike="noStrike" kern="1200" cap="none" spc="0" normalizeH="0" noProof="0" dirty="0" smtClean="0">
                <a:ln>
                  <a:noFill/>
                </a:ln>
                <a:solidFill>
                  <a:sysClr val="windowText" lastClr="000000"/>
                </a:solidFill>
                <a:effectLst/>
                <a:uLnTx/>
                <a:uFillTx/>
                <a:latin typeface="Arial" panose="020B0604020202020204" pitchFamily="34" charset="0"/>
                <a:cs typeface="Arial" panose="020B0604020202020204" pitchFamily="34" charset="0"/>
              </a:rPr>
              <a:t> a cargas tanto de compresión o de tracción experimenta una deformación lateral conforme muestra la grafica.</a:t>
            </a:r>
          </a:p>
          <a:p>
            <a:pPr marL="0" lvl="0" indent="0" algn="just" eaLnBrk="0" hangingPunct="0">
              <a:spcBef>
                <a:spcPct val="0"/>
              </a:spcBef>
              <a:buClrTx/>
              <a:buNone/>
            </a:pPr>
            <a:endParaRPr lang="es-MX" sz="1800" baseline="0" dirty="0">
              <a:solidFill>
                <a:sysClr val="windowText" lastClr="000000"/>
              </a:solidFill>
              <a:latin typeface="Arial" panose="020B0604020202020204" pitchFamily="34" charset="0"/>
              <a:cs typeface="Arial" panose="020B0604020202020204" pitchFamily="34" charset="0"/>
            </a:endParaRPr>
          </a:p>
          <a:p>
            <a:pPr marL="0" lvl="0" indent="0" algn="just" eaLnBrk="0" hangingPunct="0">
              <a:spcBef>
                <a:spcPct val="0"/>
              </a:spcBef>
              <a:buClrTx/>
              <a:buNone/>
            </a:pPr>
            <a:endParaRPr kumimoji="0" lang="es-MX" sz="1800" b="0" i="0" u="none" strike="noStrike" kern="1200" cap="none" spc="0" normalizeH="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a:p>
            <a:pPr marL="0" lvl="0" indent="0" algn="just" eaLnBrk="0" hangingPunct="0">
              <a:spcBef>
                <a:spcPct val="0"/>
              </a:spcBef>
              <a:buClrTx/>
              <a:buNone/>
            </a:pPr>
            <a:endParaRPr lang="es-MX" sz="1800" baseline="0" dirty="0">
              <a:solidFill>
                <a:sysClr val="windowText" lastClr="000000"/>
              </a:solidFill>
              <a:latin typeface="Arial" panose="020B0604020202020204" pitchFamily="34" charset="0"/>
              <a:cs typeface="Arial" panose="020B0604020202020204" pitchFamily="34" charset="0"/>
            </a:endParaRPr>
          </a:p>
          <a:p>
            <a:pPr marL="0" lvl="0" indent="0" algn="just" eaLnBrk="0" hangingPunct="0">
              <a:spcBef>
                <a:spcPct val="0"/>
              </a:spcBef>
              <a:buClrTx/>
              <a:buNone/>
            </a:pPr>
            <a:endParaRPr kumimoji="0" lang="es-MX" sz="1800" b="0" i="0" u="none" strike="noStrike" kern="1200" cap="none" spc="0" normalizeH="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a:p>
            <a:pPr marL="0" lvl="0" indent="0" algn="just" eaLnBrk="0" hangingPunct="0">
              <a:spcBef>
                <a:spcPct val="0"/>
              </a:spcBef>
              <a:buClrTx/>
              <a:buNone/>
            </a:pPr>
            <a:endParaRPr lang="es-MX" sz="1800" baseline="0" dirty="0">
              <a:solidFill>
                <a:sysClr val="windowText" lastClr="000000"/>
              </a:solidFill>
              <a:latin typeface="Arial" panose="020B0604020202020204" pitchFamily="34" charset="0"/>
              <a:cs typeface="Arial" panose="020B0604020202020204" pitchFamily="34" charset="0"/>
            </a:endParaRPr>
          </a:p>
          <a:p>
            <a:pPr marL="0" lvl="0" indent="0" algn="just" eaLnBrk="0" hangingPunct="0">
              <a:spcBef>
                <a:spcPct val="0"/>
              </a:spcBef>
              <a:buClrTx/>
              <a:buNone/>
            </a:pPr>
            <a:endParaRPr kumimoji="0" lang="es-MX" sz="1800" b="0" i="0" u="none" strike="noStrike" kern="1200" cap="none" spc="0" normalizeH="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a:p>
            <a:pPr marL="0" lvl="0" indent="0" algn="just" eaLnBrk="0" hangingPunct="0">
              <a:spcBef>
                <a:spcPct val="0"/>
              </a:spcBef>
              <a:buClrTx/>
              <a:buNone/>
            </a:pPr>
            <a:endParaRPr lang="es-MX" sz="1800" baseline="0" dirty="0">
              <a:solidFill>
                <a:sysClr val="windowText" lastClr="000000"/>
              </a:solidFill>
              <a:latin typeface="Arial" panose="020B0604020202020204" pitchFamily="34" charset="0"/>
              <a:cs typeface="Arial" panose="020B0604020202020204" pitchFamily="34" charset="0"/>
            </a:endParaRPr>
          </a:p>
          <a:p>
            <a:pPr marL="0" lvl="0" indent="0" algn="just" eaLnBrk="0" hangingPunct="0">
              <a:spcBef>
                <a:spcPct val="0"/>
              </a:spcBef>
              <a:buClrTx/>
              <a:buNone/>
            </a:pPr>
            <a:endParaRPr kumimoji="0" lang="es-MX" sz="1800" b="0" i="0" u="none" strike="noStrike" kern="1200" cap="none" spc="0" normalizeH="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a:p>
            <a:pPr marL="0" marR="0" lvl="0" indent="0" algn="just" defTabSz="457200" rtl="0" eaLnBrk="1" fontAlgn="base" latinLnBrk="0" hangingPunct="1">
              <a:lnSpc>
                <a:spcPct val="100000"/>
              </a:lnSpc>
              <a:spcBef>
                <a:spcPct val="20000"/>
              </a:spcBef>
              <a:spcAft>
                <a:spcPct val="0"/>
              </a:spcAft>
              <a:buClr>
                <a:srgbClr val="EFA82F"/>
              </a:buClr>
              <a:buSzTx/>
              <a:buNone/>
              <a:tabLst/>
              <a:defRPr/>
            </a:pPr>
            <a:endParaRPr kumimoji="0" lang="es-PE" sz="23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p:sp>
        <p:nvSpPr>
          <p:cNvPr id="14" name="Rectángulo redondeado 13"/>
          <p:cNvSpPr/>
          <p:nvPr/>
        </p:nvSpPr>
        <p:spPr>
          <a:xfrm>
            <a:off x="1637806" y="817512"/>
            <a:ext cx="6984776"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DEFORMACIÓN LATERAL . MODULO DE POISSON</a:t>
            </a:r>
            <a:endParaRPr lang="es-PE" sz="2400" dirty="0">
              <a:solidFill>
                <a:schemeClr val="tx1"/>
              </a:solidFill>
            </a:endParaRPr>
          </a:p>
        </p:txBody>
      </p:sp>
      <p:grpSp>
        <p:nvGrpSpPr>
          <p:cNvPr id="8" name="Group 22529"/>
          <p:cNvGrpSpPr>
            <a:grpSpLocks/>
          </p:cNvGrpSpPr>
          <p:nvPr/>
        </p:nvGrpSpPr>
        <p:grpSpPr bwMode="auto">
          <a:xfrm>
            <a:off x="209056" y="1792706"/>
            <a:ext cx="4800600" cy="3434080"/>
            <a:chOff x="981" y="8797"/>
            <a:chExt cx="7560" cy="5408"/>
          </a:xfrm>
        </p:grpSpPr>
        <p:grpSp>
          <p:nvGrpSpPr>
            <p:cNvPr id="9" name="Group 254"/>
            <p:cNvGrpSpPr>
              <a:grpSpLocks/>
            </p:cNvGrpSpPr>
            <p:nvPr/>
          </p:nvGrpSpPr>
          <p:grpSpPr bwMode="auto">
            <a:xfrm>
              <a:off x="5481" y="8797"/>
              <a:ext cx="3060" cy="5040"/>
              <a:chOff x="4401" y="4657"/>
              <a:chExt cx="3060" cy="5040"/>
            </a:xfrm>
          </p:grpSpPr>
          <p:grpSp>
            <p:nvGrpSpPr>
              <p:cNvPr id="31" name="Group 255"/>
              <p:cNvGrpSpPr>
                <a:grpSpLocks/>
              </p:cNvGrpSpPr>
              <p:nvPr/>
            </p:nvGrpSpPr>
            <p:grpSpPr bwMode="auto">
              <a:xfrm>
                <a:off x="4401" y="4657"/>
                <a:ext cx="1980" cy="5040"/>
                <a:chOff x="4401" y="4657"/>
                <a:chExt cx="1980" cy="5040"/>
              </a:xfrm>
            </p:grpSpPr>
            <p:sp>
              <p:nvSpPr>
                <p:cNvPr id="33" name="Rectangle 256"/>
                <p:cNvSpPr>
                  <a:spLocks noChangeArrowheads="1"/>
                </p:cNvSpPr>
                <p:nvPr/>
              </p:nvSpPr>
              <p:spPr bwMode="auto">
                <a:xfrm>
                  <a:off x="4761" y="6457"/>
                  <a:ext cx="540" cy="21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endParaRPr lang="es-PE"/>
                </a:p>
              </p:txBody>
            </p:sp>
            <p:sp>
              <p:nvSpPr>
                <p:cNvPr id="34" name="Rectangle 257"/>
                <p:cNvSpPr>
                  <a:spLocks noChangeArrowheads="1"/>
                </p:cNvSpPr>
                <p:nvPr/>
              </p:nvSpPr>
              <p:spPr bwMode="auto">
                <a:xfrm>
                  <a:off x="4671" y="6637"/>
                  <a:ext cx="720" cy="1800"/>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PE"/>
                </a:p>
              </p:txBody>
            </p:sp>
            <p:cxnSp>
              <p:nvCxnSpPr>
                <p:cNvPr id="35" name="Line 258"/>
                <p:cNvCxnSpPr>
                  <a:cxnSpLocks noChangeShapeType="1"/>
                </p:cNvCxnSpPr>
                <p:nvPr/>
              </p:nvCxnSpPr>
              <p:spPr bwMode="auto">
                <a:xfrm>
                  <a:off x="5046" y="8617"/>
                  <a:ext cx="0" cy="54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6" name="Line 259"/>
                <p:cNvCxnSpPr>
                  <a:cxnSpLocks noChangeShapeType="1"/>
                </p:cNvCxnSpPr>
                <p:nvPr/>
              </p:nvCxnSpPr>
              <p:spPr bwMode="auto">
                <a:xfrm>
                  <a:off x="5031" y="5917"/>
                  <a:ext cx="0" cy="540"/>
                </a:xfrm>
                <a:prstGeom prst="line">
                  <a:avLst/>
                </a:prstGeom>
                <a:noFill/>
                <a:ln w="38100">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37" name="Line 260"/>
                <p:cNvCxnSpPr>
                  <a:cxnSpLocks noChangeShapeType="1"/>
                </p:cNvCxnSpPr>
                <p:nvPr/>
              </p:nvCxnSpPr>
              <p:spPr bwMode="auto">
                <a:xfrm>
                  <a:off x="5481" y="645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8" name="Line 261"/>
                <p:cNvCxnSpPr>
                  <a:cxnSpLocks noChangeShapeType="1"/>
                </p:cNvCxnSpPr>
                <p:nvPr/>
              </p:nvCxnSpPr>
              <p:spPr bwMode="auto">
                <a:xfrm>
                  <a:off x="5481" y="861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9" name="Line 262"/>
                <p:cNvCxnSpPr>
                  <a:cxnSpLocks noChangeShapeType="1"/>
                </p:cNvCxnSpPr>
                <p:nvPr/>
              </p:nvCxnSpPr>
              <p:spPr bwMode="auto">
                <a:xfrm flipV="1">
                  <a:off x="5661" y="6457"/>
                  <a:ext cx="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 name="Line 263"/>
                <p:cNvCxnSpPr>
                  <a:cxnSpLocks noChangeShapeType="1"/>
                </p:cNvCxnSpPr>
                <p:nvPr/>
              </p:nvCxnSpPr>
              <p:spPr bwMode="auto">
                <a:xfrm flipV="1">
                  <a:off x="5661" y="7897"/>
                  <a:ext cx="0" cy="72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41" name="Text Box 264"/>
                <p:cNvSpPr txBox="1">
                  <a:spLocks noChangeArrowheads="1"/>
                </p:cNvSpPr>
                <p:nvPr/>
              </p:nvSpPr>
              <p:spPr bwMode="auto">
                <a:xfrm>
                  <a:off x="5481" y="7357"/>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a:effectLst/>
                      <a:latin typeface="Times New Roman" panose="02020603050405020304" pitchFamily="18" charset="0"/>
                      <a:ea typeface="Times New Roman" panose="02020603050405020304" pitchFamily="18" charset="0"/>
                    </a:rPr>
                    <a:t>l</a:t>
                  </a:r>
                  <a:endParaRPr lang="es-PE" sz="1200">
                    <a:effectLst/>
                    <a:latin typeface="Times New Roman" panose="02020603050405020304" pitchFamily="18" charset="0"/>
                    <a:ea typeface="Times New Roman" panose="02020603050405020304" pitchFamily="18" charset="0"/>
                  </a:endParaRPr>
                </a:p>
              </p:txBody>
            </p:sp>
            <p:sp>
              <p:nvSpPr>
                <p:cNvPr id="42" name="Text Box 265"/>
                <p:cNvSpPr txBox="1">
                  <a:spLocks noChangeArrowheads="1"/>
                </p:cNvSpPr>
                <p:nvPr/>
              </p:nvSpPr>
              <p:spPr bwMode="auto">
                <a:xfrm>
                  <a:off x="4761" y="9157"/>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a:effectLst/>
                      <a:latin typeface="Times New Roman" panose="02020603050405020304" pitchFamily="18" charset="0"/>
                      <a:ea typeface="Times New Roman" panose="02020603050405020304" pitchFamily="18" charset="0"/>
                    </a:rPr>
                    <a:t>F</a:t>
                  </a:r>
                  <a:r>
                    <a:rPr lang="es-ES" sz="1200" b="1" baseline="-25000">
                      <a:effectLst/>
                      <a:latin typeface="Times New Roman" panose="02020603050405020304" pitchFamily="18" charset="0"/>
                      <a:ea typeface="Times New Roman" panose="02020603050405020304" pitchFamily="18" charset="0"/>
                    </a:rPr>
                    <a:t>n</a:t>
                  </a:r>
                  <a:endParaRPr lang="es-PE" sz="1200">
                    <a:effectLst/>
                    <a:latin typeface="Times New Roman" panose="02020603050405020304" pitchFamily="18" charset="0"/>
                    <a:ea typeface="Times New Roman" panose="02020603050405020304" pitchFamily="18" charset="0"/>
                  </a:endParaRPr>
                </a:p>
                <a:p>
                  <a:pPr>
                    <a:lnSpc>
                      <a:spcPts val="1800"/>
                    </a:lnSpc>
                    <a:spcBef>
                      <a:spcPts val="480"/>
                    </a:spcBef>
                    <a:spcAft>
                      <a:spcPts val="0"/>
                    </a:spcAft>
                  </a:pPr>
                  <a:r>
                    <a:rPr lang="es-ES" sz="1200">
                      <a:effectLst/>
                      <a:latin typeface="Times New Roman" panose="02020603050405020304" pitchFamily="18" charset="0"/>
                      <a:ea typeface="Times New Roman" panose="02020603050405020304" pitchFamily="18" charset="0"/>
                    </a:rPr>
                    <a:t> </a:t>
                  </a:r>
                  <a:endParaRPr lang="es-PE" sz="1200">
                    <a:effectLst/>
                    <a:latin typeface="Times New Roman" panose="02020603050405020304" pitchFamily="18" charset="0"/>
                    <a:ea typeface="Times New Roman" panose="02020603050405020304" pitchFamily="18" charset="0"/>
                  </a:endParaRPr>
                </a:p>
              </p:txBody>
            </p:sp>
            <p:sp>
              <p:nvSpPr>
                <p:cNvPr id="43" name="Text Box 266"/>
                <p:cNvSpPr txBox="1">
                  <a:spLocks noChangeArrowheads="1"/>
                </p:cNvSpPr>
                <p:nvPr/>
              </p:nvSpPr>
              <p:spPr bwMode="auto">
                <a:xfrm>
                  <a:off x="4761" y="5377"/>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a:effectLst/>
                      <a:latin typeface="Times New Roman" panose="02020603050405020304" pitchFamily="18" charset="0"/>
                      <a:ea typeface="Times New Roman" panose="02020603050405020304" pitchFamily="18" charset="0"/>
                    </a:rPr>
                    <a:t>F</a:t>
                  </a:r>
                  <a:r>
                    <a:rPr lang="es-ES" sz="1200" b="1" baseline="-25000">
                      <a:effectLst/>
                      <a:latin typeface="Times New Roman" panose="02020603050405020304" pitchFamily="18" charset="0"/>
                      <a:ea typeface="Times New Roman" panose="02020603050405020304" pitchFamily="18" charset="0"/>
                    </a:rPr>
                    <a:t>n</a:t>
                  </a:r>
                  <a:endParaRPr lang="es-PE" sz="1200">
                    <a:effectLst/>
                    <a:latin typeface="Times New Roman" panose="02020603050405020304" pitchFamily="18" charset="0"/>
                    <a:ea typeface="Times New Roman" panose="02020603050405020304" pitchFamily="18" charset="0"/>
                  </a:endParaRPr>
                </a:p>
                <a:p>
                  <a:pPr>
                    <a:lnSpc>
                      <a:spcPts val="1800"/>
                    </a:lnSpc>
                    <a:spcBef>
                      <a:spcPts val="480"/>
                    </a:spcBef>
                    <a:spcAft>
                      <a:spcPts val="0"/>
                    </a:spcAft>
                  </a:pPr>
                  <a:r>
                    <a:rPr lang="es-ES" sz="1200">
                      <a:effectLst/>
                      <a:latin typeface="Times New Roman" panose="02020603050405020304" pitchFamily="18" charset="0"/>
                      <a:ea typeface="Times New Roman" panose="02020603050405020304" pitchFamily="18" charset="0"/>
                    </a:rPr>
                    <a:t> </a:t>
                  </a:r>
                  <a:endParaRPr lang="es-PE" sz="1200">
                    <a:effectLst/>
                    <a:latin typeface="Times New Roman" panose="02020603050405020304" pitchFamily="18" charset="0"/>
                    <a:ea typeface="Times New Roman" panose="02020603050405020304" pitchFamily="18" charset="0"/>
                  </a:endParaRPr>
                </a:p>
              </p:txBody>
            </p:sp>
            <p:sp>
              <p:nvSpPr>
                <p:cNvPr id="44" name="Text Box 267"/>
                <p:cNvSpPr txBox="1">
                  <a:spLocks noChangeArrowheads="1"/>
                </p:cNvSpPr>
                <p:nvPr/>
              </p:nvSpPr>
              <p:spPr bwMode="auto">
                <a:xfrm>
                  <a:off x="4401" y="4657"/>
                  <a:ext cx="198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dirty="0">
                      <a:effectLst/>
                      <a:latin typeface="Times New Roman" panose="02020603050405020304" pitchFamily="18" charset="0"/>
                      <a:ea typeface="Times New Roman" panose="02020603050405020304" pitchFamily="18" charset="0"/>
                    </a:rPr>
                    <a:t>COMPRESIÓN</a:t>
                  </a:r>
                  <a:endParaRPr lang="es-PE" sz="1200" dirty="0">
                    <a:effectLst/>
                    <a:latin typeface="Times New Roman" panose="02020603050405020304" pitchFamily="18" charset="0"/>
                    <a:ea typeface="Times New Roman" panose="02020603050405020304" pitchFamily="18" charset="0"/>
                  </a:endParaRPr>
                </a:p>
              </p:txBody>
            </p:sp>
            <p:sp>
              <p:nvSpPr>
                <p:cNvPr id="45" name="AutoShape 268"/>
                <p:cNvSpPr>
                  <a:spLocks/>
                </p:cNvSpPr>
                <p:nvPr/>
              </p:nvSpPr>
              <p:spPr bwMode="auto">
                <a:xfrm>
                  <a:off x="6021" y="6637"/>
                  <a:ext cx="180" cy="1800"/>
                </a:xfrm>
                <a:prstGeom prst="rightBrace">
                  <a:avLst>
                    <a:gd name="adj1" fmla="val 83333"/>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PE"/>
                </a:p>
              </p:txBody>
            </p:sp>
          </p:grpSp>
          <p:sp>
            <p:nvSpPr>
              <p:cNvPr id="32" name="Text Box 269"/>
              <p:cNvSpPr txBox="1">
                <a:spLocks noChangeArrowheads="1"/>
              </p:cNvSpPr>
              <p:nvPr/>
            </p:nvSpPr>
            <p:spPr bwMode="auto">
              <a:xfrm>
                <a:off x="6201" y="7357"/>
                <a:ext cx="126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a:effectLst/>
                    <a:latin typeface="Times New Roman" panose="02020603050405020304" pitchFamily="18" charset="0"/>
                    <a:ea typeface="Times New Roman" panose="02020603050405020304" pitchFamily="18" charset="0"/>
                  </a:rPr>
                  <a:t>l + </a:t>
                </a:r>
                <a:r>
                  <a:rPr lang="es-ES" sz="1200">
                    <a:effectLst/>
                    <a:latin typeface="Times New Roman" panose="02020603050405020304" pitchFamily="18" charset="0"/>
                    <a:ea typeface="Times New Roman" panose="02020603050405020304" pitchFamily="18" charset="0"/>
                  </a:rPr>
                  <a:t>(</a:t>
                </a:r>
                <a:r>
                  <a:rPr lang="es-ES" sz="1200" i="1">
                    <a:effectLst/>
                    <a:latin typeface="Times New Roman" panose="02020603050405020304" pitchFamily="18" charset="0"/>
                    <a:ea typeface="Times New Roman" panose="02020603050405020304" pitchFamily="18" charset="0"/>
                  </a:rPr>
                  <a:t>-∆l</a:t>
                </a:r>
                <a:r>
                  <a:rPr lang="es-ES" sz="1200">
                    <a:effectLst/>
                    <a:latin typeface="Times New Roman" panose="02020603050405020304" pitchFamily="18" charset="0"/>
                    <a:ea typeface="Times New Roman" panose="02020603050405020304" pitchFamily="18" charset="0"/>
                  </a:rPr>
                  <a:t>)</a:t>
                </a:r>
                <a:endParaRPr lang="es-PE" sz="1200">
                  <a:effectLst/>
                  <a:latin typeface="Times New Roman" panose="02020603050405020304" pitchFamily="18" charset="0"/>
                  <a:ea typeface="Times New Roman" panose="02020603050405020304" pitchFamily="18" charset="0"/>
                </a:endParaRPr>
              </a:p>
            </p:txBody>
          </p:sp>
        </p:grpSp>
        <p:grpSp>
          <p:nvGrpSpPr>
            <p:cNvPr id="15" name="Group 270"/>
            <p:cNvGrpSpPr>
              <a:grpSpLocks/>
            </p:cNvGrpSpPr>
            <p:nvPr/>
          </p:nvGrpSpPr>
          <p:grpSpPr bwMode="auto">
            <a:xfrm>
              <a:off x="981" y="8797"/>
              <a:ext cx="3240" cy="5040"/>
              <a:chOff x="981" y="4657"/>
              <a:chExt cx="3240" cy="5040"/>
            </a:xfrm>
          </p:grpSpPr>
          <p:sp>
            <p:nvSpPr>
              <p:cNvPr id="17" name="Rectangle 271"/>
              <p:cNvSpPr>
                <a:spLocks noChangeArrowheads="1"/>
              </p:cNvSpPr>
              <p:nvPr/>
            </p:nvSpPr>
            <p:spPr bwMode="auto">
              <a:xfrm>
                <a:off x="3231" y="6277"/>
                <a:ext cx="360" cy="2520"/>
              </a:xfrm>
              <a:prstGeom prst="rect">
                <a:avLst/>
              </a:prstGeom>
              <a:solidFill>
                <a:srgbClr val="FFFFFF"/>
              </a:solidFill>
              <a:ln w="9525">
                <a:solidFill>
                  <a:srgbClr val="000000"/>
                </a:solidFill>
                <a:prstDash val="dashDot"/>
                <a:miter lim="800000"/>
                <a:headEnd/>
                <a:tailEnd/>
              </a:ln>
            </p:spPr>
            <p:txBody>
              <a:bodyPr rot="0" vert="horz" wrap="square" lIns="91440" tIns="45720" rIns="91440" bIns="45720" anchor="t" anchorCtr="0" upright="1">
                <a:noAutofit/>
              </a:bodyPr>
              <a:lstStyle/>
              <a:p>
                <a:endParaRPr lang="es-PE"/>
              </a:p>
            </p:txBody>
          </p:sp>
          <p:sp>
            <p:nvSpPr>
              <p:cNvPr id="18" name="Rectangle 272"/>
              <p:cNvSpPr>
                <a:spLocks noChangeArrowheads="1"/>
              </p:cNvSpPr>
              <p:nvPr/>
            </p:nvSpPr>
            <p:spPr bwMode="auto">
              <a:xfrm>
                <a:off x="3141" y="6457"/>
                <a:ext cx="540" cy="21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PE"/>
              </a:p>
            </p:txBody>
          </p:sp>
          <p:cxnSp>
            <p:nvCxnSpPr>
              <p:cNvPr id="19" name="Line 273"/>
              <p:cNvCxnSpPr>
                <a:cxnSpLocks noChangeShapeType="1"/>
              </p:cNvCxnSpPr>
              <p:nvPr/>
            </p:nvCxnSpPr>
            <p:spPr bwMode="auto">
              <a:xfrm>
                <a:off x="3411" y="8617"/>
                <a:ext cx="0" cy="54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 name="Line 274"/>
              <p:cNvCxnSpPr>
                <a:cxnSpLocks noChangeShapeType="1"/>
              </p:cNvCxnSpPr>
              <p:nvPr/>
            </p:nvCxnSpPr>
            <p:spPr bwMode="auto">
              <a:xfrm>
                <a:off x="3411" y="5917"/>
                <a:ext cx="0" cy="540"/>
              </a:xfrm>
              <a:prstGeom prst="line">
                <a:avLst/>
              </a:prstGeom>
              <a:noFill/>
              <a:ln w="38100">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21" name="Line 275"/>
              <p:cNvCxnSpPr>
                <a:cxnSpLocks noChangeShapeType="1"/>
              </p:cNvCxnSpPr>
              <p:nvPr/>
            </p:nvCxnSpPr>
            <p:spPr bwMode="auto">
              <a:xfrm>
                <a:off x="2601" y="645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2" name="Line 276"/>
              <p:cNvCxnSpPr>
                <a:cxnSpLocks noChangeShapeType="1"/>
              </p:cNvCxnSpPr>
              <p:nvPr/>
            </p:nvCxnSpPr>
            <p:spPr bwMode="auto">
              <a:xfrm>
                <a:off x="2601" y="861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3" name="Line 277"/>
              <p:cNvCxnSpPr>
                <a:cxnSpLocks noChangeShapeType="1"/>
              </p:cNvCxnSpPr>
              <p:nvPr/>
            </p:nvCxnSpPr>
            <p:spPr bwMode="auto">
              <a:xfrm flipV="1">
                <a:off x="2781" y="6457"/>
                <a:ext cx="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Line 278"/>
              <p:cNvCxnSpPr>
                <a:cxnSpLocks noChangeShapeType="1"/>
              </p:cNvCxnSpPr>
              <p:nvPr/>
            </p:nvCxnSpPr>
            <p:spPr bwMode="auto">
              <a:xfrm flipV="1">
                <a:off x="2781" y="7897"/>
                <a:ext cx="0" cy="72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25" name="Text Box 279"/>
              <p:cNvSpPr txBox="1">
                <a:spLocks noChangeArrowheads="1"/>
              </p:cNvSpPr>
              <p:nvPr/>
            </p:nvSpPr>
            <p:spPr bwMode="auto">
              <a:xfrm>
                <a:off x="2601" y="7357"/>
                <a:ext cx="54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a:effectLst/>
                    <a:latin typeface="Times New Roman" panose="02020603050405020304" pitchFamily="18" charset="0"/>
                    <a:ea typeface="Times New Roman" panose="02020603050405020304" pitchFamily="18" charset="0"/>
                  </a:rPr>
                  <a:t>l</a:t>
                </a:r>
                <a:endParaRPr lang="es-PE" sz="1200">
                  <a:effectLst/>
                  <a:latin typeface="Times New Roman" panose="02020603050405020304" pitchFamily="18" charset="0"/>
                  <a:ea typeface="Times New Roman" panose="02020603050405020304" pitchFamily="18" charset="0"/>
                </a:endParaRPr>
              </a:p>
            </p:txBody>
          </p:sp>
          <p:sp>
            <p:nvSpPr>
              <p:cNvPr id="26" name="Text Box 280"/>
              <p:cNvSpPr txBox="1">
                <a:spLocks noChangeArrowheads="1"/>
              </p:cNvSpPr>
              <p:nvPr/>
            </p:nvSpPr>
            <p:spPr bwMode="auto">
              <a:xfrm>
                <a:off x="3141" y="5377"/>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a:effectLst/>
                    <a:latin typeface="Times New Roman" panose="02020603050405020304" pitchFamily="18" charset="0"/>
                    <a:ea typeface="Times New Roman" panose="02020603050405020304" pitchFamily="18" charset="0"/>
                  </a:rPr>
                  <a:t>F</a:t>
                </a:r>
                <a:r>
                  <a:rPr lang="es-ES" sz="1200" b="1" baseline="-25000">
                    <a:effectLst/>
                    <a:latin typeface="Times New Roman" panose="02020603050405020304" pitchFamily="18" charset="0"/>
                    <a:ea typeface="Times New Roman" panose="02020603050405020304" pitchFamily="18" charset="0"/>
                  </a:rPr>
                  <a:t>n</a:t>
                </a:r>
                <a:endParaRPr lang="es-PE" sz="1200">
                  <a:effectLst/>
                  <a:latin typeface="Times New Roman" panose="02020603050405020304" pitchFamily="18" charset="0"/>
                  <a:ea typeface="Times New Roman" panose="02020603050405020304" pitchFamily="18" charset="0"/>
                </a:endParaRPr>
              </a:p>
            </p:txBody>
          </p:sp>
          <p:sp>
            <p:nvSpPr>
              <p:cNvPr id="27" name="Text Box 281"/>
              <p:cNvSpPr txBox="1">
                <a:spLocks noChangeArrowheads="1"/>
              </p:cNvSpPr>
              <p:nvPr/>
            </p:nvSpPr>
            <p:spPr bwMode="auto">
              <a:xfrm>
                <a:off x="3141" y="9157"/>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a:effectLst/>
                    <a:latin typeface="Times New Roman" panose="02020603050405020304" pitchFamily="18" charset="0"/>
                    <a:ea typeface="Times New Roman" panose="02020603050405020304" pitchFamily="18" charset="0"/>
                  </a:rPr>
                  <a:t>F</a:t>
                </a:r>
                <a:r>
                  <a:rPr lang="es-ES" sz="1200" b="1" baseline="-25000">
                    <a:effectLst/>
                    <a:latin typeface="Times New Roman" panose="02020603050405020304" pitchFamily="18" charset="0"/>
                    <a:ea typeface="Times New Roman" panose="02020603050405020304" pitchFamily="18" charset="0"/>
                  </a:rPr>
                  <a:t>n</a:t>
                </a:r>
                <a:endParaRPr lang="es-PE" sz="1200">
                  <a:effectLst/>
                  <a:latin typeface="Times New Roman" panose="02020603050405020304" pitchFamily="18" charset="0"/>
                  <a:ea typeface="Times New Roman" panose="02020603050405020304" pitchFamily="18" charset="0"/>
                </a:endParaRPr>
              </a:p>
            </p:txBody>
          </p:sp>
          <p:sp>
            <p:nvSpPr>
              <p:cNvPr id="28" name="Text Box 282"/>
              <p:cNvSpPr txBox="1">
                <a:spLocks noChangeArrowheads="1"/>
              </p:cNvSpPr>
              <p:nvPr/>
            </p:nvSpPr>
            <p:spPr bwMode="auto">
              <a:xfrm>
                <a:off x="2421" y="4657"/>
                <a:ext cx="180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a:effectLst/>
                    <a:latin typeface="Times New Roman" panose="02020603050405020304" pitchFamily="18" charset="0"/>
                    <a:ea typeface="Times New Roman" panose="02020603050405020304" pitchFamily="18" charset="0"/>
                  </a:rPr>
                  <a:t>TRACCIÓN</a:t>
                </a:r>
                <a:endParaRPr lang="es-PE" sz="1200">
                  <a:effectLst/>
                  <a:latin typeface="Times New Roman" panose="02020603050405020304" pitchFamily="18" charset="0"/>
                  <a:ea typeface="Times New Roman" panose="02020603050405020304" pitchFamily="18" charset="0"/>
                </a:endParaRPr>
              </a:p>
            </p:txBody>
          </p:sp>
          <p:sp>
            <p:nvSpPr>
              <p:cNvPr id="29" name="AutoShape 283"/>
              <p:cNvSpPr>
                <a:spLocks/>
              </p:cNvSpPr>
              <p:nvPr/>
            </p:nvSpPr>
            <p:spPr bwMode="auto">
              <a:xfrm>
                <a:off x="2241" y="6277"/>
                <a:ext cx="180" cy="2520"/>
              </a:xfrm>
              <a:prstGeom prst="leftBrace">
                <a:avLst>
                  <a:gd name="adj1" fmla="val 11666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PE"/>
              </a:p>
            </p:txBody>
          </p:sp>
          <p:sp>
            <p:nvSpPr>
              <p:cNvPr id="30" name="Text Box 284"/>
              <p:cNvSpPr txBox="1">
                <a:spLocks noChangeArrowheads="1"/>
              </p:cNvSpPr>
              <p:nvPr/>
            </p:nvSpPr>
            <p:spPr bwMode="auto">
              <a:xfrm>
                <a:off x="981" y="7357"/>
                <a:ext cx="126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a:effectLst/>
                    <a:latin typeface="Times New Roman" panose="02020603050405020304" pitchFamily="18" charset="0"/>
                    <a:ea typeface="Times New Roman" panose="02020603050405020304" pitchFamily="18" charset="0"/>
                  </a:rPr>
                  <a:t>l + </a:t>
                </a:r>
                <a:r>
                  <a:rPr lang="es-ES" sz="1200">
                    <a:effectLst/>
                    <a:latin typeface="Times New Roman" panose="02020603050405020304" pitchFamily="18" charset="0"/>
                    <a:ea typeface="Times New Roman" panose="02020603050405020304" pitchFamily="18" charset="0"/>
                  </a:rPr>
                  <a:t>(+∆</a:t>
                </a:r>
                <a:r>
                  <a:rPr lang="es-ES" sz="1200" i="1">
                    <a:effectLst/>
                    <a:latin typeface="Times New Roman" panose="02020603050405020304" pitchFamily="18" charset="0"/>
                    <a:ea typeface="Times New Roman" panose="02020603050405020304" pitchFamily="18" charset="0"/>
                  </a:rPr>
                  <a:t>l</a:t>
                </a:r>
                <a:r>
                  <a:rPr lang="es-ES" sz="1200">
                    <a:effectLst/>
                    <a:latin typeface="Times New Roman" panose="02020603050405020304" pitchFamily="18" charset="0"/>
                    <a:ea typeface="Times New Roman" panose="02020603050405020304" pitchFamily="18" charset="0"/>
                  </a:rPr>
                  <a:t>)</a:t>
                </a:r>
                <a:endParaRPr lang="es-PE" sz="1200">
                  <a:effectLst/>
                  <a:latin typeface="Times New Roman" panose="02020603050405020304" pitchFamily="18" charset="0"/>
                  <a:ea typeface="Times New Roman" panose="02020603050405020304" pitchFamily="18" charset="0"/>
                </a:endParaRPr>
              </a:p>
            </p:txBody>
          </p:sp>
        </p:grpSp>
        <p:sp>
          <p:nvSpPr>
            <p:cNvPr id="16" name="Text Box 22528"/>
            <p:cNvSpPr txBox="1">
              <a:spLocks noChangeArrowheads="1"/>
            </p:cNvSpPr>
            <p:nvPr/>
          </p:nvSpPr>
          <p:spPr bwMode="auto">
            <a:xfrm>
              <a:off x="2421" y="13725"/>
              <a:ext cx="61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prstDash val="dash"/>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_tradnl" sz="1000" dirty="0" smtClean="0">
                  <a:effectLst/>
                  <a:latin typeface="Times New Roman" panose="02020603050405020304" pitchFamily="18" charset="0"/>
                  <a:ea typeface="Times New Roman" panose="02020603050405020304" pitchFamily="18" charset="0"/>
                </a:rPr>
                <a:t>Muestra </a:t>
              </a:r>
              <a:r>
                <a:rPr lang="es-ES_tradnl" sz="1000" dirty="0">
                  <a:effectLst/>
                  <a:latin typeface="Times New Roman" panose="02020603050405020304" pitchFamily="18" charset="0"/>
                  <a:ea typeface="Times New Roman" panose="02020603050405020304" pitchFamily="18" charset="0"/>
                </a:rPr>
                <a:t>sometida a tensión y compresión</a:t>
              </a:r>
              <a:endParaRPr lang="es-PE" sz="1200" dirty="0">
                <a:effectLst/>
                <a:latin typeface="Times New Roman" panose="02020603050405020304" pitchFamily="18" charset="0"/>
                <a:ea typeface="Times New Roman" panose="02020603050405020304" pitchFamily="18" charset="0"/>
              </a:endParaRPr>
            </a:p>
          </p:txBody>
        </p:sp>
      </p:grpSp>
      <p:grpSp>
        <p:nvGrpSpPr>
          <p:cNvPr id="46" name="Group 22546"/>
          <p:cNvGrpSpPr>
            <a:grpSpLocks/>
          </p:cNvGrpSpPr>
          <p:nvPr/>
        </p:nvGrpSpPr>
        <p:grpSpPr bwMode="auto">
          <a:xfrm>
            <a:off x="5720299" y="2210458"/>
            <a:ext cx="3314700" cy="1617345"/>
            <a:chOff x="1953" y="3378"/>
            <a:chExt cx="5220" cy="2547"/>
          </a:xfrm>
        </p:grpSpPr>
        <p:sp>
          <p:nvSpPr>
            <p:cNvPr id="47" name="Rectangle 2"/>
            <p:cNvSpPr>
              <a:spLocks noChangeArrowheads="1"/>
            </p:cNvSpPr>
            <p:nvPr/>
          </p:nvSpPr>
          <p:spPr bwMode="auto">
            <a:xfrm>
              <a:off x="3033" y="4563"/>
              <a:ext cx="2160" cy="540"/>
            </a:xfrm>
            <a:prstGeom prst="rect">
              <a:avLst/>
            </a:prstGeom>
            <a:solidFill>
              <a:schemeClr val="tx1">
                <a:lumMod val="50000"/>
                <a:lumOff val="50000"/>
              </a:schemeClr>
            </a:solidFill>
            <a:ln w="9525">
              <a:solidFill>
                <a:srgbClr val="000000"/>
              </a:solidFill>
              <a:miter lim="800000"/>
              <a:headEnd/>
              <a:tailEnd/>
            </a:ln>
          </p:spPr>
          <p:txBody>
            <a:bodyPr rot="0" vert="horz" wrap="square" lIns="91440" tIns="45720" rIns="91440" bIns="45720" anchor="t" anchorCtr="0" upright="1">
              <a:noAutofit/>
            </a:bodyPr>
            <a:lstStyle/>
            <a:p>
              <a:endParaRPr lang="es-PE"/>
            </a:p>
          </p:txBody>
        </p:sp>
        <p:sp>
          <p:nvSpPr>
            <p:cNvPr id="48" name="Freeform 3"/>
            <p:cNvSpPr>
              <a:spLocks/>
            </p:cNvSpPr>
            <p:nvPr/>
          </p:nvSpPr>
          <p:spPr bwMode="auto">
            <a:xfrm>
              <a:off x="3033" y="3843"/>
              <a:ext cx="2700" cy="720"/>
            </a:xfrm>
            <a:custGeom>
              <a:avLst/>
              <a:gdLst>
                <a:gd name="T0" fmla="*/ 0 w 2700"/>
                <a:gd name="T1" fmla="*/ 720 h 720"/>
                <a:gd name="T2" fmla="*/ 720 w 2700"/>
                <a:gd name="T3" fmla="*/ 0 h 720"/>
                <a:gd name="T4" fmla="*/ 2700 w 2700"/>
                <a:gd name="T5" fmla="*/ 0 h 720"/>
                <a:gd name="T6" fmla="*/ 2160 w 2700"/>
                <a:gd name="T7" fmla="*/ 720 h 720"/>
              </a:gdLst>
              <a:ahLst/>
              <a:cxnLst>
                <a:cxn ang="0">
                  <a:pos x="T0" y="T1"/>
                </a:cxn>
                <a:cxn ang="0">
                  <a:pos x="T2" y="T3"/>
                </a:cxn>
                <a:cxn ang="0">
                  <a:pos x="T4" y="T5"/>
                </a:cxn>
                <a:cxn ang="0">
                  <a:pos x="T6" y="T7"/>
                </a:cxn>
              </a:cxnLst>
              <a:rect l="0" t="0" r="r" b="b"/>
              <a:pathLst>
                <a:path w="2700" h="720">
                  <a:moveTo>
                    <a:pt x="0" y="720"/>
                  </a:moveTo>
                  <a:lnTo>
                    <a:pt x="720" y="0"/>
                  </a:lnTo>
                  <a:lnTo>
                    <a:pt x="2700" y="0"/>
                  </a:lnTo>
                  <a:lnTo>
                    <a:pt x="2160" y="72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PE"/>
            </a:p>
          </p:txBody>
        </p:sp>
        <p:sp>
          <p:nvSpPr>
            <p:cNvPr id="49" name="Freeform 4"/>
            <p:cNvSpPr>
              <a:spLocks/>
            </p:cNvSpPr>
            <p:nvPr/>
          </p:nvSpPr>
          <p:spPr bwMode="auto">
            <a:xfrm>
              <a:off x="5193" y="3843"/>
              <a:ext cx="540" cy="1260"/>
            </a:xfrm>
            <a:custGeom>
              <a:avLst/>
              <a:gdLst>
                <a:gd name="T0" fmla="*/ 0 w 540"/>
                <a:gd name="T1" fmla="*/ 1260 h 1260"/>
                <a:gd name="T2" fmla="*/ 540 w 540"/>
                <a:gd name="T3" fmla="*/ 540 h 1260"/>
                <a:gd name="T4" fmla="*/ 540 w 540"/>
                <a:gd name="T5" fmla="*/ 0 h 1260"/>
              </a:gdLst>
              <a:ahLst/>
              <a:cxnLst>
                <a:cxn ang="0">
                  <a:pos x="T0" y="T1"/>
                </a:cxn>
                <a:cxn ang="0">
                  <a:pos x="T2" y="T3"/>
                </a:cxn>
                <a:cxn ang="0">
                  <a:pos x="T4" y="T5"/>
                </a:cxn>
              </a:cxnLst>
              <a:rect l="0" t="0" r="r" b="b"/>
              <a:pathLst>
                <a:path w="540" h="1260">
                  <a:moveTo>
                    <a:pt x="0" y="1260"/>
                  </a:moveTo>
                  <a:lnTo>
                    <a:pt x="540" y="540"/>
                  </a:lnTo>
                  <a:lnTo>
                    <a:pt x="54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s-PE"/>
            </a:p>
          </p:txBody>
        </p:sp>
        <p:cxnSp>
          <p:nvCxnSpPr>
            <p:cNvPr id="50" name="Line 5"/>
            <p:cNvCxnSpPr>
              <a:cxnSpLocks noChangeShapeType="1"/>
            </p:cNvCxnSpPr>
            <p:nvPr/>
          </p:nvCxnSpPr>
          <p:spPr bwMode="auto">
            <a:xfrm>
              <a:off x="5553" y="4398"/>
              <a:ext cx="1080" cy="0"/>
            </a:xfrm>
            <a:prstGeom prst="line">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1" name="Line 6"/>
            <p:cNvCxnSpPr>
              <a:cxnSpLocks noChangeShapeType="1"/>
            </p:cNvCxnSpPr>
            <p:nvPr/>
          </p:nvCxnSpPr>
          <p:spPr bwMode="auto">
            <a:xfrm>
              <a:off x="2133" y="4383"/>
              <a:ext cx="1080" cy="0"/>
            </a:xfrm>
            <a:prstGeom prst="line">
              <a:avLst/>
            </a:prstGeom>
            <a:noFill/>
            <a:ln w="76200">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52" name="Text Box 7"/>
            <p:cNvSpPr txBox="1">
              <a:spLocks noChangeArrowheads="1"/>
            </p:cNvSpPr>
            <p:nvPr/>
          </p:nvSpPr>
          <p:spPr bwMode="auto">
            <a:xfrm>
              <a:off x="4833" y="3933"/>
              <a:ext cx="54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a:effectLst/>
                  <a:latin typeface="Times New Roman" panose="02020603050405020304" pitchFamily="18" charset="0"/>
                  <a:ea typeface="Times New Roman" panose="02020603050405020304" pitchFamily="18" charset="0"/>
                </a:rPr>
                <a:t>a</a:t>
              </a:r>
              <a:endParaRPr lang="es-PE" sz="1200">
                <a:effectLst/>
                <a:latin typeface="Times New Roman" panose="02020603050405020304" pitchFamily="18" charset="0"/>
                <a:ea typeface="Times New Roman" panose="02020603050405020304" pitchFamily="18" charset="0"/>
              </a:endParaRPr>
            </a:p>
          </p:txBody>
        </p:sp>
        <p:sp>
          <p:nvSpPr>
            <p:cNvPr id="53" name="Text Box 8"/>
            <p:cNvSpPr txBox="1">
              <a:spLocks noChangeArrowheads="1"/>
            </p:cNvSpPr>
            <p:nvPr/>
          </p:nvSpPr>
          <p:spPr bwMode="auto">
            <a:xfrm>
              <a:off x="3753" y="4593"/>
              <a:ext cx="54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dirty="0" smtClean="0">
                  <a:effectLst/>
                  <a:latin typeface="Times New Roman" panose="02020603050405020304" pitchFamily="18" charset="0"/>
                  <a:ea typeface="Times New Roman" panose="02020603050405020304" pitchFamily="18" charset="0"/>
                </a:rPr>
                <a:t>h</a:t>
              </a:r>
              <a:endParaRPr lang="es-PE" sz="1200" dirty="0">
                <a:effectLst/>
                <a:latin typeface="Times New Roman" panose="02020603050405020304" pitchFamily="18" charset="0"/>
                <a:ea typeface="Times New Roman" panose="02020603050405020304" pitchFamily="18" charset="0"/>
              </a:endParaRPr>
            </a:p>
          </p:txBody>
        </p:sp>
        <p:sp>
          <p:nvSpPr>
            <p:cNvPr id="54" name="Text Box 9"/>
            <p:cNvSpPr txBox="1">
              <a:spLocks noChangeArrowheads="1"/>
            </p:cNvSpPr>
            <p:nvPr/>
          </p:nvSpPr>
          <p:spPr bwMode="auto">
            <a:xfrm>
              <a:off x="4473" y="3378"/>
              <a:ext cx="54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i="1" dirty="0" smtClean="0">
                  <a:effectLst/>
                  <a:latin typeface="Times New Roman" panose="02020603050405020304" pitchFamily="18" charset="0"/>
                  <a:ea typeface="Times New Roman" panose="02020603050405020304" pitchFamily="18" charset="0"/>
                </a:rPr>
                <a:t>l</a:t>
              </a:r>
              <a:endParaRPr lang="es-PE" sz="1200" dirty="0">
                <a:effectLst/>
                <a:latin typeface="Times New Roman" panose="02020603050405020304" pitchFamily="18" charset="0"/>
                <a:ea typeface="Times New Roman" panose="02020603050405020304" pitchFamily="18" charset="0"/>
              </a:endParaRPr>
            </a:p>
          </p:txBody>
        </p:sp>
        <p:cxnSp>
          <p:nvCxnSpPr>
            <p:cNvPr id="55" name="Line 10"/>
            <p:cNvCxnSpPr>
              <a:cxnSpLocks noChangeShapeType="1"/>
            </p:cNvCxnSpPr>
            <p:nvPr/>
          </p:nvCxnSpPr>
          <p:spPr bwMode="auto">
            <a:xfrm>
              <a:off x="3753" y="3483"/>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6" name="Line 11"/>
            <p:cNvCxnSpPr>
              <a:cxnSpLocks noChangeShapeType="1"/>
            </p:cNvCxnSpPr>
            <p:nvPr/>
          </p:nvCxnSpPr>
          <p:spPr bwMode="auto">
            <a:xfrm>
              <a:off x="5733" y="3483"/>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7" name="Line 12"/>
            <p:cNvCxnSpPr>
              <a:cxnSpLocks noChangeShapeType="1"/>
            </p:cNvCxnSpPr>
            <p:nvPr/>
          </p:nvCxnSpPr>
          <p:spPr bwMode="auto">
            <a:xfrm>
              <a:off x="4833" y="3663"/>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8" name="Line 13"/>
            <p:cNvCxnSpPr>
              <a:cxnSpLocks noChangeShapeType="1"/>
            </p:cNvCxnSpPr>
            <p:nvPr/>
          </p:nvCxnSpPr>
          <p:spPr bwMode="auto">
            <a:xfrm flipH="1">
              <a:off x="3753" y="3663"/>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9" name="Line 14"/>
            <p:cNvCxnSpPr>
              <a:cxnSpLocks noChangeShapeType="1"/>
            </p:cNvCxnSpPr>
            <p:nvPr/>
          </p:nvCxnSpPr>
          <p:spPr bwMode="auto">
            <a:xfrm>
              <a:off x="3933" y="4203"/>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0" name="Line 15"/>
            <p:cNvCxnSpPr>
              <a:cxnSpLocks noChangeShapeType="1"/>
            </p:cNvCxnSpPr>
            <p:nvPr/>
          </p:nvCxnSpPr>
          <p:spPr bwMode="auto">
            <a:xfrm flipV="1">
              <a:off x="3933" y="5103"/>
              <a:ext cx="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 name="Line 16"/>
            <p:cNvCxnSpPr>
              <a:cxnSpLocks noChangeShapeType="1"/>
            </p:cNvCxnSpPr>
            <p:nvPr/>
          </p:nvCxnSpPr>
          <p:spPr bwMode="auto">
            <a:xfrm flipV="1">
              <a:off x="5193" y="3843"/>
              <a:ext cx="180" cy="1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 name="Line 17"/>
            <p:cNvCxnSpPr>
              <a:cxnSpLocks noChangeShapeType="1"/>
            </p:cNvCxnSpPr>
            <p:nvPr/>
          </p:nvCxnSpPr>
          <p:spPr bwMode="auto">
            <a:xfrm flipV="1">
              <a:off x="4653" y="4383"/>
              <a:ext cx="180" cy="18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63" name="Text Box 18"/>
            <p:cNvSpPr txBox="1">
              <a:spLocks noChangeArrowheads="1"/>
            </p:cNvSpPr>
            <p:nvPr/>
          </p:nvSpPr>
          <p:spPr bwMode="auto">
            <a:xfrm>
              <a:off x="1953" y="3843"/>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i="1">
                  <a:effectLst/>
                  <a:latin typeface="Times New Roman" panose="02020603050405020304" pitchFamily="18" charset="0"/>
                  <a:ea typeface="Times New Roman" panose="02020603050405020304" pitchFamily="18" charset="0"/>
                </a:rPr>
                <a:t>F</a:t>
              </a:r>
              <a:r>
                <a:rPr lang="es-ES" sz="1200" b="1" i="1" baseline="-25000">
                  <a:effectLst/>
                  <a:latin typeface="Times New Roman" panose="02020603050405020304" pitchFamily="18" charset="0"/>
                  <a:ea typeface="Times New Roman" panose="02020603050405020304" pitchFamily="18" charset="0"/>
                </a:rPr>
                <a:t>n</a:t>
              </a:r>
              <a:endParaRPr lang="es-PE" sz="1200">
                <a:effectLst/>
                <a:latin typeface="Times New Roman" panose="02020603050405020304" pitchFamily="18" charset="0"/>
                <a:ea typeface="Times New Roman" panose="02020603050405020304" pitchFamily="18" charset="0"/>
              </a:endParaRPr>
            </a:p>
          </p:txBody>
        </p:sp>
        <p:sp>
          <p:nvSpPr>
            <p:cNvPr id="64" name="Text Box 19"/>
            <p:cNvSpPr txBox="1">
              <a:spLocks noChangeArrowheads="1"/>
            </p:cNvSpPr>
            <p:nvPr/>
          </p:nvSpPr>
          <p:spPr bwMode="auto">
            <a:xfrm>
              <a:off x="6453" y="3843"/>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nSpc>
                  <a:spcPts val="1800"/>
                </a:lnSpc>
                <a:spcBef>
                  <a:spcPts val="480"/>
                </a:spcBef>
                <a:spcAft>
                  <a:spcPts val="0"/>
                </a:spcAft>
              </a:pPr>
              <a:r>
                <a:rPr lang="es-ES" sz="1200" b="1" i="1">
                  <a:effectLst/>
                  <a:latin typeface="Times New Roman" panose="02020603050405020304" pitchFamily="18" charset="0"/>
                  <a:ea typeface="Times New Roman" panose="02020603050405020304" pitchFamily="18" charset="0"/>
                </a:rPr>
                <a:t>F</a:t>
              </a:r>
              <a:r>
                <a:rPr lang="es-ES" sz="1200" b="1" i="1" baseline="-25000">
                  <a:effectLst/>
                  <a:latin typeface="Times New Roman" panose="02020603050405020304" pitchFamily="18" charset="0"/>
                  <a:ea typeface="Times New Roman" panose="02020603050405020304" pitchFamily="18" charset="0"/>
                </a:rPr>
                <a:t>n</a:t>
              </a:r>
              <a:endParaRPr lang="es-PE" sz="1200">
                <a:effectLst/>
                <a:latin typeface="Times New Roman" panose="02020603050405020304" pitchFamily="18" charset="0"/>
                <a:ea typeface="Times New Roman" panose="02020603050405020304" pitchFamily="18" charset="0"/>
              </a:endParaRPr>
            </a:p>
          </p:txBody>
        </p:sp>
        <p:sp>
          <p:nvSpPr>
            <p:cNvPr id="65" name="Text Box 22545"/>
            <p:cNvSpPr txBox="1">
              <a:spLocks noChangeArrowheads="1"/>
            </p:cNvSpPr>
            <p:nvPr/>
          </p:nvSpPr>
          <p:spPr bwMode="auto">
            <a:xfrm>
              <a:off x="3033" y="5463"/>
              <a:ext cx="308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prstDash val="dash"/>
                  <a:miter lim="800000"/>
                  <a:headEnd/>
                  <a:tailEnd/>
                </a14:hiddenLine>
              </a:ext>
            </a:extLst>
          </p:spPr>
          <p:txBody>
            <a:bodyPr rot="0" vert="horz" wrap="square" lIns="91440" tIns="45720" rIns="91440" bIns="45720" anchor="t" anchorCtr="0" upright="1">
              <a:noAutofit/>
            </a:bodyPr>
            <a:lstStyle/>
            <a:p>
              <a:pPr algn="ctr">
                <a:lnSpc>
                  <a:spcPts val="1800"/>
                </a:lnSpc>
                <a:spcBef>
                  <a:spcPts val="480"/>
                </a:spcBef>
                <a:spcAft>
                  <a:spcPts val="0"/>
                </a:spcAft>
              </a:pPr>
              <a:r>
                <a:rPr lang="es-ES_tradnl" sz="1000" dirty="0" smtClean="0">
                  <a:effectLst/>
                  <a:latin typeface="Times New Roman" panose="02020603050405020304" pitchFamily="18" charset="0"/>
                  <a:ea typeface="Times New Roman" panose="02020603050405020304" pitchFamily="18" charset="0"/>
                </a:rPr>
                <a:t>Muestra, probeta o testigo</a:t>
              </a:r>
              <a:endParaRPr lang="es-PE" sz="1200" dirty="0">
                <a:effectLst/>
                <a:latin typeface="Times New Roman" panose="02020603050405020304" pitchFamily="18" charset="0"/>
                <a:ea typeface="Times New Roman" panose="02020603050405020304" pitchFamily="18" charset="0"/>
              </a:endParaRPr>
            </a:p>
          </p:txBody>
        </p:sp>
      </p:grpSp>
      <p:sp>
        <p:nvSpPr>
          <p:cNvPr id="3" name="CuadroTexto 2"/>
          <p:cNvSpPr txBox="1"/>
          <p:nvPr/>
        </p:nvSpPr>
        <p:spPr>
          <a:xfrm>
            <a:off x="4966279" y="1567080"/>
            <a:ext cx="4867182" cy="646331"/>
          </a:xfrm>
          <a:prstGeom prst="rect">
            <a:avLst/>
          </a:prstGeom>
          <a:noFill/>
        </p:spPr>
        <p:txBody>
          <a:bodyPr wrap="square" rtlCol="0">
            <a:spAutoFit/>
          </a:bodyPr>
          <a:lstStyle/>
          <a:p>
            <a:pPr lvl="0" algn="just" eaLnBrk="0" hangingPunct="0">
              <a:spcBef>
                <a:spcPct val="0"/>
              </a:spcBef>
            </a:pPr>
            <a:r>
              <a:rPr lang="es-MX" dirty="0">
                <a:solidFill>
                  <a:sysClr val="windowText" lastClr="000000"/>
                </a:solidFill>
                <a:latin typeface="Arial" panose="020B0604020202020204" pitchFamily="34" charset="0"/>
                <a:cs typeface="Arial" panose="020B0604020202020204" pitchFamily="34" charset="0"/>
              </a:rPr>
              <a:t>Esta deformación lateral queda cuantificada utilizando el modulo de </a:t>
            </a:r>
            <a:r>
              <a:rPr lang="es-MX" dirty="0" err="1">
                <a:solidFill>
                  <a:sysClr val="windowText" lastClr="000000"/>
                </a:solidFill>
                <a:latin typeface="Arial" panose="020B0604020202020204" pitchFamily="34" charset="0"/>
                <a:cs typeface="Arial" panose="020B0604020202020204" pitchFamily="34" charset="0"/>
              </a:rPr>
              <a:t>Poisson</a:t>
            </a:r>
            <a:r>
              <a:rPr lang="es-MX" dirty="0">
                <a:solidFill>
                  <a:sysClr val="windowText" lastClr="000000"/>
                </a:solidFill>
                <a:latin typeface="Arial" panose="020B0604020202020204" pitchFamily="34" charset="0"/>
                <a:cs typeface="Arial" panose="020B0604020202020204" pitchFamily="34" charset="0"/>
              </a:rPr>
              <a:t> </a:t>
            </a:r>
            <a:r>
              <a:rPr lang="el-GR" dirty="0">
                <a:solidFill>
                  <a:sysClr val="windowText" lastClr="000000"/>
                </a:solidFill>
                <a:latin typeface="Arial" panose="020B0604020202020204" pitchFamily="34" charset="0"/>
                <a:cs typeface="Arial" panose="020B0604020202020204" pitchFamily="34" charset="0"/>
              </a:rPr>
              <a:t>μ</a:t>
            </a:r>
            <a:r>
              <a:rPr lang="es-MX" dirty="0">
                <a:solidFill>
                  <a:sysClr val="windowText" lastClr="000000"/>
                </a:solidFill>
                <a:latin typeface="Arial" panose="020B0604020202020204" pitchFamily="34" charset="0"/>
                <a:cs typeface="Arial" panose="020B0604020202020204" pitchFamily="34" charset="0"/>
              </a:rPr>
              <a:t> </a:t>
            </a:r>
          </a:p>
        </p:txBody>
      </p:sp>
      <mc:AlternateContent xmlns:mc="http://schemas.openxmlformats.org/markup-compatibility/2006" xmlns:a14="http://schemas.microsoft.com/office/drawing/2010/main">
        <mc:Choice Requires="a14">
          <p:sp>
            <p:nvSpPr>
              <p:cNvPr id="4" name="CuadroTexto 3"/>
              <p:cNvSpPr txBox="1"/>
              <p:nvPr/>
            </p:nvSpPr>
            <p:spPr>
              <a:xfrm>
                <a:off x="5733019" y="3835869"/>
                <a:ext cx="3280468" cy="6182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MX" i="1">
                              <a:solidFill>
                                <a:sysClr val="windowText" lastClr="000000"/>
                              </a:solidFill>
                              <a:latin typeface="Cambria Math" panose="02040503050406030204" pitchFamily="18" charset="0"/>
                              <a:cs typeface="Arial" panose="020B0604020202020204" pitchFamily="34" charset="0"/>
                            </a:rPr>
                          </m:ctrlPr>
                        </m:fPr>
                        <m:num>
                          <m:r>
                            <a:rPr lang="es-MX"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h</m:t>
                          </m:r>
                        </m:num>
                        <m:den>
                          <m:r>
                            <a:rPr lang="es-PE" i="1">
                              <a:solidFill>
                                <a:sysClr val="windowText" lastClr="000000"/>
                              </a:solidFill>
                              <a:latin typeface="Cambria Math" panose="02040503050406030204" pitchFamily="18" charset="0"/>
                              <a:cs typeface="Arial" panose="020B0604020202020204" pitchFamily="34" charset="0"/>
                            </a:rPr>
                            <m:t>h</m:t>
                          </m:r>
                        </m:den>
                      </m:f>
                      <m:r>
                        <a:rPr lang="es-PE" i="1">
                          <a:solidFill>
                            <a:sysClr val="windowText" lastClr="000000"/>
                          </a:solidFill>
                          <a:latin typeface="Cambria Math" panose="02040503050406030204" pitchFamily="18" charset="0"/>
                          <a:cs typeface="Arial" panose="020B0604020202020204" pitchFamily="34" charset="0"/>
                        </a:rPr>
                        <m:t>=−</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𝜇</m:t>
                      </m:r>
                      <m:f>
                        <m:fPr>
                          <m:ctrlP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ctrlPr>
                        </m:fPr>
                        <m:num>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𝑙</m:t>
                          </m:r>
                        </m:num>
                        <m:den>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𝑙</m:t>
                          </m:r>
                        </m:den>
                      </m:f>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      </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𝑦</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      </m:t>
                      </m:r>
                      <m:f>
                        <m:fPr>
                          <m:ctrlPr>
                            <a:rPr lang="es-MX" i="1">
                              <a:solidFill>
                                <a:sysClr val="windowText" lastClr="000000"/>
                              </a:solidFill>
                              <a:latin typeface="Cambria Math" panose="02040503050406030204" pitchFamily="18" charset="0"/>
                              <a:cs typeface="Arial" panose="020B0604020202020204" pitchFamily="34" charset="0"/>
                            </a:rPr>
                          </m:ctrlPr>
                        </m:fPr>
                        <m:num>
                          <m:r>
                            <a:rPr lang="es-MX"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𝑎</m:t>
                          </m:r>
                        </m:num>
                        <m:den>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𝑎</m:t>
                          </m:r>
                        </m:den>
                      </m:f>
                      <m:r>
                        <a:rPr lang="es-PE" i="1">
                          <a:solidFill>
                            <a:sysClr val="windowText" lastClr="000000"/>
                          </a:solidFill>
                          <a:latin typeface="Cambria Math" panose="02040503050406030204" pitchFamily="18" charset="0"/>
                          <a:cs typeface="Arial" panose="020B0604020202020204" pitchFamily="34" charset="0"/>
                        </a:rPr>
                        <m:t>=−</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𝜇</m:t>
                      </m:r>
                      <m:f>
                        <m:fPr>
                          <m:ctrlP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ctrlPr>
                        </m:fPr>
                        <m:num>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m:t>
                          </m:r>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𝑙</m:t>
                          </m:r>
                        </m:num>
                        <m:den>
                          <m:r>
                            <a:rPr lang="es-PE"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𝑙</m:t>
                          </m:r>
                        </m:den>
                      </m:f>
                    </m:oMath>
                  </m:oMathPara>
                </a14:m>
                <a:endParaRPr lang="es-PE" dirty="0"/>
              </a:p>
            </p:txBody>
          </p:sp>
        </mc:Choice>
        <mc:Fallback xmlns="">
          <p:sp>
            <p:nvSpPr>
              <p:cNvPr id="4" name="CuadroTexto 3"/>
              <p:cNvSpPr txBox="1">
                <a:spLocks noRot="1" noChangeAspect="1" noMove="1" noResize="1" noEditPoints="1" noAdjustHandles="1" noChangeArrowheads="1" noChangeShapeType="1" noTextEdit="1"/>
              </p:cNvSpPr>
              <p:nvPr/>
            </p:nvSpPr>
            <p:spPr>
              <a:xfrm>
                <a:off x="5733019" y="3835869"/>
                <a:ext cx="3280468" cy="618246"/>
              </a:xfrm>
              <a:prstGeom prst="rect">
                <a:avLst/>
              </a:prstGeom>
              <a:blipFill rotWithShape="0">
                <a:blip r:embed="rId2"/>
                <a:stretch>
                  <a:fillRect/>
                </a:stretch>
              </a:blipFill>
            </p:spPr>
            <p:txBody>
              <a:bodyPr/>
              <a:lstStyle/>
              <a:p>
                <a:r>
                  <a:rPr lang="es-PE">
                    <a:noFill/>
                  </a:rPr>
                  <a:t> </a:t>
                </a:r>
              </a:p>
            </p:txBody>
          </p:sp>
        </mc:Fallback>
      </mc:AlternateContent>
      <p:sp>
        <p:nvSpPr>
          <p:cNvPr id="5" name="Rectángulo 4"/>
          <p:cNvSpPr/>
          <p:nvPr/>
        </p:nvSpPr>
        <p:spPr>
          <a:xfrm>
            <a:off x="4914407" y="4565718"/>
            <a:ext cx="4937145" cy="2031325"/>
          </a:xfrm>
          <a:prstGeom prst="rect">
            <a:avLst/>
          </a:prstGeom>
        </p:spPr>
        <p:txBody>
          <a:bodyPr wrap="square">
            <a:spAutoFit/>
          </a:bodyPr>
          <a:lstStyle/>
          <a:p>
            <a:pPr algn="just"/>
            <a:r>
              <a:rPr lang="es-PE" dirty="0">
                <a:solidFill>
                  <a:srgbClr val="222222"/>
                </a:solidFill>
                <a:latin typeface="Arial" panose="020B0604020202020204" pitchFamily="34" charset="0"/>
              </a:rPr>
              <a:t>Para un material isótropo </a:t>
            </a:r>
            <a:r>
              <a:rPr lang="es-PE" dirty="0" smtClean="0">
                <a:solidFill>
                  <a:srgbClr val="222222"/>
                </a:solidFill>
                <a:latin typeface="Arial" panose="020B0604020202020204" pitchFamily="34" charset="0"/>
              </a:rPr>
              <a:t>elástico perfectamente </a:t>
            </a:r>
            <a:r>
              <a:rPr lang="es-PE" dirty="0">
                <a:solidFill>
                  <a:srgbClr val="222222"/>
                </a:solidFill>
                <a:latin typeface="Arial" panose="020B0604020202020204" pitchFamily="34" charset="0"/>
              </a:rPr>
              <a:t>incompresible, este es igual a 0,5. La mayor parte de los materiales prácticos en la ingeniería rondan entre 0,0 y 0,5, aunque existen algunos materiales compuestos llamados </a:t>
            </a:r>
            <a:r>
              <a:rPr lang="es-PE" u="sng" dirty="0">
                <a:latin typeface="Arial" panose="020B0604020202020204" pitchFamily="34" charset="0"/>
                <a:hlinkClick r:id="rId3" tooltip="Material augético"/>
              </a:rPr>
              <a:t>materiales </a:t>
            </a:r>
            <a:r>
              <a:rPr lang="es-PE" u="sng" dirty="0" err="1">
                <a:latin typeface="Arial" panose="020B0604020202020204" pitchFamily="34" charset="0"/>
                <a:hlinkClick r:id="rId3" tooltip="Material augético"/>
              </a:rPr>
              <a:t>augéticos</a:t>
            </a:r>
            <a:r>
              <a:rPr lang="es-PE" dirty="0">
                <a:solidFill>
                  <a:srgbClr val="222222"/>
                </a:solidFill>
                <a:latin typeface="Arial" panose="020B0604020202020204" pitchFamily="34" charset="0"/>
              </a:rPr>
              <a:t> que tienen coeficiente de </a:t>
            </a:r>
            <a:r>
              <a:rPr lang="es-PE" dirty="0" err="1">
                <a:solidFill>
                  <a:srgbClr val="222222"/>
                </a:solidFill>
                <a:latin typeface="Arial" panose="020B0604020202020204" pitchFamily="34" charset="0"/>
              </a:rPr>
              <a:t>Poisson</a:t>
            </a:r>
            <a:r>
              <a:rPr lang="es-PE" dirty="0">
                <a:solidFill>
                  <a:srgbClr val="222222"/>
                </a:solidFill>
                <a:latin typeface="Arial" panose="020B0604020202020204" pitchFamily="34" charset="0"/>
              </a:rPr>
              <a:t> </a:t>
            </a:r>
            <a:r>
              <a:rPr lang="es-PE" dirty="0" smtClean="0">
                <a:solidFill>
                  <a:srgbClr val="222222"/>
                </a:solidFill>
                <a:latin typeface="Arial" panose="020B0604020202020204" pitchFamily="34" charset="0"/>
              </a:rPr>
              <a:t>negativo.</a:t>
            </a:r>
            <a:endParaRPr lang="es-PE" dirty="0"/>
          </a:p>
        </p:txBody>
      </p:sp>
    </p:spTree>
    <p:extLst>
      <p:ext uri="{BB962C8B-B14F-4D97-AF65-F5344CB8AC3E}">
        <p14:creationId xmlns:p14="http://schemas.microsoft.com/office/powerpoint/2010/main" val="31336455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10" name="Título 1"/>
          <p:cNvSpPr txBox="1">
            <a:spLocks/>
          </p:cNvSpPr>
          <p:nvPr/>
        </p:nvSpPr>
        <p:spPr>
          <a:xfrm>
            <a:off x="1761067" y="885338"/>
            <a:ext cx="6563072" cy="710100"/>
          </a:xfrm>
          <a:prstGeom prst="rect">
            <a:avLst/>
          </a:prstGeom>
        </p:spPr>
        <p:txBody>
          <a:bodyPr vert="horz" wrap="square" lIns="91440" tIns="45720" rIns="91440" bIns="45720" numCol="1" anchor="ctr" anchorCtr="0" compatLnSpc="1">
            <a:prstTxWarp prst="textNoShape">
              <a:avLst/>
            </a:prstTxWarp>
            <a:normAutofit fontScale="97500"/>
          </a:bodyPr>
          <a:lstStyle>
            <a:lvl1pPr algn="l" defTabSz="457200" rtl="0" eaLnBrk="1" fontAlgn="base" hangingPunct="1">
              <a:spcBef>
                <a:spcPct val="0"/>
              </a:spcBef>
              <a:spcAft>
                <a:spcPct val="0"/>
              </a:spcAft>
              <a:defRPr sz="2400" b="0" i="0" u="none" kern="1200" cap="all">
                <a:solidFill>
                  <a:schemeClr val="tx1"/>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s-PE" sz="2400" b="0" i="0" u="none" strike="noStrike" kern="1200" cap="all" spc="0" normalizeH="0" baseline="0" noProof="0" dirty="0">
              <a:ln>
                <a:noFill/>
              </a:ln>
              <a:solidFill>
                <a:sysClr val="windowText" lastClr="000000"/>
              </a:solidFill>
              <a:effectLst/>
              <a:uLnTx/>
              <a:uFillTx/>
              <a:latin typeface="Arial"/>
              <a:ea typeface="ＭＳ Ｐゴシック" charset="-128"/>
            </a:endParaRPr>
          </a:p>
        </p:txBody>
      </p:sp>
      <p:sp>
        <p:nvSpPr>
          <p:cNvPr id="11" name="Marcador de contenido 2"/>
          <p:cNvSpPr txBox="1">
            <a:spLocks/>
          </p:cNvSpPr>
          <p:nvPr/>
        </p:nvSpPr>
        <p:spPr bwMode="auto">
          <a:xfrm>
            <a:off x="470096" y="1740112"/>
            <a:ext cx="4392488" cy="893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Consideremos</a:t>
            </a:r>
            <a:r>
              <a:rPr kumimoji="0" lang="es-PE" sz="1600" b="0" i="0" u="none" strike="noStrike" kern="1200" cap="none" spc="0" normalizeH="0" noProof="0" dirty="0" smtClean="0">
                <a:ln>
                  <a:noFill/>
                </a:ln>
                <a:solidFill>
                  <a:sysClr val="windowText" lastClr="000000"/>
                </a:solidFill>
                <a:effectLst/>
                <a:uLnTx/>
                <a:uFillTx/>
                <a:latin typeface="Arial"/>
                <a:ea typeface="ＭＳ Ｐゴシック" charset="-128"/>
              </a:rPr>
              <a:t> la probeta de la figura afectado por fuerzas conforme muestra la grafica.</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p:sp>
        <p:nvSpPr>
          <p:cNvPr id="14" name="Rectángulo redondeado 13"/>
          <p:cNvSpPr/>
          <p:nvPr/>
        </p:nvSpPr>
        <p:spPr>
          <a:xfrm>
            <a:off x="1603815" y="1014763"/>
            <a:ext cx="6517538" cy="56076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b="1" cap="all" dirty="0" smtClean="0">
                <a:solidFill>
                  <a:sysClr val="windowText" lastClr="000000"/>
                </a:solidFill>
                <a:latin typeface="Arial"/>
                <a:ea typeface="ＭＳ Ｐゴシック" charset="-128"/>
              </a:rPr>
              <a:t>Ecuación de </a:t>
            </a:r>
            <a:r>
              <a:rPr lang="es-PE" sz="2400" b="1" cap="all" dirty="0" err="1" smtClean="0">
                <a:solidFill>
                  <a:sysClr val="windowText" lastClr="000000"/>
                </a:solidFill>
                <a:latin typeface="Arial"/>
                <a:ea typeface="ＭＳ Ｐゴシック" charset="-128"/>
              </a:rPr>
              <a:t>hook</a:t>
            </a:r>
            <a:r>
              <a:rPr lang="es-PE" sz="2400" b="1" cap="all" dirty="0" smtClean="0">
                <a:solidFill>
                  <a:sysClr val="windowText" lastClr="000000"/>
                </a:solidFill>
                <a:latin typeface="Arial"/>
                <a:ea typeface="ＭＳ Ｐゴシック" charset="-128"/>
              </a:rPr>
              <a:t> generalizada</a:t>
            </a:r>
            <a:endParaRPr lang="es-PE" sz="2800" dirty="0">
              <a:solidFill>
                <a:schemeClr val="tx1"/>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544" y="2393548"/>
            <a:ext cx="3505689" cy="1876687"/>
          </a:xfrm>
          <a:prstGeom prst="rect">
            <a:avLst/>
          </a:prstGeom>
        </p:spPr>
      </p:pic>
      <p:sp>
        <p:nvSpPr>
          <p:cNvPr id="15" name="Marcador de contenido 2"/>
          <p:cNvSpPr txBox="1">
            <a:spLocks/>
          </p:cNvSpPr>
          <p:nvPr/>
        </p:nvSpPr>
        <p:spPr bwMode="auto">
          <a:xfrm>
            <a:off x="501127" y="4062627"/>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Para l tenemos que la deformación total seria:</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5" name="CuadroTexto 4"/>
              <p:cNvSpPr txBox="1"/>
              <p:nvPr/>
            </p:nvSpPr>
            <p:spPr>
              <a:xfrm>
                <a:off x="6249144" y="2287286"/>
                <a:ext cx="1509259" cy="5318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h</m:t>
                              </m:r>
                            </m:e>
                            <m:sub>
                              <m:r>
                                <a:rPr lang="es-PE" b="0" i="1" smtClean="0">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h</m:t>
                          </m:r>
                        </m:den>
                      </m:f>
                      <m:r>
                        <a:rPr lang="es-PE" b="0" i="0" smtClean="0">
                          <a:latin typeface="Cambria Math" panose="02040503050406030204" pitchFamily="18" charset="0"/>
                        </a:rPr>
                        <m:t>=−</m:t>
                      </m:r>
                      <m:d>
                        <m:dPr>
                          <m:ctrlPr>
                            <a:rPr lang="el-GR" b="0" i="1" smtClean="0">
                              <a:latin typeface="Cambria Math" panose="02040503050406030204" pitchFamily="18" charset="0"/>
                              <a:ea typeface="Cambria Math" panose="02040503050406030204" pitchFamily="18" charset="0"/>
                            </a:rPr>
                          </m:ctrlPr>
                        </m:dPr>
                        <m:e>
                          <m:f>
                            <m:fPr>
                              <m:ctrlPr>
                                <a:rPr lang="el-GR" b="0" i="1" smtClean="0">
                                  <a:latin typeface="Cambria Math" panose="02040503050406030204" pitchFamily="18" charset="0"/>
                                  <a:ea typeface="Cambria Math" panose="02040503050406030204" pitchFamily="18" charset="0"/>
                                </a:rPr>
                              </m:ctrlPr>
                            </m:fPr>
                            <m:num>
                              <m:sSub>
                                <m:sSubPr>
                                  <m:ctrlPr>
                                    <a:rPr lang="el-GR" b="0"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𝑌𝑎𝑙</m:t>
                              </m:r>
                            </m:den>
                          </m:f>
                        </m:e>
                      </m:d>
                    </m:oMath>
                  </m:oMathPara>
                </a14:m>
                <a:endParaRPr lang="es-PE" dirty="0"/>
              </a:p>
            </p:txBody>
          </p:sp>
        </mc:Choice>
        <mc:Fallback xmlns="">
          <p:sp>
            <p:nvSpPr>
              <p:cNvPr id="5" name="CuadroTexto 4"/>
              <p:cNvSpPr txBox="1">
                <a:spLocks noRot="1" noChangeAspect="1" noMove="1" noResize="1" noEditPoints="1" noAdjustHandles="1" noChangeArrowheads="1" noChangeShapeType="1" noTextEdit="1"/>
              </p:cNvSpPr>
              <p:nvPr/>
            </p:nvSpPr>
            <p:spPr>
              <a:xfrm>
                <a:off x="6249144" y="2287286"/>
                <a:ext cx="1509259" cy="531812"/>
              </a:xfrm>
              <a:prstGeom prst="rect">
                <a:avLst/>
              </a:prstGeom>
              <a:blipFill rotWithShape="0">
                <a:blip r:embed="rId3"/>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6" name="CuadroTexto 15"/>
              <p:cNvSpPr txBox="1"/>
              <p:nvPr/>
            </p:nvSpPr>
            <p:spPr>
              <a:xfrm>
                <a:off x="992560" y="5121740"/>
                <a:ext cx="2977417"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𝑙</m:t>
                              </m:r>
                            </m:e>
                            <m:sub>
                              <m:r>
                                <a:rPr lang="es-PE" b="0" i="1" smtClean="0">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rPr>
                            <m:t>𝑙</m:t>
                          </m:r>
                        </m:den>
                      </m:f>
                      <m:r>
                        <a:rPr lang="es-PE" b="0" i="0"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d>
                        <m:dPr>
                          <m:ctrlPr>
                            <a:rPr lang="el-GR" b="0" i="1" smtClean="0">
                              <a:latin typeface="Cambria Math" panose="02040503050406030204" pitchFamily="18" charset="0"/>
                              <a:ea typeface="Cambria Math" panose="02040503050406030204" pitchFamily="18" charset="0"/>
                            </a:rPr>
                          </m:ctrlPr>
                        </m:dPr>
                        <m:e>
                          <m:f>
                            <m:fPr>
                              <m:ctrlPr>
                                <a:rPr lang="el-GR"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h</m:t>
                              </m:r>
                            </m:num>
                            <m:den>
                              <m:r>
                                <a:rPr lang="es-PE" b="0" i="1" smtClean="0">
                                  <a:latin typeface="Cambria Math" panose="02040503050406030204" pitchFamily="18" charset="0"/>
                                  <a:ea typeface="Cambria Math" panose="02040503050406030204" pitchFamily="18" charset="0"/>
                                </a:rPr>
                                <m:t>h</m:t>
                              </m:r>
                            </m:den>
                          </m:f>
                        </m:e>
                      </m:d>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𝜇</m:t>
                      </m:r>
                      <m:d>
                        <m:dPr>
                          <m:ctrlPr>
                            <a:rPr lang="es-PE" b="0" i="1" smtClean="0">
                              <a:latin typeface="Cambria Math" panose="02040503050406030204" pitchFamily="18" charset="0"/>
                              <a:ea typeface="Cambria Math" panose="02040503050406030204" pitchFamily="18" charset="0"/>
                            </a:rPr>
                          </m:ctrlPr>
                        </m:dPr>
                        <m:e>
                          <m:r>
                            <a:rPr lang="es-PE" b="0" i="1" smtClean="0">
                              <a:latin typeface="Cambria Math" panose="02040503050406030204" pitchFamily="18" charset="0"/>
                              <a:ea typeface="Cambria Math" panose="02040503050406030204" pitchFamily="18" charset="0"/>
                            </a:rPr>
                            <m:t>−</m:t>
                          </m:r>
                          <m:f>
                            <m:fPr>
                              <m:ctrlPr>
                                <a:rPr lang="es-PE" b="0" i="1" smtClean="0">
                                  <a:latin typeface="Cambria Math" panose="02040503050406030204" pitchFamily="18" charset="0"/>
                                  <a:ea typeface="Cambria Math" panose="02040503050406030204" pitchFamily="18" charset="0"/>
                                </a:rPr>
                              </m:ctrlPr>
                            </m:fPr>
                            <m:num>
                              <m:sSub>
                                <m:sSubPr>
                                  <m:ctrlPr>
                                    <a:rPr lang="es-PE" b="0"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𝑌𝑎𝑙</m:t>
                              </m:r>
                            </m:den>
                          </m:f>
                        </m:e>
                      </m:d>
                    </m:oMath>
                  </m:oMathPara>
                </a14:m>
                <a:endParaRPr lang="es-PE" dirty="0"/>
              </a:p>
            </p:txBody>
          </p:sp>
        </mc:Choice>
        <mc:Fallback xmlns="">
          <p:sp>
            <p:nvSpPr>
              <p:cNvPr id="16" name="CuadroTexto 15"/>
              <p:cNvSpPr txBox="1">
                <a:spLocks noRot="1" noChangeAspect="1" noMove="1" noResize="1" noEditPoints="1" noAdjustHandles="1" noChangeArrowheads="1" noChangeShapeType="1" noTextEdit="1"/>
              </p:cNvSpPr>
              <p:nvPr/>
            </p:nvSpPr>
            <p:spPr>
              <a:xfrm>
                <a:off x="992560" y="5121740"/>
                <a:ext cx="2977417" cy="622350"/>
              </a:xfrm>
              <a:prstGeom prst="rect">
                <a:avLst/>
              </a:prstGeom>
              <a:blipFill rotWithShape="0">
                <a:blip r:embed="rId4"/>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601104" y="5930731"/>
                <a:ext cx="3303853"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𝑎</m:t>
                          </m:r>
                        </m:num>
                        <m:den>
                          <m:r>
                            <a:rPr lang="es-PE" b="0" i="1" smtClean="0">
                              <a:latin typeface="Cambria Math" panose="02040503050406030204" pitchFamily="18" charset="0"/>
                              <a:ea typeface="Cambria Math" panose="02040503050406030204" pitchFamily="18" charset="0"/>
                            </a:rPr>
                            <m:t>𝑎</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sSub>
                            <m:sSubPr>
                              <m:ctrlPr>
                                <a:rPr lang="es-PE" i="1">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𝑎</m:t>
                              </m:r>
                            </m:e>
                            <m:sub>
                              <m:r>
                                <a:rPr lang="es-PE" i="1">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𝑎</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sSub>
                            <m:sSubPr>
                              <m:ctrlPr>
                                <a:rPr lang="es-PE" i="1">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𝑎</m:t>
                              </m:r>
                            </m:e>
                            <m:sub>
                              <m:r>
                                <a:rPr lang="es-PE" i="1">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𝑎</m:t>
                          </m:r>
                        </m:den>
                      </m:f>
                      <m:r>
                        <a:rPr lang="es-PE" b="0" i="1" smtClean="0">
                          <a:latin typeface="Cambria Math" panose="02040503050406030204" pitchFamily="18" charset="0"/>
                        </a:rPr>
                        <m:t>=</m:t>
                      </m:r>
                      <m:r>
                        <a:rPr lang="es-PE" i="1" smtClean="0">
                          <a:latin typeface="Cambria Math" panose="02040503050406030204" pitchFamily="18" charset="0"/>
                          <a:ea typeface="Cambria Math" panose="02040503050406030204" pitchFamily="18" charset="0"/>
                        </a:rPr>
                        <m:t>𝜇</m:t>
                      </m:r>
                      <m:f>
                        <m:fPr>
                          <m:ctrlPr>
                            <a:rPr lang="el-GR" i="1">
                              <a:latin typeface="Cambria Math" panose="02040503050406030204" pitchFamily="18" charset="0"/>
                              <a:ea typeface="Cambria Math" panose="02040503050406030204" pitchFamily="18" charset="0"/>
                            </a:rPr>
                          </m:ctrlPr>
                        </m:fPr>
                        <m:num>
                          <m:sSub>
                            <m:sSubPr>
                              <m:ctrlPr>
                                <a:rPr lang="el-GR"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i="1">
                                  <a:latin typeface="Cambria Math" panose="02040503050406030204" pitchFamily="18" charset="0"/>
                                  <a:ea typeface="Cambria Math" panose="02040503050406030204" pitchFamily="18" charset="0"/>
                                </a:rPr>
                                <m:t>1</m:t>
                              </m:r>
                            </m:sub>
                          </m:sSub>
                        </m:num>
                        <m:den>
                          <m:r>
                            <a:rPr lang="es-PE" i="1">
                              <a:latin typeface="Cambria Math" panose="02040503050406030204" pitchFamily="18" charset="0"/>
                              <a:ea typeface="Cambria Math" panose="02040503050406030204" pitchFamily="18" charset="0"/>
                            </a:rPr>
                            <m:t>𝑌𝑎h</m:t>
                          </m:r>
                        </m:den>
                      </m:f>
                      <m:r>
                        <a:rPr lang="es-PE"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f>
                        <m:fPr>
                          <m:ctrlPr>
                            <a:rPr lang="es-PE" i="1">
                              <a:latin typeface="Cambria Math" panose="02040503050406030204" pitchFamily="18" charset="0"/>
                              <a:ea typeface="Cambria Math" panose="02040503050406030204" pitchFamily="18" charset="0"/>
                            </a:rPr>
                          </m:ctrlPr>
                        </m:fPr>
                        <m:num>
                          <m:sSub>
                            <m:sSubPr>
                              <m:ctrlPr>
                                <a:rPr lang="es-PE"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i="1">
                                  <a:latin typeface="Cambria Math" panose="02040503050406030204" pitchFamily="18" charset="0"/>
                                  <a:ea typeface="Cambria Math" panose="02040503050406030204" pitchFamily="18" charset="0"/>
                                </a:rPr>
                                <m:t>2</m:t>
                              </m:r>
                            </m:sub>
                          </m:sSub>
                        </m:num>
                        <m:den>
                          <m:r>
                            <a:rPr lang="es-PE" i="1">
                              <a:latin typeface="Cambria Math" panose="02040503050406030204" pitchFamily="18" charset="0"/>
                              <a:ea typeface="Cambria Math" panose="02040503050406030204" pitchFamily="18" charset="0"/>
                            </a:rPr>
                            <m:t>𝑌𝑎𝑙</m:t>
                          </m:r>
                        </m:den>
                      </m:f>
                    </m:oMath>
                  </m:oMathPara>
                </a14:m>
                <a:endParaRPr lang="es-PE"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5601104" y="5930731"/>
                <a:ext cx="3303853" cy="520399"/>
              </a:xfrm>
              <a:prstGeom prst="rect">
                <a:avLst/>
              </a:prstGeom>
              <a:blipFill rotWithShape="0">
                <a:blip r:embed="rId5"/>
                <a:stretch>
                  <a:fillRect/>
                </a:stretch>
              </a:blipFill>
            </p:spPr>
            <p:txBody>
              <a:bodyPr/>
              <a:lstStyle/>
              <a:p>
                <a:r>
                  <a:rPr lang="es-PE">
                    <a:noFill/>
                  </a:rPr>
                  <a:t> </a:t>
                </a:r>
              </a:p>
            </p:txBody>
          </p:sp>
        </mc:Fallback>
      </mc:AlternateContent>
      <p:sp>
        <p:nvSpPr>
          <p:cNvPr id="12" name="Marcador de contenido 2"/>
          <p:cNvSpPr txBox="1">
            <a:spLocks/>
          </p:cNvSpPr>
          <p:nvPr/>
        </p:nvSpPr>
        <p:spPr bwMode="auto">
          <a:xfrm>
            <a:off x="5241032" y="1740606"/>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Para h tenemos que la deformación total seria:</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13" name="CuadroTexto 12"/>
              <p:cNvSpPr txBox="1"/>
              <p:nvPr/>
            </p:nvSpPr>
            <p:spPr>
              <a:xfrm>
                <a:off x="1761067" y="4536641"/>
                <a:ext cx="1505925" cy="5318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𝑙</m:t>
                              </m:r>
                            </m:e>
                            <m:sub>
                              <m:r>
                                <a:rPr lang="es-PE" b="0" i="1" smtClean="0">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rPr>
                            <m:t>𝑙</m:t>
                          </m:r>
                        </m:den>
                      </m:f>
                      <m:r>
                        <a:rPr lang="es-PE" b="0" i="0" smtClean="0">
                          <a:latin typeface="Cambria Math" panose="02040503050406030204" pitchFamily="18" charset="0"/>
                        </a:rPr>
                        <m:t>=−</m:t>
                      </m:r>
                      <m:d>
                        <m:dPr>
                          <m:ctrlPr>
                            <a:rPr lang="el-GR" b="0" i="1" smtClean="0">
                              <a:latin typeface="Cambria Math" panose="02040503050406030204" pitchFamily="18" charset="0"/>
                              <a:ea typeface="Cambria Math" panose="02040503050406030204" pitchFamily="18" charset="0"/>
                            </a:rPr>
                          </m:ctrlPr>
                        </m:dPr>
                        <m:e>
                          <m:f>
                            <m:fPr>
                              <m:ctrlPr>
                                <a:rPr lang="el-GR" b="0" i="1" smtClean="0">
                                  <a:latin typeface="Cambria Math" panose="02040503050406030204" pitchFamily="18" charset="0"/>
                                  <a:ea typeface="Cambria Math" panose="02040503050406030204" pitchFamily="18" charset="0"/>
                                </a:rPr>
                              </m:ctrlPr>
                            </m:fPr>
                            <m:num>
                              <m:sSub>
                                <m:sSubPr>
                                  <m:ctrlPr>
                                    <a:rPr lang="el-GR" b="0"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𝑌𝑎h</m:t>
                              </m:r>
                            </m:den>
                          </m:f>
                        </m:e>
                      </m:d>
                    </m:oMath>
                  </m:oMathPara>
                </a14:m>
                <a:endParaRPr lang="es-PE"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1761067" y="4536641"/>
                <a:ext cx="1505925" cy="531812"/>
              </a:xfrm>
              <a:prstGeom prst="rect">
                <a:avLst/>
              </a:prstGeom>
              <a:blipFill rotWithShape="0">
                <a:blip r:embed="rId6"/>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8" name="CuadroTexto 17"/>
              <p:cNvSpPr txBox="1"/>
              <p:nvPr/>
            </p:nvSpPr>
            <p:spPr>
              <a:xfrm>
                <a:off x="5673080" y="2938208"/>
                <a:ext cx="303352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h</m:t>
                              </m:r>
                            </m:e>
                            <m:sub>
                              <m:r>
                                <a:rPr lang="es-PE" b="0" i="1" smtClean="0">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h</m:t>
                          </m:r>
                        </m:den>
                      </m:f>
                      <m:r>
                        <a:rPr lang="es-PE" b="0" i="0"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d>
                        <m:dPr>
                          <m:ctrlPr>
                            <a:rPr lang="el-GR" b="0" i="1" smtClean="0">
                              <a:latin typeface="Cambria Math" panose="02040503050406030204" pitchFamily="18" charset="0"/>
                              <a:ea typeface="Cambria Math" panose="02040503050406030204" pitchFamily="18" charset="0"/>
                            </a:rPr>
                          </m:ctrlPr>
                        </m:dPr>
                        <m:e>
                          <m:f>
                            <m:fPr>
                              <m:ctrlPr>
                                <a:rPr lang="el-GR"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𝑙</m:t>
                              </m:r>
                            </m:num>
                            <m:den>
                              <m:r>
                                <a:rPr lang="es-ES" b="0" i="1" smtClean="0">
                                  <a:latin typeface="Cambria Math" panose="02040503050406030204" pitchFamily="18" charset="0"/>
                                  <a:ea typeface="Cambria Math" panose="02040503050406030204" pitchFamily="18" charset="0"/>
                                </a:rPr>
                                <m:t>𝑙</m:t>
                              </m:r>
                            </m:den>
                          </m:f>
                        </m:e>
                      </m:d>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𝜇</m:t>
                      </m:r>
                      <m:d>
                        <m:dPr>
                          <m:ctrlPr>
                            <a:rPr lang="es-PE" b="0" i="1" smtClean="0">
                              <a:latin typeface="Cambria Math" panose="02040503050406030204" pitchFamily="18" charset="0"/>
                              <a:ea typeface="Cambria Math" panose="02040503050406030204" pitchFamily="18" charset="0"/>
                            </a:rPr>
                          </m:ctrlPr>
                        </m:dPr>
                        <m:e>
                          <m:r>
                            <a:rPr lang="es-PE" b="0" i="1" smtClean="0">
                              <a:latin typeface="Cambria Math" panose="02040503050406030204" pitchFamily="18" charset="0"/>
                              <a:ea typeface="Cambria Math" panose="02040503050406030204" pitchFamily="18" charset="0"/>
                            </a:rPr>
                            <m:t>−</m:t>
                          </m:r>
                          <m:f>
                            <m:fPr>
                              <m:ctrlPr>
                                <a:rPr lang="es-PE" b="0" i="1" smtClean="0">
                                  <a:latin typeface="Cambria Math" panose="02040503050406030204" pitchFamily="18" charset="0"/>
                                  <a:ea typeface="Cambria Math" panose="02040503050406030204" pitchFamily="18" charset="0"/>
                                </a:rPr>
                              </m:ctrlPr>
                            </m:fPr>
                            <m:num>
                              <m:sSub>
                                <m:sSubPr>
                                  <m:ctrlPr>
                                    <a:rPr lang="es-PE" b="0"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𝑌𝑎h</m:t>
                              </m:r>
                            </m:den>
                          </m:f>
                        </m:e>
                      </m:d>
                    </m:oMath>
                  </m:oMathPara>
                </a14:m>
                <a:endParaRPr lang="es-PE" dirty="0"/>
              </a:p>
            </p:txBody>
          </p:sp>
        </mc:Choice>
        <mc:Fallback xmlns="">
          <p:sp>
            <p:nvSpPr>
              <p:cNvPr id="18" name="CuadroTexto 17"/>
              <p:cNvSpPr txBox="1">
                <a:spLocks noRot="1" noChangeAspect="1" noMove="1" noResize="1" noEditPoints="1" noAdjustHandles="1" noChangeArrowheads="1" noChangeShapeType="1" noTextEdit="1"/>
              </p:cNvSpPr>
              <p:nvPr/>
            </p:nvSpPr>
            <p:spPr>
              <a:xfrm>
                <a:off x="5673080" y="2938208"/>
                <a:ext cx="3033523" cy="622350"/>
              </a:xfrm>
              <a:prstGeom prst="rect">
                <a:avLst/>
              </a:prstGeom>
              <a:blipFill rotWithShape="0">
                <a:blip r:embed="rId7"/>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CuadroTexto 18"/>
              <p:cNvSpPr txBox="1"/>
              <p:nvPr/>
            </p:nvSpPr>
            <p:spPr>
              <a:xfrm>
                <a:off x="5673080" y="3712162"/>
                <a:ext cx="3342453"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h</m:t>
                          </m:r>
                        </m:num>
                        <m:den>
                          <m:r>
                            <a:rPr lang="es-PE" b="0" i="1" smtClean="0">
                              <a:latin typeface="Cambria Math" panose="02040503050406030204" pitchFamily="18" charset="0"/>
                              <a:ea typeface="Cambria Math" panose="02040503050406030204" pitchFamily="18" charset="0"/>
                            </a:rPr>
                            <m:t>h</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sSub>
                            <m:sSubPr>
                              <m:ctrlPr>
                                <a:rPr lang="es-PE" i="1">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h</m:t>
                              </m:r>
                            </m:e>
                            <m:sub>
                              <m:r>
                                <a:rPr lang="es-PE" i="1">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h</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h</m:t>
                              </m:r>
                            </m:e>
                            <m:sub>
                              <m:r>
                                <a:rPr lang="es-PE" i="1">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h</m:t>
                          </m:r>
                        </m:den>
                      </m:f>
                      <m:r>
                        <a:rPr lang="es-PE" b="0" i="1" smtClean="0">
                          <a:latin typeface="Cambria Math" panose="02040503050406030204" pitchFamily="18" charset="0"/>
                        </a:rPr>
                        <m:t>=</m:t>
                      </m:r>
                      <m:r>
                        <a:rPr lang="es-PE" b="0" i="1" smtClean="0">
                          <a:latin typeface="Cambria Math" panose="02040503050406030204" pitchFamily="18" charset="0"/>
                          <a:ea typeface="Cambria Math" panose="02040503050406030204" pitchFamily="18" charset="0"/>
                        </a:rPr>
                        <m:t>−</m:t>
                      </m:r>
                      <m:f>
                        <m:fPr>
                          <m:ctrlPr>
                            <a:rPr lang="el-GR" i="1">
                              <a:latin typeface="Cambria Math" panose="02040503050406030204" pitchFamily="18" charset="0"/>
                              <a:ea typeface="Cambria Math" panose="02040503050406030204" pitchFamily="18" charset="0"/>
                            </a:rPr>
                          </m:ctrlPr>
                        </m:fPr>
                        <m:num>
                          <m:sSub>
                            <m:sSubPr>
                              <m:ctrlPr>
                                <a:rPr lang="el-GR" i="1" smtClean="0">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2</m:t>
                              </m:r>
                            </m:sub>
                          </m:sSub>
                        </m:num>
                        <m:den>
                          <m:r>
                            <a:rPr lang="es-PE" i="1">
                              <a:latin typeface="Cambria Math" panose="02040503050406030204" pitchFamily="18" charset="0"/>
                              <a:ea typeface="Cambria Math" panose="02040503050406030204" pitchFamily="18" charset="0"/>
                            </a:rPr>
                            <m:t>𝑌𝑎</m:t>
                          </m:r>
                          <m:r>
                            <a:rPr lang="es-PE" b="0" i="1" smtClean="0">
                              <a:latin typeface="Cambria Math" panose="02040503050406030204" pitchFamily="18" charset="0"/>
                              <a:ea typeface="Cambria Math" panose="02040503050406030204" pitchFamily="18" charset="0"/>
                            </a:rPr>
                            <m:t>𝑙</m:t>
                          </m:r>
                        </m:den>
                      </m:f>
                      <m:r>
                        <a:rPr lang="es-PE" b="0" i="1" smtClean="0">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μ</m:t>
                      </m:r>
                      <m:f>
                        <m:fPr>
                          <m:ctrlPr>
                            <a:rPr lang="es-PE" i="1">
                              <a:latin typeface="Cambria Math" panose="02040503050406030204" pitchFamily="18" charset="0"/>
                              <a:ea typeface="Cambria Math" panose="02040503050406030204" pitchFamily="18" charset="0"/>
                            </a:rPr>
                          </m:ctrlPr>
                        </m:fPr>
                        <m:num>
                          <m:sSub>
                            <m:sSubPr>
                              <m:ctrlPr>
                                <a:rPr lang="es-PE"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1</m:t>
                              </m:r>
                            </m:sub>
                          </m:sSub>
                        </m:num>
                        <m:den>
                          <m:r>
                            <a:rPr lang="es-PE" i="1">
                              <a:latin typeface="Cambria Math" panose="02040503050406030204" pitchFamily="18" charset="0"/>
                              <a:ea typeface="Cambria Math" panose="02040503050406030204" pitchFamily="18" charset="0"/>
                            </a:rPr>
                            <m:t>𝑌𝑎</m:t>
                          </m:r>
                          <m:r>
                            <a:rPr lang="es-PE" b="0" i="1" smtClean="0">
                              <a:latin typeface="Cambria Math" panose="02040503050406030204" pitchFamily="18" charset="0"/>
                              <a:ea typeface="Cambria Math" panose="02040503050406030204" pitchFamily="18" charset="0"/>
                            </a:rPr>
                            <m:t>h</m:t>
                          </m:r>
                        </m:den>
                      </m:f>
                    </m:oMath>
                  </m:oMathPara>
                </a14:m>
                <a:endParaRPr lang="es-PE" dirty="0"/>
              </a:p>
            </p:txBody>
          </p:sp>
        </mc:Choice>
        <mc:Fallback xmlns="">
          <p:sp>
            <p:nvSpPr>
              <p:cNvPr id="19" name="CuadroTexto 18"/>
              <p:cNvSpPr txBox="1">
                <a:spLocks noRot="1" noChangeAspect="1" noMove="1" noResize="1" noEditPoints="1" noAdjustHandles="1" noChangeArrowheads="1" noChangeShapeType="1" noTextEdit="1"/>
              </p:cNvSpPr>
              <p:nvPr/>
            </p:nvSpPr>
            <p:spPr>
              <a:xfrm>
                <a:off x="5673080" y="3712162"/>
                <a:ext cx="3342453" cy="525913"/>
              </a:xfrm>
              <a:prstGeom prst="rect">
                <a:avLst/>
              </a:prstGeom>
              <a:blipFill rotWithShape="0">
                <a:blip r:embed="rId8"/>
                <a:stretch>
                  <a:fillRect/>
                </a:stretch>
              </a:blipFill>
            </p:spPr>
            <p:txBody>
              <a:bodyPr/>
              <a:lstStyle/>
              <a:p>
                <a:r>
                  <a:rPr lang="es-PE">
                    <a:noFill/>
                  </a:rPr>
                  <a:t> </a:t>
                </a:r>
              </a:p>
            </p:txBody>
          </p:sp>
        </mc:Fallback>
      </mc:AlternateContent>
      <p:sp>
        <p:nvSpPr>
          <p:cNvPr id="20" name="Marcador de contenido 2"/>
          <p:cNvSpPr txBox="1">
            <a:spLocks/>
          </p:cNvSpPr>
          <p:nvPr/>
        </p:nvSpPr>
        <p:spPr bwMode="auto">
          <a:xfrm>
            <a:off x="5241032" y="4490197"/>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Para </a:t>
            </a:r>
            <a:r>
              <a:rPr lang="es-PE" sz="1600" dirty="0">
                <a:solidFill>
                  <a:sysClr val="windowText" lastClr="000000"/>
                </a:solidFill>
              </a:rPr>
              <a:t>a</a:t>
            </a: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 tenemos que la deformación total seria:</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21" name="CuadroTexto 20"/>
              <p:cNvSpPr txBox="1"/>
              <p:nvPr/>
            </p:nvSpPr>
            <p:spPr>
              <a:xfrm>
                <a:off x="5385048" y="5146009"/>
                <a:ext cx="1847493" cy="526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𝑎</m:t>
                              </m:r>
                            </m:e>
                            <m:sub>
                              <m:r>
                                <a:rPr lang="es-PE" b="0" i="1" smtClean="0">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𝑎</m:t>
                          </m:r>
                        </m:den>
                      </m:f>
                      <m:r>
                        <a:rPr lang="es-PE" b="0" i="0"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d>
                        <m:dPr>
                          <m:ctrlPr>
                            <a:rPr lang="el-GR" b="0" i="1" smtClean="0">
                              <a:latin typeface="Cambria Math" panose="02040503050406030204" pitchFamily="18" charset="0"/>
                              <a:ea typeface="Cambria Math" panose="02040503050406030204" pitchFamily="18" charset="0"/>
                            </a:rPr>
                          </m:ctrlPr>
                        </m:dPr>
                        <m:e>
                          <m:r>
                            <a:rPr lang="es-PE" b="0" i="1" smtClean="0">
                              <a:latin typeface="Cambria Math" panose="02040503050406030204" pitchFamily="18" charset="0"/>
                              <a:ea typeface="Cambria Math" panose="02040503050406030204" pitchFamily="18" charset="0"/>
                            </a:rPr>
                            <m:t>−</m:t>
                          </m:r>
                          <m:f>
                            <m:fPr>
                              <m:ctrlPr>
                                <a:rPr lang="el-GR" b="0" i="1" smtClean="0">
                                  <a:latin typeface="Cambria Math" panose="02040503050406030204" pitchFamily="18" charset="0"/>
                                  <a:ea typeface="Cambria Math" panose="02040503050406030204" pitchFamily="18" charset="0"/>
                                </a:rPr>
                              </m:ctrlPr>
                            </m:fPr>
                            <m:num>
                              <m:sSub>
                                <m:sSubPr>
                                  <m:ctrlPr>
                                    <a:rPr lang="el-GR" b="0"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𝑌𝑎𝑙</m:t>
                              </m:r>
                            </m:den>
                          </m:f>
                        </m:e>
                      </m:d>
                    </m:oMath>
                  </m:oMathPara>
                </a14:m>
                <a:endParaRPr lang="es-PE" dirty="0"/>
              </a:p>
            </p:txBody>
          </p:sp>
        </mc:Choice>
        <mc:Fallback xmlns="">
          <p:sp>
            <p:nvSpPr>
              <p:cNvPr id="21" name="CuadroTexto 20"/>
              <p:cNvSpPr txBox="1">
                <a:spLocks noRot="1" noChangeAspect="1" noMove="1" noResize="1" noEditPoints="1" noAdjustHandles="1" noChangeArrowheads="1" noChangeShapeType="1" noTextEdit="1"/>
              </p:cNvSpPr>
              <p:nvPr/>
            </p:nvSpPr>
            <p:spPr>
              <a:xfrm>
                <a:off x="5385048" y="5146009"/>
                <a:ext cx="1847493" cy="526298"/>
              </a:xfrm>
              <a:prstGeom prst="rect">
                <a:avLst/>
              </a:prstGeom>
              <a:blipFill rotWithShape="0">
                <a:blip r:embed="rId9"/>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2" name="CuadroTexto 21"/>
              <p:cNvSpPr txBox="1"/>
              <p:nvPr/>
            </p:nvSpPr>
            <p:spPr>
              <a:xfrm>
                <a:off x="7617296" y="5161100"/>
                <a:ext cx="1981055" cy="526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sSub>
                            <m:sSubPr>
                              <m:ctrlPr>
                                <a:rPr lang="es-PE"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𝑎</m:t>
                              </m:r>
                            </m:e>
                            <m:sub>
                              <m:r>
                                <a:rPr lang="es-PE" b="0" i="1" smtClean="0">
                                  <a:latin typeface="Cambria Math" panose="02040503050406030204" pitchFamily="18" charset="0"/>
                                  <a:ea typeface="Cambria Math" panose="02040503050406030204" pitchFamily="18" charset="0"/>
                                </a:rPr>
                                <m:t>2</m:t>
                              </m:r>
                            </m:sub>
                          </m:sSub>
                        </m:num>
                        <m:den>
                          <m:r>
                            <a:rPr lang="es-PE" b="0" i="1" smtClean="0">
                              <a:latin typeface="Cambria Math" panose="02040503050406030204" pitchFamily="18" charset="0"/>
                              <a:ea typeface="Cambria Math" panose="02040503050406030204" pitchFamily="18" charset="0"/>
                            </a:rPr>
                            <m:t>𝑎</m:t>
                          </m:r>
                        </m:den>
                      </m:f>
                      <m:r>
                        <a:rPr lang="es-PE" b="0" i="0"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d>
                        <m:dPr>
                          <m:ctrlPr>
                            <a:rPr lang="el-GR" b="0" i="1" smtClean="0">
                              <a:latin typeface="Cambria Math" panose="02040503050406030204" pitchFamily="18" charset="0"/>
                              <a:ea typeface="Cambria Math" panose="02040503050406030204" pitchFamily="18" charset="0"/>
                            </a:rPr>
                          </m:ctrlPr>
                        </m:dPr>
                        <m:e>
                          <m:r>
                            <a:rPr lang="es-PE" b="0" i="1" smtClean="0">
                              <a:latin typeface="Cambria Math" panose="02040503050406030204" pitchFamily="18" charset="0"/>
                              <a:ea typeface="Cambria Math" panose="02040503050406030204" pitchFamily="18" charset="0"/>
                            </a:rPr>
                            <m:t>−</m:t>
                          </m:r>
                          <m:f>
                            <m:fPr>
                              <m:ctrlPr>
                                <a:rPr lang="el-GR" b="0" i="1" smtClean="0">
                                  <a:latin typeface="Cambria Math" panose="02040503050406030204" pitchFamily="18" charset="0"/>
                                  <a:ea typeface="Cambria Math" panose="02040503050406030204" pitchFamily="18" charset="0"/>
                                </a:rPr>
                              </m:ctrlPr>
                            </m:fPr>
                            <m:num>
                              <m:sSub>
                                <m:sSubPr>
                                  <m:ctrlPr>
                                    <a:rPr lang="el-GR" b="0" i="1" smtClean="0">
                                      <a:latin typeface="Cambria Math" panose="02040503050406030204" pitchFamily="18" charset="0"/>
                                      <a:ea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𝐹</m:t>
                                  </m:r>
                                </m:e>
                                <m:sub>
                                  <m:r>
                                    <a:rPr lang="es-PE" b="0" i="1" smtClean="0">
                                      <a:latin typeface="Cambria Math" panose="02040503050406030204" pitchFamily="18" charset="0"/>
                                      <a:ea typeface="Cambria Math" panose="02040503050406030204" pitchFamily="18" charset="0"/>
                                    </a:rPr>
                                    <m:t>1</m:t>
                                  </m:r>
                                </m:sub>
                              </m:sSub>
                            </m:num>
                            <m:den>
                              <m:r>
                                <a:rPr lang="es-PE" b="0" i="1" smtClean="0">
                                  <a:latin typeface="Cambria Math" panose="02040503050406030204" pitchFamily="18" charset="0"/>
                                  <a:ea typeface="Cambria Math" panose="02040503050406030204" pitchFamily="18" charset="0"/>
                                </a:rPr>
                                <m:t>𝑌𝑎h</m:t>
                              </m:r>
                            </m:den>
                          </m:f>
                        </m:e>
                      </m:d>
                    </m:oMath>
                  </m:oMathPara>
                </a14:m>
                <a:endParaRPr lang="es-PE" dirty="0"/>
              </a:p>
            </p:txBody>
          </p:sp>
        </mc:Choice>
        <mc:Fallback xmlns="">
          <p:sp>
            <p:nvSpPr>
              <p:cNvPr id="22" name="CuadroTexto 21"/>
              <p:cNvSpPr txBox="1">
                <a:spLocks noRot="1" noChangeAspect="1" noMove="1" noResize="1" noEditPoints="1" noAdjustHandles="1" noChangeArrowheads="1" noChangeShapeType="1" noTextEdit="1"/>
              </p:cNvSpPr>
              <p:nvPr/>
            </p:nvSpPr>
            <p:spPr>
              <a:xfrm>
                <a:off x="7617296" y="5161100"/>
                <a:ext cx="1981055" cy="526298"/>
              </a:xfrm>
              <a:prstGeom prst="rect">
                <a:avLst/>
              </a:prstGeom>
              <a:blipFill rotWithShape="0">
                <a:blip r:embed="rId10"/>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23" name="CuadroTexto 22"/>
              <p:cNvSpPr txBox="1"/>
              <p:nvPr/>
            </p:nvSpPr>
            <p:spPr>
              <a:xfrm>
                <a:off x="1108634" y="5930731"/>
                <a:ext cx="3177473"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𝑙</m:t>
                          </m:r>
                        </m:num>
                        <m:den>
                          <m:r>
                            <a:rPr lang="es-PE" b="0" i="1" smtClean="0">
                              <a:latin typeface="Cambria Math" panose="02040503050406030204" pitchFamily="18" charset="0"/>
                            </a:rPr>
                            <m:t>𝑙</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sSub>
                            <m:sSubPr>
                              <m:ctrlPr>
                                <a:rPr lang="es-PE"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𝑙</m:t>
                              </m:r>
                            </m:e>
                            <m:sub>
                              <m:r>
                                <a:rPr lang="es-PE" i="1">
                                  <a:latin typeface="Cambria Math" panose="02040503050406030204" pitchFamily="18" charset="0"/>
                                  <a:ea typeface="Cambria Math" panose="02040503050406030204" pitchFamily="18" charset="0"/>
                                </a:rPr>
                                <m:t>1</m:t>
                              </m:r>
                            </m:sub>
                          </m:sSub>
                        </m:num>
                        <m:den>
                          <m:r>
                            <a:rPr lang="es-PE" i="1">
                              <a:latin typeface="Cambria Math" panose="02040503050406030204" pitchFamily="18" charset="0"/>
                            </a:rPr>
                            <m:t>𝑙</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sSub>
                            <m:sSubPr>
                              <m:ctrlPr>
                                <a:rPr lang="es-PE"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𝑙</m:t>
                              </m:r>
                            </m:e>
                            <m:sub>
                              <m:r>
                                <a:rPr lang="es-PE" i="1">
                                  <a:latin typeface="Cambria Math" panose="02040503050406030204" pitchFamily="18" charset="0"/>
                                  <a:ea typeface="Cambria Math" panose="02040503050406030204" pitchFamily="18" charset="0"/>
                                </a:rPr>
                                <m:t>2</m:t>
                              </m:r>
                            </m:sub>
                          </m:sSub>
                        </m:num>
                        <m:den>
                          <m:r>
                            <a:rPr lang="es-PE" i="1">
                              <a:latin typeface="Cambria Math" panose="02040503050406030204" pitchFamily="18" charset="0"/>
                            </a:rPr>
                            <m:t>𝑙</m:t>
                          </m:r>
                        </m:den>
                      </m:f>
                      <m:r>
                        <a:rPr lang="es-PE" b="0" i="1" smtClean="0">
                          <a:latin typeface="Cambria Math" panose="02040503050406030204" pitchFamily="18" charset="0"/>
                        </a:rPr>
                        <m:t>=</m:t>
                      </m:r>
                      <m:r>
                        <a:rPr lang="es-PE" i="1">
                          <a:latin typeface="Cambria Math" panose="02040503050406030204" pitchFamily="18" charset="0"/>
                          <a:ea typeface="Cambria Math" panose="02040503050406030204" pitchFamily="18" charset="0"/>
                        </a:rPr>
                        <m:t>−</m:t>
                      </m:r>
                      <m:f>
                        <m:fPr>
                          <m:ctrlPr>
                            <a:rPr lang="el-GR" i="1">
                              <a:latin typeface="Cambria Math" panose="02040503050406030204" pitchFamily="18" charset="0"/>
                              <a:ea typeface="Cambria Math" panose="02040503050406030204" pitchFamily="18" charset="0"/>
                            </a:rPr>
                          </m:ctrlPr>
                        </m:fPr>
                        <m:num>
                          <m:sSub>
                            <m:sSubPr>
                              <m:ctrlPr>
                                <a:rPr lang="el-GR"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i="1">
                                  <a:latin typeface="Cambria Math" panose="02040503050406030204" pitchFamily="18" charset="0"/>
                                  <a:ea typeface="Cambria Math" panose="02040503050406030204" pitchFamily="18" charset="0"/>
                                </a:rPr>
                                <m:t>1</m:t>
                              </m:r>
                            </m:sub>
                          </m:sSub>
                        </m:num>
                        <m:den>
                          <m:r>
                            <a:rPr lang="es-PE" i="1">
                              <a:latin typeface="Cambria Math" panose="02040503050406030204" pitchFamily="18" charset="0"/>
                              <a:ea typeface="Cambria Math" panose="02040503050406030204" pitchFamily="18" charset="0"/>
                            </a:rPr>
                            <m:t>𝑌𝑎h</m:t>
                          </m:r>
                        </m:den>
                      </m:f>
                      <m:r>
                        <a:rPr lang="es-PE"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μ</m:t>
                      </m:r>
                      <m:f>
                        <m:fPr>
                          <m:ctrlPr>
                            <a:rPr lang="es-PE" i="1">
                              <a:latin typeface="Cambria Math" panose="02040503050406030204" pitchFamily="18" charset="0"/>
                              <a:ea typeface="Cambria Math" panose="02040503050406030204" pitchFamily="18" charset="0"/>
                            </a:rPr>
                          </m:ctrlPr>
                        </m:fPr>
                        <m:num>
                          <m:sSub>
                            <m:sSubPr>
                              <m:ctrlPr>
                                <a:rPr lang="es-PE"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i="1">
                                  <a:latin typeface="Cambria Math" panose="02040503050406030204" pitchFamily="18" charset="0"/>
                                  <a:ea typeface="Cambria Math" panose="02040503050406030204" pitchFamily="18" charset="0"/>
                                </a:rPr>
                                <m:t>2</m:t>
                              </m:r>
                            </m:sub>
                          </m:sSub>
                        </m:num>
                        <m:den>
                          <m:r>
                            <a:rPr lang="es-PE" i="1">
                              <a:latin typeface="Cambria Math" panose="02040503050406030204" pitchFamily="18" charset="0"/>
                              <a:ea typeface="Cambria Math" panose="02040503050406030204" pitchFamily="18" charset="0"/>
                            </a:rPr>
                            <m:t>𝑌𝑎𝑙</m:t>
                          </m:r>
                        </m:den>
                      </m:f>
                    </m:oMath>
                  </m:oMathPara>
                </a14:m>
                <a:endParaRPr lang="es-PE" dirty="0"/>
              </a:p>
            </p:txBody>
          </p:sp>
        </mc:Choice>
        <mc:Fallback xmlns="">
          <p:sp>
            <p:nvSpPr>
              <p:cNvPr id="23" name="CuadroTexto 22"/>
              <p:cNvSpPr txBox="1">
                <a:spLocks noRot="1" noChangeAspect="1" noMove="1" noResize="1" noEditPoints="1" noAdjustHandles="1" noChangeArrowheads="1" noChangeShapeType="1" noTextEdit="1"/>
              </p:cNvSpPr>
              <p:nvPr/>
            </p:nvSpPr>
            <p:spPr>
              <a:xfrm>
                <a:off x="1108634" y="5930731"/>
                <a:ext cx="3177473" cy="525913"/>
              </a:xfrm>
              <a:prstGeom prst="rect">
                <a:avLst/>
              </a:prstGeom>
              <a:blipFill rotWithShape="0">
                <a:blip r:embed="rId11"/>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079660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10" name="Título 1"/>
          <p:cNvSpPr txBox="1">
            <a:spLocks/>
          </p:cNvSpPr>
          <p:nvPr/>
        </p:nvSpPr>
        <p:spPr>
          <a:xfrm>
            <a:off x="1761067" y="885338"/>
            <a:ext cx="6563072" cy="710100"/>
          </a:xfrm>
          <a:prstGeom prst="rect">
            <a:avLst/>
          </a:prstGeom>
        </p:spPr>
        <p:txBody>
          <a:bodyPr vert="horz" wrap="square" lIns="91440" tIns="45720" rIns="91440" bIns="45720" numCol="1" anchor="ctr" anchorCtr="0" compatLnSpc="1">
            <a:prstTxWarp prst="textNoShape">
              <a:avLst/>
            </a:prstTxWarp>
            <a:normAutofit fontScale="97500"/>
          </a:bodyPr>
          <a:lstStyle>
            <a:lvl1pPr algn="l" defTabSz="457200" rtl="0" eaLnBrk="1" fontAlgn="base" hangingPunct="1">
              <a:spcBef>
                <a:spcPct val="0"/>
              </a:spcBef>
              <a:spcAft>
                <a:spcPct val="0"/>
              </a:spcAft>
              <a:defRPr sz="2400" b="0" i="0" u="none" kern="1200" cap="all">
                <a:solidFill>
                  <a:schemeClr val="tx1"/>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s-PE" sz="2400" b="0" i="0" u="none" strike="noStrike" kern="1200" cap="all" spc="0" normalizeH="0" baseline="0" noProof="0" dirty="0">
              <a:ln>
                <a:noFill/>
              </a:ln>
              <a:solidFill>
                <a:sysClr val="windowText" lastClr="000000"/>
              </a:solidFill>
              <a:effectLst/>
              <a:uLnTx/>
              <a:uFillTx/>
              <a:latin typeface="Arial"/>
              <a:ea typeface="ＭＳ Ｐゴシック" charset="-128"/>
            </a:endParaRPr>
          </a:p>
        </p:txBody>
      </p:sp>
      <p:sp>
        <p:nvSpPr>
          <p:cNvPr id="11" name="Marcador de contenido 2"/>
          <p:cNvSpPr txBox="1">
            <a:spLocks/>
          </p:cNvSpPr>
          <p:nvPr/>
        </p:nvSpPr>
        <p:spPr bwMode="auto">
          <a:xfrm>
            <a:off x="470096" y="1740112"/>
            <a:ext cx="4392488" cy="5072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De la figura tenemos que:</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p:sp>
        <p:nvSpPr>
          <p:cNvPr id="14" name="Rectángulo redondeado 13"/>
          <p:cNvSpPr/>
          <p:nvPr/>
        </p:nvSpPr>
        <p:spPr>
          <a:xfrm>
            <a:off x="1603815" y="1014763"/>
            <a:ext cx="6517538" cy="56076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b="1" cap="all" dirty="0" smtClean="0">
                <a:solidFill>
                  <a:sysClr val="windowText" lastClr="000000"/>
                </a:solidFill>
                <a:latin typeface="Arial"/>
                <a:ea typeface="ＭＳ Ｐゴシック" charset="-128"/>
              </a:rPr>
              <a:t>Ecuación de </a:t>
            </a:r>
            <a:r>
              <a:rPr lang="es-PE" sz="2400" b="1" cap="all" dirty="0" err="1" smtClean="0">
                <a:solidFill>
                  <a:sysClr val="windowText" lastClr="000000"/>
                </a:solidFill>
                <a:latin typeface="Arial"/>
                <a:ea typeface="ＭＳ Ｐゴシック" charset="-128"/>
              </a:rPr>
              <a:t>hook</a:t>
            </a:r>
            <a:r>
              <a:rPr lang="es-PE" sz="2400" b="1" cap="all" dirty="0" smtClean="0">
                <a:solidFill>
                  <a:sysClr val="windowText" lastClr="000000"/>
                </a:solidFill>
                <a:latin typeface="Arial"/>
                <a:ea typeface="ＭＳ Ｐゴシック" charset="-128"/>
              </a:rPr>
              <a:t> generalizada</a:t>
            </a:r>
            <a:endParaRPr lang="es-PE" sz="2800" dirty="0">
              <a:solidFill>
                <a:schemeClr val="tx1"/>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544" y="2393548"/>
            <a:ext cx="3505689" cy="1876687"/>
          </a:xfrm>
          <a:prstGeom prst="rect">
            <a:avLst/>
          </a:prstGeom>
        </p:spPr>
      </p:pic>
      <p:sp>
        <p:nvSpPr>
          <p:cNvPr id="15" name="Marcador de contenido 2"/>
          <p:cNvSpPr txBox="1">
            <a:spLocks/>
          </p:cNvSpPr>
          <p:nvPr/>
        </p:nvSpPr>
        <p:spPr bwMode="auto">
          <a:xfrm>
            <a:off x="501127" y="4062627"/>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El volumen esta dado por:</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16" name="CuadroTexto 15"/>
              <p:cNvSpPr txBox="1"/>
              <p:nvPr/>
            </p:nvSpPr>
            <p:spPr>
              <a:xfrm>
                <a:off x="866911" y="5022600"/>
                <a:ext cx="26267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𝑉</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𝑎h</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𝑙</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𝑎𝑙</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h</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𝑙h</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𝑎</m:t>
                      </m:r>
                    </m:oMath>
                  </m:oMathPara>
                </a14:m>
                <a:endParaRPr lang="es-PE" dirty="0"/>
              </a:p>
            </p:txBody>
          </p:sp>
        </mc:Choice>
        <mc:Fallback xmlns="">
          <p:sp>
            <p:nvSpPr>
              <p:cNvPr id="16" name="CuadroTexto 15"/>
              <p:cNvSpPr txBox="1">
                <a:spLocks noRot="1" noChangeAspect="1" noMove="1" noResize="1" noEditPoints="1" noAdjustHandles="1" noChangeArrowheads="1" noChangeShapeType="1" noTextEdit="1"/>
              </p:cNvSpPr>
              <p:nvPr/>
            </p:nvSpPr>
            <p:spPr>
              <a:xfrm>
                <a:off x="866911" y="5022600"/>
                <a:ext cx="2626745" cy="276999"/>
              </a:xfrm>
              <a:prstGeom prst="rect">
                <a:avLst/>
              </a:prstGeom>
              <a:blipFill rotWithShape="0">
                <a:blip r:embed="rId3"/>
                <a:stretch>
                  <a:fillRect l="-1624" r="-696" b="-8889"/>
                </a:stretch>
              </a:blipFill>
            </p:spPr>
            <p:txBody>
              <a:bodyPr/>
              <a:lstStyle/>
              <a:p>
                <a:r>
                  <a:rPr lang="es-PE">
                    <a:noFill/>
                  </a:rPr>
                  <a:t> </a:t>
                </a:r>
              </a:p>
            </p:txBody>
          </p:sp>
        </mc:Fallback>
      </mc:AlternateContent>
      <p:sp>
        <p:nvSpPr>
          <p:cNvPr id="12" name="Marcador de contenido 2"/>
          <p:cNvSpPr txBox="1">
            <a:spLocks/>
          </p:cNvSpPr>
          <p:nvPr/>
        </p:nvSpPr>
        <p:spPr bwMode="auto">
          <a:xfrm>
            <a:off x="5241032" y="1740606"/>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Reemplazando las deformaciones unitarias de cada lado del paralelepípedo tenemos:</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13" name="CuadroTexto 12"/>
              <p:cNvSpPr txBox="1"/>
              <p:nvPr/>
            </p:nvSpPr>
            <p:spPr>
              <a:xfrm>
                <a:off x="1761067" y="4416407"/>
                <a:ext cx="8384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𝑉</m:t>
                      </m:r>
                      <m:r>
                        <a:rPr lang="es-PE" b="0" i="1" smtClean="0">
                          <a:latin typeface="Cambria Math" panose="02040503050406030204" pitchFamily="18" charset="0"/>
                        </a:rPr>
                        <m:t>=</m:t>
                      </m:r>
                      <m:r>
                        <a:rPr lang="es-PE" b="0" i="1" smtClean="0">
                          <a:latin typeface="Cambria Math" panose="02040503050406030204" pitchFamily="18" charset="0"/>
                        </a:rPr>
                        <m:t>𝑎𝑙h</m:t>
                      </m:r>
                    </m:oMath>
                  </m:oMathPara>
                </a14:m>
                <a:endParaRPr lang="es-PE"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1761067" y="4416407"/>
                <a:ext cx="838435" cy="276999"/>
              </a:xfrm>
              <a:prstGeom prst="rect">
                <a:avLst/>
              </a:prstGeom>
              <a:blipFill rotWithShape="0">
                <a:blip r:embed="rId4"/>
                <a:stretch>
                  <a:fillRect l="-6569" r="-7299" b="-6522"/>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CuadroTexto 18"/>
              <p:cNvSpPr txBox="1"/>
              <p:nvPr/>
            </p:nvSpPr>
            <p:spPr>
              <a:xfrm>
                <a:off x="5805516" y="2467619"/>
                <a:ext cx="2854050" cy="5776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𝑉</m:t>
                          </m:r>
                        </m:num>
                        <m:den>
                          <m:r>
                            <a:rPr lang="es-PE" b="0" i="1" smtClean="0">
                              <a:latin typeface="Cambria Math" panose="02040503050406030204" pitchFamily="18" charset="0"/>
                              <a:ea typeface="Cambria Math" panose="02040503050406030204" pitchFamily="18" charset="0"/>
                            </a:rPr>
                            <m:t>𝑉</m:t>
                          </m:r>
                        </m:den>
                      </m:f>
                      <m:r>
                        <a:rPr lang="es-PE" b="0" i="0" smtClean="0">
                          <a:latin typeface="Cambria Math" panose="02040503050406030204" pitchFamily="18" charset="0"/>
                        </a:rPr>
                        <m:t>=</m:t>
                      </m:r>
                      <m:f>
                        <m:fPr>
                          <m:ctrlPr>
                            <a:rPr lang="es-PE" i="1">
                              <a:latin typeface="Cambria Math" panose="02040503050406030204" pitchFamily="18" charset="0"/>
                            </a:rPr>
                          </m:ctrlPr>
                        </m:fPr>
                        <m:num>
                          <m:d>
                            <m:dPr>
                              <m:ctrlPr>
                                <a:rPr lang="es-PE" i="1" smtClean="0">
                                  <a:latin typeface="Cambria Math" panose="02040503050406030204" pitchFamily="18" charset="0"/>
                                </a:rPr>
                              </m:ctrlPr>
                            </m:dPr>
                            <m:e>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𝜎</m:t>
                                  </m:r>
                                </m:e>
                                <m:sub>
                                  <m:r>
                                    <a:rPr lang="es-PE" b="0" i="1" smtClean="0">
                                      <a:latin typeface="Cambria Math" panose="02040503050406030204" pitchFamily="18" charset="0"/>
                                    </a:rPr>
                                    <m:t>𝑦𝑦</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𝜎</m:t>
                                  </m:r>
                                </m:e>
                                <m:sub>
                                  <m:r>
                                    <a:rPr lang="es-PE" b="0" i="1" smtClean="0">
                                      <a:latin typeface="Cambria Math" panose="02040503050406030204" pitchFamily="18" charset="0"/>
                                    </a:rPr>
                                    <m:t>𝑧𝑧</m:t>
                                  </m:r>
                                </m:sub>
                              </m:sSub>
                            </m:e>
                          </m:d>
                        </m:num>
                        <m:den>
                          <m:r>
                            <a:rPr lang="es-PE" b="0" i="1" smtClean="0">
                              <a:latin typeface="Cambria Math" panose="02040503050406030204" pitchFamily="18" charset="0"/>
                              <a:ea typeface="Cambria Math" panose="02040503050406030204" pitchFamily="18" charset="0"/>
                            </a:rPr>
                            <m:t>𝑌</m:t>
                          </m:r>
                        </m:den>
                      </m:f>
                      <m:d>
                        <m:dPr>
                          <m:ctrlPr>
                            <a:rPr lang="es-PE" i="1" smtClean="0">
                              <a:latin typeface="Cambria Math" panose="02040503050406030204" pitchFamily="18" charset="0"/>
                            </a:rPr>
                          </m:ctrlPr>
                        </m:dPr>
                        <m:e>
                          <m:r>
                            <a:rPr lang="es-PE" b="0" i="1" smtClean="0">
                              <a:latin typeface="Cambria Math" panose="02040503050406030204" pitchFamily="18" charset="0"/>
                            </a:rPr>
                            <m:t>1−2</m:t>
                          </m:r>
                          <m:r>
                            <a:rPr lang="es-PE" b="0" i="1" smtClean="0">
                              <a:latin typeface="Cambria Math" panose="02040503050406030204" pitchFamily="18" charset="0"/>
                              <a:ea typeface="Cambria Math" panose="02040503050406030204" pitchFamily="18" charset="0"/>
                            </a:rPr>
                            <m:t>𝜇</m:t>
                          </m:r>
                        </m:e>
                      </m:d>
                    </m:oMath>
                  </m:oMathPara>
                </a14:m>
                <a:endParaRPr lang="es-PE" dirty="0"/>
              </a:p>
            </p:txBody>
          </p:sp>
        </mc:Choice>
        <mc:Fallback xmlns="">
          <p:sp>
            <p:nvSpPr>
              <p:cNvPr id="19" name="CuadroTexto 18"/>
              <p:cNvSpPr txBox="1">
                <a:spLocks noRot="1" noChangeAspect="1" noMove="1" noResize="1" noEditPoints="1" noAdjustHandles="1" noChangeArrowheads="1" noChangeShapeType="1" noTextEdit="1"/>
              </p:cNvSpPr>
              <p:nvPr/>
            </p:nvSpPr>
            <p:spPr>
              <a:xfrm>
                <a:off x="5805516" y="2467619"/>
                <a:ext cx="2854050" cy="577659"/>
              </a:xfrm>
              <a:prstGeom prst="rect">
                <a:avLst/>
              </a:prstGeom>
              <a:blipFill rotWithShape="0">
                <a:blip r:embed="rId5"/>
                <a:stretch>
                  <a:fillRect/>
                </a:stretch>
              </a:blipFill>
            </p:spPr>
            <p:txBody>
              <a:bodyPr/>
              <a:lstStyle/>
              <a:p>
                <a:r>
                  <a:rPr lang="es-PE">
                    <a:noFill/>
                  </a:rPr>
                  <a:t> </a:t>
                </a:r>
              </a:p>
            </p:txBody>
          </p:sp>
        </mc:Fallback>
      </mc:AlternateContent>
      <p:sp>
        <p:nvSpPr>
          <p:cNvPr id="20" name="Marcador de contenido 2"/>
          <p:cNvSpPr txBox="1">
            <a:spLocks/>
          </p:cNvSpPr>
          <p:nvPr/>
        </p:nvSpPr>
        <p:spPr bwMode="auto">
          <a:xfrm>
            <a:off x="5349044" y="4108787"/>
            <a:ext cx="4392488" cy="6152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De manera general para esfuerzos en las tres direcciones tenemos:</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23" name="CuadroTexto 22"/>
              <p:cNvSpPr txBox="1"/>
              <p:nvPr/>
            </p:nvSpPr>
            <p:spPr>
              <a:xfrm>
                <a:off x="1108634" y="5930731"/>
                <a:ext cx="1954253"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𝑉</m:t>
                          </m:r>
                        </m:num>
                        <m:den>
                          <m:r>
                            <a:rPr lang="es-PE" b="0" i="1" smtClean="0">
                              <a:latin typeface="Cambria Math" panose="02040503050406030204" pitchFamily="18" charset="0"/>
                              <a:ea typeface="Cambria Math" panose="02040503050406030204" pitchFamily="18" charset="0"/>
                            </a:rPr>
                            <m:t>𝑉</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𝑙</m:t>
                          </m:r>
                        </m:num>
                        <m:den>
                          <m:r>
                            <a:rPr lang="es-PE" i="1">
                              <a:latin typeface="Cambria Math" panose="02040503050406030204" pitchFamily="18" charset="0"/>
                            </a:rPr>
                            <m:t>𝑙</m:t>
                          </m:r>
                        </m:den>
                      </m:f>
                      <m:r>
                        <a:rPr lang="es-PE" b="0" i="0"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𝑎</m:t>
                          </m:r>
                        </m:num>
                        <m:den>
                          <m:r>
                            <a:rPr lang="es-PE" b="0" i="1" smtClean="0">
                              <a:latin typeface="Cambria Math" panose="02040503050406030204" pitchFamily="18" charset="0"/>
                              <a:ea typeface="Cambria Math" panose="02040503050406030204" pitchFamily="18" charset="0"/>
                            </a:rPr>
                            <m:t>𝑎</m:t>
                          </m:r>
                        </m:den>
                      </m:f>
                      <m:r>
                        <a:rPr lang="es-PE" b="0" i="1" smtClean="0">
                          <a:latin typeface="Cambria Math" panose="02040503050406030204" pitchFamily="18" charset="0"/>
                        </a:rPr>
                        <m:t>+</m:t>
                      </m:r>
                      <m:f>
                        <m:fPr>
                          <m:ctrlPr>
                            <a:rPr lang="el-GR" i="1">
                              <a:latin typeface="Cambria Math" panose="02040503050406030204" pitchFamily="18" charset="0"/>
                              <a:ea typeface="Cambria Math" panose="02040503050406030204" pitchFamily="18" charset="0"/>
                            </a:rPr>
                          </m:ctrlPr>
                        </m:fPr>
                        <m:num>
                          <m:r>
                            <a:rPr lang="el-GR"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h</m:t>
                          </m:r>
                        </m:num>
                        <m:den>
                          <m:r>
                            <a:rPr lang="es-PE" i="1">
                              <a:latin typeface="Cambria Math" panose="02040503050406030204" pitchFamily="18" charset="0"/>
                              <a:ea typeface="Cambria Math" panose="02040503050406030204" pitchFamily="18" charset="0"/>
                            </a:rPr>
                            <m:t>h</m:t>
                          </m:r>
                        </m:den>
                      </m:f>
                    </m:oMath>
                  </m:oMathPara>
                </a14:m>
                <a:endParaRPr lang="es-PE" dirty="0"/>
              </a:p>
            </p:txBody>
          </p:sp>
        </mc:Choice>
        <mc:Fallback xmlns="">
          <p:sp>
            <p:nvSpPr>
              <p:cNvPr id="23" name="CuadroTexto 22"/>
              <p:cNvSpPr txBox="1">
                <a:spLocks noRot="1" noChangeAspect="1" noMove="1" noResize="1" noEditPoints="1" noAdjustHandles="1" noChangeArrowheads="1" noChangeShapeType="1" noTextEdit="1"/>
              </p:cNvSpPr>
              <p:nvPr/>
            </p:nvSpPr>
            <p:spPr>
              <a:xfrm>
                <a:off x="1108634" y="5930731"/>
                <a:ext cx="1954253" cy="525978"/>
              </a:xfrm>
              <a:prstGeom prst="rect">
                <a:avLst/>
              </a:prstGeom>
              <a:blipFill rotWithShape="0">
                <a:blip r:embed="rId6"/>
                <a:stretch>
                  <a:fillRect/>
                </a:stretch>
              </a:blipFill>
            </p:spPr>
            <p:txBody>
              <a:bodyPr/>
              <a:lstStyle/>
              <a:p>
                <a:r>
                  <a:rPr lang="es-PE">
                    <a:noFill/>
                  </a:rPr>
                  <a:t> </a:t>
                </a:r>
              </a:p>
            </p:txBody>
          </p:sp>
        </mc:Fallback>
      </mc:AlternateContent>
      <p:sp>
        <p:nvSpPr>
          <p:cNvPr id="24" name="Marcador de contenido 2"/>
          <p:cNvSpPr txBox="1">
            <a:spLocks/>
          </p:cNvSpPr>
          <p:nvPr/>
        </p:nvSpPr>
        <p:spPr bwMode="auto">
          <a:xfrm>
            <a:off x="403258" y="4649590"/>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El diferencial total de volumen es:</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p:sp>
        <p:nvSpPr>
          <p:cNvPr id="25" name="Marcador de contenido 2"/>
          <p:cNvSpPr txBox="1">
            <a:spLocks/>
          </p:cNvSpPr>
          <p:nvPr/>
        </p:nvSpPr>
        <p:spPr bwMode="auto">
          <a:xfrm>
            <a:off x="272480" y="5409158"/>
            <a:ext cx="4392488" cy="427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La deformación</a:t>
            </a:r>
            <a:r>
              <a:rPr kumimoji="0" lang="es-PE" sz="1600" b="0" i="0" u="none" strike="noStrike" kern="1200" cap="none" spc="0" normalizeH="0" noProof="0" dirty="0" smtClean="0">
                <a:ln>
                  <a:noFill/>
                </a:ln>
                <a:solidFill>
                  <a:sysClr val="windowText" lastClr="000000"/>
                </a:solidFill>
                <a:effectLst/>
                <a:uLnTx/>
                <a:uFillTx/>
                <a:latin typeface="Arial"/>
                <a:ea typeface="ＭＳ Ｐゴシック" charset="-128"/>
              </a:rPr>
              <a:t> unitaria de volumen seria:</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3" name="Rectángulo 2"/>
              <p:cNvSpPr/>
              <p:nvPr/>
            </p:nvSpPr>
            <p:spPr>
              <a:xfrm>
                <a:off x="5505872" y="3451754"/>
                <a:ext cx="1146724" cy="6108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ea typeface="Cambria Math" panose="02040503050406030204" pitchFamily="18" charset="0"/>
                            </a:rPr>
                            <m:t>𝜎</m:t>
                          </m:r>
                        </m:e>
                        <m:sub>
                          <m:r>
                            <a:rPr lang="es-PE" i="1">
                              <a:latin typeface="Cambria Math" panose="02040503050406030204" pitchFamily="18" charset="0"/>
                            </a:rPr>
                            <m:t>𝑦𝑦</m:t>
                          </m:r>
                        </m:sub>
                      </m:sSub>
                      <m:r>
                        <a:rPr lang="es-PE" b="0" i="1" smtClean="0">
                          <a:latin typeface="Cambria Math" panose="02040503050406030204" pitchFamily="18" charset="0"/>
                        </a:rPr>
                        <m:t>=</m:t>
                      </m:r>
                      <m:f>
                        <m:fPr>
                          <m:ctrlPr>
                            <a:rPr lang="el-GR" i="1">
                              <a:latin typeface="Cambria Math" panose="02040503050406030204" pitchFamily="18" charset="0"/>
                              <a:ea typeface="Cambria Math" panose="02040503050406030204" pitchFamily="18" charset="0"/>
                            </a:rPr>
                          </m:ctrlPr>
                        </m:fPr>
                        <m:num>
                          <m:sSub>
                            <m:sSubPr>
                              <m:ctrlPr>
                                <a:rPr lang="el-GR"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i="1">
                                  <a:latin typeface="Cambria Math" panose="02040503050406030204" pitchFamily="18" charset="0"/>
                                  <a:ea typeface="Cambria Math" panose="02040503050406030204" pitchFamily="18" charset="0"/>
                                </a:rPr>
                                <m:t>1</m:t>
                              </m:r>
                            </m:sub>
                          </m:sSub>
                        </m:num>
                        <m:den>
                          <m:r>
                            <a:rPr lang="es-PE" i="1">
                              <a:latin typeface="Cambria Math" panose="02040503050406030204" pitchFamily="18" charset="0"/>
                              <a:ea typeface="Cambria Math" panose="02040503050406030204" pitchFamily="18" charset="0"/>
                            </a:rPr>
                            <m:t>𝑎h</m:t>
                          </m:r>
                        </m:den>
                      </m:f>
                    </m:oMath>
                  </m:oMathPara>
                </a14:m>
                <a:endParaRPr lang="es-PE" dirty="0"/>
              </a:p>
            </p:txBody>
          </p:sp>
        </mc:Choice>
        <mc:Fallback xmlns="">
          <p:sp>
            <p:nvSpPr>
              <p:cNvPr id="3" name="Rectángulo 2"/>
              <p:cNvSpPr>
                <a:spLocks noRot="1" noChangeAspect="1" noMove="1" noResize="1" noEditPoints="1" noAdjustHandles="1" noChangeArrowheads="1" noChangeShapeType="1" noTextEdit="1"/>
              </p:cNvSpPr>
              <p:nvPr/>
            </p:nvSpPr>
            <p:spPr>
              <a:xfrm>
                <a:off x="5505872" y="3451754"/>
                <a:ext cx="1146724" cy="610873"/>
              </a:xfrm>
              <a:prstGeom prst="rect">
                <a:avLst/>
              </a:prstGeom>
              <a:blipFill rotWithShape="0">
                <a:blip r:embed="rId7"/>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7344814" y="3451754"/>
                <a:ext cx="1073755" cy="6108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r>
                            <a:rPr lang="es-PE" i="1">
                              <a:latin typeface="Cambria Math" panose="02040503050406030204" pitchFamily="18" charset="0"/>
                              <a:ea typeface="Cambria Math" panose="02040503050406030204" pitchFamily="18" charset="0"/>
                            </a:rPr>
                            <m:t>𝜎</m:t>
                          </m:r>
                        </m:e>
                        <m:sub>
                          <m:r>
                            <a:rPr lang="es-PE" b="0" i="1" smtClean="0">
                              <a:latin typeface="Cambria Math" panose="02040503050406030204" pitchFamily="18" charset="0"/>
                            </a:rPr>
                            <m:t>𝑧𝑧</m:t>
                          </m:r>
                        </m:sub>
                      </m:sSub>
                      <m:r>
                        <a:rPr lang="es-PE" i="1">
                          <a:latin typeface="Cambria Math" panose="02040503050406030204" pitchFamily="18" charset="0"/>
                        </a:rPr>
                        <m:t>=</m:t>
                      </m:r>
                      <m:f>
                        <m:fPr>
                          <m:ctrlPr>
                            <a:rPr lang="el-GR" i="1">
                              <a:latin typeface="Cambria Math" panose="02040503050406030204" pitchFamily="18" charset="0"/>
                              <a:ea typeface="Cambria Math" panose="02040503050406030204" pitchFamily="18" charset="0"/>
                            </a:rPr>
                          </m:ctrlPr>
                        </m:fPr>
                        <m:num>
                          <m:sSub>
                            <m:sSubPr>
                              <m:ctrlPr>
                                <a:rPr lang="el-GR" i="1">
                                  <a:latin typeface="Cambria Math" panose="02040503050406030204" pitchFamily="18" charset="0"/>
                                  <a:ea typeface="Cambria Math" panose="02040503050406030204" pitchFamily="18" charset="0"/>
                                </a:rPr>
                              </m:ctrlPr>
                            </m:sSubPr>
                            <m:e>
                              <m:r>
                                <a:rPr lang="es-PE" i="1">
                                  <a:latin typeface="Cambria Math" panose="02040503050406030204" pitchFamily="18" charset="0"/>
                                  <a:ea typeface="Cambria Math" panose="02040503050406030204" pitchFamily="18" charset="0"/>
                                </a:rPr>
                                <m:t>𝐹</m:t>
                              </m:r>
                            </m:e>
                            <m:sub>
                              <m:r>
                                <a:rPr lang="es-PE" i="1">
                                  <a:latin typeface="Cambria Math" panose="02040503050406030204" pitchFamily="18" charset="0"/>
                                  <a:ea typeface="Cambria Math" panose="02040503050406030204" pitchFamily="18" charset="0"/>
                                </a:rPr>
                                <m:t>2</m:t>
                              </m:r>
                            </m:sub>
                          </m:sSub>
                        </m:num>
                        <m:den>
                          <m:r>
                            <a:rPr lang="es-PE" i="1">
                              <a:latin typeface="Cambria Math" panose="02040503050406030204" pitchFamily="18" charset="0"/>
                              <a:ea typeface="Cambria Math" panose="02040503050406030204" pitchFamily="18" charset="0"/>
                            </a:rPr>
                            <m:t>𝑎𝑙</m:t>
                          </m:r>
                        </m:den>
                      </m:f>
                    </m:oMath>
                  </m:oMathPara>
                </a14:m>
                <a:endParaRPr lang="es-PE" dirty="0"/>
              </a:p>
            </p:txBody>
          </p:sp>
        </mc:Choice>
        <mc:Fallback xmlns="">
          <p:sp>
            <p:nvSpPr>
              <p:cNvPr id="6" name="Rectángulo 5"/>
              <p:cNvSpPr>
                <a:spLocks noRot="1" noChangeAspect="1" noMove="1" noResize="1" noEditPoints="1" noAdjustHandles="1" noChangeArrowheads="1" noChangeShapeType="1" noTextEdit="1"/>
              </p:cNvSpPr>
              <p:nvPr/>
            </p:nvSpPr>
            <p:spPr>
              <a:xfrm>
                <a:off x="7344814" y="3451754"/>
                <a:ext cx="1073755" cy="610873"/>
              </a:xfrm>
              <a:prstGeom prst="rect">
                <a:avLst/>
              </a:prstGeom>
              <a:blipFill rotWithShape="0">
                <a:blip r:embed="rId8"/>
                <a:stretch>
                  <a:fillRect/>
                </a:stretch>
              </a:blipFill>
            </p:spPr>
            <p:txBody>
              <a:bodyPr/>
              <a:lstStyle/>
              <a:p>
                <a:r>
                  <a:rPr lang="es-PE">
                    <a:noFill/>
                  </a:rPr>
                  <a:t> </a:t>
                </a:r>
              </a:p>
            </p:txBody>
          </p:sp>
        </mc:Fallback>
      </mc:AlternateContent>
      <p:sp>
        <p:nvSpPr>
          <p:cNvPr id="26" name="Marcador de contenido 2"/>
          <p:cNvSpPr txBox="1">
            <a:spLocks/>
          </p:cNvSpPr>
          <p:nvPr/>
        </p:nvSpPr>
        <p:spPr bwMode="auto">
          <a:xfrm>
            <a:off x="5513512" y="3142802"/>
            <a:ext cx="2031776" cy="3582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EFA82F"/>
              </a:buClr>
              <a:buSzTx/>
              <a:buNone/>
              <a:tabLst/>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Donde:</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mc:AlternateContent xmlns:mc="http://schemas.openxmlformats.org/markup-compatibility/2006" xmlns:a14="http://schemas.microsoft.com/office/drawing/2010/main">
        <mc:Choice Requires="a14">
          <p:sp>
            <p:nvSpPr>
              <p:cNvPr id="27" name="CuadroTexto 26"/>
              <p:cNvSpPr txBox="1"/>
              <p:nvPr/>
            </p:nvSpPr>
            <p:spPr>
              <a:xfrm>
                <a:off x="5513512" y="4789696"/>
                <a:ext cx="3288336" cy="5776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r>
                            <a:rPr lang="es-PE"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ea typeface="Cambria Math" panose="02040503050406030204" pitchFamily="18" charset="0"/>
                            </a:rPr>
                            <m:t>𝑉</m:t>
                          </m:r>
                        </m:num>
                        <m:den>
                          <m:r>
                            <a:rPr lang="es-PE" b="0" i="1" smtClean="0">
                              <a:latin typeface="Cambria Math" panose="02040503050406030204" pitchFamily="18" charset="0"/>
                              <a:ea typeface="Cambria Math" panose="02040503050406030204" pitchFamily="18" charset="0"/>
                            </a:rPr>
                            <m:t>𝑉</m:t>
                          </m:r>
                        </m:den>
                      </m:f>
                      <m:r>
                        <a:rPr lang="es-PE" b="0" i="0" smtClean="0">
                          <a:latin typeface="Cambria Math" panose="02040503050406030204" pitchFamily="18" charset="0"/>
                        </a:rPr>
                        <m:t>=</m:t>
                      </m:r>
                      <m:f>
                        <m:fPr>
                          <m:ctrlPr>
                            <a:rPr lang="es-PE" i="1">
                              <a:latin typeface="Cambria Math" panose="02040503050406030204" pitchFamily="18" charset="0"/>
                            </a:rPr>
                          </m:ctrlPr>
                        </m:fPr>
                        <m:num>
                          <m:d>
                            <m:dPr>
                              <m:ctrlPr>
                                <a:rPr lang="es-PE" i="1" smtClean="0">
                                  <a:latin typeface="Cambria Math" panose="02040503050406030204" pitchFamily="18" charset="0"/>
                                </a:rPr>
                              </m:ctrlPr>
                            </m:dPr>
                            <m:e>
                              <m:sSub>
                                <m:sSubPr>
                                  <m:ctrlPr>
                                    <a:rPr lang="es-PE" i="1">
                                      <a:latin typeface="Cambria Math" panose="02040503050406030204" pitchFamily="18" charset="0"/>
                                    </a:rPr>
                                  </m:ctrlPr>
                                </m:sSubPr>
                                <m:e>
                                  <m:r>
                                    <a:rPr lang="es-PE" i="1">
                                      <a:latin typeface="Cambria Math" panose="02040503050406030204" pitchFamily="18" charset="0"/>
                                      <a:ea typeface="Cambria Math" panose="02040503050406030204" pitchFamily="18" charset="0"/>
                                    </a:rPr>
                                    <m:t>𝜎</m:t>
                                  </m:r>
                                </m:e>
                                <m:sub>
                                  <m:r>
                                    <a:rPr lang="es-PE" b="0" i="1" smtClean="0">
                                      <a:latin typeface="Cambria Math" panose="02040503050406030204" pitchFamily="18" charset="0"/>
                                      <a:ea typeface="Cambria Math" panose="02040503050406030204" pitchFamily="18" charset="0"/>
                                    </a:rPr>
                                    <m:t>𝑥𝑥</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𝜎</m:t>
                                  </m:r>
                                </m:e>
                                <m:sub>
                                  <m:r>
                                    <a:rPr lang="es-PE" b="0" i="1" smtClean="0">
                                      <a:latin typeface="Cambria Math" panose="02040503050406030204" pitchFamily="18" charset="0"/>
                                    </a:rPr>
                                    <m:t>𝑦𝑦</m:t>
                                  </m:r>
                                </m:sub>
                              </m:sSub>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ea typeface="Cambria Math" panose="02040503050406030204" pitchFamily="18" charset="0"/>
                                    </a:rPr>
                                    <m:t>𝜎</m:t>
                                  </m:r>
                                </m:e>
                                <m:sub>
                                  <m:r>
                                    <a:rPr lang="es-PE" b="0" i="1" smtClean="0">
                                      <a:latin typeface="Cambria Math" panose="02040503050406030204" pitchFamily="18" charset="0"/>
                                    </a:rPr>
                                    <m:t>𝑧𝑧</m:t>
                                  </m:r>
                                </m:sub>
                              </m:sSub>
                            </m:e>
                          </m:d>
                        </m:num>
                        <m:den>
                          <m:r>
                            <a:rPr lang="es-PE" b="0" i="1" smtClean="0">
                              <a:latin typeface="Cambria Math" panose="02040503050406030204" pitchFamily="18" charset="0"/>
                              <a:ea typeface="Cambria Math" panose="02040503050406030204" pitchFamily="18" charset="0"/>
                            </a:rPr>
                            <m:t>𝑌</m:t>
                          </m:r>
                        </m:den>
                      </m:f>
                      <m:d>
                        <m:dPr>
                          <m:ctrlPr>
                            <a:rPr lang="es-PE" i="1" smtClean="0">
                              <a:latin typeface="Cambria Math" panose="02040503050406030204" pitchFamily="18" charset="0"/>
                            </a:rPr>
                          </m:ctrlPr>
                        </m:dPr>
                        <m:e>
                          <m:r>
                            <a:rPr lang="es-PE" b="0" i="1" smtClean="0">
                              <a:latin typeface="Cambria Math" panose="02040503050406030204" pitchFamily="18" charset="0"/>
                            </a:rPr>
                            <m:t>1−2</m:t>
                          </m:r>
                          <m:r>
                            <a:rPr lang="es-PE" b="0" i="1" smtClean="0">
                              <a:latin typeface="Cambria Math" panose="02040503050406030204" pitchFamily="18" charset="0"/>
                              <a:ea typeface="Cambria Math" panose="02040503050406030204" pitchFamily="18" charset="0"/>
                            </a:rPr>
                            <m:t>𝜇</m:t>
                          </m:r>
                        </m:e>
                      </m:d>
                    </m:oMath>
                  </m:oMathPara>
                </a14:m>
                <a:endParaRPr lang="es-PE" dirty="0"/>
              </a:p>
            </p:txBody>
          </p:sp>
        </mc:Choice>
        <mc:Fallback xmlns="">
          <p:sp>
            <p:nvSpPr>
              <p:cNvPr id="27" name="CuadroTexto 26"/>
              <p:cNvSpPr txBox="1">
                <a:spLocks noRot="1" noChangeAspect="1" noMove="1" noResize="1" noEditPoints="1" noAdjustHandles="1" noChangeArrowheads="1" noChangeShapeType="1" noTextEdit="1"/>
              </p:cNvSpPr>
              <p:nvPr/>
            </p:nvSpPr>
            <p:spPr>
              <a:xfrm>
                <a:off x="5513512" y="4789696"/>
                <a:ext cx="3288336" cy="577659"/>
              </a:xfrm>
              <a:prstGeom prst="rect">
                <a:avLst/>
              </a:prstGeom>
              <a:blipFill rotWithShape="0">
                <a:blip r:embed="rId9"/>
                <a:stretch>
                  <a:fillRect/>
                </a:stretch>
              </a:blipFill>
            </p:spPr>
            <p:txBody>
              <a:bodyPr/>
              <a:lstStyle/>
              <a:p>
                <a:r>
                  <a:rPr lang="es-PE">
                    <a:noFill/>
                  </a:rPr>
                  <a:t> </a:t>
                </a:r>
              </a:p>
            </p:txBody>
          </p:sp>
        </mc:Fallback>
      </mc:AlternateContent>
      <p:sp>
        <p:nvSpPr>
          <p:cNvPr id="28" name="Marcador de contenido 2"/>
          <p:cNvSpPr txBox="1">
            <a:spLocks/>
          </p:cNvSpPr>
          <p:nvPr/>
        </p:nvSpPr>
        <p:spPr bwMode="auto">
          <a:xfrm>
            <a:off x="5413308" y="5606868"/>
            <a:ext cx="3932180" cy="9904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EFA82F"/>
              </a:buClr>
              <a:buFont typeface="Arial" pitchFamily="34" charset="0"/>
              <a:buChar char="•"/>
              <a:defRPr sz="2300" kern="1200">
                <a:solidFill>
                  <a:schemeClr val="tx1"/>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2100" b="0" i="0" u="none" kern="1200">
                <a:solidFill>
                  <a:schemeClr val="tx1"/>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2000" kern="1200">
                <a:solidFill>
                  <a:schemeClr val="tx1"/>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lgn="just">
              <a:buNone/>
              <a:defRPr/>
            </a:pP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Con el esfuerzo </a:t>
            </a:r>
            <a:r>
              <a:rPr kumimoji="0" lang="el-GR"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σ</a:t>
            </a:r>
            <a:r>
              <a:rPr kumimoji="0" lang="es-PE" sz="1600" b="0" i="0" u="none" strike="noStrike" kern="1200" cap="none" spc="0" normalizeH="0" baseline="0" noProof="0" dirty="0" smtClean="0">
                <a:ln>
                  <a:noFill/>
                </a:ln>
                <a:solidFill>
                  <a:sysClr val="windowText" lastClr="000000"/>
                </a:solidFill>
                <a:effectLst/>
                <a:uLnTx/>
                <a:uFillTx/>
                <a:latin typeface="Arial"/>
                <a:ea typeface="ＭＳ Ｐゴシック" charset="-128"/>
              </a:rPr>
              <a:t> positivo si es de tracción y </a:t>
            </a:r>
            <a:r>
              <a:rPr lang="es-PE" sz="1600" dirty="0" smtClean="0">
                <a:solidFill>
                  <a:sysClr val="windowText" lastClr="000000"/>
                </a:solidFill>
              </a:rPr>
              <a:t>negativo si es de compresión.</a:t>
            </a:r>
            <a:endParaRPr kumimoji="0" lang="es-PE" sz="1600" b="0" i="0" u="none" strike="noStrike" kern="1200" cap="none" spc="0" normalizeH="0" baseline="0" noProof="0" dirty="0">
              <a:ln>
                <a:noFill/>
              </a:ln>
              <a:solidFill>
                <a:sysClr val="windowText" lastClr="000000"/>
              </a:solidFill>
              <a:effectLst/>
              <a:uLnTx/>
              <a:uFillTx/>
              <a:latin typeface="Arial"/>
              <a:ea typeface="ＭＳ Ｐゴシック" charset="-128"/>
            </a:endParaRPr>
          </a:p>
        </p:txBody>
      </p:sp>
    </p:spTree>
    <p:extLst>
      <p:ext uri="{BB962C8B-B14F-4D97-AF65-F5344CB8AC3E}">
        <p14:creationId xmlns:p14="http://schemas.microsoft.com/office/powerpoint/2010/main" val="28677960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640632" y="908720"/>
            <a:ext cx="4392488"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MODULOS DE ELASTICIDAD</a:t>
            </a:r>
            <a:endParaRPr lang="es-PE" sz="2400" b="1" dirty="0">
              <a:solidFill>
                <a:schemeClr val="tx1"/>
              </a:solidFill>
            </a:endParaRPr>
          </a:p>
        </p:txBody>
      </p:sp>
      <p:pic>
        <p:nvPicPr>
          <p:cNvPr id="20" name="Imagen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2480" y="2060848"/>
            <a:ext cx="9086719" cy="398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32719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640632" y="908720"/>
            <a:ext cx="4392488"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EJERCICIOS</a:t>
            </a:r>
            <a:endParaRPr lang="es-PE" sz="2400" b="1" dirty="0">
              <a:solidFill>
                <a:schemeClr val="tx1"/>
              </a:solidFill>
            </a:endParaRPr>
          </a:p>
        </p:txBody>
      </p:sp>
      <mc:AlternateContent xmlns:mc="http://schemas.openxmlformats.org/markup-compatibility/2006" xmlns:a14="http://schemas.microsoft.com/office/drawing/2010/main">
        <mc:Choice Requires="a14">
          <p:sp>
            <p:nvSpPr>
              <p:cNvPr id="3" name="Rectángulo 2"/>
              <p:cNvSpPr/>
              <p:nvPr/>
            </p:nvSpPr>
            <p:spPr>
              <a:xfrm>
                <a:off x="344488" y="1772413"/>
                <a:ext cx="4392488" cy="1693925"/>
              </a:xfrm>
              <a:prstGeom prst="rect">
                <a:avLst/>
              </a:prstGeom>
            </p:spPr>
            <p:txBody>
              <a:bodyPr wrap="square">
                <a:spAutoFit/>
              </a:bodyPr>
              <a:lstStyle/>
              <a:p>
                <a:pPr algn="just">
                  <a:lnSpc>
                    <a:spcPct val="107000"/>
                  </a:lnSpc>
                  <a:spcAft>
                    <a:spcPts val="0"/>
                  </a:spcAft>
                </a:pPr>
                <a:r>
                  <a:rPr lang="es-PE" sz="1600" dirty="0">
                    <a:latin typeface="Arial" panose="020B0604020202020204" pitchFamily="34" charset="0"/>
                    <a:ea typeface="Calibri" panose="020F0502020204030204" pitchFamily="34" charset="0"/>
                    <a:cs typeface="Times New Roman" panose="02020603050405020304" pitchFamily="18" charset="0"/>
                  </a:rPr>
                  <a:t>Para la carga axial mostrada en la figura, </a:t>
                </a:r>
                <a14:m>
                  <m:oMath xmlns:m="http://schemas.openxmlformats.org/officeDocument/2006/math">
                    <m:sSub>
                      <m:sSubPr>
                        <m:ctrlPr>
                          <a:rPr lang="es-PE" sz="1600" i="1">
                            <a:effectLst/>
                            <a:latin typeface="Cambria Math" panose="02040503050406030204" pitchFamily="18" charset="0"/>
                            <a:ea typeface="Calibri" panose="020F0502020204030204" pitchFamily="34" charset="0"/>
                            <a:cs typeface="Arial" panose="020B0604020202020204" pitchFamily="34" charset="0"/>
                          </a:rPr>
                        </m:ctrlPr>
                      </m:sSubPr>
                      <m:e>
                        <m:r>
                          <a:rPr lang="es-PE" sz="1600" i="1">
                            <a:effectLst/>
                            <a:latin typeface="Cambria Math" panose="02040503050406030204" pitchFamily="18" charset="0"/>
                            <a:ea typeface="Calibri" panose="020F0502020204030204" pitchFamily="34" charset="0"/>
                            <a:cs typeface="Arial" panose="020B0604020202020204" pitchFamily="34" charset="0"/>
                          </a:rPr>
                          <m:t>𝜎</m:t>
                        </m:r>
                      </m:e>
                      <m:sub>
                        <m:r>
                          <a:rPr lang="es-PE" sz="1600" i="1">
                            <a:effectLst/>
                            <a:latin typeface="Cambria Math" panose="02040503050406030204" pitchFamily="18" charset="0"/>
                            <a:ea typeface="Calibri" panose="020F0502020204030204" pitchFamily="34" charset="0"/>
                            <a:cs typeface="Arial" panose="020B0604020202020204" pitchFamily="34" charset="0"/>
                          </a:rPr>
                          <m:t>𝑦</m:t>
                        </m:r>
                      </m:sub>
                    </m:sSub>
                    <m:r>
                      <a:rPr lang="es-PE" sz="1600" i="1">
                        <a:effectLst/>
                        <a:latin typeface="Cambria Math" panose="02040503050406030204" pitchFamily="18" charset="0"/>
                        <a:ea typeface="Calibri" panose="020F0502020204030204" pitchFamily="34" charset="0"/>
                        <a:cs typeface="Arial" panose="020B0604020202020204" pitchFamily="34" charset="0"/>
                      </a:rPr>
                      <m:t>=75,8 </m:t>
                    </m:r>
                    <m:r>
                      <a:rPr lang="es-PE" sz="1600" i="1">
                        <a:effectLst/>
                        <a:latin typeface="Cambria Math" panose="02040503050406030204" pitchFamily="18" charset="0"/>
                        <a:ea typeface="Calibri" panose="020F0502020204030204" pitchFamily="34" charset="0"/>
                        <a:cs typeface="Arial" panose="020B0604020202020204" pitchFamily="34" charset="0"/>
                      </a:rPr>
                      <m:t>𝑀𝑃𝑎</m:t>
                    </m:r>
                    <m:r>
                      <a:rPr lang="es-PE" sz="1600" i="1">
                        <a:effectLst/>
                        <a:latin typeface="Cambria Math" panose="02040503050406030204" pitchFamily="18" charset="0"/>
                        <a:ea typeface="Calibri" panose="020F0502020204030204" pitchFamily="34" charset="0"/>
                        <a:cs typeface="Arial" panose="020B0604020202020204" pitchFamily="34" charset="0"/>
                      </a:rPr>
                      <m:t> , </m:t>
                    </m:r>
                    <m:sSub>
                      <m:sSubPr>
                        <m:ctrlPr>
                          <a:rPr lang="es-PE" sz="1600" i="1">
                            <a:effectLst/>
                            <a:latin typeface="Cambria Math" panose="02040503050406030204" pitchFamily="18" charset="0"/>
                            <a:ea typeface="Times New Roman" panose="02020603050405020304" pitchFamily="18" charset="0"/>
                            <a:cs typeface="Arial" panose="020B0604020202020204" pitchFamily="34" charset="0"/>
                          </a:rPr>
                        </m:ctrlPr>
                      </m:sSubPr>
                      <m:e>
                        <m:r>
                          <a:rPr lang="es-PE" sz="1600" i="1">
                            <a:effectLst/>
                            <a:latin typeface="Cambria Math" panose="02040503050406030204" pitchFamily="18" charset="0"/>
                            <a:ea typeface="Times New Roman" panose="02020603050405020304" pitchFamily="18" charset="0"/>
                            <a:cs typeface="Arial" panose="020B0604020202020204" pitchFamily="34" charset="0"/>
                          </a:rPr>
                          <m:t>𝑌</m:t>
                        </m:r>
                      </m:e>
                      <m:sub>
                        <m:r>
                          <a:rPr lang="es-PE" sz="1600" i="1">
                            <a:effectLst/>
                            <a:latin typeface="Cambria Math" panose="02040503050406030204" pitchFamily="18" charset="0"/>
                            <a:ea typeface="Times New Roman" panose="02020603050405020304" pitchFamily="18" charset="0"/>
                            <a:cs typeface="Arial" panose="020B0604020202020204" pitchFamily="34" charset="0"/>
                          </a:rPr>
                          <m:t>𝑙𝑎𝑡</m:t>
                        </m:r>
                        <m:r>
                          <a:rPr lang="es-PE" sz="1600" i="1">
                            <a:effectLst/>
                            <a:latin typeface="Cambria Math" panose="02040503050406030204" pitchFamily="18" charset="0"/>
                            <a:ea typeface="Times New Roman" panose="02020603050405020304" pitchFamily="18" charset="0"/>
                            <a:cs typeface="Arial" panose="020B0604020202020204" pitchFamily="34" charset="0"/>
                          </a:rPr>
                          <m:t>ó</m:t>
                        </m:r>
                        <m:r>
                          <a:rPr lang="es-PE" sz="1600" i="1">
                            <a:effectLst/>
                            <a:latin typeface="Cambria Math" panose="02040503050406030204" pitchFamily="18" charset="0"/>
                            <a:ea typeface="Times New Roman" panose="02020603050405020304" pitchFamily="18" charset="0"/>
                            <a:cs typeface="Arial" panose="020B0604020202020204" pitchFamily="34" charset="0"/>
                          </a:rPr>
                          <m:t>𝑛</m:t>
                        </m:r>
                      </m:sub>
                    </m:sSub>
                    <m:r>
                      <a:rPr lang="es-PE" sz="1600" i="1">
                        <a:effectLst/>
                        <a:latin typeface="Cambria Math" panose="02040503050406030204" pitchFamily="18" charset="0"/>
                        <a:ea typeface="Times New Roman" panose="02020603050405020304" pitchFamily="18" charset="0"/>
                        <a:cs typeface="Arial" panose="020B0604020202020204" pitchFamily="34" charset="0"/>
                      </a:rPr>
                      <m:t>=105 </m:t>
                    </m:r>
                    <m:r>
                      <a:rPr lang="es-PE" sz="1600" i="1">
                        <a:effectLst/>
                        <a:latin typeface="Cambria Math" panose="02040503050406030204" pitchFamily="18" charset="0"/>
                        <a:ea typeface="Times New Roman" panose="02020603050405020304" pitchFamily="18" charset="0"/>
                        <a:cs typeface="Arial" panose="020B0604020202020204" pitchFamily="34" charset="0"/>
                      </a:rPr>
                      <m:t>𝐺𝑃𝑎</m:t>
                    </m:r>
                    <m:r>
                      <a:rPr lang="es-PE" sz="1600" i="1">
                        <a:effectLst/>
                        <a:latin typeface="Cambria Math" panose="02040503050406030204" pitchFamily="18" charset="0"/>
                        <a:ea typeface="Times New Roman" panose="02020603050405020304" pitchFamily="18" charset="0"/>
                        <a:cs typeface="Arial" panose="020B0604020202020204" pitchFamily="34" charset="0"/>
                      </a:rPr>
                      <m:t>  </m:t>
                    </m:r>
                    <m:r>
                      <a:rPr lang="es-PE" sz="1600" i="1">
                        <a:effectLst/>
                        <a:latin typeface="Cambria Math" panose="02040503050406030204" pitchFamily="18" charset="0"/>
                        <a:ea typeface="Times New Roman" panose="02020603050405020304" pitchFamily="18" charset="0"/>
                        <a:cs typeface="Arial" panose="020B0604020202020204" pitchFamily="34" charset="0"/>
                      </a:rPr>
                      <m:t>𝑦</m:t>
                    </m:r>
                    <m:r>
                      <a:rPr lang="es-PE" sz="1600" i="1">
                        <a:effectLst/>
                        <a:latin typeface="Cambria Math" panose="02040503050406030204" pitchFamily="18" charset="0"/>
                        <a:ea typeface="Times New Roman" panose="02020603050405020304" pitchFamily="18" charset="0"/>
                        <a:cs typeface="Arial" panose="020B0604020202020204" pitchFamily="34" charset="0"/>
                      </a:rPr>
                      <m:t>  </m:t>
                    </m:r>
                    <m:r>
                      <a:rPr lang="es-PE" sz="1600" i="1">
                        <a:effectLst/>
                        <a:latin typeface="Cambria Math" panose="02040503050406030204" pitchFamily="18" charset="0"/>
                        <a:ea typeface="Times New Roman" panose="02020603050405020304" pitchFamily="18" charset="0"/>
                        <a:cs typeface="Arial" panose="020B0604020202020204" pitchFamily="34" charset="0"/>
                      </a:rPr>
                      <m:t>𝜇</m:t>
                    </m:r>
                    <m:r>
                      <a:rPr lang="es-PE" sz="1600" i="1">
                        <a:effectLst/>
                        <a:latin typeface="Cambria Math" panose="02040503050406030204" pitchFamily="18" charset="0"/>
                        <a:ea typeface="Times New Roman" panose="02020603050405020304" pitchFamily="18" charset="0"/>
                        <a:cs typeface="Arial" panose="020B0604020202020204" pitchFamily="34" charset="0"/>
                      </a:rPr>
                      <m:t>=0,332 </m:t>
                    </m:r>
                  </m:oMath>
                </a14:m>
                <a:r>
                  <a:rPr lang="es-PE" sz="1600" dirty="0">
                    <a:effectLst/>
                    <a:latin typeface="Arial" panose="020B0604020202020204" pitchFamily="34" charset="0"/>
                    <a:ea typeface="Times New Roman" panose="02020603050405020304" pitchFamily="18" charset="0"/>
                    <a:cs typeface="Times New Roman" panose="02020603050405020304" pitchFamily="18" charset="0"/>
                  </a:rPr>
                  <a:t> </a:t>
                </a:r>
                <a:r>
                  <a:rPr lang="es-PE" sz="1600" dirty="0">
                    <a:effectLst/>
                    <a:latin typeface="Arial" panose="020B0604020202020204" pitchFamily="34" charset="0"/>
                    <a:ea typeface="Calibri" panose="020F0502020204030204" pitchFamily="34" charset="0"/>
                    <a:cs typeface="Times New Roman" panose="02020603050405020304" pitchFamily="18" charset="0"/>
                  </a:rPr>
                  <a:t>determine: (a) el cambio en altura, (b) el cambio de diámetro y (c) el cambio en volumen del cilindro de latón mostrado si h = 140 mm y D = 92,0 </a:t>
                </a:r>
                <a:r>
                  <a:rPr lang="es-PE" sz="1600" dirty="0" err="1">
                    <a:effectLst/>
                    <a:latin typeface="Arial" panose="020B0604020202020204" pitchFamily="34" charset="0"/>
                    <a:ea typeface="Calibri" panose="020F0502020204030204" pitchFamily="34" charset="0"/>
                    <a:cs typeface="Times New Roman" panose="02020603050405020304" pitchFamily="18" charset="0"/>
                  </a:rPr>
                  <a:t>mm.</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Rectángulo 2"/>
              <p:cNvSpPr>
                <a:spLocks noRot="1" noChangeAspect="1" noMove="1" noResize="1" noEditPoints="1" noAdjustHandles="1" noChangeArrowheads="1" noChangeShapeType="1" noTextEdit="1"/>
              </p:cNvSpPr>
              <p:nvPr/>
            </p:nvSpPr>
            <p:spPr>
              <a:xfrm>
                <a:off x="344488" y="1772413"/>
                <a:ext cx="4392488" cy="1693925"/>
              </a:xfrm>
              <a:prstGeom prst="rect">
                <a:avLst/>
              </a:prstGeom>
              <a:blipFill rotWithShape="0">
                <a:blip r:embed="rId2"/>
                <a:stretch>
                  <a:fillRect l="-833" t="-360" r="-694" b="-2518"/>
                </a:stretch>
              </a:blipFill>
            </p:spPr>
            <p:txBody>
              <a:bodyPr/>
              <a:lstStyle/>
              <a:p>
                <a:r>
                  <a:rPr lang="es-PE">
                    <a:noFill/>
                  </a:rPr>
                  <a:t> </a:t>
                </a:r>
              </a:p>
            </p:txBody>
          </p:sp>
        </mc:Fallback>
      </mc:AlternateContent>
      <p:pic>
        <p:nvPicPr>
          <p:cNvPr id="7" name="Imagen 6" descr="C:\Users\Nelson Alberto\AppData\Local\Microsoft\Windows\INetCache\Content.Word\tubo.png"/>
          <p:cNvPicPr/>
          <p:nvPr/>
        </p:nvPicPr>
        <p:blipFill>
          <a:blip r:embed="rId3">
            <a:extLst>
              <a:ext uri="{28A0092B-C50C-407E-A947-70E740481C1C}">
                <a14:useLocalDpi xmlns:a14="http://schemas.microsoft.com/office/drawing/2010/main" val="0"/>
              </a:ext>
            </a:extLst>
          </a:blip>
          <a:srcRect/>
          <a:stretch>
            <a:fillRect/>
          </a:stretch>
        </p:blipFill>
        <p:spPr bwMode="auto">
          <a:xfrm>
            <a:off x="1668270" y="3861048"/>
            <a:ext cx="1562100" cy="2495550"/>
          </a:xfrm>
          <a:prstGeom prst="rect">
            <a:avLst/>
          </a:prstGeom>
          <a:noFill/>
          <a:ln>
            <a:noFill/>
          </a:ln>
        </p:spPr>
      </p:pic>
      <mc:AlternateContent xmlns:mc="http://schemas.openxmlformats.org/markup-compatibility/2006" xmlns:a14="http://schemas.microsoft.com/office/drawing/2010/main">
        <mc:Choice Requires="a14">
          <p:sp>
            <p:nvSpPr>
              <p:cNvPr id="4" name="Rectángulo 3"/>
              <p:cNvSpPr/>
              <p:nvPr/>
            </p:nvSpPr>
            <p:spPr>
              <a:xfrm>
                <a:off x="5529064" y="1772413"/>
                <a:ext cx="4032448" cy="1855316"/>
              </a:xfrm>
              <a:prstGeom prst="rect">
                <a:avLst/>
              </a:prstGeom>
            </p:spPr>
            <p:txBody>
              <a:bodyPr wrap="square">
                <a:spAutoFit/>
              </a:bodyPr>
              <a:lstStyle/>
              <a:p>
                <a:pPr algn="just"/>
                <a:r>
                  <a:rPr lang="es-PE" sz="1600" dirty="0" smtClean="0">
                    <a:latin typeface="Arial" panose="020B0604020202020204" pitchFamily="34" charset="0"/>
                    <a:cs typeface="Arial" panose="020B0604020202020204" pitchFamily="34" charset="0"/>
                  </a:rPr>
                  <a:t>El bloque mostrado en la figura es de una aleación de magnesio para la que </a:t>
                </a:r>
                <a14:m>
                  <m:oMath xmlns:m="http://schemas.openxmlformats.org/officeDocument/2006/math">
                    <m:sSub>
                      <m:sSubPr>
                        <m:ctrlPr>
                          <a:rPr lang="es-PE" sz="1600" i="1">
                            <a:latin typeface="Cambria Math" panose="02040503050406030204" pitchFamily="18" charset="0"/>
                            <a:ea typeface="Calibri" panose="020F0502020204030204" pitchFamily="34" charset="0"/>
                            <a:cs typeface="Arial" panose="020B0604020202020204" pitchFamily="34" charset="0"/>
                          </a:rPr>
                        </m:ctrlPr>
                      </m:sSubPr>
                      <m:e>
                        <m:r>
                          <a:rPr lang="es-PE" sz="1600" i="1">
                            <a:latin typeface="Cambria Math" panose="02040503050406030204" pitchFamily="18" charset="0"/>
                            <a:ea typeface="Calibri" panose="020F0502020204030204" pitchFamily="34" charset="0"/>
                            <a:cs typeface="Arial" panose="020B0604020202020204" pitchFamily="34" charset="0"/>
                          </a:rPr>
                          <m:t>𝜎</m:t>
                        </m:r>
                      </m:e>
                      <m:sub>
                        <m:r>
                          <a:rPr lang="es-ES" sz="1600" b="0" i="1" smtClean="0">
                            <a:latin typeface="Cambria Math" panose="02040503050406030204" pitchFamily="18" charset="0"/>
                            <a:ea typeface="Calibri" panose="020F0502020204030204" pitchFamily="34" charset="0"/>
                            <a:cs typeface="Arial" panose="020B0604020202020204" pitchFamily="34" charset="0"/>
                          </a:rPr>
                          <m:t>𝑋</m:t>
                        </m:r>
                      </m:sub>
                    </m:sSub>
                    <m:r>
                      <a:rPr lang="es-PE" sz="1600" i="1">
                        <a:latin typeface="Cambria Math" panose="02040503050406030204" pitchFamily="18" charset="0"/>
                        <a:ea typeface="Calibri" panose="020F0502020204030204" pitchFamily="34" charset="0"/>
                        <a:cs typeface="Arial" panose="020B0604020202020204" pitchFamily="34" charset="0"/>
                      </a:rPr>
                      <m:t>=</m:t>
                    </m:r>
                    <m:r>
                      <a:rPr lang="es-ES" sz="1600" b="0" i="1" smtClean="0">
                        <a:latin typeface="Cambria Math" panose="02040503050406030204" pitchFamily="18" charset="0"/>
                        <a:ea typeface="Calibri" panose="020F0502020204030204" pitchFamily="34" charset="0"/>
                        <a:cs typeface="Arial" panose="020B0604020202020204" pitchFamily="34" charset="0"/>
                      </a:rPr>
                      <m:t>180</m:t>
                    </m:r>
                    <m:r>
                      <a:rPr lang="es-PE" sz="1600" i="1">
                        <a:latin typeface="Cambria Math" panose="02040503050406030204" pitchFamily="18" charset="0"/>
                        <a:ea typeface="Calibri" panose="020F0502020204030204" pitchFamily="34" charset="0"/>
                        <a:cs typeface="Arial" panose="020B0604020202020204" pitchFamily="34" charset="0"/>
                      </a:rPr>
                      <m:t> </m:t>
                    </m:r>
                    <m:r>
                      <a:rPr lang="es-PE" sz="1600" i="1">
                        <a:latin typeface="Cambria Math" panose="02040503050406030204" pitchFamily="18" charset="0"/>
                        <a:ea typeface="Calibri" panose="020F0502020204030204" pitchFamily="34" charset="0"/>
                        <a:cs typeface="Arial" panose="020B0604020202020204" pitchFamily="34" charset="0"/>
                      </a:rPr>
                      <m:t>𝑀𝑃𝑎</m:t>
                    </m:r>
                    <m:r>
                      <a:rPr lang="es-PE" sz="1600" i="1">
                        <a:latin typeface="Cambria Math" panose="02040503050406030204" pitchFamily="18" charset="0"/>
                        <a:ea typeface="Calibri" panose="020F0502020204030204" pitchFamily="34" charset="0"/>
                        <a:cs typeface="Arial" panose="020B0604020202020204" pitchFamily="34" charset="0"/>
                      </a:rPr>
                      <m:t> , </m:t>
                    </m:r>
                    <m:sSub>
                      <m:sSubPr>
                        <m:ctrlPr>
                          <a:rPr lang="es-PE" sz="1600" i="1">
                            <a:latin typeface="Cambria Math" panose="02040503050406030204" pitchFamily="18" charset="0"/>
                            <a:ea typeface="Times New Roman" panose="02020603050405020304" pitchFamily="18" charset="0"/>
                            <a:cs typeface="Arial" panose="020B0604020202020204" pitchFamily="34" charset="0"/>
                          </a:rPr>
                        </m:ctrlPr>
                      </m:sSubPr>
                      <m:e>
                        <m:r>
                          <a:rPr lang="es-PE" sz="1600" i="1">
                            <a:latin typeface="Cambria Math" panose="02040503050406030204" pitchFamily="18" charset="0"/>
                            <a:ea typeface="Times New Roman" panose="02020603050405020304" pitchFamily="18" charset="0"/>
                            <a:cs typeface="Arial" panose="020B0604020202020204" pitchFamily="34" charset="0"/>
                          </a:rPr>
                          <m:t>𝑌</m:t>
                        </m:r>
                      </m:e>
                      <m:sub>
                        <m:r>
                          <a:rPr lang="es-ES" sz="1600" b="0" i="1" smtClean="0">
                            <a:latin typeface="Cambria Math" panose="02040503050406030204" pitchFamily="18" charset="0"/>
                            <a:ea typeface="Times New Roman" panose="02020603050405020304" pitchFamily="18" charset="0"/>
                            <a:cs typeface="Arial" panose="020B0604020202020204" pitchFamily="34" charset="0"/>
                          </a:rPr>
                          <m:t>𝑀𝑔</m:t>
                        </m:r>
                      </m:sub>
                    </m:sSub>
                    <m:r>
                      <a:rPr lang="es-PE" sz="1600" i="1">
                        <a:latin typeface="Cambria Math" panose="02040503050406030204" pitchFamily="18" charset="0"/>
                        <a:ea typeface="Times New Roman" panose="02020603050405020304" pitchFamily="18" charset="0"/>
                        <a:cs typeface="Arial" panose="020B0604020202020204" pitchFamily="34" charset="0"/>
                      </a:rPr>
                      <m:t>=</m:t>
                    </m:r>
                    <m:r>
                      <a:rPr lang="es-ES" sz="1600" b="0" i="1" smtClean="0">
                        <a:latin typeface="Cambria Math" panose="02040503050406030204" pitchFamily="18" charset="0"/>
                        <a:ea typeface="Times New Roman" panose="02020603050405020304" pitchFamily="18" charset="0"/>
                        <a:cs typeface="Arial" panose="020B0604020202020204" pitchFamily="34" charset="0"/>
                      </a:rPr>
                      <m:t>45,0</m:t>
                    </m:r>
                    <m:r>
                      <a:rPr lang="es-PE" sz="1600" i="1">
                        <a:latin typeface="Cambria Math" panose="02040503050406030204" pitchFamily="18" charset="0"/>
                        <a:ea typeface="Times New Roman" panose="02020603050405020304" pitchFamily="18" charset="0"/>
                        <a:cs typeface="Arial" panose="020B0604020202020204" pitchFamily="34" charset="0"/>
                      </a:rPr>
                      <m:t> </m:t>
                    </m:r>
                    <m:r>
                      <a:rPr lang="es-PE" sz="1600" i="1">
                        <a:latin typeface="Cambria Math" panose="02040503050406030204" pitchFamily="18" charset="0"/>
                        <a:ea typeface="Times New Roman" panose="02020603050405020304" pitchFamily="18" charset="0"/>
                        <a:cs typeface="Arial" panose="020B0604020202020204" pitchFamily="34" charset="0"/>
                      </a:rPr>
                      <m:t>𝐺𝑃𝑎</m:t>
                    </m:r>
                    <m:r>
                      <a:rPr lang="es-PE" sz="1600" i="1">
                        <a:latin typeface="Cambria Math" panose="02040503050406030204" pitchFamily="18" charset="0"/>
                        <a:ea typeface="Times New Roman" panose="02020603050405020304" pitchFamily="18" charset="0"/>
                        <a:cs typeface="Arial" panose="020B0604020202020204" pitchFamily="34" charset="0"/>
                      </a:rPr>
                      <m:t>  </m:t>
                    </m:r>
                    <m:r>
                      <a:rPr lang="es-PE" sz="1600" i="1">
                        <a:latin typeface="Cambria Math" panose="02040503050406030204" pitchFamily="18" charset="0"/>
                        <a:ea typeface="Times New Roman" panose="02020603050405020304" pitchFamily="18" charset="0"/>
                        <a:cs typeface="Arial" panose="020B0604020202020204" pitchFamily="34" charset="0"/>
                      </a:rPr>
                      <m:t>𝑦</m:t>
                    </m:r>
                    <m:r>
                      <a:rPr lang="es-PE" sz="1600" i="1">
                        <a:latin typeface="Cambria Math" panose="02040503050406030204" pitchFamily="18" charset="0"/>
                        <a:ea typeface="Times New Roman" panose="02020603050405020304" pitchFamily="18" charset="0"/>
                        <a:cs typeface="Arial" panose="020B0604020202020204" pitchFamily="34" charset="0"/>
                      </a:rPr>
                      <m:t>  </m:t>
                    </m:r>
                    <m:r>
                      <a:rPr lang="es-PE" sz="1600" i="1">
                        <a:latin typeface="Cambria Math" panose="02040503050406030204" pitchFamily="18" charset="0"/>
                        <a:ea typeface="Times New Roman" panose="02020603050405020304" pitchFamily="18" charset="0"/>
                        <a:cs typeface="Arial" panose="020B0604020202020204" pitchFamily="34" charset="0"/>
                      </a:rPr>
                      <m:t>𝜇</m:t>
                    </m:r>
                    <m:r>
                      <a:rPr lang="es-PE" sz="1600" i="1">
                        <a:latin typeface="Cambria Math" panose="02040503050406030204" pitchFamily="18" charset="0"/>
                        <a:ea typeface="Times New Roman" panose="02020603050405020304" pitchFamily="18" charset="0"/>
                        <a:cs typeface="Arial" panose="020B0604020202020204" pitchFamily="34" charset="0"/>
                      </a:rPr>
                      <m:t>=0,350 </m:t>
                    </m:r>
                  </m:oMath>
                </a14:m>
                <a:r>
                  <a:rPr lang="es-PE" sz="1600" dirty="0">
                    <a:latin typeface="Arial" panose="020B0604020202020204" pitchFamily="34" charset="0"/>
                    <a:ea typeface="Times New Roman" panose="02020603050405020304" pitchFamily="18" charset="0"/>
                    <a:cs typeface="Times New Roman" panose="02020603050405020304" pitchFamily="18" charset="0"/>
                  </a:rPr>
                  <a:t> </a:t>
                </a:r>
                <a:r>
                  <a:rPr lang="es-PE" sz="1600" dirty="0" smtClean="0">
                    <a:latin typeface="Arial" panose="020B0604020202020204" pitchFamily="34" charset="0"/>
                    <a:cs typeface="Arial" panose="020B0604020202020204" pitchFamily="34" charset="0"/>
                  </a:rPr>
                  <a:t>determine </a:t>
                </a:r>
                <a:r>
                  <a:rPr lang="es-PE" sz="1600" i="1" dirty="0">
                    <a:latin typeface="Arial" panose="020B0604020202020204" pitchFamily="34" charset="0"/>
                    <a:cs typeface="Arial" panose="020B0604020202020204" pitchFamily="34" charset="0"/>
                  </a:rPr>
                  <a:t>a</a:t>
                </a:r>
                <a:r>
                  <a:rPr lang="es-PE" sz="1600" dirty="0">
                    <a:latin typeface="Arial" panose="020B0604020202020204" pitchFamily="34" charset="0"/>
                    <a:cs typeface="Arial" panose="020B0604020202020204" pitchFamily="34" charset="0"/>
                  </a:rPr>
                  <a:t>) la </a:t>
                </a:r>
                <a:r>
                  <a:rPr lang="es-PE" sz="1600" dirty="0" smtClean="0">
                    <a:latin typeface="Arial" panose="020B0604020202020204" pitchFamily="34" charset="0"/>
                    <a:cs typeface="Arial" panose="020B0604020202020204" pitchFamily="34" charset="0"/>
                  </a:rPr>
                  <a:t>magnitud de</a:t>
                </a:r>
                <a14:m>
                  <m:oMath xmlns:m="http://schemas.openxmlformats.org/officeDocument/2006/math">
                    <m:r>
                      <a:rPr lang="es-ES" sz="1600" b="0" i="0" smtClean="0">
                        <a:latin typeface="Cambria Math" panose="02040503050406030204" pitchFamily="18" charset="0"/>
                        <a:ea typeface="Calibri" panose="020F0502020204030204" pitchFamily="34" charset="0"/>
                        <a:cs typeface="Arial" panose="020B0604020202020204" pitchFamily="34" charset="0"/>
                      </a:rPr>
                      <m:t>  </m:t>
                    </m:r>
                    <m:sSub>
                      <m:sSubPr>
                        <m:ctrlPr>
                          <a:rPr lang="es-PE" sz="1600" i="1">
                            <a:latin typeface="Cambria Math" panose="02040503050406030204" pitchFamily="18" charset="0"/>
                            <a:ea typeface="Calibri" panose="020F0502020204030204" pitchFamily="34" charset="0"/>
                            <a:cs typeface="Arial" panose="020B0604020202020204" pitchFamily="34" charset="0"/>
                          </a:rPr>
                        </m:ctrlPr>
                      </m:sSubPr>
                      <m:e>
                        <m:r>
                          <a:rPr lang="es-PE" sz="1600" i="1">
                            <a:latin typeface="Cambria Math" panose="02040503050406030204" pitchFamily="18" charset="0"/>
                            <a:ea typeface="Calibri" panose="020F0502020204030204" pitchFamily="34" charset="0"/>
                            <a:cs typeface="Arial" panose="020B0604020202020204" pitchFamily="34" charset="0"/>
                          </a:rPr>
                          <m:t>𝜎</m:t>
                        </m:r>
                      </m:e>
                      <m:sub>
                        <m:r>
                          <a:rPr lang="es-PE" sz="1600" i="1">
                            <a:latin typeface="Cambria Math" panose="02040503050406030204" pitchFamily="18" charset="0"/>
                            <a:ea typeface="Calibri" panose="020F0502020204030204" pitchFamily="34" charset="0"/>
                            <a:cs typeface="Arial" panose="020B0604020202020204" pitchFamily="34" charset="0"/>
                          </a:rPr>
                          <m:t>𝑦</m:t>
                        </m:r>
                      </m:sub>
                    </m:sSub>
                  </m:oMath>
                </a14:m>
                <a:r>
                  <a:rPr lang="es-PE" sz="1600" dirty="0" smtClean="0">
                    <a:latin typeface="Arial" panose="020B0604020202020204" pitchFamily="34" charset="0"/>
                    <a:cs typeface="Arial" panose="020B0604020202020204" pitchFamily="34" charset="0"/>
                  </a:rPr>
                  <a:t> b) el cambio correspondiente en </a:t>
                </a:r>
                <a:r>
                  <a:rPr lang="es-PE" sz="1600" dirty="0">
                    <a:latin typeface="Arial" panose="020B0604020202020204" pitchFamily="34" charset="0"/>
                    <a:cs typeface="Arial" panose="020B0604020202020204" pitchFamily="34" charset="0"/>
                  </a:rPr>
                  <a:t>el área de la cara </a:t>
                </a:r>
                <a:r>
                  <a:rPr lang="es-PE" sz="1600" i="1" dirty="0">
                    <a:latin typeface="Arial" panose="020B0604020202020204" pitchFamily="34" charset="0"/>
                    <a:cs typeface="Arial" panose="020B0604020202020204" pitchFamily="34" charset="0"/>
                  </a:rPr>
                  <a:t>ABCD</a:t>
                </a:r>
                <a:r>
                  <a:rPr lang="es-PE" sz="1600" dirty="0">
                    <a:latin typeface="Arial" panose="020B0604020202020204" pitchFamily="34" charset="0"/>
                    <a:cs typeface="Arial" panose="020B0604020202020204" pitchFamily="34" charset="0"/>
                  </a:rPr>
                  <a:t>, </a:t>
                </a:r>
                <a:r>
                  <a:rPr lang="es-PE" sz="1600" i="1" dirty="0">
                    <a:latin typeface="Arial" panose="020B0604020202020204" pitchFamily="34" charset="0"/>
                    <a:cs typeface="Arial" panose="020B0604020202020204" pitchFamily="34" charset="0"/>
                  </a:rPr>
                  <a:t>c</a:t>
                </a:r>
                <a:r>
                  <a:rPr lang="es-PE" sz="1600" dirty="0">
                    <a:latin typeface="Arial" panose="020B0604020202020204" pitchFamily="34" charset="0"/>
                    <a:cs typeface="Arial" panose="020B0604020202020204" pitchFamily="34" charset="0"/>
                  </a:rPr>
                  <a:t>) el cambio correspondiente en el </a:t>
                </a:r>
                <a:r>
                  <a:rPr lang="es-PE" sz="1600" dirty="0" smtClean="0">
                    <a:latin typeface="Arial" panose="020B0604020202020204" pitchFamily="34" charset="0"/>
                    <a:cs typeface="Arial" panose="020B0604020202020204" pitchFamily="34" charset="0"/>
                  </a:rPr>
                  <a:t>volumen del </a:t>
                </a:r>
                <a:r>
                  <a:rPr lang="es-PE" sz="1600" dirty="0">
                    <a:latin typeface="Arial" panose="020B0604020202020204" pitchFamily="34" charset="0"/>
                    <a:cs typeface="Arial" panose="020B0604020202020204" pitchFamily="34" charset="0"/>
                  </a:rPr>
                  <a:t>bloque.</a:t>
                </a:r>
              </a:p>
            </p:txBody>
          </p:sp>
        </mc:Choice>
        <mc:Fallback xmlns="">
          <p:sp>
            <p:nvSpPr>
              <p:cNvPr id="4" name="Rectángulo 3"/>
              <p:cNvSpPr>
                <a:spLocks noRot="1" noChangeAspect="1" noMove="1" noResize="1" noEditPoints="1" noAdjustHandles="1" noChangeArrowheads="1" noChangeShapeType="1" noTextEdit="1"/>
              </p:cNvSpPr>
              <p:nvPr/>
            </p:nvSpPr>
            <p:spPr>
              <a:xfrm>
                <a:off x="5529064" y="1772413"/>
                <a:ext cx="4032448" cy="1855316"/>
              </a:xfrm>
              <a:prstGeom prst="rect">
                <a:avLst/>
              </a:prstGeom>
              <a:blipFill rotWithShape="0">
                <a:blip r:embed="rId4"/>
                <a:stretch>
                  <a:fillRect l="-908" t="-987" r="-756" b="-3618"/>
                </a:stretch>
              </a:blipFill>
            </p:spPr>
            <p:txBody>
              <a:bodyPr/>
              <a:lstStyle/>
              <a:p>
                <a:r>
                  <a:rPr lang="es-PE">
                    <a:noFill/>
                  </a:rPr>
                  <a:t> </a:t>
                </a:r>
              </a:p>
            </p:txBody>
          </p:sp>
        </mc:Fallback>
      </mc:AlternateContent>
      <p:pic>
        <p:nvPicPr>
          <p:cNvPr id="5" name="Imagen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7373" y="3987366"/>
            <a:ext cx="2915829" cy="1982001"/>
          </a:xfrm>
          <a:prstGeom prst="rect">
            <a:avLst/>
          </a:prstGeom>
        </p:spPr>
      </p:pic>
    </p:spTree>
    <p:extLst>
      <p:ext uri="{BB962C8B-B14F-4D97-AF65-F5344CB8AC3E}">
        <p14:creationId xmlns:p14="http://schemas.microsoft.com/office/powerpoint/2010/main" val="9003497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Rectángulo redondeado 5"/>
              <p:cNvSpPr/>
              <p:nvPr/>
            </p:nvSpPr>
            <p:spPr>
              <a:xfrm>
                <a:off x="1712640" y="981978"/>
                <a:ext cx="6120680" cy="609582"/>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smtClean="0">
                    <a:solidFill>
                      <a:schemeClr val="tx1"/>
                    </a:solidFill>
                    <a:latin typeface="Arial" panose="020B0604020202020204" pitchFamily="34" charset="0"/>
                    <a:cs typeface="Arial" panose="020B0604020202020204" pitchFamily="34" charset="0"/>
                  </a:rPr>
                  <a:t>DEFORMACIÓN POR TORSIÓN </a:t>
                </a:r>
                <a14:m>
                  <m:oMath xmlns:m="http://schemas.openxmlformats.org/officeDocument/2006/math">
                    <m:r>
                      <a:rPr lang="es-PE" sz="2400" b="1" i="0" smtClean="0">
                        <a:solidFill>
                          <a:schemeClr val="tx1"/>
                        </a:solidFill>
                        <a:latin typeface="Cambria Math" panose="02040503050406030204" pitchFamily="18" charset="0"/>
                      </a:rPr>
                      <m:t>(</m:t>
                    </m:r>
                    <m:r>
                      <a:rPr lang="es-PE" sz="2400" b="1" i="1">
                        <a:solidFill>
                          <a:schemeClr val="tx1"/>
                        </a:solidFill>
                        <a:latin typeface="Cambria Math" panose="02040503050406030204" pitchFamily="18" charset="0"/>
                        <a:ea typeface="Cambria Math" panose="02040503050406030204" pitchFamily="18" charset="0"/>
                      </a:rPr>
                      <m:t>𝜸</m:t>
                    </m:r>
                    <m:r>
                      <a:rPr lang="es-PE" sz="2400" b="1" i="1" smtClean="0">
                        <a:solidFill>
                          <a:schemeClr val="tx1"/>
                        </a:solidFill>
                        <a:latin typeface="Cambria Math" panose="02040503050406030204" pitchFamily="18" charset="0"/>
                        <a:ea typeface="Cambria Math" panose="02040503050406030204" pitchFamily="18" charset="0"/>
                      </a:rPr>
                      <m:t>)</m:t>
                    </m:r>
                  </m:oMath>
                </a14:m>
                <a:endParaRPr lang="es-PE" sz="2400" b="1" dirty="0">
                  <a:solidFill>
                    <a:schemeClr val="tx1"/>
                  </a:solidFill>
                </a:endParaRPr>
              </a:p>
            </p:txBody>
          </p:sp>
        </mc:Choice>
        <mc:Fallback xmlns="">
          <p:sp>
            <p:nvSpPr>
              <p:cNvPr id="6" name="Rectángulo redondeado 5"/>
              <p:cNvSpPr>
                <a:spLocks noRot="1" noChangeAspect="1" noMove="1" noResize="1" noEditPoints="1" noAdjustHandles="1" noChangeArrowheads="1" noChangeShapeType="1" noTextEdit="1"/>
              </p:cNvSpPr>
              <p:nvPr/>
            </p:nvSpPr>
            <p:spPr>
              <a:xfrm>
                <a:off x="1712640" y="981978"/>
                <a:ext cx="6120680" cy="609582"/>
              </a:xfrm>
              <a:prstGeom prst="roundRect">
                <a:avLst/>
              </a:prstGeom>
              <a:blipFill rotWithShape="0">
                <a:blip r:embed="rId2"/>
                <a:stretch>
                  <a:fillRect b="-7692"/>
                </a:stretch>
              </a:blipFill>
            </p:spPr>
            <p:txBody>
              <a:bodyPr/>
              <a:lstStyle/>
              <a:p>
                <a:r>
                  <a:rPr lang="es-PE">
                    <a:noFill/>
                  </a:rPr>
                  <a:t> </a:t>
                </a:r>
              </a:p>
            </p:txBody>
          </p:sp>
        </mc:Fallback>
      </mc:AlternateContent>
      <p:sp>
        <p:nvSpPr>
          <p:cNvPr id="4" name="CuadroTexto 3"/>
          <p:cNvSpPr txBox="1"/>
          <p:nvPr/>
        </p:nvSpPr>
        <p:spPr>
          <a:xfrm>
            <a:off x="677283" y="4812357"/>
            <a:ext cx="3844778" cy="646331"/>
          </a:xfrm>
          <a:prstGeom prst="rect">
            <a:avLst/>
          </a:prstGeom>
          <a:noFill/>
        </p:spPr>
        <p:txBody>
          <a:bodyPr wrap="square" rtlCol="0">
            <a:spAutoFit/>
          </a:bodyPr>
          <a:lstStyle/>
          <a:p>
            <a:r>
              <a:rPr lang="es-PE" dirty="0" smtClean="0"/>
              <a:t>De la figura vemos que en el limite cuando AA´ tiende a cero:</a:t>
            </a:r>
            <a:endParaRPr lang="es-PE" dirty="0"/>
          </a:p>
        </p:txBody>
      </p:sp>
      <mc:AlternateContent xmlns:mc="http://schemas.openxmlformats.org/markup-compatibility/2006" xmlns:a14="http://schemas.microsoft.com/office/drawing/2010/main">
        <mc:Choice Requires="a14">
          <p:sp>
            <p:nvSpPr>
              <p:cNvPr id="5" name="CuadroTexto 4"/>
              <p:cNvSpPr txBox="1"/>
              <p:nvPr/>
            </p:nvSpPr>
            <p:spPr>
              <a:xfrm>
                <a:off x="5632765" y="5537306"/>
                <a:ext cx="2969787" cy="6946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PE" sz="2400" b="0" i="1" smtClean="0">
                              <a:latin typeface="Cambria Math" panose="02040503050406030204" pitchFamily="18" charset="0"/>
                              <a:ea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𝛾</m:t>
                          </m:r>
                        </m:e>
                        <m:sub>
                          <m:r>
                            <a:rPr lang="es-PE" sz="2400" b="0" i="1" smtClean="0">
                              <a:latin typeface="Cambria Math" panose="02040503050406030204" pitchFamily="18" charset="0"/>
                              <a:ea typeface="Cambria Math" panose="02040503050406030204" pitchFamily="18" charset="0"/>
                            </a:rPr>
                            <m:t>𝑚𝑎𝑥</m:t>
                          </m:r>
                        </m:sub>
                      </m:sSub>
                      <m:r>
                        <a:rPr lang="es-PE" sz="2400" b="0" i="1" smtClean="0">
                          <a:latin typeface="Cambria Math" panose="02040503050406030204" pitchFamily="18" charset="0"/>
                          <a:ea typeface="Cambria Math" panose="02040503050406030204" pitchFamily="18" charset="0"/>
                        </a:rPr>
                        <m:t>=</m:t>
                      </m:r>
                      <m:f>
                        <m:fPr>
                          <m:ctrlPr>
                            <a:rPr lang="es-PE" sz="2400" b="0" i="1" smtClean="0">
                              <a:latin typeface="Cambria Math" panose="02040503050406030204" pitchFamily="18" charset="0"/>
                              <a:ea typeface="Cambria Math" panose="02040503050406030204" pitchFamily="18" charset="0"/>
                            </a:rPr>
                          </m:ctrlPr>
                        </m:fPr>
                        <m:num>
                          <m:r>
                            <a:rPr lang="es-PE" sz="2400" b="0" i="1" smtClean="0">
                              <a:latin typeface="Cambria Math" panose="02040503050406030204" pitchFamily="18" charset="0"/>
                              <a:ea typeface="Cambria Math" panose="02040503050406030204" pitchFamily="18" charset="0"/>
                            </a:rPr>
                            <m:t>𝑅</m:t>
                          </m:r>
                          <m:r>
                            <a:rPr lang="es-PE" sz="2400" b="0" i="1" smtClean="0">
                              <a:latin typeface="Cambria Math" panose="02040503050406030204" pitchFamily="18" charset="0"/>
                              <a:ea typeface="Cambria Math" panose="02040503050406030204" pitchFamily="18" charset="0"/>
                            </a:rPr>
                            <m:t>𝜃</m:t>
                          </m:r>
                        </m:num>
                        <m:den>
                          <m:r>
                            <a:rPr lang="es-PE" sz="2400" b="0" i="1" smtClean="0">
                              <a:latin typeface="Cambria Math" panose="02040503050406030204" pitchFamily="18" charset="0"/>
                              <a:ea typeface="Cambria Math" panose="02040503050406030204" pitchFamily="18" charset="0"/>
                            </a:rPr>
                            <m:t>𝐿</m:t>
                          </m:r>
                        </m:den>
                      </m:f>
                      <m:r>
                        <a:rPr lang="es-PE" sz="2400" b="0" i="1" smtClean="0">
                          <a:latin typeface="Cambria Math" panose="02040503050406030204" pitchFamily="18" charset="0"/>
                          <a:ea typeface="Cambria Math" panose="02040503050406030204" pitchFamily="18" charset="0"/>
                        </a:rPr>
                        <m:t>               (2)</m:t>
                      </m:r>
                    </m:oMath>
                  </m:oMathPara>
                </a14:m>
                <a:endParaRPr lang="es-PE"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5632765" y="5537306"/>
                <a:ext cx="2969787" cy="694614"/>
              </a:xfrm>
              <a:prstGeom prst="rect">
                <a:avLst/>
              </a:prstGeom>
              <a:blipFill rotWithShape="0">
                <a:blip r:embed="rId3"/>
                <a:stretch>
                  <a:fillRect/>
                </a:stretch>
              </a:blipFill>
            </p:spPr>
            <p:txBody>
              <a:bodyPr/>
              <a:lstStyle/>
              <a:p>
                <a:r>
                  <a:rPr lang="es-PE">
                    <a:noFill/>
                  </a:rPr>
                  <a:t> </a:t>
                </a:r>
              </a:p>
            </p:txBody>
          </p:sp>
        </mc:Fallback>
      </mc:AlternateContent>
      <p:sp>
        <p:nvSpPr>
          <p:cNvPr id="12" name="CuadroTexto 11"/>
          <p:cNvSpPr txBox="1"/>
          <p:nvPr/>
        </p:nvSpPr>
        <p:spPr>
          <a:xfrm>
            <a:off x="5169024" y="1932972"/>
            <a:ext cx="4176464" cy="646331"/>
          </a:xfrm>
          <a:prstGeom prst="rect">
            <a:avLst/>
          </a:prstGeom>
          <a:noFill/>
        </p:spPr>
        <p:txBody>
          <a:bodyPr wrap="square" rtlCol="0">
            <a:spAutoFit/>
          </a:bodyPr>
          <a:lstStyle/>
          <a:p>
            <a:r>
              <a:rPr lang="es-PE" dirty="0" smtClean="0"/>
              <a:t>Para un esfuerzo cortante puro tenemos que :</a:t>
            </a:r>
            <a:endParaRPr lang="es-PE" dirty="0"/>
          </a:p>
        </p:txBody>
      </p:sp>
      <mc:AlternateContent xmlns:mc="http://schemas.openxmlformats.org/markup-compatibility/2006" xmlns:a14="http://schemas.microsoft.com/office/drawing/2010/main">
        <mc:Choice Requires="a14">
          <p:sp>
            <p:nvSpPr>
              <p:cNvPr id="14" name="CuadroTexto 13"/>
              <p:cNvSpPr txBox="1"/>
              <p:nvPr/>
            </p:nvSpPr>
            <p:spPr>
              <a:xfrm>
                <a:off x="6026059" y="2683599"/>
                <a:ext cx="11465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800" i="1" smtClean="0">
                          <a:latin typeface="Cambria Math" panose="02040503050406030204" pitchFamily="18" charset="0"/>
                          <a:ea typeface="Cambria Math" panose="02040503050406030204" pitchFamily="18" charset="0"/>
                        </a:rPr>
                        <m:t>𝜏</m:t>
                      </m:r>
                      <m:r>
                        <a:rPr lang="es-PE" sz="2800" i="1" smtClean="0">
                          <a:latin typeface="Cambria Math" panose="02040503050406030204" pitchFamily="18" charset="0"/>
                        </a:rPr>
                        <m:t>=</m:t>
                      </m:r>
                      <m:r>
                        <a:rPr lang="es-PE" sz="2800" b="0" i="1" smtClean="0">
                          <a:latin typeface="Cambria Math" panose="02040503050406030204" pitchFamily="18" charset="0"/>
                        </a:rPr>
                        <m:t>𝐺</m:t>
                      </m:r>
                      <m:r>
                        <a:rPr lang="es-PE" sz="2800" b="0" i="1" smtClean="0">
                          <a:latin typeface="Cambria Math" panose="02040503050406030204" pitchFamily="18" charset="0"/>
                          <a:ea typeface="Cambria Math" panose="02040503050406030204" pitchFamily="18" charset="0"/>
                        </a:rPr>
                        <m:t>𝛾</m:t>
                      </m:r>
                    </m:oMath>
                  </m:oMathPara>
                </a14:m>
                <a:endParaRPr lang="es-PE" sz="2800"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6026059" y="2683599"/>
                <a:ext cx="1146596" cy="430887"/>
              </a:xfrm>
              <a:prstGeom prst="rect">
                <a:avLst/>
              </a:prstGeom>
              <a:blipFill rotWithShape="0">
                <a:blip r:embed="rId4"/>
                <a:stretch>
                  <a:fillRect/>
                </a:stretch>
              </a:blipFill>
            </p:spPr>
            <p:txBody>
              <a:bodyPr/>
              <a:lstStyle/>
              <a:p>
                <a:r>
                  <a:rPr lang="es-PE">
                    <a:noFill/>
                  </a:rPr>
                  <a:t> </a:t>
                </a:r>
              </a:p>
            </p:txBody>
          </p:sp>
        </mc:Fallback>
      </mc:AlternateContent>
      <p:sp>
        <p:nvSpPr>
          <p:cNvPr id="15" name="CuadroTexto 14"/>
          <p:cNvSpPr txBox="1"/>
          <p:nvPr/>
        </p:nvSpPr>
        <p:spPr>
          <a:xfrm>
            <a:off x="5029426" y="3218782"/>
            <a:ext cx="4176464" cy="369332"/>
          </a:xfrm>
          <a:prstGeom prst="rect">
            <a:avLst/>
          </a:prstGeom>
          <a:noFill/>
        </p:spPr>
        <p:txBody>
          <a:bodyPr wrap="square" rtlCol="0">
            <a:spAutoFit/>
          </a:bodyPr>
          <a:lstStyle/>
          <a:p>
            <a:r>
              <a:rPr lang="es-PE" dirty="0" smtClean="0"/>
              <a:t>Y el esfuerzo cortante máximo seria:</a:t>
            </a:r>
            <a:endParaRPr lang="es-PE" dirty="0"/>
          </a:p>
        </p:txBody>
      </p:sp>
      <p:pic>
        <p:nvPicPr>
          <p:cNvPr id="7" name="Imagen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7302" y="1829982"/>
            <a:ext cx="4287404" cy="2823154"/>
          </a:xfrm>
          <a:prstGeom prst="rect">
            <a:avLst/>
          </a:prstGeom>
        </p:spPr>
      </p:pic>
      <mc:AlternateContent xmlns:mc="http://schemas.openxmlformats.org/markup-compatibility/2006" xmlns:a14="http://schemas.microsoft.com/office/drawing/2010/main">
        <mc:Choice Requires="a14">
          <p:sp>
            <p:nvSpPr>
              <p:cNvPr id="8" name="Rectángulo 7"/>
              <p:cNvSpPr/>
              <p:nvPr/>
            </p:nvSpPr>
            <p:spPr>
              <a:xfrm>
                <a:off x="5529064" y="3942051"/>
                <a:ext cx="214058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ea typeface="Cambria Math" panose="02040503050406030204" pitchFamily="18" charset="0"/>
                            </a:rPr>
                          </m:ctrlPr>
                        </m:sSubPr>
                        <m:e>
                          <m:r>
                            <a:rPr lang="es-PE" sz="2400" i="1" smtClean="0">
                              <a:latin typeface="Cambria Math" panose="02040503050406030204" pitchFamily="18" charset="0"/>
                              <a:ea typeface="Cambria Math" panose="02040503050406030204" pitchFamily="18" charset="0"/>
                            </a:rPr>
                            <m:t>𝜏</m:t>
                          </m:r>
                        </m:e>
                        <m:sub>
                          <m:r>
                            <a:rPr lang="es-PE" sz="2400" b="0" i="1" smtClean="0">
                              <a:latin typeface="Cambria Math" panose="02040503050406030204" pitchFamily="18" charset="0"/>
                              <a:ea typeface="Cambria Math" panose="02040503050406030204" pitchFamily="18" charset="0"/>
                            </a:rPr>
                            <m:t>𝑚𝑎𝑥</m:t>
                          </m:r>
                        </m:sub>
                      </m:sSub>
                      <m:r>
                        <a:rPr lang="es-PE" sz="2400" i="1">
                          <a:latin typeface="Cambria Math" panose="02040503050406030204" pitchFamily="18" charset="0"/>
                        </a:rPr>
                        <m:t>=</m:t>
                      </m:r>
                      <m:r>
                        <a:rPr lang="es-PE" sz="2400" i="1">
                          <a:latin typeface="Cambria Math" panose="02040503050406030204" pitchFamily="18" charset="0"/>
                        </a:rPr>
                        <m:t>𝐺</m:t>
                      </m:r>
                      <m:sSub>
                        <m:sSubPr>
                          <m:ctrlPr>
                            <a:rPr lang="es-PE" sz="2400" i="1" smtClean="0">
                              <a:latin typeface="Cambria Math" panose="02040503050406030204" pitchFamily="18" charset="0"/>
                            </a:rPr>
                          </m:ctrlPr>
                        </m:sSubPr>
                        <m:e>
                          <m:r>
                            <a:rPr lang="es-PE" sz="2400" i="1" smtClean="0">
                              <a:latin typeface="Cambria Math" panose="02040503050406030204" pitchFamily="18" charset="0"/>
                              <a:ea typeface="Cambria Math" panose="02040503050406030204" pitchFamily="18" charset="0"/>
                            </a:rPr>
                            <m:t>𝛾</m:t>
                          </m:r>
                        </m:e>
                        <m:sub>
                          <m:r>
                            <a:rPr lang="es-PE" sz="2400" b="0" i="1" smtClean="0">
                              <a:latin typeface="Cambria Math" panose="02040503050406030204" pitchFamily="18" charset="0"/>
                            </a:rPr>
                            <m:t>𝑚𝑎𝑥</m:t>
                          </m:r>
                        </m:sub>
                      </m:sSub>
                    </m:oMath>
                  </m:oMathPara>
                </a14:m>
                <a:endParaRPr lang="es-PE" sz="2400" dirty="0"/>
              </a:p>
            </p:txBody>
          </p:sp>
        </mc:Choice>
        <mc:Fallback xmlns="">
          <p:sp>
            <p:nvSpPr>
              <p:cNvPr id="8" name="Rectángulo 7"/>
              <p:cNvSpPr>
                <a:spLocks noRot="1" noChangeAspect="1" noMove="1" noResize="1" noEditPoints="1" noAdjustHandles="1" noChangeArrowheads="1" noChangeShapeType="1" noTextEdit="1"/>
              </p:cNvSpPr>
              <p:nvPr/>
            </p:nvSpPr>
            <p:spPr>
              <a:xfrm>
                <a:off x="5529064" y="3942051"/>
                <a:ext cx="2140586" cy="461665"/>
              </a:xfrm>
              <a:prstGeom prst="rect">
                <a:avLst/>
              </a:prstGeom>
              <a:blipFill rotWithShape="0">
                <a:blip r:embed="rId6"/>
                <a:stretch>
                  <a:fillRect b="-9333"/>
                </a:stretch>
              </a:blipFill>
            </p:spPr>
            <p:txBody>
              <a:bodyPr/>
              <a:lstStyle/>
              <a:p>
                <a:r>
                  <a:rPr lang="es-PE">
                    <a:noFill/>
                  </a:rPr>
                  <a:t> </a:t>
                </a:r>
              </a:p>
            </p:txBody>
          </p:sp>
        </mc:Fallback>
      </mc:AlternateContent>
      <p:sp>
        <p:nvSpPr>
          <p:cNvPr id="19" name="CuadroTexto 18"/>
          <p:cNvSpPr txBox="1"/>
          <p:nvPr/>
        </p:nvSpPr>
        <p:spPr>
          <a:xfrm>
            <a:off x="5435896" y="4812357"/>
            <a:ext cx="4176464" cy="369332"/>
          </a:xfrm>
          <a:prstGeom prst="rect">
            <a:avLst/>
          </a:prstGeom>
          <a:noFill/>
        </p:spPr>
        <p:txBody>
          <a:bodyPr wrap="square" rtlCol="0">
            <a:spAutoFit/>
          </a:bodyPr>
          <a:lstStyle/>
          <a:p>
            <a:r>
              <a:rPr lang="es-PE" dirty="0" smtClean="0"/>
              <a:t>En la ecuación (1)</a:t>
            </a:r>
            <a:endParaRPr lang="es-PE" dirty="0"/>
          </a:p>
        </p:txBody>
      </p:sp>
      <mc:AlternateContent xmlns:mc="http://schemas.openxmlformats.org/markup-compatibility/2006" xmlns:a14="http://schemas.microsoft.com/office/drawing/2010/main">
        <mc:Choice Requires="a14">
          <p:sp>
            <p:nvSpPr>
              <p:cNvPr id="20" name="CuadroTexto 19"/>
              <p:cNvSpPr txBox="1"/>
              <p:nvPr/>
            </p:nvSpPr>
            <p:spPr>
              <a:xfrm>
                <a:off x="723272" y="5692445"/>
                <a:ext cx="3462551" cy="3843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ea typeface="Cambria Math" panose="02040503050406030204" pitchFamily="18" charset="0"/>
                        </a:rPr>
                        <m:t>𝐴</m:t>
                      </m:r>
                      <m:sSup>
                        <m:sSupPr>
                          <m:ctrlPr>
                            <a:rPr lang="es-PE" sz="2400" b="0" i="1" smtClean="0">
                              <a:latin typeface="Cambria Math" panose="02040503050406030204" pitchFamily="18" charset="0"/>
                              <a:ea typeface="Cambria Math" panose="02040503050406030204" pitchFamily="18" charset="0"/>
                            </a:rPr>
                          </m:ctrlPr>
                        </m:sSupPr>
                        <m:e>
                          <m:r>
                            <a:rPr lang="es-PE" sz="2400" b="0" i="1" smtClean="0">
                              <a:latin typeface="Cambria Math" panose="02040503050406030204" pitchFamily="18" charset="0"/>
                              <a:ea typeface="Cambria Math" panose="02040503050406030204" pitchFamily="18" charset="0"/>
                            </a:rPr>
                            <m:t>𝐴</m:t>
                          </m:r>
                        </m:e>
                        <m:sup>
                          <m:r>
                            <a:rPr lang="es-PE" sz="2400" b="0" i="1" smtClean="0">
                              <a:latin typeface="Cambria Math" panose="02040503050406030204" pitchFamily="18" charset="0"/>
                              <a:ea typeface="Cambria Math" panose="02040503050406030204" pitchFamily="18" charset="0"/>
                            </a:rPr>
                            <m:t>´</m:t>
                          </m:r>
                        </m:sup>
                      </m:sSup>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𝜌𝜃</m:t>
                      </m:r>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𝐿</m:t>
                      </m:r>
                      <m:r>
                        <a:rPr lang="es-PE" sz="2400" b="0" i="1" smtClean="0">
                          <a:latin typeface="Cambria Math" panose="02040503050406030204" pitchFamily="18" charset="0"/>
                          <a:ea typeface="Cambria Math" panose="02040503050406030204" pitchFamily="18" charset="0"/>
                        </a:rPr>
                        <m:t>𝛾</m:t>
                      </m:r>
                      <m:r>
                        <a:rPr lang="es-PE" sz="2400" b="0" i="1" smtClean="0">
                          <a:latin typeface="Cambria Math" panose="02040503050406030204" pitchFamily="18" charset="0"/>
                          <a:ea typeface="Cambria Math" panose="02040503050406030204" pitchFamily="18" charset="0"/>
                        </a:rPr>
                        <m:t>               (1)</m:t>
                      </m:r>
                    </m:oMath>
                  </m:oMathPara>
                </a14:m>
                <a:endParaRPr lang="es-PE" sz="2400" dirty="0"/>
              </a:p>
            </p:txBody>
          </p:sp>
        </mc:Choice>
        <mc:Fallback xmlns="">
          <p:sp>
            <p:nvSpPr>
              <p:cNvPr id="20" name="CuadroTexto 19"/>
              <p:cNvSpPr txBox="1">
                <a:spLocks noRot="1" noChangeAspect="1" noMove="1" noResize="1" noEditPoints="1" noAdjustHandles="1" noChangeArrowheads="1" noChangeShapeType="1" noTextEdit="1"/>
              </p:cNvSpPr>
              <p:nvPr/>
            </p:nvSpPr>
            <p:spPr>
              <a:xfrm>
                <a:off x="723272" y="5692445"/>
                <a:ext cx="3462551" cy="384336"/>
              </a:xfrm>
              <a:prstGeom prst="rect">
                <a:avLst/>
              </a:prstGeom>
              <a:blipFill rotWithShape="0">
                <a:blip r:embed="rId7"/>
                <a:stretch>
                  <a:fillRect l="-1761" t="-3175" r="-2817" b="-33333"/>
                </a:stretch>
              </a:blipFill>
            </p:spPr>
            <p:txBody>
              <a:bodyPr/>
              <a:lstStyle/>
              <a:p>
                <a:r>
                  <a:rPr lang="es-PE">
                    <a:noFill/>
                  </a:rPr>
                  <a:t> </a:t>
                </a:r>
              </a:p>
            </p:txBody>
          </p:sp>
        </mc:Fallback>
      </mc:AlternateContent>
    </p:spTree>
    <p:extLst>
      <p:ext uri="{BB962C8B-B14F-4D97-AF65-F5344CB8AC3E}">
        <p14:creationId xmlns:p14="http://schemas.microsoft.com/office/powerpoint/2010/main" val="25234100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666689" y="736501"/>
            <a:ext cx="5014503" cy="56571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ANGULO DE GIRO (</a:t>
            </a:r>
            <a:r>
              <a:rPr lang="el-GR" sz="2400" b="1" dirty="0" smtClean="0">
                <a:solidFill>
                  <a:schemeClr val="tx1"/>
                </a:solidFill>
              </a:rPr>
              <a:t>θ</a:t>
            </a:r>
            <a:r>
              <a:rPr lang="es-PE" sz="2400" b="1" dirty="0" smtClean="0">
                <a:solidFill>
                  <a:schemeClr val="tx1"/>
                </a:solidFill>
              </a:rPr>
              <a:t>) POR TORSIÓN</a:t>
            </a:r>
            <a:endParaRPr lang="es-PE" sz="2400" b="1" dirty="0">
              <a:solidFill>
                <a:schemeClr val="tx1"/>
              </a:solidFill>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337" y="1758362"/>
            <a:ext cx="3802012" cy="2811011"/>
          </a:xfrm>
          <a:prstGeom prst="rect">
            <a:avLst/>
          </a:prstGeom>
        </p:spPr>
      </p:pic>
      <mc:AlternateContent xmlns:mc="http://schemas.openxmlformats.org/markup-compatibility/2006" xmlns:a14="http://schemas.microsoft.com/office/drawing/2010/main">
        <mc:Choice Requires="a14">
          <p:sp>
            <p:nvSpPr>
              <p:cNvPr id="5" name="CuadroTexto 4"/>
              <p:cNvSpPr txBox="1"/>
              <p:nvPr/>
            </p:nvSpPr>
            <p:spPr>
              <a:xfrm>
                <a:off x="511025" y="5322975"/>
                <a:ext cx="3839353" cy="426463"/>
              </a:xfrm>
              <a:prstGeom prst="rect">
                <a:avLst/>
              </a:prstGeom>
              <a:noFill/>
            </p:spPr>
            <p:txBody>
              <a:bodyPr wrap="square" lIns="0" tIns="0" rIns="0" bIns="0" rtlCol="0">
                <a:spAutoFit/>
              </a:bodyPr>
              <a:lstStyle/>
              <a:p>
                <a14:m>
                  <m:oMath xmlns:m="http://schemas.openxmlformats.org/officeDocument/2006/math">
                    <m:r>
                      <a:rPr lang="es-PE" sz="2400" b="0" i="1" smtClean="0">
                        <a:latin typeface="Cambria Math" panose="02040503050406030204" pitchFamily="18" charset="0"/>
                      </a:rPr>
                      <m:t>𝑇</m:t>
                    </m:r>
                    <m:r>
                      <a:rPr lang="es-PE" sz="2400" i="1" smtClean="0">
                        <a:latin typeface="Cambria Math" panose="02040503050406030204" pitchFamily="18" charset="0"/>
                      </a:rPr>
                      <m:t>=</m:t>
                    </m:r>
                    <m:nary>
                      <m:naryPr>
                        <m:limLoc m:val="undOvr"/>
                        <m:subHide m:val="on"/>
                        <m:supHide m:val="on"/>
                        <m:ctrlPr>
                          <a:rPr lang="es-PE" sz="2400" i="1" smtClean="0">
                            <a:latin typeface="Cambria Math" panose="02040503050406030204" pitchFamily="18" charset="0"/>
                          </a:rPr>
                        </m:ctrlPr>
                      </m:naryPr>
                      <m:sub/>
                      <m:sup/>
                      <m:e>
                        <m:r>
                          <a:rPr lang="es-PE" sz="2400" i="1" smtClean="0">
                            <a:latin typeface="Cambria Math" panose="02040503050406030204" pitchFamily="18" charset="0"/>
                            <a:ea typeface="Cambria Math" panose="02040503050406030204" pitchFamily="18" charset="0"/>
                          </a:rPr>
                          <m:t>𝜌</m:t>
                        </m:r>
                      </m:e>
                    </m:nary>
                    <m:r>
                      <a:rPr lang="es-PE" sz="2400" b="0" i="1" smtClean="0">
                        <a:latin typeface="Cambria Math" panose="02040503050406030204" pitchFamily="18" charset="0"/>
                      </a:rPr>
                      <m:t>𝑑𝐹</m:t>
                    </m:r>
                    <m:r>
                      <a:rPr lang="es-PE" sz="2400" b="0" i="1" smtClean="0">
                        <a:latin typeface="Cambria Math" panose="02040503050406030204" pitchFamily="18" charset="0"/>
                        <a:ea typeface="Cambria Math" panose="02040503050406030204" pitchFamily="18" charset="0"/>
                      </a:rPr>
                      <m:t>      </m:t>
                    </m:r>
                    <m:d>
                      <m:dPr>
                        <m:ctrlPr>
                          <a:rPr lang="es-PE" sz="2400" b="0" i="1" smtClean="0">
                            <a:latin typeface="Cambria Math" panose="02040503050406030204" pitchFamily="18" charset="0"/>
                            <a:ea typeface="Cambria Math" panose="02040503050406030204" pitchFamily="18" charset="0"/>
                          </a:rPr>
                        </m:ctrlPr>
                      </m:dPr>
                      <m:e>
                        <m:r>
                          <a:rPr lang="es-PE" sz="2400" b="0" i="1" smtClean="0">
                            <a:latin typeface="Cambria Math" panose="02040503050406030204" pitchFamily="18" charset="0"/>
                            <a:ea typeface="Cambria Math" panose="02040503050406030204" pitchFamily="18" charset="0"/>
                          </a:rPr>
                          <m:t>𝑁</m:t>
                        </m:r>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𝑚</m:t>
                        </m:r>
                      </m:e>
                    </m:d>
                    <m:r>
                      <a:rPr lang="es-PE" sz="2400" b="0" i="1" smtClean="0">
                        <a:latin typeface="Cambria Math" panose="02040503050406030204" pitchFamily="18" charset="0"/>
                        <a:ea typeface="Cambria Math" panose="02040503050406030204" pitchFamily="18" charset="0"/>
                      </a:rPr>
                      <m:t>        (3)</m:t>
                    </m:r>
                  </m:oMath>
                </a14:m>
                <a:r>
                  <a:rPr lang="es-PE" sz="2400" dirty="0" smtClean="0"/>
                  <a:t>       </a:t>
                </a:r>
                <a:endParaRPr lang="es-PE"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511025" y="5322975"/>
                <a:ext cx="3839353" cy="426463"/>
              </a:xfrm>
              <a:prstGeom prst="rect">
                <a:avLst/>
              </a:prstGeom>
              <a:blipFill rotWithShape="0">
                <a:blip r:embed="rId3"/>
                <a:stretch>
                  <a:fillRect l="-2857" t="-182857" b="-258571"/>
                </a:stretch>
              </a:blipFill>
            </p:spPr>
            <p:txBody>
              <a:bodyPr/>
              <a:lstStyle/>
              <a:p>
                <a:r>
                  <a:rPr lang="es-PE">
                    <a:noFill/>
                  </a:rPr>
                  <a:t> </a:t>
                </a:r>
              </a:p>
            </p:txBody>
          </p:sp>
        </mc:Fallback>
      </mc:AlternateContent>
      <p:sp>
        <p:nvSpPr>
          <p:cNvPr id="7" name="CuadroTexto 6"/>
          <p:cNvSpPr txBox="1"/>
          <p:nvPr/>
        </p:nvSpPr>
        <p:spPr>
          <a:xfrm>
            <a:off x="342470" y="4665076"/>
            <a:ext cx="4176464" cy="646331"/>
          </a:xfrm>
          <a:prstGeom prst="rect">
            <a:avLst/>
          </a:prstGeom>
          <a:noFill/>
        </p:spPr>
        <p:txBody>
          <a:bodyPr wrap="square" rtlCol="0">
            <a:spAutoFit/>
          </a:bodyPr>
          <a:lstStyle/>
          <a:p>
            <a:r>
              <a:rPr lang="es-PE" dirty="0" smtClean="0"/>
              <a:t>También el torque aplicado estaría dado por :</a:t>
            </a:r>
            <a:endParaRPr lang="es-PE" dirty="0"/>
          </a:p>
        </p:txBody>
      </p:sp>
      <mc:AlternateContent xmlns:mc="http://schemas.openxmlformats.org/markup-compatibility/2006" xmlns:a14="http://schemas.microsoft.com/office/drawing/2010/main">
        <mc:Choice Requires="a14">
          <p:sp>
            <p:nvSpPr>
              <p:cNvPr id="8" name="CuadroTexto 7"/>
              <p:cNvSpPr txBox="1"/>
              <p:nvPr/>
            </p:nvSpPr>
            <p:spPr>
              <a:xfrm>
                <a:off x="402833" y="6119248"/>
                <a:ext cx="4176464" cy="369332"/>
              </a:xfrm>
              <a:prstGeom prst="rect">
                <a:avLst/>
              </a:prstGeom>
              <a:noFill/>
            </p:spPr>
            <p:txBody>
              <a:bodyPr wrap="square" lIns="0" tIns="0" rIns="0" bIns="0" rtlCol="0">
                <a:spAutoFit/>
              </a:bodyPr>
              <a:lstStyle/>
              <a:p>
                <a14:m>
                  <m:oMath xmlns:m="http://schemas.openxmlformats.org/officeDocument/2006/math">
                    <m:r>
                      <a:rPr lang="es-PE" sz="2400" b="0" i="1" smtClean="0">
                        <a:latin typeface="Cambria Math" panose="02040503050406030204" pitchFamily="18" charset="0"/>
                      </a:rPr>
                      <m:t>𝑑𝐹</m:t>
                    </m:r>
                    <m:r>
                      <a:rPr lang="es-PE" sz="2400" b="0" i="1" smtClean="0">
                        <a:latin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𝜏</m:t>
                    </m:r>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𝑑𝐴</m:t>
                    </m:r>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𝐺</m:t>
                    </m:r>
                    <m:r>
                      <a:rPr lang="es-PE" sz="2400" b="0" i="1" smtClean="0">
                        <a:latin typeface="Cambria Math" panose="02040503050406030204" pitchFamily="18" charset="0"/>
                        <a:ea typeface="Cambria Math" panose="02040503050406030204" pitchFamily="18" charset="0"/>
                      </a:rPr>
                      <m:t>𝛾</m:t>
                    </m:r>
                    <m:r>
                      <a:rPr lang="es-PE" sz="2400" b="0" i="1" smtClean="0">
                        <a:latin typeface="Cambria Math" panose="02040503050406030204" pitchFamily="18" charset="0"/>
                        <a:ea typeface="Cambria Math" panose="02040503050406030204" pitchFamily="18" charset="0"/>
                      </a:rPr>
                      <m:t>𝑑𝐴</m:t>
                    </m:r>
                    <m:r>
                      <a:rPr lang="es-PE" sz="2400" b="0" i="1" smtClean="0">
                        <a:latin typeface="Cambria Math" panose="02040503050406030204" pitchFamily="18" charset="0"/>
                        <a:ea typeface="Cambria Math" panose="02040503050406030204" pitchFamily="18" charset="0"/>
                      </a:rPr>
                      <m:t>      (</m:t>
                    </m:r>
                    <m:r>
                      <a:rPr lang="es-PE" sz="2400" b="0" i="1" smtClean="0">
                        <a:latin typeface="Cambria Math" panose="02040503050406030204" pitchFamily="18" charset="0"/>
                        <a:ea typeface="Cambria Math" panose="02040503050406030204" pitchFamily="18" charset="0"/>
                      </a:rPr>
                      <m:t>𝑁</m:t>
                    </m:r>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𝑚</m:t>
                    </m:r>
                    <m:r>
                      <a:rPr lang="es-PE" sz="2400" b="0" i="1" smtClean="0">
                        <a:latin typeface="Cambria Math" panose="02040503050406030204" pitchFamily="18" charset="0"/>
                        <a:ea typeface="Cambria Math" panose="02040503050406030204" pitchFamily="18" charset="0"/>
                      </a:rPr>
                      <m:t>)</m:t>
                    </m:r>
                  </m:oMath>
                </a14:m>
                <a:r>
                  <a:rPr lang="es-PE" sz="2400" dirty="0" smtClean="0"/>
                  <a:t>       </a:t>
                </a:r>
                <a:endParaRPr lang="es-PE" sz="24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402833" y="6119248"/>
                <a:ext cx="4176464" cy="369332"/>
              </a:xfrm>
              <a:prstGeom prst="rect">
                <a:avLst/>
              </a:prstGeom>
              <a:blipFill rotWithShape="0">
                <a:blip r:embed="rId4"/>
                <a:stretch>
                  <a:fillRect l="-2628" b="-35000"/>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255427" y="1802303"/>
                <a:ext cx="4176464" cy="539635"/>
              </a:xfrm>
              <a:prstGeom prst="rect">
                <a:avLst/>
              </a:prstGeom>
              <a:noFill/>
            </p:spPr>
            <p:txBody>
              <a:bodyPr wrap="square" lIns="0" tIns="0" rIns="0" bIns="0" rtlCol="0">
                <a:spAutoFit/>
              </a:bodyPr>
              <a:lstStyle/>
              <a:p>
                <a14:m>
                  <m:oMath xmlns:m="http://schemas.openxmlformats.org/officeDocument/2006/math">
                    <m:r>
                      <a:rPr lang="es-PE" sz="2400" b="0" i="1" smtClean="0">
                        <a:latin typeface="Cambria Math" panose="02040503050406030204" pitchFamily="18" charset="0"/>
                      </a:rPr>
                      <m:t>𝑑𝐹</m:t>
                    </m:r>
                    <m:r>
                      <a:rPr lang="es-PE" sz="2400" b="0" i="1" smtClean="0">
                        <a:latin typeface="Cambria Math" panose="02040503050406030204" pitchFamily="18" charset="0"/>
                      </a:rPr>
                      <m:t>=</m:t>
                    </m:r>
                    <m:r>
                      <a:rPr lang="es-PE" sz="2400" b="0" i="1" smtClean="0">
                        <a:latin typeface="Cambria Math" panose="02040503050406030204" pitchFamily="18" charset="0"/>
                      </a:rPr>
                      <m:t>𝐺</m:t>
                    </m:r>
                    <m:f>
                      <m:fPr>
                        <m:ctrlPr>
                          <a:rPr lang="es-PE" sz="2400" b="0" i="1" smtClean="0">
                            <a:latin typeface="Cambria Math" panose="02040503050406030204" pitchFamily="18" charset="0"/>
                          </a:rPr>
                        </m:ctrlPr>
                      </m:fPr>
                      <m:num>
                        <m:r>
                          <a:rPr lang="es-PE" sz="2400" b="0" i="1" smtClean="0">
                            <a:latin typeface="Cambria Math" panose="02040503050406030204" pitchFamily="18" charset="0"/>
                            <a:ea typeface="Cambria Math" panose="02040503050406030204" pitchFamily="18" charset="0"/>
                          </a:rPr>
                          <m:t>𝜃𝜌</m:t>
                        </m:r>
                      </m:num>
                      <m:den>
                        <m:r>
                          <a:rPr lang="es-PE" sz="2400" b="0" i="1" smtClean="0">
                            <a:latin typeface="Cambria Math" panose="02040503050406030204" pitchFamily="18" charset="0"/>
                          </a:rPr>
                          <m:t>𝐿</m:t>
                        </m:r>
                      </m:den>
                    </m:f>
                    <m:r>
                      <a:rPr lang="es-PE" sz="2400" b="0" i="1" smtClean="0">
                        <a:latin typeface="Cambria Math" panose="02040503050406030204" pitchFamily="18" charset="0"/>
                        <a:ea typeface="Cambria Math" panose="02040503050406030204" pitchFamily="18" charset="0"/>
                      </a:rPr>
                      <m:t>𝑑𝐴</m:t>
                    </m:r>
                    <m:r>
                      <a:rPr lang="es-PE" sz="2400" b="0" i="1" smtClean="0">
                        <a:latin typeface="Cambria Math" panose="02040503050406030204" pitchFamily="18" charset="0"/>
                        <a:ea typeface="Cambria Math" panose="02040503050406030204" pitchFamily="18" charset="0"/>
                      </a:rPr>
                      <m:t>            (</m:t>
                    </m:r>
                    <m:r>
                      <a:rPr lang="es-PE" sz="2400" b="0" i="1" smtClean="0">
                        <a:latin typeface="Cambria Math" panose="02040503050406030204" pitchFamily="18" charset="0"/>
                        <a:ea typeface="Cambria Math" panose="02040503050406030204" pitchFamily="18" charset="0"/>
                      </a:rPr>
                      <m:t>𝑁</m:t>
                    </m:r>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ea typeface="Cambria Math" panose="02040503050406030204" pitchFamily="18" charset="0"/>
                      </a:rPr>
                      <m:t>𝑚</m:t>
                    </m:r>
                    <m:r>
                      <a:rPr lang="es-PE" sz="2400" b="0" i="1" smtClean="0">
                        <a:latin typeface="Cambria Math" panose="02040503050406030204" pitchFamily="18" charset="0"/>
                        <a:ea typeface="Cambria Math" panose="02040503050406030204" pitchFamily="18" charset="0"/>
                      </a:rPr>
                      <m:t>)</m:t>
                    </m:r>
                  </m:oMath>
                </a14:m>
                <a:r>
                  <a:rPr lang="es-PE" sz="2400" dirty="0" smtClean="0"/>
                  <a:t>       </a:t>
                </a:r>
                <a:endParaRPr lang="es-PE"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5255427" y="1802303"/>
                <a:ext cx="4176464" cy="539635"/>
              </a:xfrm>
              <a:prstGeom prst="rect">
                <a:avLst/>
              </a:prstGeom>
              <a:blipFill rotWithShape="0">
                <a:blip r:embed="rId5"/>
                <a:stretch>
                  <a:fillRect/>
                </a:stretch>
              </a:blipFill>
            </p:spPr>
            <p:txBody>
              <a:bodyPr/>
              <a:lstStyle/>
              <a:p>
                <a:r>
                  <a:rPr lang="es-PE">
                    <a:noFill/>
                  </a:rPr>
                  <a:t> </a:t>
                </a:r>
              </a:p>
            </p:txBody>
          </p:sp>
        </mc:Fallback>
      </mc:AlternateContent>
      <p:sp>
        <p:nvSpPr>
          <p:cNvPr id="10" name="CuadroTexto 9"/>
          <p:cNvSpPr txBox="1"/>
          <p:nvPr/>
        </p:nvSpPr>
        <p:spPr>
          <a:xfrm>
            <a:off x="5043382" y="1430500"/>
            <a:ext cx="4176464" cy="369332"/>
          </a:xfrm>
          <a:prstGeom prst="rect">
            <a:avLst/>
          </a:prstGeom>
          <a:noFill/>
        </p:spPr>
        <p:txBody>
          <a:bodyPr wrap="square" rtlCol="0">
            <a:spAutoFit/>
          </a:bodyPr>
          <a:lstStyle/>
          <a:p>
            <a:r>
              <a:rPr lang="es-PE" dirty="0" smtClean="0"/>
              <a:t>Utilizando la ecuación (2) obtenemos :</a:t>
            </a:r>
            <a:endParaRPr lang="es-PE" dirty="0"/>
          </a:p>
        </p:txBody>
      </p:sp>
      <p:sp>
        <p:nvSpPr>
          <p:cNvPr id="11" name="CuadroTexto 10"/>
          <p:cNvSpPr txBox="1"/>
          <p:nvPr/>
        </p:nvSpPr>
        <p:spPr>
          <a:xfrm>
            <a:off x="4579296" y="2425442"/>
            <a:ext cx="4910207" cy="646331"/>
          </a:xfrm>
          <a:prstGeom prst="rect">
            <a:avLst/>
          </a:prstGeom>
          <a:noFill/>
        </p:spPr>
        <p:txBody>
          <a:bodyPr wrap="square" rtlCol="0">
            <a:spAutoFit/>
          </a:bodyPr>
          <a:lstStyle/>
          <a:p>
            <a:r>
              <a:rPr lang="es-PE" dirty="0" smtClean="0"/>
              <a:t>Reemplazando en tres obtenemos la relación entre el torque y el esfuerzo cortante :</a:t>
            </a:r>
            <a:endParaRPr lang="es-PE" dirty="0"/>
          </a:p>
        </p:txBody>
      </p:sp>
      <mc:AlternateContent xmlns:mc="http://schemas.openxmlformats.org/markup-compatibility/2006" xmlns:a14="http://schemas.microsoft.com/office/drawing/2010/main">
        <mc:Choice Requires="a14">
          <p:sp>
            <p:nvSpPr>
              <p:cNvPr id="12" name="CuadroTexto 11"/>
              <p:cNvSpPr txBox="1"/>
              <p:nvPr/>
            </p:nvSpPr>
            <p:spPr>
              <a:xfrm>
                <a:off x="5114722" y="3052432"/>
                <a:ext cx="3839353" cy="544957"/>
              </a:xfrm>
              <a:prstGeom prst="rect">
                <a:avLst/>
              </a:prstGeom>
              <a:noFill/>
            </p:spPr>
            <p:txBody>
              <a:bodyPr wrap="square" lIns="0" tIns="0" rIns="0" bIns="0" rtlCol="0">
                <a:spAutoFit/>
              </a:bodyPr>
              <a:lstStyle/>
              <a:p>
                <a14:m>
                  <m:oMath xmlns:m="http://schemas.openxmlformats.org/officeDocument/2006/math">
                    <m:r>
                      <a:rPr lang="es-PE" sz="2400" b="0" i="1" smtClean="0">
                        <a:latin typeface="Cambria Math" panose="02040503050406030204" pitchFamily="18" charset="0"/>
                      </a:rPr>
                      <m:t>𝑇</m:t>
                    </m:r>
                    <m:r>
                      <a:rPr lang="es-PE" sz="2400" i="1" smtClean="0">
                        <a:latin typeface="Cambria Math" panose="02040503050406030204" pitchFamily="18" charset="0"/>
                      </a:rPr>
                      <m:t>=</m:t>
                    </m:r>
                    <m:nary>
                      <m:naryPr>
                        <m:limLoc m:val="undOvr"/>
                        <m:subHide m:val="on"/>
                        <m:supHide m:val="on"/>
                        <m:ctrlPr>
                          <a:rPr lang="es-PE" sz="2400" i="1" smtClean="0">
                            <a:latin typeface="Cambria Math" panose="02040503050406030204" pitchFamily="18" charset="0"/>
                          </a:rPr>
                        </m:ctrlPr>
                      </m:naryPr>
                      <m:sub/>
                      <m:sup/>
                      <m:e>
                        <m:r>
                          <a:rPr lang="es-PE" sz="2400" i="1">
                            <a:latin typeface="Cambria Math" panose="02040503050406030204" pitchFamily="18" charset="0"/>
                          </a:rPr>
                          <m:t>𝐺</m:t>
                        </m:r>
                        <m:f>
                          <m:fPr>
                            <m:ctrlPr>
                              <a:rPr lang="es-PE" sz="2400" i="1">
                                <a:latin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𝜃</m:t>
                            </m:r>
                          </m:num>
                          <m:den>
                            <m:r>
                              <a:rPr lang="es-PE" sz="2400" i="1">
                                <a:latin typeface="Cambria Math" panose="02040503050406030204" pitchFamily="18" charset="0"/>
                              </a:rPr>
                              <m:t>𝐿</m:t>
                            </m:r>
                          </m:den>
                        </m:f>
                        <m:sSup>
                          <m:sSupPr>
                            <m:ctrlPr>
                              <a:rPr lang="es-PE" sz="2400" i="1" smtClean="0">
                                <a:latin typeface="Cambria Math" panose="02040503050406030204" pitchFamily="18" charset="0"/>
                              </a:rPr>
                            </m:ctrlPr>
                          </m:sSupPr>
                          <m:e>
                            <m:r>
                              <a:rPr lang="es-PE" sz="2400" i="1" smtClean="0">
                                <a:latin typeface="Cambria Math" panose="02040503050406030204" pitchFamily="18" charset="0"/>
                                <a:ea typeface="Cambria Math" panose="02040503050406030204" pitchFamily="18" charset="0"/>
                              </a:rPr>
                              <m:t>𝜌</m:t>
                            </m:r>
                          </m:e>
                          <m:sup>
                            <m:r>
                              <a:rPr lang="es-PE" sz="2400" b="0" i="1" smtClean="0">
                                <a:latin typeface="Cambria Math" panose="02040503050406030204" pitchFamily="18" charset="0"/>
                              </a:rPr>
                              <m:t>2</m:t>
                            </m:r>
                          </m:sup>
                        </m:sSup>
                        <m:r>
                          <a:rPr lang="es-PE" sz="2400" i="1">
                            <a:latin typeface="Cambria Math" panose="02040503050406030204" pitchFamily="18" charset="0"/>
                            <a:ea typeface="Cambria Math" panose="02040503050406030204" pitchFamily="18" charset="0"/>
                          </a:rPr>
                          <m:t>𝑑𝐴</m:t>
                        </m:r>
                      </m:e>
                    </m:nary>
                    <m:r>
                      <a:rPr lang="es-PE" sz="2400" b="0" i="1" smtClean="0">
                        <a:latin typeface="Cambria Math" panose="02040503050406030204" pitchFamily="18" charset="0"/>
                        <a:ea typeface="Cambria Math" panose="02040503050406030204" pitchFamily="18" charset="0"/>
                      </a:rPr>
                      <m:t> (3)</m:t>
                    </m:r>
                  </m:oMath>
                </a14:m>
                <a:r>
                  <a:rPr lang="es-PE" sz="2400" dirty="0" smtClean="0"/>
                  <a:t>       </a:t>
                </a:r>
                <a:endParaRPr lang="es-PE" sz="240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5114722" y="3052432"/>
                <a:ext cx="3839353" cy="544957"/>
              </a:xfrm>
              <a:prstGeom prst="rect">
                <a:avLst/>
              </a:prstGeom>
              <a:blipFill rotWithShape="0">
                <a:blip r:embed="rId6"/>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4736976" y="4261994"/>
                <a:ext cx="3839353" cy="6914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rPr>
                        <m:t>𝑇</m:t>
                      </m:r>
                      <m:r>
                        <a:rPr lang="es-PE" sz="2400" i="1" smtClean="0">
                          <a:latin typeface="Cambria Math" panose="02040503050406030204" pitchFamily="18" charset="0"/>
                        </a:rPr>
                        <m:t>=</m:t>
                      </m:r>
                      <m:f>
                        <m:fPr>
                          <m:ctrlPr>
                            <a:rPr lang="es-PE" sz="2400" i="1" smtClean="0">
                              <a:latin typeface="Cambria Math" panose="02040503050406030204" pitchFamily="18" charset="0"/>
                            </a:rPr>
                          </m:ctrlPr>
                        </m:fPr>
                        <m:num>
                          <m:r>
                            <a:rPr lang="es-PE" sz="2400" b="0" i="1" smtClean="0">
                              <a:latin typeface="Cambria Math" panose="02040503050406030204" pitchFamily="18" charset="0"/>
                            </a:rPr>
                            <m:t>𝐺</m:t>
                          </m:r>
                        </m:num>
                        <m:den>
                          <m:r>
                            <a:rPr lang="es-PE" sz="2400" b="0" i="1" smtClean="0">
                              <a:latin typeface="Cambria Math" panose="02040503050406030204" pitchFamily="18" charset="0"/>
                            </a:rPr>
                            <m:t>𝑅</m:t>
                          </m:r>
                        </m:den>
                      </m:f>
                      <m:sSub>
                        <m:sSubPr>
                          <m:ctrlPr>
                            <a:rPr lang="es-PE" sz="2400" i="1" smtClean="0">
                              <a:latin typeface="Cambria Math" panose="02040503050406030204" pitchFamily="18" charset="0"/>
                            </a:rPr>
                          </m:ctrlPr>
                        </m:sSubPr>
                        <m:e>
                          <m:r>
                            <a:rPr lang="es-PE" sz="2400" i="1" smtClean="0">
                              <a:latin typeface="Cambria Math" panose="02040503050406030204" pitchFamily="18" charset="0"/>
                              <a:ea typeface="Cambria Math" panose="02040503050406030204" pitchFamily="18" charset="0"/>
                            </a:rPr>
                            <m:t>𝛾</m:t>
                          </m:r>
                        </m:e>
                        <m:sub>
                          <m:r>
                            <a:rPr lang="es-PE" sz="2400" b="0" i="1" smtClean="0">
                              <a:latin typeface="Cambria Math" panose="02040503050406030204" pitchFamily="18" charset="0"/>
                            </a:rPr>
                            <m:t>𝑚𝑎𝑥</m:t>
                          </m:r>
                        </m:sub>
                      </m:sSub>
                      <m:r>
                        <a:rPr lang="es-PE" sz="2400" b="0" i="1" smtClean="0">
                          <a:latin typeface="Cambria Math" panose="02040503050406030204" pitchFamily="18" charset="0"/>
                        </a:rPr>
                        <m:t> </m:t>
                      </m:r>
                      <m:r>
                        <a:rPr lang="es-PE" sz="2400" b="0" i="1" smtClean="0">
                          <a:latin typeface="Cambria Math" panose="02040503050406030204" pitchFamily="18" charset="0"/>
                        </a:rPr>
                        <m:t>𝐽</m:t>
                      </m:r>
                    </m:oMath>
                  </m:oMathPara>
                </a14:m>
                <a:endParaRPr lang="es-PE" sz="24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4736976" y="4261994"/>
                <a:ext cx="3839353" cy="691471"/>
              </a:xfrm>
              <a:prstGeom prst="rect">
                <a:avLst/>
              </a:prstGeom>
              <a:blipFill rotWithShape="0">
                <a:blip r:embed="rId7"/>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4" name="CuadroTexto 13"/>
              <p:cNvSpPr txBox="1"/>
              <p:nvPr/>
            </p:nvSpPr>
            <p:spPr>
              <a:xfrm>
                <a:off x="5043382" y="3653415"/>
                <a:ext cx="3839353" cy="524631"/>
              </a:xfrm>
              <a:prstGeom prst="rect">
                <a:avLst/>
              </a:prstGeom>
              <a:noFill/>
            </p:spPr>
            <p:txBody>
              <a:bodyPr wrap="square" lIns="0" tIns="0" rIns="0" bIns="0" rtlCol="0">
                <a:spAutoFit/>
              </a:bodyPr>
              <a:lstStyle/>
              <a:p>
                <a14:m>
                  <m:oMath xmlns:m="http://schemas.openxmlformats.org/officeDocument/2006/math">
                    <m:r>
                      <a:rPr lang="es-PE" sz="2400" b="0" i="1" smtClean="0">
                        <a:latin typeface="Cambria Math" panose="02040503050406030204" pitchFamily="18" charset="0"/>
                      </a:rPr>
                      <m:t>𝑇</m:t>
                    </m:r>
                    <m:r>
                      <a:rPr lang="es-PE" sz="2400" i="1" smtClean="0">
                        <a:latin typeface="Cambria Math" panose="02040503050406030204" pitchFamily="18" charset="0"/>
                      </a:rPr>
                      <m:t>=</m:t>
                    </m:r>
                    <m:f>
                      <m:fPr>
                        <m:ctrlPr>
                          <a:rPr lang="es-PE" sz="2400" i="1" smtClean="0">
                            <a:latin typeface="Cambria Math" panose="02040503050406030204" pitchFamily="18" charset="0"/>
                          </a:rPr>
                        </m:ctrlPr>
                      </m:fPr>
                      <m:num>
                        <m:r>
                          <a:rPr lang="es-PE" sz="2400" b="0" i="1" smtClean="0">
                            <a:latin typeface="Cambria Math" panose="02040503050406030204" pitchFamily="18" charset="0"/>
                          </a:rPr>
                          <m:t>𝐺</m:t>
                        </m:r>
                      </m:num>
                      <m:den>
                        <m:r>
                          <a:rPr lang="es-PE" sz="2400" b="0" i="1" smtClean="0">
                            <a:latin typeface="Cambria Math" panose="02040503050406030204" pitchFamily="18" charset="0"/>
                          </a:rPr>
                          <m:t>𝑅</m:t>
                        </m:r>
                      </m:den>
                    </m:f>
                    <m:sSub>
                      <m:sSubPr>
                        <m:ctrlPr>
                          <a:rPr lang="es-PE" sz="2400" i="1" smtClean="0">
                            <a:latin typeface="Cambria Math" panose="02040503050406030204" pitchFamily="18" charset="0"/>
                          </a:rPr>
                        </m:ctrlPr>
                      </m:sSubPr>
                      <m:e>
                        <m:r>
                          <a:rPr lang="es-PE" sz="2400" i="1" smtClean="0">
                            <a:latin typeface="Cambria Math" panose="02040503050406030204" pitchFamily="18" charset="0"/>
                            <a:ea typeface="Cambria Math" panose="02040503050406030204" pitchFamily="18" charset="0"/>
                          </a:rPr>
                          <m:t>𝛾</m:t>
                        </m:r>
                      </m:e>
                      <m:sub>
                        <m:r>
                          <a:rPr lang="es-PE" sz="2400" b="0" i="1" smtClean="0">
                            <a:latin typeface="Cambria Math" panose="02040503050406030204" pitchFamily="18" charset="0"/>
                          </a:rPr>
                          <m:t>𝑚𝑎𝑥</m:t>
                        </m:r>
                      </m:sub>
                    </m:sSub>
                    <m:nary>
                      <m:naryPr>
                        <m:limLoc m:val="undOvr"/>
                        <m:subHide m:val="on"/>
                        <m:supHide m:val="on"/>
                        <m:ctrlPr>
                          <a:rPr lang="es-PE" sz="2400" i="1" smtClean="0">
                            <a:latin typeface="Cambria Math" panose="02040503050406030204" pitchFamily="18" charset="0"/>
                          </a:rPr>
                        </m:ctrlPr>
                      </m:naryPr>
                      <m:sub/>
                      <m:sup/>
                      <m:e>
                        <m:sSup>
                          <m:sSupPr>
                            <m:ctrlPr>
                              <a:rPr lang="es-PE" sz="2400" i="1" smtClean="0">
                                <a:latin typeface="Cambria Math" panose="02040503050406030204" pitchFamily="18" charset="0"/>
                              </a:rPr>
                            </m:ctrlPr>
                          </m:sSupPr>
                          <m:e>
                            <m:r>
                              <a:rPr lang="es-PE" sz="2400" i="1" smtClean="0">
                                <a:latin typeface="Cambria Math" panose="02040503050406030204" pitchFamily="18" charset="0"/>
                                <a:ea typeface="Cambria Math" panose="02040503050406030204" pitchFamily="18" charset="0"/>
                              </a:rPr>
                              <m:t>𝜌</m:t>
                            </m:r>
                          </m:e>
                          <m:sup>
                            <m:r>
                              <a:rPr lang="es-PE" sz="2400" b="0" i="1" smtClean="0">
                                <a:latin typeface="Cambria Math" panose="02040503050406030204" pitchFamily="18" charset="0"/>
                              </a:rPr>
                              <m:t>2</m:t>
                            </m:r>
                          </m:sup>
                        </m:sSup>
                        <m:r>
                          <a:rPr lang="es-PE" sz="2400" i="1">
                            <a:latin typeface="Cambria Math" panose="02040503050406030204" pitchFamily="18" charset="0"/>
                            <a:ea typeface="Cambria Math" panose="02040503050406030204" pitchFamily="18" charset="0"/>
                          </a:rPr>
                          <m:t>𝑑𝐴</m:t>
                        </m:r>
                      </m:e>
                    </m:nary>
                    <m:r>
                      <a:rPr lang="es-PE" sz="2400" b="0" i="1" smtClean="0">
                        <a:latin typeface="Cambria Math" panose="02040503050406030204" pitchFamily="18" charset="0"/>
                        <a:ea typeface="Cambria Math" panose="02040503050406030204" pitchFamily="18" charset="0"/>
                      </a:rPr>
                      <m:t> </m:t>
                    </m:r>
                  </m:oMath>
                </a14:m>
                <a:r>
                  <a:rPr lang="es-PE" sz="2400" dirty="0" smtClean="0"/>
                  <a:t>       </a:t>
                </a:r>
                <a:endParaRPr lang="es-PE" sz="2400"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5043382" y="3653415"/>
                <a:ext cx="3839353" cy="524631"/>
              </a:xfrm>
              <a:prstGeom prst="rect">
                <a:avLst/>
              </a:prstGeom>
              <a:blipFill rotWithShape="0">
                <a:blip r:embed="rId8"/>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5" name="CuadroTexto 14"/>
              <p:cNvSpPr txBox="1"/>
              <p:nvPr/>
            </p:nvSpPr>
            <p:spPr>
              <a:xfrm>
                <a:off x="5308967" y="5840057"/>
                <a:ext cx="3839353" cy="7471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𝑇𝐿</m:t>
                          </m:r>
                        </m:num>
                        <m:den>
                          <m:r>
                            <a:rPr lang="es-PE" sz="2400" b="0" i="1" smtClean="0">
                              <a:latin typeface="Cambria Math" panose="02040503050406030204" pitchFamily="18" charset="0"/>
                            </a:rPr>
                            <m:t>𝐺𝐽</m:t>
                          </m:r>
                        </m:den>
                      </m:f>
                      <m:r>
                        <a:rPr lang="es-PE" sz="2400" i="1" smtClean="0">
                          <a:latin typeface="Cambria Math" panose="02040503050406030204" pitchFamily="18" charset="0"/>
                        </a:rPr>
                        <m:t>=</m:t>
                      </m:r>
                      <m:r>
                        <a:rPr lang="es-PE" sz="2400" i="1" smtClean="0">
                          <a:latin typeface="Cambria Math" panose="02040503050406030204" pitchFamily="18" charset="0"/>
                          <a:ea typeface="Cambria Math" panose="02040503050406030204" pitchFamily="18" charset="0"/>
                        </a:rPr>
                        <m:t>𝜃</m:t>
                      </m:r>
                      <m:r>
                        <a:rPr lang="es-PE" sz="2400" b="0" i="1" smtClean="0">
                          <a:latin typeface="Cambria Math" panose="02040503050406030204" pitchFamily="18" charset="0"/>
                          <a:ea typeface="Cambria Math" panose="02040503050406030204" pitchFamily="18" charset="0"/>
                        </a:rPr>
                        <m:t>       </m:t>
                      </m:r>
                      <m:sSub>
                        <m:sSubPr>
                          <m:ctrlPr>
                            <a:rPr lang="es-PE" sz="2400" i="1">
                              <a:latin typeface="Cambria Math" panose="02040503050406030204" pitchFamily="18" charset="0"/>
                              <a:ea typeface="Cambria Math" panose="02040503050406030204" pitchFamily="18" charset="0"/>
                            </a:rPr>
                          </m:ctrlPr>
                        </m:sSubPr>
                        <m:e>
                          <m:r>
                            <a:rPr lang="es-PE" sz="2400" i="1">
                              <a:latin typeface="Cambria Math" panose="02040503050406030204" pitchFamily="18" charset="0"/>
                              <a:ea typeface="Cambria Math" panose="02040503050406030204" pitchFamily="18" charset="0"/>
                            </a:rPr>
                            <m:t>𝜏</m:t>
                          </m:r>
                        </m:e>
                        <m:sub>
                          <m:r>
                            <a:rPr lang="es-PE" sz="2400" i="1">
                              <a:latin typeface="Cambria Math" panose="02040503050406030204" pitchFamily="18" charset="0"/>
                              <a:ea typeface="Cambria Math" panose="02040503050406030204" pitchFamily="18" charset="0"/>
                            </a:rPr>
                            <m:t>𝑚𝑎𝑥</m:t>
                          </m:r>
                        </m:sub>
                      </m:sSub>
                      <m:r>
                        <a:rPr lang="es-PE" sz="2400" i="1">
                          <a:latin typeface="Cambria Math" panose="02040503050406030204" pitchFamily="18" charset="0"/>
                        </a:rPr>
                        <m:t>=</m:t>
                      </m:r>
                      <m:f>
                        <m:fPr>
                          <m:ctrlPr>
                            <a:rPr lang="es-PE" sz="2400" i="1" smtClean="0">
                              <a:latin typeface="Cambria Math" panose="02040503050406030204" pitchFamily="18" charset="0"/>
                            </a:rPr>
                          </m:ctrlPr>
                        </m:fPr>
                        <m:num>
                          <m:r>
                            <a:rPr lang="es-PE" sz="2400" b="0" i="1" smtClean="0">
                              <a:latin typeface="Cambria Math" panose="02040503050406030204" pitchFamily="18" charset="0"/>
                            </a:rPr>
                            <m:t>𝑅𝑇</m:t>
                          </m:r>
                        </m:num>
                        <m:den>
                          <m:r>
                            <a:rPr lang="es-PE" sz="2400" b="0" i="1" smtClean="0">
                              <a:latin typeface="Cambria Math" panose="02040503050406030204" pitchFamily="18" charset="0"/>
                            </a:rPr>
                            <m:t>𝐽</m:t>
                          </m:r>
                        </m:den>
                      </m:f>
                    </m:oMath>
                  </m:oMathPara>
                </a14:m>
                <a:endParaRPr lang="es-PE" sz="2400"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5308967" y="5840057"/>
                <a:ext cx="3839353" cy="747192"/>
              </a:xfrm>
              <a:prstGeom prst="rect">
                <a:avLst/>
              </a:prstGeom>
              <a:blipFill rotWithShape="0">
                <a:blip r:embed="rId9"/>
                <a:stretch>
                  <a:fillRect/>
                </a:stretch>
              </a:blipFill>
            </p:spPr>
            <p:txBody>
              <a:bodyPr/>
              <a:lstStyle/>
              <a:p>
                <a:r>
                  <a:rPr lang="es-PE">
                    <a:noFill/>
                  </a:rPr>
                  <a:t> </a:t>
                </a:r>
              </a:p>
            </p:txBody>
          </p:sp>
        </mc:Fallback>
      </mc:AlternateContent>
      <p:sp>
        <p:nvSpPr>
          <p:cNvPr id="4" name="Rectángulo 3"/>
          <p:cNvSpPr/>
          <p:nvPr/>
        </p:nvSpPr>
        <p:spPr>
          <a:xfrm>
            <a:off x="4893501" y="5429501"/>
            <a:ext cx="4254819" cy="369332"/>
          </a:xfrm>
          <a:prstGeom prst="rect">
            <a:avLst/>
          </a:prstGeom>
        </p:spPr>
        <p:txBody>
          <a:bodyPr wrap="none">
            <a:spAutoFit/>
          </a:bodyPr>
          <a:lstStyle/>
          <a:p>
            <a:r>
              <a:rPr lang="es-PE" dirty="0"/>
              <a:t>Finalmente, para barras de sección circular:</a:t>
            </a:r>
          </a:p>
        </p:txBody>
      </p:sp>
      <p:sp>
        <p:nvSpPr>
          <p:cNvPr id="16" name="Rectángulo 15"/>
          <p:cNvSpPr/>
          <p:nvPr/>
        </p:nvSpPr>
        <p:spPr>
          <a:xfrm>
            <a:off x="4871045" y="5060169"/>
            <a:ext cx="3997697" cy="369332"/>
          </a:xfrm>
          <a:prstGeom prst="rect">
            <a:avLst/>
          </a:prstGeom>
        </p:spPr>
        <p:txBody>
          <a:bodyPr wrap="none">
            <a:spAutoFit/>
          </a:bodyPr>
          <a:lstStyle/>
          <a:p>
            <a:r>
              <a:rPr lang="es-PE" dirty="0" smtClean="0"/>
              <a:t>Donde J es el momento de inercia polar.</a:t>
            </a:r>
            <a:endParaRPr lang="es-PE" dirty="0"/>
          </a:p>
        </p:txBody>
      </p:sp>
    </p:spTree>
    <p:extLst>
      <p:ext uri="{BB962C8B-B14F-4D97-AF65-F5344CB8AC3E}">
        <p14:creationId xmlns:p14="http://schemas.microsoft.com/office/powerpoint/2010/main" val="2974398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5" name="Rectángulo redondeado 4"/>
          <p:cNvSpPr/>
          <p:nvPr/>
        </p:nvSpPr>
        <p:spPr>
          <a:xfrm>
            <a:off x="1546412" y="813699"/>
            <a:ext cx="3046548"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smtClean="0">
                <a:solidFill>
                  <a:schemeClr val="tx1"/>
                </a:solidFill>
              </a:rPr>
              <a:t>EJERCICIOS</a:t>
            </a:r>
            <a:endParaRPr lang="es-PE" sz="2400" b="1" dirty="0">
              <a:solidFill>
                <a:schemeClr val="tx1"/>
              </a:solidFill>
            </a:endParaRPr>
          </a:p>
        </p:txBody>
      </p:sp>
      <p:sp>
        <p:nvSpPr>
          <p:cNvPr id="3" name="Rectángulo 2"/>
          <p:cNvSpPr/>
          <p:nvPr/>
        </p:nvSpPr>
        <p:spPr>
          <a:xfrm>
            <a:off x="272480" y="1774203"/>
            <a:ext cx="5040560" cy="2646878"/>
          </a:xfrm>
          <a:prstGeom prst="rect">
            <a:avLst/>
          </a:prstGeom>
        </p:spPr>
        <p:txBody>
          <a:bodyPr wrap="square">
            <a:spAutoFit/>
          </a:bodyPr>
          <a:lstStyle/>
          <a:p>
            <a:pPr algn="just"/>
            <a:r>
              <a:rPr lang="es-ES" sz="1500" dirty="0">
                <a:latin typeface="Arial" panose="020B0604020202020204" pitchFamily="34" charset="0"/>
                <a:cs typeface="Arial" panose="020B0604020202020204" pitchFamily="34" charset="0"/>
              </a:rPr>
              <a:t>Un minero usa un malacate de operación manual (vea la figura) para izar un cubo de mineral en el tiro de la mina. El eje del malacate es una barra de acero con diámetro</a:t>
            </a:r>
            <a:r>
              <a:rPr lang="es-ES" sz="1500" b="1" i="1" dirty="0">
                <a:latin typeface="Arial" panose="020B0604020202020204" pitchFamily="34" charset="0"/>
                <a:cs typeface="Arial" panose="020B0604020202020204" pitchFamily="34" charset="0"/>
              </a:rPr>
              <a:t> d =</a:t>
            </a:r>
            <a:r>
              <a:rPr lang="es-ES" sz="1500" dirty="0">
                <a:latin typeface="Arial" panose="020B0604020202020204" pitchFamily="34" charset="0"/>
                <a:cs typeface="Arial" panose="020B0604020202020204" pitchFamily="34" charset="0"/>
              </a:rPr>
              <a:t> 0.625 in. Además, la distancia desde el centro del eje hasta el centro de la cuerda de izado es</a:t>
            </a:r>
            <a:r>
              <a:rPr lang="es-ES" sz="1500" b="1" i="1" dirty="0">
                <a:latin typeface="Arial" panose="020B0604020202020204" pitchFamily="34" charset="0"/>
                <a:cs typeface="Arial" panose="020B0604020202020204" pitchFamily="34" charset="0"/>
              </a:rPr>
              <a:t> b =</a:t>
            </a:r>
            <a:r>
              <a:rPr lang="es-ES" sz="1500" dirty="0">
                <a:latin typeface="Arial" panose="020B0604020202020204" pitchFamily="34" charset="0"/>
                <a:cs typeface="Arial" panose="020B0604020202020204" pitchFamily="34" charset="0"/>
              </a:rPr>
              <a:t> 4.0 in.</a:t>
            </a:r>
            <a:endParaRPr lang="es-PE" sz="1500" dirty="0">
              <a:latin typeface="Arial" panose="020B0604020202020204" pitchFamily="34" charset="0"/>
              <a:cs typeface="Arial" panose="020B0604020202020204" pitchFamily="34" charset="0"/>
            </a:endParaRPr>
          </a:p>
          <a:p>
            <a:pPr lvl="0" algn="just" fontAlgn="base"/>
            <a:r>
              <a:rPr lang="es-ES" sz="1500" dirty="0" smtClean="0">
                <a:latin typeface="Arial" panose="020B0604020202020204" pitchFamily="34" charset="0"/>
                <a:cs typeface="Arial" panose="020B0604020202020204" pitchFamily="34" charset="0"/>
              </a:rPr>
              <a:t>a) Si </a:t>
            </a:r>
            <a:r>
              <a:rPr lang="es-ES" sz="1500" dirty="0">
                <a:latin typeface="Arial" panose="020B0604020202020204" pitchFamily="34" charset="0"/>
                <a:cs typeface="Arial" panose="020B0604020202020204" pitchFamily="34" charset="0"/>
              </a:rPr>
              <a:t>el peso del cubo cargado es W = 100 lb, ¿cuál es el esfuerzo cortante máximo en el eje debido a la torsión?</a:t>
            </a:r>
            <a:endParaRPr lang="es-PE" sz="1500" dirty="0">
              <a:latin typeface="Arial" panose="020B0604020202020204" pitchFamily="34" charset="0"/>
              <a:cs typeface="Arial" panose="020B0604020202020204" pitchFamily="34" charset="0"/>
            </a:endParaRPr>
          </a:p>
          <a:p>
            <a:pPr lvl="0" algn="just" fontAlgn="base"/>
            <a:r>
              <a:rPr lang="es-ES" sz="1500" dirty="0" smtClean="0">
                <a:latin typeface="Arial" panose="020B0604020202020204" pitchFamily="34" charset="0"/>
                <a:cs typeface="Arial" panose="020B0604020202020204" pitchFamily="34" charset="0"/>
              </a:rPr>
              <a:t>b) Si </a:t>
            </a:r>
            <a:r>
              <a:rPr lang="es-ES" sz="1500" dirty="0">
                <a:latin typeface="Arial" panose="020B0604020202020204" pitchFamily="34" charset="0"/>
                <a:cs typeface="Arial" panose="020B0604020202020204" pitchFamily="34" charset="0"/>
              </a:rPr>
              <a:t>la carga máxima del cubo es de 125 lb y el esfuerzo cortante permisible en el eje es de 9250 psi, ¿cuál es el diáme­tro mínimo permisible del eje?</a:t>
            </a:r>
            <a:endParaRPr lang="es-PE" sz="1500" dirty="0">
              <a:latin typeface="Arial" panose="020B0604020202020204" pitchFamily="34" charset="0"/>
              <a:cs typeface="Arial" panose="020B0604020202020204" pitchFamily="34" charset="0"/>
            </a:endParaRPr>
          </a:p>
          <a:p>
            <a:pPr algn="just"/>
            <a:endParaRPr lang="es-PE"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Rectángulo 6"/>
              <p:cNvSpPr/>
              <p:nvPr/>
            </p:nvSpPr>
            <p:spPr>
              <a:xfrm>
                <a:off x="5673080" y="1774203"/>
                <a:ext cx="4060676" cy="2031325"/>
              </a:xfrm>
              <a:prstGeom prst="rect">
                <a:avLst/>
              </a:prstGeom>
            </p:spPr>
            <p:txBody>
              <a:bodyPr wrap="square">
                <a:spAutoFit/>
              </a:bodyPr>
              <a:lstStyle/>
              <a:p>
                <a:pPr algn="just">
                  <a:spcAft>
                    <a:spcPts val="0"/>
                  </a:spcAft>
                </a:pPr>
                <a:r>
                  <a:rPr lang="es-ES" sz="1400" spc="-20" dirty="0" smtClean="0">
                    <a:solidFill>
                      <a:srgbClr val="000000"/>
                    </a:solidFill>
                    <a:latin typeface="Arial" panose="020B0604020202020204" pitchFamily="34" charset="0"/>
                    <a:ea typeface="Calibri" panose="020F0502020204030204" pitchFamily="34" charset="0"/>
                    <a:cs typeface="Arial" panose="020B0604020202020204" pitchFamily="34" charset="0"/>
                  </a:rPr>
                  <a:t>El eje de acero de una llave de cubo tiene un diámetro de 8.0 mm y una longitud de 200 mm (vea la figura).</a:t>
                </a:r>
                <a:endParaRPr lang="es-PE" sz="1400" dirty="0" smtClean="0">
                  <a:latin typeface="Arial" panose="020B0604020202020204" pitchFamily="34" charset="0"/>
                  <a:ea typeface="Calibri" panose="020F0502020204030204" pitchFamily="34" charset="0"/>
                  <a:cs typeface="Arial" panose="020B0604020202020204" pitchFamily="34" charset="0"/>
                </a:endParaRPr>
              </a:p>
              <a:p>
                <a:pPr algn="just">
                  <a:spcAft>
                    <a:spcPts val="0"/>
                  </a:spcAft>
                </a:pPr>
                <a:r>
                  <a:rPr lang="es-ES" sz="1400" spc="10" dirty="0" smtClean="0">
                    <a:solidFill>
                      <a:srgbClr val="000000"/>
                    </a:solidFill>
                    <a:latin typeface="Arial" panose="020B0604020202020204" pitchFamily="34" charset="0"/>
                    <a:ea typeface="Calibri" panose="020F0502020204030204" pitchFamily="34" charset="0"/>
                    <a:cs typeface="Arial" panose="020B0604020202020204" pitchFamily="34" charset="0"/>
                  </a:rPr>
                  <a:t>Si </a:t>
                </a:r>
                <a:r>
                  <a:rPr lang="es-ES" sz="1400" spc="10" dirty="0">
                    <a:solidFill>
                      <a:srgbClr val="000000"/>
                    </a:solidFill>
                    <a:latin typeface="Arial" panose="020B0604020202020204" pitchFamily="34" charset="0"/>
                    <a:ea typeface="Calibri" panose="020F0502020204030204" pitchFamily="34" charset="0"/>
                    <a:cs typeface="Arial" panose="020B0604020202020204" pitchFamily="34" charset="0"/>
                  </a:rPr>
                  <a:t>el esfuerzo cortante permisible en la barra es de 60 </a:t>
                </a:r>
                <a:r>
                  <a:rPr lang="es-ES" sz="1400" spc="-40" dirty="0" err="1">
                    <a:solidFill>
                      <a:srgbClr val="000000"/>
                    </a:solidFill>
                    <a:latin typeface="Arial" panose="020B0604020202020204" pitchFamily="34" charset="0"/>
                    <a:ea typeface="Calibri" panose="020F0502020204030204" pitchFamily="34" charset="0"/>
                    <a:cs typeface="Arial" panose="020B0604020202020204" pitchFamily="34" charset="0"/>
                  </a:rPr>
                  <a:t>MPa</a:t>
                </a:r>
                <a:r>
                  <a:rPr lang="es-ES" sz="1400" spc="-40" dirty="0">
                    <a:solidFill>
                      <a:srgbClr val="000000"/>
                    </a:solidFill>
                    <a:latin typeface="Arial" panose="020B0604020202020204" pitchFamily="34" charset="0"/>
                    <a:ea typeface="Calibri" panose="020F0502020204030204" pitchFamily="34" charset="0"/>
                    <a:cs typeface="Arial" panose="020B0604020202020204" pitchFamily="34" charset="0"/>
                  </a:rPr>
                  <a:t>, ¿cuál es el par de torsión máximo permisible </a:t>
                </a:r>
                <a14:m>
                  <m:oMath xmlns:m="http://schemas.openxmlformats.org/officeDocument/2006/math">
                    <m:sSub>
                      <m:sSubPr>
                        <m:ctrlPr>
                          <a:rPr lang="es-ES" sz="1400" i="1" spc="-40" smtClean="0">
                            <a:solidFill>
                              <a:srgbClr val="000000"/>
                            </a:solidFill>
                            <a:latin typeface="Cambria Math" panose="02040503050406030204" pitchFamily="18" charset="0"/>
                            <a:cs typeface="Arial" panose="020B0604020202020204" pitchFamily="34" charset="0"/>
                          </a:rPr>
                        </m:ctrlPr>
                      </m:sSubPr>
                      <m:e>
                        <m:r>
                          <a:rPr lang="es-PE" sz="1400" b="0" i="1" spc="-40" smtClean="0">
                            <a:solidFill>
                              <a:srgbClr val="000000"/>
                            </a:solidFill>
                            <a:latin typeface="Cambria Math" panose="02040503050406030204" pitchFamily="18" charset="0"/>
                            <a:cs typeface="Arial" panose="020B0604020202020204" pitchFamily="34" charset="0"/>
                          </a:rPr>
                          <m:t>𝑇</m:t>
                        </m:r>
                      </m:e>
                      <m:sub>
                        <m:r>
                          <a:rPr lang="es-PE" sz="1400" b="0" i="1" spc="-40" smtClean="0">
                            <a:solidFill>
                              <a:srgbClr val="000000"/>
                            </a:solidFill>
                            <a:latin typeface="Cambria Math" panose="02040503050406030204" pitchFamily="18" charset="0"/>
                            <a:cs typeface="Arial" panose="020B0604020202020204" pitchFamily="34" charset="0"/>
                          </a:rPr>
                          <m:t>𝑚𝑎𝑥</m:t>
                        </m:r>
                      </m:sub>
                    </m:sSub>
                  </m:oMath>
                </a14:m>
                <a:r>
                  <a:rPr lang="es-ES" sz="1400" spc="-40" dirty="0" smtClean="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ES" sz="1400" spc="-40" dirty="0">
                    <a:solidFill>
                      <a:srgbClr val="000000"/>
                    </a:solidFill>
                    <a:latin typeface="Arial" panose="020B0604020202020204" pitchFamily="34" charset="0"/>
                    <a:ea typeface="Calibri" panose="020F0502020204030204" pitchFamily="34" charset="0"/>
                    <a:cs typeface="Arial" panose="020B0604020202020204" pitchFamily="34" charset="0"/>
                  </a:rPr>
                  <a:t>que se </a:t>
                </a:r>
                <a:r>
                  <a:rPr lang="es-ES" sz="1400" spc="-30" dirty="0">
                    <a:solidFill>
                      <a:srgbClr val="000000"/>
                    </a:solidFill>
                    <a:latin typeface="Arial" panose="020B0604020202020204" pitchFamily="34" charset="0"/>
                    <a:ea typeface="Calibri" panose="020F0502020204030204" pitchFamily="34" charset="0"/>
                    <a:cs typeface="Arial" panose="020B0604020202020204" pitchFamily="34" charset="0"/>
                  </a:rPr>
                  <a:t>puede ejercer con la llave</a:t>
                </a:r>
                <a:r>
                  <a:rPr lang="es-ES" sz="1400" spc="-30" dirty="0" smtClean="0">
                    <a:solidFill>
                      <a:srgbClr val="000000"/>
                    </a:solidFill>
                    <a:latin typeface="Arial" panose="020B0604020202020204" pitchFamily="34" charset="0"/>
                    <a:ea typeface="Calibri" panose="020F0502020204030204" pitchFamily="34" charset="0"/>
                    <a:cs typeface="Arial" panose="020B0604020202020204" pitchFamily="34" charset="0"/>
                  </a:rPr>
                  <a:t>?</a:t>
                </a:r>
                <a:r>
                  <a:rPr lang="es-PE" sz="1400" dirty="0" smtClean="0">
                    <a:latin typeface="Arial" panose="020B0604020202020204" pitchFamily="34" charset="0"/>
                    <a:ea typeface="Calibri" panose="020F0502020204030204" pitchFamily="34" charset="0"/>
                    <a:cs typeface="Arial" panose="020B0604020202020204" pitchFamily="34" charset="0"/>
                  </a:rPr>
                  <a:t> </a:t>
                </a:r>
                <a:r>
                  <a:rPr lang="es-ES" sz="1400" spc="-20" dirty="0" smtClean="0">
                    <a:solidFill>
                      <a:srgbClr val="000000"/>
                    </a:solidFill>
                    <a:latin typeface="Arial" panose="020B0604020202020204" pitchFamily="34" charset="0"/>
                    <a:ea typeface="Calibri" panose="020F0502020204030204" pitchFamily="34" charset="0"/>
                    <a:cs typeface="Arial" panose="020B0604020202020204" pitchFamily="34" charset="0"/>
                  </a:rPr>
                  <a:t>¿</a:t>
                </a:r>
                <a:r>
                  <a:rPr lang="es-ES" sz="1400" spc="-20" dirty="0">
                    <a:solidFill>
                      <a:srgbClr val="000000"/>
                    </a:solidFill>
                    <a:latin typeface="Arial" panose="020B0604020202020204" pitchFamily="34" charset="0"/>
                    <a:ea typeface="Calibri" panose="020F0502020204030204" pitchFamily="34" charset="0"/>
                    <a:cs typeface="Arial" panose="020B0604020202020204" pitchFamily="34" charset="0"/>
                  </a:rPr>
                  <a:t>Qué ángulo </a:t>
                </a:r>
                <a:r>
                  <a:rPr lang="el-GR" sz="1400" spc="-20" dirty="0" smtClean="0">
                    <a:solidFill>
                      <a:srgbClr val="000000"/>
                    </a:solidFill>
                    <a:latin typeface="Arial" panose="020B0604020202020204" pitchFamily="34" charset="0"/>
                    <a:ea typeface="Calibri" panose="020F0502020204030204" pitchFamily="34" charset="0"/>
                    <a:cs typeface="Arial" panose="020B0604020202020204" pitchFamily="34" charset="0"/>
                  </a:rPr>
                  <a:t>θ</a:t>
                </a:r>
                <a:r>
                  <a:rPr lang="es-ES" sz="1400" spc="-20" dirty="0" smtClean="0">
                    <a:solidFill>
                      <a:srgbClr val="000000"/>
                    </a:solidFill>
                    <a:latin typeface="Arial" panose="020B0604020202020204" pitchFamily="34" charset="0"/>
                    <a:ea typeface="Calibri" panose="020F0502020204030204" pitchFamily="34" charset="0"/>
                    <a:cs typeface="Arial" panose="020B0604020202020204" pitchFamily="34" charset="0"/>
                  </a:rPr>
                  <a:t> </a:t>
                </a:r>
                <a:r>
                  <a:rPr lang="es-ES" sz="1400" spc="-20" dirty="0">
                    <a:solidFill>
                      <a:srgbClr val="000000"/>
                    </a:solidFill>
                    <a:latin typeface="Arial" panose="020B0604020202020204" pitchFamily="34" charset="0"/>
                    <a:ea typeface="Calibri" panose="020F0502020204030204" pitchFamily="34" charset="0"/>
                    <a:cs typeface="Arial" panose="020B0604020202020204" pitchFamily="34" charset="0"/>
                  </a:rPr>
                  <a:t>(en grados) girará el eje ante la acción del </a:t>
                </a:r>
                <a:r>
                  <a:rPr lang="es-ES" sz="1400" spc="-35" dirty="0">
                    <a:solidFill>
                      <a:srgbClr val="000000"/>
                    </a:solidFill>
                    <a:latin typeface="Arial" panose="020B0604020202020204" pitchFamily="34" charset="0"/>
                    <a:ea typeface="Calibri" panose="020F0502020204030204" pitchFamily="34" charset="0"/>
                    <a:cs typeface="Arial" panose="020B0604020202020204" pitchFamily="34" charset="0"/>
                  </a:rPr>
                  <a:t>par de torsión máximo? (Suponga </a:t>
                </a:r>
                <a:r>
                  <a:rPr lang="es-ES" sz="1400" spc="-35" dirty="0" smtClean="0">
                    <a:solidFill>
                      <a:srgbClr val="000000"/>
                    </a:solidFill>
                    <a:latin typeface="Arial" panose="020B0604020202020204" pitchFamily="34" charset="0"/>
                    <a:ea typeface="Calibri" panose="020F0502020204030204" pitchFamily="34" charset="0"/>
                    <a:cs typeface="Arial" panose="020B0604020202020204" pitchFamily="34" charset="0"/>
                  </a:rPr>
                  <a:t>G</a:t>
                </a:r>
                <a:r>
                  <a:rPr lang="es-ES" sz="1400" spc="15" dirty="0" smtClean="0">
                    <a:solidFill>
                      <a:srgbClr val="939292"/>
                    </a:solidFill>
                    <a:latin typeface="Arial" panose="020B0604020202020204" pitchFamily="34" charset="0"/>
                    <a:ea typeface="Calibri" panose="020F0502020204030204" pitchFamily="34" charset="0"/>
                    <a:cs typeface="Arial" panose="020B0604020202020204" pitchFamily="34" charset="0"/>
                  </a:rPr>
                  <a:t> </a:t>
                </a:r>
                <a:r>
                  <a:rPr lang="es-ES" sz="1400" spc="15" dirty="0">
                    <a:solidFill>
                      <a:srgbClr val="939292"/>
                    </a:solidFill>
                    <a:latin typeface="Arial" panose="020B0604020202020204" pitchFamily="34" charset="0"/>
                    <a:ea typeface="Calibri" panose="020F0502020204030204" pitchFamily="34" charset="0"/>
                    <a:cs typeface="Arial" panose="020B0604020202020204" pitchFamily="34" charset="0"/>
                  </a:rPr>
                  <a:t>=</a:t>
                </a:r>
                <a:r>
                  <a:rPr lang="es-ES" sz="1400" spc="-35" dirty="0">
                    <a:solidFill>
                      <a:srgbClr val="000000"/>
                    </a:solidFill>
                    <a:latin typeface="Arial" panose="020B0604020202020204" pitchFamily="34" charset="0"/>
                    <a:ea typeface="Calibri" panose="020F0502020204030204" pitchFamily="34" charset="0"/>
                    <a:cs typeface="Arial" panose="020B0604020202020204" pitchFamily="34" charset="0"/>
                  </a:rPr>
                  <a:t> 78 </a:t>
                </a:r>
                <a:r>
                  <a:rPr lang="es-ES" sz="1400" spc="-35" dirty="0" err="1">
                    <a:solidFill>
                      <a:srgbClr val="000000"/>
                    </a:solidFill>
                    <a:latin typeface="Arial" panose="020B0604020202020204" pitchFamily="34" charset="0"/>
                    <a:ea typeface="Calibri" panose="020F0502020204030204" pitchFamily="34" charset="0"/>
                    <a:cs typeface="Arial" panose="020B0604020202020204" pitchFamily="34" charset="0"/>
                  </a:rPr>
                  <a:t>GPa</a:t>
                </a:r>
                <a:r>
                  <a:rPr lang="es-ES" sz="1400" spc="-35" dirty="0">
                    <a:solidFill>
                      <a:srgbClr val="000000"/>
                    </a:solidFill>
                    <a:latin typeface="Arial" panose="020B0604020202020204" pitchFamily="34" charset="0"/>
                    <a:ea typeface="Calibri" panose="020F0502020204030204" pitchFamily="34" charset="0"/>
                    <a:cs typeface="Arial" panose="020B0604020202020204" pitchFamily="34" charset="0"/>
                  </a:rPr>
                  <a:t> y no considere </a:t>
                </a:r>
                <a:r>
                  <a:rPr lang="es-ES" sz="1400" spc="-20" dirty="0">
                    <a:solidFill>
                      <a:srgbClr val="000000"/>
                    </a:solidFill>
                    <a:latin typeface="Arial" panose="020B0604020202020204" pitchFamily="34" charset="0"/>
                    <a:ea typeface="Calibri" panose="020F0502020204030204" pitchFamily="34" charset="0"/>
                    <a:cs typeface="Arial" panose="020B0604020202020204" pitchFamily="34" charset="0"/>
                  </a:rPr>
                  <a:t>ninguna flexión del eje.)</a:t>
                </a:r>
                <a:endParaRPr lang="es-PE" sz="14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5673080" y="1774203"/>
                <a:ext cx="4060676" cy="2031325"/>
              </a:xfrm>
              <a:prstGeom prst="rect">
                <a:avLst/>
              </a:prstGeom>
              <a:blipFill rotWithShape="0">
                <a:blip r:embed="rId2"/>
                <a:stretch>
                  <a:fillRect l="-450" t="-601" r="-450" b="-2402"/>
                </a:stretch>
              </a:blipFill>
            </p:spPr>
            <p:txBody>
              <a:bodyPr/>
              <a:lstStyle/>
              <a:p>
                <a:r>
                  <a:rPr lang="es-PE">
                    <a:noFill/>
                  </a:rPr>
                  <a:t> </a:t>
                </a:r>
              </a:p>
            </p:txBody>
          </p:sp>
        </mc:Fallback>
      </mc:AlternateContent>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528" y="4112698"/>
            <a:ext cx="3715268" cy="2457793"/>
          </a:xfrm>
          <a:prstGeom prst="rect">
            <a:avLst/>
          </a:prstGeom>
        </p:spPr>
      </p:pic>
      <p:pic>
        <p:nvPicPr>
          <p:cNvPr id="10" name="Imagen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1236" y="3953538"/>
            <a:ext cx="3791479" cy="2095792"/>
          </a:xfrm>
          <a:prstGeom prst="rect">
            <a:avLst/>
          </a:prstGeom>
        </p:spPr>
      </p:pic>
    </p:spTree>
    <p:extLst>
      <p:ext uri="{BB962C8B-B14F-4D97-AF65-F5344CB8AC3E}">
        <p14:creationId xmlns:p14="http://schemas.microsoft.com/office/powerpoint/2010/main" val="11305231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5" name="Rectángulo redondeado 4"/>
          <p:cNvSpPr/>
          <p:nvPr/>
        </p:nvSpPr>
        <p:spPr>
          <a:xfrm>
            <a:off x="1546412" y="813699"/>
            <a:ext cx="2254460"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smtClean="0">
                <a:solidFill>
                  <a:schemeClr val="tx1"/>
                </a:solidFill>
              </a:rPr>
              <a:t>EJERCICIO</a:t>
            </a:r>
            <a:endParaRPr lang="es-PE" sz="2400" b="1" dirty="0">
              <a:solidFill>
                <a:schemeClr val="tx1"/>
              </a:solidFill>
            </a:endParaRPr>
          </a:p>
        </p:txBody>
      </p:sp>
      <mc:AlternateContent xmlns:mc="http://schemas.openxmlformats.org/markup-compatibility/2006" xmlns:a14="http://schemas.microsoft.com/office/drawing/2010/main">
        <mc:Choice Requires="a14">
          <p:sp>
            <p:nvSpPr>
              <p:cNvPr id="3" name="Rectángulo 2"/>
              <p:cNvSpPr/>
              <p:nvPr/>
            </p:nvSpPr>
            <p:spPr>
              <a:xfrm>
                <a:off x="272480" y="1774203"/>
                <a:ext cx="9145016" cy="1569660"/>
              </a:xfrm>
              <a:prstGeom prst="rect">
                <a:avLst/>
              </a:prstGeom>
            </p:spPr>
            <p:txBody>
              <a:bodyPr wrap="square">
                <a:spAutoFit/>
              </a:bodyPr>
              <a:lstStyle/>
              <a:p>
                <a:pPr algn="just"/>
                <a:r>
                  <a:rPr lang="es-ES" sz="1600" dirty="0" smtClean="0">
                    <a:latin typeface="Arial" panose="020B0604020202020204" pitchFamily="34" charset="0"/>
                    <a:cs typeface="Arial" panose="020B0604020202020204" pitchFamily="34" charset="0"/>
                  </a:rPr>
                  <a:t>Un eje escalonado </a:t>
                </a:r>
                <a:r>
                  <a:rPr lang="es-ES" sz="1600" b="1" i="1" dirty="0">
                    <a:latin typeface="Arial" panose="020B0604020202020204" pitchFamily="34" charset="0"/>
                    <a:cs typeface="Arial" panose="020B0604020202020204" pitchFamily="34" charset="0"/>
                  </a:rPr>
                  <a:t>ACB </a:t>
                </a:r>
                <a:r>
                  <a:rPr lang="es-ES" sz="1600" dirty="0">
                    <a:latin typeface="Arial" panose="020B0604020202020204" pitchFamily="34" charset="0"/>
                    <a:cs typeface="Arial" panose="020B0604020202020204" pitchFamily="34" charset="0"/>
                  </a:rPr>
                  <a:t>que tiene secciones transver­sales circulares sólidas con dos diámetros diferentes se sostie­ne firmemente para evitar la rotación en sus extremos (vea la figura).</a:t>
                </a:r>
                <a:endParaRPr lang="es-PE" sz="1600" dirty="0">
                  <a:latin typeface="Arial" panose="020B0604020202020204" pitchFamily="34" charset="0"/>
                  <a:cs typeface="Arial" panose="020B0604020202020204" pitchFamily="34" charset="0"/>
                </a:endParaRPr>
              </a:p>
              <a:p>
                <a:pPr lvl="0" algn="just" fontAlgn="base"/>
                <a:r>
                  <a:rPr lang="es-ES" sz="1600" dirty="0">
                    <a:latin typeface="Arial" panose="020B0604020202020204" pitchFamily="34" charset="0"/>
                    <a:cs typeface="Arial" panose="020B0604020202020204" pitchFamily="34" charset="0"/>
                  </a:rPr>
                  <a:t>Si el esfuerzo cortante permisible en el eje </a:t>
                </a:r>
                <a:r>
                  <a:rPr lang="es-ES" sz="1600" dirty="0" smtClean="0">
                    <a:latin typeface="Arial" panose="020B0604020202020204" pitchFamily="34" charset="0"/>
                    <a:cs typeface="Arial" panose="020B0604020202020204" pitchFamily="34" charset="0"/>
                  </a:rPr>
                  <a:t>AC es </a:t>
                </a:r>
                <a:r>
                  <a:rPr lang="es-ES" sz="1600" dirty="0">
                    <a:latin typeface="Arial" panose="020B0604020202020204" pitchFamily="34" charset="0"/>
                    <a:cs typeface="Arial" panose="020B0604020202020204" pitchFamily="34" charset="0"/>
                  </a:rPr>
                  <a:t>de 43 </a:t>
                </a:r>
                <a:r>
                  <a:rPr lang="es-ES" sz="1600" dirty="0" err="1">
                    <a:latin typeface="Arial" panose="020B0604020202020204" pitchFamily="34" charset="0"/>
                    <a:cs typeface="Arial" panose="020B0604020202020204" pitchFamily="34" charset="0"/>
                  </a:rPr>
                  <a:t>MPa</a:t>
                </a:r>
                <a:r>
                  <a:rPr lang="es-ES" sz="1600" dirty="0">
                    <a:latin typeface="Arial" panose="020B0604020202020204" pitchFamily="34" charset="0"/>
                    <a:cs typeface="Arial" panose="020B0604020202020204" pitchFamily="34" charset="0"/>
                  </a:rPr>
                  <a:t>, ¿cuál es el par de torsión máximo </a:t>
                </a:r>
                <a14:m>
                  <m:oMath xmlns:m="http://schemas.openxmlformats.org/officeDocument/2006/math">
                    <m:sSub>
                      <m:sSubPr>
                        <m:ctrlPr>
                          <a:rPr lang="es-ES" sz="1600" i="1" smtClean="0">
                            <a:latin typeface="Cambria Math" panose="02040503050406030204" pitchFamily="18" charset="0"/>
                            <a:cs typeface="Arial" panose="020B0604020202020204" pitchFamily="34" charset="0"/>
                          </a:rPr>
                        </m:ctrlPr>
                      </m:sSubPr>
                      <m:e>
                        <m:d>
                          <m:dPr>
                            <m:ctrlPr>
                              <a:rPr lang="es-ES" sz="1600" i="1">
                                <a:latin typeface="Cambria Math" panose="02040503050406030204" pitchFamily="18" charset="0"/>
                                <a:cs typeface="Arial" panose="020B0604020202020204" pitchFamily="34" charset="0"/>
                              </a:rPr>
                            </m:ctrlPr>
                          </m:dPr>
                          <m:e>
                            <m:sSub>
                              <m:sSubPr>
                                <m:ctrlPr>
                                  <a:rPr lang="es-ES" sz="1600" i="1">
                                    <a:latin typeface="Cambria Math" panose="02040503050406030204" pitchFamily="18" charset="0"/>
                                    <a:cs typeface="Arial" panose="020B0604020202020204" pitchFamily="34" charset="0"/>
                                  </a:rPr>
                                </m:ctrlPr>
                              </m:sSubPr>
                              <m:e>
                                <m:r>
                                  <a:rPr lang="es-PE" sz="1600" i="1">
                                    <a:latin typeface="Cambria Math" panose="02040503050406030204" pitchFamily="18" charset="0"/>
                                    <a:cs typeface="Arial" panose="020B0604020202020204" pitchFamily="34" charset="0"/>
                                  </a:rPr>
                                  <m:t>𝑇</m:t>
                                </m:r>
                              </m:e>
                              <m:sub>
                                <m:r>
                                  <a:rPr lang="es-PE" sz="1600" i="1">
                                    <a:latin typeface="Cambria Math" panose="02040503050406030204" pitchFamily="18" charset="0"/>
                                    <a:cs typeface="Arial" panose="020B0604020202020204" pitchFamily="34" charset="0"/>
                                  </a:rPr>
                                  <m:t>0</m:t>
                                </m:r>
                              </m:sub>
                            </m:sSub>
                          </m:e>
                        </m:d>
                      </m:e>
                      <m:sub>
                        <m:r>
                          <a:rPr lang="es-PE" sz="1600" b="0" i="1" smtClean="0">
                            <a:latin typeface="Cambria Math" panose="02040503050406030204" pitchFamily="18" charset="0"/>
                            <a:cs typeface="Arial" panose="020B0604020202020204" pitchFamily="34" charset="0"/>
                          </a:rPr>
                          <m:t>𝑚𝑎𝑥</m:t>
                        </m:r>
                      </m:sub>
                    </m:sSub>
                  </m:oMath>
                </a14:m>
                <a:r>
                  <a:rPr lang="es-ES" sz="1600" dirty="0" smtClean="0">
                    <a:latin typeface="Arial" panose="020B0604020202020204" pitchFamily="34" charset="0"/>
                    <a:cs typeface="Arial" panose="020B0604020202020204" pitchFamily="34" charset="0"/>
                  </a:rPr>
                  <a:t> </a:t>
                </a:r>
                <a:r>
                  <a:rPr lang="es-ES" sz="1600" dirty="0">
                    <a:latin typeface="Arial" panose="020B0604020202020204" pitchFamily="34" charset="0"/>
                    <a:cs typeface="Arial" panose="020B0604020202020204" pitchFamily="34" charset="0"/>
                  </a:rPr>
                  <a:t>que se puede aplicar en la sección </a:t>
                </a:r>
                <a:r>
                  <a:rPr lang="es-ES" sz="1600" dirty="0" smtClean="0">
                    <a:latin typeface="Arial" panose="020B0604020202020204" pitchFamily="34" charset="0"/>
                    <a:cs typeface="Arial" panose="020B0604020202020204" pitchFamily="34" charset="0"/>
                  </a:rPr>
                  <a:t>C</a:t>
                </a:r>
                <a:r>
                  <a:rPr lang="es-ES" sz="1600" i="1" dirty="0" smtClean="0">
                    <a:latin typeface="Arial" panose="020B0604020202020204" pitchFamily="34" charset="0"/>
                    <a:cs typeface="Arial" panose="020B0604020202020204" pitchFamily="34" charset="0"/>
                  </a:rPr>
                  <a:t>?</a:t>
                </a:r>
                <a:endParaRPr lang="es-PE" sz="1600" dirty="0">
                  <a:latin typeface="Arial" panose="020B0604020202020204" pitchFamily="34" charset="0"/>
                  <a:cs typeface="Arial" panose="020B0604020202020204" pitchFamily="34" charset="0"/>
                </a:endParaRPr>
              </a:p>
              <a:p>
                <a:pPr lvl="0" algn="just" fontAlgn="base"/>
                <a:r>
                  <a:rPr lang="es-ES" sz="1600" dirty="0">
                    <a:latin typeface="Arial" panose="020B0604020202020204" pitchFamily="34" charset="0"/>
                    <a:cs typeface="Arial" panose="020B0604020202020204" pitchFamily="34" charset="0"/>
                  </a:rPr>
                  <a:t>Determine </a:t>
                </a:r>
                <a14:m>
                  <m:oMath xmlns:m="http://schemas.openxmlformats.org/officeDocument/2006/math">
                    <m:sSub>
                      <m:sSubPr>
                        <m:ctrlPr>
                          <a:rPr lang="es-ES" sz="1600" i="1">
                            <a:latin typeface="Cambria Math" panose="02040503050406030204" pitchFamily="18" charset="0"/>
                            <a:cs typeface="Arial" panose="020B0604020202020204" pitchFamily="34" charset="0"/>
                          </a:rPr>
                        </m:ctrlPr>
                      </m:sSubPr>
                      <m:e>
                        <m:d>
                          <m:dPr>
                            <m:ctrlPr>
                              <a:rPr lang="es-ES" sz="1600" i="1">
                                <a:latin typeface="Cambria Math" panose="02040503050406030204" pitchFamily="18" charset="0"/>
                                <a:cs typeface="Arial" panose="020B0604020202020204" pitchFamily="34" charset="0"/>
                              </a:rPr>
                            </m:ctrlPr>
                          </m:dPr>
                          <m:e>
                            <m:sSub>
                              <m:sSubPr>
                                <m:ctrlPr>
                                  <a:rPr lang="es-ES" sz="1600" i="1">
                                    <a:latin typeface="Cambria Math" panose="02040503050406030204" pitchFamily="18" charset="0"/>
                                    <a:cs typeface="Arial" panose="020B0604020202020204" pitchFamily="34" charset="0"/>
                                  </a:rPr>
                                </m:ctrlPr>
                              </m:sSubPr>
                              <m:e>
                                <m:r>
                                  <a:rPr lang="es-PE" sz="1600" i="1">
                                    <a:latin typeface="Cambria Math" panose="02040503050406030204" pitchFamily="18" charset="0"/>
                                    <a:cs typeface="Arial" panose="020B0604020202020204" pitchFamily="34" charset="0"/>
                                  </a:rPr>
                                  <m:t>𝑇</m:t>
                                </m:r>
                              </m:e>
                              <m:sub>
                                <m:r>
                                  <a:rPr lang="es-PE" sz="1600" i="1">
                                    <a:latin typeface="Cambria Math" panose="02040503050406030204" pitchFamily="18" charset="0"/>
                                    <a:cs typeface="Arial" panose="020B0604020202020204" pitchFamily="34" charset="0"/>
                                  </a:rPr>
                                  <m:t>0</m:t>
                                </m:r>
                              </m:sub>
                            </m:sSub>
                          </m:e>
                        </m:d>
                      </m:e>
                      <m:sub>
                        <m:r>
                          <a:rPr lang="es-PE" sz="1600" i="1">
                            <a:latin typeface="Cambria Math" panose="02040503050406030204" pitchFamily="18" charset="0"/>
                            <a:cs typeface="Arial" panose="020B0604020202020204" pitchFamily="34" charset="0"/>
                          </a:rPr>
                          <m:t>𝑚𝑎𝑥</m:t>
                        </m:r>
                      </m:sub>
                    </m:sSub>
                  </m:oMath>
                </a14:m>
                <a:r>
                  <a:rPr lang="es-ES" sz="1600" baseline="-25000" dirty="0">
                    <a:latin typeface="Arial" panose="020B0604020202020204" pitchFamily="34" charset="0"/>
                    <a:cs typeface="Arial" panose="020B0604020202020204" pitchFamily="34" charset="0"/>
                  </a:rPr>
                  <a:t>i</a:t>
                </a:r>
                <a:r>
                  <a:rPr lang="es-ES" sz="1600" dirty="0">
                    <a:latin typeface="Arial" panose="020B0604020202020204" pitchFamily="34" charset="0"/>
                    <a:cs typeface="Arial" panose="020B0604020202020204" pitchFamily="34" charset="0"/>
                  </a:rPr>
                  <a:t>, si el ángulo de torsión máximo se limita a 1.85°. </a:t>
                </a:r>
                <a:r>
                  <a:rPr lang="es-ES" sz="1600" i="1" dirty="0">
                    <a:latin typeface="Arial" panose="020B0604020202020204" pitchFamily="34" charset="0"/>
                    <a:cs typeface="Arial" panose="020B0604020202020204" pitchFamily="34" charset="0"/>
                  </a:rPr>
                  <a:t>Sea G = </a:t>
                </a:r>
                <a:r>
                  <a:rPr lang="es-ES" sz="1600" dirty="0">
                    <a:latin typeface="Arial" panose="020B0604020202020204" pitchFamily="34" charset="0"/>
                    <a:cs typeface="Arial" panose="020B0604020202020204" pitchFamily="34" charset="0"/>
                  </a:rPr>
                  <a:t>28 </a:t>
                </a:r>
                <a:r>
                  <a:rPr lang="es-ES" sz="1600" dirty="0" err="1">
                    <a:latin typeface="Arial" panose="020B0604020202020204" pitchFamily="34" charset="0"/>
                    <a:cs typeface="Arial" panose="020B0604020202020204" pitchFamily="34" charset="0"/>
                  </a:rPr>
                  <a:t>GPa</a:t>
                </a:r>
                <a:r>
                  <a:rPr lang="es-ES" sz="1600" dirty="0">
                    <a:latin typeface="Arial" panose="020B0604020202020204" pitchFamily="34" charset="0"/>
                    <a:cs typeface="Arial" panose="020B0604020202020204" pitchFamily="34" charset="0"/>
                  </a:rPr>
                  <a:t>.</a:t>
                </a:r>
                <a:endParaRPr lang="es-PE" sz="1600" dirty="0">
                  <a:latin typeface="Arial" panose="020B0604020202020204" pitchFamily="34" charset="0"/>
                  <a:cs typeface="Arial" panose="020B0604020202020204" pitchFamily="34" charset="0"/>
                </a:endParaRPr>
              </a:p>
              <a:p>
                <a:pPr algn="just"/>
                <a:endParaRPr lang="es-PE" sz="1600" dirty="0">
                  <a:latin typeface="Arial" panose="020B0604020202020204" pitchFamily="34" charset="0"/>
                  <a:cs typeface="Arial" panose="020B0604020202020204" pitchFamily="34" charset="0"/>
                </a:endParaRPr>
              </a:p>
            </p:txBody>
          </p:sp>
        </mc:Choice>
        <mc:Fallback xmlns="">
          <p:sp>
            <p:nvSpPr>
              <p:cNvPr id="3" name="Rectángulo 2"/>
              <p:cNvSpPr>
                <a:spLocks noRot="1" noChangeAspect="1" noMove="1" noResize="1" noEditPoints="1" noAdjustHandles="1" noChangeArrowheads="1" noChangeShapeType="1" noTextEdit="1"/>
              </p:cNvSpPr>
              <p:nvPr/>
            </p:nvSpPr>
            <p:spPr>
              <a:xfrm>
                <a:off x="272480" y="1774203"/>
                <a:ext cx="9145016" cy="1569660"/>
              </a:xfrm>
              <a:prstGeom prst="rect">
                <a:avLst/>
              </a:prstGeom>
              <a:blipFill rotWithShape="0">
                <a:blip r:embed="rId2"/>
                <a:stretch>
                  <a:fillRect l="-400" t="-1163" r="-333"/>
                </a:stretch>
              </a:blipFill>
            </p:spPr>
            <p:txBody>
              <a:bodyPr/>
              <a:lstStyle/>
              <a:p>
                <a:r>
                  <a:rPr lang="es-PE">
                    <a:noFill/>
                  </a:rPr>
                  <a:t> </a:t>
                </a:r>
              </a:p>
            </p:txBody>
          </p:sp>
        </mc:Fallback>
      </mc:AlternateContent>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8704" y="3549030"/>
            <a:ext cx="4801270" cy="1981477"/>
          </a:xfrm>
          <a:prstGeom prst="rect">
            <a:avLst/>
          </a:prstGeom>
        </p:spPr>
      </p:pic>
      <p:sp>
        <p:nvSpPr>
          <p:cNvPr id="8" name="CuadroTexto 7"/>
          <p:cNvSpPr txBox="1"/>
          <p:nvPr/>
        </p:nvSpPr>
        <p:spPr>
          <a:xfrm>
            <a:off x="1064568" y="5589240"/>
            <a:ext cx="3096344" cy="646331"/>
          </a:xfrm>
          <a:prstGeom prst="rect">
            <a:avLst/>
          </a:prstGeom>
          <a:noFill/>
        </p:spPr>
        <p:txBody>
          <a:bodyPr wrap="square" rtlCol="0">
            <a:spAutoFit/>
          </a:bodyPr>
          <a:lstStyle/>
          <a:p>
            <a:r>
              <a:rPr lang="es-PE" dirty="0" err="1" smtClean="0"/>
              <a:t>Rpta</a:t>
            </a:r>
            <a:r>
              <a:rPr lang="es-PE" dirty="0" smtClean="0"/>
              <a:t>: 150 </a:t>
            </a:r>
            <a:r>
              <a:rPr lang="es-PE" dirty="0" err="1" smtClean="0"/>
              <a:t>N.m</a:t>
            </a:r>
            <a:endParaRPr lang="es-PE" dirty="0" smtClean="0"/>
          </a:p>
          <a:p>
            <a:r>
              <a:rPr lang="es-PE" dirty="0" smtClean="0"/>
              <a:t>140N.m</a:t>
            </a:r>
            <a:endParaRPr lang="es-PE" dirty="0"/>
          </a:p>
        </p:txBody>
      </p:sp>
    </p:spTree>
    <p:extLst>
      <p:ext uri="{BB962C8B-B14F-4D97-AF65-F5344CB8AC3E}">
        <p14:creationId xmlns:p14="http://schemas.microsoft.com/office/powerpoint/2010/main" val="2015178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5" name="Rectángulo redondeado 4"/>
          <p:cNvSpPr/>
          <p:nvPr/>
        </p:nvSpPr>
        <p:spPr>
          <a:xfrm>
            <a:off x="1568624" y="836712"/>
            <a:ext cx="7449752" cy="70923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b="1" dirty="0" smtClean="0">
                <a:solidFill>
                  <a:schemeClr val="tx1"/>
                </a:solidFill>
              </a:rPr>
              <a:t>ENERGÍA DE DEFORMACIÓN PARA BARRAS SUJETAS A TORSIÓN</a:t>
            </a:r>
            <a:endParaRPr lang="es-PE" sz="2400" b="1" dirty="0">
              <a:solidFill>
                <a:schemeClr val="tx1"/>
              </a:solidFill>
            </a:endParaRPr>
          </a:p>
        </p:txBody>
      </p:sp>
      <p:sp>
        <p:nvSpPr>
          <p:cNvPr id="10" name="Rectángulo 9"/>
          <p:cNvSpPr/>
          <p:nvPr/>
        </p:nvSpPr>
        <p:spPr>
          <a:xfrm>
            <a:off x="344488" y="1711480"/>
            <a:ext cx="4392488" cy="646331"/>
          </a:xfrm>
          <a:prstGeom prst="rect">
            <a:avLst/>
          </a:prstGeom>
        </p:spPr>
        <p:txBody>
          <a:bodyPr wrap="square">
            <a:spAutoFit/>
          </a:bodyPr>
          <a:lstStyle/>
          <a:p>
            <a:pPr algn="just"/>
            <a:r>
              <a:rPr lang="es-PE" dirty="0" smtClean="0"/>
              <a:t>La energía interna de deformación </a:t>
            </a:r>
            <a:r>
              <a:rPr lang="es-PE" dirty="0" err="1" smtClean="0"/>
              <a:t>dW</a:t>
            </a:r>
            <a:r>
              <a:rPr lang="es-PE" dirty="0" smtClean="0"/>
              <a:t> para un segmento dx en la figura es:</a:t>
            </a:r>
            <a:endParaRPr lang="es-PE" dirty="0"/>
          </a:p>
        </p:txBody>
      </p:sp>
      <mc:AlternateContent xmlns:mc="http://schemas.openxmlformats.org/markup-compatibility/2006" xmlns:a14="http://schemas.microsoft.com/office/drawing/2010/main">
        <mc:Choice Requires="a14">
          <p:sp>
            <p:nvSpPr>
              <p:cNvPr id="3" name="CuadroTexto 2"/>
              <p:cNvSpPr txBox="1"/>
              <p:nvPr/>
            </p:nvSpPr>
            <p:spPr>
              <a:xfrm>
                <a:off x="1724747" y="2433406"/>
                <a:ext cx="1523109"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rPr>
                        <m:t>𝑑𝑊</m:t>
                      </m:r>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1</m:t>
                          </m:r>
                        </m:num>
                        <m:den>
                          <m:r>
                            <a:rPr lang="es-PE" sz="2400" b="0" i="1" smtClean="0">
                              <a:latin typeface="Cambria Math" panose="02040503050406030204" pitchFamily="18" charset="0"/>
                            </a:rPr>
                            <m:t>2</m:t>
                          </m:r>
                        </m:den>
                      </m:f>
                      <m:r>
                        <a:rPr lang="es-PE" sz="2400" b="0" i="1" smtClean="0">
                          <a:latin typeface="Cambria Math" panose="02040503050406030204" pitchFamily="18" charset="0"/>
                        </a:rPr>
                        <m:t>𝑇</m:t>
                      </m:r>
                      <m:r>
                        <m:rPr>
                          <m:sty m:val="p"/>
                        </m:rPr>
                        <a:rPr lang="el-GR" sz="2400" b="0" i="1" smtClean="0">
                          <a:latin typeface="Cambria Math" panose="02040503050406030204" pitchFamily="18" charset="0"/>
                        </a:rPr>
                        <m:t>θ</m:t>
                      </m:r>
                    </m:oMath>
                  </m:oMathPara>
                </a14:m>
                <a:endParaRPr lang="es-PE" sz="24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1724747" y="2433406"/>
                <a:ext cx="1523109" cy="691471"/>
              </a:xfrm>
              <a:prstGeom prst="rect">
                <a:avLst/>
              </a:prstGeom>
              <a:blipFill rotWithShape="0">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1724747" y="5449656"/>
                <a:ext cx="1767150" cy="8493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rPr>
                          </m:ctrlPr>
                        </m:sSubPr>
                        <m:e>
                          <m:r>
                            <a:rPr lang="es-PE" sz="2400" i="1" smtClean="0">
                              <a:latin typeface="Cambria Math" panose="02040503050406030204" pitchFamily="18" charset="0"/>
                              <a:ea typeface="Cambria Math" panose="02040503050406030204" pitchFamily="18" charset="0"/>
                            </a:rPr>
                            <m:t>𝜃</m:t>
                          </m:r>
                        </m:e>
                        <m:sub>
                          <m:r>
                            <a:rPr lang="es-PE" sz="2400" b="0" i="1" smtClean="0">
                              <a:latin typeface="Cambria Math" panose="02040503050406030204" pitchFamily="18" charset="0"/>
                            </a:rPr>
                            <m:t>𝐴</m:t>
                          </m:r>
                          <m:r>
                            <a:rPr lang="es-PE" sz="2400" b="0" i="1" smtClean="0">
                              <a:latin typeface="Cambria Math" panose="02040503050406030204" pitchFamily="18" charset="0"/>
                            </a:rPr>
                            <m:t>/</m:t>
                          </m:r>
                          <m:r>
                            <a:rPr lang="es-PE" sz="2400" b="0" i="1" smtClean="0">
                              <a:latin typeface="Cambria Math" panose="02040503050406030204" pitchFamily="18" charset="0"/>
                            </a:rPr>
                            <m:t>𝐵</m:t>
                          </m:r>
                        </m:sub>
                      </m:sSub>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𝑇𝑑𝑥</m:t>
                          </m:r>
                        </m:num>
                        <m:den>
                          <m:r>
                            <a:rPr lang="es-PE" sz="2400" b="0" i="1" smtClean="0">
                              <a:latin typeface="Cambria Math" panose="02040503050406030204" pitchFamily="18" charset="0"/>
                            </a:rPr>
                            <m:t>𝐺𝐽</m:t>
                          </m:r>
                        </m:den>
                      </m:f>
                    </m:oMath>
                  </m:oMathPara>
                </a14:m>
                <a:endParaRPr lang="es-PE" sz="2400" dirty="0"/>
              </a:p>
            </p:txBody>
          </p:sp>
        </mc:Choice>
        <mc:Fallback xmlns="">
          <p:sp>
            <p:nvSpPr>
              <p:cNvPr id="11" name="Rectángulo 10"/>
              <p:cNvSpPr>
                <a:spLocks noRot="1" noChangeAspect="1" noMove="1" noResize="1" noEditPoints="1" noAdjustHandles="1" noChangeArrowheads="1" noChangeShapeType="1" noTextEdit="1"/>
              </p:cNvSpPr>
              <p:nvPr/>
            </p:nvSpPr>
            <p:spPr>
              <a:xfrm>
                <a:off x="1724747" y="5449656"/>
                <a:ext cx="1767150" cy="849335"/>
              </a:xfrm>
              <a:prstGeom prst="rect">
                <a:avLst/>
              </a:prstGeom>
              <a:blipFill rotWithShape="0">
                <a:blip r:embed="rId3"/>
                <a:stretch>
                  <a:fillRect/>
                </a:stretch>
              </a:blipFill>
            </p:spPr>
            <p:txBody>
              <a:bodyPr/>
              <a:lstStyle/>
              <a:p>
                <a:r>
                  <a:rPr lang="es-PE">
                    <a:noFill/>
                  </a:rPr>
                  <a:t> </a:t>
                </a:r>
              </a:p>
            </p:txBody>
          </p:sp>
        </mc:Fallback>
      </mc:AlternateContent>
      <p:sp>
        <p:nvSpPr>
          <p:cNvPr id="6" name="Rectángulo 5"/>
          <p:cNvSpPr/>
          <p:nvPr/>
        </p:nvSpPr>
        <p:spPr>
          <a:xfrm>
            <a:off x="468052" y="4658283"/>
            <a:ext cx="4268924" cy="646331"/>
          </a:xfrm>
          <a:prstGeom prst="rect">
            <a:avLst/>
          </a:prstGeom>
        </p:spPr>
        <p:txBody>
          <a:bodyPr wrap="square">
            <a:spAutoFit/>
          </a:bodyPr>
          <a:lstStyle/>
          <a:p>
            <a:pPr algn="just"/>
            <a:r>
              <a:rPr lang="es-PE" dirty="0" smtClean="0"/>
              <a:t>La siguiente ecuación da el ángulo de torsión de una cara con respecto de la otra</a:t>
            </a:r>
            <a:endParaRPr lang="es-PE" dirty="0"/>
          </a:p>
        </p:txBody>
      </p:sp>
      <p:sp>
        <p:nvSpPr>
          <p:cNvPr id="7" name="Rectángulo 6"/>
          <p:cNvSpPr/>
          <p:nvPr/>
        </p:nvSpPr>
        <p:spPr>
          <a:xfrm>
            <a:off x="5421052" y="1711480"/>
            <a:ext cx="4320480" cy="646331"/>
          </a:xfrm>
          <a:prstGeom prst="rect">
            <a:avLst/>
          </a:prstGeom>
        </p:spPr>
        <p:txBody>
          <a:bodyPr wrap="square">
            <a:spAutoFit/>
          </a:bodyPr>
          <a:lstStyle/>
          <a:p>
            <a:r>
              <a:rPr lang="es-PE" dirty="0" smtClean="0"/>
              <a:t>La energía de deformación para el segmento dx es:</a:t>
            </a:r>
            <a:endParaRPr lang="es-PE" dirty="0"/>
          </a:p>
        </p:txBody>
      </p:sp>
      <mc:AlternateContent xmlns:mc="http://schemas.openxmlformats.org/markup-compatibility/2006" xmlns:a14="http://schemas.microsoft.com/office/drawing/2010/main">
        <mc:Choice Requires="a14">
          <p:sp>
            <p:nvSpPr>
              <p:cNvPr id="14" name="Rectángulo 13"/>
              <p:cNvSpPr/>
              <p:nvPr/>
            </p:nvSpPr>
            <p:spPr>
              <a:xfrm>
                <a:off x="5656598" y="2492485"/>
                <a:ext cx="3849387" cy="922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rPr>
                        <m:t>𝑑𝑊</m:t>
                      </m:r>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1</m:t>
                          </m:r>
                        </m:num>
                        <m:den>
                          <m:r>
                            <a:rPr lang="es-PE" sz="2400" b="0" i="1" smtClean="0">
                              <a:latin typeface="Cambria Math" panose="02040503050406030204" pitchFamily="18" charset="0"/>
                            </a:rPr>
                            <m:t>2</m:t>
                          </m:r>
                        </m:den>
                      </m:f>
                      <m:r>
                        <a:rPr lang="es-PE" sz="2400" b="0" i="1" smtClean="0">
                          <a:latin typeface="Cambria Math" panose="02040503050406030204" pitchFamily="18" charset="0"/>
                        </a:rPr>
                        <m:t>𝑇</m:t>
                      </m:r>
                      <m:d>
                        <m:dPr>
                          <m:ctrlPr>
                            <a:rPr lang="es-PE" sz="2400" b="0" i="1" smtClean="0">
                              <a:latin typeface="Cambria Math" panose="02040503050406030204" pitchFamily="18" charset="0"/>
                            </a:rPr>
                          </m:ctrlPr>
                        </m:dPr>
                        <m:e>
                          <m:f>
                            <m:fPr>
                              <m:ctrlPr>
                                <a:rPr lang="es-PE" sz="2400" i="1">
                                  <a:latin typeface="Cambria Math" panose="02040503050406030204" pitchFamily="18" charset="0"/>
                                </a:rPr>
                              </m:ctrlPr>
                            </m:fPr>
                            <m:num>
                              <m:r>
                                <a:rPr lang="es-PE" sz="2400" i="1">
                                  <a:latin typeface="Cambria Math" panose="02040503050406030204" pitchFamily="18" charset="0"/>
                                </a:rPr>
                                <m:t>𝑇𝑑𝑥</m:t>
                              </m:r>
                            </m:num>
                            <m:den>
                              <m:r>
                                <a:rPr lang="es-PE" sz="2400" i="1">
                                  <a:latin typeface="Cambria Math" panose="02040503050406030204" pitchFamily="18" charset="0"/>
                                </a:rPr>
                                <m:t>𝐺𝐽</m:t>
                              </m:r>
                            </m:den>
                          </m:f>
                        </m:e>
                      </m:d>
                      <m:r>
                        <a:rPr lang="es-PE" sz="2400" b="0" i="1" smtClean="0">
                          <a:latin typeface="Cambria Math" panose="02040503050406030204" pitchFamily="18" charset="0"/>
                        </a:rPr>
                        <m:t>=</m:t>
                      </m:r>
                      <m:f>
                        <m:fPr>
                          <m:ctrlPr>
                            <a:rPr lang="es-PE" sz="2400" i="1">
                              <a:latin typeface="Cambria Math" panose="02040503050406030204" pitchFamily="18" charset="0"/>
                            </a:rPr>
                          </m:ctrlPr>
                        </m:fPr>
                        <m:num>
                          <m:r>
                            <a:rPr lang="es-PE" sz="2400" i="1">
                              <a:latin typeface="Cambria Math" panose="02040503050406030204" pitchFamily="18" charset="0"/>
                            </a:rPr>
                            <m:t>1</m:t>
                          </m:r>
                        </m:num>
                        <m:den>
                          <m:r>
                            <a:rPr lang="es-PE" sz="2400" i="1">
                              <a:latin typeface="Cambria Math" panose="02040503050406030204" pitchFamily="18" charset="0"/>
                            </a:rPr>
                            <m:t>2</m:t>
                          </m:r>
                        </m:den>
                      </m:f>
                      <m:sSup>
                        <m:sSupPr>
                          <m:ctrlPr>
                            <a:rPr lang="es-PE" sz="2400" i="1" smtClean="0">
                              <a:latin typeface="Cambria Math" panose="02040503050406030204" pitchFamily="18" charset="0"/>
                            </a:rPr>
                          </m:ctrlPr>
                        </m:sSupPr>
                        <m:e>
                          <m:r>
                            <a:rPr lang="es-PE" sz="2400" b="0" i="1" smtClean="0">
                              <a:latin typeface="Cambria Math" panose="02040503050406030204" pitchFamily="18" charset="0"/>
                            </a:rPr>
                            <m:t>𝑇</m:t>
                          </m:r>
                        </m:e>
                        <m:sup>
                          <m:r>
                            <a:rPr lang="es-PE" sz="2400" b="0" i="1" smtClean="0">
                              <a:latin typeface="Cambria Math" panose="02040503050406030204" pitchFamily="18" charset="0"/>
                            </a:rPr>
                            <m:t>2</m:t>
                          </m:r>
                        </m:sup>
                      </m:sSup>
                      <m:f>
                        <m:fPr>
                          <m:ctrlPr>
                            <a:rPr lang="es-PE" sz="2400" i="1">
                              <a:latin typeface="Cambria Math" panose="02040503050406030204" pitchFamily="18" charset="0"/>
                            </a:rPr>
                          </m:ctrlPr>
                        </m:fPr>
                        <m:num>
                          <m:r>
                            <a:rPr lang="es-PE" sz="2400" i="1">
                              <a:latin typeface="Cambria Math" panose="02040503050406030204" pitchFamily="18" charset="0"/>
                            </a:rPr>
                            <m:t>𝑑𝑥</m:t>
                          </m:r>
                        </m:num>
                        <m:den>
                          <m:r>
                            <a:rPr lang="es-PE" sz="2400" i="1">
                              <a:latin typeface="Cambria Math" panose="02040503050406030204" pitchFamily="18" charset="0"/>
                            </a:rPr>
                            <m:t>𝐺𝐽</m:t>
                          </m:r>
                        </m:den>
                      </m:f>
                    </m:oMath>
                  </m:oMathPara>
                </a14:m>
                <a:endParaRPr lang="es-PE" sz="2400" dirty="0"/>
              </a:p>
            </p:txBody>
          </p:sp>
        </mc:Choice>
        <mc:Fallback xmlns="">
          <p:sp>
            <p:nvSpPr>
              <p:cNvPr id="14" name="Rectángulo 13"/>
              <p:cNvSpPr>
                <a:spLocks noRot="1" noChangeAspect="1" noMove="1" noResize="1" noEditPoints="1" noAdjustHandles="1" noChangeArrowheads="1" noChangeShapeType="1" noTextEdit="1"/>
              </p:cNvSpPr>
              <p:nvPr/>
            </p:nvSpPr>
            <p:spPr>
              <a:xfrm>
                <a:off x="5656598" y="2492485"/>
                <a:ext cx="3849387" cy="922176"/>
              </a:xfrm>
              <a:prstGeom prst="rect">
                <a:avLst/>
              </a:prstGeom>
              <a:blipFill rotWithShape="0">
                <a:blip r:embed="rId4"/>
                <a:stretch>
                  <a:fillRect/>
                </a:stretch>
              </a:blipFill>
            </p:spPr>
            <p:txBody>
              <a:bodyPr/>
              <a:lstStyle/>
              <a:p>
                <a:r>
                  <a:rPr lang="es-PE">
                    <a:noFill/>
                  </a:rPr>
                  <a:t> </a:t>
                </a:r>
              </a:p>
            </p:txBody>
          </p:sp>
        </mc:Fallback>
      </mc:AlternateContent>
      <p:pic>
        <p:nvPicPr>
          <p:cNvPr id="13" name="Imagen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488" y="3154717"/>
            <a:ext cx="4798675" cy="1421434"/>
          </a:xfrm>
          <a:prstGeom prst="rect">
            <a:avLst/>
          </a:prstGeom>
        </p:spPr>
      </p:pic>
      <p:sp>
        <p:nvSpPr>
          <p:cNvPr id="15" name="Rectángulo 14"/>
          <p:cNvSpPr/>
          <p:nvPr/>
        </p:nvSpPr>
        <p:spPr>
          <a:xfrm>
            <a:off x="5421052" y="3561054"/>
            <a:ext cx="4320480" cy="1200329"/>
          </a:xfrm>
          <a:prstGeom prst="rect">
            <a:avLst/>
          </a:prstGeom>
        </p:spPr>
        <p:txBody>
          <a:bodyPr wrap="square">
            <a:spAutoFit/>
          </a:bodyPr>
          <a:lstStyle/>
          <a:p>
            <a:pPr algn="just"/>
            <a:r>
              <a:rPr lang="es-PE" dirty="0" smtClean="0"/>
              <a:t>La energía de deformación en toda la longitud de la flecha (eje) se obtiene sumando la energía de deformación para cada segmento. Esto se convierte en:</a:t>
            </a:r>
            <a:endParaRPr lang="es-PE" dirty="0"/>
          </a:p>
        </p:txBody>
      </p:sp>
      <mc:AlternateContent xmlns:mc="http://schemas.openxmlformats.org/markup-compatibility/2006" xmlns:a14="http://schemas.microsoft.com/office/drawing/2010/main">
        <mc:Choice Requires="a14">
          <p:sp>
            <p:nvSpPr>
              <p:cNvPr id="16" name="Rectángulo 15"/>
              <p:cNvSpPr/>
              <p:nvPr/>
            </p:nvSpPr>
            <p:spPr>
              <a:xfrm>
                <a:off x="6321152" y="5041681"/>
                <a:ext cx="2351669" cy="9229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rPr>
                        <m:t>𝑊</m:t>
                      </m:r>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1</m:t>
                          </m:r>
                        </m:num>
                        <m:den>
                          <m:r>
                            <a:rPr lang="es-PE" sz="2400" b="0" i="1" smtClean="0">
                              <a:latin typeface="Cambria Math" panose="02040503050406030204" pitchFamily="18" charset="0"/>
                            </a:rPr>
                            <m:t>2</m:t>
                          </m:r>
                        </m:den>
                      </m:f>
                      <m:nary>
                        <m:naryPr>
                          <m:ctrlPr>
                            <a:rPr lang="es-PE" sz="2400" b="0" i="1" smtClean="0">
                              <a:latin typeface="Cambria Math" panose="02040503050406030204" pitchFamily="18" charset="0"/>
                            </a:rPr>
                          </m:ctrlPr>
                        </m:naryPr>
                        <m:sub>
                          <m:r>
                            <m:rPr>
                              <m:brk m:alnAt="23"/>
                            </m:rPr>
                            <a:rPr lang="es-PE" sz="2400" b="0" i="1" smtClean="0">
                              <a:latin typeface="Cambria Math" panose="02040503050406030204" pitchFamily="18" charset="0"/>
                            </a:rPr>
                            <m:t>0</m:t>
                          </m:r>
                        </m:sub>
                        <m:sup>
                          <m:r>
                            <a:rPr lang="es-PE" sz="2400" b="0" i="1" smtClean="0">
                              <a:latin typeface="Cambria Math" panose="02040503050406030204" pitchFamily="18" charset="0"/>
                            </a:rPr>
                            <m:t>𝐿</m:t>
                          </m:r>
                        </m:sup>
                        <m:e>
                          <m:f>
                            <m:fPr>
                              <m:ctrlPr>
                                <a:rPr lang="es-PE" sz="2400" i="1">
                                  <a:latin typeface="Cambria Math" panose="02040503050406030204" pitchFamily="18" charset="0"/>
                                </a:rPr>
                              </m:ctrlPr>
                            </m:fPr>
                            <m:num>
                              <m:sSup>
                                <m:sSupPr>
                                  <m:ctrlPr>
                                    <a:rPr lang="es-PE" sz="2400" i="1" smtClean="0">
                                      <a:latin typeface="Cambria Math" panose="02040503050406030204" pitchFamily="18" charset="0"/>
                                    </a:rPr>
                                  </m:ctrlPr>
                                </m:sSupPr>
                                <m:e>
                                  <m:r>
                                    <a:rPr lang="es-PE" sz="2400" b="0" i="1" smtClean="0">
                                      <a:latin typeface="Cambria Math" panose="02040503050406030204" pitchFamily="18" charset="0"/>
                                    </a:rPr>
                                    <m:t>𝑇</m:t>
                                  </m:r>
                                </m:e>
                                <m:sup>
                                  <m:r>
                                    <a:rPr lang="es-PE" sz="2400" b="0" i="1" smtClean="0">
                                      <a:latin typeface="Cambria Math" panose="02040503050406030204" pitchFamily="18" charset="0"/>
                                    </a:rPr>
                                    <m:t>2</m:t>
                                  </m:r>
                                </m:sup>
                              </m:sSup>
                            </m:num>
                            <m:den>
                              <m:r>
                                <a:rPr lang="es-PE" sz="2400" i="1">
                                  <a:latin typeface="Cambria Math" panose="02040503050406030204" pitchFamily="18" charset="0"/>
                                </a:rPr>
                                <m:t>𝐺𝐽</m:t>
                              </m:r>
                            </m:den>
                          </m:f>
                          <m:r>
                            <a:rPr lang="es-PE" sz="2400" b="0" i="1" smtClean="0">
                              <a:latin typeface="Cambria Math" panose="02040503050406030204" pitchFamily="18" charset="0"/>
                            </a:rPr>
                            <m:t>𝑑𝑥</m:t>
                          </m:r>
                        </m:e>
                      </m:nary>
                    </m:oMath>
                  </m:oMathPara>
                </a14:m>
                <a:endParaRPr lang="es-PE" sz="2400" dirty="0"/>
              </a:p>
            </p:txBody>
          </p:sp>
        </mc:Choice>
        <mc:Fallback xmlns="">
          <p:sp>
            <p:nvSpPr>
              <p:cNvPr id="16" name="Rectángulo 15"/>
              <p:cNvSpPr>
                <a:spLocks noRot="1" noChangeAspect="1" noMove="1" noResize="1" noEditPoints="1" noAdjustHandles="1" noChangeArrowheads="1" noChangeShapeType="1" noTextEdit="1"/>
              </p:cNvSpPr>
              <p:nvPr/>
            </p:nvSpPr>
            <p:spPr>
              <a:xfrm>
                <a:off x="6321152" y="5041681"/>
                <a:ext cx="2351669" cy="922945"/>
              </a:xfrm>
              <a:prstGeom prst="rect">
                <a:avLst/>
              </a:prstGeom>
              <a:blipFill rotWithShape="0">
                <a:blip r:embed="rId6"/>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8965803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784648" y="954706"/>
            <a:ext cx="2088232" cy="3882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EJERCICIO</a:t>
            </a:r>
            <a:endParaRPr lang="es-PE" sz="2400" b="1" dirty="0">
              <a:solidFill>
                <a:schemeClr val="tx1"/>
              </a:solidFill>
            </a:endParaRPr>
          </a:p>
        </p:txBody>
      </p:sp>
      <p:sp>
        <p:nvSpPr>
          <p:cNvPr id="4" name="Rectángulo 3"/>
          <p:cNvSpPr/>
          <p:nvPr/>
        </p:nvSpPr>
        <p:spPr>
          <a:xfrm>
            <a:off x="632520" y="1733869"/>
            <a:ext cx="8777200" cy="1569660"/>
          </a:xfrm>
          <a:prstGeom prst="rect">
            <a:avLst/>
          </a:prstGeom>
        </p:spPr>
        <p:txBody>
          <a:bodyPr wrap="square">
            <a:spAutoFit/>
          </a:bodyPr>
          <a:lstStyle/>
          <a:p>
            <a:pPr algn="just"/>
            <a:r>
              <a:rPr lang="es-ES" sz="1600" dirty="0">
                <a:latin typeface="Arial" panose="020B0604020202020204" pitchFamily="34" charset="0"/>
                <a:cs typeface="Arial" panose="020B0604020202020204" pitchFamily="34" charset="0"/>
              </a:rPr>
              <a:t>Una barra circular sólida de acero </a:t>
            </a:r>
            <a:r>
              <a:rPr lang="es-ES" sz="1600" i="1" dirty="0">
                <a:latin typeface="Arial" panose="020B0604020202020204" pitchFamily="34" charset="0"/>
                <a:cs typeface="Arial" panose="020B0604020202020204" pitchFamily="34" charset="0"/>
              </a:rPr>
              <a:t>(G =</a:t>
            </a:r>
            <a:r>
              <a:rPr lang="es-ES" sz="1600" b="1" dirty="0">
                <a:latin typeface="Arial" panose="020B0604020202020204" pitchFamily="34" charset="0"/>
                <a:cs typeface="Arial" panose="020B0604020202020204" pitchFamily="34" charset="0"/>
              </a:rPr>
              <a:t> 11.4 x </a:t>
            </a:r>
            <a:r>
              <a:rPr lang="es-ES" sz="1600" dirty="0">
                <a:latin typeface="Arial" panose="020B0604020202020204" pitchFamily="34" charset="0"/>
                <a:cs typeface="Arial" panose="020B0604020202020204" pitchFamily="34" charset="0"/>
              </a:rPr>
              <a:t>10</a:t>
            </a:r>
            <a:r>
              <a:rPr lang="es-ES" sz="1600" baseline="30000" dirty="0">
                <a:latin typeface="Arial" panose="020B0604020202020204" pitchFamily="34" charset="0"/>
                <a:cs typeface="Arial" panose="020B0604020202020204" pitchFamily="34" charset="0"/>
              </a:rPr>
              <a:t>6</a:t>
            </a:r>
            <a:r>
              <a:rPr lang="es-ES" sz="1600" dirty="0">
                <a:latin typeface="Arial" panose="020B0604020202020204" pitchFamily="34" charset="0"/>
                <a:cs typeface="Arial" panose="020B0604020202020204" pitchFamily="34" charset="0"/>
              </a:rPr>
              <a:t> psi) con longitud </a:t>
            </a:r>
            <a:r>
              <a:rPr lang="es-ES" sz="1600" i="1" dirty="0">
                <a:latin typeface="Arial" panose="020B0604020202020204" pitchFamily="34" charset="0"/>
                <a:cs typeface="Arial" panose="020B0604020202020204" pitchFamily="34" charset="0"/>
              </a:rPr>
              <a:t>L =</a:t>
            </a:r>
            <a:r>
              <a:rPr lang="es-ES" sz="1600" dirty="0">
                <a:latin typeface="Arial" panose="020B0604020202020204" pitchFamily="34" charset="0"/>
                <a:cs typeface="Arial" panose="020B0604020202020204" pitchFamily="34" charset="0"/>
              </a:rPr>
              <a:t> 30 in. y diámetro </a:t>
            </a:r>
            <a:r>
              <a:rPr lang="es-ES" sz="1600" i="1" dirty="0">
                <a:latin typeface="Arial" panose="020B0604020202020204" pitchFamily="34" charset="0"/>
                <a:cs typeface="Arial" panose="020B0604020202020204" pitchFamily="34" charset="0"/>
              </a:rPr>
              <a:t>d =</a:t>
            </a:r>
            <a:r>
              <a:rPr lang="es-ES" sz="1600" dirty="0">
                <a:latin typeface="Arial" panose="020B0604020202020204" pitchFamily="34" charset="0"/>
                <a:cs typeface="Arial" panose="020B0604020202020204" pitchFamily="34" charset="0"/>
              </a:rPr>
              <a:t> 1.75 in. se somete a torsión pura por pares de torsión </a:t>
            </a:r>
            <a:r>
              <a:rPr lang="es-ES" sz="1600" i="1" dirty="0">
                <a:latin typeface="Arial" panose="020B0604020202020204" pitchFamily="34" charset="0"/>
                <a:cs typeface="Arial" panose="020B0604020202020204" pitchFamily="34" charset="0"/>
              </a:rPr>
              <a:t>T </a:t>
            </a:r>
            <a:r>
              <a:rPr lang="es-ES" sz="1600" dirty="0">
                <a:latin typeface="Arial" panose="020B0604020202020204" pitchFamily="34" charset="0"/>
                <a:cs typeface="Arial" panose="020B0604020202020204" pitchFamily="34" charset="0"/>
              </a:rPr>
              <a:t>que actúan en los extre­mos (vea la figura).</a:t>
            </a:r>
            <a:endParaRPr lang="es-PE" sz="1600" dirty="0">
              <a:latin typeface="Arial" panose="020B0604020202020204" pitchFamily="34" charset="0"/>
              <a:cs typeface="Arial" panose="020B0604020202020204" pitchFamily="34" charset="0"/>
            </a:endParaRPr>
          </a:p>
          <a:p>
            <a:pPr lvl="0" algn="just" fontAlgn="base"/>
            <a:r>
              <a:rPr lang="es-ES" sz="1600" dirty="0" smtClean="0">
                <a:latin typeface="Arial" panose="020B0604020202020204" pitchFamily="34" charset="0"/>
                <a:cs typeface="Arial" panose="020B0604020202020204" pitchFamily="34" charset="0"/>
              </a:rPr>
              <a:t>(a) Calcule </a:t>
            </a:r>
            <a:r>
              <a:rPr lang="es-ES" sz="1600" dirty="0">
                <a:latin typeface="Arial" panose="020B0604020202020204" pitchFamily="34" charset="0"/>
                <a:cs typeface="Arial" panose="020B0604020202020204" pitchFamily="34" charset="0"/>
              </a:rPr>
              <a:t>la cantidad de energía de deformación </a:t>
            </a:r>
            <a:r>
              <a:rPr lang="es-ES" sz="1600" i="1" dirty="0">
                <a:latin typeface="Arial" panose="020B0604020202020204" pitchFamily="34" charset="0"/>
                <a:cs typeface="Arial" panose="020B0604020202020204" pitchFamily="34" charset="0"/>
              </a:rPr>
              <a:t>U </a:t>
            </a:r>
            <a:r>
              <a:rPr lang="es-ES" sz="1600" dirty="0">
                <a:latin typeface="Arial" panose="020B0604020202020204" pitchFamily="34" charset="0"/>
                <a:cs typeface="Arial" panose="020B0604020202020204" pitchFamily="34" charset="0"/>
              </a:rPr>
              <a:t>alma­cenada en la barra cuando el esfuerzo cortante máximo es de 4500 psi.</a:t>
            </a:r>
            <a:endParaRPr lang="es-PE" sz="1600" dirty="0">
              <a:latin typeface="Arial" panose="020B0604020202020204" pitchFamily="34" charset="0"/>
              <a:cs typeface="Arial" panose="020B0604020202020204" pitchFamily="34" charset="0"/>
            </a:endParaRPr>
          </a:p>
          <a:p>
            <a:pPr lvl="0" algn="just" fontAlgn="base"/>
            <a:r>
              <a:rPr lang="es-ES" sz="1600" dirty="0" smtClean="0">
                <a:latin typeface="Arial" panose="020B0604020202020204" pitchFamily="34" charset="0"/>
                <a:cs typeface="Arial" panose="020B0604020202020204" pitchFamily="34" charset="0"/>
              </a:rPr>
              <a:t>(b) A </a:t>
            </a:r>
            <a:r>
              <a:rPr lang="es-ES" sz="1600" dirty="0">
                <a:latin typeface="Arial" panose="020B0604020202020204" pitchFamily="34" charset="0"/>
                <a:cs typeface="Arial" panose="020B0604020202020204" pitchFamily="34" charset="0"/>
              </a:rPr>
              <a:t>partir de la energía de deformación, calcule el ángulo de </a:t>
            </a:r>
            <a:r>
              <a:rPr lang="es-ES" sz="1600" dirty="0" smtClean="0">
                <a:latin typeface="Arial" panose="020B0604020202020204" pitchFamily="34" charset="0"/>
                <a:cs typeface="Arial" panose="020B0604020202020204" pitchFamily="34" charset="0"/>
              </a:rPr>
              <a:t>torsión </a:t>
            </a:r>
            <a:r>
              <a:rPr lang="el-GR" sz="1600" dirty="0" smtClean="0">
                <a:latin typeface="Arial" panose="020B0604020202020204" pitchFamily="34" charset="0"/>
                <a:cs typeface="Arial" panose="020B0604020202020204" pitchFamily="34" charset="0"/>
              </a:rPr>
              <a:t>θ</a:t>
            </a:r>
            <a:r>
              <a:rPr lang="es-ES" sz="1600" dirty="0" smtClean="0">
                <a:latin typeface="Arial" panose="020B0604020202020204" pitchFamily="34" charset="0"/>
                <a:cs typeface="Arial" panose="020B0604020202020204" pitchFamily="34" charset="0"/>
              </a:rPr>
              <a:t> </a:t>
            </a:r>
            <a:r>
              <a:rPr lang="es-ES" sz="1600" dirty="0">
                <a:latin typeface="Arial" panose="020B0604020202020204" pitchFamily="34" charset="0"/>
                <a:cs typeface="Arial" panose="020B0604020202020204" pitchFamily="34" charset="0"/>
              </a:rPr>
              <a:t>(en grados</a:t>
            </a:r>
            <a:r>
              <a:rPr lang="es-ES" sz="1600" dirty="0" smtClean="0">
                <a:latin typeface="Arial" panose="020B0604020202020204" pitchFamily="34" charset="0"/>
                <a:cs typeface="Arial" panose="020B0604020202020204" pitchFamily="34" charset="0"/>
              </a:rPr>
              <a:t>).</a:t>
            </a:r>
            <a:endParaRPr lang="es-PE" sz="1600" dirty="0">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5436" y="3789040"/>
            <a:ext cx="6359892" cy="1944216"/>
          </a:xfrm>
          <a:prstGeom prst="rect">
            <a:avLst/>
          </a:prstGeom>
        </p:spPr>
      </p:pic>
    </p:spTree>
    <p:extLst>
      <p:ext uri="{BB962C8B-B14F-4D97-AF65-F5344CB8AC3E}">
        <p14:creationId xmlns:p14="http://schemas.microsoft.com/office/powerpoint/2010/main" val="39739079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10" name="Content Placeholder 4"/>
          <p:cNvSpPr txBox="1">
            <a:spLocks/>
          </p:cNvSpPr>
          <p:nvPr/>
        </p:nvSpPr>
        <p:spPr>
          <a:xfrm>
            <a:off x="4736976" y="1988840"/>
            <a:ext cx="4896544" cy="4464496"/>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spcAft>
                <a:spcPts val="1200"/>
              </a:spcAft>
            </a:pPr>
            <a:r>
              <a:rPr lang="es-MX" sz="2000" dirty="0" smtClean="0">
                <a:solidFill>
                  <a:schemeClr val="tx1"/>
                </a:solidFill>
              </a:rPr>
              <a:t>La elasticidad para cuerpos reales se cumple para deformaciones del orden de centésimas de milímetro.</a:t>
            </a:r>
          </a:p>
          <a:p>
            <a:pPr algn="just">
              <a:spcAft>
                <a:spcPts val="1200"/>
              </a:spcAft>
            </a:pPr>
            <a:r>
              <a:rPr lang="es-MX" sz="2000" dirty="0" smtClean="0">
                <a:solidFill>
                  <a:schemeClr val="tx1"/>
                </a:solidFill>
              </a:rPr>
              <a:t>La energía almacenada en un solido deformado es de tipo potencial y se invierte para que el cuerpo recupere sus dimensiones originales.</a:t>
            </a:r>
          </a:p>
          <a:p>
            <a:pPr algn="just">
              <a:spcAft>
                <a:spcPts val="1200"/>
              </a:spcAft>
            </a:pPr>
            <a:r>
              <a:rPr lang="es-PE" sz="2000" dirty="0" smtClean="0">
                <a:solidFill>
                  <a:schemeClr val="tx1"/>
                </a:solidFill>
              </a:rPr>
              <a:t>Los solidos analizados presentan isotropía mecánica.</a:t>
            </a:r>
          </a:p>
          <a:p>
            <a:pPr algn="just">
              <a:spcAft>
                <a:spcPts val="1200"/>
              </a:spcAft>
            </a:pPr>
            <a:r>
              <a:rPr lang="es-PE" sz="2000" dirty="0" smtClean="0">
                <a:solidFill>
                  <a:schemeClr val="tx1"/>
                </a:solidFill>
              </a:rPr>
              <a:t>La magnitud de los módulos de elasticidad representan que tan fácil o </a:t>
            </a:r>
            <a:r>
              <a:rPr lang="es-PE" sz="2000" dirty="0" err="1" smtClean="0">
                <a:solidFill>
                  <a:schemeClr val="tx1"/>
                </a:solidFill>
              </a:rPr>
              <a:t>dificil</a:t>
            </a:r>
            <a:r>
              <a:rPr lang="es-PE" sz="2000" dirty="0" smtClean="0">
                <a:solidFill>
                  <a:schemeClr val="tx1"/>
                </a:solidFill>
              </a:rPr>
              <a:t> es deformar el cuerpo</a:t>
            </a:r>
            <a:endParaRPr lang="es-PE" sz="2000" dirty="0">
              <a:solidFill>
                <a:schemeClr val="tx1"/>
              </a:solidFill>
            </a:endParaRPr>
          </a:p>
        </p:txBody>
      </p:sp>
      <p:sp>
        <p:nvSpPr>
          <p:cNvPr id="14" name="Rectángulo redondeado 13"/>
          <p:cNvSpPr/>
          <p:nvPr/>
        </p:nvSpPr>
        <p:spPr>
          <a:xfrm>
            <a:off x="1640633" y="980728"/>
            <a:ext cx="3096343"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CONCLUSIONES</a:t>
            </a:r>
            <a:endParaRPr lang="es-PE" sz="2400" b="1" dirty="0">
              <a:solidFill>
                <a:schemeClr val="tx1"/>
              </a:solidFill>
            </a:endParaRPr>
          </a:p>
        </p:txBody>
      </p: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1988840"/>
            <a:ext cx="3739432" cy="3919646"/>
          </a:xfrm>
          <a:prstGeom prst="rect">
            <a:avLst/>
          </a:prstGeom>
        </p:spPr>
      </p:pic>
    </p:spTree>
    <p:extLst>
      <p:ext uri="{BB962C8B-B14F-4D97-AF65-F5344CB8AC3E}">
        <p14:creationId xmlns:p14="http://schemas.microsoft.com/office/powerpoint/2010/main" val="32704219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640633" y="980728"/>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METACOGNICIÓN</a:t>
            </a:r>
            <a:endParaRPr lang="es-PE" sz="2400" b="1" dirty="0">
              <a:solidFill>
                <a:schemeClr val="tx1"/>
              </a:solidFill>
            </a:endParaRPr>
          </a:p>
        </p:txBody>
      </p:sp>
      <p:sp>
        <p:nvSpPr>
          <p:cNvPr id="8" name="Bocadillo: rectángulo con esquinas redondeadas 1">
            <a:extLst>
              <a:ext uri="{FF2B5EF4-FFF2-40B4-BE49-F238E27FC236}">
                <a16:creationId xmlns:a16="http://schemas.microsoft.com/office/drawing/2014/main" xmlns="" id="{82BC446B-F639-467D-A250-25259F9EF4B8}"/>
              </a:ext>
            </a:extLst>
          </p:cNvPr>
          <p:cNvSpPr/>
          <p:nvPr/>
        </p:nvSpPr>
        <p:spPr>
          <a:xfrm>
            <a:off x="992560" y="2420888"/>
            <a:ext cx="7488832" cy="2664296"/>
          </a:xfrm>
          <a:prstGeom prst="wedgeRoundRectCallout">
            <a:avLst>
              <a:gd name="adj1" fmla="val -17962"/>
              <a:gd name="adj2" fmla="val 48532"/>
              <a:gd name="adj3" fmla="val 16667"/>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2400" dirty="0" smtClean="0">
                <a:solidFill>
                  <a:schemeClr val="tx1"/>
                </a:solidFill>
                <a:cs typeface="Arial" pitchFamily="34" charset="0"/>
              </a:rPr>
              <a:t>¿En que se parece la deformación de sólidos con la deformación de un resorte.?</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smtClean="0">
                <a:solidFill>
                  <a:schemeClr val="tx1"/>
                </a:solidFill>
                <a:cs typeface="Arial" pitchFamily="34" charset="0"/>
              </a:rPr>
              <a:t>¿Cómo determinamos las deformaciones por cizallamiento? </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smtClean="0">
                <a:solidFill>
                  <a:schemeClr val="tx1"/>
                </a:solidFill>
                <a:cs typeface="Arial" pitchFamily="34" charset="0"/>
              </a:rPr>
              <a:t>¿En qué campos de la Ingeniera podríamos apreciar la aplicación de la elasticidad de los cuerpos?</a:t>
            </a:r>
            <a:endParaRPr lang="es-PE" sz="2400" dirty="0">
              <a:solidFill>
                <a:schemeClr val="tx1"/>
              </a:solidFill>
              <a:effectLst>
                <a:outerShdw blurRad="38100" dist="38100" dir="2700000" algn="tl">
                  <a:srgbClr val="000000">
                    <a:alpha val="43137"/>
                  </a:srgbClr>
                </a:outerShdw>
              </a:effectLst>
              <a:cs typeface="Arial" pitchFamily="34" charset="0"/>
            </a:endParaRPr>
          </a:p>
          <a:p>
            <a:pPr algn="ctr"/>
            <a:endParaRPr lang="es-PE" dirty="0"/>
          </a:p>
        </p:txBody>
      </p:sp>
    </p:spTree>
    <p:extLst>
      <p:ext uri="{BB962C8B-B14F-4D97-AF65-F5344CB8AC3E}">
        <p14:creationId xmlns:p14="http://schemas.microsoft.com/office/powerpoint/2010/main" val="34584631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smtClean="0">
                <a:latin typeface="Arial" panose="020B0604020202020204" pitchFamily="34" charset="0"/>
                <a:cs typeface="Arial" panose="020B0604020202020204" pitchFamily="34" charset="0"/>
              </a:rPr>
              <a:t>UNIVERSIDAD NACIONAL DEL CALLAO</a:t>
            </a:r>
          </a:p>
          <a:p>
            <a:pPr algn="ctr"/>
            <a:r>
              <a:rPr lang="es-PE" sz="1200" b="1" dirty="0" smtClean="0">
                <a:latin typeface="Arial" panose="020B0604020202020204" pitchFamily="34" charset="0"/>
                <a:cs typeface="Arial" panose="020B0604020202020204" pitchFamily="34" charset="0"/>
              </a:rPr>
              <a:t>FACULTAD DE INGENIERÍA MECÁNICA Y DE ENERGÍA</a:t>
            </a:r>
            <a:endParaRPr lang="es-PE" sz="1200" b="1" dirty="0">
              <a:latin typeface="Arial" panose="020B0604020202020204" pitchFamily="34" charset="0"/>
              <a:cs typeface="Arial" panose="020B0604020202020204" pitchFamily="34" charset="0"/>
            </a:endParaRPr>
          </a:p>
        </p:txBody>
      </p:sp>
      <p:sp>
        <p:nvSpPr>
          <p:cNvPr id="6" name="Rectángulo redondeado 5"/>
          <p:cNvSpPr/>
          <p:nvPr/>
        </p:nvSpPr>
        <p:spPr>
          <a:xfrm>
            <a:off x="1640633" y="980728"/>
            <a:ext cx="2448271"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smtClean="0">
                <a:solidFill>
                  <a:schemeClr val="tx1"/>
                </a:solidFill>
              </a:rPr>
              <a:t>REFERENCIAS</a:t>
            </a:r>
            <a:endParaRPr lang="es-PE" sz="2800" b="1" dirty="0">
              <a:solidFill>
                <a:schemeClr val="tx1"/>
              </a:solidFill>
            </a:endParaRPr>
          </a:p>
        </p:txBody>
      </p:sp>
      <p:sp>
        <p:nvSpPr>
          <p:cNvPr id="7" name="Rectángulo 6"/>
          <p:cNvSpPr/>
          <p:nvPr/>
        </p:nvSpPr>
        <p:spPr>
          <a:xfrm>
            <a:off x="272480" y="1700808"/>
            <a:ext cx="9561512" cy="4939814"/>
          </a:xfrm>
          <a:prstGeom prst="rect">
            <a:avLst/>
          </a:prstGeom>
        </p:spPr>
        <p:txBody>
          <a:bodyPr wrap="square">
            <a:spAutoFit/>
          </a:bodyPr>
          <a:lstStyle/>
          <a:p>
            <a:r>
              <a:rPr lang="es-ES" sz="1600" b="1" u="sng" dirty="0" smtClean="0"/>
              <a:t>Bibliografía </a:t>
            </a:r>
            <a:r>
              <a:rPr lang="es-ES" sz="1600" b="1" u="sng" dirty="0"/>
              <a:t>Básica</a:t>
            </a:r>
            <a:r>
              <a:rPr lang="es-ES" sz="1600" b="1" u="sng" dirty="0" smtClean="0"/>
              <a:t>:</a:t>
            </a:r>
            <a:r>
              <a:rPr lang="es-ES" sz="1600" dirty="0"/>
              <a:t> </a:t>
            </a:r>
            <a:endParaRPr lang="es-PE" sz="1600" dirty="0"/>
          </a:p>
          <a:p>
            <a:r>
              <a:rPr lang="es-ES" sz="1600" dirty="0"/>
              <a:t>1. </a:t>
            </a:r>
            <a:r>
              <a:rPr lang="es-ES" sz="1600" b="1" dirty="0" err="1"/>
              <a:t>Serway</a:t>
            </a:r>
            <a:r>
              <a:rPr lang="es-ES" sz="1600" b="1" dirty="0"/>
              <a:t>, R. A. y </a:t>
            </a:r>
            <a:r>
              <a:rPr lang="es-ES" sz="1600" b="1" dirty="0" err="1"/>
              <a:t>Jewett</a:t>
            </a:r>
            <a:r>
              <a:rPr lang="es-ES" sz="1600" b="1" dirty="0"/>
              <a:t>, J. W.</a:t>
            </a:r>
            <a:r>
              <a:rPr lang="es-ES" sz="1600" dirty="0"/>
              <a:t> </a:t>
            </a:r>
            <a:r>
              <a:rPr lang="es-ES" sz="1600" i="1" dirty="0" err="1"/>
              <a:t>Fisica</a:t>
            </a:r>
            <a:r>
              <a:rPr lang="es-ES" sz="1600" i="1" dirty="0"/>
              <a:t> para Ciencias e </a:t>
            </a:r>
            <a:r>
              <a:rPr lang="es-ES" sz="1600" i="1" dirty="0" err="1"/>
              <a:t>Ingeneiría</a:t>
            </a:r>
            <a:r>
              <a:rPr lang="es-ES" sz="1600" i="1" dirty="0"/>
              <a:t>. </a:t>
            </a:r>
            <a:r>
              <a:rPr lang="es-ES" sz="1600" dirty="0"/>
              <a:t>México : </a:t>
            </a:r>
            <a:r>
              <a:rPr lang="es-ES" sz="1600" dirty="0" err="1"/>
              <a:t>Cengage</a:t>
            </a:r>
            <a:r>
              <a:rPr lang="es-ES" sz="1600" dirty="0"/>
              <a:t> </a:t>
            </a:r>
            <a:r>
              <a:rPr lang="es-ES" sz="1600" dirty="0" err="1"/>
              <a:t>Learning</a:t>
            </a:r>
            <a:r>
              <a:rPr lang="es-ES" sz="1600" dirty="0"/>
              <a:t>, 2015. Vol. I.</a:t>
            </a:r>
            <a:endParaRPr lang="es-PE" sz="1600" dirty="0"/>
          </a:p>
          <a:p>
            <a:r>
              <a:rPr lang="es-ES" sz="1600" dirty="0"/>
              <a:t>2. </a:t>
            </a:r>
            <a:r>
              <a:rPr lang="es-ES" sz="1600" b="1" dirty="0" err="1"/>
              <a:t>Resnick</a:t>
            </a:r>
            <a:r>
              <a:rPr lang="es-ES" sz="1600" b="1" dirty="0"/>
              <a:t>, R., </a:t>
            </a:r>
            <a:r>
              <a:rPr lang="es-ES" sz="1600" b="1" dirty="0" err="1"/>
              <a:t>Halliday</a:t>
            </a:r>
            <a:r>
              <a:rPr lang="es-ES" sz="1600" b="1" dirty="0"/>
              <a:t>, D. y </a:t>
            </a:r>
            <a:r>
              <a:rPr lang="es-ES" sz="1600" b="1" dirty="0" err="1"/>
              <a:t>Krane</a:t>
            </a:r>
            <a:r>
              <a:rPr lang="es-ES" sz="1600" b="1" dirty="0"/>
              <a:t>, K. S.</a:t>
            </a:r>
            <a:r>
              <a:rPr lang="es-ES" sz="1600" dirty="0"/>
              <a:t> </a:t>
            </a:r>
            <a:r>
              <a:rPr lang="es-ES" sz="1600" i="1" dirty="0"/>
              <a:t>Física. </a:t>
            </a:r>
            <a:r>
              <a:rPr lang="es-ES" sz="1600" dirty="0"/>
              <a:t>Quinta. México : </a:t>
            </a:r>
            <a:r>
              <a:rPr lang="es-ES" sz="1600" dirty="0" err="1"/>
              <a:t>Compañia</a:t>
            </a:r>
            <a:r>
              <a:rPr lang="es-ES" sz="1600" dirty="0"/>
              <a:t> editorial Continental, 2014. Vol. I.</a:t>
            </a:r>
            <a:endParaRPr lang="es-PE" sz="1600" dirty="0"/>
          </a:p>
          <a:p>
            <a:r>
              <a:rPr lang="es-ES" sz="1600" dirty="0"/>
              <a:t>3. </a:t>
            </a:r>
            <a:r>
              <a:rPr lang="es-ES" sz="1600" b="1" dirty="0" err="1"/>
              <a:t>Tipler</a:t>
            </a:r>
            <a:r>
              <a:rPr lang="es-ES" sz="1600" b="1" dirty="0"/>
              <a:t>, P. A. y Mosca, G.</a:t>
            </a:r>
            <a:r>
              <a:rPr lang="es-ES" sz="1600" dirty="0"/>
              <a:t> </a:t>
            </a:r>
            <a:r>
              <a:rPr lang="es-ES" sz="1600" i="1" dirty="0"/>
              <a:t>Física para la Ciencia y la Tecnología. </a:t>
            </a:r>
            <a:r>
              <a:rPr lang="es-ES" sz="1600" dirty="0"/>
              <a:t>Sexta. Barcelona : </a:t>
            </a:r>
            <a:r>
              <a:rPr lang="es-ES" sz="1600" dirty="0" err="1"/>
              <a:t>Reverté</a:t>
            </a:r>
            <a:r>
              <a:rPr lang="es-ES" sz="1600" dirty="0"/>
              <a:t> S.A., 2010. Vol. I.</a:t>
            </a:r>
            <a:endParaRPr lang="es-PE" sz="1600" dirty="0"/>
          </a:p>
          <a:p>
            <a:r>
              <a:rPr lang="es-ES" sz="1600" dirty="0"/>
              <a:t>4. </a:t>
            </a:r>
            <a:r>
              <a:rPr lang="es-ES" sz="1600" b="1" dirty="0" err="1"/>
              <a:t>Zemansky</a:t>
            </a:r>
            <a:r>
              <a:rPr lang="es-ES" sz="1600" b="1" dirty="0"/>
              <a:t>, M. W. y </a:t>
            </a:r>
            <a:r>
              <a:rPr lang="es-ES" sz="1600" b="1" dirty="0" err="1"/>
              <a:t>Freedman</a:t>
            </a:r>
            <a:r>
              <a:rPr lang="es-ES" sz="1600" b="1" dirty="0"/>
              <a:t>, R.A.</a:t>
            </a:r>
            <a:r>
              <a:rPr lang="es-ES" sz="1600" dirty="0"/>
              <a:t> </a:t>
            </a:r>
            <a:r>
              <a:rPr lang="es-ES" sz="1600" i="1" dirty="0"/>
              <a:t>Física Universitaria. </a:t>
            </a:r>
            <a:r>
              <a:rPr lang="es-ES" sz="1600" dirty="0"/>
              <a:t>México : Pearson </a:t>
            </a:r>
            <a:r>
              <a:rPr lang="es-ES" sz="1600" dirty="0" err="1"/>
              <a:t>Education</a:t>
            </a:r>
            <a:r>
              <a:rPr lang="es-ES" sz="1600" dirty="0"/>
              <a:t>, 2009. Vol. I.</a:t>
            </a:r>
            <a:endParaRPr lang="es-PE" sz="1600" dirty="0"/>
          </a:p>
          <a:p>
            <a:r>
              <a:rPr lang="es-ES" sz="1600" dirty="0"/>
              <a:t>5. </a:t>
            </a:r>
            <a:r>
              <a:rPr lang="es-ES" sz="1600" b="1" dirty="0" err="1"/>
              <a:t>Fishbane</a:t>
            </a:r>
            <a:r>
              <a:rPr lang="es-ES" sz="1600" b="1" dirty="0"/>
              <a:t>, P.M., </a:t>
            </a:r>
            <a:r>
              <a:rPr lang="es-ES" sz="1600" b="1" dirty="0" err="1"/>
              <a:t>Gasiorowicz</a:t>
            </a:r>
            <a:r>
              <a:rPr lang="es-ES" sz="1600" b="1" dirty="0"/>
              <a:t>, S. y </a:t>
            </a:r>
            <a:r>
              <a:rPr lang="es-ES" sz="1600" b="1" dirty="0" err="1"/>
              <a:t>Thornton</a:t>
            </a:r>
            <a:r>
              <a:rPr lang="es-ES" sz="1600" b="1" dirty="0"/>
              <a:t>, S.T.</a:t>
            </a:r>
            <a:r>
              <a:rPr lang="es-ES" sz="1600" dirty="0"/>
              <a:t> </a:t>
            </a:r>
            <a:r>
              <a:rPr lang="es-ES" sz="1600" i="1" dirty="0" smtClean="0"/>
              <a:t>Física </a:t>
            </a:r>
            <a:r>
              <a:rPr lang="es-ES" sz="1600" i="1" dirty="0"/>
              <a:t>para Ciencias e </a:t>
            </a:r>
            <a:r>
              <a:rPr lang="es-ES" sz="1600" i="1" dirty="0" err="1"/>
              <a:t>Ingeneiría</a:t>
            </a:r>
            <a:r>
              <a:rPr lang="es-ES" sz="1600" i="1" dirty="0"/>
              <a:t>. </a:t>
            </a:r>
            <a:r>
              <a:rPr lang="es-ES" sz="1600" dirty="0"/>
              <a:t>México : Prentice Hall Hispanoamericana, 1996. Vol. I.</a:t>
            </a:r>
            <a:endParaRPr lang="es-PE" sz="1600" dirty="0"/>
          </a:p>
          <a:p>
            <a:r>
              <a:rPr lang="es-ES" sz="1600" dirty="0"/>
              <a:t>6. </a:t>
            </a:r>
            <a:r>
              <a:rPr lang="es-ES" sz="1600" b="1" dirty="0"/>
              <a:t>Alonso, M. y </a:t>
            </a:r>
            <a:r>
              <a:rPr lang="es-ES" sz="1600" b="1" dirty="0" err="1"/>
              <a:t>Finn</a:t>
            </a:r>
            <a:r>
              <a:rPr lang="es-ES" sz="1600" b="1" dirty="0"/>
              <a:t>, E.J.</a:t>
            </a:r>
            <a:r>
              <a:rPr lang="es-ES" sz="1600" dirty="0"/>
              <a:t> </a:t>
            </a:r>
            <a:r>
              <a:rPr lang="es-ES" sz="1600" i="1" dirty="0"/>
              <a:t>Física: Mecánica. </a:t>
            </a:r>
            <a:r>
              <a:rPr lang="es-ES" sz="1600" dirty="0"/>
              <a:t>México : Fondo Educativo Interamericano S. A., 1971. Vol. I.</a:t>
            </a:r>
            <a:endParaRPr lang="es-PE" sz="1600" dirty="0"/>
          </a:p>
          <a:p>
            <a:r>
              <a:rPr lang="es-ES" sz="1600" b="1" u="sng" dirty="0" smtClean="0"/>
              <a:t>Bibliografía </a:t>
            </a:r>
            <a:r>
              <a:rPr lang="es-ES" sz="1600" b="1" u="sng" dirty="0"/>
              <a:t>Complementaria:</a:t>
            </a:r>
            <a:endParaRPr lang="es-PE" sz="1600" b="1" u="sng" dirty="0"/>
          </a:p>
          <a:p>
            <a:r>
              <a:rPr lang="es-ES" sz="1600" b="1" dirty="0"/>
              <a:t> </a:t>
            </a:r>
            <a:r>
              <a:rPr lang="es-ES" sz="1600" dirty="0" smtClean="0"/>
              <a:t>7</a:t>
            </a:r>
            <a:r>
              <a:rPr lang="es-ES" sz="1600" dirty="0"/>
              <a:t>. </a:t>
            </a:r>
            <a:r>
              <a:rPr lang="es-ES" sz="1600" b="1" dirty="0" err="1"/>
              <a:t>Beer</a:t>
            </a:r>
            <a:r>
              <a:rPr lang="es-ES" sz="1600" b="1" dirty="0"/>
              <a:t>, F. P., y otros.</a:t>
            </a:r>
            <a:r>
              <a:rPr lang="es-ES" sz="1600" dirty="0"/>
              <a:t> </a:t>
            </a:r>
            <a:r>
              <a:rPr lang="es-ES" sz="1600" i="1" dirty="0"/>
              <a:t>Mecánica vectorial para ingenieros</a:t>
            </a:r>
            <a:r>
              <a:rPr lang="es-ES" sz="1600" i="1" dirty="0" smtClean="0"/>
              <a:t>: Dinámica</a:t>
            </a:r>
            <a:r>
              <a:rPr lang="es-ES" sz="1600" i="1" dirty="0"/>
              <a:t>. </a:t>
            </a:r>
            <a:r>
              <a:rPr lang="es-ES" sz="1600" dirty="0"/>
              <a:t>México : Mc Graw Hill, 2010. Vol. Novena.</a:t>
            </a:r>
            <a:endParaRPr lang="es-PE" sz="1600" dirty="0"/>
          </a:p>
          <a:p>
            <a:r>
              <a:rPr lang="es-ES" sz="1600" dirty="0"/>
              <a:t>8. </a:t>
            </a:r>
            <a:r>
              <a:rPr lang="es-ES" sz="1600" b="1" dirty="0" err="1"/>
              <a:t>Beer</a:t>
            </a:r>
            <a:r>
              <a:rPr lang="es-ES" sz="1600" b="1" dirty="0"/>
              <a:t>, F.P., y otros.</a:t>
            </a:r>
            <a:r>
              <a:rPr lang="es-ES" sz="1600" dirty="0"/>
              <a:t> </a:t>
            </a:r>
            <a:r>
              <a:rPr lang="es-ES" sz="1600" i="1" dirty="0"/>
              <a:t>Mecánica Vectorial para Ingenieros: Estática. </a:t>
            </a:r>
            <a:r>
              <a:rPr lang="es-ES" sz="1600" dirty="0"/>
              <a:t>Novena. México : Mc Graw Hill, 2010.</a:t>
            </a:r>
            <a:endParaRPr lang="es-PE" sz="1600" dirty="0"/>
          </a:p>
          <a:p>
            <a:r>
              <a:rPr lang="es-ES" sz="1600" dirty="0"/>
              <a:t>9. </a:t>
            </a:r>
            <a:r>
              <a:rPr lang="es-ES" sz="1600" b="1" dirty="0"/>
              <a:t>Bedford, A. y </a:t>
            </a:r>
            <a:r>
              <a:rPr lang="es-ES" sz="1600" b="1" dirty="0" err="1"/>
              <a:t>Fowler</a:t>
            </a:r>
            <a:r>
              <a:rPr lang="es-ES" sz="1600" b="1" dirty="0"/>
              <a:t>, W.</a:t>
            </a:r>
            <a:r>
              <a:rPr lang="es-ES" sz="1600" dirty="0"/>
              <a:t> </a:t>
            </a:r>
            <a:r>
              <a:rPr lang="es-ES" sz="1600" i="1" dirty="0"/>
              <a:t>Mecánica para Ingeniería: Estática. </a:t>
            </a:r>
            <a:r>
              <a:rPr lang="es-ES" sz="1600" dirty="0"/>
              <a:t>Quinta. México : Pearson Educación, 2008.</a:t>
            </a:r>
            <a:endParaRPr lang="es-PE" sz="1600" dirty="0"/>
          </a:p>
          <a:p>
            <a:r>
              <a:rPr lang="es-ES" sz="1600" dirty="0"/>
              <a:t>10. —. </a:t>
            </a:r>
            <a:r>
              <a:rPr lang="es-ES" sz="1600" i="1" dirty="0"/>
              <a:t>Mecánica para Ingeniería: Dinámica. </a:t>
            </a:r>
            <a:r>
              <a:rPr lang="es-ES" sz="1600" dirty="0"/>
              <a:t>Quinta. México : Pearson Educación, 2008.</a:t>
            </a:r>
            <a:endParaRPr lang="es-PE" sz="1600" dirty="0"/>
          </a:p>
          <a:p>
            <a:r>
              <a:rPr lang="es-ES" sz="1600" dirty="0"/>
              <a:t>11. </a:t>
            </a:r>
            <a:r>
              <a:rPr lang="es-ES" sz="1600" b="1" dirty="0" err="1"/>
              <a:t>Hibbeler</a:t>
            </a:r>
            <a:r>
              <a:rPr lang="es-ES" sz="1600" b="1" dirty="0"/>
              <a:t>, R. C.</a:t>
            </a:r>
            <a:r>
              <a:rPr lang="es-ES" sz="1600" dirty="0"/>
              <a:t> </a:t>
            </a:r>
            <a:r>
              <a:rPr lang="es-ES" sz="1600" i="1" dirty="0"/>
              <a:t>Mecánica Vectorial para Ingenieros: Estática. </a:t>
            </a:r>
            <a:r>
              <a:rPr lang="es-ES" sz="1600" dirty="0"/>
              <a:t>Décima. México : Pearson Educación, 2004.</a:t>
            </a:r>
            <a:endParaRPr lang="es-PE" sz="1600" dirty="0"/>
          </a:p>
          <a:p>
            <a:r>
              <a:rPr lang="es-ES" sz="1600" dirty="0"/>
              <a:t>12. —. </a:t>
            </a:r>
            <a:r>
              <a:rPr lang="es-ES" sz="1600" i="1" dirty="0"/>
              <a:t>Mecánica Vectorial para Ingenieros: Dinámica. </a:t>
            </a:r>
            <a:r>
              <a:rPr lang="es-ES" sz="1600" dirty="0"/>
              <a:t>Décima. México : Pearson Educación, 2004.</a:t>
            </a:r>
            <a:r>
              <a:rPr lang="es-ES" sz="1500" dirty="0">
                <a:ea typeface="Symbol" panose="05050102010706020507" pitchFamily="18" charset="2"/>
                <a:cs typeface="Arial" panose="020B0604020202020204" pitchFamily="34" charset="0"/>
              </a:rPr>
              <a:t> </a:t>
            </a:r>
            <a:endParaRPr lang="es-ES" sz="1500" dirty="0" smtClean="0">
              <a:ea typeface="Symbol" panose="05050102010706020507" pitchFamily="18" charset="2"/>
              <a:cs typeface="Arial" panose="020B0604020202020204" pitchFamily="34" charset="0"/>
            </a:endParaRPr>
          </a:p>
          <a:p>
            <a:r>
              <a:rPr lang="es-ES" sz="1500" b="1" u="sng" dirty="0" smtClean="0">
                <a:ea typeface="Times New Roman" panose="02020603050405020304" pitchFamily="18" charset="0"/>
              </a:rPr>
              <a:t>Fuentes </a:t>
            </a:r>
            <a:r>
              <a:rPr lang="es-ES" sz="1500" b="1" u="sng" dirty="0" err="1" smtClean="0">
                <a:ea typeface="Times New Roman" panose="02020603050405020304" pitchFamily="18" charset="0"/>
              </a:rPr>
              <a:t>hemerográficas</a:t>
            </a:r>
            <a:endParaRPr lang="es-ES" sz="1500" b="1" u="sng" dirty="0">
              <a:ea typeface="Times New Roman" panose="02020603050405020304" pitchFamily="18" charset="0"/>
            </a:endParaRPr>
          </a:p>
          <a:p>
            <a:r>
              <a:rPr lang="es-ES" sz="1500" dirty="0" err="1" smtClean="0">
                <a:ea typeface="Times New Roman" panose="02020603050405020304" pitchFamily="18" charset="0"/>
              </a:rPr>
              <a:t>Physics</a:t>
            </a:r>
            <a:r>
              <a:rPr lang="es-ES" sz="1500" dirty="0" smtClean="0">
                <a:ea typeface="Times New Roman" panose="02020603050405020304" pitchFamily="18" charset="0"/>
              </a:rPr>
              <a:t> </a:t>
            </a:r>
            <a:r>
              <a:rPr lang="es-ES" sz="1500" dirty="0" err="1">
                <a:ea typeface="Times New Roman" panose="02020603050405020304" pitchFamily="18" charset="0"/>
              </a:rPr>
              <a:t>today</a:t>
            </a:r>
            <a:r>
              <a:rPr lang="es-ES" sz="1500" dirty="0">
                <a:ea typeface="Times New Roman" panose="02020603050405020304" pitchFamily="18" charset="0"/>
              </a:rPr>
              <a:t>, 68(11), 38(2015); </a:t>
            </a:r>
            <a:r>
              <a:rPr lang="es-ES" sz="1500" dirty="0" err="1">
                <a:ea typeface="Times New Roman" panose="02020603050405020304" pitchFamily="18" charset="0"/>
              </a:rPr>
              <a:t>doi</a:t>
            </a:r>
            <a:r>
              <a:rPr lang="es-ES" sz="1500" dirty="0">
                <a:ea typeface="Times New Roman" panose="02020603050405020304" pitchFamily="18" charset="0"/>
              </a:rPr>
              <a:t> 10.1063/PT </a:t>
            </a:r>
            <a:r>
              <a:rPr lang="es-ES" sz="1500" dirty="0" smtClean="0">
                <a:ea typeface="Times New Roman" panose="02020603050405020304" pitchFamily="18" charset="0"/>
              </a:rPr>
              <a:t>3.2980.</a:t>
            </a:r>
            <a:endParaRPr lang="es-PE" sz="1500" dirty="0">
              <a:ea typeface="Times New Roman" panose="02020603050405020304" pitchFamily="18" charset="0"/>
            </a:endParaRPr>
          </a:p>
          <a:p>
            <a:r>
              <a:rPr lang="es-ES" sz="1500" b="1" u="sng" dirty="0" err="1" smtClean="0">
                <a:ea typeface="Times New Roman" panose="02020603050405020304" pitchFamily="18" charset="0"/>
              </a:rPr>
              <a:t>Webgrafia</a:t>
            </a:r>
            <a:endParaRPr lang="es-ES" sz="1500" b="1" u="sng" dirty="0">
              <a:ea typeface="Times New Roman" panose="02020603050405020304" pitchFamily="18" charset="0"/>
            </a:endParaRPr>
          </a:p>
          <a:p>
            <a:r>
              <a:rPr lang="es-PE" sz="1500" u="sng" dirty="0" smtClean="0">
                <a:ea typeface="Calibri" panose="020F0502020204030204" pitchFamily="34" charset="0"/>
                <a:cs typeface="Arial" panose="020B0604020202020204" pitchFamily="34" charset="0"/>
                <a:hlinkClick r:id="rId2"/>
              </a:rPr>
              <a:t>http</a:t>
            </a:r>
            <a:r>
              <a:rPr lang="es-PE" sz="1500" u="sng" dirty="0">
                <a:ea typeface="Calibri" panose="020F0502020204030204" pitchFamily="34" charset="0"/>
                <a:cs typeface="Arial" panose="020B0604020202020204" pitchFamily="34" charset="0"/>
                <a:hlinkClick r:id="rId2"/>
              </a:rPr>
              <a:t>://</a:t>
            </a:r>
            <a:r>
              <a:rPr lang="es-PE" sz="1500" u="sng" dirty="0" smtClean="0">
                <a:ea typeface="Calibri" panose="020F0502020204030204" pitchFamily="34" charset="0"/>
                <a:cs typeface="Arial" panose="020B0604020202020204" pitchFamily="34" charset="0"/>
                <a:hlinkClick r:id="rId2"/>
              </a:rPr>
              <a:t>www.sc.ehu.es/sbweb/fisica/</a:t>
            </a:r>
            <a:endParaRPr lang="es-PE" sz="1500" u="sng" dirty="0">
              <a:ea typeface="Calibri" panose="020F0502020204030204" pitchFamily="34" charset="0"/>
              <a:cs typeface="Arial" panose="020B0604020202020204" pitchFamily="34" charset="0"/>
            </a:endParaRPr>
          </a:p>
          <a:p>
            <a:r>
              <a:rPr lang="es-PE" sz="1500" u="sng" dirty="0" smtClean="0">
                <a:ea typeface="Calibri" panose="020F0502020204030204" pitchFamily="34" charset="0"/>
                <a:cs typeface="Arial" panose="020B0604020202020204" pitchFamily="34" charset="0"/>
                <a:hlinkClick r:id="rId3"/>
              </a:rPr>
              <a:t>http</a:t>
            </a:r>
            <a:r>
              <a:rPr lang="es-PE" sz="1500" u="sng" dirty="0">
                <a:ea typeface="Calibri" panose="020F0502020204030204" pitchFamily="34" charset="0"/>
                <a:cs typeface="Arial" panose="020B0604020202020204" pitchFamily="34" charset="0"/>
                <a:hlinkClick r:id="rId3"/>
              </a:rPr>
              <a:t>://www.fisicarecreativa.com/</a:t>
            </a:r>
            <a:endParaRPr lang="es-PE" sz="1500" dirty="0">
              <a:effectLst/>
              <a:ea typeface="Calibri" panose="020F0502020204030204" pitchFamily="34" charset="0"/>
            </a:endParaRPr>
          </a:p>
        </p:txBody>
      </p:sp>
    </p:spTree>
    <p:extLst>
      <p:ext uri="{BB962C8B-B14F-4D97-AF65-F5344CB8AC3E}">
        <p14:creationId xmlns:p14="http://schemas.microsoft.com/office/powerpoint/2010/main" val="485000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PATRON</Template>
  <TotalTime>10024</TotalTime>
  <Words>1322</Words>
  <Application>Microsoft Office PowerPoint</Application>
  <PresentationFormat>A4 (210 x 297 mm)</PresentationFormat>
  <Paragraphs>223</Paragraphs>
  <Slides>19</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ＭＳ Ｐゴシック</vt:lpstr>
      <vt:lpstr>Arial</vt:lpstr>
      <vt:lpstr>Calibri</vt:lpstr>
      <vt:lpstr>Cambria Math</vt:lpstr>
      <vt:lpstr>Symbol</vt:lpstr>
      <vt:lpstr>Times New Roman</vt:lpstr>
      <vt:lpstr>PATRON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Privada del Norte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Delfin Narciso</dc:creator>
  <cp:lastModifiedBy>Cuenta Microsoft</cp:lastModifiedBy>
  <cp:revision>428</cp:revision>
  <dcterms:created xsi:type="dcterms:W3CDTF">2012-09-19T03:34:19Z</dcterms:created>
  <dcterms:modified xsi:type="dcterms:W3CDTF">2020-10-01T18:01:17Z</dcterms:modified>
</cp:coreProperties>
</file>