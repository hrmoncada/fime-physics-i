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0"/>
  </p:notesMasterIdLst>
  <p:sldIdLst>
    <p:sldId id="256" r:id="rId2"/>
    <p:sldId id="527" r:id="rId3"/>
    <p:sldId id="582" r:id="rId4"/>
    <p:sldId id="529" r:id="rId5"/>
    <p:sldId id="677" r:id="rId6"/>
    <p:sldId id="952" r:id="rId7"/>
    <p:sldId id="951" r:id="rId8"/>
    <p:sldId id="959" r:id="rId9"/>
    <p:sldId id="960" r:id="rId10"/>
    <p:sldId id="957" r:id="rId11"/>
    <p:sldId id="961" r:id="rId12"/>
    <p:sldId id="962" r:id="rId13"/>
    <p:sldId id="950" r:id="rId14"/>
    <p:sldId id="966" r:id="rId15"/>
    <p:sldId id="976" r:id="rId16"/>
    <p:sldId id="971" r:id="rId17"/>
    <p:sldId id="949" r:id="rId18"/>
    <p:sldId id="967" r:id="rId19"/>
    <p:sldId id="968" r:id="rId20"/>
    <p:sldId id="969" r:id="rId21"/>
    <p:sldId id="970" r:id="rId22"/>
    <p:sldId id="972" r:id="rId23"/>
    <p:sldId id="973" r:id="rId24"/>
    <p:sldId id="974" r:id="rId25"/>
    <p:sldId id="975" r:id="rId26"/>
    <p:sldId id="954" r:id="rId27"/>
    <p:sldId id="955" r:id="rId28"/>
    <p:sldId id="956" r:id="rId29"/>
    <p:sldId id="945" r:id="rId30"/>
    <p:sldId id="846" r:id="rId31"/>
    <p:sldId id="817" r:id="rId32"/>
    <p:sldId id="848" r:id="rId33"/>
    <p:sldId id="566" r:id="rId34"/>
    <p:sldId id="641" r:id="rId35"/>
    <p:sldId id="958" r:id="rId36"/>
    <p:sldId id="963" r:id="rId37"/>
    <p:sldId id="965" r:id="rId38"/>
    <p:sldId id="964" r:id="rId39"/>
  </p:sldIdLst>
  <p:sldSz cx="9144000" cy="6858000" type="screen4x3"/>
  <p:notesSz cx="6858000" cy="9144000"/>
  <p:defaultTextStyle>
    <a:defPPr>
      <a:defRPr lang="es-P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521415D9-36F7-43E2-AB2F-B90AF26B5E84}">
      <p14:sectionLst xmlns:p14="http://schemas.microsoft.com/office/powerpoint/2010/main">
        <p14:section name="Sección predeterminada" id="{679E8DCA-CFD0-407E-99D2-0E56FE3DFE52}">
          <p14:sldIdLst>
            <p14:sldId id="256"/>
            <p14:sldId id="527"/>
            <p14:sldId id="582"/>
            <p14:sldId id="529"/>
            <p14:sldId id="677"/>
            <p14:sldId id="952"/>
            <p14:sldId id="951"/>
            <p14:sldId id="959"/>
            <p14:sldId id="960"/>
            <p14:sldId id="957"/>
            <p14:sldId id="961"/>
            <p14:sldId id="962"/>
            <p14:sldId id="950"/>
            <p14:sldId id="966"/>
            <p14:sldId id="976"/>
            <p14:sldId id="971"/>
            <p14:sldId id="949"/>
            <p14:sldId id="967"/>
            <p14:sldId id="968"/>
            <p14:sldId id="969"/>
            <p14:sldId id="970"/>
            <p14:sldId id="972"/>
            <p14:sldId id="973"/>
            <p14:sldId id="974"/>
            <p14:sldId id="975"/>
            <p14:sldId id="954"/>
            <p14:sldId id="955"/>
            <p14:sldId id="956"/>
            <p14:sldId id="945"/>
          </p14:sldIdLst>
        </p14:section>
        <p14:section name="Sección sin título" id="{9EEAFACE-4F9F-47FE-A339-338BAD697D23}">
          <p14:sldIdLst>
            <p14:sldId id="846"/>
            <p14:sldId id="817"/>
            <p14:sldId id="848"/>
            <p14:sldId id="566"/>
            <p14:sldId id="641"/>
            <p14:sldId id="958"/>
            <p14:sldId id="963"/>
            <p14:sldId id="965"/>
            <p14:sldId id="96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90126" autoAdjust="0"/>
  </p:normalViewPr>
  <p:slideViewPr>
    <p:cSldViewPr>
      <p:cViewPr varScale="1">
        <p:scale>
          <a:sx n="66" d="100"/>
          <a:sy n="66" d="100"/>
        </p:scale>
        <p:origin x="1464" y="72"/>
      </p:cViewPr>
      <p:guideLst>
        <p:guide orient="horz" pos="2160"/>
        <p:guide pos="2880"/>
      </p:guideLst>
    </p:cSldViewPr>
  </p:slideViewPr>
  <p:outlineViewPr>
    <p:cViewPr>
      <p:scale>
        <a:sx n="33" d="100"/>
        <a:sy n="33" d="100"/>
      </p:scale>
      <p:origin x="18" y="269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P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B4E975F-AB6B-445A-B50E-A60F2D3FFAE5}" type="datetimeFigureOut">
              <a:rPr lang="es-PE"/>
              <a:pPr>
                <a:defRPr/>
              </a:pPr>
              <a:t>18/05/2020</a:t>
            </a:fld>
            <a:endParaRPr lang="es-P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PE" noProof="0" smtClean="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endParaRPr lang="es-PE" noProof="0" smtClean="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P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5DDFF516-4E5A-430A-A58E-586F599FEDDA}" type="slidenum">
              <a:rPr lang="es-PE"/>
              <a:pPr>
                <a:defRPr/>
              </a:pPr>
              <a:t>‹Nº›</a:t>
            </a:fld>
            <a:endParaRPr lang="es-PE"/>
          </a:p>
        </p:txBody>
      </p:sp>
    </p:spTree>
    <p:extLst>
      <p:ext uri="{BB962C8B-B14F-4D97-AF65-F5344CB8AC3E}">
        <p14:creationId xmlns:p14="http://schemas.microsoft.com/office/powerpoint/2010/main" val="30527956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88"/>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a:spLocks noChangeArrowheads="1"/>
          </p:cNvSpPr>
          <p:nvPr/>
        </p:nvSpPr>
        <p:spPr bwMode="auto">
          <a:xfrm>
            <a:off x="1508125" y="6299200"/>
            <a:ext cx="6099175" cy="338138"/>
          </a:xfrm>
          <a:prstGeom prst="rect">
            <a:avLst/>
          </a:prstGeom>
          <a:noFill/>
          <a:ln>
            <a:noFill/>
          </a:ln>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auto" hangingPunct="1">
              <a:spcBef>
                <a:spcPts val="0"/>
              </a:spcBef>
              <a:spcAft>
                <a:spcPts val="0"/>
              </a:spcAft>
              <a:defRPr/>
            </a:pPr>
            <a:r>
              <a:rPr lang="en-US" sz="1600" dirty="0" smtClean="0">
                <a:solidFill>
                  <a:schemeClr val="bg1"/>
                </a:solidFill>
                <a:cs typeface="+mn-cs"/>
              </a:rPr>
              <a:t>Copyright © </a:t>
            </a:r>
            <a:fld id="{EC26911D-E3B3-43B1-B594-94A136999AC3}" type="datetime6">
              <a:rPr lang="es-PE" sz="1600" smtClean="0">
                <a:solidFill>
                  <a:schemeClr val="bg1"/>
                </a:solidFill>
                <a:cs typeface="+mn-cs"/>
              </a:rPr>
              <a:pPr algn="ctr" eaLnBrk="1" fontAlgn="auto" hangingPunct="1">
                <a:spcBef>
                  <a:spcPts val="0"/>
                </a:spcBef>
                <a:spcAft>
                  <a:spcPts val="0"/>
                </a:spcAft>
                <a:defRPr/>
              </a:pPr>
              <a:t>mayo de 2020</a:t>
            </a:fld>
            <a:r>
              <a:rPr lang="es-PE" sz="1600" dirty="0" smtClean="0">
                <a:solidFill>
                  <a:schemeClr val="bg1"/>
                </a:solidFill>
                <a:cs typeface="+mn-cs"/>
              </a:rPr>
              <a:t> por TECSUP</a:t>
            </a:r>
            <a:endParaRPr lang="en-US" sz="1600" dirty="0" smtClean="0">
              <a:solidFill>
                <a:schemeClr val="bg1"/>
              </a:solidFill>
              <a:cs typeface="+mn-cs"/>
            </a:endParaRPr>
          </a:p>
        </p:txBody>
      </p:sp>
      <p:sp>
        <p:nvSpPr>
          <p:cNvPr id="2" name="1 Título"/>
          <p:cNvSpPr>
            <a:spLocks noGrp="1"/>
          </p:cNvSpPr>
          <p:nvPr>
            <p:ph type="ctrTitle"/>
          </p:nvPr>
        </p:nvSpPr>
        <p:spPr>
          <a:xfrm>
            <a:off x="685800" y="2130425"/>
            <a:ext cx="7772400" cy="1470025"/>
          </a:xfrm>
        </p:spPr>
        <p:txBody>
          <a:bodyPr/>
          <a:lstStyle>
            <a:lvl1pPr>
              <a:defRPr>
                <a:solidFill>
                  <a:schemeClr val="bg1"/>
                </a:solidFill>
              </a:defRPr>
            </a:lvl1pPr>
          </a:lstStyle>
          <a:p>
            <a:r>
              <a:rPr lang="es-ES" smtClean="0"/>
              <a:t>Haga clic para modificar el estilo de título del patrón</a:t>
            </a:r>
            <a:endParaRPr lang="es-PE" dirty="0"/>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bg1">
                    <a:lumMod val="8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PE" dirty="0"/>
          </a:p>
        </p:txBody>
      </p:sp>
      <p:sp>
        <p:nvSpPr>
          <p:cNvPr id="6" name="5 Marcador de número de diapositiva"/>
          <p:cNvSpPr>
            <a:spLocks noGrp="1"/>
          </p:cNvSpPr>
          <p:nvPr>
            <p:ph type="sldNum" sz="quarter" idx="10"/>
          </p:nvPr>
        </p:nvSpPr>
        <p:spPr>
          <a:xfrm>
            <a:off x="6865938" y="6484938"/>
            <a:ext cx="2133600" cy="365125"/>
          </a:xfrm>
        </p:spPr>
        <p:txBody>
          <a:bodyPr/>
          <a:lstStyle>
            <a:lvl1pPr>
              <a:defRPr b="1"/>
            </a:lvl1pPr>
          </a:lstStyle>
          <a:p>
            <a:pPr>
              <a:defRPr/>
            </a:pPr>
            <a:fld id="{9BAEA603-F22F-4811-A23A-66CFD44880C0}" type="slidenum">
              <a:rPr lang="es-PE"/>
              <a:pPr>
                <a:defRPr/>
              </a:pPr>
              <a:t>‹Nº›</a:t>
            </a:fld>
            <a:endParaRPr lang="es-PE"/>
          </a:p>
        </p:txBody>
      </p:sp>
    </p:spTree>
    <p:extLst>
      <p:ext uri="{BB962C8B-B14F-4D97-AF65-F5344CB8AC3E}">
        <p14:creationId xmlns:p14="http://schemas.microsoft.com/office/powerpoint/2010/main" val="233565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lvl1pPr>
              <a:defRPr/>
            </a:lvl1pPr>
          </a:lstStyle>
          <a:p>
            <a:pPr>
              <a:defRPr/>
            </a:pPr>
            <a:fld id="{B43C5444-3179-4579-A5C1-10AC0E199D97}" type="datetimeFigureOut">
              <a:rPr lang="es-PE"/>
              <a:pPr>
                <a:defRPr/>
              </a:pPr>
              <a:t>18/05/2020</a:t>
            </a:fld>
            <a:endParaRPr lang="es-PE"/>
          </a:p>
        </p:txBody>
      </p:sp>
      <p:sp>
        <p:nvSpPr>
          <p:cNvPr id="5" name="4 Marcador de pie de página"/>
          <p:cNvSpPr>
            <a:spLocks noGrp="1"/>
          </p:cNvSpPr>
          <p:nvPr>
            <p:ph type="ftr" sz="quarter" idx="11"/>
          </p:nvPr>
        </p:nvSpPr>
        <p:spPr/>
        <p:txBody>
          <a:bodyPr/>
          <a:lstStyle>
            <a:lvl1pPr>
              <a:defRPr/>
            </a:lvl1pPr>
          </a:lstStyle>
          <a:p>
            <a:pPr>
              <a:defRPr/>
            </a:pPr>
            <a:endParaRPr lang="es-PE"/>
          </a:p>
        </p:txBody>
      </p:sp>
      <p:sp>
        <p:nvSpPr>
          <p:cNvPr id="6" name="5 Marcador de número de diapositiva"/>
          <p:cNvSpPr>
            <a:spLocks noGrp="1"/>
          </p:cNvSpPr>
          <p:nvPr>
            <p:ph type="sldNum" sz="quarter" idx="12"/>
          </p:nvPr>
        </p:nvSpPr>
        <p:spPr/>
        <p:txBody>
          <a:bodyPr/>
          <a:lstStyle>
            <a:lvl1pPr>
              <a:defRPr/>
            </a:lvl1pPr>
          </a:lstStyle>
          <a:p>
            <a:pPr>
              <a:defRPr/>
            </a:pPr>
            <a:fld id="{384323E4-D9CB-4A76-8D0E-BE8180C68139}" type="slidenum">
              <a:rPr lang="es-PE"/>
              <a:pPr>
                <a:defRPr/>
              </a:pPr>
              <a:t>‹Nº›</a:t>
            </a:fld>
            <a:endParaRPr lang="es-PE"/>
          </a:p>
        </p:txBody>
      </p:sp>
    </p:spTree>
    <p:extLst>
      <p:ext uri="{BB962C8B-B14F-4D97-AF65-F5344CB8AC3E}">
        <p14:creationId xmlns:p14="http://schemas.microsoft.com/office/powerpoint/2010/main" val="285620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548680"/>
            <a:ext cx="8229600" cy="576064"/>
          </a:xfrm>
        </p:spPr>
        <p:txBody>
          <a:bodyPr/>
          <a:lstStyle/>
          <a:p>
            <a:r>
              <a:rPr lang="es-ES" smtClean="0"/>
              <a:t>Haga clic para modificar el estilo de título del patrón</a:t>
            </a:r>
            <a:endParaRPr lang="es-PE"/>
          </a:p>
        </p:txBody>
      </p:sp>
      <p:sp>
        <p:nvSpPr>
          <p:cNvPr id="3" name="2 Marcador de contenido"/>
          <p:cNvSpPr>
            <a:spLocks noGrp="1"/>
          </p:cNvSpPr>
          <p:nvPr>
            <p:ph idx="1"/>
          </p:nvPr>
        </p:nvSpPr>
        <p:spPr>
          <a:xfrm>
            <a:off x="457200" y="1412776"/>
            <a:ext cx="8229600" cy="4713387"/>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lvl1pPr>
              <a:defRPr/>
            </a:lvl1pPr>
          </a:lstStyle>
          <a:p>
            <a:pPr>
              <a:defRPr/>
            </a:pPr>
            <a:fld id="{B04AB964-EFA4-45A0-AFFC-1B38C283E887}" type="datetimeFigureOut">
              <a:rPr lang="es-PE"/>
              <a:pPr>
                <a:defRPr/>
              </a:pPr>
              <a:t>18/05/2020</a:t>
            </a:fld>
            <a:endParaRPr lang="es-PE"/>
          </a:p>
        </p:txBody>
      </p:sp>
      <p:sp>
        <p:nvSpPr>
          <p:cNvPr id="5" name="4 Marcador de pie de página"/>
          <p:cNvSpPr>
            <a:spLocks noGrp="1"/>
          </p:cNvSpPr>
          <p:nvPr>
            <p:ph type="ftr" sz="quarter" idx="11"/>
          </p:nvPr>
        </p:nvSpPr>
        <p:spPr/>
        <p:txBody>
          <a:bodyPr/>
          <a:lstStyle>
            <a:lvl1pPr>
              <a:defRPr/>
            </a:lvl1pPr>
          </a:lstStyle>
          <a:p>
            <a:pPr>
              <a:defRPr/>
            </a:pPr>
            <a:endParaRPr lang="es-PE"/>
          </a:p>
        </p:txBody>
      </p:sp>
      <p:sp>
        <p:nvSpPr>
          <p:cNvPr id="6" name="5 Marcador de número de diapositiva"/>
          <p:cNvSpPr>
            <a:spLocks noGrp="1"/>
          </p:cNvSpPr>
          <p:nvPr>
            <p:ph type="sldNum" sz="quarter" idx="12"/>
          </p:nvPr>
        </p:nvSpPr>
        <p:spPr/>
        <p:txBody>
          <a:bodyPr/>
          <a:lstStyle>
            <a:lvl1pPr>
              <a:defRPr/>
            </a:lvl1pPr>
          </a:lstStyle>
          <a:p>
            <a:pPr>
              <a:defRPr/>
            </a:pPr>
            <a:fld id="{5DF5CD48-BB30-41AC-B09E-2628F807966D}" type="slidenum">
              <a:rPr lang="es-PE"/>
              <a:pPr>
                <a:defRPr/>
              </a:pPr>
              <a:t>‹Nº›</a:t>
            </a:fld>
            <a:endParaRPr lang="es-PE"/>
          </a:p>
        </p:txBody>
      </p:sp>
    </p:spTree>
    <p:extLst>
      <p:ext uri="{BB962C8B-B14F-4D97-AF65-F5344CB8AC3E}">
        <p14:creationId xmlns:p14="http://schemas.microsoft.com/office/powerpoint/2010/main" val="390971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88"/>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title"/>
          </p:nvPr>
        </p:nvSpPr>
        <p:spPr>
          <a:xfrm>
            <a:off x="722313" y="4406900"/>
            <a:ext cx="7772400" cy="1362075"/>
          </a:xfrm>
        </p:spPr>
        <p:txBody>
          <a:bodyPr anchor="t"/>
          <a:lstStyle>
            <a:lvl1pPr algn="l">
              <a:defRPr sz="3200" b="1" cap="none">
                <a:solidFill>
                  <a:schemeClr val="bg1"/>
                </a:solidFill>
              </a:defRPr>
            </a:lvl1pPr>
          </a:lstStyle>
          <a:p>
            <a:r>
              <a:rPr lang="es-ES" smtClean="0"/>
              <a:t>Haga clic para modificar el estilo de título del patrón</a:t>
            </a:r>
            <a:endParaRPr lang="es-PE" dirty="0"/>
          </a:p>
        </p:txBody>
      </p:sp>
      <p:sp>
        <p:nvSpPr>
          <p:cNvPr id="3" name="2 Marcador de texto"/>
          <p:cNvSpPr>
            <a:spLocks noGrp="1"/>
          </p:cNvSpPr>
          <p:nvPr>
            <p:ph type="body" idx="1"/>
          </p:nvPr>
        </p:nvSpPr>
        <p:spPr>
          <a:xfrm>
            <a:off x="722313" y="2906713"/>
            <a:ext cx="7772400" cy="1314375"/>
          </a:xfrm>
        </p:spPr>
        <p:txBody>
          <a:bodyPr anchor="b">
            <a:normAutofit/>
          </a:bodyPr>
          <a:lstStyle>
            <a:lvl1pPr marL="0" indent="0">
              <a:buNone/>
              <a:defRPr sz="2400">
                <a:solidFill>
                  <a:schemeClr val="bg1">
                    <a:lumMod val="8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84228C63-17BF-4E3D-9857-8642B312CDD4}" type="datetimeFigureOut">
              <a:rPr lang="es-PE"/>
              <a:pPr>
                <a:defRPr/>
              </a:pPr>
              <a:t>18/05/2020</a:t>
            </a:fld>
            <a:endParaRPr lang="es-PE"/>
          </a:p>
        </p:txBody>
      </p:sp>
      <p:sp>
        <p:nvSpPr>
          <p:cNvPr id="6" name="4 Marcador de pie de página"/>
          <p:cNvSpPr>
            <a:spLocks noGrp="1"/>
          </p:cNvSpPr>
          <p:nvPr>
            <p:ph type="ftr" sz="quarter" idx="11"/>
          </p:nvPr>
        </p:nvSpPr>
        <p:spPr/>
        <p:txBody>
          <a:bodyPr/>
          <a:lstStyle>
            <a:lvl1pPr>
              <a:defRPr/>
            </a:lvl1pPr>
          </a:lstStyle>
          <a:p>
            <a:pPr>
              <a:defRPr/>
            </a:pPr>
            <a:endParaRPr lang="es-PE"/>
          </a:p>
        </p:txBody>
      </p:sp>
      <p:sp>
        <p:nvSpPr>
          <p:cNvPr id="7" name="5 Marcador de número de diapositiva"/>
          <p:cNvSpPr>
            <a:spLocks noGrp="1"/>
          </p:cNvSpPr>
          <p:nvPr>
            <p:ph type="sldNum" sz="quarter" idx="12"/>
          </p:nvPr>
        </p:nvSpPr>
        <p:spPr/>
        <p:txBody>
          <a:bodyPr/>
          <a:lstStyle>
            <a:lvl1pPr>
              <a:defRPr/>
            </a:lvl1pPr>
          </a:lstStyle>
          <a:p>
            <a:pPr>
              <a:defRPr/>
            </a:pPr>
            <a:fld id="{340C1D61-05EF-4222-A724-6C6AEE9BD87A}" type="slidenum">
              <a:rPr lang="es-PE"/>
              <a:pPr>
                <a:defRPr/>
              </a:pPr>
              <a:t>‹Nº›</a:t>
            </a:fld>
            <a:endParaRPr lang="es-PE"/>
          </a:p>
        </p:txBody>
      </p:sp>
    </p:spTree>
    <p:extLst>
      <p:ext uri="{BB962C8B-B14F-4D97-AF65-F5344CB8AC3E}">
        <p14:creationId xmlns:p14="http://schemas.microsoft.com/office/powerpoint/2010/main" val="6454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sz="half" idx="1"/>
          </p:nvPr>
        </p:nvSpPr>
        <p:spPr>
          <a:xfrm>
            <a:off x="457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contenido"/>
          <p:cNvSpPr>
            <a:spLocks noGrp="1"/>
          </p:cNvSpPr>
          <p:nvPr>
            <p:ph sz="half" idx="2"/>
          </p:nvPr>
        </p:nvSpPr>
        <p:spPr>
          <a:xfrm>
            <a:off x="4648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3 Marcador de fecha"/>
          <p:cNvSpPr>
            <a:spLocks noGrp="1"/>
          </p:cNvSpPr>
          <p:nvPr>
            <p:ph type="dt" sz="half" idx="10"/>
          </p:nvPr>
        </p:nvSpPr>
        <p:spPr/>
        <p:txBody>
          <a:bodyPr/>
          <a:lstStyle>
            <a:lvl1pPr>
              <a:defRPr/>
            </a:lvl1pPr>
          </a:lstStyle>
          <a:p>
            <a:pPr>
              <a:defRPr/>
            </a:pPr>
            <a:fld id="{0F165649-D37A-4ED4-9572-DD3A623CBEE0}" type="datetimeFigureOut">
              <a:rPr lang="es-PE"/>
              <a:pPr>
                <a:defRPr/>
              </a:pPr>
              <a:t>18/05/2020</a:t>
            </a:fld>
            <a:endParaRPr lang="es-PE"/>
          </a:p>
        </p:txBody>
      </p:sp>
      <p:sp>
        <p:nvSpPr>
          <p:cNvPr id="6" name="4 Marcador de pie de página"/>
          <p:cNvSpPr>
            <a:spLocks noGrp="1"/>
          </p:cNvSpPr>
          <p:nvPr>
            <p:ph type="ftr" sz="quarter" idx="11"/>
          </p:nvPr>
        </p:nvSpPr>
        <p:spPr/>
        <p:txBody>
          <a:bodyPr/>
          <a:lstStyle>
            <a:lvl1pPr>
              <a:defRPr/>
            </a:lvl1pPr>
          </a:lstStyle>
          <a:p>
            <a:pPr>
              <a:defRPr/>
            </a:pPr>
            <a:endParaRPr lang="es-PE"/>
          </a:p>
        </p:txBody>
      </p:sp>
      <p:sp>
        <p:nvSpPr>
          <p:cNvPr id="7" name="5 Marcador de número de diapositiva"/>
          <p:cNvSpPr>
            <a:spLocks noGrp="1"/>
          </p:cNvSpPr>
          <p:nvPr>
            <p:ph type="sldNum" sz="quarter" idx="12"/>
          </p:nvPr>
        </p:nvSpPr>
        <p:spPr/>
        <p:txBody>
          <a:bodyPr/>
          <a:lstStyle>
            <a:lvl1pPr>
              <a:defRPr/>
            </a:lvl1pPr>
          </a:lstStyle>
          <a:p>
            <a:pPr>
              <a:defRPr/>
            </a:pPr>
            <a:fld id="{556A824E-5896-44A1-84BE-2CCF14B514E6}" type="slidenum">
              <a:rPr lang="es-PE"/>
              <a:pPr>
                <a:defRPr/>
              </a:pPr>
              <a:t>‹Nº›</a:t>
            </a:fld>
            <a:endParaRPr lang="es-PE"/>
          </a:p>
        </p:txBody>
      </p:sp>
    </p:spTree>
    <p:extLst>
      <p:ext uri="{BB962C8B-B14F-4D97-AF65-F5344CB8AC3E}">
        <p14:creationId xmlns:p14="http://schemas.microsoft.com/office/powerpoint/2010/main" val="307683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4 Marcador de texto"/>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3 Marcador de fecha"/>
          <p:cNvSpPr>
            <a:spLocks noGrp="1"/>
          </p:cNvSpPr>
          <p:nvPr>
            <p:ph type="dt" sz="half" idx="10"/>
          </p:nvPr>
        </p:nvSpPr>
        <p:spPr/>
        <p:txBody>
          <a:bodyPr/>
          <a:lstStyle>
            <a:lvl1pPr>
              <a:defRPr/>
            </a:lvl1pPr>
          </a:lstStyle>
          <a:p>
            <a:pPr>
              <a:defRPr/>
            </a:pPr>
            <a:fld id="{A89C20EB-5F07-4640-BF25-4DD528CF1EC5}" type="datetimeFigureOut">
              <a:rPr lang="es-PE"/>
              <a:pPr>
                <a:defRPr/>
              </a:pPr>
              <a:t>18/05/2020</a:t>
            </a:fld>
            <a:endParaRPr lang="es-PE"/>
          </a:p>
        </p:txBody>
      </p:sp>
      <p:sp>
        <p:nvSpPr>
          <p:cNvPr id="8" name="4 Marcador de pie de página"/>
          <p:cNvSpPr>
            <a:spLocks noGrp="1"/>
          </p:cNvSpPr>
          <p:nvPr>
            <p:ph type="ftr" sz="quarter" idx="11"/>
          </p:nvPr>
        </p:nvSpPr>
        <p:spPr/>
        <p:txBody>
          <a:bodyPr/>
          <a:lstStyle>
            <a:lvl1pPr>
              <a:defRPr/>
            </a:lvl1pPr>
          </a:lstStyle>
          <a:p>
            <a:pPr>
              <a:defRPr/>
            </a:pPr>
            <a:endParaRPr lang="es-PE"/>
          </a:p>
        </p:txBody>
      </p:sp>
      <p:sp>
        <p:nvSpPr>
          <p:cNvPr id="9" name="5 Marcador de número de diapositiva"/>
          <p:cNvSpPr>
            <a:spLocks noGrp="1"/>
          </p:cNvSpPr>
          <p:nvPr>
            <p:ph type="sldNum" sz="quarter" idx="12"/>
          </p:nvPr>
        </p:nvSpPr>
        <p:spPr/>
        <p:txBody>
          <a:bodyPr/>
          <a:lstStyle>
            <a:lvl1pPr>
              <a:defRPr/>
            </a:lvl1pPr>
          </a:lstStyle>
          <a:p>
            <a:pPr>
              <a:defRPr/>
            </a:pPr>
            <a:fld id="{83E4FB9C-8089-47CC-B300-087167760D0D}" type="slidenum">
              <a:rPr lang="es-PE"/>
              <a:pPr>
                <a:defRPr/>
              </a:pPr>
              <a:t>‹Nº›</a:t>
            </a:fld>
            <a:endParaRPr lang="es-PE"/>
          </a:p>
        </p:txBody>
      </p:sp>
    </p:spTree>
    <p:extLst>
      <p:ext uri="{BB962C8B-B14F-4D97-AF65-F5344CB8AC3E}">
        <p14:creationId xmlns:p14="http://schemas.microsoft.com/office/powerpoint/2010/main" val="124149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dirty="0"/>
          </a:p>
        </p:txBody>
      </p:sp>
      <p:sp>
        <p:nvSpPr>
          <p:cNvPr id="3" name="3 Marcador de fecha"/>
          <p:cNvSpPr>
            <a:spLocks noGrp="1"/>
          </p:cNvSpPr>
          <p:nvPr>
            <p:ph type="dt" sz="half" idx="10"/>
          </p:nvPr>
        </p:nvSpPr>
        <p:spPr/>
        <p:txBody>
          <a:bodyPr/>
          <a:lstStyle>
            <a:lvl1pPr>
              <a:defRPr/>
            </a:lvl1pPr>
          </a:lstStyle>
          <a:p>
            <a:pPr>
              <a:defRPr/>
            </a:pPr>
            <a:fld id="{CBFE51AC-F012-4873-9E23-384C596A9CE0}" type="datetimeFigureOut">
              <a:rPr lang="es-PE"/>
              <a:pPr>
                <a:defRPr/>
              </a:pPr>
              <a:t>18/05/2020</a:t>
            </a:fld>
            <a:endParaRPr lang="es-PE"/>
          </a:p>
        </p:txBody>
      </p:sp>
      <p:sp>
        <p:nvSpPr>
          <p:cNvPr id="4" name="4 Marcador de pie de página"/>
          <p:cNvSpPr>
            <a:spLocks noGrp="1"/>
          </p:cNvSpPr>
          <p:nvPr>
            <p:ph type="ftr" sz="quarter" idx="11"/>
          </p:nvPr>
        </p:nvSpPr>
        <p:spPr/>
        <p:txBody>
          <a:bodyPr/>
          <a:lstStyle>
            <a:lvl1pPr>
              <a:defRPr/>
            </a:lvl1pPr>
          </a:lstStyle>
          <a:p>
            <a:pPr>
              <a:defRPr/>
            </a:pPr>
            <a:endParaRPr lang="es-PE"/>
          </a:p>
        </p:txBody>
      </p:sp>
      <p:sp>
        <p:nvSpPr>
          <p:cNvPr id="5" name="5 Marcador de número de diapositiva"/>
          <p:cNvSpPr>
            <a:spLocks noGrp="1"/>
          </p:cNvSpPr>
          <p:nvPr>
            <p:ph type="sldNum" sz="quarter" idx="12"/>
          </p:nvPr>
        </p:nvSpPr>
        <p:spPr/>
        <p:txBody>
          <a:bodyPr/>
          <a:lstStyle>
            <a:lvl1pPr>
              <a:defRPr/>
            </a:lvl1pPr>
          </a:lstStyle>
          <a:p>
            <a:pPr>
              <a:defRPr/>
            </a:pPr>
            <a:fld id="{7CE66B8F-B352-4A5E-AD57-260A6FEB57D9}" type="slidenum">
              <a:rPr lang="es-PE"/>
              <a:pPr>
                <a:defRPr/>
              </a:pPr>
              <a:t>‹Nº›</a:t>
            </a:fld>
            <a:endParaRPr lang="es-PE"/>
          </a:p>
        </p:txBody>
      </p:sp>
    </p:spTree>
    <p:extLst>
      <p:ext uri="{BB962C8B-B14F-4D97-AF65-F5344CB8AC3E}">
        <p14:creationId xmlns:p14="http://schemas.microsoft.com/office/powerpoint/2010/main" val="4153980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AC84BD60-E59F-4171-9A4C-C8183D82A7A9}" type="datetimeFigureOut">
              <a:rPr lang="es-PE"/>
              <a:pPr>
                <a:defRPr/>
              </a:pPr>
              <a:t>18/05/2020</a:t>
            </a:fld>
            <a:endParaRPr lang="es-PE"/>
          </a:p>
        </p:txBody>
      </p:sp>
      <p:sp>
        <p:nvSpPr>
          <p:cNvPr id="3" name="4 Marcador de pie de página"/>
          <p:cNvSpPr>
            <a:spLocks noGrp="1"/>
          </p:cNvSpPr>
          <p:nvPr>
            <p:ph type="ftr" sz="quarter" idx="11"/>
          </p:nvPr>
        </p:nvSpPr>
        <p:spPr/>
        <p:txBody>
          <a:bodyPr/>
          <a:lstStyle>
            <a:lvl1pPr>
              <a:defRPr/>
            </a:lvl1pPr>
          </a:lstStyle>
          <a:p>
            <a:pPr>
              <a:defRPr/>
            </a:pPr>
            <a:endParaRPr lang="es-PE"/>
          </a:p>
        </p:txBody>
      </p:sp>
      <p:sp>
        <p:nvSpPr>
          <p:cNvPr id="4" name="5 Marcador de número de diapositiva"/>
          <p:cNvSpPr>
            <a:spLocks noGrp="1"/>
          </p:cNvSpPr>
          <p:nvPr>
            <p:ph type="sldNum" sz="quarter" idx="12"/>
          </p:nvPr>
        </p:nvSpPr>
        <p:spPr/>
        <p:txBody>
          <a:bodyPr/>
          <a:lstStyle>
            <a:lvl1pPr>
              <a:defRPr/>
            </a:lvl1pPr>
          </a:lstStyle>
          <a:p>
            <a:pPr>
              <a:defRPr/>
            </a:pPr>
            <a:fld id="{3C35493A-48A0-4D91-9F98-5F5FD864C74B}" type="slidenum">
              <a:rPr lang="es-PE"/>
              <a:pPr>
                <a:defRPr/>
              </a:pPr>
              <a:t>‹Nº›</a:t>
            </a:fld>
            <a:endParaRPr lang="es-PE"/>
          </a:p>
        </p:txBody>
      </p:sp>
    </p:spTree>
    <p:extLst>
      <p:ext uri="{BB962C8B-B14F-4D97-AF65-F5344CB8AC3E}">
        <p14:creationId xmlns:p14="http://schemas.microsoft.com/office/powerpoint/2010/main" val="159576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PE"/>
          </a:p>
        </p:txBody>
      </p:sp>
      <p:sp>
        <p:nvSpPr>
          <p:cNvPr id="3" name="2 Marcador de contenido"/>
          <p:cNvSpPr>
            <a:spLocks noGrp="1"/>
          </p:cNvSpPr>
          <p:nvPr>
            <p:ph idx="1"/>
          </p:nvPr>
        </p:nvSpPr>
        <p:spPr>
          <a:xfrm>
            <a:off x="3575050" y="273050"/>
            <a:ext cx="5111750" cy="5853113"/>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3DE9B454-B305-4CA4-B915-08E1137AE4FC}" type="datetimeFigureOut">
              <a:rPr lang="es-PE"/>
              <a:pPr>
                <a:defRPr/>
              </a:pPr>
              <a:t>18/05/2020</a:t>
            </a:fld>
            <a:endParaRPr lang="es-PE"/>
          </a:p>
        </p:txBody>
      </p:sp>
      <p:sp>
        <p:nvSpPr>
          <p:cNvPr id="6" name="4 Marcador de pie de página"/>
          <p:cNvSpPr>
            <a:spLocks noGrp="1"/>
          </p:cNvSpPr>
          <p:nvPr>
            <p:ph type="ftr" sz="quarter" idx="11"/>
          </p:nvPr>
        </p:nvSpPr>
        <p:spPr/>
        <p:txBody>
          <a:bodyPr/>
          <a:lstStyle>
            <a:lvl1pPr>
              <a:defRPr/>
            </a:lvl1pPr>
          </a:lstStyle>
          <a:p>
            <a:pPr>
              <a:defRPr/>
            </a:pPr>
            <a:endParaRPr lang="es-PE"/>
          </a:p>
        </p:txBody>
      </p:sp>
      <p:sp>
        <p:nvSpPr>
          <p:cNvPr id="7" name="5 Marcador de número de diapositiva"/>
          <p:cNvSpPr>
            <a:spLocks noGrp="1"/>
          </p:cNvSpPr>
          <p:nvPr>
            <p:ph type="sldNum" sz="quarter" idx="12"/>
          </p:nvPr>
        </p:nvSpPr>
        <p:spPr/>
        <p:txBody>
          <a:bodyPr/>
          <a:lstStyle>
            <a:lvl1pPr>
              <a:defRPr/>
            </a:lvl1pPr>
          </a:lstStyle>
          <a:p>
            <a:pPr>
              <a:defRPr/>
            </a:pPr>
            <a:fld id="{9016BB72-9EBF-4183-BB07-0B8080201084}" type="slidenum">
              <a:rPr lang="es-PE"/>
              <a:pPr>
                <a:defRPr/>
              </a:pPr>
              <a:t>‹Nº›</a:t>
            </a:fld>
            <a:endParaRPr lang="es-PE"/>
          </a:p>
        </p:txBody>
      </p:sp>
    </p:spTree>
    <p:extLst>
      <p:ext uri="{BB962C8B-B14F-4D97-AF65-F5344CB8AC3E}">
        <p14:creationId xmlns:p14="http://schemas.microsoft.com/office/powerpoint/2010/main" val="1449401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PE"/>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smtClean="0"/>
              <a:t>Haga clic en el icono para agregar una imagen</a:t>
            </a:r>
            <a:endParaRPr lang="es-PE"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16A2C805-417E-4E68-8E0E-2160D4A4A7AA}" type="datetimeFigureOut">
              <a:rPr lang="es-PE"/>
              <a:pPr>
                <a:defRPr/>
              </a:pPr>
              <a:t>18/05/2020</a:t>
            </a:fld>
            <a:endParaRPr lang="es-PE"/>
          </a:p>
        </p:txBody>
      </p:sp>
      <p:sp>
        <p:nvSpPr>
          <p:cNvPr id="6" name="4 Marcador de pie de página"/>
          <p:cNvSpPr>
            <a:spLocks noGrp="1"/>
          </p:cNvSpPr>
          <p:nvPr>
            <p:ph type="ftr" sz="quarter" idx="11"/>
          </p:nvPr>
        </p:nvSpPr>
        <p:spPr/>
        <p:txBody>
          <a:bodyPr/>
          <a:lstStyle>
            <a:lvl1pPr>
              <a:defRPr/>
            </a:lvl1pPr>
          </a:lstStyle>
          <a:p>
            <a:pPr>
              <a:defRPr/>
            </a:pPr>
            <a:endParaRPr lang="es-PE"/>
          </a:p>
        </p:txBody>
      </p:sp>
      <p:sp>
        <p:nvSpPr>
          <p:cNvPr id="7" name="5 Marcador de número de diapositiva"/>
          <p:cNvSpPr>
            <a:spLocks noGrp="1"/>
          </p:cNvSpPr>
          <p:nvPr>
            <p:ph type="sldNum" sz="quarter" idx="12"/>
          </p:nvPr>
        </p:nvSpPr>
        <p:spPr/>
        <p:txBody>
          <a:bodyPr/>
          <a:lstStyle>
            <a:lvl1pPr>
              <a:defRPr/>
            </a:lvl1pPr>
          </a:lstStyle>
          <a:p>
            <a:pPr>
              <a:defRPr/>
            </a:pPr>
            <a:fld id="{23841C16-ED44-4309-BF07-77A65062E749}" type="slidenum">
              <a:rPr lang="es-PE"/>
              <a:pPr>
                <a:defRPr/>
              </a:pPr>
              <a:t>‹Nº›</a:t>
            </a:fld>
            <a:endParaRPr lang="es-PE"/>
          </a:p>
        </p:txBody>
      </p:sp>
    </p:spTree>
    <p:extLst>
      <p:ext uri="{BB962C8B-B14F-4D97-AF65-F5344CB8AC3E}">
        <p14:creationId xmlns:p14="http://schemas.microsoft.com/office/powerpoint/2010/main" val="1831844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p:txBody>
          <a:bodyPr vert="eaVert">
            <a:normAutofit/>
          </a:bodyPr>
          <a:lstStyle>
            <a:lvl1pPr>
              <a:defRPr sz="2000"/>
            </a:lvl1pPr>
            <a:lvl2pPr>
              <a:defRPr sz="2000"/>
            </a:lvl2pPr>
            <a:lvl3pPr>
              <a:defRPr sz="2000"/>
            </a:lvl3pPr>
            <a:lvl4pPr>
              <a:defRPr sz="2000"/>
            </a:lvl4pPr>
            <a:lvl5pPr>
              <a:defRPr sz="20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dirty="0"/>
          </a:p>
        </p:txBody>
      </p:sp>
      <p:sp>
        <p:nvSpPr>
          <p:cNvPr id="4" name="3 Marcador de fecha"/>
          <p:cNvSpPr>
            <a:spLocks noGrp="1"/>
          </p:cNvSpPr>
          <p:nvPr>
            <p:ph type="dt" sz="half" idx="10"/>
          </p:nvPr>
        </p:nvSpPr>
        <p:spPr/>
        <p:txBody>
          <a:bodyPr/>
          <a:lstStyle>
            <a:lvl1pPr>
              <a:defRPr/>
            </a:lvl1pPr>
          </a:lstStyle>
          <a:p>
            <a:pPr>
              <a:defRPr/>
            </a:pPr>
            <a:fld id="{A6660998-4193-4D36-AD14-C18E54711280}" type="datetimeFigureOut">
              <a:rPr lang="es-PE"/>
              <a:pPr>
                <a:defRPr/>
              </a:pPr>
              <a:t>18/05/2020</a:t>
            </a:fld>
            <a:endParaRPr lang="es-PE"/>
          </a:p>
        </p:txBody>
      </p:sp>
      <p:sp>
        <p:nvSpPr>
          <p:cNvPr id="5" name="4 Marcador de pie de página"/>
          <p:cNvSpPr>
            <a:spLocks noGrp="1"/>
          </p:cNvSpPr>
          <p:nvPr>
            <p:ph type="ftr" sz="quarter" idx="11"/>
          </p:nvPr>
        </p:nvSpPr>
        <p:spPr/>
        <p:txBody>
          <a:bodyPr/>
          <a:lstStyle>
            <a:lvl1pPr>
              <a:defRPr/>
            </a:lvl1pPr>
          </a:lstStyle>
          <a:p>
            <a:pPr>
              <a:defRPr/>
            </a:pPr>
            <a:endParaRPr lang="es-PE"/>
          </a:p>
        </p:txBody>
      </p:sp>
      <p:sp>
        <p:nvSpPr>
          <p:cNvPr id="6" name="5 Marcador de número de diapositiva"/>
          <p:cNvSpPr>
            <a:spLocks noGrp="1"/>
          </p:cNvSpPr>
          <p:nvPr>
            <p:ph type="sldNum" sz="quarter" idx="12"/>
          </p:nvPr>
        </p:nvSpPr>
        <p:spPr/>
        <p:txBody>
          <a:bodyPr/>
          <a:lstStyle>
            <a:lvl1pPr>
              <a:defRPr/>
            </a:lvl1pPr>
          </a:lstStyle>
          <a:p>
            <a:pPr>
              <a:defRPr/>
            </a:pPr>
            <a:fld id="{2F18B767-0D9E-4049-9FDF-7235DA758047}" type="slidenum">
              <a:rPr lang="es-PE"/>
              <a:pPr>
                <a:defRPr/>
              </a:pPr>
              <a:t>‹Nº›</a:t>
            </a:fld>
            <a:endParaRPr lang="es-PE"/>
          </a:p>
        </p:txBody>
      </p:sp>
    </p:spTree>
    <p:extLst>
      <p:ext uri="{BB962C8B-B14F-4D97-AF65-F5344CB8AC3E}">
        <p14:creationId xmlns:p14="http://schemas.microsoft.com/office/powerpoint/2010/main" val="2030684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a:xfrm>
            <a:off x="457200" y="274638"/>
            <a:ext cx="6019800" cy="5851525"/>
          </a:xfrm>
        </p:spPr>
        <p:txBody>
          <a:bodyPr vert="eaVert">
            <a:normAutofit/>
          </a:bodyPr>
          <a:lstStyle>
            <a:lvl1pPr>
              <a:defRPr sz="2000"/>
            </a:lvl1pPr>
            <a:lvl2pPr>
              <a:defRPr sz="2000"/>
            </a:lvl2pPr>
            <a:lvl3pPr>
              <a:defRPr sz="2000"/>
            </a:lvl3pPr>
            <a:lvl4pPr>
              <a:defRPr sz="2000"/>
            </a:lvl4pPr>
            <a:lvl5pPr>
              <a:defRPr sz="20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lvl1pPr>
              <a:defRPr/>
            </a:lvl1pPr>
          </a:lstStyle>
          <a:p>
            <a:pPr>
              <a:defRPr/>
            </a:pPr>
            <a:fld id="{A0DF1636-F1D6-4021-8D13-42B9A4814314}" type="datetimeFigureOut">
              <a:rPr lang="es-PE"/>
              <a:pPr>
                <a:defRPr/>
              </a:pPr>
              <a:t>18/05/2020</a:t>
            </a:fld>
            <a:endParaRPr lang="es-PE"/>
          </a:p>
        </p:txBody>
      </p:sp>
      <p:sp>
        <p:nvSpPr>
          <p:cNvPr id="5" name="4 Marcador de pie de página"/>
          <p:cNvSpPr>
            <a:spLocks noGrp="1"/>
          </p:cNvSpPr>
          <p:nvPr>
            <p:ph type="ftr" sz="quarter" idx="11"/>
          </p:nvPr>
        </p:nvSpPr>
        <p:spPr/>
        <p:txBody>
          <a:bodyPr/>
          <a:lstStyle>
            <a:lvl1pPr>
              <a:defRPr/>
            </a:lvl1pPr>
          </a:lstStyle>
          <a:p>
            <a:pPr>
              <a:defRPr/>
            </a:pPr>
            <a:endParaRPr lang="es-PE"/>
          </a:p>
        </p:txBody>
      </p:sp>
      <p:sp>
        <p:nvSpPr>
          <p:cNvPr id="6" name="5 Marcador de número de diapositiva"/>
          <p:cNvSpPr>
            <a:spLocks noGrp="1"/>
          </p:cNvSpPr>
          <p:nvPr>
            <p:ph type="sldNum" sz="quarter" idx="12"/>
          </p:nvPr>
        </p:nvSpPr>
        <p:spPr/>
        <p:txBody>
          <a:bodyPr/>
          <a:lstStyle>
            <a:lvl1pPr>
              <a:defRPr/>
            </a:lvl1pPr>
          </a:lstStyle>
          <a:p>
            <a:pPr>
              <a:defRPr/>
            </a:pPr>
            <a:fld id="{D2714C3A-48E6-4202-8D80-D6A5049DE80F}" type="slidenum">
              <a:rPr lang="es-PE"/>
              <a:pPr>
                <a:defRPr/>
              </a:pPr>
              <a:t>‹Nº›</a:t>
            </a:fld>
            <a:endParaRPr lang="es-PE"/>
          </a:p>
        </p:txBody>
      </p:sp>
    </p:spTree>
    <p:extLst>
      <p:ext uri="{BB962C8B-B14F-4D97-AF65-F5344CB8AC3E}">
        <p14:creationId xmlns:p14="http://schemas.microsoft.com/office/powerpoint/2010/main" val="304318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1588"/>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 name="1 Marcador de título"/>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PE" smtClean="0"/>
              <a:t>Haga clic para modificar el estilo de título del patrón</a:t>
            </a:r>
            <a:endParaRPr lang="es-PE" altLang="es-PE" smtClean="0"/>
          </a:p>
        </p:txBody>
      </p:sp>
      <p:sp>
        <p:nvSpPr>
          <p:cNvPr id="1028" name="2 Marcador de texto"/>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PE" smtClean="0"/>
              <a:t>Haga clic para modificar el estilo de texto del patrón</a:t>
            </a:r>
          </a:p>
          <a:p>
            <a:pPr lvl="1"/>
            <a:r>
              <a:rPr lang="es-ES" altLang="es-PE" smtClean="0"/>
              <a:t>Segundo nivel</a:t>
            </a:r>
          </a:p>
          <a:p>
            <a:pPr lvl="2"/>
            <a:r>
              <a:rPr lang="es-ES" altLang="es-PE" smtClean="0"/>
              <a:t>Tercer nivel</a:t>
            </a:r>
          </a:p>
          <a:p>
            <a:pPr lvl="3"/>
            <a:r>
              <a:rPr lang="es-ES" altLang="es-PE" smtClean="0"/>
              <a:t>Cuarto nivel</a:t>
            </a:r>
          </a:p>
          <a:p>
            <a:pPr lvl="4"/>
            <a:r>
              <a:rPr lang="es-ES" altLang="es-PE" smtClean="0"/>
              <a:t>Quinto nivel</a:t>
            </a:r>
            <a:endParaRPr lang="es-PE" altLang="es-PE" smtClean="0"/>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55AFB781-474C-4CD9-95C1-013A0854F8AC}" type="datetimeFigureOut">
              <a:rPr lang="es-PE"/>
              <a:pPr>
                <a:defRPr/>
              </a:pPr>
              <a:t>18/05/2020</a:t>
            </a:fld>
            <a:endParaRPr lang="es-PE"/>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PE"/>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07C8D6BF-0DA4-4D78-B68E-C3531342C96A}" type="slidenum">
              <a:rPr lang="es-PE"/>
              <a:pPr>
                <a:defRPr/>
              </a:pPr>
              <a:t>‹Nº›</a:t>
            </a:fld>
            <a:endParaRPr lang="es-PE"/>
          </a:p>
        </p:txBody>
      </p:sp>
    </p:spTree>
  </p:cSld>
  <p:clrMap bg1="lt1" tx1="dk1" bg2="lt2" tx2="dk2" accent1="accent1" accent2="accent2" accent3="accent3" accent4="accent4" accent5="accent5" accent6="accent6" hlink="hlink" folHlink="folHlink"/>
  <p:sldLayoutIdLst>
    <p:sldLayoutId id="2147483945" r:id="rId1"/>
    <p:sldLayoutId id="2147483935" r:id="rId2"/>
    <p:sldLayoutId id="2147483936" r:id="rId3"/>
    <p:sldLayoutId id="214748394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Lst>
  <p:timing>
    <p:tnLst>
      <p:par>
        <p:cTn id="1" dur="indefinite" restart="never" nodeType="tmRoot"/>
      </p:par>
    </p:tnLst>
  </p:timing>
  <p:txStyles>
    <p:titleStyle>
      <a:lvl1pPr algn="ctr" rtl="0" eaLnBrk="0" fontAlgn="base" hangingPunct="0">
        <a:spcBef>
          <a:spcPct val="0"/>
        </a:spcBef>
        <a:spcAft>
          <a:spcPct val="0"/>
        </a:spcAft>
        <a:defRPr sz="32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200">
          <a:solidFill>
            <a:schemeClr val="tx1"/>
          </a:solidFill>
          <a:latin typeface="Arial" charset="0"/>
          <a:cs typeface="Arial" charset="0"/>
        </a:defRPr>
      </a:lvl2pPr>
      <a:lvl3pPr algn="ctr" rtl="0" eaLnBrk="0" fontAlgn="base" hangingPunct="0">
        <a:spcBef>
          <a:spcPct val="0"/>
        </a:spcBef>
        <a:spcAft>
          <a:spcPct val="0"/>
        </a:spcAft>
        <a:defRPr sz="3200">
          <a:solidFill>
            <a:schemeClr val="tx1"/>
          </a:solidFill>
          <a:latin typeface="Arial" charset="0"/>
          <a:cs typeface="Arial" charset="0"/>
        </a:defRPr>
      </a:lvl3pPr>
      <a:lvl4pPr algn="ctr" rtl="0" eaLnBrk="0" fontAlgn="base" hangingPunct="0">
        <a:spcBef>
          <a:spcPct val="0"/>
        </a:spcBef>
        <a:spcAft>
          <a:spcPct val="0"/>
        </a:spcAft>
        <a:defRPr sz="3200">
          <a:solidFill>
            <a:schemeClr val="tx1"/>
          </a:solidFill>
          <a:latin typeface="Arial" charset="0"/>
          <a:cs typeface="Arial" charset="0"/>
        </a:defRPr>
      </a:lvl4pPr>
      <a:lvl5pPr algn="ctr" rtl="0" eaLnBrk="0" fontAlgn="base" hangingPunct="0">
        <a:spcBef>
          <a:spcPct val="0"/>
        </a:spcBef>
        <a:spcAft>
          <a:spcPct val="0"/>
        </a:spcAft>
        <a:defRPr sz="3200">
          <a:solidFill>
            <a:schemeClr val="tx1"/>
          </a:solidFill>
          <a:latin typeface="Arial" charset="0"/>
          <a:cs typeface="Arial" charset="0"/>
        </a:defRPr>
      </a:lvl5pPr>
      <a:lvl6pPr marL="457200" algn="ctr" rtl="0" fontAlgn="base">
        <a:spcBef>
          <a:spcPct val="0"/>
        </a:spcBef>
        <a:spcAft>
          <a:spcPct val="0"/>
        </a:spcAft>
        <a:defRPr sz="3200">
          <a:solidFill>
            <a:schemeClr val="tx1"/>
          </a:solidFill>
          <a:latin typeface="Arial" charset="0"/>
          <a:cs typeface="Arial" charset="0"/>
        </a:defRPr>
      </a:lvl6pPr>
      <a:lvl7pPr marL="914400" algn="ctr" rtl="0" fontAlgn="base">
        <a:spcBef>
          <a:spcPct val="0"/>
        </a:spcBef>
        <a:spcAft>
          <a:spcPct val="0"/>
        </a:spcAft>
        <a:defRPr sz="3200">
          <a:solidFill>
            <a:schemeClr val="tx1"/>
          </a:solidFill>
          <a:latin typeface="Arial" charset="0"/>
          <a:cs typeface="Arial" charset="0"/>
        </a:defRPr>
      </a:lvl7pPr>
      <a:lvl8pPr marL="1371600" algn="ctr" rtl="0" fontAlgn="base">
        <a:spcBef>
          <a:spcPct val="0"/>
        </a:spcBef>
        <a:spcAft>
          <a:spcPct val="0"/>
        </a:spcAft>
        <a:defRPr sz="3200">
          <a:solidFill>
            <a:schemeClr val="tx1"/>
          </a:solidFill>
          <a:latin typeface="Arial" charset="0"/>
          <a:cs typeface="Arial" charset="0"/>
        </a:defRPr>
      </a:lvl8pPr>
      <a:lvl9pPr marL="1828800" algn="ctr" rtl="0" fontAlgn="base">
        <a:spcBef>
          <a:spcPct val="0"/>
        </a:spcBef>
        <a:spcAft>
          <a:spcPct val="0"/>
        </a:spcAft>
        <a:defRPr sz="3200">
          <a:solidFill>
            <a:schemeClr val="tx1"/>
          </a:solidFill>
          <a:latin typeface="Arial" charset="0"/>
          <a:cs typeface="Arial" charset="0"/>
        </a:defRPr>
      </a:lvl9pPr>
    </p:titleStyle>
    <p:bodyStyle>
      <a:lvl1pPr marL="268288" indent="-268288" algn="just" rtl="0" eaLnBrk="0" fontAlgn="base" hangingPunct="0">
        <a:spcBef>
          <a:spcPct val="20000"/>
        </a:spcBef>
        <a:spcAft>
          <a:spcPct val="0"/>
        </a:spcAft>
        <a:buClr>
          <a:schemeClr val="tx2"/>
        </a:buClr>
        <a:buSzPct val="90000"/>
        <a:buFont typeface="Arial" charset="0"/>
        <a:buChar char="•"/>
        <a:defRPr sz="2400" kern="1200">
          <a:solidFill>
            <a:schemeClr val="tx1"/>
          </a:solidFill>
          <a:latin typeface="Arial" panose="020B0604020202020204" pitchFamily="34" charset="0"/>
          <a:ea typeface="+mn-ea"/>
          <a:cs typeface="Arial" panose="020B0604020202020204" pitchFamily="34" charset="0"/>
        </a:defRPr>
      </a:lvl1pPr>
      <a:lvl2pPr marL="538163" indent="-269875" algn="just" rtl="0" eaLnBrk="0" fontAlgn="base" hangingPunct="0">
        <a:spcBef>
          <a:spcPct val="20000"/>
        </a:spcBef>
        <a:spcAft>
          <a:spcPct val="0"/>
        </a:spcAft>
        <a:buClr>
          <a:schemeClr val="accent2"/>
        </a:buClr>
        <a:buSzPct val="90000"/>
        <a:buFont typeface="Arial" charset="0"/>
        <a:buChar char="•"/>
        <a:defRPr sz="2000" kern="1200">
          <a:solidFill>
            <a:schemeClr val="tx1"/>
          </a:solidFill>
          <a:latin typeface="Arial" panose="020B0604020202020204" pitchFamily="34" charset="0"/>
          <a:ea typeface="+mn-ea"/>
          <a:cs typeface="Arial" panose="020B0604020202020204" pitchFamily="34" charset="0"/>
        </a:defRPr>
      </a:lvl2pPr>
      <a:lvl3pPr marL="892175" indent="-354013" algn="just" rtl="0" eaLnBrk="0" fontAlgn="base" hangingPunct="0">
        <a:spcBef>
          <a:spcPct val="20000"/>
        </a:spcBef>
        <a:spcAft>
          <a:spcPct val="0"/>
        </a:spcAft>
        <a:buClr>
          <a:srgbClr val="4F6228"/>
        </a:buClr>
        <a:buSzPct val="90000"/>
        <a:buFont typeface="Arial" charset="0"/>
        <a:buChar char="•"/>
        <a:defRPr sz="2000" kern="1200">
          <a:solidFill>
            <a:schemeClr val="tx1"/>
          </a:solidFill>
          <a:latin typeface="Arial" panose="020B0604020202020204" pitchFamily="34" charset="0"/>
          <a:ea typeface="+mn-ea"/>
          <a:cs typeface="Arial" panose="020B0604020202020204" pitchFamily="34" charset="0"/>
        </a:defRPr>
      </a:lvl3pPr>
      <a:lvl4pPr marL="1258888" indent="-366713" algn="just" rtl="0" eaLnBrk="0" fontAlgn="base" hangingPunct="0">
        <a:spcBef>
          <a:spcPct val="20000"/>
        </a:spcBef>
        <a:spcAft>
          <a:spcPct val="0"/>
        </a:spcAft>
        <a:buClr>
          <a:srgbClr val="31859C"/>
        </a:buClr>
        <a:buSzPct val="90000"/>
        <a:buFont typeface="Arial"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atec.jimdofree.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GKXPctrIzeM" TargetMode="External"/><Relationship Id="rId2" Type="http://schemas.openxmlformats.org/officeDocument/2006/relationships/hyperlink" Target="https://www.youtube.com/watch?v=Q_0PTe1BGX4" TargetMode="Externa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hyperlink" Target="https://www.youtube.com/watch?v=fgbh0biv44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2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hyperlink" Target="http://slideplayer.es/slide/1483744/"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filicruzcruz.blogspot.pe/" TargetMode="External"/><Relationship Id="rId2" Type="http://schemas.openxmlformats.org/officeDocument/2006/relationships/hyperlink" Target="https://es.slideshare.net/Marcanodennys1/esfuerzo-deformacion-fatiga-dennys" TargetMode="Externa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805174" y="5013325"/>
            <a:ext cx="7593012" cy="935955"/>
          </a:xfrm>
        </p:spPr>
        <p:txBody>
          <a:bodyPr rtlCol="0">
            <a:normAutofit/>
          </a:bodyPr>
          <a:lstStyle/>
          <a:p>
            <a:pPr eaLnBrk="1" fontAlgn="auto" hangingPunct="1">
              <a:spcAft>
                <a:spcPts val="0"/>
              </a:spcAft>
              <a:buFont typeface="Arial" panose="020B0604020202020204" pitchFamily="34" charset="0"/>
              <a:buNone/>
              <a:defRPr/>
            </a:pPr>
            <a:r>
              <a:rPr lang="en-US" sz="2000" b="1" dirty="0" err="1" smtClean="0">
                <a:solidFill>
                  <a:schemeClr val="tx1"/>
                </a:solidFill>
                <a:effectLst>
                  <a:outerShdw blurRad="38100" dist="38100" dir="2700000" algn="tl">
                    <a:srgbClr val="000000">
                      <a:alpha val="43137"/>
                    </a:srgbClr>
                  </a:outerShdw>
                </a:effectLst>
                <a:latin typeface="Georgia" panose="02040502050405020303" pitchFamily="18" charset="0"/>
              </a:rPr>
              <a:t>Ing</a:t>
            </a:r>
            <a:r>
              <a:rPr lang="en-US" sz="2000" b="1" dirty="0" smtClean="0">
                <a:solidFill>
                  <a:schemeClr val="tx1"/>
                </a:solidFill>
                <a:effectLst>
                  <a:outerShdw blurRad="38100" dist="38100" dir="2700000" algn="tl">
                    <a:srgbClr val="000000">
                      <a:alpha val="43137"/>
                    </a:srgbClr>
                  </a:outerShdw>
                </a:effectLst>
                <a:latin typeface="Georgia" panose="02040502050405020303" pitchFamily="18" charset="0"/>
              </a:rPr>
              <a:t>º JORGE FÉLIX RIVERO MÉNDEZ</a:t>
            </a:r>
          </a:p>
          <a:p>
            <a:pPr eaLnBrk="1" fontAlgn="auto" hangingPunct="1">
              <a:spcAft>
                <a:spcPts val="0"/>
              </a:spcAft>
              <a:buFont typeface="Arial" panose="020B0604020202020204" pitchFamily="34" charset="0"/>
              <a:buNone/>
              <a:defRPr/>
            </a:pPr>
            <a:r>
              <a:rPr lang="en-US" b="1" smtClean="0">
                <a:solidFill>
                  <a:srgbClr val="0033CC"/>
                </a:solidFill>
                <a:latin typeface="Arial Narrow" panose="020B0606020202030204" pitchFamily="34" charset="0"/>
                <a:hlinkClick r:id="rId2"/>
              </a:rPr>
              <a:t>https://gatec.jimdofree.com</a:t>
            </a:r>
            <a:r>
              <a:rPr lang="en-US" b="1" dirty="0" smtClean="0">
                <a:solidFill>
                  <a:srgbClr val="0033CC"/>
                </a:solidFill>
                <a:latin typeface="Arial Narrow" panose="020B0606020202030204" pitchFamily="34" charset="0"/>
                <a:hlinkClick r:id="rId2"/>
              </a:rPr>
              <a:t>/</a:t>
            </a:r>
            <a:endParaRPr lang="en-US" b="1" dirty="0" smtClean="0">
              <a:solidFill>
                <a:srgbClr val="0033CC"/>
              </a:solidFill>
              <a:latin typeface="Arial Narrow" panose="020B0606020202030204" pitchFamily="34" charset="0"/>
            </a:endParaRPr>
          </a:p>
          <a:p>
            <a:pPr eaLnBrk="1" fontAlgn="auto" hangingPunct="1">
              <a:spcAft>
                <a:spcPts val="0"/>
              </a:spcAft>
              <a:buFont typeface="Arial" panose="020B0604020202020204" pitchFamily="34" charset="0"/>
              <a:buNone/>
              <a:defRPr/>
            </a:pPr>
            <a:endParaRPr lang="es-PE" b="1" dirty="0" smtClean="0">
              <a:solidFill>
                <a:srgbClr val="0033CC"/>
              </a:solidFill>
              <a:latin typeface="Arial Narrow" panose="020B0606020202030204" pitchFamily="34" charset="0"/>
            </a:endParaRPr>
          </a:p>
        </p:txBody>
      </p:sp>
      <p:sp>
        <p:nvSpPr>
          <p:cNvPr id="4" name="1 Título"/>
          <p:cNvSpPr txBox="1">
            <a:spLocks/>
          </p:cNvSpPr>
          <p:nvPr/>
        </p:nvSpPr>
        <p:spPr bwMode="auto">
          <a:xfrm>
            <a:off x="-9879" y="8878"/>
            <a:ext cx="9144000" cy="471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kern="1200">
                <a:solidFill>
                  <a:schemeClr val="bg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200">
                <a:solidFill>
                  <a:schemeClr val="tx1"/>
                </a:solidFill>
                <a:latin typeface="Arial" charset="0"/>
                <a:cs typeface="Arial" charset="0"/>
              </a:defRPr>
            </a:lvl2pPr>
            <a:lvl3pPr algn="ctr" rtl="0" eaLnBrk="0" fontAlgn="base" hangingPunct="0">
              <a:spcBef>
                <a:spcPct val="0"/>
              </a:spcBef>
              <a:spcAft>
                <a:spcPct val="0"/>
              </a:spcAft>
              <a:defRPr sz="3200">
                <a:solidFill>
                  <a:schemeClr val="tx1"/>
                </a:solidFill>
                <a:latin typeface="Arial" charset="0"/>
                <a:cs typeface="Arial" charset="0"/>
              </a:defRPr>
            </a:lvl3pPr>
            <a:lvl4pPr algn="ctr" rtl="0" eaLnBrk="0" fontAlgn="base" hangingPunct="0">
              <a:spcBef>
                <a:spcPct val="0"/>
              </a:spcBef>
              <a:spcAft>
                <a:spcPct val="0"/>
              </a:spcAft>
              <a:defRPr sz="3200">
                <a:solidFill>
                  <a:schemeClr val="tx1"/>
                </a:solidFill>
                <a:latin typeface="Arial" charset="0"/>
                <a:cs typeface="Arial" charset="0"/>
              </a:defRPr>
            </a:lvl4pPr>
            <a:lvl5pPr algn="ctr" rtl="0" eaLnBrk="0" fontAlgn="base" hangingPunct="0">
              <a:spcBef>
                <a:spcPct val="0"/>
              </a:spcBef>
              <a:spcAft>
                <a:spcPct val="0"/>
              </a:spcAft>
              <a:defRPr sz="3200">
                <a:solidFill>
                  <a:schemeClr val="tx1"/>
                </a:solidFill>
                <a:latin typeface="Arial" charset="0"/>
                <a:cs typeface="Arial" charset="0"/>
              </a:defRPr>
            </a:lvl5pPr>
            <a:lvl6pPr marL="457200" algn="ctr" rtl="0" fontAlgn="base">
              <a:spcBef>
                <a:spcPct val="0"/>
              </a:spcBef>
              <a:spcAft>
                <a:spcPct val="0"/>
              </a:spcAft>
              <a:defRPr sz="3200">
                <a:solidFill>
                  <a:schemeClr val="tx1"/>
                </a:solidFill>
                <a:latin typeface="Arial" charset="0"/>
                <a:cs typeface="Arial" charset="0"/>
              </a:defRPr>
            </a:lvl6pPr>
            <a:lvl7pPr marL="914400" algn="ctr" rtl="0" fontAlgn="base">
              <a:spcBef>
                <a:spcPct val="0"/>
              </a:spcBef>
              <a:spcAft>
                <a:spcPct val="0"/>
              </a:spcAft>
              <a:defRPr sz="3200">
                <a:solidFill>
                  <a:schemeClr val="tx1"/>
                </a:solidFill>
                <a:latin typeface="Arial" charset="0"/>
                <a:cs typeface="Arial" charset="0"/>
              </a:defRPr>
            </a:lvl7pPr>
            <a:lvl8pPr marL="1371600" algn="ctr" rtl="0" fontAlgn="base">
              <a:spcBef>
                <a:spcPct val="0"/>
              </a:spcBef>
              <a:spcAft>
                <a:spcPct val="0"/>
              </a:spcAft>
              <a:defRPr sz="3200">
                <a:solidFill>
                  <a:schemeClr val="tx1"/>
                </a:solidFill>
                <a:latin typeface="Arial" charset="0"/>
                <a:cs typeface="Arial" charset="0"/>
              </a:defRPr>
            </a:lvl8pPr>
            <a:lvl9pPr marL="1828800" algn="ctr" rtl="0" fontAlgn="base">
              <a:spcBef>
                <a:spcPct val="0"/>
              </a:spcBef>
              <a:spcAft>
                <a:spcPct val="0"/>
              </a:spcAft>
              <a:defRPr sz="3200">
                <a:solidFill>
                  <a:schemeClr val="tx1"/>
                </a:solidFill>
                <a:latin typeface="Arial" charset="0"/>
                <a:cs typeface="Arial" charset="0"/>
              </a:defRPr>
            </a:lvl9pPr>
          </a:lstStyle>
          <a:p>
            <a:pPr eaLnBrk="1" hangingPunct="1">
              <a:defRPr/>
            </a:pPr>
            <a:endParaRPr lang="es-PE" altLang="es-PE" sz="4000" b="1" dirty="0" smtClean="0">
              <a:effectLst>
                <a:outerShdw blurRad="38100" dist="38100" dir="2700000" algn="tl">
                  <a:srgbClr val="000000">
                    <a:alpha val="43137"/>
                  </a:srgbClr>
                </a:outerShdw>
              </a:effectLst>
              <a:latin typeface="Arial Narrow" panose="020B0606020202030204" pitchFamily="34" charset="0"/>
              <a:cs typeface="Arial" charset="0"/>
            </a:endParaRPr>
          </a:p>
          <a:p>
            <a:pPr eaLnBrk="1" hangingPunct="1">
              <a:defRPr/>
            </a:pPr>
            <a:endParaRPr lang="es-PE" altLang="es-PE" sz="4000" b="1" dirty="0" smtClean="0">
              <a:effectLst>
                <a:outerShdw blurRad="38100" dist="38100" dir="2700000" algn="tl">
                  <a:srgbClr val="000000">
                    <a:alpha val="43137"/>
                  </a:srgbClr>
                </a:outerShdw>
              </a:effectLst>
              <a:latin typeface="Arial Narrow" panose="020B0606020202030204" pitchFamily="34" charset="0"/>
              <a:cs typeface="Arial" charset="0"/>
            </a:endParaRPr>
          </a:p>
          <a:p>
            <a:pPr eaLnBrk="1" hangingPunct="1">
              <a:defRPr/>
            </a:pPr>
            <a:r>
              <a:rPr lang="es-PE" altLang="es-PE" sz="4000" b="1" dirty="0" smtClean="0">
                <a:effectLst>
                  <a:outerShdw blurRad="38100" dist="38100" dir="2700000" algn="tl">
                    <a:srgbClr val="000000">
                      <a:alpha val="43137"/>
                    </a:srgbClr>
                  </a:outerShdw>
                </a:effectLst>
                <a:latin typeface="Arial Narrow" panose="020B0606020202030204" pitchFamily="34" charset="0"/>
                <a:cs typeface="Arial" charset="0"/>
              </a:rPr>
              <a:t>MM - Sesión N° 10</a:t>
            </a:r>
          </a:p>
          <a:p>
            <a:pPr eaLnBrk="1" hangingPunct="1">
              <a:defRPr/>
            </a:pPr>
            <a:endParaRPr lang="es-PE" altLang="es-PE" sz="1600" b="1" dirty="0" smtClean="0">
              <a:effectLst>
                <a:outerShdw blurRad="38100" dist="38100" dir="2700000" algn="tl">
                  <a:srgbClr val="000000">
                    <a:alpha val="43137"/>
                  </a:srgbClr>
                </a:outerShdw>
              </a:effectLst>
              <a:latin typeface="Arial Narrow" panose="020B0606020202030204" pitchFamily="34" charset="0"/>
              <a:cs typeface="Arial" charset="0"/>
            </a:endParaRPr>
          </a:p>
          <a:p>
            <a:pPr eaLnBrk="1" hangingPunct="1">
              <a:defRPr/>
            </a:pPr>
            <a:r>
              <a:rPr lang="es-PE" altLang="es-PE" sz="6600" b="1" dirty="0" smtClean="0">
                <a:solidFill>
                  <a:srgbClr val="FFFF00"/>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ESFUERZOS </a:t>
            </a:r>
          </a:p>
          <a:p>
            <a:pPr eaLnBrk="1" hangingPunct="1">
              <a:defRPr/>
            </a:pPr>
            <a:r>
              <a:rPr lang="es-PE" altLang="es-PE" sz="6600" b="1" dirty="0" smtClean="0">
                <a:solidFill>
                  <a:srgbClr val="FFFF00"/>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DE </a:t>
            </a:r>
          </a:p>
          <a:p>
            <a:pPr eaLnBrk="1" hangingPunct="1">
              <a:defRPr/>
            </a:pPr>
            <a:r>
              <a:rPr lang="es-PE" altLang="es-PE" sz="6600" b="1" dirty="0" smtClean="0">
                <a:solidFill>
                  <a:srgbClr val="FFFF00"/>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TORSIÓN</a:t>
            </a:r>
            <a:endParaRPr lang="es-PE" altLang="es-PE" sz="6600" b="1" dirty="0" smtClean="0">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endParaRPr>
          </a:p>
          <a:p>
            <a:pPr eaLnBrk="1" hangingPunct="1">
              <a:defRPr/>
            </a:pPr>
            <a:endParaRPr lang="en-US" altLang="es-PE" sz="3600" b="1" dirty="0" smtClean="0">
              <a:solidFill>
                <a:srgbClr val="FFFF00"/>
              </a:solidFill>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40052"/>
            <a:ext cx="8229600" cy="942643"/>
          </a:xfrm>
        </p:spPr>
        <p:txBody>
          <a:bodyPr/>
          <a:lstStyle/>
          <a:p>
            <a:r>
              <a:rPr lang="es-ES" b="1" spc="-5" dirty="0" smtClean="0">
                <a:solidFill>
                  <a:srgbClr val="FF0000"/>
                </a:solidFill>
                <a:latin typeface="Arial Rounded MT Bold" pitchFamily="34" charset="0"/>
              </a:rPr>
              <a:t>Repaso sesión anterior / Saberes previos</a:t>
            </a:r>
            <a:endParaRPr lang="es-ES" dirty="0">
              <a:latin typeface="Arial Rounded MT Bold" pitchFamily="34" charset="0"/>
            </a:endParaRPr>
          </a:p>
        </p:txBody>
      </p:sp>
      <p:sp>
        <p:nvSpPr>
          <p:cNvPr id="3" name="2 Marcador de contenido"/>
          <p:cNvSpPr>
            <a:spLocks noGrp="1"/>
          </p:cNvSpPr>
          <p:nvPr>
            <p:ph idx="1"/>
          </p:nvPr>
        </p:nvSpPr>
        <p:spPr>
          <a:xfrm>
            <a:off x="0" y="1582695"/>
            <a:ext cx="9144000" cy="1054217"/>
          </a:xfrm>
        </p:spPr>
        <p:txBody>
          <a:bodyPr/>
          <a:lstStyle/>
          <a:p>
            <a:pPr marL="0" indent="0" algn="ctr">
              <a:buNone/>
            </a:pPr>
            <a:r>
              <a:rPr lang="es-ES" b="1" dirty="0" smtClean="0">
                <a:solidFill>
                  <a:srgbClr val="0033CC"/>
                </a:solidFill>
              </a:rPr>
              <a:t>DCL – DEC – DMF</a:t>
            </a:r>
          </a:p>
          <a:p>
            <a:pPr marL="0" indent="0" algn="ctr">
              <a:buNone/>
            </a:pPr>
            <a:r>
              <a:rPr lang="es-ES" b="1" dirty="0" smtClean="0">
                <a:solidFill>
                  <a:srgbClr val="0033CC"/>
                </a:solidFill>
              </a:rPr>
              <a:t>ESFUERZO – DEFORMACIÓN – TORSIÓN</a:t>
            </a:r>
          </a:p>
          <a:p>
            <a:pPr marL="0" indent="0" algn="ctr">
              <a:buNone/>
            </a:pPr>
            <a:endParaRPr lang="es-ES" b="1" dirty="0">
              <a:solidFill>
                <a:srgbClr val="0033CC"/>
              </a:solidFill>
            </a:endParaRPr>
          </a:p>
          <a:p>
            <a:pPr marL="0" indent="0" algn="ctr">
              <a:buNone/>
            </a:pPr>
            <a:endParaRPr lang="es-ES" b="1" dirty="0" smtClean="0">
              <a:solidFill>
                <a:srgbClr val="0033CC"/>
              </a:solidFill>
            </a:endParaRPr>
          </a:p>
          <a:p>
            <a:pPr marL="0" indent="0" algn="ctr">
              <a:buNone/>
            </a:pPr>
            <a:endParaRPr lang="es-ES" b="1" dirty="0">
              <a:solidFill>
                <a:srgbClr val="0033CC"/>
              </a:solidFill>
            </a:endParaRPr>
          </a:p>
        </p:txBody>
      </p:sp>
      <p:pic>
        <p:nvPicPr>
          <p:cNvPr id="4" name="Picture 4" descr="https://encrypted-tbn0.gstatic.com/images?q=tbn:ANd9GcRkk-tqiSIpH4nmsdVUtiFdqXxKH2r9v-MB2sMfNnBZxdwVnM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636912"/>
            <a:ext cx="4536504" cy="42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71600" y="260648"/>
            <a:ext cx="6480720" cy="864096"/>
          </a:xfrm>
        </p:spPr>
        <p:txBody>
          <a:bodyPr/>
          <a:lstStyle/>
          <a:p>
            <a:r>
              <a:rPr lang="es-ES" b="1" dirty="0" smtClean="0">
                <a:solidFill>
                  <a:srgbClr val="FF0000"/>
                </a:solidFill>
                <a:latin typeface="Arial Rounded MT Bold" pitchFamily="34" charset="0"/>
                <a:ea typeface="Adobe Gothic Std B" panose="020B0800000000000000" pitchFamily="34" charset="-128"/>
              </a:rPr>
              <a:t>Problematización</a:t>
            </a:r>
            <a:endParaRPr lang="es-PE" dirty="0">
              <a:latin typeface="Arial Rounded MT Bold" pitchFamily="34" charset="0"/>
              <a:ea typeface="Adobe Gothic Std B" panose="020B0800000000000000" pitchFamily="34" charset="-128"/>
            </a:endParaRPr>
          </a:p>
        </p:txBody>
      </p:sp>
      <p:sp>
        <p:nvSpPr>
          <p:cNvPr id="3" name="Marcador de contenido 2"/>
          <p:cNvSpPr>
            <a:spLocks noGrp="1"/>
          </p:cNvSpPr>
          <p:nvPr>
            <p:ph idx="1"/>
          </p:nvPr>
        </p:nvSpPr>
        <p:spPr>
          <a:xfrm>
            <a:off x="251520" y="1124744"/>
            <a:ext cx="5832648" cy="648072"/>
          </a:xfrm>
        </p:spPr>
        <p:txBody>
          <a:bodyPr/>
          <a:lstStyle/>
          <a:p>
            <a:pPr marL="0" indent="0" algn="ctr">
              <a:buNone/>
            </a:pPr>
            <a:r>
              <a:rPr lang="es-PE" sz="2800" b="1" dirty="0" smtClean="0">
                <a:solidFill>
                  <a:srgbClr val="0033CC"/>
                </a:solidFill>
              </a:rPr>
              <a:t>¿Qué es Torsión?</a:t>
            </a:r>
            <a:endParaRPr lang="es-PE" sz="2800" b="1" dirty="0">
              <a:solidFill>
                <a:srgbClr val="0033CC"/>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0232" y="1484784"/>
            <a:ext cx="2483767" cy="5373216"/>
          </a:xfrm>
          <a:prstGeom prst="rect">
            <a:avLst/>
          </a:prstGeo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48880"/>
            <a:ext cx="6084168" cy="4509120"/>
          </a:xfrm>
          <a:prstGeom prst="rect">
            <a:avLst/>
          </a:prstGeom>
        </p:spPr>
      </p:pic>
    </p:spTree>
    <p:extLst>
      <p:ext uri="{BB962C8B-B14F-4D97-AF65-F5344CB8AC3E}">
        <p14:creationId xmlns:p14="http://schemas.microsoft.com/office/powerpoint/2010/main" val="21703717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88640"/>
            <a:ext cx="8229600" cy="864096"/>
          </a:xfrm>
        </p:spPr>
        <p:txBody>
          <a:bodyPr/>
          <a:lstStyle/>
          <a:p>
            <a:r>
              <a:rPr lang="es-ES" b="1" dirty="0" smtClean="0">
                <a:solidFill>
                  <a:srgbClr val="FF0000"/>
                </a:solidFill>
                <a:latin typeface="Arial Rounded MT Bold" pitchFamily="34" charset="0"/>
                <a:ea typeface="Adobe Gothic Std B" panose="020B0800000000000000" pitchFamily="34" charset="-128"/>
              </a:rPr>
              <a:t>Logro de la Sesión</a:t>
            </a:r>
            <a:endParaRPr lang="es-ES" b="1" dirty="0">
              <a:solidFill>
                <a:srgbClr val="FF0000"/>
              </a:solidFill>
              <a:latin typeface="Arial Rounded MT Bold" pitchFamily="34" charset="0"/>
              <a:ea typeface="Adobe Gothic Std B" panose="020B0800000000000000" pitchFamily="34" charset="-128"/>
            </a:endParaRPr>
          </a:p>
        </p:txBody>
      </p:sp>
      <p:sp>
        <p:nvSpPr>
          <p:cNvPr id="3" name="2 Marcador de contenido"/>
          <p:cNvSpPr>
            <a:spLocks noGrp="1"/>
          </p:cNvSpPr>
          <p:nvPr>
            <p:ph idx="1"/>
          </p:nvPr>
        </p:nvSpPr>
        <p:spPr>
          <a:xfrm>
            <a:off x="457200" y="1052736"/>
            <a:ext cx="8229600" cy="5544616"/>
          </a:xfrm>
        </p:spPr>
        <p:txBody>
          <a:bodyPr/>
          <a:lstStyle/>
          <a:p>
            <a:pPr marL="0" indent="0">
              <a:buNone/>
            </a:pPr>
            <a:r>
              <a:rPr lang="es-PE" b="1" dirty="0">
                <a:solidFill>
                  <a:srgbClr val="0033CC"/>
                </a:solidFill>
                <a:latin typeface="Arial Rounded MT Bold" pitchFamily="34" charset="0"/>
              </a:rPr>
              <a:t>Identificar una carga de torsión y calcular el esfuerzo de torsión en elementos rotatorios</a:t>
            </a:r>
            <a:r>
              <a:rPr lang="es-PE" b="1" dirty="0" smtClean="0">
                <a:solidFill>
                  <a:srgbClr val="0033CC"/>
                </a:solidFill>
                <a:latin typeface="Arial Rounded MT Bold" pitchFamily="34" charset="0"/>
              </a:rPr>
              <a:t>.</a:t>
            </a:r>
          </a:p>
          <a:p>
            <a:pPr marL="0" indent="0">
              <a:buNone/>
            </a:pPr>
            <a:endParaRPr lang="es-PE" b="1" dirty="0">
              <a:solidFill>
                <a:srgbClr val="0033CC"/>
              </a:solidFill>
              <a:latin typeface="Arial Rounded MT Bold" pitchFamily="34" charset="0"/>
            </a:endParaRPr>
          </a:p>
          <a:p>
            <a:pPr marL="0" indent="0">
              <a:buNone/>
            </a:pPr>
            <a:endParaRPr lang="es-PE" b="1" dirty="0" smtClean="0">
              <a:solidFill>
                <a:srgbClr val="0033CC"/>
              </a:solidFill>
              <a:latin typeface="Arial Rounded MT Bold" pitchFamily="34" charset="0"/>
            </a:endParaRPr>
          </a:p>
          <a:p>
            <a:pPr marL="0" indent="0">
              <a:buNone/>
            </a:pPr>
            <a:endParaRPr lang="es-ES" b="1" dirty="0">
              <a:solidFill>
                <a:srgbClr val="0033CC"/>
              </a:solidFill>
              <a:latin typeface="Arial Rounded MT Bold" pitchFamily="34" charset="0"/>
            </a:endParaRPr>
          </a:p>
          <a:p>
            <a:pPr marL="0" indent="0">
              <a:buNone/>
            </a:pPr>
            <a:endParaRPr lang="es-ES" b="1" dirty="0" smtClean="0">
              <a:solidFill>
                <a:srgbClr val="0033CC"/>
              </a:solidFill>
              <a:latin typeface="Arial Rounded MT Bold" pitchFamily="34" charset="0"/>
            </a:endParaRPr>
          </a:p>
          <a:p>
            <a:pPr marL="0" indent="0">
              <a:buNone/>
            </a:pPr>
            <a:endParaRPr lang="es-ES" b="1" dirty="0">
              <a:solidFill>
                <a:srgbClr val="0033CC"/>
              </a:solidFill>
              <a:latin typeface="Arial Rounded MT Bold" pitchFamily="34" charset="0"/>
            </a:endParaRPr>
          </a:p>
          <a:p>
            <a:pPr marL="0" indent="0">
              <a:buNone/>
            </a:pPr>
            <a:endParaRPr lang="es-ES" b="1" dirty="0" smtClean="0">
              <a:solidFill>
                <a:srgbClr val="0033CC"/>
              </a:solidFill>
              <a:latin typeface="Arial Rounded MT Bold" pitchFamily="34" charset="0"/>
            </a:endParaRPr>
          </a:p>
          <a:p>
            <a:pPr marL="0" indent="0">
              <a:buNone/>
            </a:pPr>
            <a:endParaRPr lang="es-ES" b="1" dirty="0">
              <a:solidFill>
                <a:srgbClr val="0033CC"/>
              </a:solidFill>
              <a:latin typeface="Arial Rounded MT Bold" pitchFamily="34" charset="0"/>
            </a:endParaRPr>
          </a:p>
          <a:p>
            <a:pPr marL="0" indent="0" algn="ctr">
              <a:buNone/>
            </a:pPr>
            <a:endParaRPr lang="es-ES" b="1" dirty="0" smtClean="0">
              <a:solidFill>
                <a:srgbClr val="FF0000"/>
              </a:solidFill>
              <a:latin typeface="Arial Rounded MT Bold" pitchFamily="34" charset="0"/>
            </a:endParaRPr>
          </a:p>
          <a:p>
            <a:pPr marL="0" indent="0" algn="ctr">
              <a:buNone/>
            </a:pPr>
            <a:endParaRPr lang="es-ES" b="1" dirty="0" smtClean="0">
              <a:solidFill>
                <a:srgbClr val="FF0000"/>
              </a:solidFill>
              <a:latin typeface="Arial Rounded MT Bold" pitchFamily="34" charset="0"/>
            </a:endParaRPr>
          </a:p>
          <a:p>
            <a:pPr marL="0" indent="0" algn="ctr">
              <a:buNone/>
            </a:pPr>
            <a:r>
              <a:rPr lang="es-ES" b="1" dirty="0" smtClean="0">
                <a:solidFill>
                  <a:srgbClr val="FF0000"/>
                </a:solidFill>
                <a:latin typeface="Arial Rounded MT Bold" pitchFamily="34" charset="0"/>
              </a:rPr>
              <a:t>Conceptual + Procedimental + Actitudinal</a:t>
            </a:r>
            <a:endParaRPr lang="es-ES" b="1" dirty="0">
              <a:solidFill>
                <a:srgbClr val="FF0000"/>
              </a:solidFill>
              <a:latin typeface="Arial Rounded MT Bold" pitchFamily="34" charset="0"/>
            </a:endParaRPr>
          </a:p>
        </p:txBody>
      </p:sp>
      <p:pic>
        <p:nvPicPr>
          <p:cNvPr id="4" name="Imagen 3"/>
          <p:cNvPicPr>
            <a:picLocks noChangeAspect="1"/>
          </p:cNvPicPr>
          <p:nvPr/>
        </p:nvPicPr>
        <p:blipFill>
          <a:blip r:embed="rId2"/>
          <a:stretch>
            <a:fillRect/>
          </a:stretch>
        </p:blipFill>
        <p:spPr>
          <a:xfrm>
            <a:off x="424056" y="1916833"/>
            <a:ext cx="8214772" cy="389372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7001"/>
            <a:ext cx="8229600" cy="720080"/>
          </a:xfrm>
        </p:spPr>
        <p:txBody>
          <a:bodyPr/>
          <a:lstStyle/>
          <a:p>
            <a:r>
              <a:rPr lang="es-ES" b="1" dirty="0" smtClean="0">
                <a:solidFill>
                  <a:srgbClr val="FF0000"/>
                </a:solidFill>
                <a:latin typeface="Arial Rounded MT Bold" pitchFamily="34" charset="0"/>
                <a:ea typeface="Adobe Gothic Std B" panose="020B0800000000000000" pitchFamily="34" charset="-128"/>
              </a:rPr>
              <a:t>Motivación</a:t>
            </a:r>
            <a:endParaRPr lang="es-PE" dirty="0"/>
          </a:p>
        </p:txBody>
      </p:sp>
      <p:sp>
        <p:nvSpPr>
          <p:cNvPr id="3" name="Rectángulo 2"/>
          <p:cNvSpPr/>
          <p:nvPr/>
        </p:nvSpPr>
        <p:spPr>
          <a:xfrm>
            <a:off x="1547664" y="3105835"/>
            <a:ext cx="6192688" cy="923330"/>
          </a:xfrm>
          <a:prstGeom prst="rect">
            <a:avLst/>
          </a:prstGeom>
        </p:spPr>
        <p:txBody>
          <a:bodyPr wrap="square">
            <a:spAutoFit/>
          </a:bodyPr>
          <a:lstStyle/>
          <a:p>
            <a:pPr algn="ctr"/>
            <a:endParaRPr lang="es-PE" b="1" dirty="0" smtClean="0">
              <a:solidFill>
                <a:srgbClr val="FF0000"/>
              </a:solidFill>
              <a:latin typeface="Arial" panose="020B0604020202020204" pitchFamily="34" charset="0"/>
              <a:cs typeface="Arial" panose="020B0604020202020204" pitchFamily="34" charset="0"/>
              <a:hlinkClick r:id="rId2"/>
            </a:endParaRPr>
          </a:p>
          <a:p>
            <a:pPr algn="ctr"/>
            <a:endParaRPr lang="es-PE" b="1" dirty="0">
              <a:solidFill>
                <a:srgbClr val="FF0000"/>
              </a:solidFill>
              <a:latin typeface="Arial" panose="020B0604020202020204" pitchFamily="34" charset="0"/>
              <a:cs typeface="Arial" panose="020B0604020202020204" pitchFamily="34" charset="0"/>
              <a:hlinkClick r:id="rId2"/>
            </a:endParaRPr>
          </a:p>
          <a:p>
            <a:endParaRPr lang="es-PE" dirty="0"/>
          </a:p>
        </p:txBody>
      </p:sp>
      <p:sp>
        <p:nvSpPr>
          <p:cNvPr id="5" name="CuadroTexto 4"/>
          <p:cNvSpPr txBox="1"/>
          <p:nvPr/>
        </p:nvSpPr>
        <p:spPr>
          <a:xfrm>
            <a:off x="488674" y="1202717"/>
            <a:ext cx="8229600" cy="1754326"/>
          </a:xfrm>
          <a:prstGeom prst="rect">
            <a:avLst/>
          </a:prstGeom>
          <a:noFill/>
        </p:spPr>
        <p:txBody>
          <a:bodyPr wrap="square" rtlCol="0">
            <a:spAutoFit/>
          </a:bodyPr>
          <a:lstStyle/>
          <a:p>
            <a:pPr algn="ctr"/>
            <a:r>
              <a:rPr lang="es-PE" b="1" dirty="0" smtClean="0">
                <a:solidFill>
                  <a:srgbClr val="0033CC"/>
                </a:solidFill>
                <a:latin typeface="Arial" panose="020B0604020202020204" pitchFamily="34" charset="0"/>
                <a:cs typeface="Arial" panose="020B0604020202020204" pitchFamily="34" charset="0"/>
              </a:rPr>
              <a:t>Torsión, Resistencia de Materiales</a:t>
            </a:r>
          </a:p>
          <a:p>
            <a:pPr algn="ctr"/>
            <a:r>
              <a:rPr lang="es-PE" b="1" dirty="0">
                <a:solidFill>
                  <a:srgbClr val="0033CC"/>
                </a:solidFill>
                <a:latin typeface="Arial" panose="020B0604020202020204" pitchFamily="34" charset="0"/>
                <a:cs typeface="Arial" panose="020B0604020202020204" pitchFamily="34" charset="0"/>
                <a:hlinkClick r:id="rId3"/>
              </a:rPr>
              <a:t>https://</a:t>
            </a:r>
            <a:r>
              <a:rPr lang="es-PE" b="1" dirty="0" smtClean="0">
                <a:solidFill>
                  <a:srgbClr val="0033CC"/>
                </a:solidFill>
                <a:latin typeface="Arial" panose="020B0604020202020204" pitchFamily="34" charset="0"/>
                <a:cs typeface="Arial" panose="020B0604020202020204" pitchFamily="34" charset="0"/>
                <a:hlinkClick r:id="rId3"/>
              </a:rPr>
              <a:t>www.youtube.com/watch?v=GKXPctrIzeM</a:t>
            </a:r>
            <a:endParaRPr lang="es-PE" b="1" dirty="0" smtClean="0">
              <a:solidFill>
                <a:srgbClr val="0033CC"/>
              </a:solidFill>
              <a:latin typeface="Arial" panose="020B0604020202020204" pitchFamily="34" charset="0"/>
              <a:cs typeface="Arial" panose="020B0604020202020204" pitchFamily="34" charset="0"/>
            </a:endParaRPr>
          </a:p>
          <a:p>
            <a:pPr algn="ctr"/>
            <a:endParaRPr lang="es-PE" b="1" dirty="0" smtClean="0">
              <a:solidFill>
                <a:srgbClr val="0033CC"/>
              </a:solidFill>
              <a:latin typeface="Arial" panose="020B0604020202020204" pitchFamily="34" charset="0"/>
              <a:cs typeface="Arial" panose="020B0604020202020204" pitchFamily="34" charset="0"/>
            </a:endParaRPr>
          </a:p>
          <a:p>
            <a:pPr algn="ctr"/>
            <a:r>
              <a:rPr lang="es-PE" b="1" dirty="0" smtClean="0">
                <a:solidFill>
                  <a:srgbClr val="0033CC"/>
                </a:solidFill>
                <a:latin typeface="Arial" panose="020B0604020202020204" pitchFamily="34" charset="0"/>
                <a:cs typeface="Arial" panose="020B0604020202020204" pitchFamily="34" charset="0"/>
              </a:rPr>
              <a:t>TORSIÓN Y ESFUERZOS CORTANTES: ESFUERZOS FUNDAMENTALES</a:t>
            </a:r>
          </a:p>
          <a:p>
            <a:pPr algn="ctr"/>
            <a:r>
              <a:rPr lang="es-PE" b="1" dirty="0">
                <a:latin typeface="Arial" panose="020B0604020202020204" pitchFamily="34" charset="0"/>
                <a:cs typeface="Arial" panose="020B0604020202020204" pitchFamily="34" charset="0"/>
                <a:hlinkClick r:id="rId4"/>
              </a:rPr>
              <a:t>https://</a:t>
            </a:r>
            <a:r>
              <a:rPr lang="es-PE" b="1" dirty="0" smtClean="0">
                <a:latin typeface="Arial" panose="020B0604020202020204" pitchFamily="34" charset="0"/>
                <a:cs typeface="Arial" panose="020B0604020202020204" pitchFamily="34" charset="0"/>
                <a:hlinkClick r:id="rId4"/>
              </a:rPr>
              <a:t>www.youtube.com/watch?v=fgbh0biv44s</a:t>
            </a:r>
            <a:endParaRPr lang="es-PE" b="1" dirty="0" smtClean="0">
              <a:latin typeface="Arial" panose="020B0604020202020204" pitchFamily="34" charset="0"/>
              <a:cs typeface="Arial" panose="020B0604020202020204" pitchFamily="34" charset="0"/>
            </a:endParaRPr>
          </a:p>
          <a:p>
            <a:pPr algn="ctr"/>
            <a:endParaRPr lang="es-PE" b="1" dirty="0">
              <a:latin typeface="Arial" panose="020B0604020202020204" pitchFamily="34" charset="0"/>
              <a:cs typeface="Arial" panose="020B0604020202020204" pitchFamily="34" charset="0"/>
            </a:endParaRPr>
          </a:p>
        </p:txBody>
      </p:sp>
      <p:pic>
        <p:nvPicPr>
          <p:cNvPr id="4" name="Imagen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64978" y="2924926"/>
            <a:ext cx="6476992" cy="3627116"/>
          </a:xfrm>
          <a:prstGeom prst="rect">
            <a:avLst/>
          </a:prstGeom>
        </p:spPr>
      </p:pic>
    </p:spTree>
    <p:extLst>
      <p:ext uri="{BB962C8B-B14F-4D97-AF65-F5344CB8AC3E}">
        <p14:creationId xmlns:p14="http://schemas.microsoft.com/office/powerpoint/2010/main" val="191447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TORSIÓN</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17638"/>
            <a:ext cx="9144000" cy="5440362"/>
          </a:xfrm>
        </p:spPr>
      </p:pic>
    </p:spTree>
    <p:extLst>
      <p:ext uri="{BB962C8B-B14F-4D97-AF65-F5344CB8AC3E}">
        <p14:creationId xmlns:p14="http://schemas.microsoft.com/office/powerpoint/2010/main" val="333264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ESFUERZO DE TORSIÓN</a:t>
            </a:r>
            <a:endParaRPr lang="es-PE" b="1" dirty="0">
              <a:solidFill>
                <a:srgbClr val="FF0000"/>
              </a:solidFill>
            </a:endParaRPr>
          </a:p>
        </p:txBody>
      </p:sp>
      <p:sp>
        <p:nvSpPr>
          <p:cNvPr id="3" name="Marcador de contenido 2"/>
          <p:cNvSpPr>
            <a:spLocks noGrp="1"/>
          </p:cNvSpPr>
          <p:nvPr>
            <p:ph idx="1"/>
          </p:nvPr>
        </p:nvSpPr>
        <p:spPr/>
        <p:txBody>
          <a:bodyPr/>
          <a:lstStyle/>
          <a:p>
            <a:pPr marL="0" indent="0">
              <a:buNone/>
            </a:pPr>
            <a:r>
              <a:rPr lang="es-PE" b="1" dirty="0">
                <a:solidFill>
                  <a:srgbClr val="0033CC"/>
                </a:solidFill>
              </a:rPr>
              <a:t>Se define como la capacidad </a:t>
            </a:r>
            <a:r>
              <a:rPr lang="es-PE" b="1" dirty="0" smtClean="0">
                <a:solidFill>
                  <a:srgbClr val="0033CC"/>
                </a:solidFill>
              </a:rPr>
              <a:t>de torsión </a:t>
            </a:r>
            <a:r>
              <a:rPr lang="es-PE" b="1" dirty="0">
                <a:solidFill>
                  <a:srgbClr val="0033CC"/>
                </a:solidFill>
              </a:rPr>
              <a:t>de objetos en rotación alrededor de un eje fijo. En otras palabras, es la multiplicación de la fuerza y ​​la distancia más corta entre el punto de aplicación de la fuerza y el eje fijo. De la definición, también se puede inferir que, el par es una cantidad vectorial que tiene tanto la dirección como en magnitud. Sin embargo, ya que está girando alrededor de un eje fijo de su dirección puede ser en sentido horario o </a:t>
            </a:r>
            <a:r>
              <a:rPr lang="es-PE" b="1" dirty="0" err="1">
                <a:solidFill>
                  <a:srgbClr val="0033CC"/>
                </a:solidFill>
              </a:rPr>
              <a:t>antihorario</a:t>
            </a:r>
            <a:r>
              <a:rPr lang="es-PE" b="1" dirty="0">
                <a:solidFill>
                  <a:srgbClr val="0033CC"/>
                </a:solidFill>
              </a:rPr>
              <a:t>. </a:t>
            </a:r>
            <a:r>
              <a:rPr lang="es-PE" b="1" dirty="0" smtClean="0">
                <a:solidFill>
                  <a:srgbClr val="0033CC"/>
                </a:solidFill>
              </a:rPr>
              <a:t>Se considera positivo (+) </a:t>
            </a:r>
            <a:r>
              <a:rPr lang="es-PE" b="1" dirty="0">
                <a:solidFill>
                  <a:srgbClr val="0033CC"/>
                </a:solidFill>
              </a:rPr>
              <a:t>si se gira hacia la derecha y </a:t>
            </a:r>
            <a:r>
              <a:rPr lang="es-PE" b="1" dirty="0" smtClean="0">
                <a:solidFill>
                  <a:srgbClr val="0033CC"/>
                </a:solidFill>
              </a:rPr>
              <a:t>negativo (-) si </a:t>
            </a:r>
            <a:r>
              <a:rPr lang="es-PE" b="1" dirty="0">
                <a:solidFill>
                  <a:srgbClr val="0033CC"/>
                </a:solidFill>
              </a:rPr>
              <a:t>se gira hacia la izquierda. El par se muestra en la física con el símbolo </a:t>
            </a:r>
            <a:r>
              <a:rPr lang="es-PE" b="1" dirty="0" smtClean="0">
                <a:solidFill>
                  <a:srgbClr val="0033CC"/>
                </a:solidFill>
              </a:rPr>
              <a:t>“T". </a:t>
            </a:r>
            <a:endParaRPr lang="es-PE" b="1" dirty="0">
              <a:solidFill>
                <a:srgbClr val="0033CC"/>
              </a:solidFill>
            </a:endParaRPr>
          </a:p>
        </p:txBody>
      </p:sp>
    </p:spTree>
    <p:extLst>
      <p:ext uri="{BB962C8B-B14F-4D97-AF65-F5344CB8AC3E}">
        <p14:creationId xmlns:p14="http://schemas.microsoft.com/office/powerpoint/2010/main" val="809787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solidFill>
                  <a:srgbClr val="FF0000"/>
                </a:solidFill>
              </a:rPr>
              <a:t>ESFUERZO DE TORSIÓN</a:t>
            </a:r>
            <a:endParaRPr lang="es-PE" dirty="0"/>
          </a:p>
        </p:txBody>
      </p:sp>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417638"/>
            <a:ext cx="9144000" cy="5440361"/>
          </a:xfrm>
        </p:spPr>
      </p:pic>
    </p:spTree>
    <p:extLst>
      <p:ext uri="{BB962C8B-B14F-4D97-AF65-F5344CB8AC3E}">
        <p14:creationId xmlns:p14="http://schemas.microsoft.com/office/powerpoint/2010/main" val="2037247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EJEMPLOS DE </a:t>
            </a:r>
            <a:br>
              <a:rPr lang="es-PE" b="1" dirty="0" smtClean="0">
                <a:solidFill>
                  <a:srgbClr val="FF0000"/>
                </a:solidFill>
              </a:rPr>
            </a:br>
            <a:r>
              <a:rPr lang="es-PE" b="1" dirty="0" smtClean="0">
                <a:solidFill>
                  <a:srgbClr val="FF0000"/>
                </a:solidFill>
              </a:rPr>
              <a:t>ESFUERZOS DE TORSIÓN</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17638"/>
            <a:ext cx="9144000" cy="5440362"/>
          </a:xfrm>
        </p:spPr>
      </p:pic>
    </p:spTree>
    <p:extLst>
      <p:ext uri="{BB962C8B-B14F-4D97-AF65-F5344CB8AC3E}">
        <p14:creationId xmlns:p14="http://schemas.microsoft.com/office/powerpoint/2010/main" val="1833947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922114"/>
          </a:xfrm>
        </p:spPr>
        <p:txBody>
          <a:bodyPr/>
          <a:lstStyle/>
          <a:p>
            <a:r>
              <a:rPr lang="es-PE" b="1" dirty="0" smtClean="0">
                <a:solidFill>
                  <a:srgbClr val="FF0000"/>
                </a:solidFill>
              </a:rPr>
              <a:t>DEFORMACIÓN</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96752"/>
            <a:ext cx="9144000" cy="5661248"/>
          </a:xfrm>
        </p:spPr>
      </p:pic>
    </p:spTree>
    <p:extLst>
      <p:ext uri="{BB962C8B-B14F-4D97-AF65-F5344CB8AC3E}">
        <p14:creationId xmlns:p14="http://schemas.microsoft.com/office/powerpoint/2010/main" val="2584066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solidFill>
                  <a:srgbClr val="FF0000"/>
                </a:solidFill>
              </a:rPr>
              <a:t>DEFORMACIÓN</a:t>
            </a:r>
            <a:endParaRPr lang="es-PE"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40769"/>
            <a:ext cx="9143999" cy="5517232"/>
          </a:xfrm>
        </p:spPr>
      </p:pic>
    </p:spTree>
    <p:extLst>
      <p:ext uri="{BB962C8B-B14F-4D97-AF65-F5344CB8AC3E}">
        <p14:creationId xmlns:p14="http://schemas.microsoft.com/office/powerpoint/2010/main" val="3455722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922115"/>
          </a:xfrm>
        </p:spPr>
        <p:txBody>
          <a:bodyPr/>
          <a:lstStyle/>
          <a:p>
            <a:r>
              <a:rPr lang="es-PE" b="1" dirty="0" smtClean="0">
                <a:solidFill>
                  <a:srgbClr val="FF0000"/>
                </a:solidFill>
              </a:rPr>
              <a:t>ESFUERZO</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96753"/>
            <a:ext cx="9144000" cy="5661248"/>
          </a:xfrm>
        </p:spPr>
      </p:pic>
    </p:spTree>
    <p:extLst>
      <p:ext uri="{BB962C8B-B14F-4D97-AF65-F5344CB8AC3E}">
        <p14:creationId xmlns:p14="http://schemas.microsoft.com/office/powerpoint/2010/main" val="98140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706090"/>
          </a:xfrm>
        </p:spPr>
        <p:txBody>
          <a:bodyPr/>
          <a:lstStyle/>
          <a:p>
            <a:r>
              <a:rPr lang="es-PE" b="1" dirty="0" smtClean="0">
                <a:solidFill>
                  <a:srgbClr val="FF0000"/>
                </a:solidFill>
              </a:rPr>
              <a:t>ESFUERZO CORTANTE</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24744"/>
            <a:ext cx="9144000" cy="5733256"/>
          </a:xfrm>
        </p:spPr>
      </p:pic>
    </p:spTree>
    <p:extLst>
      <p:ext uri="{BB962C8B-B14F-4D97-AF65-F5344CB8AC3E}">
        <p14:creationId xmlns:p14="http://schemas.microsoft.com/office/powerpoint/2010/main" val="1163991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solidFill>
                  <a:srgbClr val="FF0000"/>
                </a:solidFill>
              </a:rPr>
              <a:t>ESFUERZO CORTANTE</a:t>
            </a:r>
            <a:endParaRPr lang="es-PE" dirty="0"/>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5328" y="1712908"/>
            <a:ext cx="4873344" cy="5145092"/>
          </a:xfrm>
        </p:spPr>
      </p:pic>
    </p:spTree>
    <p:extLst>
      <p:ext uri="{BB962C8B-B14F-4D97-AF65-F5344CB8AC3E}">
        <p14:creationId xmlns:p14="http://schemas.microsoft.com/office/powerpoint/2010/main" val="335289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ESFUERZO TORSIONAL MÁXIMO</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40768"/>
            <a:ext cx="9144000" cy="5440362"/>
          </a:xfrm>
        </p:spPr>
      </p:pic>
    </p:spTree>
    <p:extLst>
      <p:ext uri="{BB962C8B-B14F-4D97-AF65-F5344CB8AC3E}">
        <p14:creationId xmlns:p14="http://schemas.microsoft.com/office/powerpoint/2010/main" val="3757935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67544" y="1340768"/>
            <a:ext cx="8229600" cy="4032448"/>
          </a:xfrm>
        </p:spPr>
        <p:txBody>
          <a:bodyPr/>
          <a:lstStyle/>
          <a:p>
            <a:pPr marL="0" indent="0" algn="ctr">
              <a:lnSpc>
                <a:spcPct val="150000"/>
              </a:lnSpc>
              <a:buNone/>
            </a:pPr>
            <a:r>
              <a:rPr lang="es-PE" sz="5400" b="1" dirty="0">
                <a:solidFill>
                  <a:srgbClr val="FF0000"/>
                </a:solidFill>
                <a:latin typeface="AR JULIAN" panose="02000000000000000000" pitchFamily="2" charset="0"/>
              </a:rPr>
              <a:t>ESFUERZOS CORTANTES </a:t>
            </a:r>
            <a:r>
              <a:rPr lang="es-PE" sz="5400" b="1" dirty="0" smtClean="0">
                <a:solidFill>
                  <a:srgbClr val="FF0000"/>
                </a:solidFill>
                <a:latin typeface="AR JULIAN" panose="02000000000000000000" pitchFamily="2" charset="0"/>
              </a:rPr>
              <a:t>EN EJES</a:t>
            </a:r>
            <a:r>
              <a:rPr lang="es-PE" sz="5400" b="1" dirty="0">
                <a:solidFill>
                  <a:srgbClr val="FF0000"/>
                </a:solidFill>
                <a:latin typeface="AR JULIAN" panose="02000000000000000000" pitchFamily="2" charset="0"/>
              </a:rPr>
              <a:t>: </a:t>
            </a:r>
            <a:endParaRPr lang="es-PE" sz="5400" b="1" dirty="0" smtClean="0">
              <a:solidFill>
                <a:srgbClr val="FF0000"/>
              </a:solidFill>
              <a:latin typeface="AR JULIAN" panose="02000000000000000000" pitchFamily="2" charset="0"/>
            </a:endParaRPr>
          </a:p>
          <a:p>
            <a:pPr marL="0" indent="0" algn="ctr">
              <a:lnSpc>
                <a:spcPct val="150000"/>
              </a:lnSpc>
              <a:buNone/>
            </a:pPr>
            <a:r>
              <a:rPr lang="es-PE" sz="5400" b="1" dirty="0" smtClean="0">
                <a:solidFill>
                  <a:srgbClr val="FF0000"/>
                </a:solidFill>
                <a:latin typeface="AR JULIAN" panose="02000000000000000000" pitchFamily="2" charset="0"/>
              </a:rPr>
              <a:t>MACIZOS </a:t>
            </a:r>
            <a:r>
              <a:rPr lang="es-PE" sz="5400" b="1" dirty="0">
                <a:solidFill>
                  <a:srgbClr val="FF0000"/>
                </a:solidFill>
                <a:latin typeface="AR JULIAN" panose="02000000000000000000" pitchFamily="2" charset="0"/>
              </a:rPr>
              <a:t>Y HUECOS</a:t>
            </a:r>
            <a:endParaRPr lang="es-PE" sz="5400" dirty="0">
              <a:latin typeface="AR JULIAN" panose="02000000000000000000" pitchFamily="2" charset="0"/>
            </a:endParaRPr>
          </a:p>
        </p:txBody>
      </p:sp>
    </p:spTree>
    <p:extLst>
      <p:ext uri="{BB962C8B-B14F-4D97-AF65-F5344CB8AC3E}">
        <p14:creationId xmlns:p14="http://schemas.microsoft.com/office/powerpoint/2010/main" val="50964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EJERCICIO N° 1</a:t>
            </a:r>
            <a:endParaRPr lang="es-PE" b="1" dirty="0">
              <a:solidFill>
                <a:srgbClr val="FF0000"/>
              </a:solidFill>
            </a:endParaRPr>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84784"/>
            <a:ext cx="9144000" cy="5373215"/>
          </a:xfrm>
        </p:spPr>
      </p:pic>
    </p:spTree>
    <p:extLst>
      <p:ext uri="{BB962C8B-B14F-4D97-AF65-F5344CB8AC3E}">
        <p14:creationId xmlns:p14="http://schemas.microsoft.com/office/powerpoint/2010/main" val="3519745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922114"/>
          </a:xfrm>
        </p:spPr>
        <p:txBody>
          <a:bodyPr/>
          <a:lstStyle/>
          <a:p>
            <a:r>
              <a:rPr lang="es-PE" b="1" dirty="0" smtClean="0">
                <a:solidFill>
                  <a:srgbClr val="FF0000"/>
                </a:solidFill>
              </a:rPr>
              <a:t>a1.- COMPARACIÓN DE LOS </a:t>
            </a:r>
            <a:br>
              <a:rPr lang="es-PE" b="1" dirty="0" smtClean="0">
                <a:solidFill>
                  <a:srgbClr val="FF0000"/>
                </a:solidFill>
              </a:rPr>
            </a:br>
            <a:r>
              <a:rPr lang="es-PE" b="1" dirty="0" smtClean="0">
                <a:solidFill>
                  <a:srgbClr val="FF0000"/>
                </a:solidFill>
              </a:rPr>
              <a:t>ESFUERZOS CORTANTES</a:t>
            </a:r>
            <a:endParaRPr lang="es-PE" dirty="0"/>
          </a:p>
        </p:txBody>
      </p:sp>
      <p:sp>
        <p:nvSpPr>
          <p:cNvPr id="3" name="Marcador de contenido 2"/>
          <p:cNvSpPr>
            <a:spLocks noGrp="1"/>
          </p:cNvSpPr>
          <p:nvPr>
            <p:ph idx="1"/>
          </p:nvPr>
        </p:nvSpPr>
        <p:spPr>
          <a:xfrm>
            <a:off x="457200" y="1412776"/>
            <a:ext cx="8229600" cy="5328592"/>
          </a:xfrm>
        </p:spPr>
        <p:txBody>
          <a:bodyPr/>
          <a:lstStyle/>
          <a:p>
            <a:pPr marL="0" indent="0">
              <a:buNone/>
            </a:pPr>
            <a:r>
              <a:rPr lang="es-PE" b="1" dirty="0" smtClean="0">
                <a:solidFill>
                  <a:srgbClr val="0033CC"/>
                </a:solidFill>
              </a:rPr>
              <a:t>Los esfuerzos cortantes máximos, dados por la fórmula de la torsión, son proporcionales a 1 / </a:t>
            </a:r>
            <a:r>
              <a:rPr lang="es-PE" b="1" dirty="0" err="1" smtClean="0">
                <a:solidFill>
                  <a:srgbClr val="0033CC"/>
                </a:solidFill>
              </a:rPr>
              <a:t>I</a:t>
            </a:r>
            <a:r>
              <a:rPr lang="es-PE" sz="2000" b="1" dirty="0" err="1" smtClean="0">
                <a:solidFill>
                  <a:srgbClr val="0033CC"/>
                </a:solidFill>
              </a:rPr>
              <a:t>p</a:t>
            </a:r>
            <a:r>
              <a:rPr lang="es-PE" b="1" dirty="0" smtClean="0">
                <a:solidFill>
                  <a:srgbClr val="0033CC"/>
                </a:solidFill>
              </a:rPr>
              <a:t> ya que los pares de torsión y los radios son los mismos. Para el eje hueco obtenemos:</a:t>
            </a:r>
          </a:p>
          <a:p>
            <a:pPr marL="0" indent="0">
              <a:buNone/>
            </a:pPr>
            <a:endParaRPr lang="es-PE" dirty="0"/>
          </a:p>
          <a:p>
            <a:pPr marL="0" indent="0">
              <a:buNone/>
            </a:pPr>
            <a:endParaRPr lang="es-PE" dirty="0" smtClean="0"/>
          </a:p>
          <a:p>
            <a:pPr marL="0" indent="0">
              <a:buNone/>
            </a:pPr>
            <a:endParaRPr lang="es-PE" dirty="0"/>
          </a:p>
          <a:p>
            <a:pPr marL="0" indent="0">
              <a:buNone/>
            </a:pPr>
            <a:endParaRPr lang="es-PE" b="1" dirty="0" smtClean="0">
              <a:solidFill>
                <a:srgbClr val="0033CC"/>
              </a:solidFill>
            </a:endParaRPr>
          </a:p>
          <a:p>
            <a:pPr marL="0" indent="0">
              <a:buNone/>
            </a:pPr>
            <a:r>
              <a:rPr lang="es-PE" b="1" dirty="0" smtClean="0">
                <a:solidFill>
                  <a:srgbClr val="0033CC"/>
                </a:solidFill>
              </a:rPr>
              <a:t>y para el eje sólido:</a:t>
            </a:r>
            <a:endParaRPr lang="es-PE" b="1" dirty="0">
              <a:solidFill>
                <a:srgbClr val="0033CC"/>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3068960"/>
            <a:ext cx="5256584" cy="1440160"/>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5301208"/>
            <a:ext cx="4248472" cy="1224136"/>
          </a:xfrm>
          <a:prstGeom prst="rect">
            <a:avLst/>
          </a:prstGeom>
        </p:spPr>
      </p:pic>
    </p:spTree>
    <p:extLst>
      <p:ext uri="{BB962C8B-B14F-4D97-AF65-F5344CB8AC3E}">
        <p14:creationId xmlns:p14="http://schemas.microsoft.com/office/powerpoint/2010/main" val="842491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354162"/>
          </a:xfrm>
        </p:spPr>
        <p:txBody>
          <a:bodyPr/>
          <a:lstStyle/>
          <a:p>
            <a:r>
              <a:rPr lang="es-PE" b="1" dirty="0" smtClean="0">
                <a:solidFill>
                  <a:srgbClr val="FF0000"/>
                </a:solidFill>
              </a:rPr>
              <a:t>a1.- </a:t>
            </a:r>
            <a:r>
              <a:rPr lang="es-PE" b="1" dirty="0">
                <a:solidFill>
                  <a:srgbClr val="FF0000"/>
                </a:solidFill>
              </a:rPr>
              <a:t>COMPARACIÓN DE LOS </a:t>
            </a:r>
            <a:br>
              <a:rPr lang="es-PE" b="1" dirty="0">
                <a:solidFill>
                  <a:srgbClr val="FF0000"/>
                </a:solidFill>
              </a:rPr>
            </a:br>
            <a:r>
              <a:rPr lang="es-PE" b="1" dirty="0">
                <a:solidFill>
                  <a:srgbClr val="FF0000"/>
                </a:solidFill>
              </a:rPr>
              <a:t>ESFUERZOS CORTANTES</a:t>
            </a:r>
            <a:endParaRPr lang="es-PE" dirty="0"/>
          </a:p>
        </p:txBody>
      </p:sp>
      <p:sp>
        <p:nvSpPr>
          <p:cNvPr id="3" name="Marcador de contenido 2"/>
          <p:cNvSpPr>
            <a:spLocks noGrp="1"/>
          </p:cNvSpPr>
          <p:nvPr>
            <p:ph idx="1"/>
          </p:nvPr>
        </p:nvSpPr>
        <p:spPr>
          <a:xfrm>
            <a:off x="457200" y="1988840"/>
            <a:ext cx="8229600" cy="4536504"/>
          </a:xfrm>
        </p:spPr>
        <p:txBody>
          <a:bodyPr/>
          <a:lstStyle/>
          <a:p>
            <a:pPr marL="0" indent="0">
              <a:buNone/>
            </a:pPr>
            <a:r>
              <a:rPr lang="es-PE" b="1" dirty="0" smtClean="0">
                <a:solidFill>
                  <a:srgbClr val="0033CC"/>
                </a:solidFill>
              </a:rPr>
              <a:t>Por tanto, la razón B</a:t>
            </a:r>
            <a:r>
              <a:rPr lang="es-PE" sz="1800" b="1" dirty="0" smtClean="0">
                <a:solidFill>
                  <a:srgbClr val="0033CC"/>
                </a:solidFill>
              </a:rPr>
              <a:t>1 </a:t>
            </a:r>
            <a:r>
              <a:rPr lang="es-PE" b="1" dirty="0" smtClean="0">
                <a:solidFill>
                  <a:srgbClr val="0033CC"/>
                </a:solidFill>
              </a:rPr>
              <a:t>entre el esfuerzo cortante máximo en el eje hueco y en el eje sólido es:</a:t>
            </a:r>
          </a:p>
          <a:p>
            <a:pPr marL="0" indent="0">
              <a:buNone/>
            </a:pPr>
            <a:endParaRPr lang="es-PE" dirty="0" smtClean="0"/>
          </a:p>
          <a:p>
            <a:pPr marL="0" indent="0">
              <a:buNone/>
            </a:pPr>
            <a:endParaRPr lang="es-PE" dirty="0" smtClean="0"/>
          </a:p>
          <a:p>
            <a:pPr marL="0" indent="0">
              <a:buNone/>
            </a:pPr>
            <a:endParaRPr lang="es-PE" dirty="0"/>
          </a:p>
          <a:p>
            <a:pPr marL="0" indent="0">
              <a:buNone/>
            </a:pPr>
            <a:endParaRPr lang="es-PE" b="1" dirty="0" smtClean="0">
              <a:solidFill>
                <a:srgbClr val="0033CC"/>
              </a:solidFill>
            </a:endParaRPr>
          </a:p>
          <a:p>
            <a:pPr marL="0" indent="0">
              <a:buNone/>
            </a:pPr>
            <a:endParaRPr lang="es-PE" b="1" dirty="0" smtClean="0">
              <a:solidFill>
                <a:srgbClr val="0033CC"/>
              </a:solidFill>
            </a:endParaRPr>
          </a:p>
          <a:p>
            <a:pPr marL="0" indent="0">
              <a:buNone/>
            </a:pPr>
            <a:r>
              <a:rPr lang="es-PE" b="1" dirty="0" smtClean="0">
                <a:solidFill>
                  <a:srgbClr val="0033CC"/>
                </a:solidFill>
              </a:rPr>
              <a:t>donde los subíndices H y S se refieren al eje hueco y al sólido, respectivamente.</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3140968"/>
            <a:ext cx="5472608" cy="1512168"/>
          </a:xfrm>
          <a:prstGeom prst="rect">
            <a:avLst/>
          </a:prstGeom>
        </p:spPr>
      </p:pic>
    </p:spTree>
    <p:extLst>
      <p:ext uri="{BB962C8B-B14F-4D97-AF65-F5344CB8AC3E}">
        <p14:creationId xmlns:p14="http://schemas.microsoft.com/office/powerpoint/2010/main" val="3717947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a2.- COMPARACIÓN DE LOS </a:t>
            </a:r>
            <a:br>
              <a:rPr lang="es-PE" b="1" dirty="0" smtClean="0">
                <a:solidFill>
                  <a:srgbClr val="FF0000"/>
                </a:solidFill>
              </a:rPr>
            </a:br>
            <a:r>
              <a:rPr lang="es-PE" b="1" dirty="0" smtClean="0">
                <a:solidFill>
                  <a:srgbClr val="FF0000"/>
                </a:solidFill>
              </a:rPr>
              <a:t>ANGULOS DE TORSIÓN</a:t>
            </a:r>
            <a:endParaRPr lang="es-PE" dirty="0"/>
          </a:p>
        </p:txBody>
      </p:sp>
      <p:sp>
        <p:nvSpPr>
          <p:cNvPr id="3" name="Marcador de contenido 2"/>
          <p:cNvSpPr>
            <a:spLocks noGrp="1"/>
          </p:cNvSpPr>
          <p:nvPr>
            <p:ph idx="1"/>
          </p:nvPr>
        </p:nvSpPr>
        <p:spPr/>
        <p:txBody>
          <a:bodyPr/>
          <a:lstStyle/>
          <a:p>
            <a:pPr marL="0" indent="0">
              <a:buNone/>
            </a:pPr>
            <a:r>
              <a:rPr lang="es-PE" b="1" dirty="0" smtClean="0">
                <a:solidFill>
                  <a:srgbClr val="0033CC"/>
                </a:solidFill>
              </a:rPr>
              <a:t>Los </a:t>
            </a:r>
            <a:r>
              <a:rPr lang="es-PE" b="1" dirty="0">
                <a:solidFill>
                  <a:srgbClr val="0033CC"/>
                </a:solidFill>
              </a:rPr>
              <a:t>ángulos de torsión también son proporcionales a 1 / </a:t>
            </a:r>
            <a:r>
              <a:rPr lang="es-PE" b="1" dirty="0" err="1">
                <a:solidFill>
                  <a:srgbClr val="0033CC"/>
                </a:solidFill>
              </a:rPr>
              <a:t>I</a:t>
            </a:r>
            <a:r>
              <a:rPr lang="es-PE" sz="2000" b="1" dirty="0" err="1">
                <a:solidFill>
                  <a:srgbClr val="0033CC"/>
                </a:solidFill>
              </a:rPr>
              <a:t>p</a:t>
            </a:r>
            <a:r>
              <a:rPr lang="es-PE" b="1" dirty="0">
                <a:solidFill>
                  <a:srgbClr val="0033CC"/>
                </a:solidFill>
              </a:rPr>
              <a:t>, debido a que los pares de torsión T, las longitudes L y los módulos de elasticidad G son los mismos para los dos ejes. Por tanto, su razón es la misma que para los esfuerzos cortantes.</a:t>
            </a:r>
          </a:p>
          <a:p>
            <a:pPr marL="0" indent="0">
              <a:buNone/>
            </a:pPr>
            <a:endParaRPr lang="es-PE"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3789040"/>
            <a:ext cx="5040560" cy="2337123"/>
          </a:xfrm>
          <a:prstGeom prst="rect">
            <a:avLst/>
          </a:prstGeom>
        </p:spPr>
      </p:pic>
    </p:spTree>
    <p:extLst>
      <p:ext uri="{BB962C8B-B14F-4D97-AF65-F5344CB8AC3E}">
        <p14:creationId xmlns:p14="http://schemas.microsoft.com/office/powerpoint/2010/main" val="104635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16632"/>
            <a:ext cx="8229600" cy="1143000"/>
          </a:xfrm>
        </p:spPr>
        <p:txBody>
          <a:bodyPr/>
          <a:lstStyle/>
          <a:p>
            <a:r>
              <a:rPr lang="es-PE" b="1" dirty="0" smtClean="0">
                <a:solidFill>
                  <a:srgbClr val="FF0000"/>
                </a:solidFill>
              </a:rPr>
              <a:t>a3.- COMPARACIÓN DE LOS PESOS</a:t>
            </a:r>
            <a:endParaRPr lang="es-PE" b="1" dirty="0">
              <a:solidFill>
                <a:srgbClr val="FF0000"/>
              </a:solidFill>
            </a:endParaRPr>
          </a:p>
        </p:txBody>
      </p:sp>
      <p:sp>
        <p:nvSpPr>
          <p:cNvPr id="3" name="Marcador de contenido 2"/>
          <p:cNvSpPr>
            <a:spLocks noGrp="1"/>
          </p:cNvSpPr>
          <p:nvPr>
            <p:ph idx="1"/>
          </p:nvPr>
        </p:nvSpPr>
        <p:spPr>
          <a:xfrm>
            <a:off x="432404" y="1259632"/>
            <a:ext cx="8229600" cy="5121696"/>
          </a:xfrm>
        </p:spPr>
        <p:txBody>
          <a:bodyPr/>
          <a:lstStyle/>
          <a:p>
            <a:pPr marL="0" indent="0">
              <a:buNone/>
            </a:pPr>
            <a:r>
              <a:rPr lang="es-PE" b="1" dirty="0" smtClean="0">
                <a:solidFill>
                  <a:srgbClr val="0033CC"/>
                </a:solidFill>
              </a:rPr>
              <a:t>Los pesos de los ejes son proporcionales a las áreas de sus secciones transversales, en consecuencia, el peso del eje sólido es proporcional a </a:t>
            </a:r>
            <a:r>
              <a:rPr lang="el-GR" b="1" dirty="0">
                <a:solidFill>
                  <a:srgbClr val="FF0000"/>
                </a:solidFill>
              </a:rPr>
              <a:t>π</a:t>
            </a:r>
            <a:r>
              <a:rPr lang="es-PE" b="1" dirty="0" smtClean="0">
                <a:solidFill>
                  <a:srgbClr val="FF0000"/>
                </a:solidFill>
              </a:rPr>
              <a:t>R</a:t>
            </a:r>
            <a:r>
              <a:rPr lang="es-PE" b="1" baseline="30000" dirty="0" smtClean="0">
                <a:solidFill>
                  <a:srgbClr val="FF0000"/>
                </a:solidFill>
              </a:rPr>
              <a:t>2  </a:t>
            </a:r>
            <a:r>
              <a:rPr lang="es-PE" b="1" dirty="0" smtClean="0">
                <a:solidFill>
                  <a:srgbClr val="0033CC"/>
                </a:solidFill>
              </a:rPr>
              <a:t>y el peso del eje hueco es proporcional a:</a:t>
            </a:r>
          </a:p>
          <a:p>
            <a:pPr marL="0" indent="0">
              <a:buNone/>
            </a:pPr>
            <a:endParaRPr lang="es-PE" dirty="0" smtClean="0"/>
          </a:p>
          <a:p>
            <a:pPr marL="0" indent="0">
              <a:buNone/>
            </a:pPr>
            <a:endParaRPr lang="es-PE" dirty="0"/>
          </a:p>
          <a:p>
            <a:pPr marL="0" indent="0">
              <a:buNone/>
            </a:pPr>
            <a:r>
              <a:rPr lang="es-PE" b="1" dirty="0" smtClean="0">
                <a:solidFill>
                  <a:srgbClr val="0033CC"/>
                </a:solidFill>
              </a:rPr>
              <a:t>Por tanto, la razón entre peso del eje hueco y el peso del eje sólido es:</a:t>
            </a:r>
            <a:endParaRPr lang="es-PE" b="1" dirty="0">
              <a:solidFill>
                <a:srgbClr val="0033CC"/>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1" y="2852936"/>
            <a:ext cx="5040560" cy="792088"/>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1" y="4653136"/>
            <a:ext cx="5040560" cy="1584176"/>
          </a:xfrm>
          <a:prstGeom prst="rect">
            <a:avLst/>
          </a:prstGeom>
        </p:spPr>
      </p:pic>
    </p:spTree>
    <p:extLst>
      <p:ext uri="{BB962C8B-B14F-4D97-AF65-F5344CB8AC3E}">
        <p14:creationId xmlns:p14="http://schemas.microsoft.com/office/powerpoint/2010/main" val="961083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solidFill>
                  <a:srgbClr val="FF0000"/>
                </a:solidFill>
              </a:rPr>
              <a:t>a3.- COMPARACIÓN DE LOS PESOS</a:t>
            </a:r>
            <a:endParaRPr lang="es-PE" dirty="0"/>
          </a:p>
        </p:txBody>
      </p:sp>
      <p:sp>
        <p:nvSpPr>
          <p:cNvPr id="3" name="Marcador de contenido 2"/>
          <p:cNvSpPr>
            <a:spLocks noGrp="1"/>
          </p:cNvSpPr>
          <p:nvPr>
            <p:ph idx="1"/>
          </p:nvPr>
        </p:nvSpPr>
        <p:spPr>
          <a:xfrm>
            <a:off x="457200" y="1417639"/>
            <a:ext cx="8229600" cy="1939354"/>
          </a:xfrm>
        </p:spPr>
        <p:txBody>
          <a:bodyPr/>
          <a:lstStyle/>
          <a:p>
            <a:pPr marL="0" indent="0">
              <a:buNone/>
            </a:pPr>
            <a:r>
              <a:rPr lang="es-PE" b="1" dirty="0" smtClean="0">
                <a:solidFill>
                  <a:srgbClr val="0033CC"/>
                </a:solidFill>
              </a:rPr>
              <a:t>De las razones anteriores observamos de nuevo la ventaja inherente de los ejes huecos. En este ejemplo el eje hueco tiene un esfuerzo 15% mayor y un </a:t>
            </a:r>
            <a:r>
              <a:rPr lang="es-PE" b="1" dirty="0">
                <a:solidFill>
                  <a:srgbClr val="0033CC"/>
                </a:solidFill>
              </a:rPr>
              <a:t>á</a:t>
            </a:r>
            <a:r>
              <a:rPr lang="es-PE" b="1" dirty="0" smtClean="0">
                <a:solidFill>
                  <a:srgbClr val="0033CC"/>
                </a:solidFill>
              </a:rPr>
              <a:t>ngulo de rotación 15% mayor que el eje sólido, pero 36% menos peso.</a:t>
            </a:r>
            <a:endParaRPr lang="es-PE" b="1" dirty="0">
              <a:solidFill>
                <a:srgbClr val="0033CC"/>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3645024"/>
            <a:ext cx="5040560" cy="2963992"/>
          </a:xfrm>
          <a:prstGeom prst="rect">
            <a:avLst/>
          </a:prstGeom>
        </p:spPr>
      </p:pic>
    </p:spTree>
    <p:extLst>
      <p:ext uri="{BB962C8B-B14F-4D97-AF65-F5344CB8AC3E}">
        <p14:creationId xmlns:p14="http://schemas.microsoft.com/office/powerpoint/2010/main" val="39250967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solidFill>
                  <a:srgbClr val="FF0000"/>
                </a:solidFill>
              </a:rPr>
              <a:t>b.- Razones entre resistencia y peso </a:t>
            </a:r>
            <a:br>
              <a:rPr lang="es-PE" b="1" dirty="0" smtClean="0">
                <a:solidFill>
                  <a:srgbClr val="FF0000"/>
                </a:solidFill>
              </a:rPr>
            </a:br>
            <a:r>
              <a:rPr lang="es-PE" b="1" dirty="0" smtClean="0">
                <a:solidFill>
                  <a:srgbClr val="FF0000"/>
                </a:solidFill>
              </a:rPr>
              <a:t>de los ejes</a:t>
            </a:r>
            <a:endParaRPr lang="es-PE" b="1" dirty="0">
              <a:solidFill>
                <a:srgbClr val="FF0000"/>
              </a:solidFill>
            </a:endParaRPr>
          </a:p>
        </p:txBody>
      </p:sp>
      <p:sp>
        <p:nvSpPr>
          <p:cNvPr id="3" name="Marcador de contenido 2"/>
          <p:cNvSpPr>
            <a:spLocks noGrp="1"/>
          </p:cNvSpPr>
          <p:nvPr>
            <p:ph idx="1"/>
          </p:nvPr>
        </p:nvSpPr>
        <p:spPr/>
        <p:txBody>
          <a:bodyPr/>
          <a:lstStyle/>
          <a:p>
            <a:pPr marL="0" indent="0">
              <a:buNone/>
            </a:pPr>
            <a:r>
              <a:rPr lang="es-PE" b="1" dirty="0" smtClean="0">
                <a:solidFill>
                  <a:srgbClr val="0033CC"/>
                </a:solidFill>
              </a:rPr>
              <a:t>Algunas veces la eficiencia relativa de una estructura se mide por su razón entre resistencia y peso, que para una barra en torsión se define como el par de torsión permisible dividido entre el peso. El par de torsión permisible para el eje hueco de la figura es:</a:t>
            </a:r>
          </a:p>
          <a:p>
            <a:pPr marL="0" indent="0">
              <a:buNone/>
            </a:pPr>
            <a:endParaRPr lang="es-PE"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4037931"/>
            <a:ext cx="6984776" cy="2088232"/>
          </a:xfrm>
          <a:prstGeom prst="rect">
            <a:avLst/>
          </a:prstGeom>
        </p:spPr>
      </p:pic>
    </p:spTree>
    <p:extLst>
      <p:ext uri="{BB962C8B-B14F-4D97-AF65-F5344CB8AC3E}">
        <p14:creationId xmlns:p14="http://schemas.microsoft.com/office/powerpoint/2010/main" val="1041787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88640"/>
            <a:ext cx="8229600" cy="1143000"/>
          </a:xfrm>
        </p:spPr>
        <p:txBody>
          <a:bodyPr/>
          <a:lstStyle/>
          <a:p>
            <a:r>
              <a:rPr lang="es-PE" b="1" dirty="0">
                <a:solidFill>
                  <a:srgbClr val="FF0000"/>
                </a:solidFill>
              </a:rPr>
              <a:t>b.- Razones entre resistencia y peso </a:t>
            </a:r>
            <a:br>
              <a:rPr lang="es-PE" b="1" dirty="0">
                <a:solidFill>
                  <a:srgbClr val="FF0000"/>
                </a:solidFill>
              </a:rPr>
            </a:br>
            <a:r>
              <a:rPr lang="es-PE" b="1" dirty="0">
                <a:solidFill>
                  <a:srgbClr val="FF0000"/>
                </a:solidFill>
              </a:rPr>
              <a:t>de los </a:t>
            </a:r>
            <a:r>
              <a:rPr lang="es-PE" b="1" dirty="0" smtClean="0">
                <a:solidFill>
                  <a:srgbClr val="FF0000"/>
                </a:solidFill>
              </a:rPr>
              <a:t>ejes</a:t>
            </a:r>
            <a:endParaRPr lang="es-PE" dirty="0"/>
          </a:p>
        </p:txBody>
      </p:sp>
      <p:sp>
        <p:nvSpPr>
          <p:cNvPr id="3" name="Marcador de contenido 2"/>
          <p:cNvSpPr>
            <a:spLocks noGrp="1"/>
          </p:cNvSpPr>
          <p:nvPr>
            <p:ph idx="1"/>
          </p:nvPr>
        </p:nvSpPr>
        <p:spPr>
          <a:xfrm>
            <a:off x="457200" y="1340986"/>
            <a:ext cx="8229600" cy="5256366"/>
          </a:xfrm>
        </p:spPr>
        <p:txBody>
          <a:bodyPr/>
          <a:lstStyle/>
          <a:p>
            <a:pPr marL="0" indent="0">
              <a:buNone/>
            </a:pPr>
            <a:r>
              <a:rPr lang="es-PE" b="1" dirty="0" smtClean="0">
                <a:solidFill>
                  <a:srgbClr val="0033CC"/>
                </a:solidFill>
              </a:rPr>
              <a:t>y para el eje sólido es:</a:t>
            </a:r>
          </a:p>
          <a:p>
            <a:pPr marL="0" indent="0">
              <a:buNone/>
            </a:pPr>
            <a:endParaRPr lang="es-PE" dirty="0" smtClean="0"/>
          </a:p>
          <a:p>
            <a:pPr marL="0" indent="0">
              <a:buNone/>
            </a:pPr>
            <a:endParaRPr lang="es-PE" dirty="0"/>
          </a:p>
          <a:p>
            <a:pPr marL="0" indent="0">
              <a:buNone/>
            </a:pPr>
            <a:endParaRPr lang="es-PE" dirty="0" smtClean="0"/>
          </a:p>
          <a:p>
            <a:pPr marL="0" indent="0">
              <a:buNone/>
            </a:pPr>
            <a:endParaRPr lang="es-PE" dirty="0"/>
          </a:p>
          <a:p>
            <a:pPr marL="0" indent="0">
              <a:buNone/>
            </a:pPr>
            <a:r>
              <a:rPr lang="es-PE" b="1" dirty="0" smtClean="0">
                <a:solidFill>
                  <a:srgbClr val="0033CC"/>
                </a:solidFill>
              </a:rPr>
              <a:t>Los pesos de los ejes son iguales a las áreas de sus secciones transversales multiplicadas por su longitud L y por el peso específico (</a:t>
            </a:r>
            <a:r>
              <a:rPr lang="el-GR" b="1" dirty="0" smtClean="0">
                <a:solidFill>
                  <a:srgbClr val="0033CC"/>
                </a:solidFill>
              </a:rPr>
              <a:t>γ</a:t>
            </a:r>
            <a:r>
              <a:rPr lang="es-PE" b="1" dirty="0" smtClean="0">
                <a:solidFill>
                  <a:srgbClr val="0033CC"/>
                </a:solidFill>
              </a:rPr>
              <a:t>) del material:</a:t>
            </a:r>
          </a:p>
          <a:p>
            <a:pPr marL="0" indent="0">
              <a:buNone/>
            </a:pPr>
            <a:endParaRPr lang="es-PE"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916832"/>
            <a:ext cx="5688632" cy="1584176"/>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5" y="4869160"/>
            <a:ext cx="5688632" cy="1584176"/>
          </a:xfrm>
          <a:prstGeom prst="rect">
            <a:avLst/>
          </a:prstGeom>
        </p:spPr>
      </p:pic>
    </p:spTree>
    <p:extLst>
      <p:ext uri="{BB962C8B-B14F-4D97-AF65-F5344CB8AC3E}">
        <p14:creationId xmlns:p14="http://schemas.microsoft.com/office/powerpoint/2010/main" val="342647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solidFill>
                  <a:srgbClr val="FF0000"/>
                </a:solidFill>
              </a:rPr>
              <a:t>b.- Razones entre resistencia y peso </a:t>
            </a:r>
            <a:br>
              <a:rPr lang="es-PE" b="1" dirty="0">
                <a:solidFill>
                  <a:srgbClr val="FF0000"/>
                </a:solidFill>
              </a:rPr>
            </a:br>
            <a:r>
              <a:rPr lang="es-PE" b="1" dirty="0">
                <a:solidFill>
                  <a:srgbClr val="FF0000"/>
                </a:solidFill>
              </a:rPr>
              <a:t>de los </a:t>
            </a:r>
            <a:r>
              <a:rPr lang="es-PE" b="1" dirty="0" smtClean="0">
                <a:solidFill>
                  <a:srgbClr val="FF0000"/>
                </a:solidFill>
              </a:rPr>
              <a:t>ejes</a:t>
            </a:r>
            <a:endParaRPr lang="es-PE" dirty="0"/>
          </a:p>
        </p:txBody>
      </p:sp>
      <p:sp>
        <p:nvSpPr>
          <p:cNvPr id="3" name="Marcador de contenido 2"/>
          <p:cNvSpPr>
            <a:spLocks noGrp="1"/>
          </p:cNvSpPr>
          <p:nvPr>
            <p:ph idx="1"/>
          </p:nvPr>
        </p:nvSpPr>
        <p:spPr>
          <a:xfrm>
            <a:off x="457200" y="1600200"/>
            <a:ext cx="8229600" cy="4997152"/>
          </a:xfrm>
        </p:spPr>
        <p:txBody>
          <a:bodyPr/>
          <a:lstStyle/>
          <a:p>
            <a:pPr marL="0" indent="0">
              <a:buNone/>
            </a:pPr>
            <a:r>
              <a:rPr lang="es-PE" b="1" dirty="0" smtClean="0">
                <a:solidFill>
                  <a:srgbClr val="0033CC"/>
                </a:solidFill>
              </a:rPr>
              <a:t>Entonces, las razones entre resistencia y peso, </a:t>
            </a:r>
            <a:r>
              <a:rPr lang="es-PE" b="1" dirty="0">
                <a:solidFill>
                  <a:srgbClr val="0033CC"/>
                </a:solidFill>
              </a:rPr>
              <a:t>S</a:t>
            </a:r>
            <a:r>
              <a:rPr lang="es-PE" b="1" baseline="-25000" dirty="0">
                <a:solidFill>
                  <a:srgbClr val="0033CC"/>
                </a:solidFill>
              </a:rPr>
              <a:t>H</a:t>
            </a:r>
            <a:r>
              <a:rPr lang="es-PE" b="1" dirty="0">
                <a:solidFill>
                  <a:srgbClr val="0033CC"/>
                </a:solidFill>
              </a:rPr>
              <a:t> y S</a:t>
            </a:r>
            <a:r>
              <a:rPr lang="es-PE" b="1" baseline="-25000" dirty="0">
                <a:solidFill>
                  <a:srgbClr val="0033CC"/>
                </a:solidFill>
              </a:rPr>
              <a:t>S</a:t>
            </a:r>
            <a:r>
              <a:rPr lang="es-PE" b="1" dirty="0">
                <a:solidFill>
                  <a:srgbClr val="0033CC"/>
                </a:solidFill>
              </a:rPr>
              <a:t> </a:t>
            </a:r>
            <a:r>
              <a:rPr lang="es-PE" b="1" dirty="0" smtClean="0">
                <a:solidFill>
                  <a:srgbClr val="0033CC"/>
                </a:solidFill>
              </a:rPr>
              <a:t>paras las barras hueca y sólida, respectivamente, son:</a:t>
            </a:r>
          </a:p>
          <a:p>
            <a:pPr marL="0" indent="0">
              <a:buNone/>
            </a:pPr>
            <a:endParaRPr lang="es-PE" dirty="0"/>
          </a:p>
          <a:p>
            <a:pPr marL="0" indent="0">
              <a:buNone/>
            </a:pPr>
            <a:endParaRPr lang="es-PE" dirty="0" smtClean="0"/>
          </a:p>
          <a:p>
            <a:pPr marL="0" indent="0">
              <a:buNone/>
            </a:pPr>
            <a:endParaRPr lang="es-PE" dirty="0"/>
          </a:p>
          <a:p>
            <a:pPr marL="0" indent="0">
              <a:buNone/>
            </a:pPr>
            <a:endParaRPr lang="es-PE" dirty="0" smtClean="0"/>
          </a:p>
          <a:p>
            <a:pPr marL="0" indent="0">
              <a:buNone/>
            </a:pPr>
            <a:r>
              <a:rPr lang="es-PE" b="1" dirty="0" smtClean="0">
                <a:solidFill>
                  <a:srgbClr val="0033CC"/>
                </a:solidFill>
              </a:rPr>
              <a:t>En este ejemplo la razón entre resistencia y peso del eje hueco es 36% mayor que la razón entre resistencia y peso del eje sólido, demostrando una vez más la eficiencia relativa de los ejes huecos. Para un eje más esbelto, el porcentaje aumentará; para un eje más robusto, disminuirá.</a:t>
            </a:r>
          </a:p>
          <a:p>
            <a:pPr marL="0" indent="0">
              <a:buNone/>
            </a:pPr>
            <a:endParaRPr lang="es-PE"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492896"/>
            <a:ext cx="7056784" cy="1584176"/>
          </a:xfrm>
          <a:prstGeom prst="rect">
            <a:avLst/>
          </a:prstGeom>
        </p:spPr>
      </p:pic>
    </p:spTree>
    <p:extLst>
      <p:ext uri="{BB962C8B-B14F-4D97-AF65-F5344CB8AC3E}">
        <p14:creationId xmlns:p14="http://schemas.microsoft.com/office/powerpoint/2010/main" val="3387259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175971"/>
            <a:ext cx="8229600" cy="804757"/>
          </a:xfrm>
        </p:spPr>
        <p:txBody>
          <a:bodyPr/>
          <a:lstStyle/>
          <a:p>
            <a:r>
              <a:rPr lang="es-PE" b="1" dirty="0" smtClean="0">
                <a:solidFill>
                  <a:srgbClr val="FF0000"/>
                </a:solidFill>
              </a:rPr>
              <a:t>EJERCICIO N° 2</a:t>
            </a:r>
            <a:endParaRPr lang="es-PE" b="1" dirty="0">
              <a:solidFill>
                <a:srgbClr val="FF0000"/>
              </a:solidFill>
            </a:endParaRPr>
          </a:p>
        </p:txBody>
      </p:sp>
      <p:sp>
        <p:nvSpPr>
          <p:cNvPr id="5" name="Marcador de contenido 4"/>
          <p:cNvSpPr>
            <a:spLocks noGrp="1"/>
          </p:cNvSpPr>
          <p:nvPr>
            <p:ph idx="1"/>
          </p:nvPr>
        </p:nvSpPr>
        <p:spPr>
          <a:xfrm>
            <a:off x="457200" y="1124744"/>
            <a:ext cx="8229600" cy="5001419"/>
          </a:xfrm>
        </p:spPr>
        <p:txBody>
          <a:bodyPr/>
          <a:lstStyle/>
          <a:p>
            <a:pPr marL="0" indent="0">
              <a:buNone/>
            </a:pPr>
            <a:r>
              <a:rPr lang="es-PE" b="1" dirty="0" smtClean="0">
                <a:solidFill>
                  <a:srgbClr val="0033CC"/>
                </a:solidFill>
              </a:rPr>
              <a:t>P.- ¿Qué tamaño de eje debe usarse para el rotor de un motor de 5 HP que opera a 3600 RPM si el esfuerzo cortante no debe excederse 8500 PSI en el eje?</a:t>
            </a:r>
          </a:p>
          <a:p>
            <a:pPr marL="0" indent="0">
              <a:buNone/>
            </a:pPr>
            <a:r>
              <a:rPr lang="es-PE" b="1" dirty="0" smtClean="0">
                <a:solidFill>
                  <a:srgbClr val="0033CC"/>
                </a:solidFill>
              </a:rPr>
              <a:t>Datos:</a:t>
            </a:r>
          </a:p>
          <a:p>
            <a:pPr marL="0" indent="0">
              <a:buNone/>
            </a:pPr>
            <a:r>
              <a:rPr lang="es-PE" b="1" dirty="0" smtClean="0">
                <a:solidFill>
                  <a:srgbClr val="0033CC"/>
                </a:solidFill>
              </a:rPr>
              <a:t>P = 5 HP</a:t>
            </a:r>
          </a:p>
          <a:p>
            <a:pPr marL="0" indent="0">
              <a:buNone/>
            </a:pPr>
            <a:r>
              <a:rPr lang="es-PE" b="1" dirty="0" smtClean="0">
                <a:solidFill>
                  <a:srgbClr val="0033CC"/>
                </a:solidFill>
              </a:rPr>
              <a:t>N = 3600 RPM</a:t>
            </a:r>
          </a:p>
          <a:p>
            <a:pPr marL="0" indent="0">
              <a:buNone/>
            </a:pPr>
            <a:r>
              <a:rPr lang="es-PE" b="1" dirty="0" err="1" smtClean="0">
                <a:solidFill>
                  <a:srgbClr val="0033CC"/>
                </a:solidFill>
              </a:rPr>
              <a:t>Ƭ</a:t>
            </a:r>
            <a:r>
              <a:rPr lang="es-PE" sz="2000" b="1" dirty="0" err="1" smtClean="0">
                <a:solidFill>
                  <a:srgbClr val="0033CC"/>
                </a:solidFill>
              </a:rPr>
              <a:t>max</a:t>
            </a:r>
            <a:r>
              <a:rPr lang="es-PE" b="1" dirty="0" smtClean="0">
                <a:solidFill>
                  <a:srgbClr val="0033CC"/>
                </a:solidFill>
              </a:rPr>
              <a:t> = 8500 PSI</a:t>
            </a:r>
          </a:p>
          <a:p>
            <a:pPr marL="0" indent="0">
              <a:buNone/>
            </a:pPr>
            <a:endParaRPr lang="es-PE" b="1" dirty="0" smtClean="0">
              <a:solidFill>
                <a:srgbClr val="0033CC"/>
              </a:solidFill>
            </a:endParaRPr>
          </a:p>
          <a:p>
            <a:pPr marL="0" indent="0">
              <a:buNone/>
            </a:pPr>
            <a:endParaRPr lang="es-PE"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849" y="2539309"/>
            <a:ext cx="5482952" cy="1800200"/>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3849" y="4623905"/>
            <a:ext cx="5482951" cy="1786654"/>
          </a:xfrm>
          <a:prstGeom prst="rect">
            <a:avLst/>
          </a:prstGeom>
        </p:spPr>
      </p:pic>
    </p:spTree>
    <p:extLst>
      <p:ext uri="{BB962C8B-B14F-4D97-AF65-F5344CB8AC3E}">
        <p14:creationId xmlns:p14="http://schemas.microsoft.com/office/powerpoint/2010/main" val="4011966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7744" y="391471"/>
            <a:ext cx="4680520" cy="1800200"/>
          </a:xfr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2450465"/>
            <a:ext cx="4680520" cy="1877070"/>
          </a:xfrm>
          <a:prstGeom prst="rect">
            <a:avLst/>
          </a:prstGeom>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9832" y="4581128"/>
            <a:ext cx="3165231" cy="1867346"/>
          </a:xfrm>
          <a:prstGeom prst="rect">
            <a:avLst/>
          </a:prstGeom>
        </p:spPr>
      </p:pic>
    </p:spTree>
    <p:extLst>
      <p:ext uri="{BB962C8B-B14F-4D97-AF65-F5344CB8AC3E}">
        <p14:creationId xmlns:p14="http://schemas.microsoft.com/office/powerpoint/2010/main" val="1165573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1760" y="559763"/>
            <a:ext cx="4320479" cy="1457001"/>
          </a:xfr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0851" y="2686878"/>
            <a:ext cx="2364059" cy="1390194"/>
          </a:xfrm>
          <a:prstGeom prst="rect">
            <a:avLst/>
          </a:prstGeom>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8625" y="4653136"/>
            <a:ext cx="4608512" cy="1744960"/>
          </a:xfrm>
          <a:prstGeom prst="rect">
            <a:avLst/>
          </a:prstGeom>
        </p:spPr>
      </p:pic>
    </p:spTree>
    <p:extLst>
      <p:ext uri="{BB962C8B-B14F-4D97-AF65-F5344CB8AC3E}">
        <p14:creationId xmlns:p14="http://schemas.microsoft.com/office/powerpoint/2010/main" val="2362377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367015"/>
            <a:ext cx="8229600" cy="1017724"/>
          </a:xfrm>
        </p:spPr>
        <p:txBody>
          <a:bodyPr/>
          <a:lstStyle/>
          <a:p>
            <a:r>
              <a:rPr lang="es-PE" b="1" dirty="0">
                <a:solidFill>
                  <a:srgbClr val="FF0000"/>
                </a:solidFill>
              </a:rPr>
              <a:t>ACTIVIDAD PRÁCTICA GRUPAL</a:t>
            </a:r>
          </a:p>
        </p:txBody>
      </p:sp>
      <p:sp>
        <p:nvSpPr>
          <p:cNvPr id="3" name="CuadroTexto 2"/>
          <p:cNvSpPr txBox="1"/>
          <p:nvPr/>
        </p:nvSpPr>
        <p:spPr>
          <a:xfrm>
            <a:off x="687614" y="1556792"/>
            <a:ext cx="7789460" cy="1569660"/>
          </a:xfrm>
          <a:prstGeom prst="rect">
            <a:avLst/>
          </a:prstGeom>
          <a:noFill/>
        </p:spPr>
        <p:txBody>
          <a:bodyPr wrap="square" rtlCol="0">
            <a:spAutoFit/>
          </a:bodyPr>
          <a:lstStyle/>
          <a:p>
            <a:pPr marL="0" indent="0" algn="just">
              <a:buNone/>
            </a:pPr>
            <a:r>
              <a:rPr lang="es-PE" sz="2400" b="1" dirty="0" smtClean="0">
                <a:solidFill>
                  <a:srgbClr val="0033CC"/>
                </a:solidFill>
              </a:rPr>
              <a:t>¿Calcular el diámetro del </a:t>
            </a:r>
            <a:r>
              <a:rPr lang="es-PE" sz="2400" b="1" dirty="0">
                <a:solidFill>
                  <a:srgbClr val="0033CC"/>
                </a:solidFill>
              </a:rPr>
              <a:t>eje </a:t>
            </a:r>
            <a:r>
              <a:rPr lang="es-PE" sz="2400" b="1" dirty="0" smtClean="0">
                <a:solidFill>
                  <a:srgbClr val="0033CC"/>
                </a:solidFill>
              </a:rPr>
              <a:t>que deberá </a:t>
            </a:r>
            <a:r>
              <a:rPr lang="es-PE" sz="2400" b="1" dirty="0">
                <a:solidFill>
                  <a:srgbClr val="0033CC"/>
                </a:solidFill>
              </a:rPr>
              <a:t>usarse para el rotor de un motor </a:t>
            </a:r>
            <a:r>
              <a:rPr lang="es-PE" sz="2400" b="1" dirty="0" smtClean="0">
                <a:solidFill>
                  <a:srgbClr val="0033CC"/>
                </a:solidFill>
              </a:rPr>
              <a:t>de P = 7,5 </a:t>
            </a:r>
            <a:r>
              <a:rPr lang="es-PE" sz="2400" b="1" dirty="0">
                <a:solidFill>
                  <a:srgbClr val="0033CC"/>
                </a:solidFill>
              </a:rPr>
              <a:t>HP que opera a </a:t>
            </a:r>
            <a:r>
              <a:rPr lang="es-PE" sz="2400" b="1" dirty="0" smtClean="0">
                <a:solidFill>
                  <a:srgbClr val="0033CC"/>
                </a:solidFill>
              </a:rPr>
              <a:t>N = 2850 RPM; </a:t>
            </a:r>
            <a:r>
              <a:rPr lang="es-PE" sz="2400" b="1" dirty="0">
                <a:solidFill>
                  <a:srgbClr val="0033CC"/>
                </a:solidFill>
              </a:rPr>
              <a:t>si el esfuerzo cortante </a:t>
            </a:r>
            <a:r>
              <a:rPr lang="es-PE" sz="2400" b="1" dirty="0" smtClean="0">
                <a:solidFill>
                  <a:srgbClr val="0033CC"/>
                </a:solidFill>
              </a:rPr>
              <a:t>en el eje no </a:t>
            </a:r>
            <a:r>
              <a:rPr lang="es-PE" sz="2400" b="1" dirty="0">
                <a:solidFill>
                  <a:srgbClr val="0033CC"/>
                </a:solidFill>
              </a:rPr>
              <a:t>debe </a:t>
            </a:r>
            <a:r>
              <a:rPr lang="es-PE" sz="2400" b="1" dirty="0" smtClean="0">
                <a:solidFill>
                  <a:srgbClr val="0033CC"/>
                </a:solidFill>
              </a:rPr>
              <a:t>exceder </a:t>
            </a:r>
            <a:r>
              <a:rPr lang="es-PE" sz="2400" b="1" dirty="0" err="1" smtClean="0">
                <a:solidFill>
                  <a:srgbClr val="0033CC"/>
                </a:solidFill>
              </a:rPr>
              <a:t>Ƭmax</a:t>
            </a:r>
            <a:r>
              <a:rPr lang="es-PE" sz="2400" b="1" dirty="0" smtClean="0">
                <a:solidFill>
                  <a:srgbClr val="0033CC"/>
                </a:solidFill>
              </a:rPr>
              <a:t> </a:t>
            </a:r>
            <a:r>
              <a:rPr lang="es-PE" sz="2400" b="1" dirty="0">
                <a:solidFill>
                  <a:srgbClr val="0033CC"/>
                </a:solidFill>
              </a:rPr>
              <a:t>= </a:t>
            </a:r>
            <a:r>
              <a:rPr lang="es-PE" sz="2400" b="1" dirty="0" smtClean="0">
                <a:solidFill>
                  <a:srgbClr val="0033CC"/>
                </a:solidFill>
              </a:rPr>
              <a:t>6450 PSI?</a:t>
            </a:r>
            <a:endParaRPr lang="es-PE" sz="2400" b="1" dirty="0">
              <a:solidFill>
                <a:srgbClr val="0033CC"/>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102" y="3126452"/>
            <a:ext cx="4646484" cy="3461288"/>
          </a:xfrm>
          <a:prstGeom prst="rect">
            <a:avLst/>
          </a:prstGeom>
        </p:spPr>
      </p:pic>
    </p:spTree>
    <p:extLst>
      <p:ext uri="{BB962C8B-B14F-4D97-AF65-F5344CB8AC3E}">
        <p14:creationId xmlns:p14="http://schemas.microsoft.com/office/powerpoint/2010/main" val="10019782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2621" y="332656"/>
            <a:ext cx="7859216" cy="648072"/>
          </a:xfrm>
        </p:spPr>
        <p:txBody>
          <a:bodyPr/>
          <a:lstStyle/>
          <a:p>
            <a:r>
              <a:rPr lang="es-ES" b="1" dirty="0">
                <a:solidFill>
                  <a:srgbClr val="FF0000"/>
                </a:solidFill>
                <a:latin typeface="Arial Rounded MT Bold" pitchFamily="34" charset="0"/>
                <a:ea typeface="Adobe Gothic Std B" panose="020B0800000000000000" pitchFamily="34" charset="-128"/>
              </a:rPr>
              <a:t>CONCLUSIONES DE LA SESIÓN</a:t>
            </a:r>
            <a:endParaRPr lang="es-PE" dirty="0"/>
          </a:p>
        </p:txBody>
      </p:sp>
      <p:sp>
        <p:nvSpPr>
          <p:cNvPr id="3" name="Marcador de contenido 2"/>
          <p:cNvSpPr>
            <a:spLocks noGrp="1"/>
          </p:cNvSpPr>
          <p:nvPr>
            <p:ph idx="1"/>
          </p:nvPr>
        </p:nvSpPr>
        <p:spPr>
          <a:xfrm>
            <a:off x="683568" y="1196752"/>
            <a:ext cx="7678269" cy="5400600"/>
          </a:xfrm>
        </p:spPr>
        <p:txBody>
          <a:bodyPr/>
          <a:lstStyle/>
          <a:p>
            <a:pPr marL="0" indent="0">
              <a:buNone/>
            </a:pPr>
            <a:r>
              <a:rPr lang="es-PE" b="1" dirty="0" smtClean="0">
                <a:solidFill>
                  <a:srgbClr val="0033CC"/>
                </a:solidFill>
              </a:rPr>
              <a:t>En la Mecánica de Materiales los esfuerzos que actúan sobre una superficie plana pueden ser uniformes en toda el área o bien variar en intensidad de un punto a otro, mientras que la deformación puede ser visible o prácticamente inadvertida si no se emplea el equipo apropiado para hacer mediciones precisas.</a:t>
            </a:r>
          </a:p>
          <a:p>
            <a:pPr marL="0" indent="0">
              <a:buNone/>
            </a:pPr>
            <a:r>
              <a:rPr lang="es-PE" b="1" dirty="0" smtClean="0">
                <a:solidFill>
                  <a:srgbClr val="0033CC"/>
                </a:solidFill>
              </a:rPr>
              <a:t>Recordemos también que la fatiga va a ocurrir en metales cuando el material es sometido a ciclos de esfuerzos y deformación. Por último debemos tener presente que la torsión se caracteriza geométricamente porque cualquier curva paralela al eje de la pieza deja de estar contenida en el plano formado inicialmente por las dos curvas.</a:t>
            </a:r>
          </a:p>
        </p:txBody>
      </p:sp>
    </p:spTree>
    <p:extLst>
      <p:ext uri="{BB962C8B-B14F-4D97-AF65-F5344CB8AC3E}">
        <p14:creationId xmlns:p14="http://schemas.microsoft.com/office/powerpoint/2010/main" val="3945012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29194" y="262292"/>
            <a:ext cx="8229600" cy="862454"/>
          </a:xfrm>
        </p:spPr>
        <p:txBody>
          <a:bodyPr/>
          <a:lstStyle/>
          <a:p>
            <a:r>
              <a:rPr lang="es-ES" b="1" dirty="0">
                <a:solidFill>
                  <a:srgbClr val="FF0000"/>
                </a:solidFill>
                <a:latin typeface="Arial Rounded MT Bold" pitchFamily="34" charset="0"/>
                <a:ea typeface="Adobe Gothic Std B" panose="020B0800000000000000" pitchFamily="34" charset="-128"/>
              </a:rPr>
              <a:t>TEMA DE LA SGTE. SESIÓN:</a:t>
            </a:r>
            <a:endParaRPr lang="es-PE" dirty="0"/>
          </a:p>
        </p:txBody>
      </p:sp>
      <p:sp>
        <p:nvSpPr>
          <p:cNvPr id="3" name="Marcador de contenido 2"/>
          <p:cNvSpPr>
            <a:spLocks noGrp="1"/>
          </p:cNvSpPr>
          <p:nvPr>
            <p:ph idx="1"/>
          </p:nvPr>
        </p:nvSpPr>
        <p:spPr>
          <a:xfrm>
            <a:off x="429194" y="1143151"/>
            <a:ext cx="8229600" cy="1296144"/>
          </a:xfrm>
        </p:spPr>
        <p:txBody>
          <a:bodyPr/>
          <a:lstStyle/>
          <a:p>
            <a:pPr marL="0" indent="0" algn="ctr">
              <a:buNone/>
            </a:pPr>
            <a:r>
              <a:rPr lang="es-PE" b="1" dirty="0" smtClean="0">
                <a:solidFill>
                  <a:srgbClr val="0033CC"/>
                </a:solidFill>
                <a:latin typeface="Arial Black" panose="020B0A04020102020204" pitchFamily="34" charset="0"/>
                <a:cs typeface="Aharoni" panose="02010803020104030203" pitchFamily="2" charset="-79"/>
              </a:rPr>
              <a:t>SESIÓN N° 11</a:t>
            </a:r>
          </a:p>
          <a:p>
            <a:pPr marL="0" indent="0" algn="ctr">
              <a:buNone/>
            </a:pPr>
            <a:r>
              <a:rPr lang="es-PE" b="1" dirty="0" smtClean="0">
                <a:solidFill>
                  <a:srgbClr val="0033CC"/>
                </a:solidFill>
                <a:latin typeface="Arial Black" panose="020B0A04020102020204" pitchFamily="34" charset="0"/>
                <a:cs typeface="Aharoni" panose="02010803020104030203" pitchFamily="2" charset="-79"/>
              </a:rPr>
              <a:t>ESFUERZOS COMBINADOS – CÍRCULO DE MOHR</a:t>
            </a:r>
            <a:endParaRPr lang="es-PE" b="1" dirty="0" smtClean="0">
              <a:solidFill>
                <a:srgbClr val="0033CC"/>
              </a:solidFill>
              <a:latin typeface="Aharoni" panose="02010803020104030203" pitchFamily="2" charset="-79"/>
              <a:cs typeface="Aharoni" panose="02010803020104030203" pitchFamily="2" charset="-79"/>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2475916"/>
            <a:ext cx="7117671" cy="4394551"/>
          </a:xfrm>
          <a:prstGeom prst="rect">
            <a:avLst/>
          </a:prstGeom>
        </p:spPr>
      </p:pic>
    </p:spTree>
    <p:extLst>
      <p:ext uri="{BB962C8B-B14F-4D97-AF65-F5344CB8AC3E}">
        <p14:creationId xmlns:p14="http://schemas.microsoft.com/office/powerpoint/2010/main" val="4251131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0539" y="456843"/>
            <a:ext cx="8229600" cy="900503"/>
          </a:xfrm>
        </p:spPr>
        <p:txBody>
          <a:bodyPr/>
          <a:lstStyle/>
          <a:p>
            <a:r>
              <a:rPr lang="es-MX" b="1" dirty="0">
                <a:solidFill>
                  <a:srgbClr val="FF0000"/>
                </a:solidFill>
                <a:latin typeface="Arial Rounded MT Bold" pitchFamily="34" charset="0"/>
                <a:ea typeface="Adobe Gothic Std B" panose="020B0800000000000000" pitchFamily="34" charset="-128"/>
              </a:rPr>
              <a:t>TAREA / ASIGNACIÓN DE CASA</a:t>
            </a:r>
            <a:endParaRPr lang="es-PE" dirty="0"/>
          </a:p>
        </p:txBody>
      </p:sp>
      <p:sp>
        <p:nvSpPr>
          <p:cNvPr id="3" name="Marcador de contenido 2"/>
          <p:cNvSpPr>
            <a:spLocks noGrp="1"/>
          </p:cNvSpPr>
          <p:nvPr>
            <p:ph idx="1"/>
          </p:nvPr>
        </p:nvSpPr>
        <p:spPr>
          <a:xfrm>
            <a:off x="460539" y="1643360"/>
            <a:ext cx="8229600" cy="1008112"/>
          </a:xfrm>
        </p:spPr>
        <p:txBody>
          <a:bodyPr/>
          <a:lstStyle/>
          <a:p>
            <a:pPr marL="0" indent="0">
              <a:buNone/>
            </a:pPr>
            <a:r>
              <a:rPr lang="es-PE" b="1" dirty="0" smtClean="0">
                <a:solidFill>
                  <a:srgbClr val="0033CC"/>
                </a:solidFill>
              </a:rPr>
              <a:t>Revisar detenidamente el siguiente link:</a:t>
            </a:r>
          </a:p>
          <a:p>
            <a:pPr marL="0" indent="0" algn="ctr">
              <a:buNone/>
            </a:pPr>
            <a:r>
              <a:rPr lang="es-PE" b="1" dirty="0" smtClean="0">
                <a:solidFill>
                  <a:srgbClr val="0033CC"/>
                </a:solidFill>
                <a:hlinkClick r:id="rId2"/>
              </a:rPr>
              <a:t>http</a:t>
            </a:r>
            <a:r>
              <a:rPr lang="es-PE" b="1" dirty="0">
                <a:solidFill>
                  <a:srgbClr val="0033CC"/>
                </a:solidFill>
                <a:hlinkClick r:id="rId2"/>
              </a:rPr>
              <a:t>://slideplayer.es/slide/1483744</a:t>
            </a:r>
            <a:r>
              <a:rPr lang="es-PE" b="1" dirty="0" smtClean="0">
                <a:solidFill>
                  <a:srgbClr val="0033CC"/>
                </a:solidFill>
                <a:hlinkClick r:id="rId2"/>
              </a:rPr>
              <a:t>/</a:t>
            </a:r>
            <a:endParaRPr lang="es-PE" b="1" dirty="0" smtClean="0">
              <a:solidFill>
                <a:srgbClr val="0033CC"/>
              </a:solidFill>
            </a:endParaRPr>
          </a:p>
          <a:p>
            <a:pPr marL="0" indent="0">
              <a:buNone/>
            </a:pPr>
            <a:endParaRPr lang="es-PE" b="1" dirty="0" smtClean="0">
              <a:solidFill>
                <a:srgbClr val="0033CC"/>
              </a:solidFill>
            </a:endParaRPr>
          </a:p>
          <a:p>
            <a:pPr marL="0" indent="0">
              <a:buNone/>
            </a:pPr>
            <a:endParaRPr lang="es-PE" b="1" dirty="0" smtClean="0">
              <a:solidFill>
                <a:srgbClr val="0033CC"/>
              </a:solidFill>
            </a:endParaRPr>
          </a:p>
          <a:p>
            <a:pPr marL="0" indent="0" algn="ctr">
              <a:buNone/>
            </a:pPr>
            <a:endParaRPr lang="es-ES" b="1" dirty="0">
              <a:solidFill>
                <a:srgbClr val="00B0F0"/>
              </a:solidFill>
            </a:endParaRPr>
          </a:p>
          <a:p>
            <a:pPr marL="0" indent="0">
              <a:buNone/>
            </a:pPr>
            <a:endParaRPr lang="es-PE" dirty="0" smtClean="0"/>
          </a:p>
          <a:p>
            <a:pPr marL="0" indent="0">
              <a:buNone/>
            </a:pPr>
            <a:endParaRPr lang="es-PE" dirty="0"/>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1978" y="2937487"/>
            <a:ext cx="3780043" cy="3780043"/>
          </a:xfrm>
          <a:prstGeom prst="rect">
            <a:avLst/>
          </a:prstGeom>
        </p:spPr>
      </p:pic>
    </p:spTree>
    <p:extLst>
      <p:ext uri="{BB962C8B-B14F-4D97-AF65-F5344CB8AC3E}">
        <p14:creationId xmlns:p14="http://schemas.microsoft.com/office/powerpoint/2010/main" val="1451386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32656"/>
            <a:ext cx="8229600" cy="720080"/>
          </a:xfrm>
        </p:spPr>
        <p:txBody>
          <a:bodyPr/>
          <a:lstStyle/>
          <a:p>
            <a:r>
              <a:rPr lang="es-PE" b="1" dirty="0" smtClean="0">
                <a:solidFill>
                  <a:srgbClr val="FF0000"/>
                </a:solidFill>
                <a:latin typeface="Arial Rounded MT Bold" pitchFamily="34" charset="0"/>
              </a:rPr>
              <a:t>BIBLIOGRAFÍA</a:t>
            </a:r>
            <a:endParaRPr lang="es-PE" dirty="0">
              <a:latin typeface="Arial Rounded MT Bold" pitchFamily="34" charset="0"/>
            </a:endParaRPr>
          </a:p>
        </p:txBody>
      </p:sp>
      <p:sp>
        <p:nvSpPr>
          <p:cNvPr id="3" name="Marcador de contenido 2"/>
          <p:cNvSpPr>
            <a:spLocks noGrp="1"/>
          </p:cNvSpPr>
          <p:nvPr>
            <p:ph idx="1"/>
          </p:nvPr>
        </p:nvSpPr>
        <p:spPr>
          <a:xfrm>
            <a:off x="323529" y="1268760"/>
            <a:ext cx="8496944" cy="5256584"/>
          </a:xfrm>
        </p:spPr>
        <p:txBody>
          <a:bodyPr/>
          <a:lstStyle/>
          <a:p>
            <a:pPr marL="0" indent="0" algn="ctr">
              <a:buNone/>
            </a:pPr>
            <a:r>
              <a:rPr lang="es-ES" sz="2000" b="1" dirty="0">
                <a:solidFill>
                  <a:srgbClr val="00B0F0"/>
                </a:solidFill>
                <a:hlinkClick r:id="rId2"/>
              </a:rPr>
              <a:t>https://</a:t>
            </a:r>
            <a:r>
              <a:rPr lang="es-ES" sz="2000" b="1" dirty="0" smtClean="0">
                <a:solidFill>
                  <a:srgbClr val="00B0F0"/>
                </a:solidFill>
                <a:hlinkClick r:id="rId2"/>
              </a:rPr>
              <a:t>es.slideshare.net/Marcanodennys1/esfuerzo-deformacion-fatiga-dennys</a:t>
            </a:r>
            <a:endParaRPr lang="es-ES" sz="2000" b="1" dirty="0" smtClean="0">
              <a:solidFill>
                <a:srgbClr val="00B0F0"/>
              </a:solidFill>
            </a:endParaRPr>
          </a:p>
          <a:p>
            <a:pPr marL="0" indent="0" algn="ctr">
              <a:buNone/>
            </a:pPr>
            <a:r>
              <a:rPr lang="es-ES" sz="2000" b="1" dirty="0">
                <a:solidFill>
                  <a:srgbClr val="00B0F0"/>
                </a:solidFill>
                <a:hlinkClick r:id="rId3"/>
              </a:rPr>
              <a:t>http://filicruzcruz.blogspot.pe</a:t>
            </a:r>
            <a:r>
              <a:rPr lang="es-ES" sz="2000" b="1" dirty="0" smtClean="0">
                <a:solidFill>
                  <a:srgbClr val="00B0F0"/>
                </a:solidFill>
                <a:hlinkClick r:id="rId3"/>
              </a:rPr>
              <a:t>/</a:t>
            </a:r>
            <a:endParaRPr lang="es-ES" sz="2000" b="1" dirty="0" smtClean="0">
              <a:solidFill>
                <a:srgbClr val="00B0F0"/>
              </a:solidFill>
            </a:endParaRPr>
          </a:p>
          <a:p>
            <a:pPr marL="0" indent="0" algn="ctr">
              <a:buNone/>
            </a:pPr>
            <a:endParaRPr lang="es-ES" sz="2000" b="1" dirty="0" smtClean="0">
              <a:solidFill>
                <a:srgbClr val="00B0F0"/>
              </a:solidFill>
            </a:endParaRPr>
          </a:p>
          <a:p>
            <a:pPr marL="0" indent="0" algn="ctr">
              <a:buNone/>
            </a:pPr>
            <a:endParaRPr lang="es-ES" sz="2000" b="1" dirty="0" smtClean="0">
              <a:solidFill>
                <a:srgbClr val="00B0F0"/>
              </a:solidFill>
            </a:endParaRPr>
          </a:p>
          <a:p>
            <a:pPr marL="0" indent="0" algn="ctr">
              <a:buNone/>
            </a:pPr>
            <a:endParaRPr lang="es-ES" sz="2000" b="1" dirty="0" smtClean="0">
              <a:solidFill>
                <a:srgbClr val="00B0F0"/>
              </a:solidFill>
            </a:endParaRPr>
          </a:p>
          <a:p>
            <a:pPr marL="0" indent="0" algn="ctr">
              <a:buNone/>
            </a:pPr>
            <a:endParaRPr lang="es-ES" sz="2000" b="1" dirty="0" smtClean="0">
              <a:solidFill>
                <a:srgbClr val="00B0F0"/>
              </a:solidFill>
            </a:endParaRPr>
          </a:p>
          <a:p>
            <a:pPr marL="0" indent="0">
              <a:buNone/>
            </a:pPr>
            <a:endParaRPr lang="es-ES" sz="2000" b="1" dirty="0" smtClean="0">
              <a:solidFill>
                <a:srgbClr val="00B0F0"/>
              </a:solidFill>
            </a:endParaRPr>
          </a:p>
          <a:p>
            <a:pPr marL="0" indent="0">
              <a:buNone/>
            </a:pPr>
            <a:endParaRPr lang="es-ES" sz="2800" b="1" dirty="0" smtClean="0">
              <a:solidFill>
                <a:srgbClr val="00B0F0"/>
              </a:solidFill>
            </a:endParaRPr>
          </a:p>
          <a:p>
            <a:pPr marL="0" indent="0" algn="ctr">
              <a:buNone/>
            </a:pPr>
            <a:endParaRPr lang="es-PE" sz="2000" b="1" dirty="0">
              <a:solidFill>
                <a:srgbClr val="FF0000"/>
              </a:solidFill>
            </a:endParaRPr>
          </a:p>
          <a:p>
            <a:endParaRPr lang="es-PE" dirty="0"/>
          </a:p>
        </p:txBody>
      </p:sp>
      <p:pic>
        <p:nvPicPr>
          <p:cNvPr id="4" name="Picture 4" descr="http://generalidadesvih-sida.weebly.com/uploads/2/4/1/6/24162001/4813997.jpg?2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2924944"/>
            <a:ext cx="5616624"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3773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pattFill prst="pct90">
          <a:fgClr>
            <a:schemeClr val="accent1"/>
          </a:fgClr>
          <a:bgClr>
            <a:schemeClr val="bg1"/>
          </a:bgClr>
        </a:pattFill>
        <a:effectLst/>
      </p:bgPr>
    </p:bg>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7200" y="2564904"/>
            <a:ext cx="8147248" cy="1224136"/>
          </a:xfrm>
          <a:noFill/>
        </p:spPr>
        <p:txBody>
          <a:bodyPr/>
          <a:lstStyle/>
          <a:p>
            <a:pPr marL="0" indent="0" algn="ctr">
              <a:buNone/>
            </a:pPr>
            <a:r>
              <a:rPr lang="es-PE" sz="6600" b="1" dirty="0" smtClean="0">
                <a:solidFill>
                  <a:srgbClr val="FF0000"/>
                </a:solidFill>
                <a:latin typeface="Arial Rounded MT Bold" pitchFamily="34" charset="0"/>
              </a:rPr>
              <a:t>ANEXOS</a:t>
            </a:r>
            <a:endParaRPr lang="es-PE" sz="6600" b="1" dirty="0">
              <a:solidFill>
                <a:srgbClr val="FF0000"/>
              </a:solidFill>
              <a:latin typeface="Arial Rounded MT Bold" pitchFamily="34" charset="0"/>
            </a:endParaRPr>
          </a:p>
        </p:txBody>
      </p:sp>
    </p:spTree>
    <p:extLst>
      <p:ext uri="{BB962C8B-B14F-4D97-AF65-F5344CB8AC3E}">
        <p14:creationId xmlns:p14="http://schemas.microsoft.com/office/powerpoint/2010/main" val="36777142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0728"/>
            <a:ext cx="9144000" cy="5877272"/>
          </a:xfrm>
        </p:spPr>
      </p:pic>
    </p:spTree>
    <p:extLst>
      <p:ext uri="{BB962C8B-B14F-4D97-AF65-F5344CB8AC3E}">
        <p14:creationId xmlns:p14="http://schemas.microsoft.com/office/powerpoint/2010/main" val="2511965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9752" y="-25686"/>
            <a:ext cx="4320480" cy="6858000"/>
          </a:xfrm>
        </p:spPr>
      </p:pic>
    </p:spTree>
    <p:extLst>
      <p:ext uri="{BB962C8B-B14F-4D97-AF65-F5344CB8AC3E}">
        <p14:creationId xmlns:p14="http://schemas.microsoft.com/office/powerpoint/2010/main" val="484394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96752"/>
            <a:ext cx="9143999" cy="5661248"/>
          </a:xfrm>
        </p:spPr>
      </p:pic>
    </p:spTree>
    <p:extLst>
      <p:ext uri="{BB962C8B-B14F-4D97-AF65-F5344CB8AC3E}">
        <p14:creationId xmlns:p14="http://schemas.microsoft.com/office/powerpoint/2010/main" val="1220562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254" y="1916832"/>
            <a:ext cx="8387492" cy="4032448"/>
          </a:xfrm>
        </p:spPr>
      </p:pic>
    </p:spTree>
    <p:extLst>
      <p:ext uri="{BB962C8B-B14F-4D97-AF65-F5344CB8AC3E}">
        <p14:creationId xmlns:p14="http://schemas.microsoft.com/office/powerpoint/2010/main" val="1127421790"/>
      </p:ext>
    </p:extLst>
  </p:cSld>
  <p:clrMapOvr>
    <a:masterClrMapping/>
  </p:clrMapOvr>
</p:sld>
</file>

<file path=ppt/theme/theme1.xml><?xml version="1.0" encoding="utf-8"?>
<a:theme xmlns:a="http://schemas.openxmlformats.org/drawingml/2006/main" name="PlantillaTecsup">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PlantillaTecsup</Template>
  <TotalTime>13760</TotalTime>
  <Words>948</Words>
  <Application>Microsoft Office PowerPoint</Application>
  <PresentationFormat>Presentación en pantalla (4:3)</PresentationFormat>
  <Paragraphs>118</Paragraphs>
  <Slides>38</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38</vt:i4>
      </vt:variant>
    </vt:vector>
  </HeadingPairs>
  <TitlesOfParts>
    <vt:vector size="48" baseType="lpstr">
      <vt:lpstr>Adobe Gothic Std B</vt:lpstr>
      <vt:lpstr>Aharoni</vt:lpstr>
      <vt:lpstr>AR JULIAN</vt:lpstr>
      <vt:lpstr>Arial</vt:lpstr>
      <vt:lpstr>Arial Black</vt:lpstr>
      <vt:lpstr>Arial Narrow</vt:lpstr>
      <vt:lpstr>Arial Rounded MT Bold</vt:lpstr>
      <vt:lpstr>Calibri</vt:lpstr>
      <vt:lpstr>Georgia</vt:lpstr>
      <vt:lpstr>PlantillaTecsup</vt:lpstr>
      <vt:lpstr>Presentación de PowerPoint</vt:lpstr>
      <vt:lpstr>Repaso sesión anterior / Saberes previos</vt:lpstr>
      <vt:lpstr>Problematización</vt:lpstr>
      <vt:lpstr>Logro de la Sesión</vt:lpstr>
      <vt:lpstr>Motivación</vt:lpstr>
      <vt:lpstr>TORSIÓN</vt:lpstr>
      <vt:lpstr>ESFUERZO DE TORSIÓN</vt:lpstr>
      <vt:lpstr>ESFUERZO DE TORSIÓN</vt:lpstr>
      <vt:lpstr>EJEMPLOS DE  ESFUERZOS DE TORSIÓN</vt:lpstr>
      <vt:lpstr>DEFORMACIÓN</vt:lpstr>
      <vt:lpstr>DEFORMACIÓN</vt:lpstr>
      <vt:lpstr>ESFUERZO</vt:lpstr>
      <vt:lpstr>ESFUERZO CORTANTE</vt:lpstr>
      <vt:lpstr>ESFUERZO CORTANTE</vt:lpstr>
      <vt:lpstr>ESFUERZO TORSIONAL MÁXIMO</vt:lpstr>
      <vt:lpstr>Presentación de PowerPoint</vt:lpstr>
      <vt:lpstr>EJERCICIO N° 1</vt:lpstr>
      <vt:lpstr>a1.- COMPARACIÓN DE LOS  ESFUERZOS CORTANTES</vt:lpstr>
      <vt:lpstr>a1.- COMPARACIÓN DE LOS  ESFUERZOS CORTANTES</vt:lpstr>
      <vt:lpstr>a2.- COMPARACIÓN DE LOS  ANGULOS DE TORSIÓN</vt:lpstr>
      <vt:lpstr>a3.- COMPARACIÓN DE LOS PESOS</vt:lpstr>
      <vt:lpstr>a3.- COMPARACIÓN DE LOS PESOS</vt:lpstr>
      <vt:lpstr>b.- Razones entre resistencia y peso  de los ejes</vt:lpstr>
      <vt:lpstr>b.- Razones entre resistencia y peso  de los ejes</vt:lpstr>
      <vt:lpstr>b.- Razones entre resistencia y peso  de los ejes</vt:lpstr>
      <vt:lpstr>EJERCICIO N° 2</vt:lpstr>
      <vt:lpstr>Presentación de PowerPoint</vt:lpstr>
      <vt:lpstr>Presentación de PowerPoint</vt:lpstr>
      <vt:lpstr>ACTIVIDAD PRÁCTICA GRUPAL</vt:lpstr>
      <vt:lpstr>CONCLUSIONES DE LA SESIÓN</vt:lpstr>
      <vt:lpstr>TEMA DE LA SGTE. SESIÓN:</vt:lpstr>
      <vt:lpstr>TAREA / ASIGNACIÓN DE CASA</vt:lpstr>
      <vt:lpstr>BIBLIOGRAFÍA</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PPT.Nº3 - JFRM</dc:title>
  <dc:subject>EM</dc:subject>
  <dc:creator>GATEC</dc:creator>
  <cp:keywords>ZOXE</cp:keywords>
  <cp:lastModifiedBy>Jorge Rivero Ríos</cp:lastModifiedBy>
  <cp:revision>2014</cp:revision>
  <dcterms:created xsi:type="dcterms:W3CDTF">2014-09-17T17:29:25Z</dcterms:created>
  <dcterms:modified xsi:type="dcterms:W3CDTF">2020-05-18T17:51:19Z</dcterms:modified>
  <cp:category>PFR</cp:category>
</cp:coreProperties>
</file>