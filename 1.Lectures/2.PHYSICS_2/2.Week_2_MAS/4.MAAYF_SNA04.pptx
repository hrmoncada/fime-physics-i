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63" r:id="rId2"/>
    <p:sldId id="256" r:id="rId3"/>
    <p:sldId id="365" r:id="rId4"/>
    <p:sldId id="366" r:id="rId5"/>
    <p:sldId id="367" r:id="rId6"/>
    <p:sldId id="389" r:id="rId7"/>
    <p:sldId id="395" r:id="rId8"/>
    <p:sldId id="401" r:id="rId9"/>
    <p:sldId id="400" r:id="rId10"/>
    <p:sldId id="371" r:id="rId11"/>
    <p:sldId id="387" r:id="rId12"/>
    <p:sldId id="393" r:id="rId13"/>
    <p:sldId id="381" r:id="rId14"/>
    <p:sldId id="390" r:id="rId15"/>
    <p:sldId id="384" r:id="rId16"/>
    <p:sldId id="376" r:id="rId17"/>
    <p:sldId id="382" r:id="rId18"/>
    <p:sldId id="378" r:id="rId19"/>
  </p:sldIdLst>
  <p:sldSz cx="9906000" cy="6858000" type="A4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D1611"/>
    <a:srgbClr val="A51313"/>
    <a:srgbClr val="B71515"/>
    <a:srgbClr val="D51919"/>
    <a:srgbClr val="B6120E"/>
    <a:srgbClr val="930E0B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36" autoAdjust="0"/>
    <p:restoredTop sz="94660"/>
  </p:normalViewPr>
  <p:slideViewPr>
    <p:cSldViewPr>
      <p:cViewPr varScale="1">
        <p:scale>
          <a:sx n="95" d="100"/>
          <a:sy n="95" d="100"/>
        </p:scale>
        <p:origin x="1140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19AD7-51CE-483B-A812-AE489C31F232}" type="datetimeFigureOut">
              <a:rPr lang="es-MX" smtClean="0"/>
              <a:t>19/10/2020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76D70-7FD1-490F-953D-DAC7EFCA24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52353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223AA-9B34-4DCC-A6E4-0C980A794CD5}" type="datetimeFigureOut">
              <a:rPr lang="es-MX" smtClean="0"/>
              <a:t>19/10/2020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07FDC-64A3-4F2D-9092-2E95035D7FC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993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7"/>
          <p:cNvSpPr/>
          <p:nvPr/>
        </p:nvSpPr>
        <p:spPr>
          <a:xfrm>
            <a:off x="1" y="1835150"/>
            <a:ext cx="259689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4479" y="1848218"/>
            <a:ext cx="8420100" cy="345317"/>
          </a:xfrm>
          <a:prstGeom prst="rect">
            <a:avLst/>
          </a:prstGeom>
        </p:spPr>
        <p:txBody>
          <a:bodyPr/>
          <a:lstStyle>
            <a:lvl1pPr>
              <a:defRPr sz="2800" cap="all">
                <a:solidFill>
                  <a:srgbClr val="272727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4479" y="2287320"/>
            <a:ext cx="6934200" cy="97839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3260" y="5949280"/>
            <a:ext cx="2340260" cy="648072"/>
          </a:xfrm>
          <a:prstGeom prst="rect">
            <a:avLst/>
          </a:prstGeom>
        </p:spPr>
      </p:pic>
      <p:sp>
        <p:nvSpPr>
          <p:cNvPr id="7" name="Rectángulo 7"/>
          <p:cNvSpPr/>
          <p:nvPr/>
        </p:nvSpPr>
        <p:spPr>
          <a:xfrm>
            <a:off x="1" y="1835150"/>
            <a:ext cx="259689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 userDrawn="1"/>
        </p:nvSpPr>
        <p:spPr>
          <a:xfrm>
            <a:off x="7825563" y="12700"/>
            <a:ext cx="2066679" cy="1124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7"/>
          <p:cNvSpPr/>
          <p:nvPr userDrawn="1"/>
        </p:nvSpPr>
        <p:spPr>
          <a:xfrm>
            <a:off x="0" y="1835150"/>
            <a:ext cx="239713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None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495300" y="393580"/>
            <a:ext cx="15007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LOGROS</a:t>
            </a:r>
            <a:endParaRPr lang="es-MX" sz="2400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95300" y="1078523"/>
            <a:ext cx="437515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035550" y="1078523"/>
            <a:ext cx="437515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95301" y="393580"/>
            <a:ext cx="5022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REFERENCIAS BIBLIOGRÁFICAS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95300" y="393580"/>
            <a:ext cx="26484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CONCLUSIONES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"/>
          <p:cNvSpPr/>
          <p:nvPr/>
        </p:nvSpPr>
        <p:spPr>
          <a:xfrm>
            <a:off x="9658351" y="482601"/>
            <a:ext cx="259689" cy="492125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7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7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l="-9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0" r:id="rId8"/>
    <p:sldLayoutId id="2147483671" r:id="rId9"/>
  </p:sldLayoutIdLst>
  <p:transition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 cap="all">
          <a:solidFill>
            <a:srgbClr val="EFA82F"/>
          </a:solidFill>
          <a:latin typeface="Arial"/>
          <a:ea typeface="ＭＳ Ｐゴシック" charset="-128"/>
          <a:cs typeface="+mj-cs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png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7.png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wmf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isicarecreativa.com/" TargetMode="External"/><Relationship Id="rId2" Type="http://schemas.openxmlformats.org/officeDocument/2006/relationships/hyperlink" Target="http://www.sc.ehu.es/sbweb/fisica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790935" y="2132855"/>
            <a:ext cx="2131441" cy="37914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 hangingPunct="0"/>
            <a:r>
              <a:rPr lang="es-ES" sz="2400" dirty="0">
                <a:solidFill>
                  <a:schemeClr val="tx1"/>
                </a:solidFill>
              </a:rPr>
              <a:t>Movimiento Armónico Amortiguado. Oscilaciones Forzadas y Resonancia</a:t>
            </a:r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548194" y="760506"/>
            <a:ext cx="7293238" cy="6480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04975" indent="-1704975"/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04:  MOVIMIENTO ARMONICO AMORTIGUADO Y FORZADO</a:t>
            </a: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896" y="1844824"/>
            <a:ext cx="5328592" cy="4541413"/>
          </a:xfrm>
          <a:prstGeom prst="roundRect">
            <a:avLst>
              <a:gd name="adj" fmla="val 11111"/>
            </a:avLst>
          </a:prstGeom>
          <a:ln w="190500" cap="rnd">
            <a:solidFill>
              <a:schemeClr val="tx2">
                <a:lumMod val="60000"/>
                <a:lumOff val="40000"/>
              </a:schemeClr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93192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640632" y="764704"/>
            <a:ext cx="5961184" cy="96715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200" b="1" dirty="0" smtClean="0">
                <a:solidFill>
                  <a:schemeClr val="tx1"/>
                </a:solidFill>
              </a:rPr>
              <a:t>OBSERVA LA IMÁGEN .  .  .</a:t>
            </a:r>
            <a:endParaRPr lang="es-PE" sz="3200" b="1" dirty="0">
              <a:solidFill>
                <a:schemeClr val="tx1"/>
              </a:solidFill>
            </a:endParaRPr>
          </a:p>
        </p:txBody>
      </p:sp>
      <p:sp>
        <p:nvSpPr>
          <p:cNvPr id="8" name="Rectángulo redondeado 7"/>
          <p:cNvSpPr/>
          <p:nvPr/>
        </p:nvSpPr>
        <p:spPr>
          <a:xfrm>
            <a:off x="556247" y="5925472"/>
            <a:ext cx="8264769" cy="64611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200" b="1" dirty="0" smtClean="0">
                <a:solidFill>
                  <a:schemeClr val="tx1"/>
                </a:solidFill>
              </a:rPr>
              <a:t>¿Qué opinión tienes al respecto?</a:t>
            </a:r>
            <a:endParaRPr lang="es-PE" sz="3200" b="1" dirty="0">
              <a:solidFill>
                <a:schemeClr val="tx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870" y="2086289"/>
            <a:ext cx="5189521" cy="3484751"/>
          </a:xfrm>
          <a:prstGeom prst="roundRect">
            <a:avLst>
              <a:gd name="adj" fmla="val 11111"/>
            </a:avLst>
          </a:prstGeom>
          <a:ln w="190500" cap="rnd">
            <a:solidFill>
              <a:schemeClr val="tx2">
                <a:lumMod val="60000"/>
                <a:lumOff val="40000"/>
              </a:schemeClr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23873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1624199" y="713337"/>
            <a:ext cx="2985193" cy="67756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3200" dirty="0" smtClean="0">
                <a:solidFill>
                  <a:schemeClr val="tx1"/>
                </a:solidFill>
              </a:rPr>
              <a:t>PENSEMOS. . .</a:t>
            </a:r>
            <a:endParaRPr lang="es-PE" sz="3200" dirty="0">
              <a:solidFill>
                <a:schemeClr val="tx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6393160" y="1772816"/>
            <a:ext cx="3312368" cy="4516173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b="1" dirty="0" smtClean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s-PE" sz="24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s-PE" sz="2000" b="1" dirty="0" smtClean="0">
                <a:solidFill>
                  <a:schemeClr val="tx1"/>
                </a:solidFill>
              </a:rPr>
              <a:t>¿</a:t>
            </a:r>
            <a:r>
              <a:rPr lang="es-PE" sz="2000" b="1" dirty="0">
                <a:solidFill>
                  <a:schemeClr val="tx1"/>
                </a:solidFill>
              </a:rPr>
              <a:t>Qué </a:t>
            </a:r>
            <a:r>
              <a:rPr lang="es-PE" sz="2000" b="1" dirty="0" smtClean="0">
                <a:solidFill>
                  <a:schemeClr val="tx1"/>
                </a:solidFill>
              </a:rPr>
              <a:t>entiendes por movimiento  armónico amortiguado?</a:t>
            </a:r>
            <a:r>
              <a:rPr lang="es-PE" sz="2000" b="1" dirty="0">
                <a:solidFill>
                  <a:schemeClr val="tx1"/>
                </a:solidFill>
              </a:rPr>
              <a:t/>
            </a:r>
            <a:br>
              <a:rPr lang="es-PE" sz="2000" b="1" dirty="0">
                <a:solidFill>
                  <a:schemeClr val="tx1"/>
                </a:solidFill>
              </a:rPr>
            </a:br>
            <a:r>
              <a:rPr lang="es-PE" sz="2000" b="1" dirty="0" smtClean="0">
                <a:solidFill>
                  <a:schemeClr val="tx1"/>
                </a:solidFill>
              </a:rPr>
              <a:t>¿Qué entiendes por movimiento  armónico forzado?</a:t>
            </a:r>
            <a:r>
              <a:rPr lang="es-PE" sz="2000" b="1" dirty="0">
                <a:solidFill>
                  <a:schemeClr val="tx1"/>
                </a:solidFill>
              </a:rPr>
              <a:t/>
            </a:r>
            <a:br>
              <a:rPr lang="es-PE" sz="2000" b="1" dirty="0">
                <a:solidFill>
                  <a:schemeClr val="tx1"/>
                </a:solidFill>
              </a:rPr>
            </a:br>
            <a:r>
              <a:rPr lang="es-PE" sz="2000" b="1" dirty="0" smtClean="0">
                <a:solidFill>
                  <a:schemeClr val="tx1"/>
                </a:solidFill>
              </a:rPr>
              <a:t>¿Qué es la resonancia?</a:t>
            </a:r>
          </a:p>
          <a:p>
            <a:pPr>
              <a:lnSpc>
                <a:spcPct val="150000"/>
              </a:lnSpc>
            </a:pPr>
            <a:r>
              <a:rPr lang="es-PE" sz="2000" b="1" dirty="0" smtClean="0">
                <a:solidFill>
                  <a:schemeClr val="tx1"/>
                </a:solidFill>
              </a:rPr>
              <a:t>¿La energía mecánica se conserva en el MAA?</a:t>
            </a:r>
            <a:r>
              <a:rPr lang="es-PE" sz="2000" b="1" dirty="0">
                <a:solidFill>
                  <a:schemeClr val="tx1"/>
                </a:solidFill>
              </a:rPr>
              <a:t/>
            </a:r>
            <a:br>
              <a:rPr lang="es-PE" sz="2000" b="1" dirty="0">
                <a:solidFill>
                  <a:schemeClr val="tx1"/>
                </a:solidFill>
              </a:rPr>
            </a:br>
            <a:r>
              <a:rPr lang="es-PE" sz="2400" b="1" dirty="0">
                <a:solidFill>
                  <a:schemeClr val="tx1"/>
                </a:solidFill>
              </a:rPr>
              <a:t/>
            </a:r>
            <a:br>
              <a:rPr lang="es-PE" sz="2400" b="1" dirty="0">
                <a:solidFill>
                  <a:schemeClr val="tx1"/>
                </a:solidFill>
              </a:rPr>
            </a:b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2150856"/>
            <a:ext cx="5688632" cy="3199856"/>
          </a:xfrm>
          <a:prstGeom prst="rect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6411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2664295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PROPÓSITO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8" name="2 Redondear rectángulo de esquina diagonal"/>
          <p:cNvSpPr/>
          <p:nvPr/>
        </p:nvSpPr>
        <p:spPr>
          <a:xfrm>
            <a:off x="5241032" y="1484784"/>
            <a:ext cx="4104475" cy="4452123"/>
          </a:xfrm>
          <a:prstGeom prst="round2DiagRect">
            <a:avLst>
              <a:gd name="adj1" fmla="val 14362"/>
              <a:gd name="adj2" fmla="val 0"/>
            </a:avLst>
          </a:prstGeom>
          <a:solidFill>
            <a:srgbClr val="11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PE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termino de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sesión, el estudiante resuelve problemas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movimiento armónico amortiguado y forzado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correcta, con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limpieza, orden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precisión en el cálculo.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2132856"/>
            <a:ext cx="3909322" cy="38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/>
          <p:cNvCxnSpPr>
            <a:endCxn id="33" idx="2"/>
          </p:cNvCxnSpPr>
          <p:nvPr/>
        </p:nvCxnSpPr>
        <p:spPr>
          <a:xfrm>
            <a:off x="5029186" y="3911376"/>
            <a:ext cx="1" cy="8085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/>
          <p:cNvCxnSpPr/>
          <p:nvPr/>
        </p:nvCxnSpPr>
        <p:spPr>
          <a:xfrm>
            <a:off x="2932622" y="3626482"/>
            <a:ext cx="4154" cy="7010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="" xmlns:a16="http://schemas.microsoft.com/office/drawing/2014/main" id="{8001D105-DCAC-42FF-A68E-0D3DE034E8B2}"/>
              </a:ext>
            </a:extLst>
          </p:cNvPr>
          <p:cNvCxnSpPr>
            <a:cxnSpLocks/>
          </p:cNvCxnSpPr>
          <p:nvPr/>
        </p:nvCxnSpPr>
        <p:spPr>
          <a:xfrm flipH="1">
            <a:off x="6875364" y="4025210"/>
            <a:ext cx="6402" cy="6946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9" name="Rectángulo redondeado 8"/>
          <p:cNvSpPr/>
          <p:nvPr/>
        </p:nvSpPr>
        <p:spPr>
          <a:xfrm>
            <a:off x="1640632" y="1003815"/>
            <a:ext cx="4352925" cy="527000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</a:rPr>
              <a:t>CONTENIDO TEMÁTICO</a:t>
            </a:r>
            <a:endParaRPr lang="es-PE" sz="2800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="" xmlns:a16="http://schemas.microsoft.com/office/drawing/2014/main" id="{8029014D-9243-4890-AF00-9E6FC9945B2C}"/>
              </a:ext>
            </a:extLst>
          </p:cNvPr>
          <p:cNvSpPr/>
          <p:nvPr/>
        </p:nvSpPr>
        <p:spPr>
          <a:xfrm>
            <a:off x="2600759" y="1844824"/>
            <a:ext cx="5195686" cy="576064"/>
          </a:xfrm>
          <a:prstGeom prst="rect">
            <a:avLst/>
          </a:prstGeom>
          <a:solidFill>
            <a:srgbClr val="1199FF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b="1" dirty="0" smtClean="0">
                <a:solidFill>
                  <a:schemeClr val="tx1"/>
                </a:solidFill>
              </a:rPr>
              <a:t>MOVIMIENTO ARMONICO AMORTIGUADO</a:t>
            </a:r>
            <a:endParaRPr lang="es-PE" b="1" dirty="0">
              <a:solidFill>
                <a:schemeClr val="tx1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="" xmlns:a16="http://schemas.microsoft.com/office/drawing/2014/main" id="{008A15F1-A2F7-4515-8854-56CDE8B68B99}"/>
              </a:ext>
            </a:extLst>
          </p:cNvPr>
          <p:cNvCxnSpPr>
            <a:cxnSpLocks/>
          </p:cNvCxnSpPr>
          <p:nvPr/>
        </p:nvCxnSpPr>
        <p:spPr>
          <a:xfrm>
            <a:off x="4916462" y="245105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3" name="Rectángulo 12">
            <a:extLst>
              <a:ext uri="{FF2B5EF4-FFF2-40B4-BE49-F238E27FC236}">
                <a16:creationId xmlns="" xmlns:a16="http://schemas.microsoft.com/office/drawing/2014/main" id="{B377CFE4-F974-430F-8D3E-31A44641DDDD}"/>
              </a:ext>
            </a:extLst>
          </p:cNvPr>
          <p:cNvSpPr/>
          <p:nvPr/>
        </p:nvSpPr>
        <p:spPr>
          <a:xfrm>
            <a:off x="2187679" y="3036424"/>
            <a:ext cx="1508771" cy="590058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solidFill>
                  <a:schemeClr val="tx1"/>
                </a:solidFill>
              </a:rPr>
              <a:t>CANTIDADES </a:t>
            </a:r>
            <a:r>
              <a:rPr lang="es-PE" sz="1600" b="1" dirty="0"/>
              <a:t>FÍSICAS</a:t>
            </a:r>
            <a:endParaRPr lang="es-PE" sz="1600" b="1" dirty="0">
              <a:solidFill>
                <a:schemeClr val="tx1"/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="" xmlns:a16="http://schemas.microsoft.com/office/drawing/2014/main" id="{43098481-B66C-4565-AFF8-F4FBF153DF92}"/>
              </a:ext>
            </a:extLst>
          </p:cNvPr>
          <p:cNvCxnSpPr>
            <a:cxnSpLocks/>
          </p:cNvCxnSpPr>
          <p:nvPr/>
        </p:nvCxnSpPr>
        <p:spPr>
          <a:xfrm flipH="1" flipV="1">
            <a:off x="1203775" y="2800075"/>
            <a:ext cx="7391093" cy="2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="" xmlns:a16="http://schemas.microsoft.com/office/drawing/2014/main" id="{E4375B2A-706A-4D8E-8409-0FE4926350F3}"/>
              </a:ext>
            </a:extLst>
          </p:cNvPr>
          <p:cNvCxnSpPr>
            <a:cxnSpLocks/>
          </p:cNvCxnSpPr>
          <p:nvPr/>
        </p:nvCxnSpPr>
        <p:spPr>
          <a:xfrm>
            <a:off x="4918241" y="281109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6" name="Rectángulo 15">
            <a:extLst>
              <a:ext uri="{FF2B5EF4-FFF2-40B4-BE49-F238E27FC236}">
                <a16:creationId xmlns="" xmlns:a16="http://schemas.microsoft.com/office/drawing/2014/main" id="{B32EC4F4-40F8-440A-A577-A55B582660EF}"/>
              </a:ext>
            </a:extLst>
          </p:cNvPr>
          <p:cNvSpPr/>
          <p:nvPr/>
        </p:nvSpPr>
        <p:spPr>
          <a:xfrm>
            <a:off x="7744073" y="3066114"/>
            <a:ext cx="1917899" cy="759715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 dirty="0" smtClean="0">
                <a:cs typeface="Arial" panose="020B0604020202020204" pitchFamily="34" charset="0"/>
              </a:rPr>
              <a:t> ECUACIÓN DE MOVIMIENTO</a:t>
            </a:r>
            <a:endParaRPr lang="es-PE" sz="1600" b="1" dirty="0"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="" xmlns:a16="http://schemas.microsoft.com/office/drawing/2014/main" id="{491CDA35-9E9C-46DA-B439-A69909018FD2}"/>
              </a:ext>
            </a:extLst>
          </p:cNvPr>
          <p:cNvSpPr/>
          <p:nvPr/>
        </p:nvSpPr>
        <p:spPr>
          <a:xfrm>
            <a:off x="2321731" y="3860053"/>
            <a:ext cx="1463290" cy="1770474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Fuerza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viscosa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Fuerza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restauradora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Posici</a:t>
            </a:r>
            <a:r>
              <a:rPr kumimoji="1" lang="en-GB" altLang="es-PE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kumimoji="1" lang="en-GB" altLang="es-PE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Aceleración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Energía</a:t>
            </a:r>
            <a:endParaRPr lang="es-P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="" xmlns:a16="http://schemas.microsoft.com/office/drawing/2014/main" id="{B377CFE4-F974-430F-8D3E-31A44641DDDD}"/>
              </a:ext>
            </a:extLst>
          </p:cNvPr>
          <p:cNvSpPr/>
          <p:nvPr/>
        </p:nvSpPr>
        <p:spPr>
          <a:xfrm>
            <a:off x="200472" y="3036423"/>
            <a:ext cx="1853559" cy="71616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 smtClean="0">
                <a:solidFill>
                  <a:schemeClr val="tx1"/>
                </a:solidFill>
              </a:rPr>
              <a:t>MOVIMIENTO ARMONICO AMORTIGUADO</a:t>
            </a:r>
            <a:endParaRPr lang="es-PE" sz="1600" b="1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="" xmlns:a16="http://schemas.microsoft.com/office/drawing/2014/main" id="{6B0406B6-735E-446A-993D-567F64EC9E37}"/>
              </a:ext>
            </a:extLst>
          </p:cNvPr>
          <p:cNvSpPr/>
          <p:nvPr/>
        </p:nvSpPr>
        <p:spPr>
          <a:xfrm>
            <a:off x="3965337" y="3019701"/>
            <a:ext cx="1982738" cy="96419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 dirty="0" smtClean="0">
                <a:cs typeface="Arial" panose="020B0604020202020204" pitchFamily="34" charset="0"/>
              </a:rPr>
              <a:t>FUERZA VISCOSA</a:t>
            </a:r>
            <a:endParaRPr lang="es-PE" sz="1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>
                <a:extLst>
                  <a:ext uri="{FF2B5EF4-FFF2-40B4-BE49-F238E27FC236}">
                    <a16:creationId xmlns="" xmlns:a16="http://schemas.microsoft.com/office/drawing/2014/main" id="{491CDA35-9E9C-46DA-B439-A69909018FD2}"/>
                  </a:ext>
                </a:extLst>
              </p:cNvPr>
              <p:cNvSpPr/>
              <p:nvPr/>
            </p:nvSpPr>
            <p:spPr>
              <a:xfrm>
                <a:off x="7364872" y="4122513"/>
                <a:ext cx="2541128" cy="500080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:endParaRPr lang="es-PE" sz="1600" b="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b="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b="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s-PE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P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s-PE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PE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P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PE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s-PE" sz="1600" b="0" i="1" smtClean="0">
                                      <a:latin typeface="Cambria Math" panose="02040503050406030204" pitchFamily="18" charset="0"/>
                                    </a:rPr>
                                    <m:t>´</m:t>
                                  </m:r>
                                </m:sup>
                              </m:sSup>
                              <m:r>
                                <a:rPr lang="es-PE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PE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P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872" y="4122513"/>
                <a:ext cx="2541128" cy="50008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22">
            <a:extLst>
              <a:ext uri="{FF2B5EF4-FFF2-40B4-BE49-F238E27FC236}">
                <a16:creationId xmlns="" xmlns:a16="http://schemas.microsoft.com/office/drawing/2014/main" id="{C2DA4E98-4D40-4E2B-AC84-9B82C98610BC}"/>
              </a:ext>
            </a:extLst>
          </p:cNvPr>
          <p:cNvCxnSpPr>
            <a:cxnSpLocks/>
          </p:cNvCxnSpPr>
          <p:nvPr/>
        </p:nvCxnSpPr>
        <p:spPr>
          <a:xfrm>
            <a:off x="1127251" y="3767360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24" name="Rectángulo 23">
            <a:extLst>
              <a:ext uri="{FF2B5EF4-FFF2-40B4-BE49-F238E27FC236}">
                <a16:creationId xmlns="" xmlns:a16="http://schemas.microsoft.com/office/drawing/2014/main" id="{6B0406B6-735E-446A-993D-567F64EC9E37}"/>
              </a:ext>
            </a:extLst>
          </p:cNvPr>
          <p:cNvSpPr/>
          <p:nvPr/>
        </p:nvSpPr>
        <p:spPr>
          <a:xfrm>
            <a:off x="6084836" y="3044331"/>
            <a:ext cx="1522476" cy="986432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 dirty="0" smtClean="0">
                <a:cs typeface="Arial" panose="020B0604020202020204" pitchFamily="34" charset="0"/>
              </a:rPr>
              <a:t>ECUACIÓN CANÓNICA DEL MAS</a:t>
            </a:r>
            <a:endParaRPr lang="es-PE" sz="1600" b="1" dirty="0">
              <a:cs typeface="Arial" panose="020B0604020202020204" pitchFamily="34" charset="0"/>
            </a:endParaRPr>
          </a:p>
        </p:txBody>
      </p:sp>
      <p:cxnSp>
        <p:nvCxnSpPr>
          <p:cNvPr id="26" name="Conector recto 25"/>
          <p:cNvCxnSpPr/>
          <p:nvPr/>
        </p:nvCxnSpPr>
        <p:spPr>
          <a:xfrm>
            <a:off x="1201213" y="2800075"/>
            <a:ext cx="0" cy="23634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/>
          <p:cNvCxnSpPr/>
          <p:nvPr/>
        </p:nvCxnSpPr>
        <p:spPr>
          <a:xfrm>
            <a:off x="8594868" y="2800075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6846074" y="2811092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/>
          <p:cNvCxnSpPr/>
          <p:nvPr/>
        </p:nvCxnSpPr>
        <p:spPr>
          <a:xfrm>
            <a:off x="3014684" y="2793078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>
            <a:off x="8829513" y="3825829"/>
            <a:ext cx="11919" cy="29668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 32">
                <a:extLst>
                  <a:ext uri="{FF2B5EF4-FFF2-40B4-BE49-F238E27FC236}">
                    <a16:creationId xmlns="" xmlns:a16="http://schemas.microsoft.com/office/drawing/2014/main" id="{491CDA35-9E9C-46DA-B439-A69909018FD2}"/>
                  </a:ext>
                </a:extLst>
              </p:cNvPr>
              <p:cNvSpPr/>
              <p:nvPr/>
            </p:nvSpPr>
            <p:spPr>
              <a:xfrm>
                <a:off x="4174309" y="4227692"/>
                <a:ext cx="1709755" cy="492204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:endParaRPr lang="es-PE" sz="1600" b="0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s-PE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r>
                        <a:rPr lang="es-PE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acc>
                        <m:accPr>
                          <m:chr m:val="̇"/>
                          <m:ctrlPr>
                            <a:rPr lang="es-P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s-P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s-PE" sz="16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309" y="4227692"/>
                <a:ext cx="1709755" cy="49220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="" xmlns:a16="http://schemas.microsoft.com/office/drawing/2014/main" id="{44822C0F-02DC-406F-8E12-F1FFDD5CFB2F}"/>
                  </a:ext>
                </a:extLst>
              </p:cNvPr>
              <p:cNvSpPr/>
              <p:nvPr/>
            </p:nvSpPr>
            <p:spPr>
              <a:xfrm>
                <a:off x="5948074" y="4719896"/>
                <a:ext cx="2101269" cy="723034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s-PE" sz="16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acc>
                        <m:accPr>
                          <m:chr m:val="̇"/>
                          <m:ctrlP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PE" sz="1600" dirty="0" smtClean="0"/>
              </a:p>
              <a:p>
                <a:endParaRPr lang="es-PE" sz="1600" dirty="0"/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4822C0F-02DC-406F-8E12-F1FFDD5CF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74" y="4719896"/>
                <a:ext cx="2101269" cy="7230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ángulo 16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8EF499C7-AECE-44DE-89A6-BD7D3BC55E42}"/>
              </a:ext>
            </a:extLst>
          </p:cNvPr>
          <p:cNvSpPr/>
          <p:nvPr/>
        </p:nvSpPr>
        <p:spPr>
          <a:xfrm>
            <a:off x="223006" y="3860053"/>
            <a:ext cx="1741728" cy="2161235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s-PE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Es un movimiento periódico en cuyo sistema actúan no solo fuerzas elásticas sino también fuerzas de rozamiento viscoso o de </a:t>
            </a:r>
            <a:r>
              <a:rPr lang="es-PE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Coulumb</a:t>
            </a:r>
            <a:endParaRPr lang="es-P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9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33" grpId="0" animBg="1"/>
      <p:bldP spid="19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1637806" y="817512"/>
            <a:ext cx="6267522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MOVIMIENTO ARMONICO AMORTIGUADO</a:t>
            </a:r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128464" y="1789716"/>
            <a:ext cx="5400600" cy="182708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Bef>
                <a:spcPct val="45000"/>
              </a:spcBef>
              <a:spcAft>
                <a:spcPct val="30000"/>
              </a:spcAft>
            </a:pPr>
            <a:r>
              <a:rPr lang="es-PE" dirty="0" smtClean="0">
                <a:solidFill>
                  <a:schemeClr val="tx1"/>
                </a:solidFill>
              </a:rPr>
              <a:t>Los sistemas reales tienen siempre fuerzas disipadoras como el rozamiento, por lo que las oscilaciones cesan con el tiempo.</a:t>
            </a:r>
          </a:p>
          <a:p>
            <a:pPr algn="just" fontAlgn="auto">
              <a:spcBef>
                <a:spcPct val="45000"/>
              </a:spcBef>
              <a:spcAft>
                <a:spcPct val="30000"/>
              </a:spcAft>
            </a:pPr>
            <a:r>
              <a:rPr lang="es-PE" dirty="0" smtClean="0">
                <a:solidFill>
                  <a:schemeClr val="tx1"/>
                </a:solidFill>
              </a:rPr>
              <a:t>La disminución de la amplitud se denomina </a:t>
            </a:r>
            <a:r>
              <a:rPr lang="es-PE" i="1" dirty="0" smtClean="0">
                <a:solidFill>
                  <a:schemeClr val="tx1"/>
                </a:solidFill>
              </a:rPr>
              <a:t>amortiguación</a:t>
            </a:r>
            <a:r>
              <a:rPr lang="es-PE" dirty="0" smtClean="0">
                <a:solidFill>
                  <a:schemeClr val="tx1"/>
                </a:solidFill>
              </a:rPr>
              <a:t> y el movimiento que realiza se llama </a:t>
            </a:r>
            <a:r>
              <a:rPr lang="es-PE" i="1" dirty="0" smtClean="0">
                <a:solidFill>
                  <a:schemeClr val="tx1"/>
                </a:solidFill>
              </a:rPr>
              <a:t>oscilación amortiguada</a:t>
            </a:r>
            <a:r>
              <a:rPr lang="es-PE" dirty="0" smtClean="0">
                <a:solidFill>
                  <a:schemeClr val="tx1"/>
                </a:solidFill>
              </a:rPr>
              <a:t>.  </a:t>
            </a:r>
          </a:p>
          <a:p>
            <a:endParaRPr lang="es-PE" dirty="0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715118"/>
              </p:ext>
            </p:extLst>
          </p:nvPr>
        </p:nvGraphicFramePr>
        <p:xfrm>
          <a:off x="1390775" y="3616803"/>
          <a:ext cx="24288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3" imgW="1193282" imgH="266584" progId="">
                  <p:embed/>
                </p:oleObj>
              </mc:Choice>
              <mc:Fallback>
                <p:oleObj name="Equation" r:id="rId3" imgW="1193282" imgH="26658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775" y="3616803"/>
                        <a:ext cx="2428875" cy="5429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5"/>
          <p:cNvGrpSpPr>
            <a:grpSpLocks/>
          </p:cNvGrpSpPr>
          <p:nvPr/>
        </p:nvGrpSpPr>
        <p:grpSpPr bwMode="auto">
          <a:xfrm>
            <a:off x="5817096" y="1691580"/>
            <a:ext cx="3962400" cy="4689748"/>
            <a:chOff x="2934" y="629"/>
            <a:chExt cx="2496" cy="2257"/>
          </a:xfrm>
        </p:grpSpPr>
        <p:pic>
          <p:nvPicPr>
            <p:cNvPr id="10" name="Picture 6" descr="oscilacion_amortiguada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4" y="629"/>
              <a:ext cx="2496" cy="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3115" y="2047"/>
              <a:ext cx="985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Tahoma" pitchFamily="34" charset="0"/>
                  <a:ea typeface="Gulim" pitchFamily="34" charset="-127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Tahoma" pitchFamily="34" charset="0"/>
                  <a:ea typeface="Gulim" pitchFamily="34" charset="-127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Tahoma" pitchFamily="34" charset="0"/>
                  <a:ea typeface="Gulim" pitchFamily="34" charset="-127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Tahoma" pitchFamily="34" charset="0"/>
                  <a:ea typeface="Gulim" pitchFamily="34" charset="-127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Tahoma" pitchFamily="34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Tahoma" pitchFamily="34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Tahoma" pitchFamily="34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Tahoma" pitchFamily="34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Tahoma" pitchFamily="34" charset="0"/>
                  <a:ea typeface="Gulim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s-PE" sz="2200" dirty="0">
                  <a:effectLst/>
                  <a:latin typeface="+mj-lt"/>
                  <a:cs typeface="Arial" charset="0"/>
                </a:rPr>
                <a:t>Posición de 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es-PE" sz="2200" dirty="0">
                  <a:effectLst/>
                  <a:latin typeface="+mj-lt"/>
                  <a:cs typeface="Arial" charset="0"/>
                </a:rPr>
                <a:t>equilibrio</a:t>
              </a:r>
              <a:endParaRPr lang="es-ES" sz="2200" dirty="0">
                <a:effectLst/>
                <a:latin typeface="+mj-lt"/>
                <a:cs typeface="Arial" charset="0"/>
              </a:endParaRPr>
            </a:p>
          </p:txBody>
        </p:sp>
      </p:grp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128464" y="4292049"/>
            <a:ext cx="5544616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l" defTabSz="914400" rtl="0" eaLnBrk="1" latinLnBrk="0" hangingPunct="1">
              <a:spcBef>
                <a:spcPct val="20000"/>
              </a:spcBef>
              <a:buClr>
                <a:srgbClr val="800000"/>
              </a:buClr>
              <a:buFont typeface="Arial" pitchFamily="34" charset="0"/>
              <a:buChar char="•"/>
              <a:defRPr lang="es-ES" sz="2300" b="0" kern="120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539750" indent="-274638" algn="l" defTabSz="914400" rtl="0" eaLnBrk="1" latinLnBrk="0" hangingPunct="1">
              <a:spcBef>
                <a:spcPct val="20000"/>
              </a:spcBef>
              <a:buClr>
                <a:srgbClr val="800000"/>
              </a:buClr>
              <a:buFont typeface="Arial" pitchFamily="34" charset="0"/>
              <a:buChar char="•"/>
              <a:defRPr lang="es-ES" sz="2000" b="0" kern="120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804863" indent="-265113" algn="l" defTabSz="914400" rtl="0" eaLnBrk="1" latinLnBrk="0" hangingPunct="1">
              <a:spcBef>
                <a:spcPct val="20000"/>
              </a:spcBef>
              <a:buClr>
                <a:srgbClr val="800000"/>
              </a:buClr>
              <a:buFont typeface="Arial" pitchFamily="34" charset="0"/>
              <a:buChar char="•"/>
              <a:defRPr lang="es-ES" sz="1800" b="0" kern="120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079500" indent="-265113" algn="l" defTabSz="914400" rtl="0" eaLnBrk="1" latinLnBrk="0" hangingPunct="1">
              <a:spcBef>
                <a:spcPct val="20000"/>
              </a:spcBef>
              <a:buClr>
                <a:srgbClr val="800000"/>
              </a:buClr>
              <a:buFont typeface="Arial" pitchFamily="34" charset="0"/>
              <a:buChar char="•"/>
              <a:tabLst/>
              <a:defRPr lang="es-ES" sz="1400" b="0" kern="120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1344613" indent="-274638" algn="l" defTabSz="987425" rtl="0" eaLnBrk="1" latinLnBrk="0" hangingPunct="1">
              <a:spcBef>
                <a:spcPct val="20000"/>
              </a:spcBef>
              <a:buClr>
                <a:srgbClr val="800000"/>
              </a:buClr>
              <a:buFont typeface="Courier New" pitchFamily="49" charset="0"/>
              <a:buChar char="o"/>
              <a:defRPr lang="es-PE" sz="1400" b="0" kern="120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</a:pPr>
            <a:r>
              <a:rPr lang="es-ES" sz="1800" dirty="0">
                <a:solidFill>
                  <a:schemeClr val="tx1"/>
                </a:solidFill>
                <a:latin typeface="Arial"/>
                <a:ea typeface="MS PGothic" pitchFamily="34" charset="-128"/>
                <a:cs typeface="+mn-cs"/>
              </a:rPr>
              <a:t>De acuerdo con la segunda ley de Newton, se tiene la expresión:</a:t>
            </a:r>
          </a:p>
          <a:p>
            <a:pPr algn="just" fontAlgn="auto">
              <a:spcAft>
                <a:spcPts val="0"/>
              </a:spcAft>
            </a:pPr>
            <a:endParaRPr lang="es-ES" sz="1800" dirty="0" smtClean="0">
              <a:solidFill>
                <a:schemeClr val="tx1"/>
              </a:solidFill>
              <a:latin typeface="Arial"/>
              <a:ea typeface="MS PGothic" pitchFamily="34" charset="-128"/>
              <a:cs typeface="+mn-cs"/>
            </a:endParaRPr>
          </a:p>
          <a:p>
            <a:pPr algn="just" fontAlgn="auto">
              <a:spcAft>
                <a:spcPts val="0"/>
              </a:spcAft>
            </a:pPr>
            <a:endParaRPr lang="es-ES" sz="1800" dirty="0">
              <a:solidFill>
                <a:schemeClr val="tx1"/>
              </a:solidFill>
              <a:latin typeface="Arial"/>
              <a:ea typeface="MS PGothic" pitchFamily="34" charset="-128"/>
              <a:cs typeface="+mn-cs"/>
            </a:endParaRPr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119639"/>
              </p:ext>
            </p:extLst>
          </p:nvPr>
        </p:nvGraphicFramePr>
        <p:xfrm>
          <a:off x="1263166" y="4999930"/>
          <a:ext cx="25923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6" imgW="1079500" imgH="228600" progId="">
                  <p:embed/>
                </p:oleObj>
              </mc:Choice>
              <mc:Fallback>
                <p:oleObj name="Equation" r:id="rId6" imgW="1079500" imgH="228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166" y="4999930"/>
                        <a:ext cx="2592388" cy="54927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364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ítulo 1"/>
          <p:cNvSpPr txBox="1">
            <a:spLocks/>
          </p:cNvSpPr>
          <p:nvPr/>
        </p:nvSpPr>
        <p:spPr>
          <a:xfrm>
            <a:off x="1856656" y="812670"/>
            <a:ext cx="6563072" cy="710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0" i="0" u="none" kern="1200" cap="all">
                <a:solidFill>
                  <a:schemeClr val="tx1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PE" sz="2400" b="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ＭＳ Ｐゴシック" charset="-128"/>
            </a:endParaRPr>
          </a:p>
        </p:txBody>
      </p:sp>
      <p:sp>
        <p:nvSpPr>
          <p:cNvPr id="15" name="Rectángulo redondeado 14"/>
          <p:cNvSpPr/>
          <p:nvPr/>
        </p:nvSpPr>
        <p:spPr>
          <a:xfrm>
            <a:off x="1669791" y="868377"/>
            <a:ext cx="6267522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MOVIMIENTO ARMONICO AMORTIGUADO</a:t>
            </a:r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85192" y="1664251"/>
            <a:ext cx="4953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auto">
              <a:spcAft>
                <a:spcPts val="0"/>
              </a:spcAft>
            </a:pPr>
            <a:r>
              <a:rPr lang="es-ES" dirty="0">
                <a:latin typeface="Arial"/>
                <a:ea typeface="MS PGothic" pitchFamily="34" charset="-128"/>
              </a:rPr>
              <a:t>De donde se obtiene una ecuación diferencial de segundo orden, cuya solución para valores de b pequeños es la expresión.</a:t>
            </a:r>
          </a:p>
          <a:p>
            <a:pPr algn="just" fontAlgn="auto">
              <a:spcAft>
                <a:spcPts val="0"/>
              </a:spcAft>
            </a:pPr>
            <a:endParaRPr lang="es-ES" dirty="0">
              <a:latin typeface="Arial"/>
              <a:ea typeface="MS PGothic" pitchFamily="34" charset="-128"/>
            </a:endParaRPr>
          </a:p>
          <a:p>
            <a:pPr algn="just" fontAlgn="auto">
              <a:spcAft>
                <a:spcPts val="0"/>
              </a:spcAft>
            </a:pPr>
            <a:endParaRPr lang="es-ES" dirty="0">
              <a:latin typeface="Arial"/>
              <a:ea typeface="MS PGothic" pitchFamily="34" charset="-128"/>
            </a:endParaRPr>
          </a:p>
          <a:p>
            <a:pPr algn="just" fontAlgn="auto">
              <a:spcAft>
                <a:spcPts val="0"/>
              </a:spcAft>
            </a:pPr>
            <a:endParaRPr lang="es-ES" dirty="0">
              <a:latin typeface="Arial"/>
              <a:ea typeface="MS PGothic" pitchFamily="34" charset="-128"/>
            </a:endParaRPr>
          </a:p>
          <a:p>
            <a:pPr algn="just" fontAlgn="auto">
              <a:spcAft>
                <a:spcPts val="0"/>
              </a:spcAft>
            </a:pPr>
            <a:r>
              <a:rPr lang="es-ES" dirty="0" smtClean="0">
                <a:latin typeface="Arial"/>
                <a:ea typeface="MS PGothic" pitchFamily="34" charset="-128"/>
              </a:rPr>
              <a:t>La </a:t>
            </a:r>
            <a:r>
              <a:rPr lang="es-ES" dirty="0">
                <a:latin typeface="Arial"/>
                <a:ea typeface="MS PGothic" pitchFamily="34" charset="-128"/>
              </a:rPr>
              <a:t>frecuencia angular de la oscilación w´ está dada por: </a:t>
            </a:r>
          </a:p>
        </p:txBody>
      </p:sp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268489"/>
              </p:ext>
            </p:extLst>
          </p:nvPr>
        </p:nvGraphicFramePr>
        <p:xfrm>
          <a:off x="931735" y="2620463"/>
          <a:ext cx="3665908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" name="Equation" r:id="rId3" imgW="1726451" imgH="253890" progId="">
                  <p:embed/>
                </p:oleObj>
              </mc:Choice>
              <mc:Fallback>
                <p:oleObj name="Equation" r:id="rId3" imgW="1726451" imgH="253890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735" y="2620463"/>
                        <a:ext cx="3665908" cy="576064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546396"/>
              </p:ext>
            </p:extLst>
          </p:nvPr>
        </p:nvGraphicFramePr>
        <p:xfrm>
          <a:off x="1460574" y="3946914"/>
          <a:ext cx="2365216" cy="902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Equation" r:id="rId5" imgW="1231366" imgH="469696" progId="">
                  <p:embed/>
                </p:oleObj>
              </mc:Choice>
              <mc:Fallback>
                <p:oleObj name="Equation" r:id="rId5" imgW="1231366" imgH="469696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74" y="3946914"/>
                        <a:ext cx="2365216" cy="902196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ángulo 3"/>
          <p:cNvSpPr/>
          <p:nvPr/>
        </p:nvSpPr>
        <p:spPr>
          <a:xfrm>
            <a:off x="272042" y="502724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auto">
              <a:spcBef>
                <a:spcPct val="50000"/>
              </a:spcBef>
              <a:spcAft>
                <a:spcPts val="0"/>
              </a:spcAft>
            </a:pPr>
            <a:r>
              <a:rPr lang="es-ES" dirty="0"/>
              <a:t>Si hacemos que </a:t>
            </a:r>
            <a:r>
              <a:rPr lang="es-ES" i="1" dirty="0">
                <a:sym typeface="Symbol" pitchFamily="18" charset="2"/>
              </a:rPr>
              <a:t>’</a:t>
            </a:r>
            <a:r>
              <a:rPr lang="es-ES" dirty="0">
                <a:sym typeface="Symbol" pitchFamily="18" charset="2"/>
              </a:rPr>
              <a:t> sea nula, tendremos la expresión de la derecha;</a:t>
            </a:r>
          </a:p>
        </p:txBody>
      </p:sp>
      <p:graphicFrame>
        <p:nvGraphicFramePr>
          <p:cNvPr id="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537959"/>
              </p:ext>
            </p:extLst>
          </p:nvPr>
        </p:nvGraphicFramePr>
        <p:xfrm>
          <a:off x="1311034" y="5851719"/>
          <a:ext cx="2664296" cy="870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" name="Equation" r:id="rId7" imgW="1244060" imgH="406224" progId="">
                  <p:embed/>
                </p:oleObj>
              </mc:Choice>
              <mc:Fallback>
                <p:oleObj name="Equation" r:id="rId7" imgW="1244060" imgH="4062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034" y="5851719"/>
                        <a:ext cx="2664296" cy="870301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808111"/>
              </p:ext>
            </p:extLst>
          </p:nvPr>
        </p:nvGraphicFramePr>
        <p:xfrm>
          <a:off x="6773867" y="1702446"/>
          <a:ext cx="15113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Equation" r:id="rId9" imgW="583693" imgH="215713" progId="">
                  <p:embed/>
                </p:oleObj>
              </mc:Choice>
              <mc:Fallback>
                <p:oleObj name="Equation" r:id="rId9" imgW="583693" imgH="21571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3867" y="1702446"/>
                        <a:ext cx="1511300" cy="557212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ángulo 4"/>
          <p:cNvSpPr/>
          <p:nvPr/>
        </p:nvSpPr>
        <p:spPr>
          <a:xfrm>
            <a:off x="5369496" y="2388614"/>
            <a:ext cx="440804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spcBef>
                <a:spcPct val="50000"/>
              </a:spcBef>
              <a:spcAft>
                <a:spcPts val="0"/>
              </a:spcAft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En estos casos, el sistema ya no oscila, sino que vuelve a su posición de equilibrio sin oscilar, entonces se dice que se tiene una </a:t>
            </a:r>
            <a:r>
              <a:rPr lang="es-ES" b="1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amortiguación critica</a:t>
            </a:r>
            <a:r>
              <a:rPr lang="es-ES" b="1" i="1" dirty="0" smtClean="0">
                <a:solidFill>
                  <a:srgbClr val="0066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auto">
              <a:spcBef>
                <a:spcPct val="50000"/>
              </a:spcBef>
              <a:spcAft>
                <a:spcPts val="0"/>
              </a:spcAft>
            </a:pPr>
            <a:endParaRPr lang="es-ES" i="1" dirty="0">
              <a:solidFill>
                <a:srgbClr val="0066CC"/>
              </a:solidFill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5373853" y="3670236"/>
            <a:ext cx="4557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Si se cumple que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b &gt;            ,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se dice que la oscilación es </a:t>
            </a:r>
            <a:r>
              <a:rPr lang="es-ES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sobreamortiguada</a:t>
            </a:r>
            <a:r>
              <a:rPr lang="es-ES" b="1" dirty="0">
                <a:solidFill>
                  <a:srgbClr val="0066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156651"/>
              </p:ext>
            </p:extLst>
          </p:nvPr>
        </p:nvGraphicFramePr>
        <p:xfrm>
          <a:off x="7937313" y="3775185"/>
          <a:ext cx="655638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Equation" r:id="rId11" imgW="419100" imgH="228600" progId="">
                  <p:embed/>
                </p:oleObj>
              </mc:Choice>
              <mc:Fallback>
                <p:oleObj name="Equation" r:id="rId11" imgW="419100" imgH="228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313" y="3775185"/>
                        <a:ext cx="655638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Imagen 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39" y="4317204"/>
            <a:ext cx="3410426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6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ítulo 1"/>
          <p:cNvSpPr txBox="1">
            <a:spLocks/>
          </p:cNvSpPr>
          <p:nvPr/>
        </p:nvSpPr>
        <p:spPr>
          <a:xfrm>
            <a:off x="1761067" y="885338"/>
            <a:ext cx="6563072" cy="710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0" i="0" u="none" kern="1200" cap="all">
                <a:solidFill>
                  <a:schemeClr val="tx1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PE" sz="2400" b="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ＭＳ Ｐゴシック" charset="-128"/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1659346" y="892648"/>
            <a:ext cx="4949838" cy="560768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s-PE" sz="2400" b="1" cap="all" dirty="0" smtClean="0">
                <a:solidFill>
                  <a:sysClr val="windowText" lastClr="000000"/>
                </a:solidFill>
                <a:latin typeface="Arial"/>
                <a:ea typeface="ＭＳ Ｐゴシック" charset="-128"/>
              </a:rPr>
              <a:t>Decremento logarítmico</a:t>
            </a:r>
            <a:endParaRPr lang="es-PE" sz="2800" dirty="0">
              <a:solidFill>
                <a:schemeClr val="tx1"/>
              </a:solidFill>
            </a:endParaRPr>
          </a:p>
        </p:txBody>
      </p:sp>
      <p:graphicFrame>
        <p:nvGraphicFramePr>
          <p:cNvPr id="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465850"/>
              </p:ext>
            </p:extLst>
          </p:nvPr>
        </p:nvGraphicFramePr>
        <p:xfrm>
          <a:off x="1208584" y="1719957"/>
          <a:ext cx="4390297" cy="64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Equation" r:id="rId3" imgW="1459866" imgH="215806" progId="">
                  <p:embed/>
                </p:oleObj>
              </mc:Choice>
              <mc:Fallback>
                <p:oleObj name="Equation" r:id="rId3" imgW="1459866" imgH="21580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8584" y="1719957"/>
                        <a:ext cx="4390297" cy="648419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2492896"/>
            <a:ext cx="5086549" cy="4078086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6321152" y="1916832"/>
            <a:ext cx="3168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Si consideramos dos amplitudes sucesivas tenemos que el cociente estaría dado por: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6735488" y="2996952"/>
                <a:ext cx="1970861" cy="8285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s-PE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s-PE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488" y="2996952"/>
                <a:ext cx="1970861" cy="8285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adroTexto 24"/>
          <p:cNvSpPr txBox="1"/>
          <p:nvPr/>
        </p:nvSpPr>
        <p:spPr>
          <a:xfrm>
            <a:off x="6315413" y="3949274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Si tomamos el logaritmo natural se obtiene: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/>
              <p:cNvSpPr txBox="1"/>
              <p:nvPr/>
            </p:nvSpPr>
            <p:spPr>
              <a:xfrm>
                <a:off x="6735488" y="4621528"/>
                <a:ext cx="1948097" cy="408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6" name="Cuadro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488" y="4621528"/>
                <a:ext cx="1948097" cy="4087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/>
              <p:cNvSpPr txBox="1"/>
              <p:nvPr/>
            </p:nvSpPr>
            <p:spPr>
              <a:xfrm>
                <a:off x="7329112" y="5235866"/>
                <a:ext cx="7608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7" name="CuadroTexto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112" y="5235866"/>
                <a:ext cx="760849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7200" t="-2222" r="-7200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/>
              <p:cNvSpPr txBox="1"/>
              <p:nvPr/>
            </p:nvSpPr>
            <p:spPr>
              <a:xfrm>
                <a:off x="6349315" y="5519124"/>
                <a:ext cx="358866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PE" dirty="0" smtClean="0"/>
                  <a:t>Con</a:t>
                </a:r>
                <a:r>
                  <a:rPr lang="es-PE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P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s-PE" b="1" dirty="0" smtClean="0"/>
                  <a:t> c</a:t>
                </a:r>
                <a:r>
                  <a:rPr lang="es-PE" dirty="0" smtClean="0"/>
                  <a:t>omo el decremento logarítmico y  </a:t>
                </a:r>
                <a14:m>
                  <m:oMath xmlns:m="http://schemas.openxmlformats.org/officeDocument/2006/math">
                    <m:r>
                      <a:rPr lang="es-P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s-PE" b="1" dirty="0" smtClean="0"/>
                  <a:t> e</a:t>
                </a:r>
                <a:r>
                  <a:rPr lang="es-PE" dirty="0" smtClean="0"/>
                  <a:t>l factor de amortiguamiento.</a:t>
                </a:r>
                <a:endParaRPr lang="es-PE" dirty="0"/>
              </a:p>
            </p:txBody>
          </p:sp>
        </mc:Choice>
        <mc:Fallback xmlns="">
          <p:sp>
            <p:nvSpPr>
              <p:cNvPr id="41" name="CuadroTexto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315" y="5519124"/>
                <a:ext cx="3588663" cy="923330"/>
              </a:xfrm>
              <a:prstGeom prst="rect">
                <a:avLst/>
              </a:prstGeom>
              <a:blipFill rotWithShape="0">
                <a:blip r:embed="rId9"/>
                <a:stretch>
                  <a:fillRect l="-1531" t="-3289" r="-1531" b="-92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79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546412" y="813699"/>
            <a:ext cx="2254460" cy="5270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</a:t>
            </a:r>
            <a:endParaRPr lang="es-PE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488504" y="1700808"/>
                <a:ext cx="9001000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PE" dirty="0" smtClean="0"/>
                  <a:t>Un vagón ferroviario cargado que pesa 30,000 libras está rodando a una velocidad </a:t>
                </a:r>
                <a:r>
                  <a:rPr lang="es-PE" dirty="0"/>
                  <a:t>constante </a:t>
                </a:r>
                <a:r>
                  <a:rPr lang="es-PE" dirty="0" smtClean="0"/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PE" dirty="0" smtClean="0"/>
                  <a:t> </a:t>
                </a:r>
                <a:r>
                  <a:rPr lang="es-PE" dirty="0"/>
                  <a:t>cuando se empareja con un resorte y sistema de parachoques </a:t>
                </a:r>
                <a:r>
                  <a:rPr lang="es-PE" dirty="0" smtClean="0"/>
                  <a:t>amortiguado. </a:t>
                </a:r>
                <a:r>
                  <a:rPr lang="es-PE" dirty="0"/>
                  <a:t>La curva de desplazamiento-tiempo registrada del vagón de ferrocarril cargado después del acoplamiento es como se </a:t>
                </a:r>
                <a:r>
                  <a:rPr lang="es-PE" dirty="0" smtClean="0"/>
                  <a:t>muestra. </a:t>
                </a:r>
                <a:r>
                  <a:rPr lang="es-PE" dirty="0"/>
                  <a:t>Determinar (a) la constante de amortiguación, (b) la constante de resorte. (Sugerencia: Utilice la definición de decremento </a:t>
                </a:r>
                <a:r>
                  <a:rPr lang="es-PE" dirty="0" smtClean="0"/>
                  <a:t>logarítmico.)</a:t>
                </a:r>
                <a:endParaRPr lang="es-PE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04" y="1700808"/>
                <a:ext cx="9001000" cy="1477328"/>
              </a:xfrm>
              <a:prstGeom prst="rect">
                <a:avLst/>
              </a:prstGeom>
              <a:blipFill rotWithShape="0">
                <a:blip r:embed="rId2"/>
                <a:stretch>
                  <a:fillRect l="-542" t="-2066" r="-542" b="-578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25" y="3429000"/>
            <a:ext cx="8973523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7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784648" y="954706"/>
            <a:ext cx="2088232" cy="388265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560512" y="1719380"/>
            <a:ext cx="89289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/>
              <a:t>Una varilla uniforme de </a:t>
            </a:r>
            <a:r>
              <a:rPr lang="es-PE" dirty="0" smtClean="0"/>
              <a:t>4,00lb </a:t>
            </a:r>
            <a:r>
              <a:rPr lang="es-PE" dirty="0"/>
              <a:t>es soportada por un pin en O y un resorte en A y está conectada a un </a:t>
            </a:r>
            <a:r>
              <a:rPr lang="es-PE" dirty="0" smtClean="0"/>
              <a:t>amortiguador </a:t>
            </a:r>
            <a:r>
              <a:rPr lang="es-PE" dirty="0"/>
              <a:t>en B. Determine (a) la ecuación diferencial del movimiento para oscilaciones pequeñas, (b) el ángulo que la varilla formará con el horizontal 5 s después del extremo B ha sido empujado </a:t>
            </a:r>
            <a:r>
              <a:rPr lang="es-PE" dirty="0" smtClean="0"/>
              <a:t>0,90 in. hacia abajo y </a:t>
            </a:r>
            <a:r>
              <a:rPr lang="es-PE" dirty="0"/>
              <a:t>liberado.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477" y="3296118"/>
            <a:ext cx="3915321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0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712640" y="815516"/>
            <a:ext cx="4452932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OSCILACIONES FORZADAS LIBRES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248" y="1319572"/>
            <a:ext cx="2381582" cy="5068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1 Marcador de contenido"/>
              <p:cNvSpPr txBox="1">
                <a:spLocks/>
              </p:cNvSpPr>
              <p:nvPr/>
            </p:nvSpPr>
            <p:spPr>
              <a:xfrm>
                <a:off x="272480" y="1772816"/>
                <a:ext cx="6522506" cy="573325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fontAlgn="auto">
                  <a:spcBef>
                    <a:spcPct val="45000"/>
                  </a:spcBef>
                  <a:spcAft>
                    <a:spcPct val="30000"/>
                  </a:spcAft>
                </a:pPr>
                <a:r>
                  <a:rPr lang="es-PE" dirty="0" smtClean="0">
                    <a:solidFill>
                      <a:schemeClr val="tx1"/>
                    </a:solidFill>
                  </a:rPr>
                  <a:t>Estudiemos ahora las oscilaciones forzadas libres de un punto material sobre el que actúa una fuerza excitatriz periódica externa:</a:t>
                </a:r>
              </a:p>
              <a:p>
                <a:pPr marL="914400" lvl="2" indent="0" algn="just" fontAlgn="auto">
                  <a:spcBef>
                    <a:spcPct val="45000"/>
                  </a:spcBef>
                  <a:spcAft>
                    <a:spcPct val="30000"/>
                  </a:spcAft>
                  <a:buFont typeface="Arial" pitchFamily="34" charset="0"/>
                  <a:buNone/>
                </a:pPr>
                <a:r>
                  <a:rPr lang="es-PE" dirty="0" smtClean="0">
                    <a:solidFill>
                      <a:schemeClr val="tx1"/>
                    </a:solidFill>
                  </a:rPr>
                  <a:t>	F = H </a:t>
                </a:r>
                <a:r>
                  <a:rPr lang="es-PE" dirty="0" err="1" smtClean="0">
                    <a:solidFill>
                      <a:schemeClr val="tx1"/>
                    </a:solidFill>
                  </a:rPr>
                  <a:t>Cos</a:t>
                </a:r>
                <a:r>
                  <a:rPr lang="es-PE" dirty="0" smtClean="0">
                    <a:solidFill>
                      <a:schemeClr val="tx1"/>
                    </a:solidFill>
                  </a:rPr>
                  <a:t> </a:t>
                </a:r>
                <a:r>
                  <a:rPr lang="el-GR" dirty="0" smtClean="0">
                    <a:solidFill>
                      <a:schemeClr val="tx1"/>
                    </a:solidFill>
                  </a:rPr>
                  <a:t>ω</a:t>
                </a:r>
                <a:r>
                  <a:rPr lang="es-ES" dirty="0" smtClean="0">
                    <a:solidFill>
                      <a:schemeClr val="tx1"/>
                    </a:solidFill>
                  </a:rPr>
                  <a:t>t</a:t>
                </a:r>
              </a:p>
              <a:p>
                <a:pPr marL="354013" lvl="2" indent="0" fontAlgn="auto">
                  <a:spcBef>
                    <a:spcPct val="45000"/>
                  </a:spcBef>
                  <a:spcAft>
                    <a:spcPct val="30000"/>
                  </a:spcAft>
                  <a:buFont typeface="Arial" pitchFamily="34" charset="0"/>
                  <a:buNone/>
                </a:pPr>
                <a:r>
                  <a:rPr lang="es-ES" dirty="0" smtClean="0">
                    <a:solidFill>
                      <a:schemeClr val="tx1"/>
                    </a:solidFill>
                  </a:rPr>
                  <a:t>Por lo que la ecuación de movimiento queda como:</a:t>
                </a:r>
                <a:endParaRPr lang="es-PE" dirty="0">
                  <a:solidFill>
                    <a:schemeClr val="tx1"/>
                  </a:solidFill>
                </a:endParaRPr>
              </a:p>
              <a:p>
                <a:pPr marL="0" indent="0" algn="just" fontAlgn="auto">
                  <a:spcBef>
                    <a:spcPct val="45000"/>
                  </a:spcBef>
                  <a:spcAft>
                    <a:spcPct val="30000"/>
                  </a:spcAft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P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𝐻𝐶𝑜𝑠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s-PE" dirty="0" smtClean="0">
                  <a:solidFill>
                    <a:schemeClr val="tx1"/>
                  </a:solidFill>
                </a:endParaRPr>
              </a:p>
              <a:p>
                <a:pPr algn="just" fontAlgn="auto">
                  <a:spcBef>
                    <a:spcPct val="45000"/>
                  </a:spcBef>
                  <a:spcAft>
                    <a:spcPct val="30000"/>
                  </a:spcAft>
                </a:pPr>
                <a:r>
                  <a:rPr lang="es-PE" dirty="0" smtClean="0">
                    <a:solidFill>
                      <a:schemeClr val="tx1"/>
                    </a:solidFill>
                  </a:rPr>
                  <a:t>Dividiendo todo por m tenemos y ordenando:</a:t>
                </a:r>
              </a:p>
              <a:p>
                <a:pPr marL="0" indent="0" algn="just" fontAlgn="auto">
                  <a:spcBef>
                    <a:spcPct val="45000"/>
                  </a:spcBef>
                  <a:spcAft>
                    <a:spcPct val="30000"/>
                  </a:spcAft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s-P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P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s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s-PE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s-PE" dirty="0">
                    <a:solidFill>
                      <a:schemeClr val="tx1"/>
                    </a:solidFill>
                  </a:rPr>
                  <a:t> </a:t>
                </a:r>
                <a:r>
                  <a:rPr lang="es-PE" dirty="0" smtClean="0">
                    <a:solidFill>
                      <a:schemeClr val="tx1"/>
                    </a:solidFill>
                  </a:rPr>
                  <a:t>    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E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s-E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s-PE" dirty="0" smtClean="0">
                    <a:solidFill>
                      <a:schemeClr val="tx1"/>
                    </a:solidFill>
                  </a:rPr>
                  <a:t> y h </a:t>
                </a:r>
                <a14:m>
                  <m:oMath xmlns:m="http://schemas.openxmlformats.org/officeDocument/2006/math">
                    <m:r>
                      <a:rPr lang="es-E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s-PE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Font typeface="Arial" pitchFamily="34" charset="0"/>
                  <a:buNone/>
                </a:pPr>
                <a:r>
                  <a:rPr lang="es-PE" dirty="0">
                    <a:solidFill>
                      <a:schemeClr val="tx1"/>
                    </a:solidFill>
                  </a:rPr>
                  <a:t> </a:t>
                </a:r>
                <a:r>
                  <a:rPr lang="es-PE" dirty="0" smtClean="0">
                    <a:solidFill>
                      <a:schemeClr val="tx1"/>
                    </a:solidFill>
                  </a:rPr>
                  <a:t>     Consideremos la solución del tipo:</a:t>
                </a:r>
              </a:p>
              <a:p>
                <a:pPr marL="0" indent="0">
                  <a:buFont typeface="Arial" pitchFamily="34" charset="0"/>
                  <a:buNone/>
                </a:pPr>
                <a:r>
                  <a:rPr lang="es-PE" dirty="0" smtClean="0">
                    <a:solidFill>
                      <a:schemeClr val="tx1"/>
                    </a:solidFill>
                  </a:rPr>
                  <a:t>		x = A </a:t>
                </a:r>
                <a:r>
                  <a:rPr lang="es-PE" dirty="0" err="1" smtClean="0">
                    <a:solidFill>
                      <a:schemeClr val="tx1"/>
                    </a:solidFill>
                  </a:rPr>
                  <a:t>Cos</a:t>
                </a:r>
                <a:r>
                  <a:rPr lang="es-PE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s-E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s-PE" dirty="0" smtClean="0">
                  <a:solidFill>
                    <a:schemeClr val="tx1"/>
                  </a:solidFill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s-PE" dirty="0">
                    <a:solidFill>
                      <a:schemeClr val="tx1"/>
                    </a:solidFill>
                  </a:rPr>
                  <a:t> </a:t>
                </a:r>
                <a:r>
                  <a:rPr lang="es-PE" dirty="0" smtClean="0">
                    <a:solidFill>
                      <a:schemeClr val="tx1"/>
                    </a:solidFill>
                  </a:rPr>
                  <a:t>     Donde encontramos que: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s-PE" dirty="0" smtClean="0">
                  <a:solidFill>
                    <a:schemeClr val="tx1"/>
                  </a:solidFill>
                </a:endParaRPr>
              </a:p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P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sSubSup>
                            <m:sSubSupPr>
                              <m:ctrlPr>
                                <a:rPr lang="es-P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P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E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s-E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PE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s-PE" dirty="0" smtClean="0"/>
                  <a:t> </a:t>
                </a:r>
                <a:endParaRPr lang="es-PE" dirty="0"/>
              </a:p>
            </p:txBody>
          </p:sp>
        </mc:Choice>
        <mc:Fallback xmlns="">
          <p:sp>
            <p:nvSpPr>
              <p:cNvPr id="25" name="1 Marcador de contenid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772816"/>
                <a:ext cx="6522506" cy="5733256"/>
              </a:xfrm>
              <a:prstGeom prst="rect">
                <a:avLst/>
              </a:prstGeom>
              <a:blipFill rotWithShape="0">
                <a:blip r:embed="rId3"/>
                <a:stretch>
                  <a:fillRect l="-374" t="-319" r="-4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27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568624" y="836712"/>
            <a:ext cx="1944216" cy="43204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EJERCICIOS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488505" y="1793304"/>
            <a:ext cx="8928992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NewBaskerville-Roman"/>
                <a:ea typeface="Calibri" panose="020F0502020204030204" pitchFamily="34" charset="0"/>
                <a:cs typeface="NewBaskerville-Roman"/>
              </a:rPr>
              <a:t>Un peso de 40,0 N está suspendido de un resorte que tiene una constante de fuerza de 200 N/m. El sistema es no amortiguado y está sujeto a una fuerza motriz armónica de 10,0 Hz frecuencia, resultando en un movimiento forzado de 2,00 cm de amplitud. Determine el máximo valor de la fuerza motriz.</a:t>
            </a:r>
            <a:endParaRPr lang="es-ES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4" y="3284984"/>
            <a:ext cx="1653517" cy="331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8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712640" y="729560"/>
            <a:ext cx="7344816" cy="609582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OSCILACIONES FORZADAS AMORTIGUADAS</a:t>
            </a:r>
            <a:endParaRPr lang="es-PE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>
              <a:xfrm>
                <a:off x="344488" y="1772816"/>
                <a:ext cx="5982736" cy="4876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65113" indent="-265113" algn="l" defTabSz="914400" rtl="0" eaLnBrk="1" latinLnBrk="0" hangingPunct="1">
                  <a:spcBef>
                    <a:spcPct val="20000"/>
                  </a:spcBef>
                  <a:buClr>
                    <a:srgbClr val="800000"/>
                  </a:buClr>
                  <a:buFont typeface="Arial" pitchFamily="34" charset="0"/>
                  <a:buChar char="•"/>
                  <a:defRPr lang="es-ES" sz="2300" b="0" kern="1200">
                    <a:solidFill>
                      <a:schemeClr val="tx2">
                        <a:lumMod val="50000"/>
                      </a:schemeClr>
                    </a:solidFill>
                    <a:latin typeface="Times New Roman" pitchFamily="18" charset="0"/>
                    <a:ea typeface="+mn-ea"/>
                    <a:cs typeface="Times New Roman" pitchFamily="18" charset="0"/>
                  </a:defRPr>
                </a:lvl1pPr>
                <a:lvl2pPr marL="539750" indent="-274638" algn="l" defTabSz="914400" rtl="0" eaLnBrk="1" latinLnBrk="0" hangingPunct="1">
                  <a:spcBef>
                    <a:spcPct val="20000"/>
                  </a:spcBef>
                  <a:buClr>
                    <a:srgbClr val="800000"/>
                  </a:buClr>
                  <a:buFont typeface="Arial" pitchFamily="34" charset="0"/>
                  <a:buChar char="•"/>
                  <a:defRPr lang="es-ES" sz="2000" b="0" kern="1200">
                    <a:solidFill>
                      <a:schemeClr val="tx2">
                        <a:lumMod val="50000"/>
                      </a:schemeClr>
                    </a:solidFill>
                    <a:latin typeface="Times New Roman" pitchFamily="18" charset="0"/>
                    <a:ea typeface="+mn-ea"/>
                    <a:cs typeface="Times New Roman" pitchFamily="18" charset="0"/>
                  </a:defRPr>
                </a:lvl2pPr>
                <a:lvl3pPr marL="804863" indent="-265113" algn="l" defTabSz="914400" rtl="0" eaLnBrk="1" latinLnBrk="0" hangingPunct="1">
                  <a:spcBef>
                    <a:spcPct val="20000"/>
                  </a:spcBef>
                  <a:buClr>
                    <a:srgbClr val="800000"/>
                  </a:buClr>
                  <a:buFont typeface="Arial" pitchFamily="34" charset="0"/>
                  <a:buChar char="•"/>
                  <a:defRPr lang="es-ES" sz="1800" b="0" kern="1200">
                    <a:solidFill>
                      <a:schemeClr val="tx2">
                        <a:lumMod val="50000"/>
                      </a:schemeClr>
                    </a:solidFill>
                    <a:latin typeface="Times New Roman" pitchFamily="18" charset="0"/>
                    <a:ea typeface="+mn-ea"/>
                    <a:cs typeface="Times New Roman" pitchFamily="18" charset="0"/>
                  </a:defRPr>
                </a:lvl3pPr>
                <a:lvl4pPr marL="1079500" indent="-265113" algn="l" defTabSz="914400" rtl="0" eaLnBrk="1" latinLnBrk="0" hangingPunct="1">
                  <a:spcBef>
                    <a:spcPct val="20000"/>
                  </a:spcBef>
                  <a:buClr>
                    <a:srgbClr val="800000"/>
                  </a:buClr>
                  <a:buFont typeface="Arial" pitchFamily="34" charset="0"/>
                  <a:buChar char="•"/>
                  <a:tabLst/>
                  <a:defRPr lang="es-ES" sz="1400" b="0" kern="1200">
                    <a:solidFill>
                      <a:schemeClr val="tx2">
                        <a:lumMod val="50000"/>
                      </a:schemeClr>
                    </a:solidFill>
                    <a:latin typeface="Times New Roman" pitchFamily="18" charset="0"/>
                    <a:ea typeface="+mn-ea"/>
                    <a:cs typeface="Times New Roman" pitchFamily="18" charset="0"/>
                  </a:defRPr>
                </a:lvl4pPr>
                <a:lvl5pPr marL="1344613" indent="-274638" algn="l" defTabSz="987425" rtl="0" eaLnBrk="1" latinLnBrk="0" hangingPunct="1">
                  <a:spcBef>
                    <a:spcPct val="20000"/>
                  </a:spcBef>
                  <a:buClr>
                    <a:srgbClr val="800000"/>
                  </a:buClr>
                  <a:buFont typeface="Courier New" pitchFamily="49" charset="0"/>
                  <a:buChar char="o"/>
                  <a:defRPr lang="es-PE" sz="1400" b="0" kern="1200">
                    <a:solidFill>
                      <a:schemeClr val="tx2">
                        <a:lumMod val="50000"/>
                      </a:schemeClr>
                    </a:solidFill>
                    <a:latin typeface="Times New Roman" pitchFamily="18" charset="0"/>
                    <a:ea typeface="+mn-ea"/>
                    <a:cs typeface="Times New Roman" pitchFamily="18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fontAlgn="auto">
                  <a:spcAft>
                    <a:spcPts val="0"/>
                  </a:spcAft>
                </a:pPr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De acuerdo con la segunda ley de Newton, se tiene la expresión:</a:t>
                </a:r>
              </a:p>
              <a:p>
                <a:pPr algn="just" fontAlgn="auto">
                  <a:spcAft>
                    <a:spcPts val="0"/>
                  </a:spcAft>
                </a:pPr>
                <a:endParaRPr lang="es-ES" sz="1800" dirty="0" smtClean="0">
                  <a:solidFill>
                    <a:schemeClr val="tx1"/>
                  </a:solidFill>
                  <a:latin typeface="Arial"/>
                  <a:ea typeface="MS PGothic" pitchFamily="34" charset="-128"/>
                  <a:cs typeface="+mn-cs"/>
                </a:endParaRPr>
              </a:p>
              <a:p>
                <a:pPr marL="0" indent="0" algn="just" fontAlgn="auto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PGothic" pitchFamily="34" charset="-128"/>
                              <a:cs typeface="+mn-cs"/>
                            </a:rPr>
                          </m:ctrlPr>
                        </m:accPr>
                        <m:e>
                          <m:r>
                            <a:rPr lang="es-E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PGothic" pitchFamily="34" charset="-128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lang="es-E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PGothic" pitchFamily="34" charset="-128"/>
                          <a:cs typeface="+mn-cs"/>
                        </a:rPr>
                        <m:t>=</m:t>
                      </m:r>
                      <m:sSubSup>
                        <m:sSubSupPr>
                          <m:ctrlP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PGothic" pitchFamily="34" charset="-128"/>
                              <a:cs typeface="+mn-cs"/>
                            </a:rPr>
                          </m:ctrlPr>
                        </m:sSubSupPr>
                        <m:e>
                          <m:r>
                            <a:rPr lang="es-E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PGothic" pitchFamily="34" charset="-128"/>
                              <a:cs typeface="+mn-cs"/>
                            </a:rPr>
                            <m:t>−</m:t>
                          </m:r>
                          <m: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𝜔</m:t>
                          </m:r>
                        </m:e>
                        <m:sub>
                          <m:r>
                            <a:rPr lang="es-E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PGothic" pitchFamily="34" charset="-128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lang="es-E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PGothic" pitchFamily="34" charset="-128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lang="es-E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PGothic" pitchFamily="34" charset="-128"/>
                          <a:cs typeface="+mn-cs"/>
                        </a:rPr>
                        <m:t>𝑥</m:t>
                      </m:r>
                      <m:r>
                        <a:rPr lang="es-E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PGothic" pitchFamily="34" charset="-128"/>
                          <a:cs typeface="+mn-cs"/>
                        </a:rPr>
                        <m:t>−2</m:t>
                      </m:r>
                      <m:r>
                        <a:rPr lang="es-E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acc>
                        <m:accPr>
                          <m:chr m:val="̇"/>
                          <m:ctrlPr>
                            <a:rPr lang="es-E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lang="es-E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lang="es-E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PGothic" pitchFamily="34" charset="-128"/>
                          <a:cs typeface="+mn-cs"/>
                        </a:rPr>
                        <m:t>+</m:t>
                      </m:r>
                      <m:r>
                        <a:rPr lang="es-E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PGothic" pitchFamily="34" charset="-128"/>
                          <a:cs typeface="+mn-cs"/>
                        </a:rPr>
                        <m:t>h𝐶𝑜𝑠</m:t>
                      </m:r>
                      <m:r>
                        <a:rPr lang="es-E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𝜔</m:t>
                      </m:r>
                      <m:r>
                        <a:rPr lang="es-E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</m:t>
                      </m:r>
                    </m:oMath>
                  </m:oMathPara>
                </a14:m>
                <a:endParaRPr lang="es-ES" sz="1800" b="0" dirty="0" smtClean="0">
                  <a:solidFill>
                    <a:schemeClr val="tx1"/>
                  </a:solidFill>
                  <a:latin typeface="Arial"/>
                  <a:ea typeface="Cambria Math" panose="02040503050406030204" pitchFamily="18" charset="0"/>
                  <a:cs typeface="+mn-cs"/>
                </a:endParaRPr>
              </a:p>
              <a:p>
                <a:pPr marL="0" indent="0" algn="just" fontAlgn="auto"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 </a:t>
                </a:r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                     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s-E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</a:rPr>
                        </m:ctrlPr>
                      </m:accPr>
                      <m:e>
                        <m:r>
                          <a:rPr lang="es-E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</a:rPr>
                          <m:t>𝑥</m:t>
                        </m:r>
                      </m:e>
                    </m:acc>
                    <m:r>
                      <a:rPr lang="es-E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</a:rPr>
                      <m:t>+</m:t>
                    </m:r>
                    <m:sSubSup>
                      <m:sSubSupPr>
                        <m:ctrlPr>
                          <a:rPr lang="es-E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</a:rPr>
                        </m:ctrlPr>
                      </m:sSubSupPr>
                      <m:e>
                        <m:r>
                          <a:rPr lang="es-E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</a:rPr>
                          <m:t>0</m:t>
                        </m:r>
                      </m:sub>
                      <m:sup>
                        <m:r>
                          <a:rPr lang="es-E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</a:rPr>
                          <m:t>2</m:t>
                        </m:r>
                      </m:sup>
                    </m:sSubSup>
                    <m:r>
                      <a:rPr lang="es-E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</a:rPr>
                      <m:t>𝑥</m:t>
                    </m:r>
                    <m:r>
                      <a:rPr lang="es-E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</a:rPr>
                      <m:t>+</m:t>
                    </m:r>
                    <m:r>
                      <a:rPr lang="es-E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</a:rPr>
                      <m:t>2</m:t>
                    </m:r>
                    <m:r>
                      <a:rPr lang="es-E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acc>
                      <m:accPr>
                        <m:chr m:val="̇"/>
                        <m:ctrlPr>
                          <a:rPr lang="es-E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E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</a:rPr>
                      <m:t>h𝐶𝑜𝑠</m:t>
                    </m:r>
                    <m:r>
                      <a:rPr lang="es-E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s-E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s-ES" sz="1800" dirty="0" smtClean="0">
                  <a:solidFill>
                    <a:schemeClr val="tx1"/>
                  </a:solidFill>
                  <a:latin typeface="Arial"/>
                  <a:ea typeface="MS PGothic" pitchFamily="34" charset="-128"/>
                  <a:cs typeface="+mn-cs"/>
                </a:endParaRPr>
              </a:p>
              <a:p>
                <a:pPr marL="0" indent="0" algn="just" fontAlgn="auto">
                  <a:spcAft>
                    <a:spcPts val="0"/>
                  </a:spcAft>
                  <a:buNone/>
                </a:pPr>
                <a:endParaRPr lang="es-ES" sz="1800" dirty="0" smtClean="0">
                  <a:solidFill>
                    <a:schemeClr val="tx1"/>
                  </a:solidFill>
                  <a:latin typeface="Arial"/>
                  <a:ea typeface="MS PGothic" pitchFamily="34" charset="-128"/>
                  <a:cs typeface="+mn-cs"/>
                </a:endParaRPr>
              </a:p>
              <a:p>
                <a:pPr marL="0" indent="0" algn="just" fontAlgn="auto">
                  <a:spcAft>
                    <a:spcPts val="0"/>
                  </a:spcAft>
                  <a:buNone/>
                </a:pPr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 </a:t>
                </a:r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</m:ctrlPr>
                      </m:sSubSupPr>
                      <m:e>
                        <m: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𝜔</m:t>
                        </m:r>
                      </m:e>
                      <m:sub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0</m:t>
                        </m:r>
                      </m:sub>
                      <m:sup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2</m:t>
                        </m:r>
                      </m:sup>
                    </m:sSubSup>
                    <m:r>
                      <a:rPr lang="es-E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</m:ctrlPr>
                      </m:fPr>
                      <m:num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𝑘</m:t>
                        </m:r>
                      </m:num>
                      <m:den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𝑚</m:t>
                        </m:r>
                      </m:den>
                    </m:f>
                  </m:oMath>
                </a14:m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; </a:t>
                </a:r>
                <a14:m>
                  <m:oMath xmlns:m="http://schemas.openxmlformats.org/officeDocument/2006/math">
                    <m:r>
                      <a:rPr lang="es-E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2</m:t>
                    </m:r>
                    <m:r>
                      <a:rPr lang="es-E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𝛽</m:t>
                    </m:r>
                    <m:r>
                      <a:rPr lang="es-E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</m:ctrlPr>
                      </m:fPr>
                      <m:num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𝑏</m:t>
                        </m:r>
                      </m:num>
                      <m:den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𝑚</m:t>
                        </m:r>
                      </m:den>
                    </m:f>
                    <m:r>
                      <a:rPr lang="es-E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  </m:t>
                    </m:r>
                    <m:r>
                      <m:rPr>
                        <m:sty m:val="p"/>
                      </m:rPr>
                      <a:rPr lang="es-E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y</m:t>
                    </m:r>
                    <m:r>
                      <a:rPr lang="es-E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  </m:t>
                    </m:r>
                    <m:r>
                      <a:rPr lang="es-E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h</m:t>
                    </m:r>
                    <m:r>
                      <a:rPr lang="es-E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</m:ctrlPr>
                      </m:fPr>
                      <m:num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𝐻</m:t>
                        </m:r>
                      </m:num>
                      <m:den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𝑚</m:t>
                        </m:r>
                      </m:den>
                    </m:f>
                  </m:oMath>
                </a14:m>
                <a:endParaRPr lang="es-ES" sz="1800" dirty="0" smtClean="0">
                  <a:solidFill>
                    <a:schemeClr val="tx1"/>
                  </a:solidFill>
                  <a:latin typeface="Arial"/>
                  <a:ea typeface="MS PGothic" pitchFamily="34" charset="-128"/>
                  <a:cs typeface="+mn-cs"/>
                </a:endParaRPr>
              </a:p>
              <a:p>
                <a:pPr algn="just" fontAlgn="auto">
                  <a:spcAft>
                    <a:spcPts val="0"/>
                  </a:spcAft>
                </a:pPr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La </a:t>
                </a:r>
                <a:r>
                  <a:rPr lang="es-ES" sz="1800" dirty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ecuación diferencial de segundo orden, </a:t>
                </a:r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tiene una solución para las oscilaciones estabilizadas de la forma:</a:t>
                </a:r>
              </a:p>
              <a:p>
                <a:pPr marL="0" indent="0" algn="just" fontAlgn="auto">
                  <a:spcAft>
                    <a:spcPts val="0"/>
                  </a:spcAft>
                  <a:buNone/>
                </a:pPr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		x = A </a:t>
                </a:r>
                <a:r>
                  <a:rPr lang="es-ES" sz="1800" dirty="0" err="1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Cos</a:t>
                </a:r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 (</a:t>
                </a:r>
                <a:r>
                  <a:rPr lang="el-GR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ω</a:t>
                </a:r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t + </a:t>
                </a:r>
                <a:r>
                  <a:rPr lang="el-GR" sz="1800" dirty="0" smtClean="0">
                    <a:solidFill>
                      <a:schemeClr val="tx1"/>
                    </a:solidFill>
                    <a:ea typeface="MS PGothic" pitchFamily="34" charset="-128"/>
                  </a:rPr>
                  <a:t>α</a:t>
                </a:r>
                <a:r>
                  <a:rPr lang="es-ES" sz="1800" dirty="0" smtClean="0">
                    <a:solidFill>
                      <a:schemeClr val="tx1"/>
                    </a:solidFill>
                    <a:ea typeface="MS PGothic" pitchFamily="34" charset="-128"/>
                  </a:rPr>
                  <a:t>)</a:t>
                </a:r>
                <a:endParaRPr lang="es-ES" sz="1800" dirty="0">
                  <a:solidFill>
                    <a:schemeClr val="tx1"/>
                  </a:solidFill>
                  <a:latin typeface="Arial"/>
                  <a:ea typeface="MS PGothic" pitchFamily="34" charset="-128"/>
                  <a:cs typeface="+mn-cs"/>
                </a:endParaRPr>
              </a:p>
              <a:p>
                <a:pPr algn="just" fontAlgn="auto">
                  <a:spcAft>
                    <a:spcPts val="0"/>
                  </a:spcAft>
                </a:pPr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Reemplazando en la ecuación diferencial tenemos que: </a:t>
                </a:r>
              </a:p>
              <a:p>
                <a:pPr marL="0" indent="0" algn="just" fontAlgn="auto">
                  <a:spcAft>
                    <a:spcPts val="0"/>
                  </a:spcAft>
                  <a:buNone/>
                </a:pPr>
                <a:r>
                  <a:rPr lang="es-ES" sz="1800" b="0" dirty="0" smtClean="0">
                    <a:solidFill>
                      <a:schemeClr val="tx1"/>
                    </a:solidFill>
                    <a:ea typeface="MS PGothic" pitchFamily="34" charset="-128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lang="es-E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𝑡𝑔</m:t>
                    </m:r>
                    <m:r>
                      <a:rPr lang="es-E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r>
                      <a:rPr lang="es-E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=</m:t>
                    </m:r>
                    <m:r>
                      <a:rPr lang="es-E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−</m:t>
                    </m:r>
                    <m:f>
                      <m:fPr>
                        <m:ctrlP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</m:ctrlPr>
                      </m:fPr>
                      <m:num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2</m:t>
                        </m:r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𝛽𝜔</m:t>
                        </m:r>
                      </m:num>
                      <m:den>
                        <m:sSubSup>
                          <m:sSubSupPr>
                            <m:ctrlPr>
                              <a:rPr lang="es-E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PGothic" pitchFamily="34" charset="-128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es-E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e>
                          <m:sub>
                            <m:r>
                              <a:rPr lang="es-E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PGothic" pitchFamily="34" charset="-128"/>
                                <a:cs typeface="+mn-cs"/>
                              </a:rPr>
                              <m:t>0</m:t>
                            </m:r>
                          </m:sub>
                          <m:sup>
                            <m:r>
                              <a:rPr lang="es-E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PGothic" pitchFamily="34" charset="-128"/>
                                <a:cs typeface="+mn-cs"/>
                              </a:rPr>
                              <m:t>2</m:t>
                            </m:r>
                          </m:sup>
                        </m:sSubSup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−</m:t>
                        </m:r>
                        <m:sSup>
                          <m:sSupPr>
                            <m:ctrlPr>
                              <a:rPr lang="es-E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PGothic" pitchFamily="34" charset="-128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s-E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e>
                          <m:sup>
                            <m:r>
                              <a:rPr lang="es-E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PGothic" pitchFamily="34" charset="-128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s-ES" sz="1800" dirty="0" smtClean="0">
                    <a:solidFill>
                      <a:schemeClr val="tx1"/>
                    </a:solidFill>
                    <a:latin typeface="Arial"/>
                    <a:ea typeface="MS PGothic" pitchFamily="34" charset="-128"/>
                    <a:cs typeface="+mn-cs"/>
                  </a:rPr>
                  <a:t>  y </a:t>
                </a:r>
                <a14:m>
                  <m:oMath xmlns:m="http://schemas.openxmlformats.org/officeDocument/2006/math">
                    <m:r>
                      <a:rPr lang="es-E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𝐴</m:t>
                    </m:r>
                    <m:r>
                      <a:rPr lang="es-E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PGothic" pitchFamily="34" charset="-128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</m:ctrlPr>
                      </m:fPr>
                      <m:num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PGothic" pitchFamily="34" charset="-128"/>
                            <a:cs typeface="+mn-cs"/>
                          </a:rPr>
                          <m:t>h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E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PGothic" pitchFamily="34" charset="-128"/>
                                <a:cs typeface="+mn-cs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s-E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MS PGothic" pitchFamily="34" charset="-128"/>
                                    <a:cs typeface="+mn-cs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S PGothic" pitchFamily="34" charset="-128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s-E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MS PGothic" pitchFamily="34" charset="-128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E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s-E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MS PGothic" pitchFamily="34" charset="-128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s-E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MS PGothic" pitchFamily="34" charset="-128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s-E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S PGothic" pitchFamily="34" charset="-128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s-E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MS PGothic" pitchFamily="34" charset="-128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es-E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MS PGothic" pitchFamily="34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s-E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MS PGothic" pitchFamily="34" charset="-128"/>
                                    <a:cs typeface="+mn-cs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E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PGothic" pitchFamily="34" charset="-128"/>
                                <a:cs typeface="+mn-cs"/>
                              </a:rPr>
                              <m:t>+4</m:t>
                            </m:r>
                            <m:sSup>
                              <m:sSupPr>
                                <m:ctrlPr>
                                  <a:rPr lang="es-E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MS PGothic" pitchFamily="34" charset="-128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lang="es-E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s-E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MS PGothic" pitchFamily="34" charset="-128"/>
                                    <a:cs typeface="+mn-cs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E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MS PGothic" pitchFamily="34" charset="-128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lang="es-E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s-E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MS PGothic" pitchFamily="34" charset="-128"/>
                                    <a:cs typeface="+mn-cs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s-ES" sz="1800" dirty="0">
                  <a:solidFill>
                    <a:schemeClr val="tx1"/>
                  </a:solidFill>
                  <a:latin typeface="Arial"/>
                  <a:ea typeface="MS PGothic" pitchFamily="34" charset="-128"/>
                  <a:cs typeface="+mn-cs"/>
                </a:endParaRPr>
              </a:p>
            </p:txBody>
          </p:sp>
        </mc:Choice>
        <mc:Fallback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1772816"/>
                <a:ext cx="5982736" cy="4876800"/>
              </a:xfrm>
              <a:prstGeom prst="rect">
                <a:avLst/>
              </a:prstGeom>
              <a:blipFill rotWithShape="0">
                <a:blip r:embed="rId2"/>
                <a:stretch>
                  <a:fillRect l="-714" t="-1250" r="-81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2182224" y="2348880"/>
                <a:ext cx="29293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̇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𝐶𝑜𝑠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dirty="0" smtClean="0"/>
                  <a:t> </a:t>
                </a:r>
                <a:endParaRPr lang="es-ES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224" y="2348880"/>
                <a:ext cx="2929328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2079" t="-2174" b="-652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589" y="1628800"/>
            <a:ext cx="2800741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1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66689" y="736501"/>
            <a:ext cx="3862375" cy="56571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RESONANCIA MECÁNICA</a:t>
            </a:r>
            <a:endParaRPr lang="es-PE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2 Marcador de contenido"/>
              <p:cNvSpPr txBox="1">
                <a:spLocks/>
              </p:cNvSpPr>
              <p:nvPr/>
            </p:nvSpPr>
            <p:spPr>
              <a:xfrm>
                <a:off x="24408" y="1856581"/>
                <a:ext cx="5139362" cy="500141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fontAlgn="auto">
                  <a:spcBef>
                    <a:spcPct val="50000"/>
                  </a:spcBef>
                  <a:spcAft>
                    <a:spcPts val="0"/>
                  </a:spcAft>
                </a:pPr>
                <a:r>
                  <a:rPr lang="es-ES" sz="1800" dirty="0" smtClean="0">
                    <a:solidFill>
                      <a:schemeClr val="tx1"/>
                    </a:solidFill>
                  </a:rPr>
                  <a:t>Si hacemos que </a:t>
                </a:r>
                <a:r>
                  <a:rPr lang="es-ES" sz="1800" i="1" dirty="0" smtClean="0">
                    <a:solidFill>
                      <a:schemeClr val="tx1"/>
                    </a:solidFill>
                    <a:sym typeface="Symbol" pitchFamily="18" charset="2"/>
                  </a:rPr>
                  <a:t></a:t>
                </a:r>
                <a:r>
                  <a:rPr lang="es-ES" sz="1800" dirty="0" smtClean="0">
                    <a:solidFill>
                      <a:schemeClr val="tx1"/>
                    </a:solidFill>
                    <a:sym typeface="Symbol" pitchFamily="18" charset="2"/>
                  </a:rPr>
                  <a:t> varíe la amplitud de oscilación también varia, llegando a un valor máximo cuando:</a:t>
                </a:r>
              </a:p>
              <a:p>
                <a:pPr marL="0" indent="0" algn="just" fontAlgn="auto">
                  <a:spcBef>
                    <a:spcPct val="500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  <m:t>𝜔</m:t>
                          </m:r>
                        </m:e>
                        <m:sub>
                          <m: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𝑟𝑒𝑠</m:t>
                          </m:r>
                        </m:sub>
                      </m:sSub>
                      <m:r>
                        <a:rPr lang="es-E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s-E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bSupPr>
                            <m:e>
                              <m:r>
                                <a:rPr lang="es-E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itchFamily="18" charset="2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E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bSup>
                          <m: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−2</m:t>
                          </m:r>
                          <m:sSup>
                            <m:sSupPr>
                              <m:ctrlPr>
                                <a:rPr lang="es-E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es-E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itchFamily="18" charset="2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s-E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s-ES" sz="1800" dirty="0">
                  <a:sym typeface="Symbol" pitchFamily="18" charset="2"/>
                </a:endParaRPr>
              </a:p>
              <a:p>
                <a:pPr algn="just" fontAlgn="auto">
                  <a:spcBef>
                    <a:spcPct val="50000"/>
                  </a:spcBef>
                  <a:spcAft>
                    <a:spcPts val="0"/>
                  </a:spcAft>
                </a:pPr>
                <a:r>
                  <a:rPr lang="es-ES" sz="1800" dirty="0" smtClean="0">
                    <a:solidFill>
                      <a:schemeClr val="tx1"/>
                    </a:solidFill>
                    <a:sym typeface="Symbol" pitchFamily="18" charset="2"/>
                  </a:rPr>
                  <a:t>Por lo que la amplitud de resonancia alcanza su valor máximo cuando:</a:t>
                </a:r>
                <a:endParaRPr lang="es-ES" sz="18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0" indent="0" algn="ctr" fontAlgn="auto">
                  <a:spcBef>
                    <a:spcPct val="50000"/>
                  </a:spcBef>
                  <a:spcAft>
                    <a:spcPts val="0"/>
                  </a:spcAft>
                  <a:buFont typeface="Arial" pitchFamily="34" charset="0"/>
                  <a:buNone/>
                </a:pPr>
                <a:r>
                  <a:rPr lang="es-ES" sz="18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  <m:r>
                      <a:rPr lang="es-E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ad>
                          <m:radPr>
                            <m:degHide m:val="on"/>
                            <m:ctrlPr>
                              <a:rPr lang="es-E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s-E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E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s-E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s-E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s-E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s-E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s-E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s-ES" sz="1800" dirty="0" smtClean="0"/>
              </a:p>
              <a:p>
                <a:pPr algn="just" fontAlgn="auto">
                  <a:spcBef>
                    <a:spcPct val="50000"/>
                  </a:spcBef>
                  <a:spcAft>
                    <a:spcPts val="0"/>
                  </a:spcAft>
                </a:pPr>
                <a:r>
                  <a:rPr lang="es-ES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la resistencia del medio es igual a cero, es decir, </a:t>
                </a:r>
                <a:r>
                  <a:rPr lang="el-G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r>
                  <a:rPr lang="es-ES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0, la amplitud máxima se alcanza cuando</a:t>
                </a:r>
              </a:p>
              <a:p>
                <a:pPr marL="0" indent="0" algn="just" fontAlgn="auto">
                  <a:spcBef>
                    <a:spcPct val="50000"/>
                  </a:spcBef>
                  <a:spcAft>
                    <a:spcPts val="0"/>
                  </a:spcAft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𝑟𝑒𝑠</m:t>
                          </m:r>
                        </m:sub>
                      </m:sSub>
                      <m:r>
                        <a:rPr lang="es-E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E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" sz="1800" i="1" dirty="0" smtClean="0">
                  <a:solidFill>
                    <a:srgbClr val="0066CC"/>
                  </a:solidFill>
                </a:endParaRPr>
              </a:p>
              <a:p>
                <a:pPr algn="just" fontAlgn="auto">
                  <a:spcBef>
                    <a:spcPct val="50000"/>
                  </a:spcBef>
                  <a:spcAft>
                    <a:spcPts val="0"/>
                  </a:spcAft>
                </a:pPr>
                <a:endParaRPr lang="es-ES" sz="1800" i="1" dirty="0">
                  <a:solidFill>
                    <a:srgbClr val="0066CC"/>
                  </a:solidFill>
                </a:endParaRPr>
              </a:p>
              <a:p>
                <a:endParaRPr lang="es-PE" sz="1800" dirty="0"/>
              </a:p>
            </p:txBody>
          </p:sp>
        </mc:Choice>
        <mc:Fallback xmlns="">
          <p:sp>
            <p:nvSpPr>
              <p:cNvPr id="10" name="2 Marcador de contenid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8" y="1856581"/>
                <a:ext cx="5139362" cy="5001419"/>
              </a:xfrm>
              <a:prstGeom prst="rect">
                <a:avLst/>
              </a:prstGeom>
              <a:blipFill rotWithShape="0">
                <a:blip r:embed="rId2"/>
                <a:stretch>
                  <a:fillRect l="-712" t="-732" r="-106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48" y="1988840"/>
            <a:ext cx="4373743" cy="384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9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546412" y="813699"/>
            <a:ext cx="3046548" cy="5270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EJERCICIOS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334008" y="1690526"/>
            <a:ext cx="9093968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NewBaskerville-Roman"/>
                <a:ea typeface="Calibri" panose="020F0502020204030204" pitchFamily="34" charset="0"/>
                <a:cs typeface="NewBaskerville-Roman"/>
              </a:rPr>
              <a:t>El </a:t>
            </a:r>
            <a:r>
              <a:rPr lang="es-ES" dirty="0" smtClean="0">
                <a:latin typeface="NewBaskerville-Roman"/>
                <a:ea typeface="Calibri" panose="020F0502020204030204" pitchFamily="34" charset="0"/>
                <a:cs typeface="NewBaskerville-Roman"/>
              </a:rPr>
              <a:t>coeficiente de amortiguamiento b = 0,85 </a:t>
            </a:r>
            <a:r>
              <a:rPr lang="es-ES" dirty="0" err="1" smtClean="0">
                <a:latin typeface="NewBaskerville-Roman"/>
                <a:ea typeface="Calibri" panose="020F0502020204030204" pitchFamily="34" charset="0"/>
                <a:cs typeface="NewBaskerville-Roman"/>
              </a:rPr>
              <a:t>N.s</a:t>
            </a:r>
            <a:r>
              <a:rPr lang="es-ES" dirty="0" smtClean="0">
                <a:latin typeface="NewBaskerville-Roman"/>
                <a:ea typeface="Calibri" panose="020F0502020204030204" pitchFamily="34" charset="0"/>
                <a:cs typeface="NewBaskerville-Roman"/>
              </a:rPr>
              <a:t>/m </a:t>
            </a:r>
            <a:r>
              <a:rPr lang="es-ES" dirty="0">
                <a:latin typeface="NewBaskerville-Roman"/>
                <a:ea typeface="Calibri" panose="020F0502020204030204" pitchFamily="34" charset="0"/>
                <a:cs typeface="NewBaskerville-Roman"/>
              </a:rPr>
              <a:t>para un objeto de 0,150 kg colgando de un resorte ligero de 6,30 N/m. Una fuerza sinusoidal con una amplitud de 1,70 N mueve el sistema. ¿A qué frecuencia la fuerza haría que el objeto vibre con una amplitud de 0,440 m?</a:t>
            </a:r>
            <a:endParaRPr lang="es-ES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38" y="3091890"/>
            <a:ext cx="2232248" cy="361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2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4736976" y="1988840"/>
            <a:ext cx="4896544" cy="432048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 movimiento </a:t>
            </a:r>
            <a:r>
              <a:rPr lang="es-PE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periódico amortiguado, pierde energía a una razón constante</a:t>
            </a:r>
          </a:p>
          <a:p>
            <a:pPr algn="just"/>
            <a:r>
              <a:rPr lang="es-MX" sz="2000" dirty="0" smtClean="0">
                <a:solidFill>
                  <a:schemeClr val="tx1"/>
                </a:solidFill>
              </a:rPr>
              <a:t>La oscilación forzada de un sistema oscila con la frecuencia de la fuerza excitatriz externa.</a:t>
            </a:r>
          </a:p>
          <a:p>
            <a:pPr algn="just">
              <a:spcAft>
                <a:spcPts val="1200"/>
              </a:spcAft>
            </a:pPr>
            <a:r>
              <a:rPr lang="es-PE" sz="2000" dirty="0" smtClean="0">
                <a:solidFill>
                  <a:schemeClr val="tx1"/>
                </a:solidFill>
              </a:rPr>
              <a:t>La resonancia mecánica consiste en la máxima disipación de energía que puede tener un sistema.</a:t>
            </a:r>
          </a:p>
          <a:p>
            <a:pPr algn="just">
              <a:spcAft>
                <a:spcPts val="1200"/>
              </a:spcAft>
            </a:pPr>
            <a:r>
              <a:rPr lang="es-PE" sz="2000" dirty="0" smtClean="0">
                <a:solidFill>
                  <a:schemeClr val="tx1"/>
                </a:solidFill>
              </a:rPr>
              <a:t>La frecuencia de resonancia siempre esta cerca de la frecuencia natural del sistema.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1640633" y="980728"/>
            <a:ext cx="3096343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CONCLUSIONES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8" y="1988840"/>
            <a:ext cx="3739432" cy="391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2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3312367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METACOGNICIÓN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8" name="Bocadillo: rectángulo con esquinas redondeadas 1">
            <a:extLst>
              <a:ext uri="{FF2B5EF4-FFF2-40B4-BE49-F238E27FC236}">
                <a16:creationId xmlns="" xmlns:a16="http://schemas.microsoft.com/office/drawing/2014/main" id="{82BC446B-F639-467D-A250-25259F9EF4B8}"/>
              </a:ext>
            </a:extLst>
          </p:cNvPr>
          <p:cNvSpPr/>
          <p:nvPr/>
        </p:nvSpPr>
        <p:spPr>
          <a:xfrm>
            <a:off x="992560" y="2420888"/>
            <a:ext cx="7488832" cy="2664296"/>
          </a:xfrm>
          <a:prstGeom prst="wedgeRoundRectCallout">
            <a:avLst>
              <a:gd name="adj1" fmla="val -17962"/>
              <a:gd name="adj2" fmla="val 48532"/>
              <a:gd name="adj3" fmla="val 16667"/>
            </a:avLst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¿Por qué un sistema mecánico entra en resonancia?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¿Cómo determinamos los periodos de oscilación de los sistemas mecánicos amortiguados? 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¿En qué campos de la Ingeniera podríamos apreciar la aplicación del movimiento armónico amortiguado y forzado?</a:t>
            </a:r>
            <a:endParaRPr lang="es-PE" sz="24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5846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2448271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</a:rPr>
              <a:t>REFERENCIAS</a:t>
            </a:r>
            <a:endParaRPr lang="es-PE" sz="2800" b="1" dirty="0">
              <a:solidFill>
                <a:schemeClr val="tx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272480" y="1700808"/>
            <a:ext cx="9561512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u="sng" dirty="0" smtClean="0"/>
              <a:t>Bibliografía </a:t>
            </a:r>
            <a:r>
              <a:rPr lang="es-ES" sz="1600" b="1" u="sng" dirty="0"/>
              <a:t>Básica</a:t>
            </a:r>
            <a:r>
              <a:rPr lang="es-ES" sz="1600" b="1" u="sng" dirty="0" smtClean="0"/>
              <a:t>:</a:t>
            </a:r>
            <a:r>
              <a:rPr lang="es-ES" sz="1600" dirty="0"/>
              <a:t> </a:t>
            </a:r>
            <a:endParaRPr lang="es-PE" sz="1600" dirty="0"/>
          </a:p>
          <a:p>
            <a:r>
              <a:rPr lang="es-ES" sz="1600" dirty="0"/>
              <a:t>1. </a:t>
            </a:r>
            <a:r>
              <a:rPr lang="es-ES" sz="1600" b="1" dirty="0" err="1"/>
              <a:t>Serway</a:t>
            </a:r>
            <a:r>
              <a:rPr lang="es-ES" sz="1600" b="1" dirty="0"/>
              <a:t>, R. A. y </a:t>
            </a:r>
            <a:r>
              <a:rPr lang="es-ES" sz="1600" b="1" dirty="0" err="1"/>
              <a:t>Jewett</a:t>
            </a:r>
            <a:r>
              <a:rPr lang="es-ES" sz="1600" b="1" dirty="0"/>
              <a:t>, J. W.</a:t>
            </a:r>
            <a:r>
              <a:rPr lang="es-ES" sz="1600" dirty="0"/>
              <a:t> </a:t>
            </a:r>
            <a:r>
              <a:rPr lang="es-ES" sz="1600" i="1" dirty="0" err="1"/>
              <a:t>Fisica</a:t>
            </a:r>
            <a:r>
              <a:rPr lang="es-ES" sz="1600" i="1" dirty="0"/>
              <a:t> para Ciencias e </a:t>
            </a:r>
            <a:r>
              <a:rPr lang="es-ES" sz="1600" i="1" dirty="0" err="1"/>
              <a:t>Ingeneiría</a:t>
            </a:r>
            <a:r>
              <a:rPr lang="es-ES" sz="1600" i="1" dirty="0"/>
              <a:t>. </a:t>
            </a:r>
            <a:r>
              <a:rPr lang="es-ES" sz="1600" dirty="0"/>
              <a:t>México : </a:t>
            </a:r>
            <a:r>
              <a:rPr lang="es-ES" sz="1600" dirty="0" err="1"/>
              <a:t>Cengage</a:t>
            </a:r>
            <a:r>
              <a:rPr lang="es-ES" sz="1600" dirty="0"/>
              <a:t> </a:t>
            </a:r>
            <a:r>
              <a:rPr lang="es-ES" sz="1600" dirty="0" err="1"/>
              <a:t>Learning</a:t>
            </a:r>
            <a:r>
              <a:rPr lang="es-ES" sz="1600" dirty="0"/>
              <a:t>, 2015. Vol. I.</a:t>
            </a:r>
            <a:endParaRPr lang="es-PE" sz="1600" dirty="0"/>
          </a:p>
          <a:p>
            <a:r>
              <a:rPr lang="es-ES" sz="1600" dirty="0"/>
              <a:t>2. </a:t>
            </a:r>
            <a:r>
              <a:rPr lang="es-ES" sz="1600" b="1" dirty="0" err="1"/>
              <a:t>Resnick</a:t>
            </a:r>
            <a:r>
              <a:rPr lang="es-ES" sz="1600" b="1" dirty="0"/>
              <a:t>, R., </a:t>
            </a:r>
            <a:r>
              <a:rPr lang="es-ES" sz="1600" b="1" dirty="0" err="1"/>
              <a:t>Halliday</a:t>
            </a:r>
            <a:r>
              <a:rPr lang="es-ES" sz="1600" b="1" dirty="0"/>
              <a:t>, D. y </a:t>
            </a:r>
            <a:r>
              <a:rPr lang="es-ES" sz="1600" b="1" dirty="0" err="1"/>
              <a:t>Krane</a:t>
            </a:r>
            <a:r>
              <a:rPr lang="es-ES" sz="1600" b="1" dirty="0"/>
              <a:t>, K. S.</a:t>
            </a:r>
            <a:r>
              <a:rPr lang="es-ES" sz="1600" dirty="0"/>
              <a:t> </a:t>
            </a:r>
            <a:r>
              <a:rPr lang="es-ES" sz="1600" i="1" dirty="0"/>
              <a:t>Física. </a:t>
            </a:r>
            <a:r>
              <a:rPr lang="es-ES" sz="1600" dirty="0"/>
              <a:t>Quinta. México : </a:t>
            </a:r>
            <a:r>
              <a:rPr lang="es-ES" sz="1600" dirty="0" err="1"/>
              <a:t>Compañia</a:t>
            </a:r>
            <a:r>
              <a:rPr lang="es-ES" sz="1600" dirty="0"/>
              <a:t> editorial Continental, 2014. Vol. I.</a:t>
            </a:r>
            <a:endParaRPr lang="es-PE" sz="1600" dirty="0"/>
          </a:p>
          <a:p>
            <a:r>
              <a:rPr lang="es-ES" sz="1600" dirty="0"/>
              <a:t>3. </a:t>
            </a:r>
            <a:r>
              <a:rPr lang="es-ES" sz="1600" b="1" dirty="0" err="1"/>
              <a:t>Tipler</a:t>
            </a:r>
            <a:r>
              <a:rPr lang="es-ES" sz="1600" b="1" dirty="0"/>
              <a:t>, P. A. y Mosca, G.</a:t>
            </a:r>
            <a:r>
              <a:rPr lang="es-ES" sz="1600" dirty="0"/>
              <a:t> </a:t>
            </a:r>
            <a:r>
              <a:rPr lang="es-ES" sz="1600" i="1" dirty="0"/>
              <a:t>Física para la Ciencia y la Tecnología. </a:t>
            </a:r>
            <a:r>
              <a:rPr lang="es-ES" sz="1600" dirty="0"/>
              <a:t>Sexta. Barcelona : </a:t>
            </a:r>
            <a:r>
              <a:rPr lang="es-ES" sz="1600" dirty="0" err="1"/>
              <a:t>Reverté</a:t>
            </a:r>
            <a:r>
              <a:rPr lang="es-ES" sz="1600" dirty="0"/>
              <a:t> S.A., 2010. Vol. I.</a:t>
            </a:r>
            <a:endParaRPr lang="es-PE" sz="1600" dirty="0"/>
          </a:p>
          <a:p>
            <a:r>
              <a:rPr lang="es-ES" sz="1600" dirty="0"/>
              <a:t>4. </a:t>
            </a:r>
            <a:r>
              <a:rPr lang="es-ES" sz="1600" b="1" dirty="0" err="1"/>
              <a:t>Zemansky</a:t>
            </a:r>
            <a:r>
              <a:rPr lang="es-ES" sz="1600" b="1" dirty="0"/>
              <a:t>, M. W. y </a:t>
            </a:r>
            <a:r>
              <a:rPr lang="es-ES" sz="1600" b="1" dirty="0" err="1"/>
              <a:t>Freedman</a:t>
            </a:r>
            <a:r>
              <a:rPr lang="es-ES" sz="1600" b="1" dirty="0"/>
              <a:t>, R.A.</a:t>
            </a:r>
            <a:r>
              <a:rPr lang="es-ES" sz="1600" dirty="0"/>
              <a:t> </a:t>
            </a:r>
            <a:r>
              <a:rPr lang="es-ES" sz="1600" i="1" dirty="0"/>
              <a:t>Física Universitaria. </a:t>
            </a:r>
            <a:r>
              <a:rPr lang="es-ES" sz="1600" dirty="0"/>
              <a:t>México : Pearson </a:t>
            </a:r>
            <a:r>
              <a:rPr lang="es-ES" sz="1600" dirty="0" err="1"/>
              <a:t>Education</a:t>
            </a:r>
            <a:r>
              <a:rPr lang="es-ES" sz="1600" dirty="0"/>
              <a:t>, 2009. Vol. I.</a:t>
            </a:r>
            <a:endParaRPr lang="es-PE" sz="1600" dirty="0"/>
          </a:p>
          <a:p>
            <a:r>
              <a:rPr lang="es-ES" sz="1600" dirty="0"/>
              <a:t>5. </a:t>
            </a:r>
            <a:r>
              <a:rPr lang="es-ES" sz="1600" b="1" dirty="0" err="1"/>
              <a:t>Fishbane</a:t>
            </a:r>
            <a:r>
              <a:rPr lang="es-ES" sz="1600" b="1" dirty="0"/>
              <a:t>, P.M., </a:t>
            </a:r>
            <a:r>
              <a:rPr lang="es-ES" sz="1600" b="1" dirty="0" err="1"/>
              <a:t>Gasiorowicz</a:t>
            </a:r>
            <a:r>
              <a:rPr lang="es-ES" sz="1600" b="1" dirty="0"/>
              <a:t>, S. y </a:t>
            </a:r>
            <a:r>
              <a:rPr lang="es-ES" sz="1600" b="1" dirty="0" err="1"/>
              <a:t>Thornton</a:t>
            </a:r>
            <a:r>
              <a:rPr lang="es-ES" sz="1600" b="1" dirty="0"/>
              <a:t>, S.T.</a:t>
            </a:r>
            <a:r>
              <a:rPr lang="es-ES" sz="1600" dirty="0"/>
              <a:t> </a:t>
            </a:r>
            <a:r>
              <a:rPr lang="es-ES" sz="1600" i="1" dirty="0" smtClean="0"/>
              <a:t>Física </a:t>
            </a:r>
            <a:r>
              <a:rPr lang="es-ES" sz="1600" i="1" dirty="0"/>
              <a:t>para Ciencias e </a:t>
            </a:r>
            <a:r>
              <a:rPr lang="es-ES" sz="1600" i="1" dirty="0" err="1"/>
              <a:t>Ingeneiría</a:t>
            </a:r>
            <a:r>
              <a:rPr lang="es-ES" sz="1600" i="1" dirty="0"/>
              <a:t>. </a:t>
            </a:r>
            <a:r>
              <a:rPr lang="es-ES" sz="1600" dirty="0"/>
              <a:t>México : Prentice Hall Hispanoamericana, 1996. Vol. I.</a:t>
            </a:r>
            <a:endParaRPr lang="es-PE" sz="1600" dirty="0"/>
          </a:p>
          <a:p>
            <a:r>
              <a:rPr lang="es-ES" sz="1600" dirty="0"/>
              <a:t>6. </a:t>
            </a:r>
            <a:r>
              <a:rPr lang="es-ES" sz="1600" b="1" dirty="0"/>
              <a:t>Alonso, M. y </a:t>
            </a:r>
            <a:r>
              <a:rPr lang="es-ES" sz="1600" b="1" dirty="0" err="1"/>
              <a:t>Finn</a:t>
            </a:r>
            <a:r>
              <a:rPr lang="es-ES" sz="1600" b="1" dirty="0"/>
              <a:t>, E.J.</a:t>
            </a:r>
            <a:r>
              <a:rPr lang="es-ES" sz="1600" dirty="0"/>
              <a:t> </a:t>
            </a:r>
            <a:r>
              <a:rPr lang="es-ES" sz="1600" i="1" dirty="0"/>
              <a:t>Física: Mecánica. </a:t>
            </a:r>
            <a:r>
              <a:rPr lang="es-ES" sz="1600" dirty="0"/>
              <a:t>México : Fondo Educativo Interamericano S. A., 1971. Vol. I.</a:t>
            </a:r>
            <a:endParaRPr lang="es-PE" sz="1600" dirty="0"/>
          </a:p>
          <a:p>
            <a:r>
              <a:rPr lang="es-ES" sz="1600" b="1" u="sng" dirty="0" smtClean="0"/>
              <a:t>Bibliografía </a:t>
            </a:r>
            <a:r>
              <a:rPr lang="es-ES" sz="1600" b="1" u="sng" dirty="0"/>
              <a:t>Complementaria:</a:t>
            </a:r>
            <a:endParaRPr lang="es-PE" sz="1600" b="1" u="sng" dirty="0"/>
          </a:p>
          <a:p>
            <a:r>
              <a:rPr lang="es-ES" sz="1600" b="1" dirty="0"/>
              <a:t> </a:t>
            </a:r>
            <a:r>
              <a:rPr lang="es-ES" sz="1600" dirty="0" smtClean="0"/>
              <a:t>7</a:t>
            </a:r>
            <a:r>
              <a:rPr lang="es-ES" sz="1600" dirty="0"/>
              <a:t>. </a:t>
            </a:r>
            <a:r>
              <a:rPr lang="es-ES" sz="1600" b="1" dirty="0" err="1"/>
              <a:t>Beer</a:t>
            </a:r>
            <a:r>
              <a:rPr lang="es-ES" sz="1600" b="1" dirty="0"/>
              <a:t>, F. P., y otros.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</a:t>
            </a:r>
            <a:r>
              <a:rPr lang="es-ES" sz="1600" i="1" dirty="0" smtClean="0"/>
              <a:t>: Dinámica</a:t>
            </a:r>
            <a:r>
              <a:rPr lang="es-ES" sz="1600" i="1" dirty="0"/>
              <a:t>. </a:t>
            </a:r>
            <a:r>
              <a:rPr lang="es-ES" sz="1600" dirty="0"/>
              <a:t>México : Mc Graw Hill, 2010. Vol. Novena.</a:t>
            </a:r>
            <a:endParaRPr lang="es-PE" sz="1600" dirty="0"/>
          </a:p>
          <a:p>
            <a:r>
              <a:rPr lang="es-ES" sz="1600" dirty="0"/>
              <a:t>8. </a:t>
            </a:r>
            <a:r>
              <a:rPr lang="es-ES" sz="1600" b="1" dirty="0" err="1"/>
              <a:t>Beer</a:t>
            </a:r>
            <a:r>
              <a:rPr lang="es-ES" sz="1600" b="1" dirty="0"/>
              <a:t>, F.P., y otros.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Estática. </a:t>
            </a:r>
            <a:r>
              <a:rPr lang="es-ES" sz="1600" dirty="0"/>
              <a:t>Novena. México : Mc Graw Hill, 2010.</a:t>
            </a:r>
            <a:endParaRPr lang="es-PE" sz="1600" dirty="0"/>
          </a:p>
          <a:p>
            <a:r>
              <a:rPr lang="es-ES" sz="1600" dirty="0"/>
              <a:t>9. </a:t>
            </a:r>
            <a:r>
              <a:rPr lang="es-ES" sz="1600" b="1" dirty="0"/>
              <a:t>Bedford, A. y </a:t>
            </a:r>
            <a:r>
              <a:rPr lang="es-ES" sz="1600" b="1" dirty="0" err="1"/>
              <a:t>Fowler</a:t>
            </a:r>
            <a:r>
              <a:rPr lang="es-ES" sz="1600" b="1" dirty="0"/>
              <a:t>, W.</a:t>
            </a:r>
            <a:r>
              <a:rPr lang="es-ES" sz="1600" dirty="0"/>
              <a:t> </a:t>
            </a:r>
            <a:r>
              <a:rPr lang="es-ES" sz="1600" i="1" dirty="0"/>
              <a:t>Mecánica para Ingeniería: Estática. </a:t>
            </a:r>
            <a:r>
              <a:rPr lang="es-ES" sz="1600" dirty="0"/>
              <a:t>Quinta. México : Pearson Educación, 2008.</a:t>
            </a:r>
            <a:endParaRPr lang="es-PE" sz="1600" dirty="0"/>
          </a:p>
          <a:p>
            <a:r>
              <a:rPr lang="es-ES" sz="1600" dirty="0"/>
              <a:t>10. —. </a:t>
            </a:r>
            <a:r>
              <a:rPr lang="es-ES" sz="1600" i="1" dirty="0"/>
              <a:t>Mecánica para Ingeniería: Dinámica. </a:t>
            </a:r>
            <a:r>
              <a:rPr lang="es-ES" sz="1600" dirty="0"/>
              <a:t>Quinta. México : Pearson Educación, 2008.</a:t>
            </a:r>
            <a:endParaRPr lang="es-PE" sz="1600" dirty="0"/>
          </a:p>
          <a:p>
            <a:r>
              <a:rPr lang="es-ES" sz="1600" dirty="0"/>
              <a:t>11. </a:t>
            </a:r>
            <a:r>
              <a:rPr lang="es-ES" sz="1600" b="1" dirty="0" err="1"/>
              <a:t>Hibbeler</a:t>
            </a:r>
            <a:r>
              <a:rPr lang="es-ES" sz="1600" b="1" dirty="0"/>
              <a:t>, R. C.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Estática. </a:t>
            </a:r>
            <a:r>
              <a:rPr lang="es-ES" sz="1600" dirty="0"/>
              <a:t>Décima. México : Pearson Educación, 2004.</a:t>
            </a:r>
            <a:endParaRPr lang="es-PE" sz="1600" dirty="0"/>
          </a:p>
          <a:p>
            <a:r>
              <a:rPr lang="es-ES" sz="1600" dirty="0"/>
              <a:t>12. —. </a:t>
            </a:r>
            <a:r>
              <a:rPr lang="es-ES" sz="1600" i="1" dirty="0"/>
              <a:t>Mecánica Vectorial para Ingenieros: Dinámica. </a:t>
            </a:r>
            <a:r>
              <a:rPr lang="es-ES" sz="1600" dirty="0"/>
              <a:t>Décima. México : Pearson Educación, 2004.</a:t>
            </a:r>
            <a:r>
              <a:rPr lang="es-ES" sz="1500" dirty="0">
                <a:ea typeface="Symbol" panose="05050102010706020507" pitchFamily="18" charset="2"/>
                <a:cs typeface="Arial" panose="020B0604020202020204" pitchFamily="34" charset="0"/>
              </a:rPr>
              <a:t> </a:t>
            </a:r>
            <a:endParaRPr lang="es-ES" sz="1500" dirty="0" smtClean="0">
              <a:ea typeface="Symbol" panose="05050102010706020507" pitchFamily="18" charset="2"/>
              <a:cs typeface="Arial" panose="020B0604020202020204" pitchFamily="34" charset="0"/>
            </a:endParaRPr>
          </a:p>
          <a:p>
            <a:r>
              <a:rPr lang="es-ES" sz="1500" b="1" u="sng" dirty="0" smtClean="0">
                <a:ea typeface="Times New Roman" panose="02020603050405020304" pitchFamily="18" charset="0"/>
              </a:rPr>
              <a:t>Fuentes </a:t>
            </a:r>
            <a:r>
              <a:rPr lang="es-ES" sz="1500" b="1" u="sng" dirty="0" err="1" smtClean="0">
                <a:ea typeface="Times New Roman" panose="02020603050405020304" pitchFamily="18" charset="0"/>
              </a:rPr>
              <a:t>hemerográficas</a:t>
            </a:r>
            <a:endParaRPr lang="es-ES" sz="1500" b="1" u="sng" dirty="0">
              <a:ea typeface="Times New Roman" panose="02020603050405020304" pitchFamily="18" charset="0"/>
            </a:endParaRPr>
          </a:p>
          <a:p>
            <a:r>
              <a:rPr lang="es-ES" sz="1500" dirty="0" err="1" smtClean="0">
                <a:ea typeface="Times New Roman" panose="02020603050405020304" pitchFamily="18" charset="0"/>
              </a:rPr>
              <a:t>Physics</a:t>
            </a:r>
            <a:r>
              <a:rPr lang="es-ES" sz="1500" dirty="0" smtClean="0">
                <a:ea typeface="Times New Roman" panose="02020603050405020304" pitchFamily="18" charset="0"/>
              </a:rPr>
              <a:t> </a:t>
            </a:r>
            <a:r>
              <a:rPr lang="es-ES" sz="1500" dirty="0" err="1">
                <a:ea typeface="Times New Roman" panose="02020603050405020304" pitchFamily="18" charset="0"/>
              </a:rPr>
              <a:t>today</a:t>
            </a:r>
            <a:r>
              <a:rPr lang="es-ES" sz="1500" dirty="0">
                <a:ea typeface="Times New Roman" panose="02020603050405020304" pitchFamily="18" charset="0"/>
              </a:rPr>
              <a:t>, 68(11), 38(2015); </a:t>
            </a:r>
            <a:r>
              <a:rPr lang="es-ES" sz="1500" dirty="0" err="1">
                <a:ea typeface="Times New Roman" panose="02020603050405020304" pitchFamily="18" charset="0"/>
              </a:rPr>
              <a:t>doi</a:t>
            </a:r>
            <a:r>
              <a:rPr lang="es-ES" sz="1500" dirty="0">
                <a:ea typeface="Times New Roman" panose="02020603050405020304" pitchFamily="18" charset="0"/>
              </a:rPr>
              <a:t> 10.1063/PT </a:t>
            </a:r>
            <a:r>
              <a:rPr lang="es-ES" sz="1500" dirty="0" smtClean="0">
                <a:ea typeface="Times New Roman" panose="02020603050405020304" pitchFamily="18" charset="0"/>
              </a:rPr>
              <a:t>3.2980.</a:t>
            </a:r>
            <a:endParaRPr lang="es-PE" sz="1500" dirty="0">
              <a:ea typeface="Times New Roman" panose="02020603050405020304" pitchFamily="18" charset="0"/>
            </a:endParaRPr>
          </a:p>
          <a:p>
            <a:r>
              <a:rPr lang="es-ES" sz="1500" b="1" u="sng" dirty="0" err="1" smtClean="0">
                <a:ea typeface="Times New Roman" panose="02020603050405020304" pitchFamily="18" charset="0"/>
              </a:rPr>
              <a:t>Webgrafia</a:t>
            </a:r>
            <a:endParaRPr lang="es-ES" sz="1500" b="1" u="sng" dirty="0">
              <a:ea typeface="Times New Roman" panose="02020603050405020304" pitchFamily="18" charset="0"/>
            </a:endParaRPr>
          </a:p>
          <a:p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</a:t>
            </a:r>
            <a:r>
              <a:rPr lang="es-PE" sz="1500" u="sng" dirty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://</a:t>
            </a:r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www.sc.ehu.es/sbweb/fisica/</a:t>
            </a:r>
            <a:endParaRPr lang="es-PE" sz="1500" u="sng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</a:t>
            </a:r>
            <a:r>
              <a:rPr lang="es-PE" sz="1500" u="sng" dirty="0"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://www.fisicarecreativa.com/</a:t>
            </a:r>
            <a:endParaRPr lang="es-PE" sz="1500" dirty="0"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00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TR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PATRON</Template>
  <TotalTime>11031</TotalTime>
  <Words>892</Words>
  <Application>Microsoft Office PowerPoint</Application>
  <PresentationFormat>A4 (210 x 297 mm)</PresentationFormat>
  <Paragraphs>166</Paragraphs>
  <Slides>18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9" baseType="lpstr">
      <vt:lpstr>Gulim</vt:lpstr>
      <vt:lpstr>MS PGothic</vt:lpstr>
      <vt:lpstr>MS PGothic</vt:lpstr>
      <vt:lpstr>Arial</vt:lpstr>
      <vt:lpstr>Calibri</vt:lpstr>
      <vt:lpstr>Cambria Math</vt:lpstr>
      <vt:lpstr>NewBaskerville-Roman</vt:lpstr>
      <vt:lpstr>Symbol</vt:lpstr>
      <vt:lpstr>Times New Roman</vt:lpstr>
      <vt:lpstr>PATRON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Privada del Norte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Delfin Narciso</dc:creator>
  <cp:lastModifiedBy>Cuenta Microsoft</cp:lastModifiedBy>
  <cp:revision>462</cp:revision>
  <dcterms:created xsi:type="dcterms:W3CDTF">2012-09-19T03:34:19Z</dcterms:created>
  <dcterms:modified xsi:type="dcterms:W3CDTF">2020-10-19T18:04:47Z</dcterms:modified>
</cp:coreProperties>
</file>