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wmf" ContentType="image/x-wmf"/>
  <Default Extension="rels" ContentType="application/vnd.openxmlformats-package.relationships+xml"/>
  <Default Extension="xml" ContentType="application/xml"/>
  <Default Extension="wav" ContentType="audio/wav"/>
  <Default Extension="gif" ContentType="image/gif"/>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3.xml" ContentType="application/vnd.openxmlformats-officedocument.theme+xml"/>
  <Override PartName="/ppt/media/audio2.wav" ContentType="audio/x-wav"/>
  <Override PartName="/ppt/media/audio3.wav" ContentType="audio/x-wav"/>
  <Override PartName="/ppt/media/audio4.wav" ContentType="audio/x-wav"/>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1" r:id="rId1"/>
    <p:sldMasterId id="2147483761" r:id="rId2"/>
    <p:sldMasterId id="2147483778" r:id="rId3"/>
  </p:sldMasterIdLst>
  <p:sldIdLst>
    <p:sldId id="256" r:id="rId4"/>
    <p:sldId id="289" r:id="rId5"/>
    <p:sldId id="290" r:id="rId6"/>
    <p:sldId id="291" r:id="rId7"/>
    <p:sldId id="293" r:id="rId8"/>
    <p:sldId id="283" r:id="rId9"/>
    <p:sldId id="285" r:id="rId10"/>
    <p:sldId id="284" r:id="rId11"/>
    <p:sldId id="261" r:id="rId12"/>
    <p:sldId id="294" r:id="rId13"/>
    <p:sldId id="266" r:id="rId14"/>
    <p:sldId id="263" r:id="rId15"/>
    <p:sldId id="268" r:id="rId16"/>
    <p:sldId id="296" r:id="rId17"/>
    <p:sldId id="275" r:id="rId18"/>
    <p:sldId id="298" r:id="rId19"/>
    <p:sldId id="278" r:id="rId20"/>
    <p:sldId id="279" r:id="rId21"/>
    <p:sldId id="280" r:id="rId22"/>
    <p:sldId id="300" r:id="rId23"/>
    <p:sldId id="304" r:id="rId24"/>
    <p:sldId id="307" r:id="rId25"/>
    <p:sldId id="308" r:id="rId26"/>
    <p:sldId id="282" r:id="rId27"/>
  </p:sldIdLst>
  <p:sldSz cx="9144000" cy="6858000" type="screen4x3"/>
  <p:notesSz cx="6858000" cy="9144000"/>
  <p:defaultTextStyle>
    <a:defPPr>
      <a:defRPr lang="es-ES"/>
    </a:defPPr>
    <a:lvl1pPr algn="l" defTabSz="457200" rtl="0" fontAlgn="base">
      <a:spcBef>
        <a:spcPct val="0"/>
      </a:spcBef>
      <a:spcAft>
        <a:spcPct val="0"/>
      </a:spcAft>
      <a:defRPr kern="1200">
        <a:solidFill>
          <a:schemeClr val="tx1"/>
        </a:solidFill>
        <a:latin typeface="Calibri" pitchFamily="34" charset="0"/>
        <a:ea typeface="MS PGothic" pitchFamily="34" charset="-128"/>
        <a:cs typeface="+mn-cs"/>
      </a:defRPr>
    </a:lvl1pPr>
    <a:lvl2pPr marL="457200" algn="l" defTabSz="457200" rtl="0" fontAlgn="base">
      <a:spcBef>
        <a:spcPct val="0"/>
      </a:spcBef>
      <a:spcAft>
        <a:spcPct val="0"/>
      </a:spcAft>
      <a:defRPr kern="1200">
        <a:solidFill>
          <a:schemeClr val="tx1"/>
        </a:solidFill>
        <a:latin typeface="Calibri" pitchFamily="34" charset="0"/>
        <a:ea typeface="MS PGothic" pitchFamily="34" charset="-128"/>
        <a:cs typeface="+mn-cs"/>
      </a:defRPr>
    </a:lvl2pPr>
    <a:lvl3pPr marL="914400" algn="l" defTabSz="457200" rtl="0" fontAlgn="base">
      <a:spcBef>
        <a:spcPct val="0"/>
      </a:spcBef>
      <a:spcAft>
        <a:spcPct val="0"/>
      </a:spcAft>
      <a:defRPr kern="1200">
        <a:solidFill>
          <a:schemeClr val="tx1"/>
        </a:solidFill>
        <a:latin typeface="Calibri" pitchFamily="34" charset="0"/>
        <a:ea typeface="MS PGothic" pitchFamily="34" charset="-128"/>
        <a:cs typeface="+mn-cs"/>
      </a:defRPr>
    </a:lvl3pPr>
    <a:lvl4pPr marL="1371600" algn="l" defTabSz="457200" rtl="0" fontAlgn="base">
      <a:spcBef>
        <a:spcPct val="0"/>
      </a:spcBef>
      <a:spcAft>
        <a:spcPct val="0"/>
      </a:spcAft>
      <a:defRPr kern="1200">
        <a:solidFill>
          <a:schemeClr val="tx1"/>
        </a:solidFill>
        <a:latin typeface="Calibri" pitchFamily="34" charset="0"/>
        <a:ea typeface="MS PGothic" pitchFamily="34" charset="-128"/>
        <a:cs typeface="+mn-cs"/>
      </a:defRPr>
    </a:lvl4pPr>
    <a:lvl5pPr marL="1828800" algn="l" defTabSz="457200" rtl="0" fontAlgn="base">
      <a:spcBef>
        <a:spcPct val="0"/>
      </a:spcBef>
      <a:spcAft>
        <a:spcPct val="0"/>
      </a:spcAft>
      <a:defRPr kern="1200">
        <a:solidFill>
          <a:schemeClr val="tx1"/>
        </a:solidFill>
        <a:latin typeface="Calibri" pitchFamily="34" charset="0"/>
        <a:ea typeface="MS PGothic" pitchFamily="34" charset="-128"/>
        <a:cs typeface="+mn-cs"/>
      </a:defRPr>
    </a:lvl5pPr>
    <a:lvl6pPr marL="2286000" algn="l" defTabSz="914400" rtl="0" eaLnBrk="1" latinLnBrk="0" hangingPunct="1">
      <a:defRPr kern="1200">
        <a:solidFill>
          <a:schemeClr val="tx1"/>
        </a:solidFill>
        <a:latin typeface="Calibri" pitchFamily="34" charset="0"/>
        <a:ea typeface="MS PGothic" pitchFamily="34" charset="-128"/>
        <a:cs typeface="+mn-cs"/>
      </a:defRPr>
    </a:lvl6pPr>
    <a:lvl7pPr marL="2743200" algn="l" defTabSz="914400" rtl="0" eaLnBrk="1" latinLnBrk="0" hangingPunct="1">
      <a:defRPr kern="1200">
        <a:solidFill>
          <a:schemeClr val="tx1"/>
        </a:solidFill>
        <a:latin typeface="Calibri" pitchFamily="34" charset="0"/>
        <a:ea typeface="MS PGothic" pitchFamily="34" charset="-128"/>
        <a:cs typeface="+mn-cs"/>
      </a:defRPr>
    </a:lvl7pPr>
    <a:lvl8pPr marL="3200400" algn="l" defTabSz="914400" rtl="0" eaLnBrk="1" latinLnBrk="0" hangingPunct="1">
      <a:defRPr kern="1200">
        <a:solidFill>
          <a:schemeClr val="tx1"/>
        </a:solidFill>
        <a:latin typeface="Calibri" pitchFamily="34" charset="0"/>
        <a:ea typeface="MS PGothic" pitchFamily="34" charset="-128"/>
        <a:cs typeface="+mn-cs"/>
      </a:defRPr>
    </a:lvl8pPr>
    <a:lvl9pPr marL="3657600" algn="l" defTabSz="914400" rtl="0" eaLnBrk="1" latinLnBrk="0" hangingPunct="1">
      <a:defRPr kern="1200">
        <a:solidFill>
          <a:schemeClr val="tx1"/>
        </a:solidFill>
        <a:latin typeface="Calibri" pitchFamily="34" charset="0"/>
        <a:ea typeface="MS PGothic"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4" d="100"/>
          <a:sy n="84" d="100"/>
        </p:scale>
        <p:origin x="1476" y="6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image" Target="../media/image18.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image" Target="../media/image30.wmf"/><Relationship Id="rId1" Type="http://schemas.openxmlformats.org/officeDocument/2006/relationships/image" Target="../media/image29.wmf"/><Relationship Id="rId4" Type="http://schemas.openxmlformats.org/officeDocument/2006/relationships/image" Target="../media/image32.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image" Target="../media/image39.wmf"/><Relationship Id="rId1" Type="http://schemas.openxmlformats.org/officeDocument/2006/relationships/image" Target="../media/image38.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1.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44.wmf"/></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4" name="Rectángulo 7"/>
          <p:cNvSpPr/>
          <p:nvPr/>
        </p:nvSpPr>
        <p:spPr>
          <a:xfrm>
            <a:off x="0" y="1835150"/>
            <a:ext cx="239713" cy="1430564"/>
          </a:xfrm>
          <a:prstGeom prst="rect">
            <a:avLst/>
          </a:prstGeom>
          <a:solidFill>
            <a:srgbClr val="EFA82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s-E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2" name="Título 1"/>
          <p:cNvSpPr>
            <a:spLocks noGrp="1"/>
          </p:cNvSpPr>
          <p:nvPr>
            <p:ph type="ctrTitle"/>
          </p:nvPr>
        </p:nvSpPr>
        <p:spPr>
          <a:xfrm>
            <a:off x="493365" y="1848218"/>
            <a:ext cx="7772400" cy="345317"/>
          </a:xfrm>
        </p:spPr>
        <p:txBody>
          <a:bodyPr/>
          <a:lstStyle>
            <a:lvl1pPr>
              <a:defRPr sz="2800" cap="all">
                <a:solidFill>
                  <a:srgbClr val="272727"/>
                </a:solidFill>
              </a:defRPr>
            </a:lvl1pPr>
          </a:lstStyle>
          <a:p>
            <a:r>
              <a:rPr lang="es-ES" smtClean="0"/>
              <a:t>Haga clic para modificar el estilo de título del patrón</a:t>
            </a:r>
            <a:endParaRPr lang="es-ES" dirty="0"/>
          </a:p>
        </p:txBody>
      </p:sp>
      <p:sp>
        <p:nvSpPr>
          <p:cNvPr id="3" name="Subtítulo 2"/>
          <p:cNvSpPr>
            <a:spLocks noGrp="1"/>
          </p:cNvSpPr>
          <p:nvPr>
            <p:ph type="subTitle" idx="1"/>
          </p:nvPr>
        </p:nvSpPr>
        <p:spPr>
          <a:xfrm>
            <a:off x="493365" y="2287319"/>
            <a:ext cx="6400800" cy="978395"/>
          </a:xfrm>
        </p:spPr>
        <p:txBody>
          <a:bodyPr anchor="ctr"/>
          <a:lstStyle>
            <a:lvl1pPr marL="0" indent="0" algn="l">
              <a:buNone/>
              <a:defRPr sz="1800">
                <a:solidFill>
                  <a:schemeClr val="bg2">
                    <a:lumMod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s-ES"/>
          </a:p>
        </p:txBody>
      </p:sp>
      <p:pic>
        <p:nvPicPr>
          <p:cNvPr id="5" name="4 Image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32240" y="5949280"/>
            <a:ext cx="2160240" cy="648072"/>
          </a:xfrm>
          <a:prstGeom prst="rect">
            <a:avLst/>
          </a:prstGeom>
        </p:spPr>
      </p:pic>
      <p:sp>
        <p:nvSpPr>
          <p:cNvPr id="6" name="Rectángulo 7"/>
          <p:cNvSpPr/>
          <p:nvPr userDrawn="1"/>
        </p:nvSpPr>
        <p:spPr>
          <a:xfrm>
            <a:off x="0" y="1835150"/>
            <a:ext cx="239713" cy="1089794"/>
          </a:xfrm>
          <a:prstGeom prst="rect">
            <a:avLst/>
          </a:prstGeom>
          <a:solidFill>
            <a:srgbClr val="EFA82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s-E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INTRODUCCION">
    <p:spTree>
      <p:nvGrpSpPr>
        <p:cNvPr id="1" name=""/>
        <p:cNvGrpSpPr/>
        <p:nvPr/>
      </p:nvGrpSpPr>
      <p:grpSpPr>
        <a:xfrm>
          <a:off x="0" y="0"/>
          <a:ext cx="0" cy="0"/>
          <a:chOff x="0" y="0"/>
          <a:chExt cx="0" cy="0"/>
        </a:xfrm>
      </p:grpSpPr>
      <p:sp>
        <p:nvSpPr>
          <p:cNvPr id="5" name="Marcador de contenido 2"/>
          <p:cNvSpPr>
            <a:spLocks noGrp="1"/>
          </p:cNvSpPr>
          <p:nvPr>
            <p:ph idx="1" hasCustomPrompt="1"/>
          </p:nvPr>
        </p:nvSpPr>
        <p:spPr>
          <a:xfrm>
            <a:off x="457200" y="1078522"/>
            <a:ext cx="8229600" cy="5141425"/>
          </a:xfrm>
        </p:spPr>
        <p:txBody>
          <a:bodyPr/>
          <a:lstStyle>
            <a:lvl1pPr marL="457200" indent="-457200">
              <a:buFont typeface="+mj-lt"/>
              <a:buNone/>
              <a:defRPr sz="2000"/>
            </a:lvl1pPr>
            <a:lvl2pPr marL="914400" indent="-457200">
              <a:buFont typeface="+mj-lt"/>
              <a:buAutoNum type="arabicPeriod"/>
              <a:defRPr sz="2000"/>
            </a:lvl2pPr>
          </a:lstStyle>
          <a:p>
            <a:pPr lvl="0"/>
            <a:r>
              <a:rPr lang="es-ES_tradnl" dirty="0" smtClean="0"/>
              <a:t>Haga clic para modificar el estilo de texto del patrón</a:t>
            </a:r>
          </a:p>
          <a:p>
            <a:pPr lvl="1"/>
            <a:endParaRPr lang="es-ES" dirty="0"/>
          </a:p>
        </p:txBody>
      </p:sp>
      <p:sp>
        <p:nvSpPr>
          <p:cNvPr id="6" name="Rectangle 5"/>
          <p:cNvSpPr/>
          <p:nvPr/>
        </p:nvSpPr>
        <p:spPr>
          <a:xfrm>
            <a:off x="457200" y="393579"/>
            <a:ext cx="1500732" cy="461665"/>
          </a:xfrm>
          <a:prstGeom prst="rect">
            <a:avLst/>
          </a:prstGeom>
        </p:spPr>
        <p:txBody>
          <a:bodyPr wrap="none">
            <a:spAutoFit/>
          </a:bodyPr>
          <a:lstStyle/>
          <a:p>
            <a:r>
              <a:rPr lang="es-ES_tradnl" sz="2400" dirty="0" smtClean="0">
                <a:solidFill>
                  <a:srgbClr val="FFC000"/>
                </a:solidFill>
                <a:latin typeface="Arial" pitchFamily="34" charset="0"/>
                <a:cs typeface="Arial" pitchFamily="34" charset="0"/>
              </a:rPr>
              <a:t>LOGROS</a:t>
            </a:r>
            <a:endParaRPr lang="es-MX" sz="2400" dirty="0">
              <a:solidFill>
                <a:srgbClr val="FFC000"/>
              </a:solidFill>
              <a:latin typeface="Arial" pitchFamily="34" charset="0"/>
              <a:cs typeface="Arial" pitchFamily="34" charset="0"/>
            </a:endParaRPr>
          </a:p>
        </p:txBody>
      </p:sp>
      <p:sp>
        <p:nvSpPr>
          <p:cNvPr id="8" name="Rectángulo 8"/>
          <p:cNvSpPr/>
          <p:nvPr/>
        </p:nvSpPr>
        <p:spPr>
          <a:xfrm>
            <a:off x="8939213" y="487363"/>
            <a:ext cx="217487" cy="474662"/>
          </a:xfrm>
          <a:prstGeom prst="rect">
            <a:avLst/>
          </a:prstGeom>
          <a:solidFill>
            <a:srgbClr val="EFA82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s-E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pic>
        <p:nvPicPr>
          <p:cNvPr id="2" name="1 Image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44408" y="332656"/>
            <a:ext cx="445597" cy="654174"/>
          </a:xfrm>
          <a:prstGeom prst="rect">
            <a:avLst/>
          </a:prstGeom>
        </p:spPr>
      </p:pic>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ítulo y objetos">
    <p:spTree>
      <p:nvGrpSpPr>
        <p:cNvPr id="1" name=""/>
        <p:cNvGrpSpPr/>
        <p:nvPr/>
      </p:nvGrpSpPr>
      <p:grpSpPr>
        <a:xfrm>
          <a:off x="0" y="0"/>
          <a:ext cx="0" cy="0"/>
          <a:chOff x="0" y="0"/>
          <a:chExt cx="0" cy="0"/>
        </a:xfrm>
      </p:grpSpPr>
      <p:sp>
        <p:nvSpPr>
          <p:cNvPr id="5" name="Rectángulo 8"/>
          <p:cNvSpPr/>
          <p:nvPr/>
        </p:nvSpPr>
        <p:spPr>
          <a:xfrm>
            <a:off x="8939213" y="487363"/>
            <a:ext cx="217487" cy="474662"/>
          </a:xfrm>
          <a:prstGeom prst="rect">
            <a:avLst/>
          </a:prstGeom>
          <a:solidFill>
            <a:srgbClr val="EFA82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s-E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2" name="Título 1"/>
          <p:cNvSpPr>
            <a:spLocks noGrp="1"/>
          </p:cNvSpPr>
          <p:nvPr>
            <p:ph type="title"/>
          </p:nvPr>
        </p:nvSpPr>
        <p:spPr/>
        <p:txBody>
          <a:bodyPr>
            <a:normAutofit/>
          </a:bodyPr>
          <a:lstStyle>
            <a:lvl1pPr>
              <a:defRPr sz="2400" cap="all"/>
            </a:lvl1pPr>
          </a:lstStyle>
          <a:p>
            <a:r>
              <a:rPr lang="es-ES" smtClean="0"/>
              <a:t>Haga clic para modificar el estilo de título del patrón</a:t>
            </a:r>
            <a:endParaRPr lang="es-ES" dirty="0"/>
          </a:p>
        </p:txBody>
      </p:sp>
      <p:sp>
        <p:nvSpPr>
          <p:cNvPr id="3" name="Marcador de contenido 2"/>
          <p:cNvSpPr>
            <a:spLocks noGrp="1"/>
          </p:cNvSpPr>
          <p:nvPr>
            <p:ph idx="1"/>
          </p:nvPr>
        </p:nvSpPr>
        <p:spPr/>
        <p:txBody>
          <a:bodyPr/>
          <a:lstStyle>
            <a:lvl1pPr>
              <a:defRPr sz="2000"/>
            </a:lvl1pPr>
            <a:lvl2pPr>
              <a:defRPr sz="2000"/>
            </a:lvl2pPr>
            <a:lvl3pPr>
              <a:defRPr sz="2000"/>
            </a:lvl3pPr>
            <a:lvl4pPr>
              <a:defRPr sz="2000"/>
            </a:lvl4pPr>
            <a:lvl5pPr>
              <a:defRPr sz="2000"/>
            </a:lvl5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pic>
        <p:nvPicPr>
          <p:cNvPr id="6" name="5 Image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44408" y="332656"/>
            <a:ext cx="445597" cy="654174"/>
          </a:xfrm>
          <a:prstGeom prst="rect">
            <a:avLst/>
          </a:prstGeom>
        </p:spPr>
      </p:pic>
      <p:pic>
        <p:nvPicPr>
          <p:cNvPr id="7" name="Imagen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250238" y="306388"/>
            <a:ext cx="439737" cy="65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ángulo 8"/>
          <p:cNvSpPr/>
          <p:nvPr userDrawn="1"/>
        </p:nvSpPr>
        <p:spPr>
          <a:xfrm>
            <a:off x="8939213" y="487363"/>
            <a:ext cx="217487" cy="474662"/>
          </a:xfrm>
          <a:prstGeom prst="rect">
            <a:avLst/>
          </a:prstGeom>
          <a:solidFill>
            <a:srgbClr val="EFA82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s-E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cxnSp>
        <p:nvCxnSpPr>
          <p:cNvPr id="9" name="8 Conector recto"/>
          <p:cNvCxnSpPr/>
          <p:nvPr userDrawn="1"/>
        </p:nvCxnSpPr>
        <p:spPr>
          <a:xfrm>
            <a:off x="467544" y="1052736"/>
            <a:ext cx="7632848" cy="0"/>
          </a:xfrm>
          <a:prstGeom prst="line">
            <a:avLst/>
          </a:prstGeom>
          <a:ln>
            <a:solidFill>
              <a:srgbClr val="FFC000"/>
            </a:solidFill>
          </a:ln>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Dos objetos">
    <p:spTree>
      <p:nvGrpSpPr>
        <p:cNvPr id="1" name=""/>
        <p:cNvGrpSpPr/>
        <p:nvPr/>
      </p:nvGrpSpPr>
      <p:grpSpPr>
        <a:xfrm>
          <a:off x="0" y="0"/>
          <a:ext cx="0" cy="0"/>
          <a:chOff x="0" y="0"/>
          <a:chExt cx="0" cy="0"/>
        </a:xfrm>
      </p:grpSpPr>
      <p:sp>
        <p:nvSpPr>
          <p:cNvPr id="6" name="Rectángulo 8"/>
          <p:cNvSpPr/>
          <p:nvPr/>
        </p:nvSpPr>
        <p:spPr>
          <a:xfrm>
            <a:off x="8939213" y="487363"/>
            <a:ext cx="217487" cy="474662"/>
          </a:xfrm>
          <a:prstGeom prst="rect">
            <a:avLst/>
          </a:prstGeom>
          <a:solidFill>
            <a:srgbClr val="EFA82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s-E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2" name="Título 1"/>
          <p:cNvSpPr>
            <a:spLocks noGrp="1"/>
          </p:cNvSpPr>
          <p:nvPr>
            <p:ph type="title"/>
          </p:nvPr>
        </p:nvSpPr>
        <p:spPr/>
        <p:txBody>
          <a:bodyPr/>
          <a:lstStyle/>
          <a:p>
            <a:r>
              <a:rPr lang="es-ES" smtClean="0"/>
              <a:t>Haga clic para modificar el estilo de título del patrón</a:t>
            </a:r>
            <a:endParaRPr lang="es-ES" dirty="0"/>
          </a:p>
        </p:txBody>
      </p:sp>
      <p:sp>
        <p:nvSpPr>
          <p:cNvPr id="3" name="Marcador de contenido 2"/>
          <p:cNvSpPr>
            <a:spLocks noGrp="1"/>
          </p:cNvSpPr>
          <p:nvPr>
            <p:ph sz="half" idx="1"/>
          </p:nvPr>
        </p:nvSpPr>
        <p:spPr>
          <a:xfrm>
            <a:off x="457200" y="1078522"/>
            <a:ext cx="4038600" cy="5141425"/>
          </a:xfrm>
        </p:spPr>
        <p:txBody>
          <a:bodyPr>
            <a:normAutofit/>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dirty="0"/>
          </a:p>
        </p:txBody>
      </p:sp>
      <p:sp>
        <p:nvSpPr>
          <p:cNvPr id="4" name="Marcador de contenido 3"/>
          <p:cNvSpPr>
            <a:spLocks noGrp="1"/>
          </p:cNvSpPr>
          <p:nvPr>
            <p:ph sz="half" idx="2"/>
          </p:nvPr>
        </p:nvSpPr>
        <p:spPr>
          <a:xfrm>
            <a:off x="4648200" y="1078522"/>
            <a:ext cx="4038600" cy="5141425"/>
          </a:xfrm>
        </p:spPr>
        <p:txBody>
          <a:bodyPr>
            <a:normAutofit/>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dirty="0"/>
          </a:p>
        </p:txBody>
      </p:sp>
      <p:pic>
        <p:nvPicPr>
          <p:cNvPr id="8" name="7 Image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44408" y="332656"/>
            <a:ext cx="445597" cy="654174"/>
          </a:xfrm>
          <a:prstGeom prst="rect">
            <a:avLst/>
          </a:prstGeom>
        </p:spPr>
      </p:pic>
      <p:sp>
        <p:nvSpPr>
          <p:cNvPr id="9" name="Rectángulo 8"/>
          <p:cNvSpPr/>
          <p:nvPr userDrawn="1"/>
        </p:nvSpPr>
        <p:spPr>
          <a:xfrm>
            <a:off x="8939213" y="487363"/>
            <a:ext cx="217487" cy="474662"/>
          </a:xfrm>
          <a:prstGeom prst="rect">
            <a:avLst/>
          </a:prstGeom>
          <a:solidFill>
            <a:srgbClr val="EFA82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s-E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cxnSp>
        <p:nvCxnSpPr>
          <p:cNvPr id="10" name="9 Conector recto"/>
          <p:cNvCxnSpPr/>
          <p:nvPr userDrawn="1"/>
        </p:nvCxnSpPr>
        <p:spPr>
          <a:xfrm>
            <a:off x="467544" y="1052736"/>
            <a:ext cx="7632848" cy="0"/>
          </a:xfrm>
          <a:prstGeom prst="line">
            <a:avLst/>
          </a:prstGeom>
          <a:ln>
            <a:solidFill>
              <a:srgbClr val="FFC000"/>
            </a:solidFill>
          </a:ln>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REFERENCIAS BIBLIOGRAFICAS">
    <p:spTree>
      <p:nvGrpSpPr>
        <p:cNvPr id="1" name=""/>
        <p:cNvGrpSpPr/>
        <p:nvPr/>
      </p:nvGrpSpPr>
      <p:grpSpPr>
        <a:xfrm>
          <a:off x="0" y="0"/>
          <a:ext cx="0" cy="0"/>
          <a:chOff x="0" y="0"/>
          <a:chExt cx="0" cy="0"/>
        </a:xfrm>
      </p:grpSpPr>
      <p:sp>
        <p:nvSpPr>
          <p:cNvPr id="10" name="Rectángulo 8"/>
          <p:cNvSpPr/>
          <p:nvPr/>
        </p:nvSpPr>
        <p:spPr>
          <a:xfrm>
            <a:off x="8939213" y="487363"/>
            <a:ext cx="217487" cy="474662"/>
          </a:xfrm>
          <a:prstGeom prst="rect">
            <a:avLst/>
          </a:prstGeom>
          <a:solidFill>
            <a:srgbClr val="EFA82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s-E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1" name="Marcador de contenido 2"/>
          <p:cNvSpPr>
            <a:spLocks noGrp="1"/>
          </p:cNvSpPr>
          <p:nvPr>
            <p:ph idx="1" hasCustomPrompt="1"/>
          </p:nvPr>
        </p:nvSpPr>
        <p:spPr>
          <a:xfrm>
            <a:off x="457200" y="1078522"/>
            <a:ext cx="8229600" cy="5141425"/>
          </a:xfrm>
        </p:spPr>
        <p:txBody>
          <a:bodyPr/>
          <a:lstStyle>
            <a:lvl1pPr marL="457200" indent="-457200">
              <a:buFont typeface="+mj-lt"/>
              <a:buAutoNum type="arabicPeriod"/>
              <a:defRPr sz="2000"/>
            </a:lvl1pPr>
            <a:lvl2pPr marL="914400" indent="-457200">
              <a:buFont typeface="+mj-lt"/>
              <a:buAutoNum type="arabicPeriod"/>
              <a:defRPr sz="2000"/>
            </a:lvl2pPr>
          </a:lstStyle>
          <a:p>
            <a:pPr lvl="0"/>
            <a:r>
              <a:rPr lang="es-ES_tradnl" dirty="0" smtClean="0"/>
              <a:t>Haga clic para modificar el estilo de texto del patrón</a:t>
            </a:r>
          </a:p>
          <a:p>
            <a:pPr lvl="1"/>
            <a:endParaRPr lang="es-ES" dirty="0"/>
          </a:p>
        </p:txBody>
      </p:sp>
      <p:sp>
        <p:nvSpPr>
          <p:cNvPr id="12" name="Rectangle 11"/>
          <p:cNvSpPr/>
          <p:nvPr/>
        </p:nvSpPr>
        <p:spPr>
          <a:xfrm>
            <a:off x="457200" y="393579"/>
            <a:ext cx="5022529" cy="461665"/>
          </a:xfrm>
          <a:prstGeom prst="rect">
            <a:avLst/>
          </a:prstGeom>
        </p:spPr>
        <p:txBody>
          <a:bodyPr wrap="none">
            <a:spAutoFit/>
          </a:bodyPr>
          <a:lstStyle/>
          <a:p>
            <a:r>
              <a:rPr lang="es-ES_tradnl" sz="2400" dirty="0" smtClean="0">
                <a:solidFill>
                  <a:srgbClr val="FFC000"/>
                </a:solidFill>
                <a:effectLst/>
                <a:latin typeface="Arial" pitchFamily="34" charset="0"/>
                <a:cs typeface="Arial" pitchFamily="34" charset="0"/>
              </a:rPr>
              <a:t>REFERENCIAS BIBLIOGRÁFICAS</a:t>
            </a:r>
            <a:endParaRPr lang="es-MX" sz="2400" dirty="0">
              <a:solidFill>
                <a:srgbClr val="FFC000"/>
              </a:solidFill>
              <a:effectLst/>
              <a:latin typeface="Arial" pitchFamily="34" charset="0"/>
              <a:cs typeface="Arial" pitchFamily="34" charset="0"/>
            </a:endParaRPr>
          </a:p>
        </p:txBody>
      </p:sp>
      <p:pic>
        <p:nvPicPr>
          <p:cNvPr id="7" name="6 Image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44408" y="332656"/>
            <a:ext cx="445597" cy="654174"/>
          </a:xfrm>
          <a:prstGeom prst="rect">
            <a:avLst/>
          </a:prstGeom>
        </p:spPr>
      </p:pic>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1_REFERENCIAS BIBLIOGRAFICAS">
    <p:spTree>
      <p:nvGrpSpPr>
        <p:cNvPr id="1" name=""/>
        <p:cNvGrpSpPr/>
        <p:nvPr/>
      </p:nvGrpSpPr>
      <p:grpSpPr>
        <a:xfrm>
          <a:off x="0" y="0"/>
          <a:ext cx="0" cy="0"/>
          <a:chOff x="0" y="0"/>
          <a:chExt cx="0" cy="0"/>
        </a:xfrm>
      </p:grpSpPr>
      <p:sp>
        <p:nvSpPr>
          <p:cNvPr id="10" name="Rectángulo 8"/>
          <p:cNvSpPr/>
          <p:nvPr/>
        </p:nvSpPr>
        <p:spPr>
          <a:xfrm>
            <a:off x="8939213" y="487363"/>
            <a:ext cx="217487" cy="474662"/>
          </a:xfrm>
          <a:prstGeom prst="rect">
            <a:avLst/>
          </a:prstGeom>
          <a:solidFill>
            <a:srgbClr val="EFA82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s-E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1" name="Marcador de contenido 2"/>
          <p:cNvSpPr>
            <a:spLocks noGrp="1"/>
          </p:cNvSpPr>
          <p:nvPr>
            <p:ph idx="1" hasCustomPrompt="1"/>
          </p:nvPr>
        </p:nvSpPr>
        <p:spPr>
          <a:xfrm>
            <a:off x="457200" y="1078522"/>
            <a:ext cx="8229600" cy="5141425"/>
          </a:xfrm>
        </p:spPr>
        <p:txBody>
          <a:bodyPr/>
          <a:lstStyle>
            <a:lvl1pPr marL="457200" indent="-457200">
              <a:buFont typeface="+mj-lt"/>
              <a:buAutoNum type="arabicPeriod"/>
              <a:defRPr sz="2000"/>
            </a:lvl1pPr>
            <a:lvl2pPr marL="914400" indent="-457200">
              <a:buFont typeface="+mj-lt"/>
              <a:buAutoNum type="arabicPeriod"/>
              <a:defRPr sz="2000"/>
            </a:lvl2pPr>
          </a:lstStyle>
          <a:p>
            <a:pPr lvl="0"/>
            <a:r>
              <a:rPr lang="es-ES_tradnl" dirty="0" smtClean="0"/>
              <a:t>Haga clic para modificar el estilo de texto del patrón</a:t>
            </a:r>
          </a:p>
          <a:p>
            <a:pPr lvl="1"/>
            <a:endParaRPr lang="es-ES" dirty="0"/>
          </a:p>
        </p:txBody>
      </p:sp>
      <p:sp>
        <p:nvSpPr>
          <p:cNvPr id="12" name="Rectangle 11"/>
          <p:cNvSpPr/>
          <p:nvPr/>
        </p:nvSpPr>
        <p:spPr>
          <a:xfrm>
            <a:off x="457200" y="393579"/>
            <a:ext cx="2648482" cy="461665"/>
          </a:xfrm>
          <a:prstGeom prst="rect">
            <a:avLst/>
          </a:prstGeom>
        </p:spPr>
        <p:txBody>
          <a:bodyPr wrap="none">
            <a:spAutoFit/>
          </a:bodyPr>
          <a:lstStyle/>
          <a:p>
            <a:r>
              <a:rPr lang="es-ES_tradnl" sz="2400" dirty="0" smtClean="0">
                <a:solidFill>
                  <a:srgbClr val="FFC000"/>
                </a:solidFill>
                <a:effectLst/>
                <a:latin typeface="Arial" pitchFamily="34" charset="0"/>
                <a:cs typeface="Arial" pitchFamily="34" charset="0"/>
              </a:rPr>
              <a:t>CONCLUSIONES</a:t>
            </a:r>
            <a:endParaRPr lang="es-MX" sz="2400" dirty="0">
              <a:solidFill>
                <a:srgbClr val="FFC000"/>
              </a:solidFill>
              <a:effectLst/>
              <a:latin typeface="Arial" pitchFamily="34" charset="0"/>
              <a:cs typeface="Arial" pitchFamily="34" charset="0"/>
            </a:endParaRPr>
          </a:p>
        </p:txBody>
      </p:sp>
      <p:pic>
        <p:nvPicPr>
          <p:cNvPr id="7" name="6 Image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44408" y="332656"/>
            <a:ext cx="445597" cy="654174"/>
          </a:xfrm>
          <a:prstGeom prst="rect">
            <a:avLst/>
          </a:prstGeom>
        </p:spPr>
      </p:pic>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userDrawn="1">
  <p:cSld name="Inicio">
    <p:spTree>
      <p:nvGrpSpPr>
        <p:cNvPr id="1" name=""/>
        <p:cNvGrpSpPr/>
        <p:nvPr/>
      </p:nvGrpSpPr>
      <p:grpSpPr>
        <a:xfrm>
          <a:off x="0" y="0"/>
          <a:ext cx="0" cy="0"/>
          <a:chOff x="0" y="0"/>
          <a:chExt cx="0" cy="0"/>
        </a:xfrm>
      </p:grpSpPr>
      <p:pic>
        <p:nvPicPr>
          <p:cNvPr id="3" name="Imagen 7"/>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237538" y="306388"/>
            <a:ext cx="439737" cy="65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ángulo 8"/>
          <p:cNvSpPr/>
          <p:nvPr userDrawn="1"/>
        </p:nvSpPr>
        <p:spPr>
          <a:xfrm>
            <a:off x="8915400" y="482600"/>
            <a:ext cx="239713" cy="492125"/>
          </a:xfrm>
          <a:prstGeom prst="rect">
            <a:avLst/>
          </a:prstGeom>
          <a:solidFill>
            <a:srgbClr val="EFA82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s-E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cxnSp>
        <p:nvCxnSpPr>
          <p:cNvPr id="5" name="4 Conector recto"/>
          <p:cNvCxnSpPr/>
          <p:nvPr userDrawn="1"/>
        </p:nvCxnSpPr>
        <p:spPr>
          <a:xfrm>
            <a:off x="467544" y="1052736"/>
            <a:ext cx="7632848" cy="0"/>
          </a:xfrm>
          <a:prstGeom prst="line">
            <a:avLst/>
          </a:prstGeom>
          <a:ln>
            <a:solidFill>
              <a:srgbClr val="FFC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200947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userDrawn="1">
  <p:cSld name="Conclusiones">
    <p:spTree>
      <p:nvGrpSpPr>
        <p:cNvPr id="1" name=""/>
        <p:cNvGrpSpPr/>
        <p:nvPr/>
      </p:nvGrpSpPr>
      <p:grpSpPr>
        <a:xfrm>
          <a:off x="0" y="0"/>
          <a:ext cx="0" cy="0"/>
          <a:chOff x="0" y="0"/>
          <a:chExt cx="0" cy="0"/>
        </a:xfrm>
      </p:grpSpPr>
      <p:pic>
        <p:nvPicPr>
          <p:cNvPr id="3" name="Imagen 7"/>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237538" y="306388"/>
            <a:ext cx="439737" cy="65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ángulo 8"/>
          <p:cNvSpPr/>
          <p:nvPr userDrawn="1"/>
        </p:nvSpPr>
        <p:spPr>
          <a:xfrm>
            <a:off x="8915400" y="482600"/>
            <a:ext cx="239713" cy="492125"/>
          </a:xfrm>
          <a:prstGeom prst="rect">
            <a:avLst/>
          </a:prstGeom>
          <a:solidFill>
            <a:srgbClr val="EFA82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s-E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cxnSp>
        <p:nvCxnSpPr>
          <p:cNvPr id="5" name="4 Conector recto"/>
          <p:cNvCxnSpPr/>
          <p:nvPr userDrawn="1"/>
        </p:nvCxnSpPr>
        <p:spPr>
          <a:xfrm>
            <a:off x="467544" y="1052736"/>
            <a:ext cx="7632848" cy="0"/>
          </a:xfrm>
          <a:prstGeom prst="line">
            <a:avLst/>
          </a:prstGeom>
          <a:ln>
            <a:solidFill>
              <a:srgbClr val="FFC000"/>
            </a:solidFill>
          </a:ln>
        </p:spPr>
        <p:style>
          <a:lnRef idx="2">
            <a:schemeClr val="accent1"/>
          </a:lnRef>
          <a:fillRef idx="0">
            <a:schemeClr val="accent1"/>
          </a:fillRef>
          <a:effectRef idx="1">
            <a:schemeClr val="accent1"/>
          </a:effectRef>
          <a:fontRef idx="minor">
            <a:schemeClr val="tx1"/>
          </a:fontRef>
        </p:style>
      </p:cxnSp>
      <p:sp>
        <p:nvSpPr>
          <p:cNvPr id="7" name="6 CuadroTexto"/>
          <p:cNvSpPr txBox="1"/>
          <p:nvPr userDrawn="1"/>
        </p:nvSpPr>
        <p:spPr>
          <a:xfrm>
            <a:off x="467544" y="447055"/>
            <a:ext cx="2141933" cy="400110"/>
          </a:xfrm>
          <a:prstGeom prst="rect">
            <a:avLst/>
          </a:prstGeom>
          <a:noFill/>
        </p:spPr>
        <p:txBody>
          <a:bodyPr wrap="none" rtlCol="0">
            <a:spAutoFit/>
          </a:bodyPr>
          <a:lstStyle/>
          <a:p>
            <a:r>
              <a:rPr lang="es-PE" sz="2000" dirty="0" smtClean="0">
                <a:latin typeface="Times New Roman" pitchFamily="18" charset="0"/>
                <a:cs typeface="Times New Roman" pitchFamily="18" charset="0"/>
              </a:rPr>
              <a:t>CONCLUSIONES</a:t>
            </a:r>
            <a:endParaRPr lang="es-ES" sz="2000" dirty="0">
              <a:latin typeface="Times New Roman" pitchFamily="18" charset="0"/>
              <a:cs typeface="Times New Roman" pitchFamily="18" charset="0"/>
            </a:endParaRPr>
          </a:p>
        </p:txBody>
      </p:sp>
      <p:sp>
        <p:nvSpPr>
          <p:cNvPr id="8" name="Rectangle 3"/>
          <p:cNvSpPr>
            <a:spLocks noGrp="1" noChangeArrowheads="1"/>
          </p:cNvSpPr>
          <p:nvPr>
            <p:ph type="body" idx="1"/>
          </p:nvPr>
        </p:nvSpPr>
        <p:spPr>
          <a:xfrm>
            <a:off x="609600" y="1295400"/>
            <a:ext cx="8001000" cy="4876800"/>
          </a:xfrm>
          <a:prstGeom prst="rect">
            <a:avLst/>
          </a:prstGeom>
        </p:spPr>
        <p:txBody>
          <a:bodyPr/>
          <a:lstStyle/>
          <a:p>
            <a:pPr algn="just">
              <a:lnSpc>
                <a:spcPct val="90000"/>
              </a:lnSpc>
              <a:buClr>
                <a:schemeClr val="bg1"/>
              </a:buClr>
            </a:pPr>
            <a:r>
              <a:rPr lang="es-ES" sz="2200" dirty="0"/>
              <a:t>Las ondas mecánicas son perturbaciones que se propagan en un medio. De ellas, las armónicas pueden describirse fácilmente.</a:t>
            </a:r>
          </a:p>
          <a:p>
            <a:pPr algn="just">
              <a:lnSpc>
                <a:spcPct val="90000"/>
              </a:lnSpc>
              <a:buClr>
                <a:schemeClr val="bg1"/>
              </a:buClr>
            </a:pPr>
            <a:r>
              <a:rPr lang="es-ES" sz="2200" dirty="0"/>
              <a:t>Con ayuda de la expresión de la posición vertical se puede hallar las ecuaciones cinemáticas.</a:t>
            </a:r>
          </a:p>
          <a:p>
            <a:pPr algn="just">
              <a:lnSpc>
                <a:spcPct val="90000"/>
              </a:lnSpc>
              <a:buClr>
                <a:schemeClr val="bg1"/>
              </a:buClr>
            </a:pPr>
            <a:r>
              <a:rPr lang="es-ES" sz="2200" dirty="0"/>
              <a:t>Las ondas estacionarias surgen del análisis de las ondas armónicas, concluyendo que existen frecuencias específicas en que se produce un patrón de ondas estacionario (armónicos).</a:t>
            </a:r>
          </a:p>
          <a:p>
            <a:pPr algn="just">
              <a:lnSpc>
                <a:spcPct val="90000"/>
              </a:lnSpc>
              <a:buClr>
                <a:schemeClr val="bg1"/>
              </a:buClr>
            </a:pPr>
            <a:r>
              <a:rPr lang="es-ES" sz="2200" dirty="0"/>
              <a:t>Se estudia las propiedades básicas del sonido y se calcula la velocidad de propagación de esta onda.</a:t>
            </a:r>
          </a:p>
        </p:txBody>
      </p:sp>
    </p:spTree>
    <p:extLst>
      <p:ext uri="{BB962C8B-B14F-4D97-AF65-F5344CB8AC3E}">
        <p14:creationId xmlns:p14="http://schemas.microsoft.com/office/powerpoint/2010/main" val="322675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userDrawn="1">
  <p:cSld name="Referencias_bibliográficas">
    <p:spTree>
      <p:nvGrpSpPr>
        <p:cNvPr id="1" name=""/>
        <p:cNvGrpSpPr/>
        <p:nvPr/>
      </p:nvGrpSpPr>
      <p:grpSpPr>
        <a:xfrm>
          <a:off x="0" y="0"/>
          <a:ext cx="0" cy="0"/>
          <a:chOff x="0" y="0"/>
          <a:chExt cx="0" cy="0"/>
        </a:xfrm>
      </p:grpSpPr>
      <p:pic>
        <p:nvPicPr>
          <p:cNvPr id="3" name="Imagen 7"/>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237538" y="306388"/>
            <a:ext cx="439737" cy="65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ángulo 8"/>
          <p:cNvSpPr/>
          <p:nvPr userDrawn="1"/>
        </p:nvSpPr>
        <p:spPr>
          <a:xfrm>
            <a:off x="8915400" y="482600"/>
            <a:ext cx="239713" cy="492125"/>
          </a:xfrm>
          <a:prstGeom prst="rect">
            <a:avLst/>
          </a:prstGeom>
          <a:solidFill>
            <a:srgbClr val="EFA82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s-E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cxnSp>
        <p:nvCxnSpPr>
          <p:cNvPr id="5" name="4 Conector recto"/>
          <p:cNvCxnSpPr/>
          <p:nvPr userDrawn="1"/>
        </p:nvCxnSpPr>
        <p:spPr>
          <a:xfrm>
            <a:off x="467544" y="1052736"/>
            <a:ext cx="7632848" cy="0"/>
          </a:xfrm>
          <a:prstGeom prst="line">
            <a:avLst/>
          </a:prstGeom>
          <a:ln>
            <a:solidFill>
              <a:srgbClr val="FFC000"/>
            </a:solidFill>
          </a:ln>
        </p:spPr>
        <p:style>
          <a:lnRef idx="2">
            <a:schemeClr val="accent1"/>
          </a:lnRef>
          <a:fillRef idx="0">
            <a:schemeClr val="accent1"/>
          </a:fillRef>
          <a:effectRef idx="1">
            <a:schemeClr val="accent1"/>
          </a:effectRef>
          <a:fontRef idx="minor">
            <a:schemeClr val="tx1"/>
          </a:fontRef>
        </p:style>
      </p:cxnSp>
      <p:sp>
        <p:nvSpPr>
          <p:cNvPr id="7" name="6 CuadroTexto"/>
          <p:cNvSpPr txBox="1"/>
          <p:nvPr userDrawn="1"/>
        </p:nvSpPr>
        <p:spPr>
          <a:xfrm>
            <a:off x="467544" y="447055"/>
            <a:ext cx="4104009" cy="400110"/>
          </a:xfrm>
          <a:prstGeom prst="rect">
            <a:avLst/>
          </a:prstGeom>
          <a:noFill/>
        </p:spPr>
        <p:txBody>
          <a:bodyPr wrap="none" rtlCol="0">
            <a:spAutoFit/>
          </a:bodyPr>
          <a:lstStyle/>
          <a:p>
            <a:r>
              <a:rPr lang="es-PE" sz="2000" dirty="0" smtClean="0">
                <a:latin typeface="Times New Roman" pitchFamily="18" charset="0"/>
                <a:cs typeface="Times New Roman" pitchFamily="18" charset="0"/>
              </a:rPr>
              <a:t>REFERENCIAS BIBLIOGRÁFICAS</a:t>
            </a:r>
            <a:endParaRPr lang="es-ES" sz="2000" dirty="0">
              <a:latin typeface="Times New Roman" pitchFamily="18" charset="0"/>
              <a:cs typeface="Times New Roman" pitchFamily="18" charset="0"/>
            </a:endParaRPr>
          </a:p>
        </p:txBody>
      </p:sp>
    </p:spTree>
    <p:extLst>
      <p:ext uri="{BB962C8B-B14F-4D97-AF65-F5344CB8AC3E}">
        <p14:creationId xmlns:p14="http://schemas.microsoft.com/office/powerpoint/2010/main" val="16339867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143000" y="1122363"/>
            <a:ext cx="6858000" cy="2387600"/>
          </a:xfrm>
        </p:spPr>
        <p:txBody>
          <a:bodyPr anchor="b"/>
          <a:lstStyle>
            <a:lvl1pPr algn="ctr">
              <a:defRPr sz="4500"/>
            </a:lvl1pPr>
          </a:lstStyle>
          <a:p>
            <a:r>
              <a:rPr lang="es-ES" smtClean="0"/>
              <a:t>Haga clic para modificar el estilo de título del patrón</a:t>
            </a:r>
            <a:endParaRPr lang="es-PE"/>
          </a:p>
        </p:txBody>
      </p:sp>
      <p:sp>
        <p:nvSpPr>
          <p:cNvPr id="3" name="Subtítulo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s-ES" smtClean="0"/>
              <a:t>Haga clic para modificar el estilo de subtítulo del patrón</a:t>
            </a:r>
            <a:endParaRPr lang="es-PE"/>
          </a:p>
        </p:txBody>
      </p:sp>
      <p:sp>
        <p:nvSpPr>
          <p:cNvPr id="4" name="Marcador de fecha 3"/>
          <p:cNvSpPr>
            <a:spLocks noGrp="1"/>
          </p:cNvSpPr>
          <p:nvPr>
            <p:ph type="dt" sz="half" idx="10"/>
          </p:nvPr>
        </p:nvSpPr>
        <p:spPr/>
        <p:txBody>
          <a:bodyPr/>
          <a:lstStyle/>
          <a:p>
            <a:fld id="{D3FD2AB4-58F2-4B3B-9A3D-F46CCFD1F5F8}" type="datetimeFigureOut">
              <a:rPr lang="es-PE" smtClean="0"/>
              <a:t>11/06/2020</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E3558282-670E-4AE6-AC47-2934A657998D}" type="slidenum">
              <a:rPr lang="es-PE" smtClean="0"/>
              <a:t>‹Nº›</a:t>
            </a:fld>
            <a:endParaRPr lang="es-PE"/>
          </a:p>
        </p:txBody>
      </p:sp>
      <p:sp>
        <p:nvSpPr>
          <p:cNvPr id="7" name="Rectángulo 7"/>
          <p:cNvSpPr/>
          <p:nvPr userDrawn="1"/>
        </p:nvSpPr>
        <p:spPr>
          <a:xfrm>
            <a:off x="0" y="1835150"/>
            <a:ext cx="239713" cy="1089794"/>
          </a:xfrm>
          <a:prstGeom prst="rect">
            <a:avLst/>
          </a:prstGeom>
          <a:solidFill>
            <a:srgbClr val="EFA82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s-E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Tree>
    <p:extLst>
      <p:ext uri="{BB962C8B-B14F-4D97-AF65-F5344CB8AC3E}">
        <p14:creationId xmlns:p14="http://schemas.microsoft.com/office/powerpoint/2010/main" val="305981752"/>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PE"/>
          </a:p>
        </p:txBody>
      </p:sp>
      <p:sp>
        <p:nvSpPr>
          <p:cNvPr id="3" name="Marcador de contenido 2"/>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fecha 3"/>
          <p:cNvSpPr>
            <a:spLocks noGrp="1"/>
          </p:cNvSpPr>
          <p:nvPr>
            <p:ph type="dt" sz="half" idx="10"/>
          </p:nvPr>
        </p:nvSpPr>
        <p:spPr/>
        <p:txBody>
          <a:bodyPr/>
          <a:lstStyle/>
          <a:p>
            <a:fld id="{D3FD2AB4-58F2-4B3B-9A3D-F46CCFD1F5F8}" type="datetimeFigureOut">
              <a:rPr lang="es-PE" smtClean="0"/>
              <a:t>11/06/2020</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E3558282-670E-4AE6-AC47-2934A657998D}" type="slidenum">
              <a:rPr lang="es-PE" smtClean="0"/>
              <a:t>‹Nº›</a:t>
            </a:fld>
            <a:endParaRPr lang="es-PE"/>
          </a:p>
        </p:txBody>
      </p:sp>
      <p:pic>
        <p:nvPicPr>
          <p:cNvPr id="7" name="Imagen 7"/>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250238" y="306388"/>
            <a:ext cx="439737" cy="65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ángulo 8"/>
          <p:cNvSpPr/>
          <p:nvPr userDrawn="1"/>
        </p:nvSpPr>
        <p:spPr>
          <a:xfrm>
            <a:off x="8939213" y="487363"/>
            <a:ext cx="217487" cy="474662"/>
          </a:xfrm>
          <a:prstGeom prst="rect">
            <a:avLst/>
          </a:prstGeom>
          <a:solidFill>
            <a:srgbClr val="EFA82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s-E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cxnSp>
        <p:nvCxnSpPr>
          <p:cNvPr id="9" name="8 Conector recto"/>
          <p:cNvCxnSpPr/>
          <p:nvPr userDrawn="1"/>
        </p:nvCxnSpPr>
        <p:spPr>
          <a:xfrm>
            <a:off x="467544" y="1052736"/>
            <a:ext cx="7632848" cy="0"/>
          </a:xfrm>
          <a:prstGeom prst="line">
            <a:avLst/>
          </a:prstGeom>
          <a:ln>
            <a:solidFill>
              <a:srgbClr val="FFC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07300298"/>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623888" y="1709739"/>
            <a:ext cx="7886700" cy="2852737"/>
          </a:xfrm>
        </p:spPr>
        <p:txBody>
          <a:bodyPr anchor="b"/>
          <a:lstStyle>
            <a:lvl1pPr>
              <a:defRPr sz="4500"/>
            </a:lvl1pPr>
          </a:lstStyle>
          <a:p>
            <a:r>
              <a:rPr lang="es-ES" smtClean="0"/>
              <a:t>Haga clic para modificar el estilo de título del patrón</a:t>
            </a:r>
            <a:endParaRPr lang="es-PE"/>
          </a:p>
        </p:txBody>
      </p:sp>
      <p:sp>
        <p:nvSpPr>
          <p:cNvPr id="3" name="Marcador de texto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s-ES" smtClean="0"/>
              <a:t>Haga clic para modificar el estilo de texto del patrón</a:t>
            </a:r>
          </a:p>
        </p:txBody>
      </p:sp>
      <p:sp>
        <p:nvSpPr>
          <p:cNvPr id="4" name="Marcador de fecha 3"/>
          <p:cNvSpPr>
            <a:spLocks noGrp="1"/>
          </p:cNvSpPr>
          <p:nvPr>
            <p:ph type="dt" sz="half" idx="10"/>
          </p:nvPr>
        </p:nvSpPr>
        <p:spPr/>
        <p:txBody>
          <a:bodyPr/>
          <a:lstStyle/>
          <a:p>
            <a:fld id="{D3FD2AB4-58F2-4B3B-9A3D-F46CCFD1F5F8}" type="datetimeFigureOut">
              <a:rPr lang="es-PE" smtClean="0"/>
              <a:t>11/06/2020</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E3558282-670E-4AE6-AC47-2934A657998D}" type="slidenum">
              <a:rPr lang="es-PE" smtClean="0"/>
              <a:t>‹Nº›</a:t>
            </a:fld>
            <a:endParaRPr lang="es-PE"/>
          </a:p>
        </p:txBody>
      </p:sp>
    </p:spTree>
    <p:extLst>
      <p:ext uri="{BB962C8B-B14F-4D97-AF65-F5344CB8AC3E}">
        <p14:creationId xmlns:p14="http://schemas.microsoft.com/office/powerpoint/2010/main" val="5940798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PE"/>
          </a:p>
        </p:txBody>
      </p:sp>
      <p:sp>
        <p:nvSpPr>
          <p:cNvPr id="3" name="Marcador de contenido 2"/>
          <p:cNvSpPr>
            <a:spLocks noGrp="1"/>
          </p:cNvSpPr>
          <p:nvPr>
            <p:ph sz="half" idx="1"/>
          </p:nvPr>
        </p:nvSpPr>
        <p:spPr>
          <a:xfrm>
            <a:off x="628650" y="1825625"/>
            <a:ext cx="3886200" cy="435133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contenido 3"/>
          <p:cNvSpPr>
            <a:spLocks noGrp="1"/>
          </p:cNvSpPr>
          <p:nvPr>
            <p:ph sz="half" idx="2"/>
          </p:nvPr>
        </p:nvSpPr>
        <p:spPr>
          <a:xfrm>
            <a:off x="4629150" y="1825625"/>
            <a:ext cx="3886200" cy="435133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5" name="Marcador de fecha 4"/>
          <p:cNvSpPr>
            <a:spLocks noGrp="1"/>
          </p:cNvSpPr>
          <p:nvPr>
            <p:ph type="dt" sz="half" idx="10"/>
          </p:nvPr>
        </p:nvSpPr>
        <p:spPr/>
        <p:txBody>
          <a:bodyPr/>
          <a:lstStyle/>
          <a:p>
            <a:fld id="{D3FD2AB4-58F2-4B3B-9A3D-F46CCFD1F5F8}" type="datetimeFigureOut">
              <a:rPr lang="es-PE" smtClean="0"/>
              <a:t>11/06/2020</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E3558282-670E-4AE6-AC47-2934A657998D}" type="slidenum">
              <a:rPr lang="es-PE" smtClean="0"/>
              <a:t>‹Nº›</a:t>
            </a:fld>
            <a:endParaRPr lang="es-PE"/>
          </a:p>
        </p:txBody>
      </p:sp>
      <p:sp>
        <p:nvSpPr>
          <p:cNvPr id="8" name="Rectángulo 7"/>
          <p:cNvSpPr/>
          <p:nvPr userDrawn="1"/>
        </p:nvSpPr>
        <p:spPr>
          <a:xfrm>
            <a:off x="8939213" y="487363"/>
            <a:ext cx="217487" cy="474662"/>
          </a:xfrm>
          <a:prstGeom prst="rect">
            <a:avLst/>
          </a:prstGeom>
          <a:solidFill>
            <a:srgbClr val="EFA82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s-E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cxnSp>
        <p:nvCxnSpPr>
          <p:cNvPr id="9" name="9 Conector recto"/>
          <p:cNvCxnSpPr/>
          <p:nvPr userDrawn="1"/>
        </p:nvCxnSpPr>
        <p:spPr>
          <a:xfrm>
            <a:off x="467544" y="1052736"/>
            <a:ext cx="7632848" cy="0"/>
          </a:xfrm>
          <a:prstGeom prst="line">
            <a:avLst/>
          </a:prstGeom>
          <a:ln>
            <a:solidFill>
              <a:srgbClr val="FFC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30767846"/>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629841" y="365126"/>
            <a:ext cx="7886700" cy="1325563"/>
          </a:xfrm>
        </p:spPr>
        <p:txBody>
          <a:bodyPr/>
          <a:lstStyle/>
          <a:p>
            <a:r>
              <a:rPr lang="es-ES" smtClean="0"/>
              <a:t>Haga clic para modificar el estilo de título del patrón</a:t>
            </a:r>
            <a:endParaRPr lang="es-PE"/>
          </a:p>
        </p:txBody>
      </p:sp>
      <p:sp>
        <p:nvSpPr>
          <p:cNvPr id="3" name="Marcador de texto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smtClean="0"/>
              <a:t>Haga clic para modificar el estilo de texto del patrón</a:t>
            </a:r>
          </a:p>
        </p:txBody>
      </p:sp>
      <p:sp>
        <p:nvSpPr>
          <p:cNvPr id="4" name="Marcador de contenido 3"/>
          <p:cNvSpPr>
            <a:spLocks noGrp="1"/>
          </p:cNvSpPr>
          <p:nvPr>
            <p:ph sz="half" idx="2"/>
          </p:nvPr>
        </p:nvSpPr>
        <p:spPr>
          <a:xfrm>
            <a:off x="629842" y="2505075"/>
            <a:ext cx="3868340" cy="368458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5" name="Marcador de texto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smtClean="0"/>
              <a:t>Haga clic para modificar el estilo de texto del patrón</a:t>
            </a:r>
          </a:p>
        </p:txBody>
      </p:sp>
      <p:sp>
        <p:nvSpPr>
          <p:cNvPr id="6" name="Marcador de contenido 5"/>
          <p:cNvSpPr>
            <a:spLocks noGrp="1"/>
          </p:cNvSpPr>
          <p:nvPr>
            <p:ph sz="quarter" idx="4"/>
          </p:nvPr>
        </p:nvSpPr>
        <p:spPr>
          <a:xfrm>
            <a:off x="4629150" y="2505075"/>
            <a:ext cx="3887391" cy="368458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7" name="Marcador de fecha 6"/>
          <p:cNvSpPr>
            <a:spLocks noGrp="1"/>
          </p:cNvSpPr>
          <p:nvPr>
            <p:ph type="dt" sz="half" idx="10"/>
          </p:nvPr>
        </p:nvSpPr>
        <p:spPr/>
        <p:txBody>
          <a:bodyPr/>
          <a:lstStyle/>
          <a:p>
            <a:fld id="{D3FD2AB4-58F2-4B3B-9A3D-F46CCFD1F5F8}" type="datetimeFigureOut">
              <a:rPr lang="es-PE" smtClean="0"/>
              <a:t>11/06/2020</a:t>
            </a:fld>
            <a:endParaRPr lang="es-PE"/>
          </a:p>
        </p:txBody>
      </p:sp>
      <p:sp>
        <p:nvSpPr>
          <p:cNvPr id="8" name="Marcador de pie de página 7"/>
          <p:cNvSpPr>
            <a:spLocks noGrp="1"/>
          </p:cNvSpPr>
          <p:nvPr>
            <p:ph type="ftr" sz="quarter" idx="11"/>
          </p:nvPr>
        </p:nvSpPr>
        <p:spPr/>
        <p:txBody>
          <a:bodyPr/>
          <a:lstStyle/>
          <a:p>
            <a:endParaRPr lang="es-PE"/>
          </a:p>
        </p:txBody>
      </p:sp>
      <p:sp>
        <p:nvSpPr>
          <p:cNvPr id="9" name="Marcador de número de diapositiva 8"/>
          <p:cNvSpPr>
            <a:spLocks noGrp="1"/>
          </p:cNvSpPr>
          <p:nvPr>
            <p:ph type="sldNum" sz="quarter" idx="12"/>
          </p:nvPr>
        </p:nvSpPr>
        <p:spPr/>
        <p:txBody>
          <a:bodyPr/>
          <a:lstStyle/>
          <a:p>
            <a:fld id="{E3558282-670E-4AE6-AC47-2934A657998D}" type="slidenum">
              <a:rPr lang="es-PE" smtClean="0"/>
              <a:t>‹Nº›</a:t>
            </a:fld>
            <a:endParaRPr lang="es-PE"/>
          </a:p>
        </p:txBody>
      </p:sp>
    </p:spTree>
    <p:extLst>
      <p:ext uri="{BB962C8B-B14F-4D97-AF65-F5344CB8AC3E}">
        <p14:creationId xmlns:p14="http://schemas.microsoft.com/office/powerpoint/2010/main" val="14375670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PE"/>
          </a:p>
        </p:txBody>
      </p:sp>
      <p:sp>
        <p:nvSpPr>
          <p:cNvPr id="3" name="Marcador de fecha 2"/>
          <p:cNvSpPr>
            <a:spLocks noGrp="1"/>
          </p:cNvSpPr>
          <p:nvPr>
            <p:ph type="dt" sz="half" idx="10"/>
          </p:nvPr>
        </p:nvSpPr>
        <p:spPr/>
        <p:txBody>
          <a:bodyPr/>
          <a:lstStyle/>
          <a:p>
            <a:fld id="{D3FD2AB4-58F2-4B3B-9A3D-F46CCFD1F5F8}" type="datetimeFigureOut">
              <a:rPr lang="es-PE" smtClean="0"/>
              <a:t>11/06/2020</a:t>
            </a:fld>
            <a:endParaRPr lang="es-PE"/>
          </a:p>
        </p:txBody>
      </p:sp>
      <p:sp>
        <p:nvSpPr>
          <p:cNvPr id="4" name="Marcador de pie de página 3"/>
          <p:cNvSpPr>
            <a:spLocks noGrp="1"/>
          </p:cNvSpPr>
          <p:nvPr>
            <p:ph type="ftr" sz="quarter" idx="11"/>
          </p:nvPr>
        </p:nvSpPr>
        <p:spPr/>
        <p:txBody>
          <a:bodyPr/>
          <a:lstStyle/>
          <a:p>
            <a:endParaRPr lang="es-PE"/>
          </a:p>
        </p:txBody>
      </p:sp>
      <p:sp>
        <p:nvSpPr>
          <p:cNvPr id="5" name="Marcador de número de diapositiva 4"/>
          <p:cNvSpPr>
            <a:spLocks noGrp="1"/>
          </p:cNvSpPr>
          <p:nvPr>
            <p:ph type="sldNum" sz="quarter" idx="12"/>
          </p:nvPr>
        </p:nvSpPr>
        <p:spPr/>
        <p:txBody>
          <a:bodyPr/>
          <a:lstStyle/>
          <a:p>
            <a:fld id="{E3558282-670E-4AE6-AC47-2934A657998D}" type="slidenum">
              <a:rPr lang="es-PE" smtClean="0"/>
              <a:t>‹Nº›</a:t>
            </a:fld>
            <a:endParaRPr lang="es-PE"/>
          </a:p>
        </p:txBody>
      </p:sp>
    </p:spTree>
    <p:extLst>
      <p:ext uri="{BB962C8B-B14F-4D97-AF65-F5344CB8AC3E}">
        <p14:creationId xmlns:p14="http://schemas.microsoft.com/office/powerpoint/2010/main" val="15502223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D3FD2AB4-58F2-4B3B-9A3D-F46CCFD1F5F8}" type="datetimeFigureOut">
              <a:rPr lang="es-PE" smtClean="0"/>
              <a:t>11/06/2020</a:t>
            </a:fld>
            <a:endParaRPr lang="es-PE"/>
          </a:p>
        </p:txBody>
      </p:sp>
      <p:sp>
        <p:nvSpPr>
          <p:cNvPr id="3" name="Marcador de pie de página 2"/>
          <p:cNvSpPr>
            <a:spLocks noGrp="1"/>
          </p:cNvSpPr>
          <p:nvPr>
            <p:ph type="ftr" sz="quarter" idx="11"/>
          </p:nvPr>
        </p:nvSpPr>
        <p:spPr/>
        <p:txBody>
          <a:bodyPr/>
          <a:lstStyle/>
          <a:p>
            <a:endParaRPr lang="es-PE"/>
          </a:p>
        </p:txBody>
      </p:sp>
      <p:sp>
        <p:nvSpPr>
          <p:cNvPr id="4" name="Marcador de número de diapositiva 3"/>
          <p:cNvSpPr>
            <a:spLocks noGrp="1"/>
          </p:cNvSpPr>
          <p:nvPr>
            <p:ph type="sldNum" sz="quarter" idx="12"/>
          </p:nvPr>
        </p:nvSpPr>
        <p:spPr/>
        <p:txBody>
          <a:bodyPr/>
          <a:lstStyle/>
          <a:p>
            <a:fld id="{E3558282-670E-4AE6-AC47-2934A657998D}" type="slidenum">
              <a:rPr lang="es-PE" smtClean="0"/>
              <a:t>‹Nº›</a:t>
            </a:fld>
            <a:endParaRPr lang="es-PE"/>
          </a:p>
        </p:txBody>
      </p:sp>
    </p:spTree>
    <p:extLst>
      <p:ext uri="{BB962C8B-B14F-4D97-AF65-F5344CB8AC3E}">
        <p14:creationId xmlns:p14="http://schemas.microsoft.com/office/powerpoint/2010/main" val="8238806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629841" y="457200"/>
            <a:ext cx="2949178" cy="1600200"/>
          </a:xfrm>
        </p:spPr>
        <p:txBody>
          <a:bodyPr anchor="b"/>
          <a:lstStyle>
            <a:lvl1pPr>
              <a:defRPr sz="2400"/>
            </a:lvl1pPr>
          </a:lstStyle>
          <a:p>
            <a:r>
              <a:rPr lang="es-ES" smtClean="0"/>
              <a:t>Haga clic para modificar el estilo de título del patrón</a:t>
            </a:r>
            <a:endParaRPr lang="es-PE"/>
          </a:p>
        </p:txBody>
      </p:sp>
      <p:sp>
        <p:nvSpPr>
          <p:cNvPr id="3" name="Marcador de contenido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texto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smtClean="0"/>
              <a:t>Haga clic para modificar el estilo de texto del patrón</a:t>
            </a:r>
          </a:p>
        </p:txBody>
      </p:sp>
      <p:sp>
        <p:nvSpPr>
          <p:cNvPr id="5" name="Marcador de fecha 4"/>
          <p:cNvSpPr>
            <a:spLocks noGrp="1"/>
          </p:cNvSpPr>
          <p:nvPr>
            <p:ph type="dt" sz="half" idx="10"/>
          </p:nvPr>
        </p:nvSpPr>
        <p:spPr/>
        <p:txBody>
          <a:bodyPr/>
          <a:lstStyle/>
          <a:p>
            <a:fld id="{D3FD2AB4-58F2-4B3B-9A3D-F46CCFD1F5F8}" type="datetimeFigureOut">
              <a:rPr lang="es-PE" smtClean="0"/>
              <a:t>11/06/2020</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E3558282-670E-4AE6-AC47-2934A657998D}" type="slidenum">
              <a:rPr lang="es-PE" smtClean="0"/>
              <a:t>‹Nº›</a:t>
            </a:fld>
            <a:endParaRPr lang="es-PE"/>
          </a:p>
        </p:txBody>
      </p:sp>
    </p:spTree>
    <p:extLst>
      <p:ext uri="{BB962C8B-B14F-4D97-AF65-F5344CB8AC3E}">
        <p14:creationId xmlns:p14="http://schemas.microsoft.com/office/powerpoint/2010/main" val="4344825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629841" y="457200"/>
            <a:ext cx="2949178" cy="1600200"/>
          </a:xfrm>
        </p:spPr>
        <p:txBody>
          <a:bodyPr anchor="b"/>
          <a:lstStyle>
            <a:lvl1pPr>
              <a:defRPr sz="2400"/>
            </a:lvl1pPr>
          </a:lstStyle>
          <a:p>
            <a:r>
              <a:rPr lang="es-ES" smtClean="0"/>
              <a:t>Haga clic para modificar el estilo de título del patrón</a:t>
            </a:r>
            <a:endParaRPr lang="es-PE"/>
          </a:p>
        </p:txBody>
      </p:sp>
      <p:sp>
        <p:nvSpPr>
          <p:cNvPr id="3" name="Marcador de posición de imagen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s-PE"/>
          </a:p>
        </p:txBody>
      </p:sp>
      <p:sp>
        <p:nvSpPr>
          <p:cNvPr id="4" name="Marcador de texto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smtClean="0"/>
              <a:t>Haga clic para modificar el estilo de texto del patrón</a:t>
            </a:r>
          </a:p>
        </p:txBody>
      </p:sp>
      <p:sp>
        <p:nvSpPr>
          <p:cNvPr id="5" name="Marcador de fecha 4"/>
          <p:cNvSpPr>
            <a:spLocks noGrp="1"/>
          </p:cNvSpPr>
          <p:nvPr>
            <p:ph type="dt" sz="half" idx="10"/>
          </p:nvPr>
        </p:nvSpPr>
        <p:spPr/>
        <p:txBody>
          <a:bodyPr/>
          <a:lstStyle/>
          <a:p>
            <a:fld id="{D3FD2AB4-58F2-4B3B-9A3D-F46CCFD1F5F8}" type="datetimeFigureOut">
              <a:rPr lang="es-PE" smtClean="0"/>
              <a:t>11/06/2020</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E3558282-670E-4AE6-AC47-2934A657998D}" type="slidenum">
              <a:rPr lang="es-PE" smtClean="0"/>
              <a:t>‹Nº›</a:t>
            </a:fld>
            <a:endParaRPr lang="es-PE"/>
          </a:p>
        </p:txBody>
      </p:sp>
    </p:spTree>
    <p:extLst>
      <p:ext uri="{BB962C8B-B14F-4D97-AF65-F5344CB8AC3E}">
        <p14:creationId xmlns:p14="http://schemas.microsoft.com/office/powerpoint/2010/main" val="22934865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PE"/>
          </a:p>
        </p:txBody>
      </p:sp>
      <p:sp>
        <p:nvSpPr>
          <p:cNvPr id="3" name="Marcador de texto vertical 2"/>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fecha 3"/>
          <p:cNvSpPr>
            <a:spLocks noGrp="1"/>
          </p:cNvSpPr>
          <p:nvPr>
            <p:ph type="dt" sz="half" idx="10"/>
          </p:nvPr>
        </p:nvSpPr>
        <p:spPr/>
        <p:txBody>
          <a:bodyPr/>
          <a:lstStyle/>
          <a:p>
            <a:fld id="{D3FD2AB4-58F2-4B3B-9A3D-F46CCFD1F5F8}" type="datetimeFigureOut">
              <a:rPr lang="es-PE" smtClean="0"/>
              <a:t>11/06/2020</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E3558282-670E-4AE6-AC47-2934A657998D}" type="slidenum">
              <a:rPr lang="es-PE" smtClean="0"/>
              <a:t>‹Nº›</a:t>
            </a:fld>
            <a:endParaRPr lang="es-PE"/>
          </a:p>
        </p:txBody>
      </p:sp>
    </p:spTree>
    <p:extLst>
      <p:ext uri="{BB962C8B-B14F-4D97-AF65-F5344CB8AC3E}">
        <p14:creationId xmlns:p14="http://schemas.microsoft.com/office/powerpoint/2010/main" val="10661571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6543675" y="365125"/>
            <a:ext cx="1971675" cy="5811838"/>
          </a:xfrm>
        </p:spPr>
        <p:txBody>
          <a:bodyPr vert="eaVert"/>
          <a:lstStyle/>
          <a:p>
            <a:r>
              <a:rPr lang="es-ES" smtClean="0"/>
              <a:t>Haga clic para modificar el estilo de título del patrón</a:t>
            </a:r>
            <a:endParaRPr lang="es-PE"/>
          </a:p>
        </p:txBody>
      </p:sp>
      <p:sp>
        <p:nvSpPr>
          <p:cNvPr id="3" name="Marcador de texto vertical 2"/>
          <p:cNvSpPr>
            <a:spLocks noGrp="1"/>
          </p:cNvSpPr>
          <p:nvPr>
            <p:ph type="body" orient="vert" idx="1"/>
          </p:nvPr>
        </p:nvSpPr>
        <p:spPr>
          <a:xfrm>
            <a:off x="628650" y="365125"/>
            <a:ext cx="5800725" cy="5811838"/>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fecha 3"/>
          <p:cNvSpPr>
            <a:spLocks noGrp="1"/>
          </p:cNvSpPr>
          <p:nvPr>
            <p:ph type="dt" sz="half" idx="10"/>
          </p:nvPr>
        </p:nvSpPr>
        <p:spPr/>
        <p:txBody>
          <a:bodyPr/>
          <a:lstStyle/>
          <a:p>
            <a:fld id="{D3FD2AB4-58F2-4B3B-9A3D-F46CCFD1F5F8}" type="datetimeFigureOut">
              <a:rPr lang="es-PE" smtClean="0"/>
              <a:t>11/06/2020</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E3558282-670E-4AE6-AC47-2934A657998D}" type="slidenum">
              <a:rPr lang="es-PE" smtClean="0"/>
              <a:t>‹Nº›</a:t>
            </a:fld>
            <a:endParaRPr lang="es-PE"/>
          </a:p>
        </p:txBody>
      </p:sp>
    </p:spTree>
    <p:extLst>
      <p:ext uri="{BB962C8B-B14F-4D97-AF65-F5344CB8AC3E}">
        <p14:creationId xmlns:p14="http://schemas.microsoft.com/office/powerpoint/2010/main" val="397135814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userDrawn="1">
  <p:cSld name="Inicio">
    <p:spTree>
      <p:nvGrpSpPr>
        <p:cNvPr id="1" name=""/>
        <p:cNvGrpSpPr/>
        <p:nvPr/>
      </p:nvGrpSpPr>
      <p:grpSpPr>
        <a:xfrm>
          <a:off x="0" y="0"/>
          <a:ext cx="0" cy="0"/>
          <a:chOff x="0" y="0"/>
          <a:chExt cx="0" cy="0"/>
        </a:xfrm>
      </p:grpSpPr>
      <p:pic>
        <p:nvPicPr>
          <p:cNvPr id="3" name="Imagen 7"/>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237538" y="306388"/>
            <a:ext cx="439737" cy="65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ángulo 8"/>
          <p:cNvSpPr/>
          <p:nvPr userDrawn="1"/>
        </p:nvSpPr>
        <p:spPr>
          <a:xfrm>
            <a:off x="8915400" y="482600"/>
            <a:ext cx="239713" cy="492125"/>
          </a:xfrm>
          <a:prstGeom prst="rect">
            <a:avLst/>
          </a:prstGeom>
          <a:solidFill>
            <a:srgbClr val="EFA82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s-E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cxnSp>
        <p:nvCxnSpPr>
          <p:cNvPr id="5" name="4 Conector recto"/>
          <p:cNvCxnSpPr/>
          <p:nvPr userDrawn="1"/>
        </p:nvCxnSpPr>
        <p:spPr>
          <a:xfrm>
            <a:off x="467544" y="1052736"/>
            <a:ext cx="7632848" cy="0"/>
          </a:xfrm>
          <a:prstGeom prst="line">
            <a:avLst/>
          </a:prstGeom>
          <a:ln>
            <a:solidFill>
              <a:srgbClr val="FFC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6501363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cSld name="REFERENCIAS BIBLIOGRAFICAS">
    <p:spTree>
      <p:nvGrpSpPr>
        <p:cNvPr id="1" name=""/>
        <p:cNvGrpSpPr/>
        <p:nvPr/>
      </p:nvGrpSpPr>
      <p:grpSpPr>
        <a:xfrm>
          <a:off x="0" y="0"/>
          <a:ext cx="0" cy="0"/>
          <a:chOff x="0" y="0"/>
          <a:chExt cx="0" cy="0"/>
        </a:xfrm>
      </p:grpSpPr>
      <p:sp>
        <p:nvSpPr>
          <p:cNvPr id="11" name="Marcador de contenido 2"/>
          <p:cNvSpPr>
            <a:spLocks noGrp="1"/>
          </p:cNvSpPr>
          <p:nvPr>
            <p:ph idx="1" hasCustomPrompt="1"/>
          </p:nvPr>
        </p:nvSpPr>
        <p:spPr>
          <a:xfrm>
            <a:off x="457200" y="1078522"/>
            <a:ext cx="8229600" cy="5141425"/>
          </a:xfrm>
          <a:prstGeom prst="rect">
            <a:avLst/>
          </a:prstGeom>
        </p:spPr>
        <p:txBody>
          <a:bodyPr/>
          <a:lstStyle>
            <a:lvl1pPr marL="457200" indent="-457200">
              <a:buFont typeface="+mj-lt"/>
              <a:buAutoNum type="arabicPeriod"/>
              <a:defRPr sz="2000"/>
            </a:lvl1pPr>
            <a:lvl2pPr marL="914400" indent="-457200">
              <a:buFont typeface="+mj-lt"/>
              <a:buAutoNum type="arabicPeriod"/>
              <a:defRPr sz="2000"/>
            </a:lvl2pPr>
          </a:lstStyle>
          <a:p>
            <a:pPr lvl="0"/>
            <a:r>
              <a:rPr lang="es-ES_tradnl" dirty="0" smtClean="0"/>
              <a:t>Haga clic para modificar el estilo de texto del patrón</a:t>
            </a:r>
          </a:p>
          <a:p>
            <a:pPr lvl="1"/>
            <a:endParaRPr lang="es-ES" dirty="0"/>
          </a:p>
        </p:txBody>
      </p:sp>
    </p:spTree>
    <p:extLst>
      <p:ext uri="{BB962C8B-B14F-4D97-AF65-F5344CB8AC3E}">
        <p14:creationId xmlns:p14="http://schemas.microsoft.com/office/powerpoint/2010/main" val="1697573949"/>
      </p:ext>
    </p:extLst>
  </p:cSld>
  <p:clrMapOvr>
    <a:masterClrMapping/>
  </p:clrMapOvr>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4_Título y objetos">
    <p:spTree>
      <p:nvGrpSpPr>
        <p:cNvPr id="1" name=""/>
        <p:cNvGrpSpPr/>
        <p:nvPr/>
      </p:nvGrpSpPr>
      <p:grpSpPr>
        <a:xfrm>
          <a:off x="0" y="0"/>
          <a:ext cx="0" cy="0"/>
          <a:chOff x="0" y="0"/>
          <a:chExt cx="0" cy="0"/>
        </a:xfrm>
      </p:grpSpPr>
    </p:spTree>
    <p:extLst>
      <p:ext uri="{BB962C8B-B14F-4D97-AF65-F5344CB8AC3E}">
        <p14:creationId xmlns:p14="http://schemas.microsoft.com/office/powerpoint/2010/main" val="174440173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4" name="Rectángulo 7"/>
          <p:cNvSpPr/>
          <p:nvPr/>
        </p:nvSpPr>
        <p:spPr>
          <a:xfrm>
            <a:off x="1" y="1835150"/>
            <a:ext cx="239713" cy="1430564"/>
          </a:xfrm>
          <a:prstGeom prst="rect">
            <a:avLst/>
          </a:prstGeom>
          <a:solidFill>
            <a:srgbClr val="EFA82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844083" fontAlgn="auto">
              <a:spcBef>
                <a:spcPts val="0"/>
              </a:spcBef>
              <a:spcAft>
                <a:spcPts val="0"/>
              </a:spcAft>
              <a:defRPr/>
            </a:pPr>
            <a:endParaRPr lang="es-E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2" name="Título 1"/>
          <p:cNvSpPr>
            <a:spLocks noGrp="1"/>
          </p:cNvSpPr>
          <p:nvPr>
            <p:ph type="ctrTitle"/>
          </p:nvPr>
        </p:nvSpPr>
        <p:spPr>
          <a:xfrm>
            <a:off x="493365" y="1848218"/>
            <a:ext cx="7772400" cy="345317"/>
          </a:xfrm>
          <a:prstGeom prst="rect">
            <a:avLst/>
          </a:prstGeom>
        </p:spPr>
        <p:txBody>
          <a:bodyPr/>
          <a:lstStyle>
            <a:lvl1pPr>
              <a:defRPr sz="2585" cap="all">
                <a:solidFill>
                  <a:srgbClr val="272727"/>
                </a:solidFill>
              </a:defRPr>
            </a:lvl1pPr>
          </a:lstStyle>
          <a:p>
            <a:r>
              <a:rPr lang="es-ES" smtClean="0"/>
              <a:t>Haga clic para modificar el estilo de título del patrón</a:t>
            </a:r>
            <a:endParaRPr lang="es-ES" dirty="0"/>
          </a:p>
        </p:txBody>
      </p:sp>
      <p:sp>
        <p:nvSpPr>
          <p:cNvPr id="3" name="Subtítulo 2"/>
          <p:cNvSpPr>
            <a:spLocks noGrp="1"/>
          </p:cNvSpPr>
          <p:nvPr>
            <p:ph type="subTitle" idx="1"/>
          </p:nvPr>
        </p:nvSpPr>
        <p:spPr>
          <a:xfrm>
            <a:off x="493365" y="2287321"/>
            <a:ext cx="6400800" cy="978395"/>
          </a:xfrm>
          <a:prstGeom prst="rect">
            <a:avLst/>
          </a:prstGeom>
        </p:spPr>
        <p:txBody>
          <a:bodyPr anchor="ctr"/>
          <a:lstStyle>
            <a:lvl1pPr marL="0" indent="0" algn="l">
              <a:buNone/>
              <a:defRPr sz="1662">
                <a:solidFill>
                  <a:schemeClr val="bg2">
                    <a:lumMod val="25000"/>
                  </a:schemeClr>
                </a:solidFill>
              </a:defRPr>
            </a:lvl1pPr>
            <a:lvl2pPr marL="422041" indent="0" algn="ctr">
              <a:buNone/>
              <a:defRPr>
                <a:solidFill>
                  <a:schemeClr val="tx1">
                    <a:tint val="75000"/>
                  </a:schemeClr>
                </a:solidFill>
              </a:defRPr>
            </a:lvl2pPr>
            <a:lvl3pPr marL="844083" indent="0" algn="ctr">
              <a:buNone/>
              <a:defRPr>
                <a:solidFill>
                  <a:schemeClr val="tx1">
                    <a:tint val="75000"/>
                  </a:schemeClr>
                </a:solidFill>
              </a:defRPr>
            </a:lvl3pPr>
            <a:lvl4pPr marL="1266124" indent="0" algn="ctr">
              <a:buNone/>
              <a:defRPr>
                <a:solidFill>
                  <a:schemeClr val="tx1">
                    <a:tint val="75000"/>
                  </a:schemeClr>
                </a:solidFill>
              </a:defRPr>
            </a:lvl4pPr>
            <a:lvl5pPr marL="1688165" indent="0" algn="ctr">
              <a:buNone/>
              <a:defRPr>
                <a:solidFill>
                  <a:schemeClr val="tx1">
                    <a:tint val="75000"/>
                  </a:schemeClr>
                </a:solidFill>
              </a:defRPr>
            </a:lvl5pPr>
            <a:lvl6pPr marL="2110207" indent="0" algn="ctr">
              <a:buNone/>
              <a:defRPr>
                <a:solidFill>
                  <a:schemeClr val="tx1">
                    <a:tint val="75000"/>
                  </a:schemeClr>
                </a:solidFill>
              </a:defRPr>
            </a:lvl6pPr>
            <a:lvl7pPr marL="2532248" indent="0" algn="ctr">
              <a:buNone/>
              <a:defRPr>
                <a:solidFill>
                  <a:schemeClr val="tx1">
                    <a:tint val="75000"/>
                  </a:schemeClr>
                </a:solidFill>
              </a:defRPr>
            </a:lvl7pPr>
            <a:lvl8pPr marL="2954289" indent="0" algn="ctr">
              <a:buNone/>
              <a:defRPr>
                <a:solidFill>
                  <a:schemeClr val="tx1">
                    <a:tint val="75000"/>
                  </a:schemeClr>
                </a:solidFill>
              </a:defRPr>
            </a:lvl8pPr>
            <a:lvl9pPr marL="3376331" indent="0" algn="ctr">
              <a:buNone/>
              <a:defRPr>
                <a:solidFill>
                  <a:schemeClr val="tx1">
                    <a:tint val="75000"/>
                  </a:schemeClr>
                </a:solidFill>
              </a:defRPr>
            </a:lvl9pPr>
          </a:lstStyle>
          <a:p>
            <a:r>
              <a:rPr lang="es-ES" smtClean="0"/>
              <a:t>Haga clic para modificar el estilo de subtítulo del patrón</a:t>
            </a:r>
            <a:endParaRPr lang="es-ES"/>
          </a:p>
        </p:txBody>
      </p:sp>
      <p:pic>
        <p:nvPicPr>
          <p:cNvPr id="5" name="4 Imagen"/>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6732240" y="5949280"/>
            <a:ext cx="2160240" cy="648072"/>
          </a:xfrm>
          <a:prstGeom prst="rect">
            <a:avLst/>
          </a:prstGeom>
        </p:spPr>
      </p:pic>
      <p:sp>
        <p:nvSpPr>
          <p:cNvPr id="7" name="Rectángulo 7"/>
          <p:cNvSpPr/>
          <p:nvPr/>
        </p:nvSpPr>
        <p:spPr>
          <a:xfrm>
            <a:off x="1" y="1835150"/>
            <a:ext cx="239713" cy="1430564"/>
          </a:xfrm>
          <a:prstGeom prst="rect">
            <a:avLst/>
          </a:prstGeom>
          <a:solidFill>
            <a:srgbClr val="EFA82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844083" fontAlgn="auto">
              <a:spcBef>
                <a:spcPts val="0"/>
              </a:spcBef>
              <a:spcAft>
                <a:spcPts val="0"/>
              </a:spcAft>
              <a:defRPr/>
            </a:pPr>
            <a:endParaRPr lang="es-E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8" name="7 Rectángulo"/>
          <p:cNvSpPr/>
          <p:nvPr userDrawn="1"/>
        </p:nvSpPr>
        <p:spPr>
          <a:xfrm>
            <a:off x="7223597" y="12700"/>
            <a:ext cx="1907704" cy="112474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44083" fontAlgn="auto">
              <a:spcBef>
                <a:spcPts val="0"/>
              </a:spcBef>
              <a:spcAft>
                <a:spcPts val="0"/>
              </a:spcAft>
            </a:pPr>
            <a:endParaRPr lang="es-PE">
              <a:solidFill>
                <a:prstClr val="white"/>
              </a:solidFill>
            </a:endParaRPr>
          </a:p>
        </p:txBody>
      </p:sp>
      <p:sp>
        <p:nvSpPr>
          <p:cNvPr id="10" name="Rectángulo 7"/>
          <p:cNvSpPr/>
          <p:nvPr userDrawn="1"/>
        </p:nvSpPr>
        <p:spPr>
          <a:xfrm>
            <a:off x="0" y="1835150"/>
            <a:ext cx="221274" cy="1430564"/>
          </a:xfrm>
          <a:prstGeom prst="rect">
            <a:avLst/>
          </a:prstGeom>
          <a:solidFill>
            <a:srgbClr val="EFA82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844083" fontAlgn="auto">
              <a:spcBef>
                <a:spcPts val="0"/>
              </a:spcBef>
              <a:spcAft>
                <a:spcPts val="0"/>
              </a:spcAft>
              <a:defRPr/>
            </a:pPr>
            <a:endParaRPr lang="es-E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Tree>
    <p:extLst>
      <p:ext uri="{BB962C8B-B14F-4D97-AF65-F5344CB8AC3E}">
        <p14:creationId xmlns:p14="http://schemas.microsoft.com/office/powerpoint/2010/main" val="1648246073"/>
      </p:ext>
    </p:extLst>
  </p:cSld>
  <p:clrMapOvr>
    <a:masterClrMapping/>
  </p:clrMapOvr>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INTRODUCCION">
    <p:spTree>
      <p:nvGrpSpPr>
        <p:cNvPr id="1" name=""/>
        <p:cNvGrpSpPr/>
        <p:nvPr/>
      </p:nvGrpSpPr>
      <p:grpSpPr>
        <a:xfrm>
          <a:off x="0" y="0"/>
          <a:ext cx="0" cy="0"/>
          <a:chOff x="0" y="0"/>
          <a:chExt cx="0" cy="0"/>
        </a:xfrm>
      </p:grpSpPr>
      <p:sp>
        <p:nvSpPr>
          <p:cNvPr id="5" name="Marcador de contenido 2"/>
          <p:cNvSpPr>
            <a:spLocks noGrp="1"/>
          </p:cNvSpPr>
          <p:nvPr>
            <p:ph idx="1" hasCustomPrompt="1"/>
          </p:nvPr>
        </p:nvSpPr>
        <p:spPr>
          <a:xfrm>
            <a:off x="457200" y="1078524"/>
            <a:ext cx="8229600" cy="5141425"/>
          </a:xfrm>
          <a:prstGeom prst="rect">
            <a:avLst/>
          </a:prstGeom>
        </p:spPr>
        <p:txBody>
          <a:bodyPr/>
          <a:lstStyle>
            <a:lvl1pPr marL="422041" indent="-422041">
              <a:buFont typeface="+mj-lt"/>
              <a:buNone/>
              <a:defRPr sz="1846"/>
            </a:lvl1pPr>
            <a:lvl2pPr marL="844083" indent="-422041">
              <a:buFont typeface="+mj-lt"/>
              <a:buAutoNum type="arabicPeriod"/>
              <a:defRPr sz="1846"/>
            </a:lvl2pPr>
          </a:lstStyle>
          <a:p>
            <a:pPr lvl="0"/>
            <a:r>
              <a:rPr lang="es-ES_tradnl" dirty="0" smtClean="0"/>
              <a:t>Haga clic para modificar el estilo de texto del patrón</a:t>
            </a:r>
          </a:p>
          <a:p>
            <a:pPr lvl="1"/>
            <a:endParaRPr lang="es-ES" dirty="0"/>
          </a:p>
        </p:txBody>
      </p:sp>
      <p:sp>
        <p:nvSpPr>
          <p:cNvPr id="6" name="Rectangle 5"/>
          <p:cNvSpPr/>
          <p:nvPr/>
        </p:nvSpPr>
        <p:spPr>
          <a:xfrm>
            <a:off x="457200" y="393580"/>
            <a:ext cx="1401346" cy="433196"/>
          </a:xfrm>
          <a:prstGeom prst="rect">
            <a:avLst/>
          </a:prstGeom>
        </p:spPr>
        <p:txBody>
          <a:bodyPr wrap="none">
            <a:spAutoFit/>
          </a:bodyPr>
          <a:lstStyle/>
          <a:p>
            <a:pPr defTabSz="844083" fontAlgn="auto">
              <a:spcBef>
                <a:spcPts val="0"/>
              </a:spcBef>
              <a:spcAft>
                <a:spcPts val="0"/>
              </a:spcAft>
            </a:pPr>
            <a:r>
              <a:rPr lang="es-ES_tradnl" sz="2215" dirty="0" smtClean="0">
                <a:solidFill>
                  <a:srgbClr val="FFC000"/>
                </a:solidFill>
                <a:latin typeface="Arial" pitchFamily="34" charset="0"/>
                <a:cs typeface="Arial" pitchFamily="34" charset="0"/>
              </a:rPr>
              <a:t>LOGROS</a:t>
            </a:r>
            <a:endParaRPr lang="es-MX" sz="2215" dirty="0">
              <a:solidFill>
                <a:srgbClr val="FFC000"/>
              </a:solidFill>
              <a:latin typeface="Arial" pitchFamily="34" charset="0"/>
              <a:cs typeface="Arial" pitchFamily="34" charset="0"/>
            </a:endParaRPr>
          </a:p>
        </p:txBody>
      </p:sp>
      <p:sp>
        <p:nvSpPr>
          <p:cNvPr id="8" name="Rectángulo 8"/>
          <p:cNvSpPr/>
          <p:nvPr/>
        </p:nvSpPr>
        <p:spPr>
          <a:xfrm>
            <a:off x="8939214" y="487363"/>
            <a:ext cx="217487" cy="474662"/>
          </a:xfrm>
          <a:prstGeom prst="rect">
            <a:avLst/>
          </a:prstGeom>
          <a:solidFill>
            <a:srgbClr val="EFA82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844083" fontAlgn="auto">
              <a:spcBef>
                <a:spcPts val="0"/>
              </a:spcBef>
              <a:spcAft>
                <a:spcPts val="0"/>
              </a:spcAft>
              <a:defRPr/>
            </a:pPr>
            <a:endParaRPr lang="es-E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pic>
        <p:nvPicPr>
          <p:cNvPr id="2" name="1 Imagen"/>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8244409" y="332656"/>
            <a:ext cx="445597" cy="654174"/>
          </a:xfrm>
          <a:prstGeom prst="rect">
            <a:avLst/>
          </a:prstGeom>
        </p:spPr>
      </p:pic>
    </p:spTree>
    <p:extLst>
      <p:ext uri="{BB962C8B-B14F-4D97-AF65-F5344CB8AC3E}">
        <p14:creationId xmlns:p14="http://schemas.microsoft.com/office/powerpoint/2010/main" val="3049268431"/>
      </p:ext>
    </p:extLst>
  </p:cSld>
  <p:clrMapOvr>
    <a:masterClrMapping/>
  </p:clrMapOvr>
  <p:timing>
    <p:tnLst>
      <p:par>
        <p:cTn id="1" dur="indefinite" restart="never" nodeType="tmRoot"/>
      </p:par>
    </p:tnLst>
  </p:timing>
  <p:hf hdr="0"/>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obj" preserve="1">
  <p:cSld name="Título y objetos">
    <p:spTree>
      <p:nvGrpSpPr>
        <p:cNvPr id="1" name=""/>
        <p:cNvGrpSpPr/>
        <p:nvPr/>
      </p:nvGrpSpPr>
      <p:grpSpPr>
        <a:xfrm>
          <a:off x="0" y="0"/>
          <a:ext cx="0" cy="0"/>
          <a:chOff x="0" y="0"/>
          <a:chExt cx="0" cy="0"/>
        </a:xfrm>
      </p:grpSpPr>
      <p:sp>
        <p:nvSpPr>
          <p:cNvPr id="5" name="Rectángulo 8"/>
          <p:cNvSpPr/>
          <p:nvPr/>
        </p:nvSpPr>
        <p:spPr>
          <a:xfrm>
            <a:off x="8939214" y="487363"/>
            <a:ext cx="217487" cy="474662"/>
          </a:xfrm>
          <a:prstGeom prst="rect">
            <a:avLst/>
          </a:prstGeom>
          <a:solidFill>
            <a:srgbClr val="EFA82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844083" fontAlgn="auto">
              <a:spcBef>
                <a:spcPts val="0"/>
              </a:spcBef>
              <a:spcAft>
                <a:spcPts val="0"/>
              </a:spcAft>
              <a:defRPr/>
            </a:pPr>
            <a:endParaRPr lang="es-E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2" name="Título 1"/>
          <p:cNvSpPr>
            <a:spLocks noGrp="1"/>
          </p:cNvSpPr>
          <p:nvPr>
            <p:ph type="title"/>
          </p:nvPr>
        </p:nvSpPr>
        <p:spPr>
          <a:xfrm>
            <a:off x="457200" y="274638"/>
            <a:ext cx="8229600" cy="710100"/>
          </a:xfrm>
          <a:prstGeom prst="rect">
            <a:avLst/>
          </a:prstGeom>
        </p:spPr>
        <p:txBody>
          <a:bodyPr>
            <a:normAutofit/>
          </a:bodyPr>
          <a:lstStyle>
            <a:lvl1pPr>
              <a:defRPr sz="2215" cap="all"/>
            </a:lvl1pPr>
          </a:lstStyle>
          <a:p>
            <a:r>
              <a:rPr lang="es-ES" smtClean="0"/>
              <a:t>Haga clic para modificar el estilo de título del patrón</a:t>
            </a:r>
            <a:endParaRPr lang="es-ES" dirty="0"/>
          </a:p>
        </p:txBody>
      </p:sp>
      <p:sp>
        <p:nvSpPr>
          <p:cNvPr id="3" name="Marcador de contenido 2"/>
          <p:cNvSpPr>
            <a:spLocks noGrp="1"/>
          </p:cNvSpPr>
          <p:nvPr>
            <p:ph idx="1"/>
          </p:nvPr>
        </p:nvSpPr>
        <p:spPr>
          <a:xfrm>
            <a:off x="457200" y="1078524"/>
            <a:ext cx="8229600" cy="5141425"/>
          </a:xfrm>
          <a:prstGeom prst="rect">
            <a:avLst/>
          </a:prstGeom>
        </p:spPr>
        <p:txBody>
          <a:bodyPr/>
          <a:lstStyle>
            <a:lvl1pPr>
              <a:defRPr sz="1846"/>
            </a:lvl1pPr>
            <a:lvl2pPr>
              <a:defRPr sz="1846"/>
            </a:lvl2pPr>
            <a:lvl3pPr>
              <a:defRPr sz="1846"/>
            </a:lvl3pPr>
            <a:lvl4pPr>
              <a:defRPr sz="1846"/>
            </a:lvl4pPr>
            <a:lvl5pPr>
              <a:defRPr sz="1846"/>
            </a:lvl5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pic>
        <p:nvPicPr>
          <p:cNvPr id="6" name="5 Imagen"/>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8244409" y="332656"/>
            <a:ext cx="445597" cy="654174"/>
          </a:xfrm>
          <a:prstGeom prst="rect">
            <a:avLst/>
          </a:prstGeom>
        </p:spPr>
      </p:pic>
    </p:spTree>
    <p:extLst>
      <p:ext uri="{BB962C8B-B14F-4D97-AF65-F5344CB8AC3E}">
        <p14:creationId xmlns:p14="http://schemas.microsoft.com/office/powerpoint/2010/main" val="2559649733"/>
      </p:ext>
    </p:extLst>
  </p:cSld>
  <p:clrMapOvr>
    <a:masterClrMapping/>
  </p:clrMapOvr>
  <p:timing>
    <p:tnLst>
      <p:par>
        <p:cTn id="1" dur="indefinite" restart="never" nodeType="tmRoot"/>
      </p:par>
    </p:tnLst>
  </p:timing>
  <p:hf hdr="0"/>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twoObj" preserve="1">
  <p:cSld name="Dos objetos">
    <p:spTree>
      <p:nvGrpSpPr>
        <p:cNvPr id="1" name=""/>
        <p:cNvGrpSpPr/>
        <p:nvPr/>
      </p:nvGrpSpPr>
      <p:grpSpPr>
        <a:xfrm>
          <a:off x="0" y="0"/>
          <a:ext cx="0" cy="0"/>
          <a:chOff x="0" y="0"/>
          <a:chExt cx="0" cy="0"/>
        </a:xfrm>
      </p:grpSpPr>
      <p:sp>
        <p:nvSpPr>
          <p:cNvPr id="6" name="Rectángulo 8"/>
          <p:cNvSpPr/>
          <p:nvPr/>
        </p:nvSpPr>
        <p:spPr>
          <a:xfrm>
            <a:off x="8939214" y="487363"/>
            <a:ext cx="217487" cy="474662"/>
          </a:xfrm>
          <a:prstGeom prst="rect">
            <a:avLst/>
          </a:prstGeom>
          <a:solidFill>
            <a:srgbClr val="EFA82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844083" fontAlgn="auto">
              <a:spcBef>
                <a:spcPts val="0"/>
              </a:spcBef>
              <a:spcAft>
                <a:spcPts val="0"/>
              </a:spcAft>
              <a:defRPr/>
            </a:pPr>
            <a:endParaRPr lang="es-E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2" name="Título 1"/>
          <p:cNvSpPr>
            <a:spLocks noGrp="1"/>
          </p:cNvSpPr>
          <p:nvPr>
            <p:ph type="title"/>
          </p:nvPr>
        </p:nvSpPr>
        <p:spPr>
          <a:xfrm>
            <a:off x="457200" y="274638"/>
            <a:ext cx="8229600" cy="710100"/>
          </a:xfrm>
          <a:prstGeom prst="rect">
            <a:avLst/>
          </a:prstGeom>
        </p:spPr>
        <p:txBody>
          <a:bodyPr/>
          <a:lstStyle/>
          <a:p>
            <a:r>
              <a:rPr lang="es-ES" smtClean="0"/>
              <a:t>Haga clic para modificar el estilo de título del patrón</a:t>
            </a:r>
            <a:endParaRPr lang="es-ES" dirty="0"/>
          </a:p>
        </p:txBody>
      </p:sp>
      <p:sp>
        <p:nvSpPr>
          <p:cNvPr id="3" name="Marcador de contenido 2"/>
          <p:cNvSpPr>
            <a:spLocks noGrp="1"/>
          </p:cNvSpPr>
          <p:nvPr>
            <p:ph sz="half" idx="1"/>
          </p:nvPr>
        </p:nvSpPr>
        <p:spPr>
          <a:xfrm>
            <a:off x="457200" y="1078524"/>
            <a:ext cx="4038600" cy="5141425"/>
          </a:xfrm>
          <a:prstGeom prst="rect">
            <a:avLst/>
          </a:prstGeom>
        </p:spPr>
        <p:txBody>
          <a:bodyPr>
            <a:normAutofit/>
          </a:bodyPr>
          <a:lstStyle>
            <a:lvl1pPr>
              <a:defRPr sz="1846"/>
            </a:lvl1pPr>
            <a:lvl2pPr>
              <a:defRPr sz="1846"/>
            </a:lvl2pPr>
            <a:lvl3pPr>
              <a:defRPr sz="1846"/>
            </a:lvl3pPr>
            <a:lvl4pPr>
              <a:defRPr sz="1846"/>
            </a:lvl4pPr>
            <a:lvl5pPr>
              <a:defRPr sz="1846"/>
            </a:lvl5pPr>
            <a:lvl6pPr>
              <a:defRPr sz="1662"/>
            </a:lvl6pPr>
            <a:lvl7pPr>
              <a:defRPr sz="1662"/>
            </a:lvl7pPr>
            <a:lvl8pPr>
              <a:defRPr sz="1662"/>
            </a:lvl8pPr>
            <a:lvl9pPr>
              <a:defRPr sz="1662"/>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dirty="0"/>
          </a:p>
        </p:txBody>
      </p:sp>
      <p:sp>
        <p:nvSpPr>
          <p:cNvPr id="4" name="Marcador de contenido 3"/>
          <p:cNvSpPr>
            <a:spLocks noGrp="1"/>
          </p:cNvSpPr>
          <p:nvPr>
            <p:ph sz="half" idx="2"/>
          </p:nvPr>
        </p:nvSpPr>
        <p:spPr>
          <a:xfrm>
            <a:off x="4648200" y="1078524"/>
            <a:ext cx="4038600" cy="5141425"/>
          </a:xfrm>
          <a:prstGeom prst="rect">
            <a:avLst/>
          </a:prstGeom>
        </p:spPr>
        <p:txBody>
          <a:bodyPr>
            <a:normAutofit/>
          </a:bodyPr>
          <a:lstStyle>
            <a:lvl1pPr>
              <a:defRPr sz="1846"/>
            </a:lvl1pPr>
            <a:lvl2pPr>
              <a:defRPr sz="1846"/>
            </a:lvl2pPr>
            <a:lvl3pPr>
              <a:defRPr sz="1846"/>
            </a:lvl3pPr>
            <a:lvl4pPr>
              <a:defRPr sz="1846"/>
            </a:lvl4pPr>
            <a:lvl5pPr>
              <a:defRPr sz="1846"/>
            </a:lvl5pPr>
            <a:lvl6pPr>
              <a:defRPr sz="1662"/>
            </a:lvl6pPr>
            <a:lvl7pPr>
              <a:defRPr sz="1662"/>
            </a:lvl7pPr>
            <a:lvl8pPr>
              <a:defRPr sz="1662"/>
            </a:lvl8pPr>
            <a:lvl9pPr>
              <a:defRPr sz="1662"/>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dirty="0"/>
          </a:p>
        </p:txBody>
      </p:sp>
      <p:pic>
        <p:nvPicPr>
          <p:cNvPr id="8" name="7 Imagen"/>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8244409" y="332656"/>
            <a:ext cx="445597" cy="654174"/>
          </a:xfrm>
          <a:prstGeom prst="rect">
            <a:avLst/>
          </a:prstGeom>
        </p:spPr>
      </p:pic>
    </p:spTree>
    <p:extLst>
      <p:ext uri="{BB962C8B-B14F-4D97-AF65-F5344CB8AC3E}">
        <p14:creationId xmlns:p14="http://schemas.microsoft.com/office/powerpoint/2010/main" val="1848188234"/>
      </p:ext>
    </p:extLst>
  </p:cSld>
  <p:clrMapOvr>
    <a:masterClrMapping/>
  </p:clrMapOvr>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REFERENCIAS BIBLIOGRAFICAS">
    <p:spTree>
      <p:nvGrpSpPr>
        <p:cNvPr id="1" name=""/>
        <p:cNvGrpSpPr/>
        <p:nvPr/>
      </p:nvGrpSpPr>
      <p:grpSpPr>
        <a:xfrm>
          <a:off x="0" y="0"/>
          <a:ext cx="0" cy="0"/>
          <a:chOff x="0" y="0"/>
          <a:chExt cx="0" cy="0"/>
        </a:xfrm>
      </p:grpSpPr>
      <p:sp>
        <p:nvSpPr>
          <p:cNvPr id="10" name="Rectángulo 8"/>
          <p:cNvSpPr/>
          <p:nvPr/>
        </p:nvSpPr>
        <p:spPr>
          <a:xfrm>
            <a:off x="8939214" y="487363"/>
            <a:ext cx="217487" cy="474662"/>
          </a:xfrm>
          <a:prstGeom prst="rect">
            <a:avLst/>
          </a:prstGeom>
          <a:solidFill>
            <a:srgbClr val="EFA82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844083" fontAlgn="auto">
              <a:spcBef>
                <a:spcPts val="0"/>
              </a:spcBef>
              <a:spcAft>
                <a:spcPts val="0"/>
              </a:spcAft>
              <a:defRPr/>
            </a:pPr>
            <a:endParaRPr lang="es-E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1" name="Marcador de contenido 2"/>
          <p:cNvSpPr>
            <a:spLocks noGrp="1"/>
          </p:cNvSpPr>
          <p:nvPr>
            <p:ph idx="1" hasCustomPrompt="1"/>
          </p:nvPr>
        </p:nvSpPr>
        <p:spPr>
          <a:xfrm>
            <a:off x="457200" y="1078524"/>
            <a:ext cx="8229600" cy="5141425"/>
          </a:xfrm>
          <a:prstGeom prst="rect">
            <a:avLst/>
          </a:prstGeom>
        </p:spPr>
        <p:txBody>
          <a:bodyPr/>
          <a:lstStyle>
            <a:lvl1pPr marL="422041" indent="-422041">
              <a:buFont typeface="+mj-lt"/>
              <a:buAutoNum type="arabicPeriod"/>
              <a:defRPr sz="1846"/>
            </a:lvl1pPr>
            <a:lvl2pPr marL="844083" indent="-422041">
              <a:buFont typeface="+mj-lt"/>
              <a:buAutoNum type="arabicPeriod"/>
              <a:defRPr sz="1846"/>
            </a:lvl2pPr>
          </a:lstStyle>
          <a:p>
            <a:pPr lvl="0"/>
            <a:r>
              <a:rPr lang="es-ES_tradnl" dirty="0" smtClean="0"/>
              <a:t>Haga clic para modificar el estilo de texto del patrón</a:t>
            </a:r>
          </a:p>
          <a:p>
            <a:pPr lvl="1"/>
            <a:endParaRPr lang="es-ES" dirty="0"/>
          </a:p>
        </p:txBody>
      </p:sp>
      <p:sp>
        <p:nvSpPr>
          <p:cNvPr id="12" name="Rectangle 11"/>
          <p:cNvSpPr/>
          <p:nvPr/>
        </p:nvSpPr>
        <p:spPr>
          <a:xfrm>
            <a:off x="457201" y="393580"/>
            <a:ext cx="4647426" cy="433196"/>
          </a:xfrm>
          <a:prstGeom prst="rect">
            <a:avLst/>
          </a:prstGeom>
        </p:spPr>
        <p:txBody>
          <a:bodyPr wrap="none">
            <a:spAutoFit/>
          </a:bodyPr>
          <a:lstStyle/>
          <a:p>
            <a:pPr defTabSz="844083" fontAlgn="auto">
              <a:spcBef>
                <a:spcPts val="0"/>
              </a:spcBef>
              <a:spcAft>
                <a:spcPts val="0"/>
              </a:spcAft>
            </a:pPr>
            <a:r>
              <a:rPr lang="es-ES_tradnl" sz="2215" dirty="0" smtClean="0">
                <a:solidFill>
                  <a:srgbClr val="FFC000"/>
                </a:solidFill>
                <a:latin typeface="Arial" pitchFamily="34" charset="0"/>
                <a:cs typeface="Arial" pitchFamily="34" charset="0"/>
              </a:rPr>
              <a:t>REFERENCIAS BIBLIOGRÁFICAS</a:t>
            </a:r>
            <a:endParaRPr lang="es-MX" sz="2215" dirty="0">
              <a:solidFill>
                <a:srgbClr val="FFC000"/>
              </a:solidFill>
              <a:latin typeface="Arial" pitchFamily="34" charset="0"/>
              <a:cs typeface="Arial" pitchFamily="34" charset="0"/>
            </a:endParaRPr>
          </a:p>
        </p:txBody>
      </p:sp>
      <p:pic>
        <p:nvPicPr>
          <p:cNvPr id="7" name="6 Imagen"/>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8244409" y="332656"/>
            <a:ext cx="445597" cy="654174"/>
          </a:xfrm>
          <a:prstGeom prst="rect">
            <a:avLst/>
          </a:prstGeom>
        </p:spPr>
      </p:pic>
    </p:spTree>
    <p:extLst>
      <p:ext uri="{BB962C8B-B14F-4D97-AF65-F5344CB8AC3E}">
        <p14:creationId xmlns:p14="http://schemas.microsoft.com/office/powerpoint/2010/main" val="3257156472"/>
      </p:ext>
    </p:extLst>
  </p:cSld>
  <p:clrMapOvr>
    <a:masterClrMapping/>
  </p:clrMapOvr>
  <p:timing>
    <p:tnLst>
      <p:par>
        <p:cTn id="1" dur="indefinite" restart="never" nodeType="tmRoot"/>
      </p:par>
    </p:tnLst>
  </p:timing>
  <p:hf hdr="0"/>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1_REFERENCIAS BIBLIOGRAFICAS">
    <p:spTree>
      <p:nvGrpSpPr>
        <p:cNvPr id="1" name=""/>
        <p:cNvGrpSpPr/>
        <p:nvPr/>
      </p:nvGrpSpPr>
      <p:grpSpPr>
        <a:xfrm>
          <a:off x="0" y="0"/>
          <a:ext cx="0" cy="0"/>
          <a:chOff x="0" y="0"/>
          <a:chExt cx="0" cy="0"/>
        </a:xfrm>
      </p:grpSpPr>
      <p:sp>
        <p:nvSpPr>
          <p:cNvPr id="10" name="Rectángulo 8"/>
          <p:cNvSpPr/>
          <p:nvPr/>
        </p:nvSpPr>
        <p:spPr>
          <a:xfrm>
            <a:off x="8939214" y="487363"/>
            <a:ext cx="217487" cy="474662"/>
          </a:xfrm>
          <a:prstGeom prst="rect">
            <a:avLst/>
          </a:prstGeom>
          <a:solidFill>
            <a:srgbClr val="EFA82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844083" fontAlgn="auto">
              <a:spcBef>
                <a:spcPts val="0"/>
              </a:spcBef>
              <a:spcAft>
                <a:spcPts val="0"/>
              </a:spcAft>
              <a:defRPr/>
            </a:pPr>
            <a:endParaRPr lang="es-E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1" name="Marcador de contenido 2"/>
          <p:cNvSpPr>
            <a:spLocks noGrp="1"/>
          </p:cNvSpPr>
          <p:nvPr>
            <p:ph idx="1" hasCustomPrompt="1"/>
          </p:nvPr>
        </p:nvSpPr>
        <p:spPr>
          <a:xfrm>
            <a:off x="457200" y="1078524"/>
            <a:ext cx="8229600" cy="5141425"/>
          </a:xfrm>
          <a:prstGeom prst="rect">
            <a:avLst/>
          </a:prstGeom>
        </p:spPr>
        <p:txBody>
          <a:bodyPr/>
          <a:lstStyle>
            <a:lvl1pPr marL="422041" indent="-422041">
              <a:buFont typeface="+mj-lt"/>
              <a:buAutoNum type="arabicPeriod"/>
              <a:defRPr sz="1846"/>
            </a:lvl1pPr>
            <a:lvl2pPr marL="844083" indent="-422041">
              <a:buFont typeface="+mj-lt"/>
              <a:buAutoNum type="arabicPeriod"/>
              <a:defRPr sz="1846"/>
            </a:lvl2pPr>
          </a:lstStyle>
          <a:p>
            <a:pPr lvl="0"/>
            <a:r>
              <a:rPr lang="es-ES_tradnl" dirty="0" smtClean="0"/>
              <a:t>Haga clic para modificar el estilo de texto del patrón</a:t>
            </a:r>
          </a:p>
          <a:p>
            <a:pPr lvl="1"/>
            <a:endParaRPr lang="es-ES" dirty="0"/>
          </a:p>
        </p:txBody>
      </p:sp>
      <p:sp>
        <p:nvSpPr>
          <p:cNvPr id="12" name="Rectangle 11"/>
          <p:cNvSpPr/>
          <p:nvPr/>
        </p:nvSpPr>
        <p:spPr>
          <a:xfrm>
            <a:off x="457200" y="393580"/>
            <a:ext cx="2457724" cy="433196"/>
          </a:xfrm>
          <a:prstGeom prst="rect">
            <a:avLst/>
          </a:prstGeom>
        </p:spPr>
        <p:txBody>
          <a:bodyPr wrap="none">
            <a:spAutoFit/>
          </a:bodyPr>
          <a:lstStyle/>
          <a:p>
            <a:pPr defTabSz="844083" fontAlgn="auto">
              <a:spcBef>
                <a:spcPts val="0"/>
              </a:spcBef>
              <a:spcAft>
                <a:spcPts val="0"/>
              </a:spcAft>
            </a:pPr>
            <a:r>
              <a:rPr lang="es-ES_tradnl" sz="2215" dirty="0" smtClean="0">
                <a:solidFill>
                  <a:srgbClr val="FFC000"/>
                </a:solidFill>
                <a:latin typeface="Arial" pitchFamily="34" charset="0"/>
                <a:cs typeface="Arial" pitchFamily="34" charset="0"/>
              </a:rPr>
              <a:t>CONCLUSIONES</a:t>
            </a:r>
            <a:endParaRPr lang="es-MX" sz="2215" dirty="0">
              <a:solidFill>
                <a:srgbClr val="FFC000"/>
              </a:solidFill>
              <a:latin typeface="Arial" pitchFamily="34" charset="0"/>
              <a:cs typeface="Arial" pitchFamily="34" charset="0"/>
            </a:endParaRPr>
          </a:p>
        </p:txBody>
      </p:sp>
      <p:pic>
        <p:nvPicPr>
          <p:cNvPr id="7" name="6 Imagen"/>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8244409" y="332656"/>
            <a:ext cx="445597" cy="654174"/>
          </a:xfrm>
          <a:prstGeom prst="rect">
            <a:avLst/>
          </a:prstGeom>
        </p:spPr>
      </p:pic>
    </p:spTree>
    <p:extLst>
      <p:ext uri="{BB962C8B-B14F-4D97-AF65-F5344CB8AC3E}">
        <p14:creationId xmlns:p14="http://schemas.microsoft.com/office/powerpoint/2010/main" val="3799321262"/>
      </p:ext>
    </p:extLst>
  </p:cSld>
  <p:clrMapOvr>
    <a:masterClrMapping/>
  </p:clrMapOvr>
  <p:timing>
    <p:tnLst>
      <p:par>
        <p:cTn id="1" dur="indefinite" restart="never" nodeType="tmRoot"/>
      </p:par>
    </p:tnLst>
  </p:timing>
  <p:hf hdr="0"/>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titleOnly" preserve="1">
  <p:cSld name="Sólo el título">
    <p:spTree>
      <p:nvGrpSpPr>
        <p:cNvPr id="1" name=""/>
        <p:cNvGrpSpPr/>
        <p:nvPr/>
      </p:nvGrpSpPr>
      <p:grpSpPr>
        <a:xfrm>
          <a:off x="0" y="0"/>
          <a:ext cx="0" cy="0"/>
          <a:chOff x="0" y="0"/>
          <a:chExt cx="0" cy="0"/>
        </a:xfrm>
      </p:grpSpPr>
      <p:sp>
        <p:nvSpPr>
          <p:cNvPr id="4" name="Rectángulo 8"/>
          <p:cNvSpPr/>
          <p:nvPr/>
        </p:nvSpPr>
        <p:spPr>
          <a:xfrm>
            <a:off x="8915401" y="482602"/>
            <a:ext cx="239713" cy="492125"/>
          </a:xfrm>
          <a:prstGeom prst="rect">
            <a:avLst/>
          </a:prstGeom>
          <a:solidFill>
            <a:srgbClr val="EFA82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844083" fontAlgn="auto">
              <a:spcBef>
                <a:spcPts val="0"/>
              </a:spcBef>
              <a:spcAft>
                <a:spcPts val="0"/>
              </a:spcAft>
              <a:defRPr/>
            </a:pPr>
            <a:endParaRPr lang="es-E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2" name="Título 1"/>
          <p:cNvSpPr>
            <a:spLocks noGrp="1"/>
          </p:cNvSpPr>
          <p:nvPr>
            <p:ph type="title"/>
          </p:nvPr>
        </p:nvSpPr>
        <p:spPr>
          <a:xfrm>
            <a:off x="457200" y="274638"/>
            <a:ext cx="8229600" cy="710100"/>
          </a:xfrm>
          <a:prstGeom prst="rect">
            <a:avLst/>
          </a:prstGeom>
        </p:spPr>
        <p:txBody>
          <a:bodyPr/>
          <a:lstStyle/>
          <a:p>
            <a:r>
              <a:rPr lang="es-ES" smtClean="0"/>
              <a:t>Haga clic para modificar el estilo de título del patrón</a:t>
            </a:r>
            <a:endParaRPr lang="es-ES" dirty="0"/>
          </a:p>
        </p:txBody>
      </p:sp>
      <p:pic>
        <p:nvPicPr>
          <p:cNvPr id="6" name="5 Imagen"/>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8244409" y="332656"/>
            <a:ext cx="445597" cy="654174"/>
          </a:xfrm>
          <a:prstGeom prst="rect">
            <a:avLst/>
          </a:prstGeom>
        </p:spPr>
      </p:pic>
    </p:spTree>
    <p:extLst>
      <p:ext uri="{BB962C8B-B14F-4D97-AF65-F5344CB8AC3E}">
        <p14:creationId xmlns:p14="http://schemas.microsoft.com/office/powerpoint/2010/main" val="1082629409"/>
      </p:ext>
    </p:extLst>
  </p:cSld>
  <p:clrMapOvr>
    <a:masterClrMapping/>
  </p:clrMapOvr>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userDrawn="1">
  <p:cSld name="3_Título y objetos">
    <p:spTree>
      <p:nvGrpSpPr>
        <p:cNvPr id="1" name=""/>
        <p:cNvGrpSpPr/>
        <p:nvPr/>
      </p:nvGrpSpPr>
      <p:grpSpPr>
        <a:xfrm>
          <a:off x="0" y="0"/>
          <a:ext cx="0" cy="0"/>
          <a:chOff x="0" y="0"/>
          <a:chExt cx="0" cy="0"/>
        </a:xfrm>
      </p:grpSpPr>
    </p:spTree>
    <p:extLst>
      <p:ext uri="{BB962C8B-B14F-4D97-AF65-F5344CB8AC3E}">
        <p14:creationId xmlns:p14="http://schemas.microsoft.com/office/powerpoint/2010/main" val="4748492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slideLayout" Target="../slideLayouts/slideLayout22.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2" Type="http://schemas.openxmlformats.org/officeDocument/2006/relationships/slideLayout" Target="../slideLayouts/slideLayout11.xml"/><Relationship Id="rId16" Type="http://schemas.openxmlformats.org/officeDocument/2006/relationships/image" Target="../media/image1.png"/><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5" Type="http://schemas.openxmlformats.org/officeDocument/2006/relationships/theme" Target="../theme/theme2.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slideLayout" Target="../slideLayouts/slideLayout2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5" Type="http://schemas.openxmlformats.org/officeDocument/2006/relationships/slideLayout" Target="../slideLayouts/slideLayout28.xml"/><Relationship Id="rId10" Type="http://schemas.openxmlformats.org/officeDocument/2006/relationships/image" Target="../media/image1.png"/><Relationship Id="rId4" Type="http://schemas.openxmlformats.org/officeDocument/2006/relationships/slideLayout" Target="../slideLayouts/slideLayout27.xml"/><Relationship Id="rId9"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1">
            <a:lum/>
          </a:blip>
          <a:srcRect/>
          <a:stretch>
            <a:fillRect/>
          </a:stretch>
        </a:blip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457200" y="274638"/>
            <a:ext cx="8229600" cy="710100"/>
          </a:xfrm>
          <a:prstGeom prst="rect">
            <a:avLst/>
          </a:prstGeom>
        </p:spPr>
        <p:txBody>
          <a:bodyPr vert="horz" wrap="square" lIns="91440" tIns="45720" rIns="91440" bIns="45720" numCol="1" anchor="ctr" anchorCtr="0" compatLnSpc="1">
            <a:prstTxWarp prst="textNoShape">
              <a:avLst/>
            </a:prstTxWarp>
            <a:normAutofit/>
          </a:bodyPr>
          <a:lstStyle/>
          <a:p>
            <a:pPr lvl="0"/>
            <a:r>
              <a:rPr lang="es-ES_tradnl" smtClean="0"/>
              <a:t>CLIC PARA EDITAR TÍTULO</a:t>
            </a:r>
            <a:endParaRPr lang="es-ES" smtClean="0"/>
          </a:p>
        </p:txBody>
      </p:sp>
      <p:sp>
        <p:nvSpPr>
          <p:cNvPr id="16388" name="Marcador de texto 2"/>
          <p:cNvSpPr>
            <a:spLocks noGrp="1"/>
          </p:cNvSpPr>
          <p:nvPr>
            <p:ph type="body" idx="1"/>
          </p:nvPr>
        </p:nvSpPr>
        <p:spPr bwMode="auto">
          <a:xfrm>
            <a:off x="457200" y="1078522"/>
            <a:ext cx="8229600" cy="51414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s-ES_tradnl" smtClean="0"/>
              <a:t>Haga clic para modificar el estilo de texto del patrón</a:t>
            </a:r>
          </a:p>
          <a:p>
            <a:pPr lvl="1"/>
            <a:r>
              <a:rPr lang="es-ES_tradnl" smtClean="0"/>
              <a:t>Segundo nivel</a:t>
            </a:r>
          </a:p>
          <a:p>
            <a:pPr lvl="2"/>
            <a:r>
              <a:rPr lang="es-ES_tradnl" smtClean="0"/>
              <a:t>Tercer nivel</a:t>
            </a:r>
          </a:p>
          <a:p>
            <a:pPr lvl="3"/>
            <a:r>
              <a:rPr lang="es-ES_tradnl" smtClean="0"/>
              <a:t>Cuarto nivel</a:t>
            </a:r>
          </a:p>
          <a:p>
            <a:pPr lvl="4"/>
            <a:r>
              <a:rPr lang="es-ES_tradnl" smtClean="0"/>
              <a:t>Quinto nivel</a:t>
            </a:r>
            <a:endParaRPr lang="es-ES" smtClean="0"/>
          </a:p>
        </p:txBody>
      </p:sp>
      <p:sp>
        <p:nvSpPr>
          <p:cNvPr id="4" name="Marcador de fecha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defRPr>
            </a:lvl1pPr>
          </a:lstStyle>
          <a:p>
            <a:pPr>
              <a:defRPr/>
            </a:pPr>
            <a:fld id="{3AE029DD-EBB8-48F4-AE16-93E2ECB4FAA6}" type="datetimeFigureOut">
              <a:rPr lang="es-ES" smtClean="0"/>
              <a:pPr>
                <a:defRPr/>
              </a:pPr>
              <a:t>11/06/2020</a:t>
            </a:fld>
            <a:endParaRPr lang="es-ES"/>
          </a:p>
        </p:txBody>
      </p:sp>
      <p:sp>
        <p:nvSpPr>
          <p:cNvPr id="5" name="Marcador de pie de página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smtClean="0">
                <a:solidFill>
                  <a:schemeClr val="tx1">
                    <a:tint val="75000"/>
                  </a:schemeClr>
                </a:solidFill>
                <a:latin typeface="Calibri" charset="0"/>
                <a:ea typeface="ＭＳ Ｐゴシック" charset="0"/>
                <a:cs typeface="ＭＳ Ｐゴシック" charset="0"/>
              </a:defRPr>
            </a:lvl1pPr>
          </a:lstStyle>
          <a:p>
            <a:pPr>
              <a:defRPr/>
            </a:pPr>
            <a:endParaRPr lang="es-ES"/>
          </a:p>
        </p:txBody>
      </p:sp>
      <p:sp>
        <p:nvSpPr>
          <p:cNvPr id="6" name="Marcador de número de diapositiva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a:defRPr/>
            </a:pPr>
            <a:fld id="{1D4B74AB-FBA2-40A7-9DDB-AAD86792C911}" type="slidenum">
              <a:rPr lang="es-ES" smtClean="0"/>
              <a:pPr>
                <a:defRPr/>
              </a:pPr>
              <a:t>‹Nº›</a:t>
            </a:fld>
            <a:endParaRPr lang="es-ES"/>
          </a:p>
        </p:txBody>
      </p:sp>
    </p:spTree>
  </p:cSld>
  <p:clrMap bg1="lt1" tx1="dk1" bg2="lt2" tx2="dk2" accent1="accent1" accent2="accent2" accent3="accent3" accent4="accent4" accent5="accent5" accent6="accent6" hlink="hlink" folHlink="folHlink"/>
  <p:sldLayoutIdLst>
    <p:sldLayoutId id="2147483742" r:id="rId1"/>
    <p:sldLayoutId id="2147483743" r:id="rId2"/>
    <p:sldLayoutId id="2147483744" r:id="rId3"/>
    <p:sldLayoutId id="2147483745" r:id="rId4"/>
    <p:sldLayoutId id="2147483746" r:id="rId5"/>
    <p:sldLayoutId id="2147483747" r:id="rId6"/>
    <p:sldLayoutId id="2147483750" r:id="rId7"/>
    <p:sldLayoutId id="2147483751" r:id="rId8"/>
    <p:sldLayoutId id="2147483752" r:id="rId9"/>
  </p:sldLayoutIdLst>
  <p:transition>
    <p:wipe dir="r"/>
  </p:transition>
  <p:timing>
    <p:tnLst>
      <p:par>
        <p:cTn id="1" dur="indefinite" restart="never" nodeType="tmRoot"/>
      </p:par>
    </p:tnLst>
  </p:timing>
  <p:txStyles>
    <p:titleStyle>
      <a:lvl1pPr algn="l" defTabSz="457200" rtl="0" eaLnBrk="1" fontAlgn="base" hangingPunct="1">
        <a:spcBef>
          <a:spcPct val="0"/>
        </a:spcBef>
        <a:spcAft>
          <a:spcPct val="0"/>
        </a:spcAft>
        <a:defRPr sz="2400" kern="1200" cap="all">
          <a:solidFill>
            <a:srgbClr val="EFA82F"/>
          </a:solidFill>
          <a:latin typeface="Arial"/>
          <a:ea typeface="ＭＳ Ｐゴシック" charset="-128"/>
          <a:cs typeface="+mj-cs"/>
        </a:defRPr>
      </a:lvl1pPr>
      <a:lvl2pPr algn="l" defTabSz="457200" rtl="0" eaLnBrk="1" fontAlgn="base" hangingPunct="1">
        <a:spcBef>
          <a:spcPct val="0"/>
        </a:spcBef>
        <a:spcAft>
          <a:spcPct val="0"/>
        </a:spcAft>
        <a:defRPr sz="2000">
          <a:solidFill>
            <a:srgbClr val="EFA82F"/>
          </a:solidFill>
          <a:latin typeface="Arial" pitchFamily="34" charset="0"/>
          <a:ea typeface="ＭＳ Ｐゴシック" charset="-128"/>
        </a:defRPr>
      </a:lvl2pPr>
      <a:lvl3pPr algn="l" defTabSz="457200" rtl="0" eaLnBrk="1" fontAlgn="base" hangingPunct="1">
        <a:spcBef>
          <a:spcPct val="0"/>
        </a:spcBef>
        <a:spcAft>
          <a:spcPct val="0"/>
        </a:spcAft>
        <a:defRPr sz="2000">
          <a:solidFill>
            <a:srgbClr val="EFA82F"/>
          </a:solidFill>
          <a:latin typeface="Arial" pitchFamily="34" charset="0"/>
          <a:ea typeface="ＭＳ Ｐゴシック" charset="-128"/>
        </a:defRPr>
      </a:lvl3pPr>
      <a:lvl4pPr algn="l" defTabSz="457200" rtl="0" eaLnBrk="1" fontAlgn="base" hangingPunct="1">
        <a:spcBef>
          <a:spcPct val="0"/>
        </a:spcBef>
        <a:spcAft>
          <a:spcPct val="0"/>
        </a:spcAft>
        <a:defRPr sz="2000">
          <a:solidFill>
            <a:srgbClr val="EFA82F"/>
          </a:solidFill>
          <a:latin typeface="Arial" pitchFamily="34" charset="0"/>
          <a:ea typeface="ＭＳ Ｐゴシック" charset="-128"/>
        </a:defRPr>
      </a:lvl4pPr>
      <a:lvl5pPr algn="l" defTabSz="457200" rtl="0" eaLnBrk="1" fontAlgn="base" hangingPunct="1">
        <a:spcBef>
          <a:spcPct val="0"/>
        </a:spcBef>
        <a:spcAft>
          <a:spcPct val="0"/>
        </a:spcAft>
        <a:defRPr sz="2000">
          <a:solidFill>
            <a:srgbClr val="EFA82F"/>
          </a:solidFill>
          <a:latin typeface="Arial" pitchFamily="34" charset="0"/>
          <a:ea typeface="ＭＳ Ｐゴシック" charset="-128"/>
        </a:defRPr>
      </a:lvl5pPr>
      <a:lvl6pPr marL="457200" algn="l" defTabSz="457200" rtl="0" eaLnBrk="1" fontAlgn="base" hangingPunct="1">
        <a:spcBef>
          <a:spcPct val="0"/>
        </a:spcBef>
        <a:spcAft>
          <a:spcPct val="0"/>
        </a:spcAft>
        <a:defRPr sz="2000">
          <a:solidFill>
            <a:srgbClr val="EFA82F"/>
          </a:solidFill>
          <a:latin typeface="Arial" pitchFamily="34" charset="0"/>
          <a:ea typeface="ＭＳ Ｐゴシック" charset="-128"/>
        </a:defRPr>
      </a:lvl6pPr>
      <a:lvl7pPr marL="914400" algn="l" defTabSz="457200" rtl="0" eaLnBrk="1" fontAlgn="base" hangingPunct="1">
        <a:spcBef>
          <a:spcPct val="0"/>
        </a:spcBef>
        <a:spcAft>
          <a:spcPct val="0"/>
        </a:spcAft>
        <a:defRPr sz="2000">
          <a:solidFill>
            <a:srgbClr val="EFA82F"/>
          </a:solidFill>
          <a:latin typeface="Arial" pitchFamily="34" charset="0"/>
          <a:ea typeface="ＭＳ Ｐゴシック" charset="-128"/>
        </a:defRPr>
      </a:lvl7pPr>
      <a:lvl8pPr marL="1371600" algn="l" defTabSz="457200" rtl="0" eaLnBrk="1" fontAlgn="base" hangingPunct="1">
        <a:spcBef>
          <a:spcPct val="0"/>
        </a:spcBef>
        <a:spcAft>
          <a:spcPct val="0"/>
        </a:spcAft>
        <a:defRPr sz="2000">
          <a:solidFill>
            <a:srgbClr val="EFA82F"/>
          </a:solidFill>
          <a:latin typeface="Arial" pitchFamily="34" charset="0"/>
          <a:ea typeface="ＭＳ Ｐゴシック" charset="-128"/>
        </a:defRPr>
      </a:lvl8pPr>
      <a:lvl9pPr marL="1828800" algn="l" defTabSz="457200" rtl="0" eaLnBrk="1" fontAlgn="base" hangingPunct="1">
        <a:spcBef>
          <a:spcPct val="0"/>
        </a:spcBef>
        <a:spcAft>
          <a:spcPct val="0"/>
        </a:spcAft>
        <a:defRPr sz="2000">
          <a:solidFill>
            <a:srgbClr val="EFA82F"/>
          </a:solidFill>
          <a:latin typeface="Arial" pitchFamily="34" charset="0"/>
          <a:ea typeface="ＭＳ Ｐゴシック" charset="-128"/>
        </a:defRPr>
      </a:lvl9pPr>
    </p:titleStyle>
    <p:bodyStyle>
      <a:lvl1pPr marL="342900" indent="-3429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1pPr>
      <a:lvl2pPr marL="742950" indent="-28575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2pPr>
      <a:lvl3pPr marL="11430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3pPr>
      <a:lvl4pPr marL="16002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4pPr>
      <a:lvl5pPr marL="20574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6">
            <a:lum/>
          </a:blip>
          <a:srcRect/>
          <a:stretch>
            <a:fillRect/>
          </a:stretch>
        </a:blip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s-ES" smtClean="0"/>
              <a:t>Haga clic para modificar el estilo de título del patrón</a:t>
            </a:r>
            <a:endParaRPr lang="es-PE"/>
          </a:p>
        </p:txBody>
      </p:sp>
      <p:sp>
        <p:nvSpPr>
          <p:cNvPr id="3" name="Marcador de texto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fecha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fld id="{3AE029DD-EBB8-48F4-AE16-93E2ECB4FAA6}" type="datetimeFigureOut">
              <a:rPr lang="es-ES" smtClean="0"/>
              <a:pPr>
                <a:defRPr/>
              </a:pPr>
              <a:t>11/06/2020</a:t>
            </a:fld>
            <a:endParaRPr lang="es-ES"/>
          </a:p>
        </p:txBody>
      </p:sp>
      <p:sp>
        <p:nvSpPr>
          <p:cNvPr id="5" name="Marcador de pie de página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endParaRPr lang="es-ES"/>
          </a:p>
        </p:txBody>
      </p:sp>
      <p:sp>
        <p:nvSpPr>
          <p:cNvPr id="6" name="Marcador de número de diapositiva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1D4B74AB-FBA2-40A7-9DDB-AAD86792C911}" type="slidenum">
              <a:rPr lang="es-ES" smtClean="0"/>
              <a:pPr>
                <a:defRPr/>
              </a:pPr>
              <a:t>‹Nº›</a:t>
            </a:fld>
            <a:endParaRPr lang="es-ES"/>
          </a:p>
        </p:txBody>
      </p:sp>
    </p:spTree>
    <p:extLst>
      <p:ext uri="{BB962C8B-B14F-4D97-AF65-F5344CB8AC3E}">
        <p14:creationId xmlns:p14="http://schemas.microsoft.com/office/powerpoint/2010/main" val="2061259704"/>
      </p:ext>
    </p:extLst>
  </p:cSld>
  <p:clrMap bg1="lt1" tx1="dk1" bg2="lt2" tx2="dk2" accent1="accent1" accent2="accent2" accent3="accent3" accent4="accent4" accent5="accent5" accent6="accent6" hlink="hlink" folHlink="folHlink"/>
  <p:sldLayoutIdLst>
    <p:sldLayoutId id="2147483762" r:id="rId1"/>
    <p:sldLayoutId id="2147483763" r:id="rId2"/>
    <p:sldLayoutId id="2147483764" r:id="rId3"/>
    <p:sldLayoutId id="2147483765" r:id="rId4"/>
    <p:sldLayoutId id="2147483766" r:id="rId5"/>
    <p:sldLayoutId id="2147483767" r:id="rId6"/>
    <p:sldLayoutId id="2147483768" r:id="rId7"/>
    <p:sldLayoutId id="2147483769" r:id="rId8"/>
    <p:sldLayoutId id="2147483770" r:id="rId9"/>
    <p:sldLayoutId id="2147483771" r:id="rId10"/>
    <p:sldLayoutId id="2147483772" r:id="rId11"/>
    <p:sldLayoutId id="2147483773" r:id="rId12"/>
    <p:sldLayoutId id="2147483776" r:id="rId13"/>
    <p:sldLayoutId id="2147483787" r:id="rId14"/>
  </p:sldLayoutIdLst>
  <p:transition>
    <p:wipe dir="r"/>
  </p:transition>
  <p:timing>
    <p:tnLst>
      <p:par>
        <p:cTn id="1" dur="indefinite" restart="never" nodeType="tmRoot"/>
      </p:par>
    </p:tnLst>
  </p:timing>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s-PE"/>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0">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54247370"/>
      </p:ext>
    </p:extLst>
  </p:cSld>
  <p:clrMap bg1="lt1" tx1="dk1" bg2="lt2" tx2="dk2" accent1="accent1" accent2="accent2" accent3="accent3" accent4="accent4" accent5="accent5" accent6="accent6" hlink="hlink" folHlink="folHlink"/>
  <p:sldLayoutIdLst>
    <p:sldLayoutId id="2147483779" r:id="rId1"/>
    <p:sldLayoutId id="2147483780" r:id="rId2"/>
    <p:sldLayoutId id="2147483781" r:id="rId3"/>
    <p:sldLayoutId id="2147483782" r:id="rId4"/>
    <p:sldLayoutId id="2147483783" r:id="rId5"/>
    <p:sldLayoutId id="2147483784" r:id="rId6"/>
    <p:sldLayoutId id="2147483785" r:id="rId7"/>
    <p:sldLayoutId id="2147483786" r:id="rId8"/>
  </p:sldLayoutIdLst>
  <p:transition>
    <p:wipe dir="r"/>
  </p:transition>
  <p:timing>
    <p:tnLst>
      <p:par>
        <p:cTn id="1" dur="indefinite" restart="never" nodeType="tmRoot"/>
      </p:par>
    </p:tnLst>
  </p:timing>
  <p:hf hdr="0"/>
  <p:txStyles>
    <p:titleStyle>
      <a:lvl1pPr algn="l" defTabSz="422041" rtl="0" eaLnBrk="1" fontAlgn="base" hangingPunct="1">
        <a:spcBef>
          <a:spcPct val="0"/>
        </a:spcBef>
        <a:spcAft>
          <a:spcPct val="0"/>
        </a:spcAft>
        <a:defRPr sz="2215" kern="1200" cap="all">
          <a:solidFill>
            <a:srgbClr val="EFA82F"/>
          </a:solidFill>
          <a:latin typeface="Arial"/>
          <a:ea typeface="ＭＳ Ｐゴシック" charset="-128"/>
          <a:cs typeface="+mj-cs"/>
        </a:defRPr>
      </a:lvl1pPr>
      <a:lvl2pPr algn="l" defTabSz="422041" rtl="0" eaLnBrk="1" fontAlgn="base" hangingPunct="1">
        <a:spcBef>
          <a:spcPct val="0"/>
        </a:spcBef>
        <a:spcAft>
          <a:spcPct val="0"/>
        </a:spcAft>
        <a:defRPr sz="1846">
          <a:solidFill>
            <a:srgbClr val="EFA82F"/>
          </a:solidFill>
          <a:latin typeface="Arial" pitchFamily="34" charset="0"/>
          <a:ea typeface="ＭＳ Ｐゴシック" charset="-128"/>
        </a:defRPr>
      </a:lvl2pPr>
      <a:lvl3pPr algn="l" defTabSz="422041" rtl="0" eaLnBrk="1" fontAlgn="base" hangingPunct="1">
        <a:spcBef>
          <a:spcPct val="0"/>
        </a:spcBef>
        <a:spcAft>
          <a:spcPct val="0"/>
        </a:spcAft>
        <a:defRPr sz="1846">
          <a:solidFill>
            <a:srgbClr val="EFA82F"/>
          </a:solidFill>
          <a:latin typeface="Arial" pitchFamily="34" charset="0"/>
          <a:ea typeface="ＭＳ Ｐゴシック" charset="-128"/>
        </a:defRPr>
      </a:lvl3pPr>
      <a:lvl4pPr algn="l" defTabSz="422041" rtl="0" eaLnBrk="1" fontAlgn="base" hangingPunct="1">
        <a:spcBef>
          <a:spcPct val="0"/>
        </a:spcBef>
        <a:spcAft>
          <a:spcPct val="0"/>
        </a:spcAft>
        <a:defRPr sz="1846">
          <a:solidFill>
            <a:srgbClr val="EFA82F"/>
          </a:solidFill>
          <a:latin typeface="Arial" pitchFamily="34" charset="0"/>
          <a:ea typeface="ＭＳ Ｐゴシック" charset="-128"/>
        </a:defRPr>
      </a:lvl4pPr>
      <a:lvl5pPr algn="l" defTabSz="422041" rtl="0" eaLnBrk="1" fontAlgn="base" hangingPunct="1">
        <a:spcBef>
          <a:spcPct val="0"/>
        </a:spcBef>
        <a:spcAft>
          <a:spcPct val="0"/>
        </a:spcAft>
        <a:defRPr sz="1846">
          <a:solidFill>
            <a:srgbClr val="EFA82F"/>
          </a:solidFill>
          <a:latin typeface="Arial" pitchFamily="34" charset="0"/>
          <a:ea typeface="ＭＳ Ｐゴシック" charset="-128"/>
        </a:defRPr>
      </a:lvl5pPr>
      <a:lvl6pPr marL="422041" algn="l" defTabSz="422041" rtl="0" eaLnBrk="1" fontAlgn="base" hangingPunct="1">
        <a:spcBef>
          <a:spcPct val="0"/>
        </a:spcBef>
        <a:spcAft>
          <a:spcPct val="0"/>
        </a:spcAft>
        <a:defRPr sz="1846">
          <a:solidFill>
            <a:srgbClr val="EFA82F"/>
          </a:solidFill>
          <a:latin typeface="Arial" pitchFamily="34" charset="0"/>
          <a:ea typeface="ＭＳ Ｐゴシック" charset="-128"/>
        </a:defRPr>
      </a:lvl6pPr>
      <a:lvl7pPr marL="844083" algn="l" defTabSz="422041" rtl="0" eaLnBrk="1" fontAlgn="base" hangingPunct="1">
        <a:spcBef>
          <a:spcPct val="0"/>
        </a:spcBef>
        <a:spcAft>
          <a:spcPct val="0"/>
        </a:spcAft>
        <a:defRPr sz="1846">
          <a:solidFill>
            <a:srgbClr val="EFA82F"/>
          </a:solidFill>
          <a:latin typeface="Arial" pitchFamily="34" charset="0"/>
          <a:ea typeface="ＭＳ Ｐゴシック" charset="-128"/>
        </a:defRPr>
      </a:lvl7pPr>
      <a:lvl8pPr marL="1266124" algn="l" defTabSz="422041" rtl="0" eaLnBrk="1" fontAlgn="base" hangingPunct="1">
        <a:spcBef>
          <a:spcPct val="0"/>
        </a:spcBef>
        <a:spcAft>
          <a:spcPct val="0"/>
        </a:spcAft>
        <a:defRPr sz="1846">
          <a:solidFill>
            <a:srgbClr val="EFA82F"/>
          </a:solidFill>
          <a:latin typeface="Arial" pitchFamily="34" charset="0"/>
          <a:ea typeface="ＭＳ Ｐゴシック" charset="-128"/>
        </a:defRPr>
      </a:lvl8pPr>
      <a:lvl9pPr marL="1688165" algn="l" defTabSz="422041" rtl="0" eaLnBrk="1" fontAlgn="base" hangingPunct="1">
        <a:spcBef>
          <a:spcPct val="0"/>
        </a:spcBef>
        <a:spcAft>
          <a:spcPct val="0"/>
        </a:spcAft>
        <a:defRPr sz="1846">
          <a:solidFill>
            <a:srgbClr val="EFA82F"/>
          </a:solidFill>
          <a:latin typeface="Arial" pitchFamily="34" charset="0"/>
          <a:ea typeface="ＭＳ Ｐゴシック" charset="-128"/>
        </a:defRPr>
      </a:lvl9pPr>
    </p:titleStyle>
    <p:bodyStyle>
      <a:lvl1pPr marL="316531" indent="-316531" algn="l" defTabSz="422041" rtl="0" eaLnBrk="1" fontAlgn="base" hangingPunct="1">
        <a:spcBef>
          <a:spcPct val="20000"/>
        </a:spcBef>
        <a:spcAft>
          <a:spcPct val="0"/>
        </a:spcAft>
        <a:buClr>
          <a:srgbClr val="EFA82F"/>
        </a:buClr>
        <a:buFont typeface="Arial" pitchFamily="34" charset="0"/>
        <a:buChar char="•"/>
        <a:defRPr sz="1477" kern="1200">
          <a:solidFill>
            <a:srgbClr val="676767"/>
          </a:solidFill>
          <a:latin typeface="Arial"/>
          <a:ea typeface="ＭＳ Ｐゴシック" charset="-128"/>
          <a:cs typeface="+mn-cs"/>
        </a:defRPr>
      </a:lvl1pPr>
      <a:lvl2pPr marL="685817" indent="-263776" algn="l" defTabSz="422041" rtl="0" eaLnBrk="1" fontAlgn="base" hangingPunct="1">
        <a:spcBef>
          <a:spcPct val="20000"/>
        </a:spcBef>
        <a:spcAft>
          <a:spcPct val="0"/>
        </a:spcAft>
        <a:buClr>
          <a:srgbClr val="EFA82F"/>
        </a:buClr>
        <a:buFont typeface="Arial" pitchFamily="34" charset="0"/>
        <a:buChar char="•"/>
        <a:defRPr sz="1477" kern="1200">
          <a:solidFill>
            <a:srgbClr val="676767"/>
          </a:solidFill>
          <a:latin typeface="Arial"/>
          <a:ea typeface="ＭＳ Ｐゴシック" charset="-128"/>
          <a:cs typeface="+mn-cs"/>
        </a:defRPr>
      </a:lvl2pPr>
      <a:lvl3pPr marL="1055103" indent="-211021" algn="l" defTabSz="422041" rtl="0" eaLnBrk="1" fontAlgn="base" hangingPunct="1">
        <a:spcBef>
          <a:spcPct val="20000"/>
        </a:spcBef>
        <a:spcAft>
          <a:spcPct val="0"/>
        </a:spcAft>
        <a:buClr>
          <a:srgbClr val="EFA82F"/>
        </a:buClr>
        <a:buFont typeface="Arial" pitchFamily="34" charset="0"/>
        <a:buChar char="•"/>
        <a:defRPr sz="1477" kern="1200">
          <a:solidFill>
            <a:srgbClr val="676767"/>
          </a:solidFill>
          <a:latin typeface="Arial"/>
          <a:ea typeface="ＭＳ Ｐゴシック" charset="-128"/>
          <a:cs typeface="+mn-cs"/>
        </a:defRPr>
      </a:lvl3pPr>
      <a:lvl4pPr marL="1477145" indent="-211021" algn="l" defTabSz="422041" rtl="0" eaLnBrk="1" fontAlgn="base" hangingPunct="1">
        <a:spcBef>
          <a:spcPct val="20000"/>
        </a:spcBef>
        <a:spcAft>
          <a:spcPct val="0"/>
        </a:spcAft>
        <a:buClr>
          <a:srgbClr val="EFA82F"/>
        </a:buClr>
        <a:buFont typeface="Arial" pitchFamily="34" charset="0"/>
        <a:buChar char="•"/>
        <a:defRPr sz="1477" kern="1200">
          <a:solidFill>
            <a:srgbClr val="676767"/>
          </a:solidFill>
          <a:latin typeface="Arial"/>
          <a:ea typeface="ＭＳ Ｐゴシック" charset="-128"/>
          <a:cs typeface="+mn-cs"/>
        </a:defRPr>
      </a:lvl4pPr>
      <a:lvl5pPr marL="1899186" indent="-211021" algn="l" defTabSz="422041" rtl="0" eaLnBrk="1" fontAlgn="base" hangingPunct="1">
        <a:spcBef>
          <a:spcPct val="20000"/>
        </a:spcBef>
        <a:spcAft>
          <a:spcPct val="0"/>
        </a:spcAft>
        <a:buClr>
          <a:srgbClr val="EFA82F"/>
        </a:buClr>
        <a:buFont typeface="Arial" pitchFamily="34" charset="0"/>
        <a:buChar char="•"/>
        <a:defRPr sz="1477" kern="1200">
          <a:solidFill>
            <a:srgbClr val="676767"/>
          </a:solidFill>
          <a:latin typeface="Arial"/>
          <a:ea typeface="ＭＳ Ｐゴシック" charset="-128"/>
          <a:cs typeface="+mn-cs"/>
        </a:defRPr>
      </a:lvl5pPr>
      <a:lvl6pPr marL="2321227" indent="-211021" algn="l" defTabSz="422041" rtl="0" eaLnBrk="1" latinLnBrk="0" hangingPunct="1">
        <a:spcBef>
          <a:spcPct val="20000"/>
        </a:spcBef>
        <a:buFont typeface="Arial"/>
        <a:buChar char="•"/>
        <a:defRPr sz="1846" kern="1200">
          <a:solidFill>
            <a:schemeClr val="tx1"/>
          </a:solidFill>
          <a:latin typeface="+mn-lt"/>
          <a:ea typeface="+mn-ea"/>
          <a:cs typeface="+mn-cs"/>
        </a:defRPr>
      </a:lvl6pPr>
      <a:lvl7pPr marL="2743269" indent="-211021" algn="l" defTabSz="422041" rtl="0" eaLnBrk="1" latinLnBrk="0" hangingPunct="1">
        <a:spcBef>
          <a:spcPct val="20000"/>
        </a:spcBef>
        <a:buFont typeface="Arial"/>
        <a:buChar char="•"/>
        <a:defRPr sz="1846" kern="1200">
          <a:solidFill>
            <a:schemeClr val="tx1"/>
          </a:solidFill>
          <a:latin typeface="+mn-lt"/>
          <a:ea typeface="+mn-ea"/>
          <a:cs typeface="+mn-cs"/>
        </a:defRPr>
      </a:lvl7pPr>
      <a:lvl8pPr marL="3165310" indent="-211021" algn="l" defTabSz="422041" rtl="0" eaLnBrk="1" latinLnBrk="0" hangingPunct="1">
        <a:spcBef>
          <a:spcPct val="20000"/>
        </a:spcBef>
        <a:buFont typeface="Arial"/>
        <a:buChar char="•"/>
        <a:defRPr sz="1846" kern="1200">
          <a:solidFill>
            <a:schemeClr val="tx1"/>
          </a:solidFill>
          <a:latin typeface="+mn-lt"/>
          <a:ea typeface="+mn-ea"/>
          <a:cs typeface="+mn-cs"/>
        </a:defRPr>
      </a:lvl8pPr>
      <a:lvl9pPr marL="3587351" indent="-211021" algn="l" defTabSz="422041" rtl="0" eaLnBrk="1" latinLnBrk="0" hangingPunct="1">
        <a:spcBef>
          <a:spcPct val="20000"/>
        </a:spcBef>
        <a:buFont typeface="Arial"/>
        <a:buChar char="•"/>
        <a:defRPr sz="1846" kern="1200">
          <a:solidFill>
            <a:schemeClr val="tx1"/>
          </a:solidFill>
          <a:latin typeface="+mn-lt"/>
          <a:ea typeface="+mn-ea"/>
          <a:cs typeface="+mn-cs"/>
        </a:defRPr>
      </a:lvl9pPr>
    </p:bodyStyle>
    <p:otherStyle>
      <a:defPPr>
        <a:defRPr lang="es-ES"/>
      </a:defPPr>
      <a:lvl1pPr marL="0" algn="l" defTabSz="422041" rtl="0" eaLnBrk="1" latinLnBrk="0" hangingPunct="1">
        <a:defRPr sz="1662" kern="1200">
          <a:solidFill>
            <a:schemeClr val="tx1"/>
          </a:solidFill>
          <a:latin typeface="+mn-lt"/>
          <a:ea typeface="+mn-ea"/>
          <a:cs typeface="+mn-cs"/>
        </a:defRPr>
      </a:lvl1pPr>
      <a:lvl2pPr marL="422041" algn="l" defTabSz="422041" rtl="0" eaLnBrk="1" latinLnBrk="0" hangingPunct="1">
        <a:defRPr sz="1662" kern="1200">
          <a:solidFill>
            <a:schemeClr val="tx1"/>
          </a:solidFill>
          <a:latin typeface="+mn-lt"/>
          <a:ea typeface="+mn-ea"/>
          <a:cs typeface="+mn-cs"/>
        </a:defRPr>
      </a:lvl2pPr>
      <a:lvl3pPr marL="844083" algn="l" defTabSz="422041" rtl="0" eaLnBrk="1" latinLnBrk="0" hangingPunct="1">
        <a:defRPr sz="1662" kern="1200">
          <a:solidFill>
            <a:schemeClr val="tx1"/>
          </a:solidFill>
          <a:latin typeface="+mn-lt"/>
          <a:ea typeface="+mn-ea"/>
          <a:cs typeface="+mn-cs"/>
        </a:defRPr>
      </a:lvl3pPr>
      <a:lvl4pPr marL="1266124" algn="l" defTabSz="422041" rtl="0" eaLnBrk="1" latinLnBrk="0" hangingPunct="1">
        <a:defRPr sz="1662" kern="1200">
          <a:solidFill>
            <a:schemeClr val="tx1"/>
          </a:solidFill>
          <a:latin typeface="+mn-lt"/>
          <a:ea typeface="+mn-ea"/>
          <a:cs typeface="+mn-cs"/>
        </a:defRPr>
      </a:lvl4pPr>
      <a:lvl5pPr marL="1688165" algn="l" defTabSz="422041" rtl="0" eaLnBrk="1" latinLnBrk="0" hangingPunct="1">
        <a:defRPr sz="1662" kern="1200">
          <a:solidFill>
            <a:schemeClr val="tx1"/>
          </a:solidFill>
          <a:latin typeface="+mn-lt"/>
          <a:ea typeface="+mn-ea"/>
          <a:cs typeface="+mn-cs"/>
        </a:defRPr>
      </a:lvl5pPr>
      <a:lvl6pPr marL="2110207" algn="l" defTabSz="422041" rtl="0" eaLnBrk="1" latinLnBrk="0" hangingPunct="1">
        <a:defRPr sz="1662" kern="1200">
          <a:solidFill>
            <a:schemeClr val="tx1"/>
          </a:solidFill>
          <a:latin typeface="+mn-lt"/>
          <a:ea typeface="+mn-ea"/>
          <a:cs typeface="+mn-cs"/>
        </a:defRPr>
      </a:lvl6pPr>
      <a:lvl7pPr marL="2532248" algn="l" defTabSz="422041" rtl="0" eaLnBrk="1" latinLnBrk="0" hangingPunct="1">
        <a:defRPr sz="1662" kern="1200">
          <a:solidFill>
            <a:schemeClr val="tx1"/>
          </a:solidFill>
          <a:latin typeface="+mn-lt"/>
          <a:ea typeface="+mn-ea"/>
          <a:cs typeface="+mn-cs"/>
        </a:defRPr>
      </a:lvl7pPr>
      <a:lvl8pPr marL="2954289" algn="l" defTabSz="422041" rtl="0" eaLnBrk="1" latinLnBrk="0" hangingPunct="1">
        <a:defRPr sz="1662" kern="1200">
          <a:solidFill>
            <a:schemeClr val="tx1"/>
          </a:solidFill>
          <a:latin typeface="+mn-lt"/>
          <a:ea typeface="+mn-ea"/>
          <a:cs typeface="+mn-cs"/>
        </a:defRPr>
      </a:lvl8pPr>
      <a:lvl9pPr marL="3376331" algn="l" defTabSz="422041" rtl="0" eaLnBrk="1" latinLnBrk="0" hangingPunct="1">
        <a:defRPr sz="166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3" Type="http://schemas.openxmlformats.org/officeDocument/2006/relationships/image" Target="../../clipboard/media/image5.png"/><Relationship Id="rId2" Type="http://schemas.openxmlformats.org/officeDocument/2006/relationships/image" Target="../media/image9.png"/><Relationship Id="rId1" Type="http://schemas.openxmlformats.org/officeDocument/2006/relationships/slideLayout" Target="../slideLayouts/slideLayout23.xml"/><Relationship Id="rId4" Type="http://schemas.openxmlformats.org/officeDocument/2006/relationships/image" Target="../../clipboard/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audio" Target="../media/audio1.wav"/><Relationship Id="rId1" Type="http://schemas.openxmlformats.org/officeDocument/2006/relationships/slideLayout" Target="../slideLayouts/slideLayout21.xml"/><Relationship Id="rId5" Type="http://schemas.openxmlformats.org/officeDocument/2006/relationships/image" Target="../media/image13.gif"/><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21.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9.png"/><Relationship Id="rId7" Type="http://schemas.openxmlformats.org/officeDocument/2006/relationships/image" Target="../media/image23.png"/><Relationship Id="rId12" Type="http://schemas.openxmlformats.org/officeDocument/2006/relationships/image" Target="../media/image27.png"/><Relationship Id="rId2" Type="http://schemas.openxmlformats.org/officeDocument/2006/relationships/image" Target="../media/image17.png"/><Relationship Id="rId1" Type="http://schemas.openxmlformats.org/officeDocument/2006/relationships/slideLayout" Target="../slideLayouts/slideLayout21.xml"/><Relationship Id="rId6" Type="http://schemas.openxmlformats.org/officeDocument/2006/relationships/image" Target="../media/image22.png"/><Relationship Id="rId11" Type="http://schemas.openxmlformats.org/officeDocument/2006/relationships/image" Target="../media/image26.png"/><Relationship Id="rId5" Type="http://schemas.openxmlformats.org/officeDocument/2006/relationships/image" Target="../media/image21.png"/><Relationship Id="rId10" Type="http://schemas.openxmlformats.org/officeDocument/2006/relationships/image" Target="../media/image24.png"/><Relationship Id="rId4" Type="http://schemas.openxmlformats.org/officeDocument/2006/relationships/image" Target="../media/image20.png"/><Relationship Id="rId9" Type="http://schemas.openxmlformats.org/officeDocument/2006/relationships/image" Target="../media/image25.png"/></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oleObject" Target="../embeddings/oleObject1.bin"/><Relationship Id="rId7" Type="http://schemas.openxmlformats.org/officeDocument/2006/relationships/image" Target="../media/image28.png"/><Relationship Id="rId2" Type="http://schemas.openxmlformats.org/officeDocument/2006/relationships/slideLayout" Target="../slideLayouts/slideLayout13.xml"/><Relationship Id="rId1" Type="http://schemas.openxmlformats.org/officeDocument/2006/relationships/vmlDrawing" Target="../drawings/vmlDrawing1.vml"/><Relationship Id="rId6" Type="http://schemas.openxmlformats.org/officeDocument/2006/relationships/image" Target="../media/image19.wmf"/><Relationship Id="rId5" Type="http://schemas.openxmlformats.org/officeDocument/2006/relationships/oleObject" Target="../embeddings/oleObject2.bin"/><Relationship Id="rId4" Type="http://schemas.openxmlformats.org/officeDocument/2006/relationships/image" Target="../media/image18.wmf"/><Relationship Id="rId9" Type="http://schemas.openxmlformats.org/officeDocument/2006/relationships/image" Target="../media/image20.w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8" Type="http://schemas.openxmlformats.org/officeDocument/2006/relationships/image" Target="../media/image31.wmf"/><Relationship Id="rId3" Type="http://schemas.openxmlformats.org/officeDocument/2006/relationships/oleObject" Target="../embeddings/oleObject4.bin"/><Relationship Id="rId7" Type="http://schemas.openxmlformats.org/officeDocument/2006/relationships/oleObject" Target="../embeddings/oleObject6.bin"/><Relationship Id="rId2" Type="http://schemas.openxmlformats.org/officeDocument/2006/relationships/slideLayout" Target="../slideLayouts/slideLayout13.xml"/><Relationship Id="rId1" Type="http://schemas.openxmlformats.org/officeDocument/2006/relationships/vmlDrawing" Target="../drawings/vmlDrawing2.vml"/><Relationship Id="rId6" Type="http://schemas.openxmlformats.org/officeDocument/2006/relationships/image" Target="../media/image30.wmf"/><Relationship Id="rId5" Type="http://schemas.openxmlformats.org/officeDocument/2006/relationships/oleObject" Target="../embeddings/oleObject5.bin"/><Relationship Id="rId10" Type="http://schemas.openxmlformats.org/officeDocument/2006/relationships/image" Target="../media/image32.wmf"/><Relationship Id="rId4" Type="http://schemas.openxmlformats.org/officeDocument/2006/relationships/image" Target="../media/image29.wmf"/><Relationship Id="rId9" Type="http://schemas.openxmlformats.org/officeDocument/2006/relationships/oleObject" Target="../embeddings/oleObject7.bin"/></Relationships>
</file>

<file path=ppt/slides/_rels/slide14.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image" Target="../media/image52.png"/><Relationship Id="rId3" Type="http://schemas.openxmlformats.org/officeDocument/2006/relationships/image" Target="../media/image42.png"/><Relationship Id="rId7" Type="http://schemas.openxmlformats.org/officeDocument/2006/relationships/image" Target="../media/image33.png"/><Relationship Id="rId12" Type="http://schemas.openxmlformats.org/officeDocument/2006/relationships/image" Target="../media/image51.png"/><Relationship Id="rId2" Type="http://schemas.openxmlformats.org/officeDocument/2006/relationships/image" Target="../media/image17.png"/><Relationship Id="rId16" Type="http://schemas.openxmlformats.org/officeDocument/2006/relationships/image" Target="../media/image55.png"/><Relationship Id="rId1" Type="http://schemas.openxmlformats.org/officeDocument/2006/relationships/slideLayout" Target="../slideLayouts/slideLayout13.xml"/><Relationship Id="rId6" Type="http://schemas.openxmlformats.org/officeDocument/2006/relationships/image" Target="../media/image45.png"/><Relationship Id="rId11" Type="http://schemas.openxmlformats.org/officeDocument/2006/relationships/image" Target="../media/image50.png"/><Relationship Id="rId5" Type="http://schemas.openxmlformats.org/officeDocument/2006/relationships/image" Target="../media/image44.png"/><Relationship Id="rId15" Type="http://schemas.openxmlformats.org/officeDocument/2006/relationships/image" Target="../media/image54.png"/><Relationship Id="rId10" Type="http://schemas.openxmlformats.org/officeDocument/2006/relationships/image" Target="../media/image49.png"/><Relationship Id="rId4" Type="http://schemas.openxmlformats.org/officeDocument/2006/relationships/image" Target="../media/image43.png"/><Relationship Id="rId9" Type="http://schemas.openxmlformats.org/officeDocument/2006/relationships/image" Target="../media/image48.png"/><Relationship Id="rId14" Type="http://schemas.openxmlformats.org/officeDocument/2006/relationships/image" Target="../media/image53.png"/></Relationships>
</file>

<file path=ppt/slides/_rels/slide15.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57.png"/><Relationship Id="rId7" Type="http://schemas.openxmlformats.org/officeDocument/2006/relationships/image" Target="../media/image61.png"/><Relationship Id="rId2" Type="http://schemas.openxmlformats.org/officeDocument/2006/relationships/image" Target="../media/image56.png"/><Relationship Id="rId1" Type="http://schemas.openxmlformats.org/officeDocument/2006/relationships/slideLayout" Target="../slideLayouts/slideLayout11.xml"/><Relationship Id="rId6" Type="http://schemas.openxmlformats.org/officeDocument/2006/relationships/image" Target="../media/image60.png"/><Relationship Id="rId11" Type="http://schemas.openxmlformats.org/officeDocument/2006/relationships/image" Target="../media/image65.png"/><Relationship Id="rId5" Type="http://schemas.openxmlformats.org/officeDocument/2006/relationships/image" Target="../media/image59.png"/><Relationship Id="rId10" Type="http://schemas.openxmlformats.org/officeDocument/2006/relationships/image" Target="../media/image64.png"/><Relationship Id="rId4" Type="http://schemas.openxmlformats.org/officeDocument/2006/relationships/image" Target="../media/image58.png"/><Relationship Id="rId9" Type="http://schemas.openxmlformats.org/officeDocument/2006/relationships/image" Target="../media/image63.png"/></Relationships>
</file>

<file path=ppt/slides/_rels/slide1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66.png"/><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36.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8" Type="http://schemas.openxmlformats.org/officeDocument/2006/relationships/image" Target="../media/image40.wmf"/><Relationship Id="rId3" Type="http://schemas.openxmlformats.org/officeDocument/2006/relationships/oleObject" Target="../embeddings/oleObject8.bin"/><Relationship Id="rId7" Type="http://schemas.openxmlformats.org/officeDocument/2006/relationships/oleObject" Target="../embeddings/oleObject10.bin"/><Relationship Id="rId2" Type="http://schemas.openxmlformats.org/officeDocument/2006/relationships/slideLayout" Target="../slideLayouts/slideLayout13.xml"/><Relationship Id="rId1" Type="http://schemas.openxmlformats.org/officeDocument/2006/relationships/vmlDrawing" Target="../drawings/vmlDrawing3.vml"/><Relationship Id="rId6" Type="http://schemas.openxmlformats.org/officeDocument/2006/relationships/image" Target="../media/image39.wmf"/><Relationship Id="rId5" Type="http://schemas.openxmlformats.org/officeDocument/2006/relationships/oleObject" Target="../embeddings/oleObject9.bin"/><Relationship Id="rId4" Type="http://schemas.openxmlformats.org/officeDocument/2006/relationships/image" Target="../media/image38.w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13.xml"/><Relationship Id="rId1" Type="http://schemas.openxmlformats.org/officeDocument/2006/relationships/vmlDrawing" Target="../drawings/vmlDrawing4.vml"/><Relationship Id="rId6" Type="http://schemas.openxmlformats.org/officeDocument/2006/relationships/image" Target="../media/image43.gif"/><Relationship Id="rId5" Type="http://schemas.openxmlformats.org/officeDocument/2006/relationships/image" Target="../media/image42.jpeg"/><Relationship Id="rId4" Type="http://schemas.openxmlformats.org/officeDocument/2006/relationships/image" Target="../media/image41.wmf"/></Relationships>
</file>

<file path=ppt/slides/_rels/slide20.xml.rels><?xml version="1.0" encoding="UTF-8" standalone="yes"?>
<Relationships xmlns="http://schemas.openxmlformats.org/package/2006/relationships"><Relationship Id="rId3" Type="http://schemas.openxmlformats.org/officeDocument/2006/relationships/audio" Target="../media/audio2.wav"/><Relationship Id="rId7" Type="http://schemas.openxmlformats.org/officeDocument/2006/relationships/image" Target="../media/image46.png"/><Relationship Id="rId2" Type="http://schemas.openxmlformats.org/officeDocument/2006/relationships/slideLayout" Target="../slideLayouts/slideLayout11.xml"/><Relationship Id="rId1" Type="http://schemas.openxmlformats.org/officeDocument/2006/relationships/vmlDrawing" Target="../drawings/vmlDrawing5.vml"/><Relationship Id="rId6" Type="http://schemas.openxmlformats.org/officeDocument/2006/relationships/image" Target="../media/image44.wmf"/><Relationship Id="rId5" Type="http://schemas.openxmlformats.org/officeDocument/2006/relationships/oleObject" Target="../embeddings/oleObject12.bin"/><Relationship Id="rId4" Type="http://schemas.openxmlformats.org/officeDocument/2006/relationships/audio" Target="../media/audio3.wav"/></Relationships>
</file>

<file path=ppt/slides/_rels/slide21.xml.rels><?xml version="1.0" encoding="UTF-8" standalone="yes"?>
<Relationships xmlns="http://schemas.openxmlformats.org/package/2006/relationships"><Relationship Id="rId3" Type="http://schemas.openxmlformats.org/officeDocument/2006/relationships/audio" Target="../media/audio4.wav"/><Relationship Id="rId2" Type="http://schemas.openxmlformats.org/officeDocument/2006/relationships/audio" Target="../media/audio2.wav"/><Relationship Id="rId1" Type="http://schemas.openxmlformats.org/officeDocument/2006/relationships/slideLayout" Target="../slideLayouts/slideLayout11.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47.png"/></Relationships>
</file>

<file path=ppt/slides/_rels/slide22.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audio" Target="../media/audio2.wav"/><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audio" Target="../media/audio2.wav"/><Relationship Id="rId1" Type="http://schemas.openxmlformats.org/officeDocument/2006/relationships/slideLayout" Target="../slideLayouts/slideLayout11.xml"/><Relationship Id="rId4" Type="http://schemas.openxmlformats.org/officeDocument/2006/relationships/image" Target="../media/image7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ángulo redondeado 3"/>
          <p:cNvSpPr/>
          <p:nvPr/>
        </p:nvSpPr>
        <p:spPr>
          <a:xfrm>
            <a:off x="1907704" y="798327"/>
            <a:ext cx="5688632" cy="648072"/>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marL="1704975" indent="-1704975"/>
            <a:r>
              <a:rPr lang="es-PE" sz="2000" b="1" dirty="0">
                <a:solidFill>
                  <a:schemeClr val="tx1"/>
                </a:solidFill>
                <a:latin typeface="Arial" panose="020B0604020202020204" pitchFamily="34" charset="0"/>
                <a:cs typeface="Arial" panose="020B0604020202020204" pitchFamily="34" charset="0"/>
              </a:rPr>
              <a:t>SEMANA </a:t>
            </a:r>
            <a:r>
              <a:rPr lang="es-PE" sz="2000" b="1" dirty="0" smtClean="0">
                <a:solidFill>
                  <a:schemeClr val="tx1"/>
                </a:solidFill>
                <a:latin typeface="Arial" panose="020B0604020202020204" pitchFamily="34" charset="0"/>
                <a:cs typeface="Arial" panose="020B0604020202020204" pitchFamily="34" charset="0"/>
              </a:rPr>
              <a:t>05:  MOVIMIENTO  ONDULATORIO</a:t>
            </a:r>
            <a:endParaRPr lang="es-PE" sz="2000" b="1" dirty="0">
              <a:solidFill>
                <a:schemeClr val="tx1"/>
              </a:solidFill>
              <a:latin typeface="Arial" panose="020B0604020202020204" pitchFamily="34" charset="0"/>
              <a:cs typeface="Arial" panose="020B0604020202020204" pitchFamily="34" charset="0"/>
            </a:endParaRPr>
          </a:p>
        </p:txBody>
      </p:sp>
      <p:sp>
        <p:nvSpPr>
          <p:cNvPr id="5" name="Rectángulo redondeado 4"/>
          <p:cNvSpPr/>
          <p:nvPr/>
        </p:nvSpPr>
        <p:spPr>
          <a:xfrm>
            <a:off x="647564" y="2060847"/>
            <a:ext cx="2700300" cy="4032447"/>
          </a:xfrm>
          <a:prstGeom prst="roundRect">
            <a:avLst/>
          </a:prstGeom>
          <a:solidFill>
            <a:schemeClr val="accent1">
              <a:lumMod val="60000"/>
              <a:lumOff val="40000"/>
            </a:schemeClr>
          </a:solidFill>
        </p:spPr>
        <p:style>
          <a:lnRef idx="0">
            <a:schemeClr val="accent6"/>
          </a:lnRef>
          <a:fillRef idx="3">
            <a:schemeClr val="accent6"/>
          </a:fillRef>
          <a:effectRef idx="3">
            <a:schemeClr val="accent6"/>
          </a:effectRef>
          <a:fontRef idx="minor">
            <a:schemeClr val="lt1"/>
          </a:fontRef>
        </p:style>
        <p:txBody>
          <a:bodyPr rtlCol="0" anchor="ctr"/>
          <a:lstStyle/>
          <a:p>
            <a:pPr hangingPunct="0"/>
            <a:r>
              <a:rPr lang="es-ES" sz="2000" dirty="0">
                <a:solidFill>
                  <a:schemeClr val="tx1"/>
                </a:solidFill>
              </a:rPr>
              <a:t>Concepto de onda. Características de las ondas. Tipos de Ondas.</a:t>
            </a:r>
            <a:endParaRPr lang="es-PE" sz="2000" dirty="0">
              <a:solidFill>
                <a:schemeClr val="tx1"/>
              </a:solidFill>
            </a:endParaRPr>
          </a:p>
          <a:p>
            <a:pPr hangingPunct="0"/>
            <a:r>
              <a:rPr lang="es-ES" sz="2000" dirty="0">
                <a:solidFill>
                  <a:schemeClr val="tx1"/>
                </a:solidFill>
              </a:rPr>
              <a:t>Descripción matemática de la propagación de una onda en una</a:t>
            </a:r>
            <a:endParaRPr lang="es-PE" sz="2000" dirty="0">
              <a:solidFill>
                <a:schemeClr val="tx1"/>
              </a:solidFill>
            </a:endParaRPr>
          </a:p>
          <a:p>
            <a:pPr hangingPunct="0"/>
            <a:r>
              <a:rPr lang="es-ES" sz="2000" dirty="0">
                <a:solidFill>
                  <a:schemeClr val="tx1"/>
                </a:solidFill>
              </a:rPr>
              <a:t>Dimensión. Onda </a:t>
            </a:r>
            <a:r>
              <a:rPr lang="es-ES" sz="2000" dirty="0" err="1">
                <a:solidFill>
                  <a:schemeClr val="tx1"/>
                </a:solidFill>
              </a:rPr>
              <a:t>senoidal</a:t>
            </a:r>
            <a:r>
              <a:rPr lang="es-ES" sz="2000" dirty="0">
                <a:solidFill>
                  <a:schemeClr val="tx1"/>
                </a:solidFill>
              </a:rPr>
              <a:t> o armónica. Sonido: Efecto </a:t>
            </a:r>
            <a:r>
              <a:rPr lang="es-ES" sz="2000" dirty="0" err="1">
                <a:solidFill>
                  <a:schemeClr val="tx1"/>
                </a:solidFill>
              </a:rPr>
              <a:t>Doopler</a:t>
            </a:r>
            <a:endParaRPr lang="es-PE" sz="2000" dirty="0">
              <a:solidFill>
                <a:schemeClr val="tx1"/>
              </a:solidFill>
            </a:endParaRPr>
          </a:p>
        </p:txBody>
      </p:sp>
      <p:pic>
        <p:nvPicPr>
          <p:cNvPr id="8" name="Imagen 7"/>
          <p:cNvPicPr>
            <a:picLocks noChangeAspect="1"/>
          </p:cNvPicPr>
          <p:nvPr/>
        </p:nvPicPr>
        <p:blipFill>
          <a:blip r:embed="rId2"/>
          <a:stretch>
            <a:fillRect/>
          </a:stretch>
        </p:blipFill>
        <p:spPr>
          <a:xfrm>
            <a:off x="3779912" y="2058025"/>
            <a:ext cx="5035280" cy="4032447"/>
          </a:xfrm>
          <a:prstGeom prst="ellipse">
            <a:avLst/>
          </a:prstGeom>
          <a:ln w="63500" cap="rnd">
            <a:solidFill>
              <a:schemeClr val="accent1"/>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91671042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redondeado 4"/>
          <p:cNvSpPr/>
          <p:nvPr/>
        </p:nvSpPr>
        <p:spPr>
          <a:xfrm>
            <a:off x="2195736" y="730815"/>
            <a:ext cx="5502631" cy="892758"/>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954" b="1" dirty="0">
                <a:solidFill>
                  <a:schemeClr val="tx1"/>
                </a:solidFill>
              </a:rPr>
              <a:t>OBSERVA LA IMÁGEN .  .  .</a:t>
            </a:r>
          </a:p>
        </p:txBody>
      </p:sp>
      <p:sp>
        <p:nvSpPr>
          <p:cNvPr id="8" name="Rectángulo redondeado 7"/>
          <p:cNvSpPr/>
          <p:nvPr/>
        </p:nvSpPr>
        <p:spPr>
          <a:xfrm>
            <a:off x="2051720" y="5589240"/>
            <a:ext cx="5370677" cy="596413"/>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954" b="1" dirty="0">
                <a:solidFill>
                  <a:schemeClr val="tx1"/>
                </a:solidFill>
              </a:rPr>
              <a:t>¿Qué opinión tienes al respecto?</a:t>
            </a:r>
          </a:p>
        </p:txBody>
      </p:sp>
      <p:pic>
        <p:nvPicPr>
          <p:cNvPr id="6" name="Picture 6" descr="earthquake_impacts_kobe_japan_bridge_collapse_q_1658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9752" y="2060848"/>
            <a:ext cx="4680520" cy="30061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543095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redondeado 6"/>
          <p:cNvSpPr/>
          <p:nvPr/>
        </p:nvSpPr>
        <p:spPr>
          <a:xfrm>
            <a:off x="1979712" y="901523"/>
            <a:ext cx="2755563" cy="625441"/>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PE" sz="2954" dirty="0">
                <a:solidFill>
                  <a:schemeClr val="tx1"/>
                </a:solidFill>
              </a:rPr>
              <a:t>PENSEMOS. . .</a:t>
            </a:r>
          </a:p>
        </p:txBody>
      </p:sp>
      <p:sp>
        <p:nvSpPr>
          <p:cNvPr id="9" name="Rectángulo redondeado 8"/>
          <p:cNvSpPr/>
          <p:nvPr/>
        </p:nvSpPr>
        <p:spPr>
          <a:xfrm>
            <a:off x="5901379" y="1900215"/>
            <a:ext cx="3057570" cy="4168775"/>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sz="2215" b="1" dirty="0">
              <a:solidFill>
                <a:schemeClr val="tx1"/>
              </a:solidFill>
            </a:endParaRPr>
          </a:p>
          <a:p>
            <a:pPr algn="ctr">
              <a:lnSpc>
                <a:spcPct val="150000"/>
              </a:lnSpc>
            </a:pPr>
            <a:endParaRPr lang="es-PE" sz="2215" b="1" dirty="0">
              <a:solidFill>
                <a:schemeClr val="tx1"/>
              </a:solidFill>
            </a:endParaRPr>
          </a:p>
          <a:p>
            <a:pPr>
              <a:lnSpc>
                <a:spcPct val="150000"/>
              </a:lnSpc>
            </a:pPr>
            <a:r>
              <a:rPr lang="es-PE" sz="1846" b="1" dirty="0">
                <a:solidFill>
                  <a:schemeClr val="tx1"/>
                </a:solidFill>
              </a:rPr>
              <a:t>¿Qué entiendes por movimiento  </a:t>
            </a:r>
            <a:r>
              <a:rPr lang="es-PE" sz="1846" b="1" dirty="0" smtClean="0">
                <a:solidFill>
                  <a:schemeClr val="tx1"/>
                </a:solidFill>
              </a:rPr>
              <a:t>ondulatorio?</a:t>
            </a:r>
            <a:r>
              <a:rPr lang="es-PE" sz="1846" b="1" dirty="0">
                <a:solidFill>
                  <a:schemeClr val="tx1"/>
                </a:solidFill>
              </a:rPr>
              <a:t/>
            </a:r>
            <a:br>
              <a:rPr lang="es-PE" sz="1846" b="1" dirty="0">
                <a:solidFill>
                  <a:schemeClr val="tx1"/>
                </a:solidFill>
              </a:rPr>
            </a:br>
            <a:r>
              <a:rPr lang="es-PE" sz="1846" b="1" dirty="0">
                <a:solidFill>
                  <a:schemeClr val="tx1"/>
                </a:solidFill>
              </a:rPr>
              <a:t>¿Qué entiendes por </a:t>
            </a:r>
            <a:r>
              <a:rPr lang="es-PE" sz="1846" b="1" dirty="0" smtClean="0">
                <a:solidFill>
                  <a:schemeClr val="tx1"/>
                </a:solidFill>
              </a:rPr>
              <a:t>periodicidad espacial?</a:t>
            </a:r>
            <a:r>
              <a:rPr lang="es-PE" sz="1846" b="1" dirty="0">
                <a:solidFill>
                  <a:schemeClr val="tx1"/>
                </a:solidFill>
              </a:rPr>
              <a:t/>
            </a:r>
            <a:br>
              <a:rPr lang="es-PE" sz="1846" b="1" dirty="0">
                <a:solidFill>
                  <a:schemeClr val="tx1"/>
                </a:solidFill>
              </a:rPr>
            </a:br>
            <a:r>
              <a:rPr lang="es-PE" sz="1846" b="1" dirty="0">
                <a:solidFill>
                  <a:schemeClr val="tx1"/>
                </a:solidFill>
              </a:rPr>
              <a:t>¿Qué es </a:t>
            </a:r>
            <a:r>
              <a:rPr lang="es-PE" sz="1846" b="1" dirty="0" smtClean="0">
                <a:solidFill>
                  <a:schemeClr val="tx1"/>
                </a:solidFill>
              </a:rPr>
              <a:t>el sonido?</a:t>
            </a:r>
            <a:endParaRPr lang="es-PE" sz="1846" b="1" dirty="0">
              <a:solidFill>
                <a:schemeClr val="tx1"/>
              </a:solidFill>
            </a:endParaRPr>
          </a:p>
          <a:p>
            <a:pPr>
              <a:lnSpc>
                <a:spcPct val="150000"/>
              </a:lnSpc>
            </a:pPr>
            <a:r>
              <a:rPr lang="es-PE" sz="1846" b="1" dirty="0">
                <a:solidFill>
                  <a:schemeClr val="tx1"/>
                </a:solidFill>
              </a:rPr>
              <a:t>¿La energía </a:t>
            </a:r>
            <a:r>
              <a:rPr lang="es-PE" sz="1846" b="1" dirty="0" smtClean="0">
                <a:solidFill>
                  <a:schemeClr val="tx1"/>
                </a:solidFill>
              </a:rPr>
              <a:t>se transfiere a través de ondas?</a:t>
            </a:r>
            <a:r>
              <a:rPr lang="es-PE" sz="1846" b="1" dirty="0">
                <a:solidFill>
                  <a:schemeClr val="tx1"/>
                </a:solidFill>
              </a:rPr>
              <a:t/>
            </a:r>
            <a:br>
              <a:rPr lang="es-PE" sz="1846" b="1" dirty="0">
                <a:solidFill>
                  <a:schemeClr val="tx1"/>
                </a:solidFill>
              </a:rPr>
            </a:br>
            <a:r>
              <a:rPr lang="es-PE" sz="2215" b="1" dirty="0">
                <a:solidFill>
                  <a:schemeClr val="tx1"/>
                </a:solidFill>
              </a:rPr>
              <a:t/>
            </a:r>
            <a:br>
              <a:rPr lang="es-PE" sz="2215" b="1" dirty="0">
                <a:solidFill>
                  <a:schemeClr val="tx1"/>
                </a:solidFill>
              </a:rPr>
            </a:br>
            <a:endParaRPr lang="es-PE" sz="2215" b="1" dirty="0">
              <a:solidFill>
                <a:schemeClr val="tx1"/>
              </a:solidFill>
            </a:endParaRPr>
          </a:p>
        </p:txBody>
      </p:sp>
      <p:pic>
        <p:nvPicPr>
          <p:cNvPr id="3" name="Imagen 2"/>
          <p:cNvPicPr>
            <a:picLocks noChangeAspect="1"/>
          </p:cNvPicPr>
          <p:nvPr/>
        </p:nvPicPr>
        <p:blipFill>
          <a:blip r:embed="rId2"/>
          <a:stretch>
            <a:fillRect/>
          </a:stretch>
        </p:blipFill>
        <p:spPr>
          <a:xfrm>
            <a:off x="899592" y="2103152"/>
            <a:ext cx="4248743" cy="3762900"/>
          </a:xfrm>
          <a:prstGeom prst="rect">
            <a:avLst/>
          </a:prstGeom>
          <a:ln>
            <a:noFill/>
          </a:ln>
          <a:effectLst>
            <a:softEdge rad="112500"/>
          </a:effectLst>
        </p:spPr>
      </p:pic>
    </p:spTree>
    <p:extLst>
      <p:ext uri="{BB962C8B-B14F-4D97-AF65-F5344CB8AC3E}">
        <p14:creationId xmlns:p14="http://schemas.microsoft.com/office/powerpoint/2010/main" val="381398201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redondeado 5"/>
          <p:cNvSpPr/>
          <p:nvPr/>
        </p:nvSpPr>
        <p:spPr>
          <a:xfrm>
            <a:off x="1873615" y="986906"/>
            <a:ext cx="2459349" cy="465282"/>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215" b="1" dirty="0">
                <a:solidFill>
                  <a:schemeClr val="tx1"/>
                </a:solidFill>
              </a:rPr>
              <a:t>PROPÓSITO</a:t>
            </a:r>
          </a:p>
        </p:txBody>
      </p:sp>
      <p:sp>
        <p:nvSpPr>
          <p:cNvPr id="8" name="2 Redondear rectángulo de esquina diagonal"/>
          <p:cNvSpPr/>
          <p:nvPr/>
        </p:nvSpPr>
        <p:spPr>
          <a:xfrm>
            <a:off x="5220072" y="1634340"/>
            <a:ext cx="3406550" cy="4109652"/>
          </a:xfrm>
          <a:prstGeom prst="round2DiagRect">
            <a:avLst>
              <a:gd name="adj1" fmla="val 14362"/>
              <a:gd name="adj2" fmla="val 0"/>
            </a:avLst>
          </a:prstGeom>
          <a:solidFill>
            <a:srgbClr val="11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just"/>
            <a:endParaRPr lang="es-PE" sz="1846" dirty="0">
              <a:solidFill>
                <a:schemeClr val="tx1"/>
              </a:solidFill>
              <a:latin typeface="Arial" panose="020B0604020202020204" pitchFamily="34" charset="0"/>
              <a:cs typeface="Arial" panose="020B0604020202020204" pitchFamily="34" charset="0"/>
            </a:endParaRPr>
          </a:p>
          <a:p>
            <a:pPr algn="just">
              <a:lnSpc>
                <a:spcPct val="150000"/>
              </a:lnSpc>
            </a:pPr>
            <a:r>
              <a:rPr lang="es-PE" sz="1846" b="1" dirty="0">
                <a:solidFill>
                  <a:schemeClr val="tx1"/>
                </a:solidFill>
                <a:latin typeface="Arial" panose="020B0604020202020204" pitchFamily="34" charset="0"/>
                <a:cs typeface="Arial" panose="020B0604020202020204" pitchFamily="34" charset="0"/>
              </a:rPr>
              <a:t>Al termino de la sesión, el estudiante resuelve problemas de movimiento </a:t>
            </a:r>
            <a:r>
              <a:rPr lang="es-PE" sz="1846" b="1" dirty="0" smtClean="0">
                <a:solidFill>
                  <a:schemeClr val="tx1"/>
                </a:solidFill>
                <a:latin typeface="Arial" panose="020B0604020202020204" pitchFamily="34" charset="0"/>
                <a:cs typeface="Arial" panose="020B0604020202020204" pitchFamily="34" charset="0"/>
              </a:rPr>
              <a:t>ondulatorio en una dimensión, </a:t>
            </a:r>
            <a:r>
              <a:rPr lang="es-PE" sz="1846" b="1" dirty="0">
                <a:solidFill>
                  <a:schemeClr val="tx1"/>
                </a:solidFill>
                <a:latin typeface="Arial" panose="020B0604020202020204" pitchFamily="34" charset="0"/>
                <a:cs typeface="Arial" panose="020B0604020202020204" pitchFamily="34" charset="0"/>
              </a:rPr>
              <a:t>con limpieza, orden y precisión en el cálculo.</a:t>
            </a:r>
          </a:p>
          <a:p>
            <a:pPr marL="316531" indent="-316531" algn="just">
              <a:lnSpc>
                <a:spcPct val="150000"/>
              </a:lnSpc>
              <a:buFont typeface="Arial" panose="020B0604020202020204" pitchFamily="34" charset="0"/>
              <a:buChar char="•"/>
            </a:pPr>
            <a:endParaRPr lang="es-PE" sz="1846" b="1" dirty="0">
              <a:solidFill>
                <a:schemeClr val="tx1"/>
              </a:solidFill>
              <a:latin typeface="Arial" panose="020B0604020202020204" pitchFamily="34" charset="0"/>
              <a:cs typeface="Arial" panose="020B0604020202020204" pitchFamily="34" charset="0"/>
            </a:endParaRPr>
          </a:p>
        </p:txBody>
      </p:sp>
      <p:pic>
        <p:nvPicPr>
          <p:cNvPr id="10" name="Imagen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6802" y="2232560"/>
            <a:ext cx="3608605" cy="3514570"/>
          </a:xfrm>
          <a:prstGeom prst="rect">
            <a:avLst/>
          </a:prstGeom>
        </p:spPr>
      </p:pic>
    </p:spTree>
    <p:extLst>
      <p:ext uri="{BB962C8B-B14F-4D97-AF65-F5344CB8AC3E}">
        <p14:creationId xmlns:p14="http://schemas.microsoft.com/office/powerpoint/2010/main" val="3146076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5" name="Conector recto 34"/>
          <p:cNvCxnSpPr/>
          <p:nvPr/>
        </p:nvCxnSpPr>
        <p:spPr>
          <a:xfrm flipV="1">
            <a:off x="8094853" y="3784950"/>
            <a:ext cx="0" cy="1676229"/>
          </a:xfrm>
          <a:prstGeom prst="line">
            <a:avLst/>
          </a:prstGeom>
        </p:spPr>
        <p:style>
          <a:lnRef idx="2">
            <a:schemeClr val="dk1"/>
          </a:lnRef>
          <a:fillRef idx="0">
            <a:schemeClr val="dk1"/>
          </a:fillRef>
          <a:effectRef idx="1">
            <a:schemeClr val="dk1"/>
          </a:effectRef>
          <a:fontRef idx="minor">
            <a:schemeClr val="tx1"/>
          </a:fontRef>
        </p:style>
      </p:cxnSp>
      <p:cxnSp>
        <p:nvCxnSpPr>
          <p:cNvPr id="6" name="Conector recto 5"/>
          <p:cNvCxnSpPr>
            <a:endCxn id="33" idx="2"/>
          </p:cNvCxnSpPr>
          <p:nvPr/>
        </p:nvCxnSpPr>
        <p:spPr>
          <a:xfrm>
            <a:off x="4642326" y="3874270"/>
            <a:ext cx="1" cy="88410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0" name="Conector recto 29"/>
          <p:cNvCxnSpPr/>
          <p:nvPr/>
        </p:nvCxnSpPr>
        <p:spPr>
          <a:xfrm>
            <a:off x="2707036" y="3611291"/>
            <a:ext cx="3834" cy="64709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Rectángulo redondeado 8"/>
          <p:cNvSpPr/>
          <p:nvPr/>
        </p:nvSpPr>
        <p:spPr>
          <a:xfrm>
            <a:off x="2191989" y="964657"/>
            <a:ext cx="4018085" cy="486462"/>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585" b="1" dirty="0">
                <a:solidFill>
                  <a:schemeClr val="tx1"/>
                </a:solidFill>
              </a:rPr>
              <a:t>CONTENIDO TEMÁTICO</a:t>
            </a:r>
            <a:endParaRPr lang="es-PE" sz="2585" dirty="0">
              <a:solidFill>
                <a:schemeClr val="tx1"/>
              </a:solidFill>
            </a:endParaRPr>
          </a:p>
        </p:txBody>
      </p:sp>
      <p:sp>
        <p:nvSpPr>
          <p:cNvPr id="11" name="Rectángulo 10">
            <a:extLst>
              <a:ext uri="{FF2B5EF4-FFF2-40B4-BE49-F238E27FC236}">
                <a16:creationId xmlns="" xmlns:a16="http://schemas.microsoft.com/office/drawing/2014/main" id="{8029014D-9243-4890-AF00-9E6FC9945B2C}"/>
              </a:ext>
            </a:extLst>
          </p:cNvPr>
          <p:cNvSpPr/>
          <p:nvPr/>
        </p:nvSpPr>
        <p:spPr>
          <a:xfrm>
            <a:off x="2995602" y="1954204"/>
            <a:ext cx="3053697" cy="531751"/>
          </a:xfrm>
          <a:prstGeom prst="rect">
            <a:avLst/>
          </a:prstGeom>
          <a:solidFill>
            <a:srgbClr val="1199FF"/>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es-PE" b="1" dirty="0" smtClean="0">
                <a:solidFill>
                  <a:schemeClr val="tx1"/>
                </a:solidFill>
              </a:rPr>
              <a:t>MOVIMIENTO ONDULATORIO</a:t>
            </a:r>
            <a:endParaRPr lang="es-PE" b="1" dirty="0">
              <a:solidFill>
                <a:schemeClr val="tx1"/>
              </a:solidFill>
            </a:endParaRPr>
          </a:p>
        </p:txBody>
      </p:sp>
      <p:cxnSp>
        <p:nvCxnSpPr>
          <p:cNvPr id="12" name="Conector recto 11">
            <a:extLst>
              <a:ext uri="{FF2B5EF4-FFF2-40B4-BE49-F238E27FC236}">
                <a16:creationId xmlns="" xmlns:a16="http://schemas.microsoft.com/office/drawing/2014/main" id="{008A15F1-A2F7-4515-8854-56CDE8B68B99}"/>
              </a:ext>
            </a:extLst>
          </p:cNvPr>
          <p:cNvCxnSpPr>
            <a:cxnSpLocks/>
          </p:cNvCxnSpPr>
          <p:nvPr/>
        </p:nvCxnSpPr>
        <p:spPr>
          <a:xfrm>
            <a:off x="4538273" y="2526279"/>
            <a:ext cx="0" cy="332345"/>
          </a:xfrm>
          <a:prstGeom prst="line">
            <a:avLst/>
          </a:prstGeom>
          <a:ln>
            <a:solidFill>
              <a:schemeClr val="tx1"/>
            </a:solidFill>
          </a:ln>
        </p:spPr>
        <p:style>
          <a:lnRef idx="1">
            <a:schemeClr val="accent6"/>
          </a:lnRef>
          <a:fillRef idx="2">
            <a:schemeClr val="accent6"/>
          </a:fillRef>
          <a:effectRef idx="1">
            <a:schemeClr val="accent6"/>
          </a:effectRef>
          <a:fontRef idx="minor">
            <a:schemeClr val="dk1"/>
          </a:fontRef>
        </p:style>
      </p:cxnSp>
      <p:sp>
        <p:nvSpPr>
          <p:cNvPr id="13" name="Rectángulo 12">
            <a:extLst>
              <a:ext uri="{FF2B5EF4-FFF2-40B4-BE49-F238E27FC236}">
                <a16:creationId xmlns="" xmlns:a16="http://schemas.microsoft.com/office/drawing/2014/main" id="{B377CFE4-F974-430F-8D3E-31A44641DDDD}"/>
              </a:ext>
            </a:extLst>
          </p:cNvPr>
          <p:cNvSpPr/>
          <p:nvPr/>
        </p:nvSpPr>
        <p:spPr>
          <a:xfrm>
            <a:off x="2019396" y="3066622"/>
            <a:ext cx="1392712" cy="544669"/>
          </a:xfrm>
          <a:prstGeom prst="rect">
            <a:avLst/>
          </a:prstGeom>
          <a:solidFill>
            <a:srgbClr val="F9B367"/>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es-PE" sz="1477" b="1" dirty="0">
                <a:solidFill>
                  <a:schemeClr val="tx1"/>
                </a:solidFill>
              </a:rPr>
              <a:t>CANTIDADES </a:t>
            </a:r>
            <a:r>
              <a:rPr lang="es-PE" sz="1477" b="1" dirty="0"/>
              <a:t>FÍSICAS</a:t>
            </a:r>
            <a:endParaRPr lang="es-PE" sz="1477" b="1" dirty="0">
              <a:solidFill>
                <a:schemeClr val="tx1"/>
              </a:solidFill>
            </a:endParaRPr>
          </a:p>
        </p:txBody>
      </p:sp>
      <p:cxnSp>
        <p:nvCxnSpPr>
          <p:cNvPr id="14" name="Conector recto 13">
            <a:extLst>
              <a:ext uri="{FF2B5EF4-FFF2-40B4-BE49-F238E27FC236}">
                <a16:creationId xmlns="" xmlns:a16="http://schemas.microsoft.com/office/drawing/2014/main" id="{43098481-B66C-4565-AFF8-F4FBF153DF92}"/>
              </a:ext>
            </a:extLst>
          </p:cNvPr>
          <p:cNvCxnSpPr>
            <a:cxnSpLocks/>
          </p:cNvCxnSpPr>
          <p:nvPr/>
        </p:nvCxnSpPr>
        <p:spPr>
          <a:xfrm flipH="1" flipV="1">
            <a:off x="1111178" y="2848454"/>
            <a:ext cx="6822547" cy="2565"/>
          </a:xfrm>
          <a:prstGeom prst="line">
            <a:avLst/>
          </a:prstGeom>
          <a:ln>
            <a:solidFill>
              <a:schemeClr val="tx1"/>
            </a:solidFill>
          </a:ln>
        </p:spPr>
        <p:style>
          <a:lnRef idx="1">
            <a:schemeClr val="accent6"/>
          </a:lnRef>
          <a:fillRef idx="2">
            <a:schemeClr val="accent6"/>
          </a:fillRef>
          <a:effectRef idx="1">
            <a:schemeClr val="accent6"/>
          </a:effectRef>
          <a:fontRef idx="minor">
            <a:schemeClr val="dk1"/>
          </a:fontRef>
        </p:style>
      </p:cxnSp>
      <p:cxnSp>
        <p:nvCxnSpPr>
          <p:cNvPr id="15" name="Conector recto 14">
            <a:extLst>
              <a:ext uri="{FF2B5EF4-FFF2-40B4-BE49-F238E27FC236}">
                <a16:creationId xmlns="" xmlns:a16="http://schemas.microsoft.com/office/drawing/2014/main" id="{E4375B2A-706A-4D8E-8409-0FE4926350F3}"/>
              </a:ext>
            </a:extLst>
          </p:cNvPr>
          <p:cNvCxnSpPr>
            <a:cxnSpLocks/>
          </p:cNvCxnSpPr>
          <p:nvPr/>
        </p:nvCxnSpPr>
        <p:spPr>
          <a:xfrm>
            <a:off x="4539915" y="2858623"/>
            <a:ext cx="0" cy="332345"/>
          </a:xfrm>
          <a:prstGeom prst="line">
            <a:avLst/>
          </a:prstGeom>
          <a:ln>
            <a:solidFill>
              <a:schemeClr val="tx1"/>
            </a:solidFill>
          </a:ln>
        </p:spPr>
        <p:style>
          <a:lnRef idx="1">
            <a:schemeClr val="accent6"/>
          </a:lnRef>
          <a:fillRef idx="2">
            <a:schemeClr val="accent6"/>
          </a:fillRef>
          <a:effectRef idx="1">
            <a:schemeClr val="accent6"/>
          </a:effectRef>
          <a:fontRef idx="minor">
            <a:schemeClr val="dk1"/>
          </a:fontRef>
        </p:style>
      </p:cxnSp>
      <p:sp>
        <p:nvSpPr>
          <p:cNvPr id="18" name="Rectángulo 17">
            <a:extLst>
              <a:ext uri="{FF2B5EF4-FFF2-40B4-BE49-F238E27FC236}">
                <a16:creationId xmlns="" xmlns:a16="http://schemas.microsoft.com/office/drawing/2014/main" id="{491CDA35-9E9C-46DA-B439-A69909018FD2}"/>
              </a:ext>
            </a:extLst>
          </p:cNvPr>
          <p:cNvSpPr/>
          <p:nvPr/>
        </p:nvSpPr>
        <p:spPr>
          <a:xfrm>
            <a:off x="2143136" y="3826895"/>
            <a:ext cx="1350729" cy="1634284"/>
          </a:xfrm>
          <a:prstGeom prst="rect">
            <a:avLst/>
          </a:prstGeom>
          <a:solidFill>
            <a:srgbClr val="EAF991"/>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marL="187574" indent="-187574" algn="just">
              <a:buFont typeface="Arial" panose="020B0604020202020204" pitchFamily="34" charset="0"/>
              <a:buChar char="•"/>
            </a:pPr>
            <a:r>
              <a:rPr kumimoji="1" lang="en-GB" altLang="es-PE" sz="1292" dirty="0" err="1">
                <a:solidFill>
                  <a:schemeClr val="tx1"/>
                </a:solidFill>
                <a:latin typeface="Arial" panose="020B0604020202020204" pitchFamily="34" charset="0"/>
                <a:cs typeface="Arial" panose="020B0604020202020204" pitchFamily="34" charset="0"/>
              </a:rPr>
              <a:t>Fuerza</a:t>
            </a:r>
            <a:endParaRPr kumimoji="1" lang="en-GB" altLang="es-PE" sz="1292" dirty="0">
              <a:solidFill>
                <a:schemeClr val="tx1"/>
              </a:solidFill>
              <a:latin typeface="Arial" panose="020B0604020202020204" pitchFamily="34" charset="0"/>
              <a:cs typeface="Arial" panose="020B0604020202020204" pitchFamily="34" charset="0"/>
            </a:endParaRPr>
          </a:p>
          <a:p>
            <a:pPr marL="187574" indent="-187574" algn="just">
              <a:buFont typeface="Arial" panose="020B0604020202020204" pitchFamily="34" charset="0"/>
              <a:buChar char="•"/>
            </a:pPr>
            <a:r>
              <a:rPr kumimoji="1" lang="en-GB" altLang="es-PE" sz="1292" dirty="0" err="1">
                <a:solidFill>
                  <a:schemeClr val="tx1"/>
                </a:solidFill>
                <a:latin typeface="Arial" panose="020B0604020202020204" pitchFamily="34" charset="0"/>
                <a:cs typeface="Arial" panose="020B0604020202020204" pitchFamily="34" charset="0"/>
              </a:rPr>
              <a:t>Longitud</a:t>
            </a:r>
            <a:r>
              <a:rPr kumimoji="1" lang="en-GB" altLang="es-PE" sz="1292" dirty="0">
                <a:solidFill>
                  <a:schemeClr val="tx1"/>
                </a:solidFill>
                <a:latin typeface="Arial" panose="020B0604020202020204" pitchFamily="34" charset="0"/>
                <a:cs typeface="Arial" panose="020B0604020202020204" pitchFamily="34" charset="0"/>
              </a:rPr>
              <a:t> de </a:t>
            </a:r>
            <a:r>
              <a:rPr kumimoji="1" lang="en-GB" altLang="es-PE" sz="1292" dirty="0" err="1">
                <a:solidFill>
                  <a:schemeClr val="tx1"/>
                </a:solidFill>
                <a:latin typeface="Arial" panose="020B0604020202020204" pitchFamily="34" charset="0"/>
                <a:cs typeface="Arial" panose="020B0604020202020204" pitchFamily="34" charset="0"/>
              </a:rPr>
              <a:t>onda</a:t>
            </a:r>
            <a:r>
              <a:rPr kumimoji="1" lang="en-GB" altLang="es-PE" sz="1292" dirty="0">
                <a:solidFill>
                  <a:schemeClr val="tx1"/>
                </a:solidFill>
                <a:latin typeface="Arial" panose="020B0604020202020204" pitchFamily="34" charset="0"/>
                <a:cs typeface="Arial" panose="020B0604020202020204" pitchFamily="34" charset="0"/>
              </a:rPr>
              <a:t>.</a:t>
            </a:r>
          </a:p>
          <a:p>
            <a:pPr marL="187574" indent="-187574" algn="just">
              <a:buFont typeface="Arial" panose="020B0604020202020204" pitchFamily="34" charset="0"/>
              <a:buChar char="•"/>
            </a:pPr>
            <a:r>
              <a:rPr kumimoji="1" lang="en-GB" altLang="es-PE" sz="1292" dirty="0" err="1">
                <a:solidFill>
                  <a:schemeClr val="tx1"/>
                </a:solidFill>
                <a:latin typeface="Arial" panose="020B0604020202020204" pitchFamily="34" charset="0"/>
                <a:cs typeface="Arial" panose="020B0604020202020204" pitchFamily="34" charset="0"/>
              </a:rPr>
              <a:t>Frecuencia</a:t>
            </a:r>
            <a:r>
              <a:rPr kumimoji="1" lang="en-GB" altLang="es-PE" sz="1292" dirty="0">
                <a:solidFill>
                  <a:schemeClr val="tx1"/>
                </a:solidFill>
                <a:latin typeface="Arial" panose="020B0604020202020204" pitchFamily="34" charset="0"/>
                <a:cs typeface="Arial" panose="020B0604020202020204" pitchFamily="34" charset="0"/>
              </a:rPr>
              <a:t>.</a:t>
            </a:r>
          </a:p>
          <a:p>
            <a:pPr marL="187574" indent="-187574" algn="just">
              <a:buFont typeface="Arial" panose="020B0604020202020204" pitchFamily="34" charset="0"/>
              <a:buChar char="•"/>
            </a:pPr>
            <a:r>
              <a:rPr kumimoji="1" lang="en-GB" altLang="es-PE" sz="1292" dirty="0" err="1">
                <a:solidFill>
                  <a:schemeClr val="tx1"/>
                </a:solidFill>
                <a:latin typeface="Arial" panose="020B0604020202020204" pitchFamily="34" charset="0"/>
                <a:cs typeface="Arial" panose="020B0604020202020204" pitchFamily="34" charset="0"/>
              </a:rPr>
              <a:t>Velocidad</a:t>
            </a:r>
            <a:endParaRPr kumimoji="1" lang="en-GB" altLang="es-PE" sz="1292" dirty="0">
              <a:solidFill>
                <a:schemeClr val="tx1"/>
              </a:solidFill>
              <a:latin typeface="Arial" panose="020B0604020202020204" pitchFamily="34" charset="0"/>
              <a:cs typeface="Arial" panose="020B0604020202020204" pitchFamily="34" charset="0"/>
            </a:endParaRPr>
          </a:p>
          <a:p>
            <a:pPr marL="187574" indent="-187574" algn="just">
              <a:buFont typeface="Arial" panose="020B0604020202020204" pitchFamily="34" charset="0"/>
              <a:buChar char="•"/>
            </a:pPr>
            <a:r>
              <a:rPr kumimoji="1" lang="en-GB" altLang="es-PE" sz="1292" dirty="0" err="1">
                <a:solidFill>
                  <a:schemeClr val="tx1"/>
                </a:solidFill>
                <a:latin typeface="Arial" panose="020B0604020202020204" pitchFamily="34" charset="0"/>
                <a:cs typeface="Arial" panose="020B0604020202020204" pitchFamily="34" charset="0"/>
              </a:rPr>
              <a:t>Aceleración</a:t>
            </a:r>
            <a:r>
              <a:rPr kumimoji="1" lang="en-GB" altLang="es-PE" sz="1292" dirty="0">
                <a:solidFill>
                  <a:schemeClr val="tx1"/>
                </a:solidFill>
                <a:latin typeface="Arial" panose="020B0604020202020204" pitchFamily="34" charset="0"/>
                <a:cs typeface="Arial" panose="020B0604020202020204" pitchFamily="34" charset="0"/>
              </a:rPr>
              <a:t>.</a:t>
            </a:r>
          </a:p>
          <a:p>
            <a:pPr marL="187574" indent="-187574" algn="just">
              <a:buFont typeface="Arial" panose="020B0604020202020204" pitchFamily="34" charset="0"/>
              <a:buChar char="•"/>
            </a:pPr>
            <a:r>
              <a:rPr kumimoji="1" lang="en-GB" altLang="es-PE" sz="1292" dirty="0" err="1">
                <a:solidFill>
                  <a:schemeClr val="tx1"/>
                </a:solidFill>
                <a:latin typeface="Arial" panose="020B0604020202020204" pitchFamily="34" charset="0"/>
                <a:cs typeface="Arial" panose="020B0604020202020204" pitchFamily="34" charset="0"/>
              </a:rPr>
              <a:t>Energía</a:t>
            </a:r>
            <a:endParaRPr kumimoji="1" lang="en-GB" altLang="es-PE" sz="1292" dirty="0">
              <a:solidFill>
                <a:schemeClr val="tx1"/>
              </a:solidFill>
              <a:latin typeface="Arial" panose="020B0604020202020204" pitchFamily="34" charset="0"/>
              <a:cs typeface="Arial" panose="020B0604020202020204" pitchFamily="34" charset="0"/>
            </a:endParaRPr>
          </a:p>
          <a:p>
            <a:pPr marL="187574" indent="-187574" algn="just">
              <a:buFont typeface="Arial" panose="020B0604020202020204" pitchFamily="34" charset="0"/>
              <a:buChar char="•"/>
            </a:pPr>
            <a:r>
              <a:rPr kumimoji="1" lang="en-GB" altLang="es-PE" sz="1292" dirty="0" err="1">
                <a:solidFill>
                  <a:schemeClr val="tx1"/>
                </a:solidFill>
                <a:latin typeface="Arial" panose="020B0604020202020204" pitchFamily="34" charset="0"/>
                <a:cs typeface="Arial" panose="020B0604020202020204" pitchFamily="34" charset="0"/>
              </a:rPr>
              <a:t>Potencia</a:t>
            </a:r>
            <a:r>
              <a:rPr kumimoji="1" lang="en-GB" altLang="es-PE" sz="1292" dirty="0">
                <a:solidFill>
                  <a:schemeClr val="tx1"/>
                </a:solidFill>
                <a:latin typeface="Arial" panose="020B0604020202020204" pitchFamily="34" charset="0"/>
                <a:cs typeface="Arial" panose="020B0604020202020204" pitchFamily="34" charset="0"/>
              </a:rPr>
              <a:t>.</a:t>
            </a:r>
            <a:endParaRPr lang="es-PE" sz="1292" dirty="0">
              <a:solidFill>
                <a:schemeClr val="tx1"/>
              </a:solidFill>
              <a:latin typeface="Arial" panose="020B0604020202020204" pitchFamily="34" charset="0"/>
              <a:cs typeface="Arial" panose="020B0604020202020204" pitchFamily="34" charset="0"/>
            </a:endParaRPr>
          </a:p>
        </p:txBody>
      </p:sp>
      <p:sp>
        <p:nvSpPr>
          <p:cNvPr id="20" name="Rectángulo 19">
            <a:extLst>
              <a:ext uri="{FF2B5EF4-FFF2-40B4-BE49-F238E27FC236}">
                <a16:creationId xmlns="" xmlns:a16="http://schemas.microsoft.com/office/drawing/2014/main" id="{B377CFE4-F974-430F-8D3E-31A44641DDDD}"/>
              </a:ext>
            </a:extLst>
          </p:cNvPr>
          <p:cNvSpPr/>
          <p:nvPr/>
        </p:nvSpPr>
        <p:spPr>
          <a:xfrm>
            <a:off x="185051" y="3066622"/>
            <a:ext cx="1710978" cy="661079"/>
          </a:xfrm>
          <a:prstGeom prst="rect">
            <a:avLst/>
          </a:prstGeom>
          <a:solidFill>
            <a:srgbClr val="F9B367"/>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es-PE" sz="1477" b="1" dirty="0">
                <a:solidFill>
                  <a:schemeClr val="tx1"/>
                </a:solidFill>
              </a:rPr>
              <a:t>MOVIMIENTO ONDULATORIO</a:t>
            </a:r>
          </a:p>
        </p:txBody>
      </p:sp>
      <p:sp>
        <p:nvSpPr>
          <p:cNvPr id="21" name="Rectángulo 20">
            <a:extLst>
              <a:ext uri="{FF2B5EF4-FFF2-40B4-BE49-F238E27FC236}">
                <a16:creationId xmlns="" xmlns:a16="http://schemas.microsoft.com/office/drawing/2014/main" id="{6B0406B6-735E-446A-993D-567F64EC9E37}"/>
              </a:ext>
            </a:extLst>
          </p:cNvPr>
          <p:cNvSpPr/>
          <p:nvPr/>
        </p:nvSpPr>
        <p:spPr>
          <a:xfrm>
            <a:off x="3660311" y="3051186"/>
            <a:ext cx="1830220" cy="890030"/>
          </a:xfrm>
          <a:prstGeom prst="rect">
            <a:avLst/>
          </a:prstGeom>
          <a:solidFill>
            <a:srgbClr val="F9B367"/>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lvl="0" algn="ctr"/>
            <a:r>
              <a:rPr lang="es-PE" sz="1477" b="1" dirty="0">
                <a:cs typeface="Arial" panose="020B0604020202020204" pitchFamily="34" charset="0"/>
              </a:rPr>
              <a:t>ECUACIÓN DE ONDA</a:t>
            </a:r>
          </a:p>
        </p:txBody>
      </p:sp>
      <mc:AlternateContent xmlns:mc="http://schemas.openxmlformats.org/markup-compatibility/2006" xmlns:a14="http://schemas.microsoft.com/office/drawing/2010/main">
        <mc:Choice Requires="a14">
          <p:sp>
            <p:nvSpPr>
              <p:cNvPr id="22" name="Rectángulo 21">
                <a:extLst>
                  <a:ext uri="{FF2B5EF4-FFF2-40B4-BE49-F238E27FC236}">
                    <a16:creationId xmlns="" xmlns:a16="http://schemas.microsoft.com/office/drawing/2014/main" id="{491CDA35-9E9C-46DA-B439-A69909018FD2}"/>
                  </a:ext>
                </a:extLst>
              </p:cNvPr>
              <p:cNvSpPr/>
              <p:nvPr/>
            </p:nvSpPr>
            <p:spPr>
              <a:xfrm>
                <a:off x="7430164" y="5335811"/>
                <a:ext cx="1568863" cy="818415"/>
              </a:xfrm>
              <a:prstGeom prst="rect">
                <a:avLst/>
              </a:prstGeom>
              <a:solidFill>
                <a:srgbClr val="EAF991"/>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lvl="0" algn="just"/>
                <a:endParaRPr lang="es-PE" sz="1477" i="1" dirty="0">
                  <a:solidFill>
                    <a:schemeClr val="tx1"/>
                  </a:solidFill>
                  <a:latin typeface="Cambria Math" panose="02040503050406030204" pitchFamily="18" charset="0"/>
                  <a:ea typeface="Cambria Math" panose="02040503050406030204" pitchFamily="18" charset="0"/>
                  <a:cs typeface="Arial" panose="020B0604020202020204" pitchFamily="34" charset="0"/>
                </a:endParaRPr>
              </a:p>
              <a:p>
                <a:pPr lvl="0" algn="just"/>
                <a:endParaRPr lang="es-PE" sz="1477" i="1" dirty="0">
                  <a:solidFill>
                    <a:schemeClr val="tx1"/>
                  </a:solidFill>
                  <a:latin typeface="Cambria Math" panose="02040503050406030204" pitchFamily="18" charset="0"/>
                  <a:ea typeface="Cambria Math" panose="02040503050406030204" pitchFamily="18" charset="0"/>
                  <a:cs typeface="Arial" panose="020B0604020202020204" pitchFamily="34" charset="0"/>
                </a:endParaRPr>
              </a:p>
              <a:p>
                <a:pPr lvl="0" algn="just"/>
                <a:endParaRPr lang="es-PE" sz="1477" i="1" dirty="0">
                  <a:solidFill>
                    <a:schemeClr val="tx1"/>
                  </a:solidFill>
                  <a:latin typeface="Cambria Math" panose="02040503050406030204" pitchFamily="18" charset="0"/>
                  <a:ea typeface="Cambria Math" panose="02040503050406030204" pitchFamily="18"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r>
                        <a:rPr lang="es-ES" sz="1477" i="1">
                          <a:latin typeface="Cambria Math" panose="02040503050406030204" pitchFamily="18" charset="0"/>
                        </a:rPr>
                        <m:t>𝑣</m:t>
                      </m:r>
                      <m:r>
                        <a:rPr lang="es-ES" sz="1477" i="1">
                          <a:latin typeface="Cambria Math" panose="02040503050406030204" pitchFamily="18" charset="0"/>
                        </a:rPr>
                        <m:t>=</m:t>
                      </m:r>
                      <m:rad>
                        <m:radPr>
                          <m:degHide m:val="on"/>
                          <m:ctrlPr>
                            <a:rPr lang="es-ES" sz="1477" i="1">
                              <a:latin typeface="Cambria Math" panose="02040503050406030204" pitchFamily="18" charset="0"/>
                            </a:rPr>
                          </m:ctrlPr>
                        </m:radPr>
                        <m:deg/>
                        <m:e>
                          <m:f>
                            <m:fPr>
                              <m:ctrlPr>
                                <a:rPr lang="es-ES" sz="1477" i="1">
                                  <a:latin typeface="Cambria Math" panose="02040503050406030204" pitchFamily="18" charset="0"/>
                                </a:rPr>
                              </m:ctrlPr>
                            </m:fPr>
                            <m:num>
                              <m:r>
                                <a:rPr lang="es-ES" sz="1477" i="1">
                                  <a:latin typeface="Cambria Math" panose="02040503050406030204" pitchFamily="18" charset="0"/>
                                </a:rPr>
                                <m:t>𝑇</m:t>
                              </m:r>
                            </m:num>
                            <m:den>
                              <m:r>
                                <a:rPr lang="es-ES" sz="1477" i="1">
                                  <a:latin typeface="Cambria Math" panose="02040503050406030204" pitchFamily="18" charset="0"/>
                                  <a:ea typeface="Cambria Math" panose="02040503050406030204" pitchFamily="18" charset="0"/>
                                </a:rPr>
                                <m:t>𝜇</m:t>
                              </m:r>
                            </m:den>
                          </m:f>
                        </m:e>
                      </m:rad>
                    </m:oMath>
                  </m:oMathPara>
                </a14:m>
                <a:endParaRPr lang="es-PE" sz="1477" dirty="0">
                  <a:solidFill>
                    <a:schemeClr val="tx1"/>
                  </a:solidFill>
                  <a:latin typeface="Arial" panose="020B0604020202020204" pitchFamily="34" charset="0"/>
                  <a:cs typeface="Arial" panose="020B0604020202020204" pitchFamily="34" charset="0"/>
                </a:endParaRPr>
              </a:p>
              <a:p>
                <a:pPr lvl="0" algn="just"/>
                <a:endParaRPr lang="es-PE" sz="1477" dirty="0">
                  <a:solidFill>
                    <a:schemeClr val="tx1"/>
                  </a:solidFill>
                  <a:latin typeface="Arial" panose="020B0604020202020204" pitchFamily="34" charset="0"/>
                  <a:cs typeface="Arial" panose="020B0604020202020204" pitchFamily="34" charset="0"/>
                </a:endParaRPr>
              </a:p>
              <a:p>
                <a:pPr lvl="0" algn="just"/>
                <a:endParaRPr lang="es-PE" sz="1477" dirty="0">
                  <a:solidFill>
                    <a:schemeClr val="tx1"/>
                  </a:solidFill>
                  <a:latin typeface="Arial" panose="020B0604020202020204" pitchFamily="34" charset="0"/>
                  <a:cs typeface="Arial" panose="020B0604020202020204" pitchFamily="34" charset="0"/>
                </a:endParaRPr>
              </a:p>
              <a:p>
                <a:pPr lvl="0" algn="just"/>
                <a:endParaRPr lang="es-PE" sz="1477" dirty="0">
                  <a:solidFill>
                    <a:schemeClr val="tx1"/>
                  </a:solidFill>
                  <a:latin typeface="Arial" panose="020B0604020202020204" pitchFamily="34" charset="0"/>
                  <a:cs typeface="Arial" panose="020B0604020202020204" pitchFamily="34" charset="0"/>
                </a:endParaRPr>
              </a:p>
            </p:txBody>
          </p:sp>
        </mc:Choice>
        <mc:Fallback xmlns="">
          <p:sp>
            <p:nvSpPr>
              <p:cNvPr id="22" name="Rectángulo 21">
                <a:extLst>
                  <a:ext uri="{FF2B5EF4-FFF2-40B4-BE49-F238E27FC236}">
                    <a16:creationId xmlns="" xmlns:a16="http://schemas.microsoft.com/office/drawing/2014/main" xmlns:a14="http://schemas.microsoft.com/office/drawing/2010/main" id="{491CDA35-9E9C-46DA-B439-A69909018FD2}"/>
                  </a:ext>
                </a:extLst>
              </p:cNvPr>
              <p:cNvSpPr>
                <a:spLocks noRot="1" noChangeAspect="1" noMove="1" noResize="1" noEditPoints="1" noAdjustHandles="1" noChangeArrowheads="1" noChangeShapeType="1" noTextEdit="1"/>
              </p:cNvSpPr>
              <p:nvPr/>
            </p:nvSpPr>
            <p:spPr>
              <a:xfrm>
                <a:off x="7430164" y="5335811"/>
                <a:ext cx="1568863" cy="818415"/>
              </a:xfrm>
              <a:prstGeom prst="rect">
                <a:avLst/>
              </a:prstGeom>
              <a:blipFill rotWithShape="0">
                <a:blip r:embed="rId2"/>
                <a:stretch>
                  <a:fillRect/>
                </a:stretch>
              </a:blipFill>
              <a:ln>
                <a:solidFill>
                  <a:schemeClr val="tx1"/>
                </a:solidFill>
              </a:ln>
            </p:spPr>
            <p:txBody>
              <a:bodyPr/>
              <a:lstStyle/>
              <a:p>
                <a:r>
                  <a:rPr lang="es-PE">
                    <a:noFill/>
                  </a:rPr>
                  <a:t> </a:t>
                </a:r>
              </a:p>
            </p:txBody>
          </p:sp>
        </mc:Fallback>
      </mc:AlternateContent>
      <p:cxnSp>
        <p:nvCxnSpPr>
          <p:cNvPr id="23" name="Conector recto 22">
            <a:extLst>
              <a:ext uri="{FF2B5EF4-FFF2-40B4-BE49-F238E27FC236}">
                <a16:creationId xmlns="" xmlns:a16="http://schemas.microsoft.com/office/drawing/2014/main" id="{C2DA4E98-4D40-4E2B-AC84-9B82C98610BC}"/>
              </a:ext>
            </a:extLst>
          </p:cNvPr>
          <p:cNvCxnSpPr>
            <a:cxnSpLocks/>
          </p:cNvCxnSpPr>
          <p:nvPr/>
        </p:nvCxnSpPr>
        <p:spPr>
          <a:xfrm>
            <a:off x="1040539" y="3741332"/>
            <a:ext cx="0" cy="265876"/>
          </a:xfrm>
          <a:prstGeom prst="line">
            <a:avLst/>
          </a:prstGeom>
          <a:ln>
            <a:solidFill>
              <a:schemeClr val="tx1"/>
            </a:solidFill>
          </a:ln>
        </p:spPr>
        <p:style>
          <a:lnRef idx="1">
            <a:schemeClr val="accent6"/>
          </a:lnRef>
          <a:fillRef idx="2">
            <a:schemeClr val="accent6"/>
          </a:fillRef>
          <a:effectRef idx="1">
            <a:schemeClr val="accent6"/>
          </a:effectRef>
          <a:fontRef idx="minor">
            <a:schemeClr val="dk1"/>
          </a:fontRef>
        </p:style>
      </p:cxnSp>
      <p:sp>
        <p:nvSpPr>
          <p:cNvPr id="24" name="Rectángulo 23">
            <a:extLst>
              <a:ext uri="{FF2B5EF4-FFF2-40B4-BE49-F238E27FC236}">
                <a16:creationId xmlns="" xmlns:a16="http://schemas.microsoft.com/office/drawing/2014/main" id="{6B0406B6-735E-446A-993D-567F64EC9E37}"/>
              </a:ext>
            </a:extLst>
          </p:cNvPr>
          <p:cNvSpPr/>
          <p:nvPr/>
        </p:nvSpPr>
        <p:spPr>
          <a:xfrm>
            <a:off x="5616772" y="3073921"/>
            <a:ext cx="1405362" cy="910553"/>
          </a:xfrm>
          <a:prstGeom prst="rect">
            <a:avLst/>
          </a:prstGeom>
          <a:solidFill>
            <a:srgbClr val="F9B367"/>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lvl="0" algn="ctr"/>
            <a:r>
              <a:rPr lang="es-PE" sz="1477" b="1" dirty="0">
                <a:cs typeface="Arial" panose="020B0604020202020204" pitchFamily="34" charset="0"/>
              </a:rPr>
              <a:t>ECUACIÓN DE MOVIMIENTO</a:t>
            </a:r>
          </a:p>
        </p:txBody>
      </p:sp>
      <p:cxnSp>
        <p:nvCxnSpPr>
          <p:cNvPr id="26" name="Conector recto 25"/>
          <p:cNvCxnSpPr/>
          <p:nvPr/>
        </p:nvCxnSpPr>
        <p:spPr>
          <a:xfrm>
            <a:off x="1108812" y="2848454"/>
            <a:ext cx="0" cy="218168"/>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Conector recto 26"/>
          <p:cNvCxnSpPr/>
          <p:nvPr/>
        </p:nvCxnSpPr>
        <p:spPr>
          <a:xfrm>
            <a:off x="7933724" y="2848454"/>
            <a:ext cx="0" cy="224627"/>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Conector recto 27"/>
          <p:cNvCxnSpPr/>
          <p:nvPr/>
        </p:nvCxnSpPr>
        <p:spPr>
          <a:xfrm>
            <a:off x="6319453" y="2858623"/>
            <a:ext cx="0" cy="224627"/>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Conector recto 28"/>
          <p:cNvCxnSpPr/>
          <p:nvPr/>
        </p:nvCxnSpPr>
        <p:spPr>
          <a:xfrm>
            <a:off x="2782785" y="2841995"/>
            <a:ext cx="0" cy="224627"/>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Rectángulo 32">
                <a:extLst>
                  <a:ext uri="{FF2B5EF4-FFF2-40B4-BE49-F238E27FC236}">
                    <a16:creationId xmlns="" xmlns:a16="http://schemas.microsoft.com/office/drawing/2014/main" id="{491CDA35-9E9C-46DA-B439-A69909018FD2}"/>
                  </a:ext>
                </a:extLst>
              </p:cNvPr>
              <p:cNvSpPr/>
              <p:nvPr/>
            </p:nvSpPr>
            <p:spPr>
              <a:xfrm>
                <a:off x="3853209" y="4166254"/>
                <a:ext cx="1578235" cy="592124"/>
              </a:xfrm>
              <a:prstGeom prst="rect">
                <a:avLst/>
              </a:prstGeom>
              <a:solidFill>
                <a:srgbClr val="EAF991"/>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lvl="0" algn="just"/>
                <a:endParaRPr lang="es-PE" sz="1477" i="1" dirty="0">
                  <a:solidFill>
                    <a:schemeClr val="tx1"/>
                  </a:solidFill>
                  <a:latin typeface="Cambria Math" panose="02040503050406030204" pitchFamily="18" charset="0"/>
                  <a:cs typeface="Arial" panose="020B0604020202020204" pitchFamily="34" charset="0"/>
                </a:endParaRPr>
              </a:p>
              <a:p>
                <a:pPr lvl="0" algn="just"/>
                <a:endParaRPr lang="es-PE" sz="1477" i="1" dirty="0">
                  <a:solidFill>
                    <a:schemeClr val="tx1"/>
                  </a:solidFill>
                  <a:latin typeface="Cambria Math" panose="02040503050406030204" pitchFamily="18" charset="0"/>
                  <a:cs typeface="Arial" panose="020B0604020202020204" pitchFamily="34" charset="0"/>
                </a:endParaRPr>
              </a:p>
              <a:p>
                <a:pPr lvl="0" algn="just"/>
                <a14:m>
                  <m:oMathPara xmlns:m="http://schemas.openxmlformats.org/officeDocument/2006/math">
                    <m:oMathParaPr>
                      <m:jc m:val="centerGroup"/>
                    </m:oMathParaPr>
                    <m:oMath xmlns:m="http://schemas.openxmlformats.org/officeDocument/2006/math">
                      <m:f>
                        <m:fPr>
                          <m:ctrlPr>
                            <a:rPr lang="es-PE" sz="1477" b="1" i="1">
                              <a:solidFill>
                                <a:schemeClr val="tx1"/>
                              </a:solidFill>
                              <a:latin typeface="Cambria Math" panose="02040503050406030204" pitchFamily="18" charset="0"/>
                              <a:cs typeface="Arial" panose="020B0604020202020204" pitchFamily="34" charset="0"/>
                            </a:rPr>
                          </m:ctrlPr>
                        </m:fPr>
                        <m:num>
                          <m:sSup>
                            <m:sSupPr>
                              <m:ctrlPr>
                                <a:rPr lang="es-PE" sz="1477" b="1" i="1">
                                  <a:solidFill>
                                    <a:schemeClr val="tx1"/>
                                  </a:solidFill>
                                  <a:latin typeface="Cambria Math" panose="02040503050406030204" pitchFamily="18" charset="0"/>
                                  <a:cs typeface="Arial" panose="020B0604020202020204" pitchFamily="34" charset="0"/>
                                </a:rPr>
                              </m:ctrlPr>
                            </m:sSupPr>
                            <m:e>
                              <m:r>
                                <a:rPr lang="es-ES" sz="1477" b="1" i="1">
                                  <a:solidFill>
                                    <a:schemeClr val="tx1"/>
                                  </a:solidFill>
                                  <a:latin typeface="Cambria Math" panose="02040503050406030204" pitchFamily="18" charset="0"/>
                                  <a:cs typeface="Arial" panose="020B0604020202020204" pitchFamily="34" charset="0"/>
                                </a:rPr>
                                <m:t>𝒅</m:t>
                              </m:r>
                            </m:e>
                            <m:sup>
                              <m:r>
                                <a:rPr lang="es-ES" sz="1477" b="1" i="1">
                                  <a:solidFill>
                                    <a:schemeClr val="tx1"/>
                                  </a:solidFill>
                                  <a:latin typeface="Cambria Math" panose="02040503050406030204" pitchFamily="18" charset="0"/>
                                  <a:cs typeface="Arial" panose="020B0604020202020204" pitchFamily="34" charset="0"/>
                                </a:rPr>
                                <m:t>𝟐</m:t>
                              </m:r>
                            </m:sup>
                          </m:sSup>
                          <m:r>
                            <a:rPr lang="es-ES" sz="1477" b="1" i="1">
                              <a:solidFill>
                                <a:schemeClr val="tx1"/>
                              </a:solidFill>
                              <a:latin typeface="Cambria Math" panose="02040503050406030204" pitchFamily="18" charset="0"/>
                              <a:cs typeface="Arial" panose="020B0604020202020204" pitchFamily="34" charset="0"/>
                            </a:rPr>
                            <m:t>𝒚</m:t>
                          </m:r>
                        </m:num>
                        <m:den>
                          <m:r>
                            <a:rPr lang="es-ES" sz="1477" b="1" i="1">
                              <a:solidFill>
                                <a:schemeClr val="tx1"/>
                              </a:solidFill>
                              <a:latin typeface="Cambria Math" panose="02040503050406030204" pitchFamily="18" charset="0"/>
                              <a:cs typeface="Arial" panose="020B0604020202020204" pitchFamily="34" charset="0"/>
                            </a:rPr>
                            <m:t>𝒅</m:t>
                          </m:r>
                          <m:sSup>
                            <m:sSupPr>
                              <m:ctrlPr>
                                <a:rPr lang="es-ES" sz="1477" b="1" i="1">
                                  <a:solidFill>
                                    <a:schemeClr val="tx1"/>
                                  </a:solidFill>
                                  <a:latin typeface="Cambria Math" panose="02040503050406030204" pitchFamily="18" charset="0"/>
                                  <a:cs typeface="Arial" panose="020B0604020202020204" pitchFamily="34" charset="0"/>
                                </a:rPr>
                              </m:ctrlPr>
                            </m:sSupPr>
                            <m:e>
                              <m:r>
                                <a:rPr lang="es-ES" sz="1477" b="1" i="1">
                                  <a:solidFill>
                                    <a:schemeClr val="tx1"/>
                                  </a:solidFill>
                                  <a:latin typeface="Cambria Math" panose="02040503050406030204" pitchFamily="18" charset="0"/>
                                  <a:cs typeface="Arial" panose="020B0604020202020204" pitchFamily="34" charset="0"/>
                                </a:rPr>
                                <m:t>𝒙</m:t>
                              </m:r>
                            </m:e>
                            <m:sup>
                              <m:r>
                                <a:rPr lang="es-ES" sz="1477" b="1" i="1">
                                  <a:solidFill>
                                    <a:schemeClr val="tx1"/>
                                  </a:solidFill>
                                  <a:latin typeface="Cambria Math" panose="02040503050406030204" pitchFamily="18" charset="0"/>
                                  <a:cs typeface="Arial" panose="020B0604020202020204" pitchFamily="34" charset="0"/>
                                </a:rPr>
                                <m:t>𝟐</m:t>
                              </m:r>
                            </m:sup>
                          </m:sSup>
                        </m:den>
                      </m:f>
                      <m:r>
                        <a:rPr lang="es-PE" sz="1477" b="1" i="1">
                          <a:solidFill>
                            <a:schemeClr val="tx1"/>
                          </a:solidFill>
                          <a:latin typeface="Cambria Math" panose="02040503050406030204" pitchFamily="18" charset="0"/>
                          <a:cs typeface="Arial" panose="020B0604020202020204" pitchFamily="34" charset="0"/>
                        </a:rPr>
                        <m:t>=</m:t>
                      </m:r>
                      <m:f>
                        <m:fPr>
                          <m:ctrlPr>
                            <a:rPr lang="es-PE" sz="1477" b="1" i="1">
                              <a:solidFill>
                                <a:schemeClr val="tx1"/>
                              </a:solidFill>
                              <a:latin typeface="Cambria Math" panose="02040503050406030204" pitchFamily="18" charset="0"/>
                              <a:cs typeface="Arial" panose="020B0604020202020204" pitchFamily="34" charset="0"/>
                            </a:rPr>
                          </m:ctrlPr>
                        </m:fPr>
                        <m:num>
                          <m:r>
                            <a:rPr lang="es-ES" sz="1477" b="1" i="1">
                              <a:solidFill>
                                <a:schemeClr val="tx1"/>
                              </a:solidFill>
                              <a:latin typeface="Cambria Math" panose="02040503050406030204" pitchFamily="18" charset="0"/>
                              <a:cs typeface="Arial" panose="020B0604020202020204" pitchFamily="34" charset="0"/>
                            </a:rPr>
                            <m:t>𝟏</m:t>
                          </m:r>
                        </m:num>
                        <m:den>
                          <m:sSup>
                            <m:sSupPr>
                              <m:ctrlPr>
                                <a:rPr lang="es-PE" sz="1477" b="1" i="1">
                                  <a:solidFill>
                                    <a:schemeClr val="tx1"/>
                                  </a:solidFill>
                                  <a:latin typeface="Cambria Math" panose="02040503050406030204" pitchFamily="18" charset="0"/>
                                  <a:cs typeface="Arial" panose="020B0604020202020204" pitchFamily="34" charset="0"/>
                                </a:rPr>
                              </m:ctrlPr>
                            </m:sSupPr>
                            <m:e>
                              <m:r>
                                <a:rPr lang="es-ES" sz="1477" b="1" i="1">
                                  <a:solidFill>
                                    <a:schemeClr val="tx1"/>
                                  </a:solidFill>
                                  <a:latin typeface="Cambria Math" panose="02040503050406030204" pitchFamily="18" charset="0"/>
                                  <a:cs typeface="Arial" panose="020B0604020202020204" pitchFamily="34" charset="0"/>
                                </a:rPr>
                                <m:t>𝒗</m:t>
                              </m:r>
                            </m:e>
                            <m:sup>
                              <m:r>
                                <a:rPr lang="es-ES" sz="1477" b="1" i="1">
                                  <a:solidFill>
                                    <a:schemeClr val="tx1"/>
                                  </a:solidFill>
                                  <a:latin typeface="Cambria Math" panose="02040503050406030204" pitchFamily="18" charset="0"/>
                                  <a:cs typeface="Arial" panose="020B0604020202020204" pitchFamily="34" charset="0"/>
                                </a:rPr>
                                <m:t>𝟐</m:t>
                              </m:r>
                            </m:sup>
                          </m:sSup>
                        </m:den>
                      </m:f>
                      <m:f>
                        <m:fPr>
                          <m:ctrlPr>
                            <a:rPr lang="es-PE" sz="1477" b="1" i="1">
                              <a:solidFill>
                                <a:schemeClr val="tx1"/>
                              </a:solidFill>
                              <a:latin typeface="Cambria Math" panose="02040503050406030204" pitchFamily="18" charset="0"/>
                              <a:cs typeface="Arial" panose="020B0604020202020204" pitchFamily="34" charset="0"/>
                            </a:rPr>
                          </m:ctrlPr>
                        </m:fPr>
                        <m:num>
                          <m:sSup>
                            <m:sSupPr>
                              <m:ctrlPr>
                                <a:rPr lang="es-PE" sz="1477" b="1" i="1">
                                  <a:solidFill>
                                    <a:schemeClr val="tx1"/>
                                  </a:solidFill>
                                  <a:latin typeface="Cambria Math" panose="02040503050406030204" pitchFamily="18" charset="0"/>
                                  <a:cs typeface="Arial" panose="020B0604020202020204" pitchFamily="34" charset="0"/>
                                </a:rPr>
                              </m:ctrlPr>
                            </m:sSupPr>
                            <m:e>
                              <m:r>
                                <a:rPr lang="es-ES" sz="1477" b="1" i="1">
                                  <a:solidFill>
                                    <a:schemeClr val="tx1"/>
                                  </a:solidFill>
                                  <a:latin typeface="Cambria Math" panose="02040503050406030204" pitchFamily="18" charset="0"/>
                                  <a:cs typeface="Arial" panose="020B0604020202020204" pitchFamily="34" charset="0"/>
                                </a:rPr>
                                <m:t>𝒅</m:t>
                              </m:r>
                            </m:e>
                            <m:sup>
                              <m:r>
                                <a:rPr lang="es-ES" sz="1477" b="1" i="1">
                                  <a:solidFill>
                                    <a:schemeClr val="tx1"/>
                                  </a:solidFill>
                                  <a:latin typeface="Cambria Math" panose="02040503050406030204" pitchFamily="18" charset="0"/>
                                  <a:cs typeface="Arial" panose="020B0604020202020204" pitchFamily="34" charset="0"/>
                                </a:rPr>
                                <m:t>𝟐</m:t>
                              </m:r>
                            </m:sup>
                          </m:sSup>
                          <m:r>
                            <a:rPr lang="es-ES" sz="1477" b="1" i="1">
                              <a:solidFill>
                                <a:schemeClr val="tx1"/>
                              </a:solidFill>
                              <a:latin typeface="Cambria Math" panose="02040503050406030204" pitchFamily="18" charset="0"/>
                              <a:cs typeface="Arial" panose="020B0604020202020204" pitchFamily="34" charset="0"/>
                            </a:rPr>
                            <m:t>𝒚</m:t>
                          </m:r>
                        </m:num>
                        <m:den>
                          <m:r>
                            <a:rPr lang="es-ES" sz="1477" b="1" i="1">
                              <a:solidFill>
                                <a:schemeClr val="tx1"/>
                              </a:solidFill>
                              <a:latin typeface="Cambria Math" panose="02040503050406030204" pitchFamily="18" charset="0"/>
                              <a:cs typeface="Arial" panose="020B0604020202020204" pitchFamily="34" charset="0"/>
                            </a:rPr>
                            <m:t>𝒅</m:t>
                          </m:r>
                          <m:sSup>
                            <m:sSupPr>
                              <m:ctrlPr>
                                <a:rPr lang="es-ES" sz="1477" b="1" i="1">
                                  <a:solidFill>
                                    <a:schemeClr val="tx1"/>
                                  </a:solidFill>
                                  <a:latin typeface="Cambria Math" panose="02040503050406030204" pitchFamily="18" charset="0"/>
                                  <a:cs typeface="Arial" panose="020B0604020202020204" pitchFamily="34" charset="0"/>
                                </a:rPr>
                              </m:ctrlPr>
                            </m:sSupPr>
                            <m:e>
                              <m:r>
                                <a:rPr lang="es-ES" sz="1477" b="1" i="1">
                                  <a:solidFill>
                                    <a:schemeClr val="tx1"/>
                                  </a:solidFill>
                                  <a:latin typeface="Cambria Math" panose="02040503050406030204" pitchFamily="18" charset="0"/>
                                  <a:cs typeface="Arial" panose="020B0604020202020204" pitchFamily="34" charset="0"/>
                                </a:rPr>
                                <m:t>𝒕</m:t>
                              </m:r>
                            </m:e>
                            <m:sup>
                              <m:r>
                                <a:rPr lang="es-ES" sz="1477" b="1" i="1">
                                  <a:solidFill>
                                    <a:schemeClr val="tx1"/>
                                  </a:solidFill>
                                  <a:latin typeface="Cambria Math" panose="02040503050406030204" pitchFamily="18" charset="0"/>
                                  <a:cs typeface="Arial" panose="020B0604020202020204" pitchFamily="34" charset="0"/>
                                </a:rPr>
                                <m:t>𝟐</m:t>
                              </m:r>
                            </m:sup>
                          </m:sSup>
                        </m:den>
                      </m:f>
                    </m:oMath>
                  </m:oMathPara>
                </a14:m>
                <a:endParaRPr lang="es-PE" sz="1477" b="1" dirty="0">
                  <a:solidFill>
                    <a:schemeClr val="tx1"/>
                  </a:solidFill>
                  <a:latin typeface="Arial" panose="020B0604020202020204" pitchFamily="34" charset="0"/>
                  <a:cs typeface="Arial" panose="020B0604020202020204" pitchFamily="34" charset="0"/>
                </a:endParaRPr>
              </a:p>
              <a:p>
                <a:pPr lvl="0" algn="just"/>
                <a:endParaRPr lang="es-PE" sz="1477" dirty="0">
                  <a:solidFill>
                    <a:schemeClr val="tx1"/>
                  </a:solidFill>
                  <a:latin typeface="Arial" panose="020B0604020202020204" pitchFamily="34" charset="0"/>
                  <a:cs typeface="Arial" panose="020B0604020202020204" pitchFamily="34" charset="0"/>
                </a:endParaRPr>
              </a:p>
              <a:p>
                <a:pPr lvl="0" algn="just"/>
                <a:endParaRPr lang="es-PE" sz="1477" dirty="0">
                  <a:solidFill>
                    <a:schemeClr val="tx1"/>
                  </a:solidFill>
                  <a:latin typeface="Arial" panose="020B0604020202020204" pitchFamily="34" charset="0"/>
                  <a:cs typeface="Arial" panose="020B0604020202020204" pitchFamily="34" charset="0"/>
                </a:endParaRPr>
              </a:p>
            </p:txBody>
          </p:sp>
        </mc:Choice>
        <mc:Fallback xmlns="">
          <p:sp>
            <p:nvSpPr>
              <p:cNvPr id="33" name="Rectángulo 32">
                <a:extLst>
                  <a:ext uri="{FF2B5EF4-FFF2-40B4-BE49-F238E27FC236}">
                    <a16:creationId xmlns:a16="http://schemas.microsoft.com/office/drawing/2014/main" xmlns="" xmlns:a14="http://schemas.microsoft.com/office/drawing/2010/main" id="{491CDA35-9E9C-46DA-B439-A69909018FD2}"/>
                  </a:ext>
                </a:extLst>
              </p:cNvPr>
              <p:cNvSpPr>
                <a:spLocks noRot="1" noChangeAspect="1" noMove="1" noResize="1" noEditPoints="1" noAdjustHandles="1" noChangeArrowheads="1" noChangeShapeType="1" noTextEdit="1"/>
              </p:cNvSpPr>
              <p:nvPr/>
            </p:nvSpPr>
            <p:spPr>
              <a:xfrm>
                <a:off x="4174309" y="4227692"/>
                <a:ext cx="1709755" cy="641468"/>
              </a:xfrm>
              <a:prstGeom prst="rect">
                <a:avLst/>
              </a:prstGeom>
              <a:blipFill rotWithShape="0">
                <a:blip r:embed="rId3"/>
                <a:stretch>
                  <a:fillRect/>
                </a:stretch>
              </a:blipFill>
              <a:ln>
                <a:solidFill>
                  <a:schemeClr val="tx1"/>
                </a:solidFill>
              </a:ln>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19" name="Rectángulo 18">
                <a:extLst>
                  <a:ext uri="{FF2B5EF4-FFF2-40B4-BE49-F238E27FC236}">
                    <a16:creationId xmlns="" xmlns:a16="http://schemas.microsoft.com/office/drawing/2014/main" id="{44822C0F-02DC-406F-8E12-F1FFDD5CFB2F}"/>
                  </a:ext>
                </a:extLst>
              </p:cNvPr>
              <p:cNvSpPr/>
              <p:nvPr/>
            </p:nvSpPr>
            <p:spPr>
              <a:xfrm>
                <a:off x="5224654" y="4845635"/>
                <a:ext cx="2205510" cy="356985"/>
              </a:xfrm>
              <a:prstGeom prst="rect">
                <a:avLst/>
              </a:prstGeom>
              <a:solidFill>
                <a:srgbClr val="EAF991"/>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endParaRPr lang="es-ES" sz="1477"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s-ES" sz="1477" i="1">
                          <a:latin typeface="Cambria Math" panose="02040503050406030204" pitchFamily="18" charset="0"/>
                          <a:ea typeface="Cambria Math" panose="02040503050406030204" pitchFamily="18" charset="0"/>
                        </a:rPr>
                        <m:t>𝑦</m:t>
                      </m:r>
                      <m:r>
                        <a:rPr lang="es-ES" sz="1477" i="1">
                          <a:latin typeface="Cambria Math" panose="02040503050406030204" pitchFamily="18" charset="0"/>
                          <a:ea typeface="Cambria Math" panose="02040503050406030204" pitchFamily="18" charset="0"/>
                        </a:rPr>
                        <m:t>=</m:t>
                      </m:r>
                      <m:r>
                        <a:rPr lang="es-ES" sz="1477" i="1">
                          <a:latin typeface="Cambria Math" panose="02040503050406030204" pitchFamily="18" charset="0"/>
                          <a:ea typeface="Cambria Math" panose="02040503050406030204" pitchFamily="18" charset="0"/>
                        </a:rPr>
                        <m:t>𝐴𝐶𝑜𝑠</m:t>
                      </m:r>
                      <m:d>
                        <m:dPr>
                          <m:ctrlPr>
                            <a:rPr lang="es-ES" sz="1477" i="1">
                              <a:latin typeface="Cambria Math" panose="02040503050406030204" pitchFamily="18" charset="0"/>
                              <a:ea typeface="Cambria Math" panose="02040503050406030204" pitchFamily="18" charset="0"/>
                            </a:rPr>
                          </m:ctrlPr>
                        </m:dPr>
                        <m:e>
                          <m:r>
                            <a:rPr lang="es-ES" sz="1477" i="1">
                              <a:latin typeface="Cambria Math" panose="02040503050406030204" pitchFamily="18" charset="0"/>
                              <a:ea typeface="Cambria Math" panose="02040503050406030204" pitchFamily="18" charset="0"/>
                            </a:rPr>
                            <m:t>𝑘𝑥</m:t>
                          </m:r>
                          <m:r>
                            <a:rPr lang="es-ES" sz="1477" i="1">
                              <a:latin typeface="Cambria Math" panose="02040503050406030204" pitchFamily="18" charset="0"/>
                              <a:ea typeface="Cambria Math" panose="02040503050406030204" pitchFamily="18" charset="0"/>
                            </a:rPr>
                            <m:t>±</m:t>
                          </m:r>
                          <m:r>
                            <a:rPr lang="es-ES" sz="1477" i="1">
                              <a:latin typeface="Cambria Math" panose="02040503050406030204" pitchFamily="18" charset="0"/>
                              <a:ea typeface="Cambria Math" panose="02040503050406030204" pitchFamily="18" charset="0"/>
                            </a:rPr>
                            <m:t>𝜔</m:t>
                          </m:r>
                          <m:r>
                            <a:rPr lang="es-ES" sz="1477" i="1">
                              <a:latin typeface="Cambria Math" panose="02040503050406030204" pitchFamily="18" charset="0"/>
                              <a:ea typeface="Cambria Math" panose="02040503050406030204" pitchFamily="18" charset="0"/>
                            </a:rPr>
                            <m:t>𝑡</m:t>
                          </m:r>
                          <m:r>
                            <a:rPr lang="es-ES" sz="1477" i="1">
                              <a:latin typeface="Cambria Math" panose="02040503050406030204" pitchFamily="18" charset="0"/>
                              <a:ea typeface="Cambria Math" panose="02040503050406030204" pitchFamily="18" charset="0"/>
                            </a:rPr>
                            <m:t>+</m:t>
                          </m:r>
                          <m:r>
                            <a:rPr lang="es-ES" sz="1477" i="1">
                              <a:latin typeface="Cambria Math" panose="02040503050406030204" pitchFamily="18" charset="0"/>
                              <a:ea typeface="Cambria Math" panose="02040503050406030204" pitchFamily="18" charset="0"/>
                            </a:rPr>
                            <m:t>𝜙</m:t>
                          </m:r>
                        </m:e>
                      </m:d>
                    </m:oMath>
                  </m:oMathPara>
                </a14:m>
                <a:endParaRPr lang="es-PE" sz="1477" i="1" dirty="0">
                  <a:latin typeface="Cambria Math" panose="02040503050406030204" pitchFamily="18" charset="0"/>
                  <a:ea typeface="Cambria Math" panose="02040503050406030204" pitchFamily="18" charset="0"/>
                </a:endParaRPr>
              </a:p>
              <a:p>
                <a:endParaRPr lang="es-PE" sz="1477" dirty="0"/>
              </a:p>
            </p:txBody>
          </p:sp>
        </mc:Choice>
        <mc:Fallback xmlns="">
          <p:sp>
            <p:nvSpPr>
              <p:cNvPr id="19" name="Rectángulo 18">
                <a:extLst>
                  <a:ext uri="{FF2B5EF4-FFF2-40B4-BE49-F238E27FC236}">
                    <a16:creationId xmlns:a16="http://schemas.microsoft.com/office/drawing/2014/main" xmlns="" xmlns:a14="http://schemas.microsoft.com/office/drawing/2010/main" id="{44822C0F-02DC-406F-8E12-F1FFDD5CFB2F}"/>
                  </a:ext>
                </a:extLst>
              </p:cNvPr>
              <p:cNvSpPr>
                <a:spLocks noRot="1" noChangeAspect="1" noMove="1" noResize="1" noEditPoints="1" noAdjustHandles="1" noChangeArrowheads="1" noChangeShapeType="1" noTextEdit="1"/>
              </p:cNvSpPr>
              <p:nvPr/>
            </p:nvSpPr>
            <p:spPr>
              <a:xfrm>
                <a:off x="5660042" y="4963688"/>
                <a:ext cx="2389302" cy="386734"/>
              </a:xfrm>
              <a:prstGeom prst="rect">
                <a:avLst/>
              </a:prstGeom>
              <a:blipFill rotWithShape="0">
                <a:blip r:embed="rId4"/>
                <a:stretch>
                  <a:fillRect/>
                </a:stretch>
              </a:blipFill>
              <a:ln>
                <a:solidFill>
                  <a:schemeClr val="tx1"/>
                </a:solidFill>
              </a:ln>
            </p:spPr>
            <p:txBody>
              <a:bodyPr/>
              <a:lstStyle/>
              <a:p>
                <a:r>
                  <a:rPr lang="es-PE">
                    <a:noFill/>
                  </a:rPr>
                  <a:t> </a:t>
                </a:r>
              </a:p>
            </p:txBody>
          </p:sp>
        </mc:Fallback>
      </mc:AlternateContent>
      <p:sp>
        <p:nvSpPr>
          <p:cNvPr id="17" name="Rectángulo 16">
            <a:extLst>
              <a:ext uri="{FF2B5EF4-FFF2-40B4-BE49-F238E27FC236}">
                <a16:creationId xmlns="" xmlns:a16="http://schemas.microsoft.com/office/drawing/2014/main" xmlns:a14="http://schemas.microsoft.com/office/drawing/2010/main" xmlns:mc="http://schemas.openxmlformats.org/markup-compatibility/2006" id="{8EF499C7-AECE-44DE-89A6-BD7D3BC55E42}"/>
              </a:ext>
            </a:extLst>
          </p:cNvPr>
          <p:cNvSpPr/>
          <p:nvPr/>
        </p:nvSpPr>
        <p:spPr>
          <a:xfrm>
            <a:off x="146472" y="3826895"/>
            <a:ext cx="1667129" cy="2526738"/>
          </a:xfrm>
          <a:prstGeom prst="rect">
            <a:avLst/>
          </a:prstGeom>
          <a:solidFill>
            <a:srgbClr val="EAF991"/>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lvl="0" algn="just"/>
            <a:r>
              <a:rPr lang="es-PE" sz="1292" dirty="0">
                <a:latin typeface="Arial" panose="020B0604020202020204" pitchFamily="34" charset="0"/>
                <a:cs typeface="Arial" panose="020B0604020202020204" pitchFamily="34" charset="0"/>
              </a:rPr>
              <a:t>Es la propagación de una perturbación a través de un medio o también en el </a:t>
            </a:r>
            <a:r>
              <a:rPr lang="es-PE" sz="1292" dirty="0" err="1">
                <a:latin typeface="Arial" panose="020B0604020202020204" pitchFamily="34" charset="0"/>
                <a:cs typeface="Arial" panose="020B0604020202020204" pitchFamily="34" charset="0"/>
              </a:rPr>
              <a:t>vacio</a:t>
            </a:r>
            <a:r>
              <a:rPr lang="es-PE" sz="1292" dirty="0">
                <a:latin typeface="Arial" panose="020B0604020202020204" pitchFamily="34" charset="0"/>
                <a:cs typeface="Arial" panose="020B0604020202020204" pitchFamily="34" charset="0"/>
              </a:rPr>
              <a:t>, que cuenta con doble periodicidad espacial y temporal con la característica de transferir energía sin movimiento de masa.</a:t>
            </a:r>
            <a:endParaRPr lang="es-PE" sz="1292" dirty="0">
              <a:solidFill>
                <a:schemeClr val="tx1"/>
              </a:solidFill>
              <a:latin typeface="Arial" panose="020B0604020202020204" pitchFamily="34" charset="0"/>
              <a:cs typeface="Arial" panose="020B0604020202020204" pitchFamily="34" charset="0"/>
            </a:endParaRPr>
          </a:p>
        </p:txBody>
      </p:sp>
      <p:cxnSp>
        <p:nvCxnSpPr>
          <p:cNvPr id="8" name="Conector recto 7"/>
          <p:cNvCxnSpPr>
            <a:stCxn id="24" idx="2"/>
          </p:cNvCxnSpPr>
          <p:nvPr/>
        </p:nvCxnSpPr>
        <p:spPr>
          <a:xfrm>
            <a:off x="6319453" y="3984474"/>
            <a:ext cx="0" cy="861162"/>
          </a:xfrm>
          <a:prstGeom prst="line">
            <a:avLst/>
          </a:prstGeom>
        </p:spPr>
        <p:style>
          <a:lnRef idx="2">
            <a:schemeClr val="dk1"/>
          </a:lnRef>
          <a:fillRef idx="0">
            <a:schemeClr val="dk1"/>
          </a:fillRef>
          <a:effectRef idx="1">
            <a:schemeClr val="dk1"/>
          </a:effectRef>
          <a:fontRef idx="minor">
            <a:schemeClr val="tx1"/>
          </a:fontRef>
        </p:style>
      </p:cxnSp>
      <p:sp>
        <p:nvSpPr>
          <p:cNvPr id="36" name="Rectángulo 35">
            <a:extLst>
              <a:ext uri="{FF2B5EF4-FFF2-40B4-BE49-F238E27FC236}">
                <a16:creationId xmlns="" xmlns:a16="http://schemas.microsoft.com/office/drawing/2014/main" id="{6B0406B6-735E-446A-993D-567F64EC9E37}"/>
              </a:ext>
            </a:extLst>
          </p:cNvPr>
          <p:cNvSpPr/>
          <p:nvPr/>
        </p:nvSpPr>
        <p:spPr>
          <a:xfrm>
            <a:off x="7303931" y="3052352"/>
            <a:ext cx="1405362" cy="910553"/>
          </a:xfrm>
          <a:prstGeom prst="rect">
            <a:avLst/>
          </a:prstGeom>
          <a:solidFill>
            <a:srgbClr val="F9B367"/>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lvl="0" algn="ctr"/>
            <a:r>
              <a:rPr lang="es-PE" sz="1477" b="1" dirty="0" smtClean="0">
                <a:cs typeface="Arial" panose="020B0604020202020204" pitchFamily="34" charset="0"/>
              </a:rPr>
              <a:t>VELOCIDAD DE PROPAGACIÓN DE </a:t>
            </a:r>
            <a:r>
              <a:rPr lang="es-PE" sz="1477" b="1" dirty="0">
                <a:cs typeface="Arial" panose="020B0604020202020204" pitchFamily="34" charset="0"/>
              </a:rPr>
              <a:t>UNA ONDA</a:t>
            </a:r>
          </a:p>
        </p:txBody>
      </p:sp>
    </p:spTree>
    <p:extLst>
      <p:ext uri="{BB962C8B-B14F-4D97-AF65-F5344CB8AC3E}">
        <p14:creationId xmlns:p14="http://schemas.microsoft.com/office/powerpoint/2010/main" val="1921171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18" grpId="0" animBg="1"/>
      <p:bldP spid="20" grpId="0" animBg="1"/>
      <p:bldP spid="21" grpId="0" animBg="1"/>
      <p:bldP spid="22" grpId="0" animBg="1"/>
      <p:bldP spid="24" grpId="0" animBg="1"/>
      <p:bldP spid="33" grpId="0" animBg="1"/>
      <p:bldP spid="19" grpId="0" animBg="1"/>
      <p:bldP spid="17" grpId="0" animBg="1"/>
      <p:bldP spid="36" grpId="0" animBg="1"/>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 Box 7"/>
          <p:cNvSpPr txBox="1">
            <a:spLocks noChangeArrowheads="1"/>
          </p:cNvSpPr>
          <p:nvPr/>
        </p:nvSpPr>
        <p:spPr bwMode="auto">
          <a:xfrm>
            <a:off x="738852" y="1731632"/>
            <a:ext cx="7650162"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defRPr>
                <a:solidFill>
                  <a:schemeClr val="tx1"/>
                </a:solidFill>
                <a:latin typeface="Arial" charset="0"/>
              </a:defRPr>
            </a:lvl6pPr>
            <a:lvl7pPr marL="2971800" indent="-228600" eaLnBrk="0" fontAlgn="base" hangingPunct="0">
              <a:spcBef>
                <a:spcPct val="50000"/>
              </a:spcBef>
              <a:spcAft>
                <a:spcPct val="0"/>
              </a:spcAft>
              <a:defRPr>
                <a:solidFill>
                  <a:schemeClr val="tx1"/>
                </a:solidFill>
                <a:latin typeface="Arial" charset="0"/>
              </a:defRPr>
            </a:lvl7pPr>
            <a:lvl8pPr marL="3429000" indent="-228600" eaLnBrk="0" fontAlgn="base" hangingPunct="0">
              <a:spcBef>
                <a:spcPct val="50000"/>
              </a:spcBef>
              <a:spcAft>
                <a:spcPct val="0"/>
              </a:spcAft>
              <a:defRPr>
                <a:solidFill>
                  <a:schemeClr val="tx1"/>
                </a:solidFill>
                <a:latin typeface="Arial" charset="0"/>
              </a:defRPr>
            </a:lvl8pPr>
            <a:lvl9pPr marL="3886200" indent="-228600" eaLnBrk="0" fontAlgn="base" hangingPunct="0">
              <a:spcBef>
                <a:spcPct val="50000"/>
              </a:spcBef>
              <a:spcAft>
                <a:spcPct val="0"/>
              </a:spcAft>
              <a:defRPr>
                <a:solidFill>
                  <a:schemeClr val="tx1"/>
                </a:solidFill>
                <a:latin typeface="Arial" charset="0"/>
              </a:defRPr>
            </a:lvl9pPr>
          </a:lstStyle>
          <a:p>
            <a:pPr algn="just" eaLnBrk="1" hangingPunct="1">
              <a:spcBef>
                <a:spcPct val="20000"/>
              </a:spcBef>
            </a:pPr>
            <a:r>
              <a:rPr lang="es-ES" b="1" dirty="0" smtClean="0"/>
              <a:t>Una </a:t>
            </a:r>
            <a:r>
              <a:rPr lang="es-ES" b="1" dirty="0"/>
              <a:t>onda es la propagación de la perturbación generada en algún medio </a:t>
            </a:r>
            <a:r>
              <a:rPr lang="es-ES" b="1" dirty="0" smtClean="0"/>
              <a:t>físico, es decir, un medio con propiedades elásticas o deformables con la característica de que traslada energía sin movimiento de masa.</a:t>
            </a:r>
            <a:endParaRPr lang="es-ES" dirty="0"/>
          </a:p>
        </p:txBody>
      </p:sp>
      <p:sp>
        <p:nvSpPr>
          <p:cNvPr id="5" name="Text Box 9"/>
          <p:cNvSpPr txBox="1">
            <a:spLocks noChangeArrowheads="1"/>
          </p:cNvSpPr>
          <p:nvPr/>
        </p:nvSpPr>
        <p:spPr bwMode="auto">
          <a:xfrm>
            <a:off x="720651" y="3055274"/>
            <a:ext cx="139541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defRPr>
                <a:solidFill>
                  <a:schemeClr val="tx1"/>
                </a:solidFill>
                <a:latin typeface="Arial" charset="0"/>
              </a:defRPr>
            </a:lvl6pPr>
            <a:lvl7pPr marL="2971800" indent="-228600" eaLnBrk="0" fontAlgn="base" hangingPunct="0">
              <a:spcBef>
                <a:spcPct val="50000"/>
              </a:spcBef>
              <a:spcAft>
                <a:spcPct val="0"/>
              </a:spcAft>
              <a:defRPr>
                <a:solidFill>
                  <a:schemeClr val="tx1"/>
                </a:solidFill>
                <a:latin typeface="Arial" charset="0"/>
              </a:defRPr>
            </a:lvl7pPr>
            <a:lvl8pPr marL="3429000" indent="-228600" eaLnBrk="0" fontAlgn="base" hangingPunct="0">
              <a:spcBef>
                <a:spcPct val="50000"/>
              </a:spcBef>
              <a:spcAft>
                <a:spcPct val="0"/>
              </a:spcAft>
              <a:defRPr>
                <a:solidFill>
                  <a:schemeClr val="tx1"/>
                </a:solidFill>
                <a:latin typeface="Arial" charset="0"/>
              </a:defRPr>
            </a:lvl8pPr>
            <a:lvl9pPr marL="3886200" indent="-228600" eaLnBrk="0" fontAlgn="base" hangingPunct="0">
              <a:spcBef>
                <a:spcPct val="50000"/>
              </a:spcBef>
              <a:spcAft>
                <a:spcPct val="0"/>
              </a:spcAft>
              <a:defRPr>
                <a:solidFill>
                  <a:schemeClr val="tx1"/>
                </a:solidFill>
                <a:latin typeface="Arial" charset="0"/>
              </a:defRPr>
            </a:lvl9pPr>
          </a:lstStyle>
          <a:p>
            <a:pPr eaLnBrk="1" hangingPunct="1"/>
            <a:r>
              <a:rPr lang="es-ES" b="1" dirty="0"/>
              <a:t>Ejemplos:</a:t>
            </a:r>
          </a:p>
        </p:txBody>
      </p:sp>
      <p:sp>
        <p:nvSpPr>
          <p:cNvPr id="6" name="Text Box 10"/>
          <p:cNvSpPr txBox="1">
            <a:spLocks noChangeArrowheads="1"/>
          </p:cNvSpPr>
          <p:nvPr/>
        </p:nvSpPr>
        <p:spPr bwMode="auto">
          <a:xfrm>
            <a:off x="695827" y="3503742"/>
            <a:ext cx="3465512"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defRPr>
                <a:solidFill>
                  <a:schemeClr val="tx1"/>
                </a:solidFill>
                <a:latin typeface="Arial" charset="0"/>
              </a:defRPr>
            </a:lvl6pPr>
            <a:lvl7pPr marL="2971800" indent="-228600" eaLnBrk="0" fontAlgn="base" hangingPunct="0">
              <a:spcBef>
                <a:spcPct val="50000"/>
              </a:spcBef>
              <a:spcAft>
                <a:spcPct val="0"/>
              </a:spcAft>
              <a:defRPr>
                <a:solidFill>
                  <a:schemeClr val="tx1"/>
                </a:solidFill>
                <a:latin typeface="Arial" charset="0"/>
              </a:defRPr>
            </a:lvl7pPr>
            <a:lvl8pPr marL="3429000" indent="-228600" eaLnBrk="0" fontAlgn="base" hangingPunct="0">
              <a:spcBef>
                <a:spcPct val="50000"/>
              </a:spcBef>
              <a:spcAft>
                <a:spcPct val="0"/>
              </a:spcAft>
              <a:defRPr>
                <a:solidFill>
                  <a:schemeClr val="tx1"/>
                </a:solidFill>
                <a:latin typeface="Arial" charset="0"/>
              </a:defRPr>
            </a:lvl8pPr>
            <a:lvl9pPr marL="3886200" indent="-228600" eaLnBrk="0" fontAlgn="base" hangingPunct="0">
              <a:spcBef>
                <a:spcPct val="50000"/>
              </a:spcBef>
              <a:spcAft>
                <a:spcPct val="0"/>
              </a:spcAft>
              <a:defRPr>
                <a:solidFill>
                  <a:schemeClr val="tx1"/>
                </a:solidFill>
                <a:latin typeface="Arial" charset="0"/>
              </a:defRPr>
            </a:lvl9pPr>
          </a:lstStyle>
          <a:p>
            <a:pPr eaLnBrk="1" hangingPunct="1"/>
            <a:r>
              <a:rPr lang="es-ES" sz="1600" b="1" dirty="0"/>
              <a:t>Figura 1. Ondas generadas al per-turbar el agua de un depósito</a:t>
            </a:r>
          </a:p>
        </p:txBody>
      </p:sp>
      <p:grpSp>
        <p:nvGrpSpPr>
          <p:cNvPr id="2" name="Grupo 1"/>
          <p:cNvGrpSpPr/>
          <p:nvPr/>
        </p:nvGrpSpPr>
        <p:grpSpPr>
          <a:xfrm>
            <a:off x="1259607" y="4490913"/>
            <a:ext cx="1620837" cy="1619250"/>
            <a:chOff x="1476301" y="3996953"/>
            <a:chExt cx="1620837" cy="1619250"/>
          </a:xfrm>
        </p:grpSpPr>
        <p:sp>
          <p:nvSpPr>
            <p:cNvPr id="7" name="Rectangle 12"/>
            <p:cNvSpPr>
              <a:spLocks noChangeArrowheads="1"/>
            </p:cNvSpPr>
            <p:nvPr/>
          </p:nvSpPr>
          <p:spPr bwMode="auto">
            <a:xfrm>
              <a:off x="1476301" y="3996953"/>
              <a:ext cx="1620837" cy="1619250"/>
            </a:xfrm>
            <a:prstGeom prst="rect">
              <a:avLst/>
            </a:prstGeom>
            <a:solidFill>
              <a:srgbClr val="CCECFF"/>
            </a:solidFill>
            <a:ln w="57150" cmpd="thinThick">
              <a:solidFill>
                <a:srgbClr val="996633"/>
              </a:solidFill>
              <a:miter lim="800000"/>
              <a:headEnd/>
              <a:tailEnd/>
            </a:ln>
          </p:spPr>
          <p:txBody>
            <a:bodyPr wrap="none" anchor="ctr"/>
            <a:lstStyle/>
            <a:p>
              <a:endParaRPr lang="es-PE"/>
            </a:p>
          </p:txBody>
        </p:sp>
        <p:sp>
          <p:nvSpPr>
            <p:cNvPr id="8" name="Oval 13"/>
            <p:cNvSpPr>
              <a:spLocks noChangeArrowheads="1"/>
            </p:cNvSpPr>
            <p:nvPr/>
          </p:nvSpPr>
          <p:spPr bwMode="auto">
            <a:xfrm>
              <a:off x="2168451" y="4671640"/>
              <a:ext cx="298450" cy="307975"/>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s-PE"/>
            </a:p>
          </p:txBody>
        </p:sp>
        <p:sp>
          <p:nvSpPr>
            <p:cNvPr id="9" name="Oval 16"/>
            <p:cNvSpPr>
              <a:spLocks noChangeArrowheads="1"/>
            </p:cNvSpPr>
            <p:nvPr/>
          </p:nvSpPr>
          <p:spPr bwMode="auto">
            <a:xfrm>
              <a:off x="2006526" y="4508128"/>
              <a:ext cx="595312" cy="612775"/>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s-PE"/>
            </a:p>
          </p:txBody>
        </p:sp>
        <p:sp>
          <p:nvSpPr>
            <p:cNvPr id="10" name="Oval 18"/>
            <p:cNvSpPr>
              <a:spLocks noChangeArrowheads="1"/>
            </p:cNvSpPr>
            <p:nvPr/>
          </p:nvSpPr>
          <p:spPr bwMode="auto">
            <a:xfrm>
              <a:off x="1846188" y="4357315"/>
              <a:ext cx="890588" cy="917575"/>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s-PE"/>
            </a:p>
          </p:txBody>
        </p:sp>
        <p:sp>
          <p:nvSpPr>
            <p:cNvPr id="11" name="Oval 20"/>
            <p:cNvSpPr>
              <a:spLocks noChangeArrowheads="1"/>
            </p:cNvSpPr>
            <p:nvPr/>
          </p:nvSpPr>
          <p:spPr bwMode="auto">
            <a:xfrm>
              <a:off x="1684263" y="4200153"/>
              <a:ext cx="1187450" cy="1222375"/>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s-PE"/>
            </a:p>
          </p:txBody>
        </p:sp>
        <p:sp>
          <p:nvSpPr>
            <p:cNvPr id="12" name="Oval 22"/>
            <p:cNvSpPr>
              <a:spLocks noChangeArrowheads="1"/>
            </p:cNvSpPr>
            <p:nvPr/>
          </p:nvSpPr>
          <p:spPr bwMode="auto">
            <a:xfrm>
              <a:off x="1522338" y="4041403"/>
              <a:ext cx="1485900" cy="1530350"/>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s-PE"/>
            </a:p>
          </p:txBody>
        </p:sp>
        <p:sp>
          <p:nvSpPr>
            <p:cNvPr id="13" name="Oval 11"/>
            <p:cNvSpPr>
              <a:spLocks noChangeArrowheads="1"/>
            </p:cNvSpPr>
            <p:nvPr/>
          </p:nvSpPr>
          <p:spPr bwMode="auto">
            <a:xfrm>
              <a:off x="2309738" y="4806578"/>
              <a:ext cx="46038" cy="4445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s-PE"/>
            </a:p>
          </p:txBody>
        </p:sp>
      </p:grpSp>
      <p:sp>
        <p:nvSpPr>
          <p:cNvPr id="14" name="Text Box 27"/>
          <p:cNvSpPr txBox="1">
            <a:spLocks noChangeArrowheads="1"/>
          </p:cNvSpPr>
          <p:nvPr/>
        </p:nvSpPr>
        <p:spPr bwMode="auto">
          <a:xfrm>
            <a:off x="4942731" y="3547082"/>
            <a:ext cx="3419475" cy="106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defRPr>
                <a:solidFill>
                  <a:schemeClr val="tx1"/>
                </a:solidFill>
                <a:latin typeface="Arial" charset="0"/>
              </a:defRPr>
            </a:lvl6pPr>
            <a:lvl7pPr marL="2971800" indent="-228600" eaLnBrk="0" fontAlgn="base" hangingPunct="0">
              <a:spcBef>
                <a:spcPct val="50000"/>
              </a:spcBef>
              <a:spcAft>
                <a:spcPct val="0"/>
              </a:spcAft>
              <a:defRPr>
                <a:solidFill>
                  <a:schemeClr val="tx1"/>
                </a:solidFill>
                <a:latin typeface="Arial" charset="0"/>
              </a:defRPr>
            </a:lvl7pPr>
            <a:lvl8pPr marL="3429000" indent="-228600" eaLnBrk="0" fontAlgn="base" hangingPunct="0">
              <a:spcBef>
                <a:spcPct val="50000"/>
              </a:spcBef>
              <a:spcAft>
                <a:spcPct val="0"/>
              </a:spcAft>
              <a:defRPr>
                <a:solidFill>
                  <a:schemeClr val="tx1"/>
                </a:solidFill>
                <a:latin typeface="Arial" charset="0"/>
              </a:defRPr>
            </a:lvl8pPr>
            <a:lvl9pPr marL="3886200" indent="-228600" eaLnBrk="0" fontAlgn="base" hangingPunct="0">
              <a:spcBef>
                <a:spcPct val="50000"/>
              </a:spcBef>
              <a:spcAft>
                <a:spcPct val="0"/>
              </a:spcAft>
              <a:defRPr>
                <a:solidFill>
                  <a:schemeClr val="tx1"/>
                </a:solidFill>
                <a:latin typeface="Arial" charset="0"/>
              </a:defRPr>
            </a:lvl9pPr>
          </a:lstStyle>
          <a:p>
            <a:pPr algn="just" eaLnBrk="1" hangingPunct="1"/>
            <a:r>
              <a:rPr lang="es-ES" sz="1600" b="1" dirty="0"/>
              <a:t>Figura 2. Ondas generadas al mover lateralmente y en forma periódica el extremo libre de una cuerda tensa.</a:t>
            </a:r>
          </a:p>
        </p:txBody>
      </p:sp>
      <p:grpSp>
        <p:nvGrpSpPr>
          <p:cNvPr id="4" name="Grupo 3"/>
          <p:cNvGrpSpPr/>
          <p:nvPr/>
        </p:nvGrpSpPr>
        <p:grpSpPr>
          <a:xfrm>
            <a:off x="4891620" y="4850479"/>
            <a:ext cx="3465512" cy="900117"/>
            <a:chOff x="4895776" y="4311278"/>
            <a:chExt cx="3465512" cy="900117"/>
          </a:xfrm>
        </p:grpSpPr>
        <p:grpSp>
          <p:nvGrpSpPr>
            <p:cNvPr id="15" name="Group 73"/>
            <p:cNvGrpSpPr>
              <a:grpSpLocks/>
            </p:cNvGrpSpPr>
            <p:nvPr/>
          </p:nvGrpSpPr>
          <p:grpSpPr bwMode="auto">
            <a:xfrm>
              <a:off x="4895776" y="4581157"/>
              <a:ext cx="3465512" cy="630238"/>
              <a:chOff x="3163" y="3237"/>
              <a:chExt cx="2183" cy="397"/>
            </a:xfrm>
          </p:grpSpPr>
          <p:sp>
            <p:nvSpPr>
              <p:cNvPr id="16" name="Freeform 69"/>
              <p:cNvSpPr>
                <a:spLocks/>
              </p:cNvSpPr>
              <p:nvPr/>
            </p:nvSpPr>
            <p:spPr bwMode="auto">
              <a:xfrm>
                <a:off x="3475" y="3330"/>
                <a:ext cx="4" cy="233"/>
              </a:xfrm>
              <a:custGeom>
                <a:avLst/>
                <a:gdLst>
                  <a:gd name="T0" fmla="*/ 0 w 4"/>
                  <a:gd name="T1" fmla="*/ 0 h 276"/>
                  <a:gd name="T2" fmla="*/ 4 w 4"/>
                  <a:gd name="T3" fmla="*/ 276 h 276"/>
                  <a:gd name="T4" fmla="*/ 0 60000 65536"/>
                  <a:gd name="T5" fmla="*/ 0 60000 65536"/>
                  <a:gd name="T6" fmla="*/ 0 w 4"/>
                  <a:gd name="T7" fmla="*/ 0 h 276"/>
                  <a:gd name="T8" fmla="*/ 4 w 4"/>
                  <a:gd name="T9" fmla="*/ 276 h 276"/>
                </a:gdLst>
                <a:ahLst/>
                <a:cxnLst>
                  <a:cxn ang="T4">
                    <a:pos x="T0" y="T1"/>
                  </a:cxn>
                  <a:cxn ang="T5">
                    <a:pos x="T2" y="T3"/>
                  </a:cxn>
                </a:cxnLst>
                <a:rect l="T6" t="T7" r="T8" b="T9"/>
                <a:pathLst>
                  <a:path w="4" h="276">
                    <a:moveTo>
                      <a:pt x="0" y="0"/>
                    </a:moveTo>
                    <a:lnTo>
                      <a:pt x="4" y="276"/>
                    </a:lnTo>
                  </a:path>
                </a:pathLst>
              </a:custGeom>
              <a:noFill/>
              <a:ln w="9525">
                <a:solidFill>
                  <a:schemeClr val="bg1"/>
                </a:solidFill>
                <a:prstDash val="dash"/>
                <a:round/>
                <a:headEnd type="triangle" w="sm" len="sm"/>
                <a:tailEnd type="triangle" w="sm" len="sm"/>
              </a:ln>
              <a:extLst>
                <a:ext uri="{909E8E84-426E-40DD-AFC4-6F175D3DCCD1}">
                  <a14:hiddenFill xmlns:a14="http://schemas.microsoft.com/office/drawing/2010/main">
                    <a:solidFill>
                      <a:srgbClr val="FFFFFF"/>
                    </a:solidFill>
                  </a14:hiddenFill>
                </a:ext>
              </a:extLst>
            </p:spPr>
            <p:txBody>
              <a:bodyPr>
                <a:spAutoFit/>
              </a:bodyPr>
              <a:lstStyle/>
              <a:p>
                <a:endParaRPr lang="es-PE"/>
              </a:p>
            </p:txBody>
          </p:sp>
          <p:grpSp>
            <p:nvGrpSpPr>
              <p:cNvPr id="17" name="Group 72"/>
              <p:cNvGrpSpPr>
                <a:grpSpLocks/>
              </p:cNvGrpSpPr>
              <p:nvPr/>
            </p:nvGrpSpPr>
            <p:grpSpPr bwMode="auto">
              <a:xfrm>
                <a:off x="3163" y="3237"/>
                <a:ext cx="2183" cy="397"/>
                <a:chOff x="3163" y="3237"/>
                <a:chExt cx="2183" cy="397"/>
              </a:xfrm>
            </p:grpSpPr>
            <p:sp>
              <p:nvSpPr>
                <p:cNvPr id="18" name="Line 68"/>
                <p:cNvSpPr>
                  <a:spLocks noChangeShapeType="1"/>
                </p:cNvSpPr>
                <p:nvPr/>
              </p:nvSpPr>
              <p:spPr bwMode="auto">
                <a:xfrm flipV="1">
                  <a:off x="3475" y="3469"/>
                  <a:ext cx="397" cy="165"/>
                </a:xfrm>
                <a:prstGeom prst="line">
                  <a:avLst/>
                </a:prstGeom>
                <a:noFill/>
                <a:ln w="57150">
                  <a:solidFill>
                    <a:srgbClr val="FF9900"/>
                  </a:solidFill>
                  <a:prstDash val="sysDot"/>
                  <a:round/>
                  <a:headEnd/>
                  <a:tailEnd/>
                </a:ln>
                <a:extLst>
                  <a:ext uri="{909E8E84-426E-40DD-AFC4-6F175D3DCCD1}">
                    <a14:hiddenFill xmlns:a14="http://schemas.microsoft.com/office/drawing/2010/main">
                      <a:noFill/>
                    </a14:hiddenFill>
                  </a:ext>
                </a:extLst>
              </p:spPr>
              <p:txBody>
                <a:bodyPr>
                  <a:spAutoFit/>
                </a:bodyPr>
                <a:lstStyle/>
                <a:p>
                  <a:endParaRPr lang="es-ES"/>
                </a:p>
              </p:txBody>
            </p:sp>
            <p:sp>
              <p:nvSpPr>
                <p:cNvPr id="19" name="Line 67"/>
                <p:cNvSpPr>
                  <a:spLocks noChangeShapeType="1"/>
                </p:cNvSpPr>
                <p:nvPr/>
              </p:nvSpPr>
              <p:spPr bwMode="auto">
                <a:xfrm>
                  <a:off x="3475" y="3299"/>
                  <a:ext cx="397" cy="165"/>
                </a:xfrm>
                <a:prstGeom prst="line">
                  <a:avLst/>
                </a:prstGeom>
                <a:noFill/>
                <a:ln w="57150">
                  <a:solidFill>
                    <a:srgbClr val="FF9900"/>
                  </a:solidFill>
                  <a:prstDash val="sysDot"/>
                  <a:round/>
                  <a:headEnd/>
                  <a:tailEnd/>
                </a:ln>
                <a:extLst>
                  <a:ext uri="{909E8E84-426E-40DD-AFC4-6F175D3DCCD1}">
                    <a14:hiddenFill xmlns:a14="http://schemas.microsoft.com/office/drawing/2010/main">
                      <a:noFill/>
                    </a14:hiddenFill>
                  </a:ext>
                </a:extLst>
              </p:spPr>
              <p:txBody>
                <a:bodyPr>
                  <a:spAutoFit/>
                </a:bodyPr>
                <a:lstStyle/>
                <a:p>
                  <a:endParaRPr lang="es-ES"/>
                </a:p>
              </p:txBody>
            </p:sp>
            <p:grpSp>
              <p:nvGrpSpPr>
                <p:cNvPr id="20" name="Group 71"/>
                <p:cNvGrpSpPr>
                  <a:grpSpLocks/>
                </p:cNvGrpSpPr>
                <p:nvPr/>
              </p:nvGrpSpPr>
              <p:grpSpPr bwMode="auto">
                <a:xfrm>
                  <a:off x="3163" y="3273"/>
                  <a:ext cx="2183" cy="333"/>
                  <a:chOff x="3163" y="3273"/>
                  <a:chExt cx="2183" cy="333"/>
                </a:xfrm>
              </p:grpSpPr>
              <p:sp>
                <p:nvSpPr>
                  <p:cNvPr id="22" name="Rectangle 30" descr="Diagonal hacia arriba oscura"/>
                  <p:cNvSpPr>
                    <a:spLocks noChangeArrowheads="1"/>
                  </p:cNvSpPr>
                  <p:nvPr/>
                </p:nvSpPr>
                <p:spPr bwMode="auto">
                  <a:xfrm>
                    <a:off x="5261" y="3299"/>
                    <a:ext cx="85" cy="307"/>
                  </a:xfrm>
                  <a:prstGeom prst="rect">
                    <a:avLst/>
                  </a:prstGeom>
                  <a:pattFill prst="dkUpDiag">
                    <a:fgClr>
                      <a:srgbClr val="996633"/>
                    </a:fgClr>
                    <a:bgClr>
                      <a:schemeClr val="bg1"/>
                    </a:bgClr>
                  </a:pattFill>
                  <a:ln w="9525">
                    <a:solidFill>
                      <a:srgbClr val="996633"/>
                    </a:solidFill>
                    <a:miter lim="800000"/>
                    <a:headEnd/>
                    <a:tailEnd/>
                  </a:ln>
                </p:spPr>
                <p:txBody>
                  <a:bodyPr wrap="none" anchor="ctr"/>
                  <a:lstStyle/>
                  <a:p>
                    <a:endParaRPr lang="es-PE"/>
                  </a:p>
                </p:txBody>
              </p:sp>
              <p:sp>
                <p:nvSpPr>
                  <p:cNvPr id="23" name="Line 40"/>
                  <p:cNvSpPr>
                    <a:spLocks noChangeShapeType="1"/>
                  </p:cNvSpPr>
                  <p:nvPr/>
                </p:nvSpPr>
                <p:spPr bwMode="auto">
                  <a:xfrm>
                    <a:off x="3163" y="3465"/>
                    <a:ext cx="312" cy="0"/>
                  </a:xfrm>
                  <a:prstGeom prst="line">
                    <a:avLst/>
                  </a:prstGeom>
                  <a:noFill/>
                  <a:ln w="38100">
                    <a:solidFill>
                      <a:srgbClr val="00FFFF"/>
                    </a:solidFill>
                    <a:round/>
                    <a:headEnd type="triangle" w="med" len="med"/>
                    <a:tailEnd/>
                  </a:ln>
                  <a:extLst>
                    <a:ext uri="{909E8E84-426E-40DD-AFC4-6F175D3DCCD1}">
                      <a14:hiddenFill xmlns:a14="http://schemas.microsoft.com/office/drawing/2010/main">
                        <a:noFill/>
                      </a14:hiddenFill>
                    </a:ext>
                  </a:extLst>
                </p:spPr>
                <p:txBody>
                  <a:bodyPr/>
                  <a:lstStyle/>
                  <a:p>
                    <a:endParaRPr lang="es-ES"/>
                  </a:p>
                </p:txBody>
              </p:sp>
              <p:sp>
                <p:nvSpPr>
                  <p:cNvPr id="24" name="Line 55"/>
                  <p:cNvSpPr>
                    <a:spLocks noChangeShapeType="1"/>
                  </p:cNvSpPr>
                  <p:nvPr/>
                </p:nvSpPr>
                <p:spPr bwMode="auto">
                  <a:xfrm>
                    <a:off x="3475" y="3464"/>
                    <a:ext cx="1786" cy="3"/>
                  </a:xfrm>
                  <a:prstGeom prst="line">
                    <a:avLst/>
                  </a:prstGeom>
                  <a:noFill/>
                  <a:ln w="38100">
                    <a:solidFill>
                      <a:schemeClr val="bg1"/>
                    </a:solidFill>
                    <a:prstDash val="sysDot"/>
                    <a:round/>
                    <a:headEnd/>
                    <a:tailEnd/>
                  </a:ln>
                  <a:extLst>
                    <a:ext uri="{909E8E84-426E-40DD-AFC4-6F175D3DCCD1}">
                      <a14:hiddenFill xmlns:a14="http://schemas.microsoft.com/office/drawing/2010/main">
                        <a:noFill/>
                      </a14:hiddenFill>
                    </a:ext>
                  </a:extLst>
                </p:spPr>
                <p:txBody>
                  <a:bodyPr/>
                  <a:lstStyle/>
                  <a:p>
                    <a:endParaRPr lang="es-ES"/>
                  </a:p>
                </p:txBody>
              </p:sp>
              <p:sp>
                <p:nvSpPr>
                  <p:cNvPr id="25" name="Freeform 62"/>
                  <p:cNvSpPr>
                    <a:spLocks/>
                  </p:cNvSpPr>
                  <p:nvPr/>
                </p:nvSpPr>
                <p:spPr bwMode="auto">
                  <a:xfrm>
                    <a:off x="3475" y="3273"/>
                    <a:ext cx="1784" cy="233"/>
                  </a:xfrm>
                  <a:custGeom>
                    <a:avLst/>
                    <a:gdLst>
                      <a:gd name="T0" fmla="*/ 0 w 1784"/>
                      <a:gd name="T1" fmla="*/ 191 h 372"/>
                      <a:gd name="T2" fmla="*/ 377 w 1784"/>
                      <a:gd name="T3" fmla="*/ 180 h 372"/>
                      <a:gd name="T4" fmla="*/ 599 w 1784"/>
                      <a:gd name="T5" fmla="*/ 27 h 372"/>
                      <a:gd name="T6" fmla="*/ 872 w 1784"/>
                      <a:gd name="T7" fmla="*/ 345 h 372"/>
                      <a:gd name="T8" fmla="*/ 1142 w 1784"/>
                      <a:gd name="T9" fmla="*/ 27 h 372"/>
                      <a:gd name="T10" fmla="*/ 1385 w 1784"/>
                      <a:gd name="T11" fmla="*/ 342 h 372"/>
                      <a:gd name="T12" fmla="*/ 1571 w 1784"/>
                      <a:gd name="T13" fmla="*/ 204 h 372"/>
                      <a:gd name="T14" fmla="*/ 1637 w 1784"/>
                      <a:gd name="T15" fmla="*/ 189 h 372"/>
                      <a:gd name="T16" fmla="*/ 1784 w 1784"/>
                      <a:gd name="T17" fmla="*/ 189 h 37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84"/>
                      <a:gd name="T28" fmla="*/ 0 h 372"/>
                      <a:gd name="T29" fmla="*/ 1784 w 1784"/>
                      <a:gd name="T30" fmla="*/ 372 h 37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84" h="372">
                        <a:moveTo>
                          <a:pt x="0" y="191"/>
                        </a:moveTo>
                        <a:cubicBezTo>
                          <a:pt x="63" y="189"/>
                          <a:pt x="277" y="207"/>
                          <a:pt x="377" y="180"/>
                        </a:cubicBezTo>
                        <a:cubicBezTo>
                          <a:pt x="477" y="153"/>
                          <a:pt x="517" y="0"/>
                          <a:pt x="599" y="27"/>
                        </a:cubicBezTo>
                        <a:cubicBezTo>
                          <a:pt x="681" y="54"/>
                          <a:pt x="782" y="345"/>
                          <a:pt x="872" y="345"/>
                        </a:cubicBezTo>
                        <a:cubicBezTo>
                          <a:pt x="962" y="345"/>
                          <a:pt x="1057" y="27"/>
                          <a:pt x="1142" y="27"/>
                        </a:cubicBezTo>
                        <a:cubicBezTo>
                          <a:pt x="1227" y="27"/>
                          <a:pt x="1313" y="312"/>
                          <a:pt x="1385" y="342"/>
                        </a:cubicBezTo>
                        <a:cubicBezTo>
                          <a:pt x="1457" y="372"/>
                          <a:pt x="1529" y="229"/>
                          <a:pt x="1571" y="204"/>
                        </a:cubicBezTo>
                        <a:cubicBezTo>
                          <a:pt x="1613" y="179"/>
                          <a:pt x="1602" y="191"/>
                          <a:pt x="1637" y="189"/>
                        </a:cubicBezTo>
                        <a:cubicBezTo>
                          <a:pt x="1672" y="187"/>
                          <a:pt x="1754" y="189"/>
                          <a:pt x="1784" y="189"/>
                        </a:cubicBezTo>
                      </a:path>
                    </a:pathLst>
                  </a:custGeom>
                  <a:noFill/>
                  <a:ln w="57150">
                    <a:pattFill prst="shingle">
                      <a:fgClr>
                        <a:schemeClr val="bg1"/>
                      </a:fgClr>
                      <a:bgClr>
                        <a:srgbClr val="FF9900"/>
                      </a:bgClr>
                    </a:pattFill>
                    <a:round/>
                    <a:headEnd/>
                    <a:tailEnd/>
                  </a:ln>
                  <a:extLst>
                    <a:ext uri="{909E8E84-426E-40DD-AFC4-6F175D3DCCD1}">
                      <a14:hiddenFill xmlns:a14="http://schemas.microsoft.com/office/drawing/2010/main">
                        <a:solidFill>
                          <a:srgbClr val="FFFFFF"/>
                        </a:solidFill>
                      </a14:hiddenFill>
                    </a:ext>
                  </a:extLst>
                </p:spPr>
                <p:txBody>
                  <a:bodyPr>
                    <a:spAutoFit/>
                  </a:bodyPr>
                  <a:lstStyle/>
                  <a:p>
                    <a:endParaRPr lang="es-PE"/>
                  </a:p>
                </p:txBody>
              </p:sp>
            </p:grpSp>
            <p:sp>
              <p:nvSpPr>
                <p:cNvPr id="21" name="Text Box 65"/>
                <p:cNvSpPr txBox="1">
                  <a:spLocks noChangeArrowheads="1"/>
                </p:cNvSpPr>
                <p:nvPr/>
              </p:nvSpPr>
              <p:spPr bwMode="auto">
                <a:xfrm>
                  <a:off x="3192" y="3237"/>
                  <a:ext cx="2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defRPr>
                      <a:solidFill>
                        <a:schemeClr val="tx1"/>
                      </a:solidFill>
                      <a:latin typeface="Arial" charset="0"/>
                    </a:defRPr>
                  </a:lvl6pPr>
                  <a:lvl7pPr marL="2971800" indent="-228600" eaLnBrk="0" fontAlgn="base" hangingPunct="0">
                    <a:spcBef>
                      <a:spcPct val="50000"/>
                    </a:spcBef>
                    <a:spcAft>
                      <a:spcPct val="0"/>
                    </a:spcAft>
                    <a:defRPr>
                      <a:solidFill>
                        <a:schemeClr val="tx1"/>
                      </a:solidFill>
                      <a:latin typeface="Arial" charset="0"/>
                    </a:defRPr>
                  </a:lvl7pPr>
                  <a:lvl8pPr marL="3429000" indent="-228600" eaLnBrk="0" fontAlgn="base" hangingPunct="0">
                    <a:spcBef>
                      <a:spcPct val="50000"/>
                    </a:spcBef>
                    <a:spcAft>
                      <a:spcPct val="0"/>
                    </a:spcAft>
                    <a:defRPr>
                      <a:solidFill>
                        <a:schemeClr val="tx1"/>
                      </a:solidFill>
                      <a:latin typeface="Arial" charset="0"/>
                    </a:defRPr>
                  </a:lvl8pPr>
                  <a:lvl9pPr marL="3886200" indent="-228600" eaLnBrk="0" fontAlgn="base" hangingPunct="0">
                    <a:spcBef>
                      <a:spcPct val="50000"/>
                    </a:spcBef>
                    <a:spcAft>
                      <a:spcPct val="0"/>
                    </a:spcAft>
                    <a:defRPr>
                      <a:solidFill>
                        <a:schemeClr val="tx1"/>
                      </a:solidFill>
                      <a:latin typeface="Arial" charset="0"/>
                    </a:defRPr>
                  </a:lvl9pPr>
                </a:lstStyle>
                <a:p>
                  <a:pPr eaLnBrk="1" hangingPunct="1">
                    <a:spcBef>
                      <a:spcPct val="0"/>
                    </a:spcBef>
                  </a:pPr>
                  <a:r>
                    <a:rPr lang="es-ES" b="1"/>
                    <a:t>F</a:t>
                  </a:r>
                </a:p>
              </p:txBody>
            </p:sp>
          </p:grpSp>
        </p:grpSp>
        <p:grpSp>
          <p:nvGrpSpPr>
            <p:cNvPr id="26" name="Group 74"/>
            <p:cNvGrpSpPr>
              <a:grpSpLocks/>
            </p:cNvGrpSpPr>
            <p:nvPr/>
          </p:nvGrpSpPr>
          <p:grpSpPr bwMode="auto">
            <a:xfrm>
              <a:off x="5256138" y="4311278"/>
              <a:ext cx="449263" cy="366712"/>
              <a:chOff x="4666" y="3149"/>
              <a:chExt cx="283" cy="231"/>
            </a:xfrm>
          </p:grpSpPr>
          <p:sp>
            <p:nvSpPr>
              <p:cNvPr id="27" name="Line 56"/>
              <p:cNvSpPr>
                <a:spLocks noChangeShapeType="1"/>
              </p:cNvSpPr>
              <p:nvPr/>
            </p:nvSpPr>
            <p:spPr bwMode="auto">
              <a:xfrm>
                <a:off x="4666" y="3362"/>
                <a:ext cx="283" cy="0"/>
              </a:xfrm>
              <a:prstGeom prst="line">
                <a:avLst/>
              </a:prstGeom>
              <a:noFill/>
              <a:ln w="38100">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es-ES"/>
              </a:p>
            </p:txBody>
          </p:sp>
          <p:sp>
            <p:nvSpPr>
              <p:cNvPr id="28" name="Text Box 57"/>
              <p:cNvSpPr txBox="1">
                <a:spLocks noChangeArrowheads="1"/>
              </p:cNvSpPr>
              <p:nvPr/>
            </p:nvSpPr>
            <p:spPr bwMode="auto">
              <a:xfrm>
                <a:off x="4694" y="3149"/>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defRPr>
                    <a:solidFill>
                      <a:schemeClr val="tx1"/>
                    </a:solidFill>
                    <a:latin typeface="Arial" charset="0"/>
                  </a:defRPr>
                </a:lvl6pPr>
                <a:lvl7pPr marL="2971800" indent="-228600" eaLnBrk="0" fontAlgn="base" hangingPunct="0">
                  <a:spcBef>
                    <a:spcPct val="50000"/>
                  </a:spcBef>
                  <a:spcAft>
                    <a:spcPct val="0"/>
                  </a:spcAft>
                  <a:defRPr>
                    <a:solidFill>
                      <a:schemeClr val="tx1"/>
                    </a:solidFill>
                    <a:latin typeface="Arial" charset="0"/>
                  </a:defRPr>
                </a:lvl7pPr>
                <a:lvl8pPr marL="3429000" indent="-228600" eaLnBrk="0" fontAlgn="base" hangingPunct="0">
                  <a:spcBef>
                    <a:spcPct val="50000"/>
                  </a:spcBef>
                  <a:spcAft>
                    <a:spcPct val="0"/>
                  </a:spcAft>
                  <a:defRPr>
                    <a:solidFill>
                      <a:schemeClr val="tx1"/>
                    </a:solidFill>
                    <a:latin typeface="Arial" charset="0"/>
                  </a:defRPr>
                </a:lvl8pPr>
                <a:lvl9pPr marL="3886200" indent="-228600" eaLnBrk="0" fontAlgn="base" hangingPunct="0">
                  <a:spcBef>
                    <a:spcPct val="50000"/>
                  </a:spcBef>
                  <a:spcAft>
                    <a:spcPct val="0"/>
                  </a:spcAft>
                  <a:defRPr>
                    <a:solidFill>
                      <a:schemeClr val="tx1"/>
                    </a:solidFill>
                    <a:latin typeface="Arial" charset="0"/>
                  </a:defRPr>
                </a:lvl9pPr>
              </a:lstStyle>
              <a:p>
                <a:pPr eaLnBrk="1" hangingPunct="1">
                  <a:spcBef>
                    <a:spcPct val="0"/>
                  </a:spcBef>
                </a:pPr>
                <a:r>
                  <a:rPr lang="es-ES" b="1"/>
                  <a:t>v</a:t>
                </a:r>
              </a:p>
            </p:txBody>
          </p:sp>
        </p:grpSp>
      </p:grpSp>
      <p:sp>
        <p:nvSpPr>
          <p:cNvPr id="31" name="30 CuadroTexto"/>
          <p:cNvSpPr txBox="1"/>
          <p:nvPr/>
        </p:nvSpPr>
        <p:spPr>
          <a:xfrm>
            <a:off x="1972784" y="839223"/>
            <a:ext cx="4016741" cy="477054"/>
          </a:xfrm>
          <a:prstGeom prst="rect">
            <a:avLst/>
          </a:prstGeom>
          <a:noFill/>
        </p:spPr>
        <p:txBody>
          <a:bodyPr wrap="none" rtlCol="0">
            <a:spAutoFit/>
          </a:bodyPr>
          <a:lstStyle/>
          <a:p>
            <a:r>
              <a:rPr lang="es-PE" sz="2500" dirty="0" smtClean="0"/>
              <a:t>MOVIMIENTO ONDULATORIO</a:t>
            </a:r>
            <a:endParaRPr lang="es-ES" sz="2500" dirty="0"/>
          </a:p>
        </p:txBody>
      </p:sp>
    </p:spTree>
    <p:extLst>
      <p:ext uri="{BB962C8B-B14F-4D97-AF65-F5344CB8AC3E}">
        <p14:creationId xmlns:p14="http://schemas.microsoft.com/office/powerpoint/2010/main" val="1576320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ox(i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ox(i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ox(in)">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box(in)">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P spid="14" grpId="0"/>
    </p:bld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 Box 5"/>
          <p:cNvSpPr txBox="1">
            <a:spLocks noChangeArrowheads="1"/>
          </p:cNvSpPr>
          <p:nvPr/>
        </p:nvSpPr>
        <p:spPr bwMode="auto">
          <a:xfrm>
            <a:off x="1928972" y="1004034"/>
            <a:ext cx="50863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defRPr>
                <a:solidFill>
                  <a:schemeClr val="tx1"/>
                </a:solidFill>
                <a:latin typeface="Arial" charset="0"/>
              </a:defRPr>
            </a:lvl6pPr>
            <a:lvl7pPr marL="2971800" indent="-228600" eaLnBrk="0" fontAlgn="base" hangingPunct="0">
              <a:spcBef>
                <a:spcPct val="50000"/>
              </a:spcBef>
              <a:spcAft>
                <a:spcPct val="0"/>
              </a:spcAft>
              <a:defRPr>
                <a:solidFill>
                  <a:schemeClr val="tx1"/>
                </a:solidFill>
                <a:latin typeface="Arial" charset="0"/>
              </a:defRPr>
            </a:lvl7pPr>
            <a:lvl8pPr marL="3429000" indent="-228600" eaLnBrk="0" fontAlgn="base" hangingPunct="0">
              <a:spcBef>
                <a:spcPct val="50000"/>
              </a:spcBef>
              <a:spcAft>
                <a:spcPct val="0"/>
              </a:spcAft>
              <a:defRPr>
                <a:solidFill>
                  <a:schemeClr val="tx1"/>
                </a:solidFill>
                <a:latin typeface="Arial" charset="0"/>
              </a:defRPr>
            </a:lvl8pPr>
            <a:lvl9pPr marL="3886200" indent="-228600" eaLnBrk="0" fontAlgn="base" hangingPunct="0">
              <a:spcBef>
                <a:spcPct val="50000"/>
              </a:spcBef>
              <a:spcAft>
                <a:spcPct val="0"/>
              </a:spcAft>
              <a:defRPr>
                <a:solidFill>
                  <a:schemeClr val="tx1"/>
                </a:solidFill>
                <a:latin typeface="Arial" charset="0"/>
              </a:defRPr>
            </a:lvl9pPr>
          </a:lstStyle>
          <a:p>
            <a:pPr eaLnBrk="1" hangingPunct="1"/>
            <a:r>
              <a:rPr lang="es-ES" b="1" dirty="0"/>
              <a:t>Para generar ondas mecánicas se requiere:</a:t>
            </a:r>
          </a:p>
        </p:txBody>
      </p:sp>
      <p:grpSp>
        <p:nvGrpSpPr>
          <p:cNvPr id="4" name="Group 6"/>
          <p:cNvGrpSpPr>
            <a:grpSpLocks/>
          </p:cNvGrpSpPr>
          <p:nvPr/>
        </p:nvGrpSpPr>
        <p:grpSpPr bwMode="auto">
          <a:xfrm>
            <a:off x="467544" y="1988840"/>
            <a:ext cx="5219700" cy="373063"/>
            <a:chOff x="584" y="2160"/>
            <a:chExt cx="3288" cy="235"/>
          </a:xfrm>
        </p:grpSpPr>
        <p:sp>
          <p:nvSpPr>
            <p:cNvPr id="5" name="Text Box 7"/>
            <p:cNvSpPr txBox="1">
              <a:spLocks noChangeArrowheads="1"/>
            </p:cNvSpPr>
            <p:nvPr/>
          </p:nvSpPr>
          <p:spPr bwMode="auto">
            <a:xfrm>
              <a:off x="810" y="2164"/>
              <a:ext cx="306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defRPr>
                  <a:solidFill>
                    <a:schemeClr val="tx1"/>
                  </a:solidFill>
                  <a:latin typeface="Arial" charset="0"/>
                </a:defRPr>
              </a:lvl6pPr>
              <a:lvl7pPr marL="2971800" indent="-228600" eaLnBrk="0" fontAlgn="base" hangingPunct="0">
                <a:spcBef>
                  <a:spcPct val="50000"/>
                </a:spcBef>
                <a:spcAft>
                  <a:spcPct val="0"/>
                </a:spcAft>
                <a:defRPr>
                  <a:solidFill>
                    <a:schemeClr val="tx1"/>
                  </a:solidFill>
                  <a:latin typeface="Arial" charset="0"/>
                </a:defRPr>
              </a:lvl7pPr>
              <a:lvl8pPr marL="3429000" indent="-228600" eaLnBrk="0" fontAlgn="base" hangingPunct="0">
                <a:spcBef>
                  <a:spcPct val="50000"/>
                </a:spcBef>
                <a:spcAft>
                  <a:spcPct val="0"/>
                </a:spcAft>
                <a:defRPr>
                  <a:solidFill>
                    <a:schemeClr val="tx1"/>
                  </a:solidFill>
                  <a:latin typeface="Arial" charset="0"/>
                </a:defRPr>
              </a:lvl8pPr>
              <a:lvl9pPr marL="3886200" indent="-228600" eaLnBrk="0" fontAlgn="base" hangingPunct="0">
                <a:spcBef>
                  <a:spcPct val="50000"/>
                </a:spcBef>
                <a:spcAft>
                  <a:spcPct val="0"/>
                </a:spcAft>
                <a:defRPr>
                  <a:solidFill>
                    <a:schemeClr val="tx1"/>
                  </a:solidFill>
                  <a:latin typeface="Arial" charset="0"/>
                </a:defRPr>
              </a:lvl9pPr>
            </a:lstStyle>
            <a:p>
              <a:pPr eaLnBrk="1" hangingPunct="1"/>
              <a:r>
                <a:rPr lang="es-ES" b="1" dirty="0"/>
                <a:t>Una fuente generadora de la perturbación.</a:t>
              </a:r>
            </a:p>
          </p:txBody>
        </p:sp>
        <p:sp>
          <p:nvSpPr>
            <p:cNvPr id="6" name="Text Box 8"/>
            <p:cNvSpPr txBox="1">
              <a:spLocks noChangeArrowheads="1"/>
            </p:cNvSpPr>
            <p:nvPr/>
          </p:nvSpPr>
          <p:spPr bwMode="auto">
            <a:xfrm>
              <a:off x="584" y="2160"/>
              <a:ext cx="3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defRPr>
                  <a:solidFill>
                    <a:schemeClr val="tx1"/>
                  </a:solidFill>
                  <a:latin typeface="Arial" charset="0"/>
                </a:defRPr>
              </a:lvl6pPr>
              <a:lvl7pPr marL="2971800" indent="-228600" eaLnBrk="0" fontAlgn="base" hangingPunct="0">
                <a:spcBef>
                  <a:spcPct val="50000"/>
                </a:spcBef>
                <a:spcAft>
                  <a:spcPct val="0"/>
                </a:spcAft>
                <a:defRPr>
                  <a:solidFill>
                    <a:schemeClr val="tx1"/>
                  </a:solidFill>
                  <a:latin typeface="Arial" charset="0"/>
                </a:defRPr>
              </a:lvl7pPr>
              <a:lvl8pPr marL="3429000" indent="-228600" eaLnBrk="0" fontAlgn="base" hangingPunct="0">
                <a:spcBef>
                  <a:spcPct val="50000"/>
                </a:spcBef>
                <a:spcAft>
                  <a:spcPct val="0"/>
                </a:spcAft>
                <a:defRPr>
                  <a:solidFill>
                    <a:schemeClr val="tx1"/>
                  </a:solidFill>
                  <a:latin typeface="Arial" charset="0"/>
                </a:defRPr>
              </a:lvl8pPr>
              <a:lvl9pPr marL="3886200" indent="-228600" eaLnBrk="0" fontAlgn="base" hangingPunct="0">
                <a:spcBef>
                  <a:spcPct val="50000"/>
                </a:spcBef>
                <a:spcAft>
                  <a:spcPct val="0"/>
                </a:spcAft>
                <a:defRPr>
                  <a:solidFill>
                    <a:schemeClr val="tx1"/>
                  </a:solidFill>
                  <a:latin typeface="Arial" charset="0"/>
                </a:defRPr>
              </a:lvl9pPr>
            </a:lstStyle>
            <a:p>
              <a:pPr eaLnBrk="1" hangingPunct="1"/>
              <a:r>
                <a:rPr lang="es-ES" b="1"/>
                <a:t>1.-</a:t>
              </a:r>
            </a:p>
          </p:txBody>
        </p:sp>
      </p:grpSp>
      <p:grpSp>
        <p:nvGrpSpPr>
          <p:cNvPr id="7" name="Group 9"/>
          <p:cNvGrpSpPr>
            <a:grpSpLocks/>
          </p:cNvGrpSpPr>
          <p:nvPr/>
        </p:nvGrpSpPr>
        <p:grpSpPr bwMode="auto">
          <a:xfrm>
            <a:off x="467544" y="2336503"/>
            <a:ext cx="5219700" cy="373062"/>
            <a:chOff x="584" y="2160"/>
            <a:chExt cx="3288" cy="235"/>
          </a:xfrm>
        </p:grpSpPr>
        <p:sp>
          <p:nvSpPr>
            <p:cNvPr id="8" name="Text Box 10"/>
            <p:cNvSpPr txBox="1">
              <a:spLocks noChangeArrowheads="1"/>
            </p:cNvSpPr>
            <p:nvPr/>
          </p:nvSpPr>
          <p:spPr bwMode="auto">
            <a:xfrm>
              <a:off x="810" y="2164"/>
              <a:ext cx="306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defRPr>
                  <a:solidFill>
                    <a:schemeClr val="tx1"/>
                  </a:solidFill>
                  <a:latin typeface="Arial" charset="0"/>
                </a:defRPr>
              </a:lvl6pPr>
              <a:lvl7pPr marL="2971800" indent="-228600" eaLnBrk="0" fontAlgn="base" hangingPunct="0">
                <a:spcBef>
                  <a:spcPct val="50000"/>
                </a:spcBef>
                <a:spcAft>
                  <a:spcPct val="0"/>
                </a:spcAft>
                <a:defRPr>
                  <a:solidFill>
                    <a:schemeClr val="tx1"/>
                  </a:solidFill>
                  <a:latin typeface="Arial" charset="0"/>
                </a:defRPr>
              </a:lvl7pPr>
              <a:lvl8pPr marL="3429000" indent="-228600" eaLnBrk="0" fontAlgn="base" hangingPunct="0">
                <a:spcBef>
                  <a:spcPct val="50000"/>
                </a:spcBef>
                <a:spcAft>
                  <a:spcPct val="0"/>
                </a:spcAft>
                <a:defRPr>
                  <a:solidFill>
                    <a:schemeClr val="tx1"/>
                  </a:solidFill>
                  <a:latin typeface="Arial" charset="0"/>
                </a:defRPr>
              </a:lvl8pPr>
              <a:lvl9pPr marL="3886200" indent="-228600" eaLnBrk="0" fontAlgn="base" hangingPunct="0">
                <a:spcBef>
                  <a:spcPct val="50000"/>
                </a:spcBef>
                <a:spcAft>
                  <a:spcPct val="0"/>
                </a:spcAft>
                <a:defRPr>
                  <a:solidFill>
                    <a:schemeClr val="tx1"/>
                  </a:solidFill>
                  <a:latin typeface="Arial" charset="0"/>
                </a:defRPr>
              </a:lvl9pPr>
            </a:lstStyle>
            <a:p>
              <a:pPr eaLnBrk="1" hangingPunct="1"/>
              <a:r>
                <a:rPr lang="es-ES" b="1" dirty="0"/>
                <a:t>Un medio elástico que pueda perturbarse</a:t>
              </a:r>
            </a:p>
          </p:txBody>
        </p:sp>
        <p:sp>
          <p:nvSpPr>
            <p:cNvPr id="9" name="Text Box 11"/>
            <p:cNvSpPr txBox="1">
              <a:spLocks noChangeArrowheads="1"/>
            </p:cNvSpPr>
            <p:nvPr/>
          </p:nvSpPr>
          <p:spPr bwMode="auto">
            <a:xfrm>
              <a:off x="584" y="2160"/>
              <a:ext cx="3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defRPr>
                  <a:solidFill>
                    <a:schemeClr val="tx1"/>
                  </a:solidFill>
                  <a:latin typeface="Arial" charset="0"/>
                </a:defRPr>
              </a:lvl6pPr>
              <a:lvl7pPr marL="2971800" indent="-228600" eaLnBrk="0" fontAlgn="base" hangingPunct="0">
                <a:spcBef>
                  <a:spcPct val="50000"/>
                </a:spcBef>
                <a:spcAft>
                  <a:spcPct val="0"/>
                </a:spcAft>
                <a:defRPr>
                  <a:solidFill>
                    <a:schemeClr val="tx1"/>
                  </a:solidFill>
                  <a:latin typeface="Arial" charset="0"/>
                </a:defRPr>
              </a:lvl7pPr>
              <a:lvl8pPr marL="3429000" indent="-228600" eaLnBrk="0" fontAlgn="base" hangingPunct="0">
                <a:spcBef>
                  <a:spcPct val="50000"/>
                </a:spcBef>
                <a:spcAft>
                  <a:spcPct val="0"/>
                </a:spcAft>
                <a:defRPr>
                  <a:solidFill>
                    <a:schemeClr val="tx1"/>
                  </a:solidFill>
                  <a:latin typeface="Arial" charset="0"/>
                </a:defRPr>
              </a:lvl8pPr>
              <a:lvl9pPr marL="3886200" indent="-228600" eaLnBrk="0" fontAlgn="base" hangingPunct="0">
                <a:spcBef>
                  <a:spcPct val="50000"/>
                </a:spcBef>
                <a:spcAft>
                  <a:spcPct val="0"/>
                </a:spcAft>
                <a:defRPr>
                  <a:solidFill>
                    <a:schemeClr val="tx1"/>
                  </a:solidFill>
                  <a:latin typeface="Arial" charset="0"/>
                </a:defRPr>
              </a:lvl9pPr>
            </a:lstStyle>
            <a:p>
              <a:pPr eaLnBrk="1" hangingPunct="1"/>
              <a:r>
                <a:rPr lang="es-ES" b="1"/>
                <a:t>2.-</a:t>
              </a:r>
            </a:p>
          </p:txBody>
        </p:sp>
      </p:grpSp>
      <p:grpSp>
        <p:nvGrpSpPr>
          <p:cNvPr id="10" name="Group 12"/>
          <p:cNvGrpSpPr>
            <a:grpSpLocks/>
          </p:cNvGrpSpPr>
          <p:nvPr/>
        </p:nvGrpSpPr>
        <p:grpSpPr bwMode="auto">
          <a:xfrm>
            <a:off x="467544" y="2695278"/>
            <a:ext cx="7559675" cy="922337"/>
            <a:chOff x="499" y="2605"/>
            <a:chExt cx="4762" cy="581"/>
          </a:xfrm>
        </p:grpSpPr>
        <p:sp>
          <p:nvSpPr>
            <p:cNvPr id="11" name="Text Box 13"/>
            <p:cNvSpPr txBox="1">
              <a:spLocks noChangeArrowheads="1"/>
            </p:cNvSpPr>
            <p:nvPr/>
          </p:nvSpPr>
          <p:spPr bwMode="auto">
            <a:xfrm>
              <a:off x="725" y="2609"/>
              <a:ext cx="4536" cy="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defRPr>
                  <a:solidFill>
                    <a:schemeClr val="tx1"/>
                  </a:solidFill>
                  <a:latin typeface="Arial" charset="0"/>
                </a:defRPr>
              </a:lvl6pPr>
              <a:lvl7pPr marL="2971800" indent="-228600" eaLnBrk="0" fontAlgn="base" hangingPunct="0">
                <a:spcBef>
                  <a:spcPct val="50000"/>
                </a:spcBef>
                <a:spcAft>
                  <a:spcPct val="0"/>
                </a:spcAft>
                <a:defRPr>
                  <a:solidFill>
                    <a:schemeClr val="tx1"/>
                  </a:solidFill>
                  <a:latin typeface="Arial" charset="0"/>
                </a:defRPr>
              </a:lvl7pPr>
              <a:lvl8pPr marL="3429000" indent="-228600" eaLnBrk="0" fontAlgn="base" hangingPunct="0">
                <a:spcBef>
                  <a:spcPct val="50000"/>
                </a:spcBef>
                <a:spcAft>
                  <a:spcPct val="0"/>
                </a:spcAft>
                <a:defRPr>
                  <a:solidFill>
                    <a:schemeClr val="tx1"/>
                  </a:solidFill>
                  <a:latin typeface="Arial" charset="0"/>
                </a:defRPr>
              </a:lvl8pPr>
              <a:lvl9pPr marL="3886200" indent="-228600" eaLnBrk="0" fontAlgn="base" hangingPunct="0">
                <a:spcBef>
                  <a:spcPct val="50000"/>
                </a:spcBef>
                <a:spcAft>
                  <a:spcPct val="0"/>
                </a:spcAft>
                <a:defRPr>
                  <a:solidFill>
                    <a:schemeClr val="tx1"/>
                  </a:solidFill>
                  <a:latin typeface="Arial" charset="0"/>
                </a:defRPr>
              </a:lvl9pPr>
            </a:lstStyle>
            <a:p>
              <a:pPr algn="just" eaLnBrk="1" hangingPunct="1"/>
              <a:r>
                <a:rPr lang="es-ES" b="1" dirty="0"/>
                <a:t>Una conexión física entre las porciones adyacentes del medio de forma tal que puedan interactuar entre sí. Las porciones transportan energía de un lugar a otro en el medio físico.</a:t>
              </a:r>
            </a:p>
          </p:txBody>
        </p:sp>
        <p:sp>
          <p:nvSpPr>
            <p:cNvPr id="12" name="Text Box 14"/>
            <p:cNvSpPr txBox="1">
              <a:spLocks noChangeArrowheads="1"/>
            </p:cNvSpPr>
            <p:nvPr/>
          </p:nvSpPr>
          <p:spPr bwMode="auto">
            <a:xfrm>
              <a:off x="499" y="2605"/>
              <a:ext cx="3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defRPr>
                  <a:solidFill>
                    <a:schemeClr val="tx1"/>
                  </a:solidFill>
                  <a:latin typeface="Arial" charset="0"/>
                </a:defRPr>
              </a:lvl6pPr>
              <a:lvl7pPr marL="2971800" indent="-228600" eaLnBrk="0" fontAlgn="base" hangingPunct="0">
                <a:spcBef>
                  <a:spcPct val="50000"/>
                </a:spcBef>
                <a:spcAft>
                  <a:spcPct val="0"/>
                </a:spcAft>
                <a:defRPr>
                  <a:solidFill>
                    <a:schemeClr val="tx1"/>
                  </a:solidFill>
                  <a:latin typeface="Arial" charset="0"/>
                </a:defRPr>
              </a:lvl7pPr>
              <a:lvl8pPr marL="3429000" indent="-228600" eaLnBrk="0" fontAlgn="base" hangingPunct="0">
                <a:spcBef>
                  <a:spcPct val="50000"/>
                </a:spcBef>
                <a:spcAft>
                  <a:spcPct val="0"/>
                </a:spcAft>
                <a:defRPr>
                  <a:solidFill>
                    <a:schemeClr val="tx1"/>
                  </a:solidFill>
                  <a:latin typeface="Arial" charset="0"/>
                </a:defRPr>
              </a:lvl8pPr>
              <a:lvl9pPr marL="3886200" indent="-228600" eaLnBrk="0" fontAlgn="base" hangingPunct="0">
                <a:spcBef>
                  <a:spcPct val="50000"/>
                </a:spcBef>
                <a:spcAft>
                  <a:spcPct val="0"/>
                </a:spcAft>
                <a:defRPr>
                  <a:solidFill>
                    <a:schemeClr val="tx1"/>
                  </a:solidFill>
                  <a:latin typeface="Arial" charset="0"/>
                </a:defRPr>
              </a:lvl9pPr>
            </a:lstStyle>
            <a:p>
              <a:pPr eaLnBrk="1" hangingPunct="1"/>
              <a:r>
                <a:rPr lang="es-ES" b="1"/>
                <a:t>3.-</a:t>
              </a:r>
            </a:p>
          </p:txBody>
        </p:sp>
      </p:grpSp>
      <p:pic>
        <p:nvPicPr>
          <p:cNvPr id="17410" name="Picture 2" descr="http://www.reparatuocio.com/images/productos/vibrador-iphone-4-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5263" y="3933056"/>
            <a:ext cx="2548880" cy="2548880"/>
          </a:xfrm>
          <a:prstGeom prst="rect">
            <a:avLst/>
          </a:prstGeom>
          <a:noFill/>
          <a:extLst>
            <a:ext uri="{909E8E84-426E-40DD-AFC4-6F175D3DCCD1}">
              <a14:hiddenFill xmlns:a14="http://schemas.microsoft.com/office/drawing/2010/main">
                <a:solidFill>
                  <a:srgbClr val="FFFFFF"/>
                </a:solidFill>
              </a14:hiddenFill>
            </a:ext>
          </a:extLst>
        </p:spPr>
      </p:pic>
      <p:pic>
        <p:nvPicPr>
          <p:cNvPr id="17412" name="Picture 4" descr="http://weblogs.clarin.com/data/dsno/archives/david-thumb.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72147" y="4040683"/>
            <a:ext cx="3524250" cy="23336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0684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ox(i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ox(in)">
                                      <p:cBhvr>
                                        <p:cTn id="12" dur="500"/>
                                        <p:tgtEl>
                                          <p:spTgt spid="4"/>
                                        </p:tgtEl>
                                      </p:cBhvr>
                                    </p:animEffect>
                                  </p:childTnLst>
                                </p:cTn>
                              </p:par>
                            </p:childTnLst>
                          </p:cTn>
                        </p:par>
                        <p:par>
                          <p:cTn id="13" fill="hold">
                            <p:stCondLst>
                              <p:cond delay="500"/>
                            </p:stCondLst>
                            <p:childTnLst>
                              <p:par>
                                <p:cTn id="14" presetID="42" presetClass="entr" presetSubtype="0" fill="hold" nodeType="afterEffect">
                                  <p:stCondLst>
                                    <p:cond delay="0"/>
                                  </p:stCondLst>
                                  <p:childTnLst>
                                    <p:set>
                                      <p:cBhvr>
                                        <p:cTn id="15" dur="1" fill="hold">
                                          <p:stCondLst>
                                            <p:cond delay="0"/>
                                          </p:stCondLst>
                                        </p:cTn>
                                        <p:tgtEl>
                                          <p:spTgt spid="17410"/>
                                        </p:tgtEl>
                                        <p:attrNameLst>
                                          <p:attrName>style.visibility</p:attrName>
                                        </p:attrNameLst>
                                      </p:cBhvr>
                                      <p:to>
                                        <p:strVal val="visible"/>
                                      </p:to>
                                    </p:set>
                                    <p:animEffect transition="in" filter="fade">
                                      <p:cBhvr>
                                        <p:cTn id="16" dur="1000"/>
                                        <p:tgtEl>
                                          <p:spTgt spid="17410"/>
                                        </p:tgtEl>
                                      </p:cBhvr>
                                    </p:animEffect>
                                    <p:anim calcmode="lin" valueType="num">
                                      <p:cBhvr>
                                        <p:cTn id="17" dur="1000" fill="hold"/>
                                        <p:tgtEl>
                                          <p:spTgt spid="17410"/>
                                        </p:tgtEl>
                                        <p:attrNameLst>
                                          <p:attrName>ppt_x</p:attrName>
                                        </p:attrNameLst>
                                      </p:cBhvr>
                                      <p:tavLst>
                                        <p:tav tm="0">
                                          <p:val>
                                            <p:strVal val="#ppt_x"/>
                                          </p:val>
                                        </p:tav>
                                        <p:tav tm="100000">
                                          <p:val>
                                            <p:strVal val="#ppt_x"/>
                                          </p:val>
                                        </p:tav>
                                      </p:tavLst>
                                    </p:anim>
                                    <p:anim calcmode="lin" valueType="num">
                                      <p:cBhvr>
                                        <p:cTn id="18" dur="1000" fill="hold"/>
                                        <p:tgtEl>
                                          <p:spTgt spid="17410"/>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1000"/>
                                        <p:tgtEl>
                                          <p:spTgt spid="7"/>
                                        </p:tgtEl>
                                      </p:cBhvr>
                                    </p:animEffect>
                                    <p:anim calcmode="lin" valueType="num">
                                      <p:cBhvr>
                                        <p:cTn id="24" dur="1000" fill="hold"/>
                                        <p:tgtEl>
                                          <p:spTgt spid="7"/>
                                        </p:tgtEl>
                                        <p:attrNameLst>
                                          <p:attrName>ppt_x</p:attrName>
                                        </p:attrNameLst>
                                      </p:cBhvr>
                                      <p:tavLst>
                                        <p:tav tm="0">
                                          <p:val>
                                            <p:strVal val="#ppt_x"/>
                                          </p:val>
                                        </p:tav>
                                        <p:tav tm="100000">
                                          <p:val>
                                            <p:strVal val="#ppt_x"/>
                                          </p:val>
                                        </p:tav>
                                      </p:tavLst>
                                    </p:anim>
                                    <p:anim calcmode="lin" valueType="num">
                                      <p:cBhvr>
                                        <p:cTn id="25" dur="1000" fill="hold"/>
                                        <p:tgtEl>
                                          <p:spTgt spid="7"/>
                                        </p:tgtEl>
                                        <p:attrNameLst>
                                          <p:attrName>ppt_y</p:attrName>
                                        </p:attrNameLst>
                                      </p:cBhvr>
                                      <p:tavLst>
                                        <p:tav tm="0">
                                          <p:val>
                                            <p:strVal val="#ppt_y+.1"/>
                                          </p:val>
                                        </p:tav>
                                        <p:tav tm="100000">
                                          <p:val>
                                            <p:strVal val="#ppt_y"/>
                                          </p:val>
                                        </p:tav>
                                      </p:tavLst>
                                    </p:anim>
                                  </p:childTnLst>
                                </p:cTn>
                              </p:par>
                            </p:childTnLst>
                          </p:cTn>
                        </p:par>
                        <p:par>
                          <p:cTn id="26" fill="hold">
                            <p:stCondLst>
                              <p:cond delay="1000"/>
                            </p:stCondLst>
                            <p:childTnLst>
                              <p:par>
                                <p:cTn id="27" presetID="42" presetClass="entr" presetSubtype="0" fill="hold" nodeType="afterEffect">
                                  <p:stCondLst>
                                    <p:cond delay="0"/>
                                  </p:stCondLst>
                                  <p:childTnLst>
                                    <p:set>
                                      <p:cBhvr>
                                        <p:cTn id="28" dur="1" fill="hold">
                                          <p:stCondLst>
                                            <p:cond delay="0"/>
                                          </p:stCondLst>
                                        </p:cTn>
                                        <p:tgtEl>
                                          <p:spTgt spid="17412"/>
                                        </p:tgtEl>
                                        <p:attrNameLst>
                                          <p:attrName>style.visibility</p:attrName>
                                        </p:attrNameLst>
                                      </p:cBhvr>
                                      <p:to>
                                        <p:strVal val="visible"/>
                                      </p:to>
                                    </p:set>
                                    <p:animEffect transition="in" filter="fade">
                                      <p:cBhvr>
                                        <p:cTn id="29" dur="1000"/>
                                        <p:tgtEl>
                                          <p:spTgt spid="17412"/>
                                        </p:tgtEl>
                                      </p:cBhvr>
                                    </p:animEffect>
                                    <p:anim calcmode="lin" valueType="num">
                                      <p:cBhvr>
                                        <p:cTn id="30" dur="1000" fill="hold"/>
                                        <p:tgtEl>
                                          <p:spTgt spid="17412"/>
                                        </p:tgtEl>
                                        <p:attrNameLst>
                                          <p:attrName>ppt_x</p:attrName>
                                        </p:attrNameLst>
                                      </p:cBhvr>
                                      <p:tavLst>
                                        <p:tav tm="0">
                                          <p:val>
                                            <p:strVal val="#ppt_x"/>
                                          </p:val>
                                        </p:tav>
                                        <p:tav tm="100000">
                                          <p:val>
                                            <p:strVal val="#ppt_x"/>
                                          </p:val>
                                        </p:tav>
                                      </p:tavLst>
                                    </p:anim>
                                    <p:anim calcmode="lin" valueType="num">
                                      <p:cBhvr>
                                        <p:cTn id="31" dur="1000" fill="hold"/>
                                        <p:tgtEl>
                                          <p:spTgt spid="174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1 CuadroTexto"/>
          <p:cNvSpPr txBox="1"/>
          <p:nvPr/>
        </p:nvSpPr>
        <p:spPr>
          <a:xfrm>
            <a:off x="1067867" y="1806545"/>
            <a:ext cx="5908873" cy="1200329"/>
          </a:xfrm>
          <a:prstGeom prst="rect">
            <a:avLst/>
          </a:prstGeom>
          <a:noFill/>
        </p:spPr>
        <p:txBody>
          <a:bodyPr wrap="square" rtlCol="0">
            <a:spAutoFit/>
          </a:bodyPr>
          <a:lstStyle/>
          <a:p>
            <a:r>
              <a:rPr lang="es-PE" b="1" dirty="0" smtClean="0">
                <a:solidFill>
                  <a:srgbClr val="FF0000"/>
                </a:solidFill>
                <a:effectLst>
                  <a:outerShdw blurRad="38100" dist="38100" dir="2700000" algn="tl">
                    <a:srgbClr val="000000">
                      <a:alpha val="43137"/>
                    </a:srgbClr>
                  </a:outerShdw>
                </a:effectLst>
                <a:latin typeface="Bell MT" pitchFamily="18" charset="0"/>
                <a:ea typeface="BatangChe" pitchFamily="49" charset="-127"/>
              </a:rPr>
              <a:t>TIPOS DE ONDAS</a:t>
            </a:r>
            <a:r>
              <a:rPr lang="es-PE" dirty="0" smtClean="0">
                <a:latin typeface="Bell MT" pitchFamily="18" charset="0"/>
                <a:ea typeface="BatangChe" pitchFamily="49" charset="-127"/>
              </a:rPr>
              <a:t>: </a:t>
            </a:r>
          </a:p>
          <a:p>
            <a:pPr marL="285750" indent="-285750">
              <a:buFont typeface="Arial" panose="020B0604020202020204" pitchFamily="34" charset="0"/>
              <a:buChar char="•"/>
            </a:pPr>
            <a:r>
              <a:rPr lang="es-PE" dirty="0" smtClean="0">
                <a:latin typeface="+mn-lt"/>
                <a:ea typeface="BatangChe" pitchFamily="49" charset="-127"/>
              </a:rPr>
              <a:t>ONDAS EN EL AGUA</a:t>
            </a:r>
          </a:p>
          <a:p>
            <a:pPr marL="285750" indent="-285750">
              <a:buFont typeface="Arial" panose="020B0604020202020204" pitchFamily="34" charset="0"/>
              <a:buChar char="•"/>
            </a:pPr>
            <a:r>
              <a:rPr lang="es-PE" dirty="0" smtClean="0">
                <a:latin typeface="+mn-lt"/>
                <a:ea typeface="BatangChe" pitchFamily="49" charset="-127"/>
              </a:rPr>
              <a:t>ONDAS SONORAS</a:t>
            </a:r>
          </a:p>
          <a:p>
            <a:pPr marL="285750" indent="-285750">
              <a:buFont typeface="Arial" panose="020B0604020202020204" pitchFamily="34" charset="0"/>
              <a:buChar char="•"/>
            </a:pPr>
            <a:r>
              <a:rPr lang="es-PE" dirty="0" smtClean="0">
                <a:latin typeface="+mn-lt"/>
                <a:ea typeface="BatangChe" pitchFamily="49" charset="-127"/>
              </a:rPr>
              <a:t>ONDAS ELECTROMAGNETICAS ( SIN MEDIO)</a:t>
            </a:r>
            <a:endParaRPr lang="es-PE" dirty="0">
              <a:latin typeface="+mn-lt"/>
              <a:ea typeface="BatangChe" pitchFamily="49" charset="-127"/>
            </a:endParaRPr>
          </a:p>
        </p:txBody>
      </p:sp>
      <p:pic>
        <p:nvPicPr>
          <p:cNvPr id="16386" name="Picture 2" descr="http://web.educastur.princast.es/proyectos/jimena/pj_franciscga/Definitivo/Proyecto5/images/ondas_agua.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6770" y="3137835"/>
            <a:ext cx="2620742" cy="1720954"/>
          </a:xfrm>
          <a:prstGeom prst="rect">
            <a:avLst/>
          </a:prstGeom>
          <a:noFill/>
          <a:extLst>
            <a:ext uri="{909E8E84-426E-40DD-AFC4-6F175D3DCCD1}">
              <a14:hiddenFill xmlns:a14="http://schemas.microsoft.com/office/drawing/2010/main">
                <a:solidFill>
                  <a:srgbClr val="FFFFFF"/>
                </a:solidFill>
              </a14:hiddenFill>
            </a:ext>
          </a:extLst>
        </p:spPr>
      </p:pic>
      <p:pic>
        <p:nvPicPr>
          <p:cNvPr id="16388" name="Picture 4" descr="http://4.bp.blogspot.com/_SwZnrNmtcmI/TMCcXVg12bI/AAAAAAAAAHo/ubPhfHpLMZ4/s1600/ondas+s0n0ras.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4008" y="3137835"/>
            <a:ext cx="3959248" cy="1743126"/>
          </a:xfrm>
          <a:prstGeom prst="rect">
            <a:avLst/>
          </a:prstGeom>
          <a:noFill/>
          <a:extLst>
            <a:ext uri="{909E8E84-426E-40DD-AFC4-6F175D3DCCD1}">
              <a14:hiddenFill xmlns:a14="http://schemas.microsoft.com/office/drawing/2010/main">
                <a:solidFill>
                  <a:srgbClr val="FFFFFF"/>
                </a:solidFill>
              </a14:hiddenFill>
            </a:ext>
          </a:extLst>
        </p:spPr>
      </p:pic>
      <p:pic>
        <p:nvPicPr>
          <p:cNvPr id="16390" name="Picture 6" descr="http://xabierjota.files.wordpress.com/2013/01/onda-em.gif"/>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99792" y="5073402"/>
            <a:ext cx="3741043" cy="1636154"/>
          </a:xfrm>
          <a:prstGeom prst="rect">
            <a:avLst/>
          </a:prstGeom>
          <a:noFill/>
          <a:extLst>
            <a:ext uri="{909E8E84-426E-40DD-AFC4-6F175D3DCCD1}">
              <a14:hiddenFill xmlns:a14="http://schemas.microsoft.com/office/drawing/2010/main">
                <a:solidFill>
                  <a:srgbClr val="FFFFFF"/>
                </a:solidFill>
              </a14:hiddenFill>
            </a:ext>
          </a:extLst>
        </p:spPr>
      </p:pic>
      <p:sp>
        <p:nvSpPr>
          <p:cNvPr id="140" name="Rectangle 4"/>
          <p:cNvSpPr txBox="1">
            <a:spLocks noChangeArrowheads="1"/>
          </p:cNvSpPr>
          <p:nvPr/>
        </p:nvSpPr>
        <p:spPr>
          <a:xfrm>
            <a:off x="1835696" y="943155"/>
            <a:ext cx="7547931" cy="504056"/>
          </a:xfrm>
          <a:prstGeom prst="rect">
            <a:avLst/>
          </a:prstGeom>
        </p:spPr>
        <p:txBody>
          <a:bodyPr/>
          <a:lstStyle>
            <a:lvl1pPr algn="l" defTabSz="457200" rtl="0" eaLnBrk="1" fontAlgn="base" hangingPunct="1">
              <a:spcBef>
                <a:spcPct val="0"/>
              </a:spcBef>
              <a:spcAft>
                <a:spcPct val="0"/>
              </a:spcAft>
              <a:defRPr sz="2000" kern="1200" cap="all">
                <a:solidFill>
                  <a:srgbClr val="EFA82F"/>
                </a:solidFill>
                <a:latin typeface="Arial"/>
                <a:ea typeface="MS PGothic" pitchFamily="34" charset="-128"/>
                <a:cs typeface="+mj-cs"/>
              </a:defRPr>
            </a:lvl1pPr>
            <a:lvl2pPr algn="l" defTabSz="457200" rtl="0" eaLnBrk="1" fontAlgn="base" hangingPunct="1">
              <a:spcBef>
                <a:spcPct val="0"/>
              </a:spcBef>
              <a:spcAft>
                <a:spcPct val="0"/>
              </a:spcAft>
              <a:defRPr sz="2000">
                <a:solidFill>
                  <a:srgbClr val="EFA82F"/>
                </a:solidFill>
                <a:latin typeface="Arial" pitchFamily="34" charset="0"/>
                <a:ea typeface="MS PGothic" pitchFamily="34" charset="-128"/>
              </a:defRPr>
            </a:lvl2pPr>
            <a:lvl3pPr algn="l" defTabSz="457200" rtl="0" eaLnBrk="1" fontAlgn="base" hangingPunct="1">
              <a:spcBef>
                <a:spcPct val="0"/>
              </a:spcBef>
              <a:spcAft>
                <a:spcPct val="0"/>
              </a:spcAft>
              <a:defRPr sz="2000">
                <a:solidFill>
                  <a:srgbClr val="EFA82F"/>
                </a:solidFill>
                <a:latin typeface="Arial" pitchFamily="34" charset="0"/>
                <a:ea typeface="MS PGothic" pitchFamily="34" charset="-128"/>
              </a:defRPr>
            </a:lvl3pPr>
            <a:lvl4pPr algn="l" defTabSz="457200" rtl="0" eaLnBrk="1" fontAlgn="base" hangingPunct="1">
              <a:spcBef>
                <a:spcPct val="0"/>
              </a:spcBef>
              <a:spcAft>
                <a:spcPct val="0"/>
              </a:spcAft>
              <a:defRPr sz="2000">
                <a:solidFill>
                  <a:srgbClr val="EFA82F"/>
                </a:solidFill>
                <a:latin typeface="Arial" pitchFamily="34" charset="0"/>
                <a:ea typeface="MS PGothic" pitchFamily="34" charset="-128"/>
              </a:defRPr>
            </a:lvl4pPr>
            <a:lvl5pPr algn="l" defTabSz="457200" rtl="0" eaLnBrk="1" fontAlgn="base" hangingPunct="1">
              <a:spcBef>
                <a:spcPct val="0"/>
              </a:spcBef>
              <a:spcAft>
                <a:spcPct val="0"/>
              </a:spcAft>
              <a:defRPr sz="2000">
                <a:solidFill>
                  <a:srgbClr val="EFA82F"/>
                </a:solidFill>
                <a:latin typeface="Arial" pitchFamily="34" charset="0"/>
                <a:ea typeface="MS PGothic" pitchFamily="34" charset="-128"/>
              </a:defRPr>
            </a:lvl5pPr>
            <a:lvl6pPr marL="457200" algn="l" defTabSz="457200" rtl="0" eaLnBrk="1" fontAlgn="base" hangingPunct="1">
              <a:spcBef>
                <a:spcPct val="0"/>
              </a:spcBef>
              <a:spcAft>
                <a:spcPct val="0"/>
              </a:spcAft>
              <a:defRPr sz="2000">
                <a:solidFill>
                  <a:srgbClr val="EFA82F"/>
                </a:solidFill>
                <a:latin typeface="Arial" pitchFamily="34" charset="0"/>
                <a:ea typeface="MS PGothic" pitchFamily="34" charset="-128"/>
              </a:defRPr>
            </a:lvl6pPr>
            <a:lvl7pPr marL="914400" algn="l" defTabSz="457200" rtl="0" eaLnBrk="1" fontAlgn="base" hangingPunct="1">
              <a:spcBef>
                <a:spcPct val="0"/>
              </a:spcBef>
              <a:spcAft>
                <a:spcPct val="0"/>
              </a:spcAft>
              <a:defRPr sz="2000">
                <a:solidFill>
                  <a:srgbClr val="EFA82F"/>
                </a:solidFill>
                <a:latin typeface="Arial" pitchFamily="34" charset="0"/>
                <a:ea typeface="MS PGothic" pitchFamily="34" charset="-128"/>
              </a:defRPr>
            </a:lvl7pPr>
            <a:lvl8pPr marL="1371600" algn="l" defTabSz="457200" rtl="0" eaLnBrk="1" fontAlgn="base" hangingPunct="1">
              <a:spcBef>
                <a:spcPct val="0"/>
              </a:spcBef>
              <a:spcAft>
                <a:spcPct val="0"/>
              </a:spcAft>
              <a:defRPr sz="2000">
                <a:solidFill>
                  <a:srgbClr val="EFA82F"/>
                </a:solidFill>
                <a:latin typeface="Arial" pitchFamily="34" charset="0"/>
                <a:ea typeface="MS PGothic" pitchFamily="34" charset="-128"/>
              </a:defRPr>
            </a:lvl8pPr>
            <a:lvl9pPr marL="1828800" algn="l" defTabSz="457200" rtl="0" eaLnBrk="1" fontAlgn="base" hangingPunct="1">
              <a:spcBef>
                <a:spcPct val="0"/>
              </a:spcBef>
              <a:spcAft>
                <a:spcPct val="0"/>
              </a:spcAft>
              <a:defRPr sz="2000">
                <a:solidFill>
                  <a:srgbClr val="EFA82F"/>
                </a:solidFill>
                <a:latin typeface="Arial" pitchFamily="34" charset="0"/>
                <a:ea typeface="MS PGothic" pitchFamily="34" charset="-128"/>
              </a:defRPr>
            </a:lvl9pPr>
          </a:lstStyle>
          <a:p>
            <a:r>
              <a:rPr lang="es-PE" sz="2800" dirty="0" smtClean="0">
                <a:solidFill>
                  <a:schemeClr val="tx1"/>
                </a:solidFill>
              </a:rPr>
              <a:t>Tipos de ondas SEGÚN NATURALEZA</a:t>
            </a:r>
            <a:endParaRPr lang="es-PE" sz="2800" dirty="0">
              <a:solidFill>
                <a:schemeClr val="tx1"/>
              </a:solidFill>
            </a:endParaRPr>
          </a:p>
        </p:txBody>
      </p:sp>
    </p:spTree>
    <p:extLst>
      <p:ext uri="{BB962C8B-B14F-4D97-AF65-F5344CB8AC3E}">
        <p14:creationId xmlns:p14="http://schemas.microsoft.com/office/powerpoint/2010/main" val="73903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1000"/>
                                        <p:tgtEl>
                                          <p:spTgt spid="2">
                                            <p:txEl>
                                              <p:pRg st="1" end="1"/>
                                            </p:txEl>
                                          </p:spTgt>
                                        </p:tgtEl>
                                      </p:cBhvr>
                                    </p:animEffect>
                                    <p:anim calcmode="lin" valueType="num">
                                      <p:cBhvr>
                                        <p:cTn id="8"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16386"/>
                                        </p:tgtEl>
                                        <p:attrNameLst>
                                          <p:attrName>style.visibility</p:attrName>
                                        </p:attrNameLst>
                                      </p:cBhvr>
                                      <p:to>
                                        <p:strVal val="visible"/>
                                      </p:to>
                                    </p:set>
                                    <p:animEffect transition="in" filter="fade">
                                      <p:cBhvr>
                                        <p:cTn id="13" dur="1000"/>
                                        <p:tgtEl>
                                          <p:spTgt spid="16386"/>
                                        </p:tgtEl>
                                      </p:cBhvr>
                                    </p:animEffect>
                                    <p:anim calcmode="lin" valueType="num">
                                      <p:cBhvr>
                                        <p:cTn id="14" dur="1000" fill="hold"/>
                                        <p:tgtEl>
                                          <p:spTgt spid="16386"/>
                                        </p:tgtEl>
                                        <p:attrNameLst>
                                          <p:attrName>ppt_x</p:attrName>
                                        </p:attrNameLst>
                                      </p:cBhvr>
                                      <p:tavLst>
                                        <p:tav tm="0">
                                          <p:val>
                                            <p:strVal val="#ppt_x"/>
                                          </p:val>
                                        </p:tav>
                                        <p:tav tm="100000">
                                          <p:val>
                                            <p:strVal val="#ppt_x"/>
                                          </p:val>
                                        </p:tav>
                                      </p:tavLst>
                                    </p:anim>
                                    <p:anim calcmode="lin" valueType="num">
                                      <p:cBhvr>
                                        <p:cTn id="15" dur="1000" fill="hold"/>
                                        <p:tgtEl>
                                          <p:spTgt spid="16386"/>
                                        </p:tgtEl>
                                        <p:attrNameLst>
                                          <p:attrName>ppt_y</p:attrName>
                                        </p:attrNameLst>
                                      </p:cBhvr>
                                      <p:tavLst>
                                        <p:tav tm="0">
                                          <p:val>
                                            <p:strVal val="#ppt_y+.1"/>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2">
                                            <p:txEl>
                                              <p:pRg st="2" end="2"/>
                                            </p:txEl>
                                          </p:spTgt>
                                        </p:tgtEl>
                                        <p:attrNameLst>
                                          <p:attrName>style.visibility</p:attrName>
                                        </p:attrNameLst>
                                      </p:cBhvr>
                                      <p:to>
                                        <p:strVal val="visible"/>
                                      </p:to>
                                    </p:set>
                                    <p:animEffect transition="in" filter="fade">
                                      <p:cBhvr>
                                        <p:cTn id="20" dur="1000"/>
                                        <p:tgtEl>
                                          <p:spTgt spid="2">
                                            <p:txEl>
                                              <p:pRg st="2" end="2"/>
                                            </p:txEl>
                                          </p:spTgt>
                                        </p:tgtEl>
                                      </p:cBhvr>
                                    </p:animEffect>
                                    <p:anim calcmode="lin" valueType="num">
                                      <p:cBhvr>
                                        <p:cTn id="21"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2"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par>
                          <p:cTn id="23" fill="hold">
                            <p:stCondLst>
                              <p:cond delay="1000"/>
                            </p:stCondLst>
                            <p:childTnLst>
                              <p:par>
                                <p:cTn id="24" presetID="42" presetClass="entr" presetSubtype="0" fill="hold" nodeType="afterEffect">
                                  <p:stCondLst>
                                    <p:cond delay="0"/>
                                  </p:stCondLst>
                                  <p:childTnLst>
                                    <p:set>
                                      <p:cBhvr>
                                        <p:cTn id="25" dur="1" fill="hold">
                                          <p:stCondLst>
                                            <p:cond delay="0"/>
                                          </p:stCondLst>
                                        </p:cTn>
                                        <p:tgtEl>
                                          <p:spTgt spid="16388"/>
                                        </p:tgtEl>
                                        <p:attrNameLst>
                                          <p:attrName>style.visibility</p:attrName>
                                        </p:attrNameLst>
                                      </p:cBhvr>
                                      <p:to>
                                        <p:strVal val="visible"/>
                                      </p:to>
                                    </p:set>
                                    <p:animEffect transition="in" filter="fade">
                                      <p:cBhvr>
                                        <p:cTn id="26" dur="1000"/>
                                        <p:tgtEl>
                                          <p:spTgt spid="16388"/>
                                        </p:tgtEl>
                                      </p:cBhvr>
                                    </p:animEffect>
                                    <p:anim calcmode="lin" valueType="num">
                                      <p:cBhvr>
                                        <p:cTn id="27" dur="1000" fill="hold"/>
                                        <p:tgtEl>
                                          <p:spTgt spid="16388"/>
                                        </p:tgtEl>
                                        <p:attrNameLst>
                                          <p:attrName>ppt_x</p:attrName>
                                        </p:attrNameLst>
                                      </p:cBhvr>
                                      <p:tavLst>
                                        <p:tav tm="0">
                                          <p:val>
                                            <p:strVal val="#ppt_x"/>
                                          </p:val>
                                        </p:tav>
                                        <p:tav tm="100000">
                                          <p:val>
                                            <p:strVal val="#ppt_x"/>
                                          </p:val>
                                        </p:tav>
                                      </p:tavLst>
                                    </p:anim>
                                    <p:anim calcmode="lin" valueType="num">
                                      <p:cBhvr>
                                        <p:cTn id="28" dur="1000" fill="hold"/>
                                        <p:tgtEl>
                                          <p:spTgt spid="16388"/>
                                        </p:tgtEl>
                                        <p:attrNameLst>
                                          <p:attrName>ppt_y</p:attrName>
                                        </p:attrNameLst>
                                      </p:cBhvr>
                                      <p:tavLst>
                                        <p:tav tm="0">
                                          <p:val>
                                            <p:strVal val="#ppt_y+.1"/>
                                          </p:val>
                                        </p:tav>
                                        <p:tav tm="100000">
                                          <p:val>
                                            <p:strVal val="#ppt_y"/>
                                          </p:val>
                                        </p:tav>
                                      </p:tavLst>
                                    </p:anim>
                                  </p:childTnLst>
                                  <p:subTnLst>
                                    <p:audio>
                                      <p:cMediaNode>
                                        <p:cTn display="0" masterRel="sameClick">
                                          <p:stCondLst>
                                            <p:cond evt="begin" delay="0">
                                              <p:tn val="24"/>
                                            </p:cond>
                                          </p:stCondLst>
                                          <p:endCondLst>
                                            <p:cond evt="onStopAudio" delay="0">
                                              <p:tgtEl>
                                                <p:sldTgt/>
                                              </p:tgtEl>
                                            </p:cond>
                                          </p:endCondLst>
                                        </p:cTn>
                                        <p:tgtEl>
                                          <p:sndTgt r:embed="rId2" name="camera.wav"/>
                                        </p:tgtEl>
                                      </p:cMediaNode>
                                    </p:audio>
                                  </p:sub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2">
                                            <p:txEl>
                                              <p:pRg st="3" end="3"/>
                                            </p:txEl>
                                          </p:spTgt>
                                        </p:tgtEl>
                                        <p:attrNameLst>
                                          <p:attrName>style.visibility</p:attrName>
                                        </p:attrNameLst>
                                      </p:cBhvr>
                                      <p:to>
                                        <p:strVal val="visible"/>
                                      </p:to>
                                    </p:set>
                                    <p:animEffect transition="in" filter="fade">
                                      <p:cBhvr>
                                        <p:cTn id="33" dur="1000"/>
                                        <p:tgtEl>
                                          <p:spTgt spid="2">
                                            <p:txEl>
                                              <p:pRg st="3" end="3"/>
                                            </p:txEl>
                                          </p:spTgt>
                                        </p:tgtEl>
                                      </p:cBhvr>
                                    </p:animEffect>
                                    <p:anim calcmode="lin" valueType="num">
                                      <p:cBhvr>
                                        <p:cTn id="34"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par>
                          <p:cTn id="36" fill="hold">
                            <p:stCondLst>
                              <p:cond delay="1000"/>
                            </p:stCondLst>
                            <p:childTnLst>
                              <p:par>
                                <p:cTn id="37" presetID="42" presetClass="entr" presetSubtype="0" fill="hold" nodeType="afterEffect">
                                  <p:stCondLst>
                                    <p:cond delay="0"/>
                                  </p:stCondLst>
                                  <p:childTnLst>
                                    <p:set>
                                      <p:cBhvr>
                                        <p:cTn id="38" dur="1" fill="hold">
                                          <p:stCondLst>
                                            <p:cond delay="0"/>
                                          </p:stCondLst>
                                        </p:cTn>
                                        <p:tgtEl>
                                          <p:spTgt spid="16390"/>
                                        </p:tgtEl>
                                        <p:attrNameLst>
                                          <p:attrName>style.visibility</p:attrName>
                                        </p:attrNameLst>
                                      </p:cBhvr>
                                      <p:to>
                                        <p:strVal val="visible"/>
                                      </p:to>
                                    </p:set>
                                    <p:animEffect transition="in" filter="fade">
                                      <p:cBhvr>
                                        <p:cTn id="39" dur="1000"/>
                                        <p:tgtEl>
                                          <p:spTgt spid="16390"/>
                                        </p:tgtEl>
                                      </p:cBhvr>
                                    </p:animEffect>
                                    <p:anim calcmode="lin" valueType="num">
                                      <p:cBhvr>
                                        <p:cTn id="40" dur="1000" fill="hold"/>
                                        <p:tgtEl>
                                          <p:spTgt spid="16390"/>
                                        </p:tgtEl>
                                        <p:attrNameLst>
                                          <p:attrName>ppt_x</p:attrName>
                                        </p:attrNameLst>
                                      </p:cBhvr>
                                      <p:tavLst>
                                        <p:tav tm="0">
                                          <p:val>
                                            <p:strVal val="#ppt_x"/>
                                          </p:val>
                                        </p:tav>
                                        <p:tav tm="100000">
                                          <p:val>
                                            <p:strVal val="#ppt_x"/>
                                          </p:val>
                                        </p:tav>
                                      </p:tavLst>
                                    </p:anim>
                                    <p:anim calcmode="lin" valueType="num">
                                      <p:cBhvr>
                                        <p:cTn id="41" dur="1000" fill="hold"/>
                                        <p:tgtEl>
                                          <p:spTgt spid="16390"/>
                                        </p:tgtEl>
                                        <p:attrNameLst>
                                          <p:attrName>ppt_y</p:attrName>
                                        </p:attrNameLst>
                                      </p:cBhvr>
                                      <p:tavLst>
                                        <p:tav tm="0">
                                          <p:val>
                                            <p:strVal val="#ppt_y+.1"/>
                                          </p:val>
                                        </p:tav>
                                        <p:tav tm="100000">
                                          <p:val>
                                            <p:strVal val="#ppt_y"/>
                                          </p:val>
                                        </p:tav>
                                      </p:tavLst>
                                    </p:anim>
                                  </p:childTnLst>
                                  <p:subTnLst>
                                    <p:audio>
                                      <p:cMediaNode>
                                        <p:cTn display="0" masterRel="sameClick">
                                          <p:stCondLst>
                                            <p:cond evt="begin" delay="0">
                                              <p:tn val="37"/>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8"/>
          <p:cNvSpPr txBox="1">
            <a:spLocks noChangeArrowheads="1"/>
          </p:cNvSpPr>
          <p:nvPr/>
        </p:nvSpPr>
        <p:spPr>
          <a:xfrm>
            <a:off x="379576" y="1846839"/>
            <a:ext cx="4320480" cy="2376264"/>
          </a:xfrm>
          <a:prstGeom prst="rect">
            <a:avLst/>
          </a:prstGeom>
        </p:spPr>
        <p:txBody>
          <a:bodyPr/>
          <a:lstStyle>
            <a:lvl1pPr marL="342900" indent="-342900" algn="l" defTabSz="457200" rtl="0" eaLnBrk="1" fontAlgn="base" hangingPunct="1">
              <a:spcBef>
                <a:spcPct val="20000"/>
              </a:spcBef>
              <a:spcAft>
                <a:spcPct val="0"/>
              </a:spcAft>
              <a:buClr>
                <a:srgbClr val="EFA82F"/>
              </a:buClr>
              <a:buFont typeface="Arial" charset="0"/>
              <a:buChar char="•"/>
              <a:defRPr sz="1600" kern="1200">
                <a:solidFill>
                  <a:srgbClr val="676767"/>
                </a:solidFill>
                <a:latin typeface="Arial"/>
                <a:ea typeface="MS PGothic" pitchFamily="34" charset="-128"/>
                <a:cs typeface="+mn-cs"/>
              </a:defRPr>
            </a:lvl1pPr>
            <a:lvl2pPr marL="742950" indent="-285750" algn="l" defTabSz="457200" rtl="0" eaLnBrk="1" fontAlgn="base" hangingPunct="1">
              <a:spcBef>
                <a:spcPct val="20000"/>
              </a:spcBef>
              <a:spcAft>
                <a:spcPct val="0"/>
              </a:spcAft>
              <a:buClr>
                <a:srgbClr val="EFA82F"/>
              </a:buClr>
              <a:buFont typeface="Arial" charset="0"/>
              <a:buChar char="•"/>
              <a:defRPr sz="1600" kern="1200">
                <a:solidFill>
                  <a:srgbClr val="676767"/>
                </a:solidFill>
                <a:latin typeface="Arial"/>
                <a:ea typeface="MS PGothic" pitchFamily="34" charset="-128"/>
                <a:cs typeface="+mn-cs"/>
              </a:defRPr>
            </a:lvl2pPr>
            <a:lvl3pPr marL="1143000" indent="-228600" algn="l" defTabSz="457200" rtl="0" eaLnBrk="1" fontAlgn="base" hangingPunct="1">
              <a:spcBef>
                <a:spcPct val="20000"/>
              </a:spcBef>
              <a:spcAft>
                <a:spcPct val="0"/>
              </a:spcAft>
              <a:buClr>
                <a:srgbClr val="EFA82F"/>
              </a:buClr>
              <a:buFont typeface="Arial" charset="0"/>
              <a:buChar char="•"/>
              <a:defRPr sz="1600" kern="1200">
                <a:solidFill>
                  <a:srgbClr val="676767"/>
                </a:solidFill>
                <a:latin typeface="Arial"/>
                <a:ea typeface="MS PGothic" pitchFamily="34" charset="-128"/>
                <a:cs typeface="+mn-cs"/>
              </a:defRPr>
            </a:lvl3pPr>
            <a:lvl4pPr marL="1600200" indent="-228600" algn="l" defTabSz="457200" rtl="0" eaLnBrk="1" fontAlgn="base" hangingPunct="1">
              <a:spcBef>
                <a:spcPct val="20000"/>
              </a:spcBef>
              <a:spcAft>
                <a:spcPct val="0"/>
              </a:spcAft>
              <a:buClr>
                <a:srgbClr val="EFA82F"/>
              </a:buClr>
              <a:buFont typeface="Arial" charset="0"/>
              <a:buChar char="•"/>
              <a:defRPr sz="1600" kern="1200">
                <a:solidFill>
                  <a:srgbClr val="676767"/>
                </a:solidFill>
                <a:latin typeface="Arial"/>
                <a:ea typeface="MS PGothic" pitchFamily="34" charset="-128"/>
                <a:cs typeface="+mn-cs"/>
              </a:defRPr>
            </a:lvl4pPr>
            <a:lvl5pPr marL="2057400" indent="-228600" algn="l" defTabSz="457200" rtl="0" eaLnBrk="1" fontAlgn="base" hangingPunct="1">
              <a:spcBef>
                <a:spcPct val="20000"/>
              </a:spcBef>
              <a:spcAft>
                <a:spcPct val="0"/>
              </a:spcAft>
              <a:buClr>
                <a:srgbClr val="EFA82F"/>
              </a:buClr>
              <a:buFont typeface="Arial" charset="0"/>
              <a:buChar char="•"/>
              <a:defRPr sz="1600" kern="1200">
                <a:solidFill>
                  <a:srgbClr val="676767"/>
                </a:solidFill>
                <a:latin typeface="Arial"/>
                <a:ea typeface="MS PGothic" pitchFamily="34"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just">
              <a:lnSpc>
                <a:spcPct val="90000"/>
              </a:lnSpc>
              <a:spcBef>
                <a:spcPct val="50000"/>
              </a:spcBef>
              <a:buNone/>
            </a:pPr>
            <a:r>
              <a:rPr lang="es-PE" sz="1800" dirty="0" smtClean="0">
                <a:solidFill>
                  <a:schemeClr val="tx1"/>
                </a:solidFill>
              </a:rPr>
              <a:t>Una onda mecánica es una perturbación que viaja por el material o sustancia que es el medio. Al desplazarse la perturbación, las moléculas del medio se desplazan de varias formas alrededor de su posición de equilibrio. Las ondas transportan energía.</a:t>
            </a:r>
            <a:endParaRPr lang="es-PE" sz="1800" dirty="0">
              <a:solidFill>
                <a:schemeClr val="tx1"/>
              </a:solidFill>
            </a:endParaRPr>
          </a:p>
        </p:txBody>
      </p:sp>
      <p:pic>
        <p:nvPicPr>
          <p:cNvPr id="3" name="Picture 12" descr="S05_IMAG01"/>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5220072" y="1737292"/>
            <a:ext cx="3347115" cy="204210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4"/>
          <p:cNvSpPr txBox="1">
            <a:spLocks noChangeArrowheads="1"/>
          </p:cNvSpPr>
          <p:nvPr/>
        </p:nvSpPr>
        <p:spPr>
          <a:xfrm>
            <a:off x="1763688" y="799740"/>
            <a:ext cx="6962378" cy="792088"/>
          </a:xfrm>
          <a:prstGeom prst="rect">
            <a:avLst/>
          </a:prstGeom>
        </p:spPr>
        <p:txBody>
          <a:bodyPr/>
          <a:lstStyle>
            <a:lvl1pPr algn="l" defTabSz="457200" rtl="0" eaLnBrk="1" fontAlgn="base" hangingPunct="1">
              <a:spcBef>
                <a:spcPct val="0"/>
              </a:spcBef>
              <a:spcAft>
                <a:spcPct val="0"/>
              </a:spcAft>
              <a:defRPr sz="2000" kern="1200" cap="all">
                <a:solidFill>
                  <a:srgbClr val="EFA82F"/>
                </a:solidFill>
                <a:latin typeface="Arial"/>
                <a:ea typeface="MS PGothic" pitchFamily="34" charset="-128"/>
                <a:cs typeface="+mj-cs"/>
              </a:defRPr>
            </a:lvl1pPr>
            <a:lvl2pPr algn="l" defTabSz="457200" rtl="0" eaLnBrk="1" fontAlgn="base" hangingPunct="1">
              <a:spcBef>
                <a:spcPct val="0"/>
              </a:spcBef>
              <a:spcAft>
                <a:spcPct val="0"/>
              </a:spcAft>
              <a:defRPr sz="2000">
                <a:solidFill>
                  <a:srgbClr val="EFA82F"/>
                </a:solidFill>
                <a:latin typeface="Arial" pitchFamily="34" charset="0"/>
                <a:ea typeface="MS PGothic" pitchFamily="34" charset="-128"/>
              </a:defRPr>
            </a:lvl2pPr>
            <a:lvl3pPr algn="l" defTabSz="457200" rtl="0" eaLnBrk="1" fontAlgn="base" hangingPunct="1">
              <a:spcBef>
                <a:spcPct val="0"/>
              </a:spcBef>
              <a:spcAft>
                <a:spcPct val="0"/>
              </a:spcAft>
              <a:defRPr sz="2000">
                <a:solidFill>
                  <a:srgbClr val="EFA82F"/>
                </a:solidFill>
                <a:latin typeface="Arial" pitchFamily="34" charset="0"/>
                <a:ea typeface="MS PGothic" pitchFamily="34" charset="-128"/>
              </a:defRPr>
            </a:lvl3pPr>
            <a:lvl4pPr algn="l" defTabSz="457200" rtl="0" eaLnBrk="1" fontAlgn="base" hangingPunct="1">
              <a:spcBef>
                <a:spcPct val="0"/>
              </a:spcBef>
              <a:spcAft>
                <a:spcPct val="0"/>
              </a:spcAft>
              <a:defRPr sz="2000">
                <a:solidFill>
                  <a:srgbClr val="EFA82F"/>
                </a:solidFill>
                <a:latin typeface="Arial" pitchFamily="34" charset="0"/>
                <a:ea typeface="MS PGothic" pitchFamily="34" charset="-128"/>
              </a:defRPr>
            </a:lvl4pPr>
            <a:lvl5pPr algn="l" defTabSz="457200" rtl="0" eaLnBrk="1" fontAlgn="base" hangingPunct="1">
              <a:spcBef>
                <a:spcPct val="0"/>
              </a:spcBef>
              <a:spcAft>
                <a:spcPct val="0"/>
              </a:spcAft>
              <a:defRPr sz="2000">
                <a:solidFill>
                  <a:srgbClr val="EFA82F"/>
                </a:solidFill>
                <a:latin typeface="Arial" pitchFamily="34" charset="0"/>
                <a:ea typeface="MS PGothic" pitchFamily="34" charset="-128"/>
              </a:defRPr>
            </a:lvl5pPr>
            <a:lvl6pPr marL="457200" algn="l" defTabSz="457200" rtl="0" eaLnBrk="1" fontAlgn="base" hangingPunct="1">
              <a:spcBef>
                <a:spcPct val="0"/>
              </a:spcBef>
              <a:spcAft>
                <a:spcPct val="0"/>
              </a:spcAft>
              <a:defRPr sz="2000">
                <a:solidFill>
                  <a:srgbClr val="EFA82F"/>
                </a:solidFill>
                <a:latin typeface="Arial" pitchFamily="34" charset="0"/>
                <a:ea typeface="MS PGothic" pitchFamily="34" charset="-128"/>
              </a:defRPr>
            </a:lvl6pPr>
            <a:lvl7pPr marL="914400" algn="l" defTabSz="457200" rtl="0" eaLnBrk="1" fontAlgn="base" hangingPunct="1">
              <a:spcBef>
                <a:spcPct val="0"/>
              </a:spcBef>
              <a:spcAft>
                <a:spcPct val="0"/>
              </a:spcAft>
              <a:defRPr sz="2000">
                <a:solidFill>
                  <a:srgbClr val="EFA82F"/>
                </a:solidFill>
                <a:latin typeface="Arial" pitchFamily="34" charset="0"/>
                <a:ea typeface="MS PGothic" pitchFamily="34" charset="-128"/>
              </a:defRPr>
            </a:lvl7pPr>
            <a:lvl8pPr marL="1371600" algn="l" defTabSz="457200" rtl="0" eaLnBrk="1" fontAlgn="base" hangingPunct="1">
              <a:spcBef>
                <a:spcPct val="0"/>
              </a:spcBef>
              <a:spcAft>
                <a:spcPct val="0"/>
              </a:spcAft>
              <a:defRPr sz="2000">
                <a:solidFill>
                  <a:srgbClr val="EFA82F"/>
                </a:solidFill>
                <a:latin typeface="Arial" pitchFamily="34" charset="0"/>
                <a:ea typeface="MS PGothic" pitchFamily="34" charset="-128"/>
              </a:defRPr>
            </a:lvl8pPr>
            <a:lvl9pPr marL="1828800" algn="l" defTabSz="457200" rtl="0" eaLnBrk="1" fontAlgn="base" hangingPunct="1">
              <a:spcBef>
                <a:spcPct val="0"/>
              </a:spcBef>
              <a:spcAft>
                <a:spcPct val="0"/>
              </a:spcAft>
              <a:defRPr sz="2000">
                <a:solidFill>
                  <a:srgbClr val="EFA82F"/>
                </a:solidFill>
                <a:latin typeface="Arial" pitchFamily="34" charset="0"/>
                <a:ea typeface="MS PGothic" pitchFamily="34" charset="-128"/>
              </a:defRPr>
            </a:lvl9pPr>
          </a:lstStyle>
          <a:p>
            <a:r>
              <a:rPr lang="es-PE" dirty="0" smtClean="0">
                <a:solidFill>
                  <a:schemeClr val="tx1"/>
                </a:solidFill>
              </a:rPr>
              <a:t>Tipos de ondas mecánicas SEGÚN DIRECCIÓN DE PROPAGACIÓN</a:t>
            </a:r>
            <a:endParaRPr lang="es-PE" dirty="0">
              <a:solidFill>
                <a:schemeClr val="tx1"/>
              </a:solidFill>
            </a:endParaRPr>
          </a:p>
        </p:txBody>
      </p:sp>
      <p:sp>
        <p:nvSpPr>
          <p:cNvPr id="5" name="Rectángulo 4"/>
          <p:cNvSpPr/>
          <p:nvPr/>
        </p:nvSpPr>
        <p:spPr>
          <a:xfrm>
            <a:off x="379576" y="3821628"/>
            <a:ext cx="5213094" cy="369332"/>
          </a:xfrm>
          <a:prstGeom prst="rect">
            <a:avLst/>
          </a:prstGeom>
        </p:spPr>
        <p:txBody>
          <a:bodyPr wrap="none">
            <a:spAutoFit/>
          </a:bodyPr>
          <a:lstStyle/>
          <a:p>
            <a:r>
              <a:rPr lang="es-PE" dirty="0"/>
              <a:t>COMPORTAMIENTO DE UN </a:t>
            </a:r>
            <a:r>
              <a:rPr lang="es-PE" dirty="0" smtClean="0"/>
              <a:t>PARTÍCULA EN UNA ONDA</a:t>
            </a:r>
            <a:endParaRPr lang="es-PE" dirty="0"/>
          </a:p>
        </p:txBody>
      </p:sp>
      <p:pic>
        <p:nvPicPr>
          <p:cNvPr id="9" name="Imagen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0710" y="4233189"/>
            <a:ext cx="4453592" cy="1678489"/>
          </a:xfrm>
          <a:prstGeom prst="rect">
            <a:avLst/>
          </a:prstGeom>
        </p:spPr>
      </p:pic>
      <p:pic>
        <p:nvPicPr>
          <p:cNvPr id="11" name="Imagen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88547" y="4156602"/>
            <a:ext cx="3743847" cy="2010056"/>
          </a:xfrm>
          <a:prstGeom prst="rect">
            <a:avLst/>
          </a:prstGeom>
        </p:spPr>
      </p:pic>
      <p:sp>
        <p:nvSpPr>
          <p:cNvPr id="12" name="CuadroTexto 11"/>
          <p:cNvSpPr txBox="1"/>
          <p:nvPr/>
        </p:nvSpPr>
        <p:spPr>
          <a:xfrm>
            <a:off x="1763688" y="6165749"/>
            <a:ext cx="1728192" cy="369332"/>
          </a:xfrm>
          <a:prstGeom prst="rect">
            <a:avLst/>
          </a:prstGeom>
          <a:noFill/>
        </p:spPr>
        <p:txBody>
          <a:bodyPr wrap="square" rtlCol="0">
            <a:spAutoFit/>
          </a:bodyPr>
          <a:lstStyle/>
          <a:p>
            <a:r>
              <a:rPr lang="es-ES" dirty="0" smtClean="0"/>
              <a:t>Pulso de Onda</a:t>
            </a:r>
            <a:endParaRPr lang="es-PE" dirty="0"/>
          </a:p>
        </p:txBody>
      </p:sp>
      <p:sp>
        <p:nvSpPr>
          <p:cNvPr id="13" name="CuadroTexto 12"/>
          <p:cNvSpPr txBox="1"/>
          <p:nvPr/>
        </p:nvSpPr>
        <p:spPr>
          <a:xfrm>
            <a:off x="7104202" y="6081135"/>
            <a:ext cx="1728192" cy="369332"/>
          </a:xfrm>
          <a:prstGeom prst="rect">
            <a:avLst/>
          </a:prstGeom>
          <a:noFill/>
        </p:spPr>
        <p:txBody>
          <a:bodyPr wrap="square" rtlCol="0">
            <a:spAutoFit/>
          </a:bodyPr>
          <a:lstStyle/>
          <a:p>
            <a:r>
              <a:rPr lang="es-ES" dirty="0" smtClean="0"/>
              <a:t>Tren  de Onda</a:t>
            </a:r>
            <a:endParaRPr lang="es-PE" dirty="0"/>
          </a:p>
        </p:txBody>
      </p:sp>
    </p:spTree>
    <p:extLst>
      <p:ext uri="{BB962C8B-B14F-4D97-AF65-F5344CB8AC3E}">
        <p14:creationId xmlns:p14="http://schemas.microsoft.com/office/powerpoint/2010/main" val="2488359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4"/>
          <p:cNvSpPr txBox="1">
            <a:spLocks noChangeArrowheads="1"/>
          </p:cNvSpPr>
          <p:nvPr/>
        </p:nvSpPr>
        <p:spPr>
          <a:xfrm>
            <a:off x="1965537" y="851126"/>
            <a:ext cx="4248472" cy="469020"/>
          </a:xfrm>
          <a:prstGeom prst="rect">
            <a:avLst/>
          </a:prstGeom>
        </p:spPr>
        <p:txBody>
          <a:bodyPr/>
          <a:lstStyle>
            <a:lvl1pPr algn="l" defTabSz="457200" rtl="0" eaLnBrk="1" fontAlgn="base" hangingPunct="1">
              <a:spcBef>
                <a:spcPct val="0"/>
              </a:spcBef>
              <a:spcAft>
                <a:spcPct val="0"/>
              </a:spcAft>
              <a:defRPr sz="2000" kern="1200" cap="all">
                <a:solidFill>
                  <a:srgbClr val="EFA82F"/>
                </a:solidFill>
                <a:latin typeface="Arial"/>
                <a:ea typeface="MS PGothic" pitchFamily="34" charset="-128"/>
                <a:cs typeface="+mj-cs"/>
              </a:defRPr>
            </a:lvl1pPr>
            <a:lvl2pPr algn="l" defTabSz="457200" rtl="0" eaLnBrk="1" fontAlgn="base" hangingPunct="1">
              <a:spcBef>
                <a:spcPct val="0"/>
              </a:spcBef>
              <a:spcAft>
                <a:spcPct val="0"/>
              </a:spcAft>
              <a:defRPr sz="2000">
                <a:solidFill>
                  <a:srgbClr val="EFA82F"/>
                </a:solidFill>
                <a:latin typeface="Arial" pitchFamily="34" charset="0"/>
                <a:ea typeface="MS PGothic" pitchFamily="34" charset="-128"/>
              </a:defRPr>
            </a:lvl2pPr>
            <a:lvl3pPr algn="l" defTabSz="457200" rtl="0" eaLnBrk="1" fontAlgn="base" hangingPunct="1">
              <a:spcBef>
                <a:spcPct val="0"/>
              </a:spcBef>
              <a:spcAft>
                <a:spcPct val="0"/>
              </a:spcAft>
              <a:defRPr sz="2000">
                <a:solidFill>
                  <a:srgbClr val="EFA82F"/>
                </a:solidFill>
                <a:latin typeface="Arial" pitchFamily="34" charset="0"/>
                <a:ea typeface="MS PGothic" pitchFamily="34" charset="-128"/>
              </a:defRPr>
            </a:lvl3pPr>
            <a:lvl4pPr algn="l" defTabSz="457200" rtl="0" eaLnBrk="1" fontAlgn="base" hangingPunct="1">
              <a:spcBef>
                <a:spcPct val="0"/>
              </a:spcBef>
              <a:spcAft>
                <a:spcPct val="0"/>
              </a:spcAft>
              <a:defRPr sz="2000">
                <a:solidFill>
                  <a:srgbClr val="EFA82F"/>
                </a:solidFill>
                <a:latin typeface="Arial" pitchFamily="34" charset="0"/>
                <a:ea typeface="MS PGothic" pitchFamily="34" charset="-128"/>
              </a:defRPr>
            </a:lvl4pPr>
            <a:lvl5pPr algn="l" defTabSz="457200" rtl="0" eaLnBrk="1" fontAlgn="base" hangingPunct="1">
              <a:spcBef>
                <a:spcPct val="0"/>
              </a:spcBef>
              <a:spcAft>
                <a:spcPct val="0"/>
              </a:spcAft>
              <a:defRPr sz="2000">
                <a:solidFill>
                  <a:srgbClr val="EFA82F"/>
                </a:solidFill>
                <a:latin typeface="Arial" pitchFamily="34" charset="0"/>
                <a:ea typeface="MS PGothic" pitchFamily="34" charset="-128"/>
              </a:defRPr>
            </a:lvl5pPr>
            <a:lvl6pPr marL="457200" algn="l" defTabSz="457200" rtl="0" eaLnBrk="1" fontAlgn="base" hangingPunct="1">
              <a:spcBef>
                <a:spcPct val="0"/>
              </a:spcBef>
              <a:spcAft>
                <a:spcPct val="0"/>
              </a:spcAft>
              <a:defRPr sz="2000">
                <a:solidFill>
                  <a:srgbClr val="EFA82F"/>
                </a:solidFill>
                <a:latin typeface="Arial" pitchFamily="34" charset="0"/>
                <a:ea typeface="MS PGothic" pitchFamily="34" charset="-128"/>
              </a:defRPr>
            </a:lvl6pPr>
            <a:lvl7pPr marL="914400" algn="l" defTabSz="457200" rtl="0" eaLnBrk="1" fontAlgn="base" hangingPunct="1">
              <a:spcBef>
                <a:spcPct val="0"/>
              </a:spcBef>
              <a:spcAft>
                <a:spcPct val="0"/>
              </a:spcAft>
              <a:defRPr sz="2000">
                <a:solidFill>
                  <a:srgbClr val="EFA82F"/>
                </a:solidFill>
                <a:latin typeface="Arial" pitchFamily="34" charset="0"/>
                <a:ea typeface="MS PGothic" pitchFamily="34" charset="-128"/>
              </a:defRPr>
            </a:lvl7pPr>
            <a:lvl8pPr marL="1371600" algn="l" defTabSz="457200" rtl="0" eaLnBrk="1" fontAlgn="base" hangingPunct="1">
              <a:spcBef>
                <a:spcPct val="0"/>
              </a:spcBef>
              <a:spcAft>
                <a:spcPct val="0"/>
              </a:spcAft>
              <a:defRPr sz="2000">
                <a:solidFill>
                  <a:srgbClr val="EFA82F"/>
                </a:solidFill>
                <a:latin typeface="Arial" pitchFamily="34" charset="0"/>
                <a:ea typeface="MS PGothic" pitchFamily="34" charset="-128"/>
              </a:defRPr>
            </a:lvl8pPr>
            <a:lvl9pPr marL="1828800" algn="l" defTabSz="457200" rtl="0" eaLnBrk="1" fontAlgn="base" hangingPunct="1">
              <a:spcBef>
                <a:spcPct val="0"/>
              </a:spcBef>
              <a:spcAft>
                <a:spcPct val="0"/>
              </a:spcAft>
              <a:defRPr sz="2000">
                <a:solidFill>
                  <a:srgbClr val="EFA82F"/>
                </a:solidFill>
                <a:latin typeface="Arial" pitchFamily="34" charset="0"/>
                <a:ea typeface="MS PGothic" pitchFamily="34" charset="-128"/>
              </a:defRPr>
            </a:lvl9pPr>
          </a:lstStyle>
          <a:p>
            <a:r>
              <a:rPr lang="es-PE" b="1" dirty="0" smtClean="0">
                <a:solidFill>
                  <a:schemeClr val="tx1"/>
                </a:solidFill>
              </a:rPr>
              <a:t>LA ECUACIÓN DE ONDA LINEAL</a:t>
            </a:r>
            <a:endParaRPr lang="es-PE" b="1" dirty="0">
              <a:solidFill>
                <a:schemeClr val="tx1"/>
              </a:solidFill>
            </a:endParaRPr>
          </a:p>
        </p:txBody>
      </p:sp>
      <p:pic>
        <p:nvPicPr>
          <p:cNvPr id="9" name="Imagen 8"/>
          <p:cNvPicPr>
            <a:picLocks noChangeAspect="1"/>
          </p:cNvPicPr>
          <p:nvPr/>
        </p:nvPicPr>
        <p:blipFill>
          <a:blip r:embed="rId2"/>
          <a:stretch>
            <a:fillRect/>
          </a:stretch>
        </p:blipFill>
        <p:spPr>
          <a:xfrm>
            <a:off x="561467" y="2491739"/>
            <a:ext cx="2880147" cy="1770674"/>
          </a:xfrm>
          <a:prstGeom prst="rect">
            <a:avLst/>
          </a:prstGeom>
        </p:spPr>
      </p:pic>
      <p:sp>
        <p:nvSpPr>
          <p:cNvPr id="10" name="CuadroTexto 9"/>
          <p:cNvSpPr txBox="1"/>
          <p:nvPr/>
        </p:nvSpPr>
        <p:spPr>
          <a:xfrm>
            <a:off x="561467" y="1831462"/>
            <a:ext cx="4032448" cy="646331"/>
          </a:xfrm>
          <a:prstGeom prst="rect">
            <a:avLst/>
          </a:prstGeom>
          <a:noFill/>
        </p:spPr>
        <p:txBody>
          <a:bodyPr wrap="square" rtlCol="0">
            <a:spAutoFit/>
          </a:bodyPr>
          <a:lstStyle/>
          <a:p>
            <a:r>
              <a:rPr lang="es-ES" dirty="0" smtClean="0"/>
              <a:t>Deducimos la ecuación de onda lineal a través de la segunda ley de Newton.</a:t>
            </a:r>
            <a:endParaRPr lang="es-PE" dirty="0"/>
          </a:p>
        </p:txBody>
      </p:sp>
      <mc:AlternateContent xmlns:mc="http://schemas.openxmlformats.org/markup-compatibility/2006" xmlns:a14="http://schemas.microsoft.com/office/drawing/2010/main">
        <mc:Choice Requires="a14">
          <p:sp>
            <p:nvSpPr>
              <p:cNvPr id="11" name="CuadroTexto 10"/>
              <p:cNvSpPr txBox="1"/>
              <p:nvPr/>
            </p:nvSpPr>
            <p:spPr>
              <a:xfrm>
                <a:off x="489460" y="5106654"/>
                <a:ext cx="2952154" cy="55579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b="0" i="1" smtClean="0">
                          <a:latin typeface="Cambria Math" panose="02040503050406030204" pitchFamily="18" charset="0"/>
                        </a:rPr>
                        <m:t>𝑇𝑆𝑒𝑛</m:t>
                      </m:r>
                      <m:sSub>
                        <m:sSubPr>
                          <m:ctrlPr>
                            <a:rPr lang="es-ES" b="0" i="1" smtClean="0">
                              <a:latin typeface="Cambria Math" panose="02040503050406030204" pitchFamily="18" charset="0"/>
                            </a:rPr>
                          </m:ctrlPr>
                        </m:sSubPr>
                        <m:e>
                          <m:r>
                            <a:rPr lang="es-ES" b="0" i="1" smtClean="0">
                              <a:latin typeface="Cambria Math" panose="02040503050406030204" pitchFamily="18" charset="0"/>
                              <a:ea typeface="Cambria Math" panose="02040503050406030204" pitchFamily="18" charset="0"/>
                            </a:rPr>
                            <m:t>𝜃</m:t>
                          </m:r>
                        </m:e>
                        <m:sub>
                          <m:r>
                            <a:rPr lang="es-ES" b="0" i="1" smtClean="0">
                              <a:latin typeface="Cambria Math" panose="02040503050406030204" pitchFamily="18" charset="0"/>
                            </a:rPr>
                            <m:t>𝐵</m:t>
                          </m:r>
                        </m:sub>
                      </m:sSub>
                      <m:r>
                        <a:rPr lang="es-ES" b="0" i="1" smtClean="0">
                          <a:latin typeface="Cambria Math" panose="02040503050406030204" pitchFamily="18" charset="0"/>
                        </a:rPr>
                        <m:t>−</m:t>
                      </m:r>
                      <m:r>
                        <a:rPr lang="es-ES" i="1">
                          <a:latin typeface="Cambria Math" panose="02040503050406030204" pitchFamily="18" charset="0"/>
                        </a:rPr>
                        <m:t>𝑇𝑆𝑒𝑛</m:t>
                      </m:r>
                      <m:sSub>
                        <m:sSubPr>
                          <m:ctrlPr>
                            <a:rPr lang="es-ES" i="1">
                              <a:latin typeface="Cambria Math" panose="02040503050406030204" pitchFamily="18" charset="0"/>
                            </a:rPr>
                          </m:ctrlPr>
                        </m:sSubPr>
                        <m:e>
                          <m:r>
                            <a:rPr lang="es-ES" i="1">
                              <a:latin typeface="Cambria Math" panose="02040503050406030204" pitchFamily="18" charset="0"/>
                              <a:ea typeface="Cambria Math" panose="02040503050406030204" pitchFamily="18" charset="0"/>
                            </a:rPr>
                            <m:t>𝜃</m:t>
                          </m:r>
                        </m:e>
                        <m:sub>
                          <m:r>
                            <a:rPr lang="es-ES" b="0" i="1" smtClean="0">
                              <a:latin typeface="Cambria Math" panose="02040503050406030204" pitchFamily="18" charset="0"/>
                              <a:ea typeface="Cambria Math" panose="02040503050406030204" pitchFamily="18" charset="0"/>
                            </a:rPr>
                            <m:t>𝐴</m:t>
                          </m:r>
                        </m:sub>
                      </m:sSub>
                      <m:r>
                        <a:rPr lang="es-ES" i="1" smtClean="0">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𝜇</m:t>
                      </m:r>
                      <m:r>
                        <a:rPr lang="es-ES"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𝑥</m:t>
                      </m:r>
                      <m:f>
                        <m:fPr>
                          <m:ctrlPr>
                            <a:rPr lang="es-ES" b="0" i="1" smtClean="0">
                              <a:latin typeface="Cambria Math" panose="02040503050406030204" pitchFamily="18" charset="0"/>
                            </a:rPr>
                          </m:ctrlPr>
                        </m:fPr>
                        <m:num>
                          <m:sSup>
                            <m:sSupPr>
                              <m:ctrlPr>
                                <a:rPr lang="es-ES" b="0" i="1" smtClean="0">
                                  <a:latin typeface="Cambria Math" panose="02040503050406030204" pitchFamily="18" charset="0"/>
                                </a:rPr>
                              </m:ctrlPr>
                            </m:sSupPr>
                            <m:e>
                              <m:r>
                                <a:rPr lang="es-ES" b="0" i="1" smtClean="0">
                                  <a:latin typeface="Cambria Math" panose="02040503050406030204" pitchFamily="18" charset="0"/>
                                </a:rPr>
                                <m:t>𝑑</m:t>
                              </m:r>
                            </m:e>
                            <m:sup>
                              <m:r>
                                <a:rPr lang="es-ES" b="0" i="1" smtClean="0">
                                  <a:latin typeface="Cambria Math" panose="02040503050406030204" pitchFamily="18" charset="0"/>
                                </a:rPr>
                                <m:t>2</m:t>
                              </m:r>
                            </m:sup>
                          </m:sSup>
                          <m:r>
                            <a:rPr lang="es-ES" b="0" i="1" smtClean="0">
                              <a:latin typeface="Cambria Math" panose="02040503050406030204" pitchFamily="18" charset="0"/>
                            </a:rPr>
                            <m:t>𝑦</m:t>
                          </m:r>
                        </m:num>
                        <m:den>
                          <m:r>
                            <a:rPr lang="es-ES" b="0" i="1" smtClean="0">
                              <a:latin typeface="Cambria Math" panose="02040503050406030204" pitchFamily="18" charset="0"/>
                            </a:rPr>
                            <m:t>𝑑</m:t>
                          </m:r>
                          <m:sSup>
                            <m:sSupPr>
                              <m:ctrlPr>
                                <a:rPr lang="es-ES" b="0" i="1" smtClean="0">
                                  <a:latin typeface="Cambria Math" panose="02040503050406030204" pitchFamily="18" charset="0"/>
                                </a:rPr>
                              </m:ctrlPr>
                            </m:sSupPr>
                            <m:e>
                              <m:r>
                                <a:rPr lang="es-ES" b="0" i="1" smtClean="0">
                                  <a:latin typeface="Cambria Math" panose="02040503050406030204" pitchFamily="18" charset="0"/>
                                </a:rPr>
                                <m:t>𝑡</m:t>
                              </m:r>
                            </m:e>
                            <m:sup>
                              <m:r>
                                <a:rPr lang="es-ES" b="0" i="1" smtClean="0">
                                  <a:latin typeface="Cambria Math" panose="02040503050406030204" pitchFamily="18" charset="0"/>
                                </a:rPr>
                                <m:t>2</m:t>
                              </m:r>
                            </m:sup>
                          </m:sSup>
                        </m:den>
                      </m:f>
                    </m:oMath>
                  </m:oMathPara>
                </a14:m>
                <a:endParaRPr lang="es-PE" dirty="0"/>
              </a:p>
            </p:txBody>
          </p:sp>
        </mc:Choice>
        <mc:Fallback xmlns="">
          <p:sp>
            <p:nvSpPr>
              <p:cNvPr id="11" name="CuadroTexto 10"/>
              <p:cNvSpPr txBox="1">
                <a:spLocks noRot="1" noChangeAspect="1" noMove="1" noResize="1" noEditPoints="1" noAdjustHandles="1" noChangeArrowheads="1" noChangeShapeType="1" noTextEdit="1"/>
              </p:cNvSpPr>
              <p:nvPr/>
            </p:nvSpPr>
            <p:spPr>
              <a:xfrm>
                <a:off x="489460" y="5106654"/>
                <a:ext cx="2952154" cy="555793"/>
              </a:xfrm>
              <a:prstGeom prst="rect">
                <a:avLst/>
              </a:prstGeom>
              <a:blipFill rotWithShape="0">
                <a:blip r:embed="rId3"/>
                <a:stretch>
                  <a:fillRect/>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12" name="CuadroTexto 11"/>
              <p:cNvSpPr txBox="1"/>
              <p:nvPr/>
            </p:nvSpPr>
            <p:spPr>
              <a:xfrm>
                <a:off x="559932" y="4306417"/>
                <a:ext cx="1561902" cy="75623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nary>
                        <m:naryPr>
                          <m:chr m:val="∑"/>
                          <m:ctrlPr>
                            <a:rPr lang="es-PE" i="1" smtClean="0">
                              <a:latin typeface="Cambria Math" panose="02040503050406030204" pitchFamily="18" charset="0"/>
                            </a:rPr>
                          </m:ctrlPr>
                        </m:naryPr>
                        <m:sub>
                          <m:r>
                            <m:rPr>
                              <m:brk m:alnAt="23"/>
                            </m:rPr>
                            <a:rPr lang="es-ES" b="0" i="1" smtClean="0">
                              <a:latin typeface="Cambria Math" panose="02040503050406030204" pitchFamily="18" charset="0"/>
                            </a:rPr>
                            <m:t>𝑖</m:t>
                          </m:r>
                          <m:r>
                            <a:rPr lang="es-ES" b="0" i="1" smtClean="0">
                              <a:latin typeface="Cambria Math" panose="02040503050406030204" pitchFamily="18" charset="0"/>
                            </a:rPr>
                            <m:t>=1</m:t>
                          </m:r>
                        </m:sub>
                        <m:sup>
                          <m:r>
                            <a:rPr lang="es-ES" b="0" i="1" smtClean="0">
                              <a:latin typeface="Cambria Math" panose="02040503050406030204" pitchFamily="18" charset="0"/>
                            </a:rPr>
                            <m:t>𝑛</m:t>
                          </m:r>
                        </m:sup>
                        <m:e>
                          <m:sSub>
                            <m:sSubPr>
                              <m:ctrlPr>
                                <a:rPr lang="es-PE" i="1" smtClean="0">
                                  <a:latin typeface="Cambria Math" panose="02040503050406030204" pitchFamily="18" charset="0"/>
                                </a:rPr>
                              </m:ctrlPr>
                            </m:sSubPr>
                            <m:e>
                              <m:r>
                                <a:rPr lang="es-ES" b="0" i="1" smtClean="0">
                                  <a:latin typeface="Cambria Math" panose="02040503050406030204" pitchFamily="18" charset="0"/>
                                </a:rPr>
                                <m:t>𝐹</m:t>
                              </m:r>
                            </m:e>
                            <m:sub>
                              <m:r>
                                <a:rPr lang="es-ES" b="0" i="1" smtClean="0">
                                  <a:latin typeface="Cambria Math" panose="02040503050406030204" pitchFamily="18" charset="0"/>
                                </a:rPr>
                                <m:t>𝑦</m:t>
                              </m:r>
                            </m:sub>
                          </m:sSub>
                        </m:e>
                      </m:nary>
                      <m:r>
                        <a:rPr lang="es-PE" i="1" smtClean="0">
                          <a:latin typeface="Cambria Math" panose="02040503050406030204" pitchFamily="18" charset="0"/>
                        </a:rPr>
                        <m:t>=</m:t>
                      </m:r>
                      <m:r>
                        <a:rPr lang="es-ES" b="0" i="1" smtClean="0">
                          <a:latin typeface="Cambria Math" panose="02040503050406030204" pitchFamily="18" charset="0"/>
                        </a:rPr>
                        <m:t>𝑚</m:t>
                      </m:r>
                      <m:f>
                        <m:fPr>
                          <m:ctrlPr>
                            <a:rPr lang="es-ES" b="0" i="1" smtClean="0">
                              <a:latin typeface="Cambria Math" panose="02040503050406030204" pitchFamily="18" charset="0"/>
                            </a:rPr>
                          </m:ctrlPr>
                        </m:fPr>
                        <m:num>
                          <m:sSup>
                            <m:sSupPr>
                              <m:ctrlPr>
                                <a:rPr lang="es-ES" b="0" i="1" smtClean="0">
                                  <a:latin typeface="Cambria Math" panose="02040503050406030204" pitchFamily="18" charset="0"/>
                                </a:rPr>
                              </m:ctrlPr>
                            </m:sSupPr>
                            <m:e>
                              <m:r>
                                <a:rPr lang="es-ES" b="0" i="1" smtClean="0">
                                  <a:latin typeface="Cambria Math" panose="02040503050406030204" pitchFamily="18" charset="0"/>
                                </a:rPr>
                                <m:t>𝑑</m:t>
                              </m:r>
                            </m:e>
                            <m:sup>
                              <m:r>
                                <a:rPr lang="es-ES" b="0" i="1" smtClean="0">
                                  <a:latin typeface="Cambria Math" panose="02040503050406030204" pitchFamily="18" charset="0"/>
                                </a:rPr>
                                <m:t>2</m:t>
                              </m:r>
                            </m:sup>
                          </m:sSup>
                          <m:r>
                            <a:rPr lang="es-ES" b="0" i="1" smtClean="0">
                              <a:latin typeface="Cambria Math" panose="02040503050406030204" pitchFamily="18" charset="0"/>
                            </a:rPr>
                            <m:t>𝑦</m:t>
                          </m:r>
                        </m:num>
                        <m:den>
                          <m:r>
                            <a:rPr lang="es-ES" b="0" i="1" smtClean="0">
                              <a:latin typeface="Cambria Math" panose="02040503050406030204" pitchFamily="18" charset="0"/>
                            </a:rPr>
                            <m:t>𝑑</m:t>
                          </m:r>
                          <m:sSup>
                            <m:sSupPr>
                              <m:ctrlPr>
                                <a:rPr lang="es-ES" b="0" i="1" smtClean="0">
                                  <a:latin typeface="Cambria Math" panose="02040503050406030204" pitchFamily="18" charset="0"/>
                                </a:rPr>
                              </m:ctrlPr>
                            </m:sSupPr>
                            <m:e>
                              <m:r>
                                <a:rPr lang="es-ES" b="0" i="1" smtClean="0">
                                  <a:latin typeface="Cambria Math" panose="02040503050406030204" pitchFamily="18" charset="0"/>
                                </a:rPr>
                                <m:t>𝑡</m:t>
                              </m:r>
                            </m:e>
                            <m:sup>
                              <m:r>
                                <a:rPr lang="es-ES" b="0" i="1" smtClean="0">
                                  <a:latin typeface="Cambria Math" panose="02040503050406030204" pitchFamily="18" charset="0"/>
                                </a:rPr>
                                <m:t>2</m:t>
                              </m:r>
                            </m:sup>
                          </m:sSup>
                        </m:den>
                      </m:f>
                    </m:oMath>
                  </m:oMathPara>
                </a14:m>
                <a:endParaRPr lang="es-PE" dirty="0"/>
              </a:p>
            </p:txBody>
          </p:sp>
        </mc:Choice>
        <mc:Fallback xmlns="">
          <p:sp>
            <p:nvSpPr>
              <p:cNvPr id="12" name="CuadroTexto 11"/>
              <p:cNvSpPr txBox="1">
                <a:spLocks noRot="1" noChangeAspect="1" noMove="1" noResize="1" noEditPoints="1" noAdjustHandles="1" noChangeArrowheads="1" noChangeShapeType="1" noTextEdit="1"/>
              </p:cNvSpPr>
              <p:nvPr/>
            </p:nvSpPr>
            <p:spPr>
              <a:xfrm>
                <a:off x="559932" y="4306417"/>
                <a:ext cx="1561902" cy="756233"/>
              </a:xfrm>
              <a:prstGeom prst="rect">
                <a:avLst/>
              </a:prstGeom>
              <a:blipFill rotWithShape="0">
                <a:blip r:embed="rId4"/>
                <a:stretch>
                  <a:fillRect/>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13" name="CuadroTexto 12"/>
              <p:cNvSpPr txBox="1"/>
              <p:nvPr/>
            </p:nvSpPr>
            <p:spPr>
              <a:xfrm>
                <a:off x="489460" y="5788286"/>
                <a:ext cx="3118482" cy="71840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b="0" i="1" smtClean="0">
                          <a:latin typeface="Cambria Math" panose="02040503050406030204" pitchFamily="18" charset="0"/>
                        </a:rPr>
                        <m:t>𝑇</m:t>
                      </m:r>
                      <m:d>
                        <m:dPr>
                          <m:begChr m:val="["/>
                          <m:endChr m:val="]"/>
                          <m:ctrlPr>
                            <a:rPr lang="es-ES" b="0" i="1" smtClean="0">
                              <a:latin typeface="Cambria Math" panose="02040503050406030204" pitchFamily="18" charset="0"/>
                            </a:rPr>
                          </m:ctrlPr>
                        </m:dPr>
                        <m:e>
                          <m:sSub>
                            <m:sSubPr>
                              <m:ctrlPr>
                                <a:rPr lang="es-ES" b="0" i="1" smtClean="0">
                                  <a:latin typeface="Cambria Math" panose="02040503050406030204" pitchFamily="18" charset="0"/>
                                </a:rPr>
                              </m:ctrlPr>
                            </m:sSubPr>
                            <m:e>
                              <m:d>
                                <m:dPr>
                                  <m:ctrlPr>
                                    <a:rPr lang="es-ES" i="1">
                                      <a:latin typeface="Cambria Math" panose="02040503050406030204" pitchFamily="18" charset="0"/>
                                    </a:rPr>
                                  </m:ctrlPr>
                                </m:dPr>
                                <m:e>
                                  <m:f>
                                    <m:fPr>
                                      <m:ctrlPr>
                                        <a:rPr lang="es-ES" i="1">
                                          <a:latin typeface="Cambria Math" panose="02040503050406030204" pitchFamily="18" charset="0"/>
                                        </a:rPr>
                                      </m:ctrlPr>
                                    </m:fPr>
                                    <m:num>
                                      <m:r>
                                        <a:rPr lang="es-ES" i="1">
                                          <a:latin typeface="Cambria Math" panose="02040503050406030204" pitchFamily="18" charset="0"/>
                                        </a:rPr>
                                        <m:t>𝜕</m:t>
                                      </m:r>
                                      <m:r>
                                        <a:rPr lang="es-ES" i="1">
                                          <a:latin typeface="Cambria Math" panose="02040503050406030204" pitchFamily="18" charset="0"/>
                                        </a:rPr>
                                        <m:t>𝑦</m:t>
                                      </m:r>
                                    </m:num>
                                    <m:den>
                                      <m:r>
                                        <a:rPr lang="es-ES" i="1">
                                          <a:latin typeface="Cambria Math" panose="02040503050406030204" pitchFamily="18" charset="0"/>
                                        </a:rPr>
                                        <m:t>𝜕</m:t>
                                      </m:r>
                                      <m:r>
                                        <a:rPr lang="es-ES" i="1">
                                          <a:latin typeface="Cambria Math" panose="02040503050406030204" pitchFamily="18" charset="0"/>
                                        </a:rPr>
                                        <m:t>𝑥</m:t>
                                      </m:r>
                                    </m:den>
                                  </m:f>
                                </m:e>
                              </m:d>
                            </m:e>
                            <m:sub>
                              <m:r>
                                <a:rPr lang="es-ES" b="0" i="1" smtClean="0">
                                  <a:latin typeface="Cambria Math" panose="02040503050406030204" pitchFamily="18" charset="0"/>
                                </a:rPr>
                                <m:t>𝐵</m:t>
                              </m:r>
                            </m:sub>
                          </m:sSub>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d>
                                <m:dPr>
                                  <m:ctrlPr>
                                    <a:rPr lang="es-ES" i="1">
                                      <a:latin typeface="Cambria Math" panose="02040503050406030204" pitchFamily="18" charset="0"/>
                                    </a:rPr>
                                  </m:ctrlPr>
                                </m:dPr>
                                <m:e>
                                  <m:f>
                                    <m:fPr>
                                      <m:ctrlPr>
                                        <a:rPr lang="es-ES" i="1">
                                          <a:latin typeface="Cambria Math" panose="02040503050406030204" pitchFamily="18" charset="0"/>
                                        </a:rPr>
                                      </m:ctrlPr>
                                    </m:fPr>
                                    <m:num>
                                      <m:r>
                                        <a:rPr lang="es-ES" i="1">
                                          <a:latin typeface="Cambria Math" panose="02040503050406030204" pitchFamily="18" charset="0"/>
                                        </a:rPr>
                                        <m:t>𝜕</m:t>
                                      </m:r>
                                      <m:r>
                                        <a:rPr lang="es-ES" i="1">
                                          <a:latin typeface="Cambria Math" panose="02040503050406030204" pitchFamily="18" charset="0"/>
                                        </a:rPr>
                                        <m:t>𝑦</m:t>
                                      </m:r>
                                    </m:num>
                                    <m:den>
                                      <m:r>
                                        <a:rPr lang="es-ES" i="1">
                                          <a:latin typeface="Cambria Math" panose="02040503050406030204" pitchFamily="18" charset="0"/>
                                        </a:rPr>
                                        <m:t>𝜕</m:t>
                                      </m:r>
                                      <m:r>
                                        <a:rPr lang="es-ES" i="1">
                                          <a:latin typeface="Cambria Math" panose="02040503050406030204" pitchFamily="18" charset="0"/>
                                        </a:rPr>
                                        <m:t>𝑥</m:t>
                                      </m:r>
                                    </m:den>
                                  </m:f>
                                </m:e>
                              </m:d>
                            </m:e>
                            <m:sub>
                              <m:r>
                                <a:rPr lang="es-ES" b="0" i="1" smtClean="0">
                                  <a:latin typeface="Cambria Math" panose="02040503050406030204" pitchFamily="18" charset="0"/>
                                </a:rPr>
                                <m:t>𝐴</m:t>
                              </m:r>
                            </m:sub>
                          </m:sSub>
                        </m:e>
                      </m:d>
                      <m:r>
                        <a:rPr lang="es-ES" i="1" smtClean="0">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𝜇</m:t>
                      </m:r>
                      <m:r>
                        <a:rPr lang="es-ES"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𝑥</m:t>
                      </m:r>
                      <m:f>
                        <m:fPr>
                          <m:ctrlPr>
                            <a:rPr lang="es-ES" b="0" i="1" smtClean="0">
                              <a:latin typeface="Cambria Math" panose="02040503050406030204" pitchFamily="18" charset="0"/>
                            </a:rPr>
                          </m:ctrlPr>
                        </m:fPr>
                        <m:num>
                          <m:sSup>
                            <m:sSupPr>
                              <m:ctrlPr>
                                <a:rPr lang="es-ES" b="0" i="1" smtClean="0">
                                  <a:latin typeface="Cambria Math" panose="02040503050406030204" pitchFamily="18" charset="0"/>
                                </a:rPr>
                              </m:ctrlPr>
                            </m:sSupPr>
                            <m:e>
                              <m:r>
                                <a:rPr lang="es-ES" b="0" i="1" smtClean="0">
                                  <a:latin typeface="Cambria Math" panose="02040503050406030204" pitchFamily="18" charset="0"/>
                                </a:rPr>
                                <m:t>𝑑</m:t>
                              </m:r>
                            </m:e>
                            <m:sup>
                              <m:r>
                                <a:rPr lang="es-ES" b="0" i="1" smtClean="0">
                                  <a:latin typeface="Cambria Math" panose="02040503050406030204" pitchFamily="18" charset="0"/>
                                </a:rPr>
                                <m:t>2</m:t>
                              </m:r>
                            </m:sup>
                          </m:sSup>
                          <m:r>
                            <a:rPr lang="es-ES" b="0" i="1" smtClean="0">
                              <a:latin typeface="Cambria Math" panose="02040503050406030204" pitchFamily="18" charset="0"/>
                            </a:rPr>
                            <m:t>𝑦</m:t>
                          </m:r>
                        </m:num>
                        <m:den>
                          <m:r>
                            <a:rPr lang="es-ES" b="0" i="1" smtClean="0">
                              <a:latin typeface="Cambria Math" panose="02040503050406030204" pitchFamily="18" charset="0"/>
                            </a:rPr>
                            <m:t>𝑑</m:t>
                          </m:r>
                          <m:sSup>
                            <m:sSupPr>
                              <m:ctrlPr>
                                <a:rPr lang="es-ES" b="0" i="1" smtClean="0">
                                  <a:latin typeface="Cambria Math" panose="02040503050406030204" pitchFamily="18" charset="0"/>
                                </a:rPr>
                              </m:ctrlPr>
                            </m:sSupPr>
                            <m:e>
                              <m:r>
                                <a:rPr lang="es-ES" b="0" i="1" smtClean="0">
                                  <a:latin typeface="Cambria Math" panose="02040503050406030204" pitchFamily="18" charset="0"/>
                                </a:rPr>
                                <m:t>𝑡</m:t>
                              </m:r>
                            </m:e>
                            <m:sup>
                              <m:r>
                                <a:rPr lang="es-ES" b="0" i="1" smtClean="0">
                                  <a:latin typeface="Cambria Math" panose="02040503050406030204" pitchFamily="18" charset="0"/>
                                </a:rPr>
                                <m:t>2</m:t>
                              </m:r>
                            </m:sup>
                          </m:sSup>
                        </m:den>
                      </m:f>
                    </m:oMath>
                  </m:oMathPara>
                </a14:m>
                <a:endParaRPr lang="es-PE" dirty="0"/>
              </a:p>
            </p:txBody>
          </p:sp>
        </mc:Choice>
        <mc:Fallback xmlns="">
          <p:sp>
            <p:nvSpPr>
              <p:cNvPr id="13" name="CuadroTexto 12"/>
              <p:cNvSpPr txBox="1">
                <a:spLocks noRot="1" noChangeAspect="1" noMove="1" noResize="1" noEditPoints="1" noAdjustHandles="1" noChangeArrowheads="1" noChangeShapeType="1" noTextEdit="1"/>
              </p:cNvSpPr>
              <p:nvPr/>
            </p:nvSpPr>
            <p:spPr>
              <a:xfrm>
                <a:off x="489460" y="5788286"/>
                <a:ext cx="3118482" cy="718402"/>
              </a:xfrm>
              <a:prstGeom prst="rect">
                <a:avLst/>
              </a:prstGeom>
              <a:blipFill rotWithShape="0">
                <a:blip r:embed="rId5"/>
                <a:stretch>
                  <a:fillRect b="-855"/>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14" name="CuadroTexto 13"/>
              <p:cNvSpPr txBox="1"/>
              <p:nvPr/>
            </p:nvSpPr>
            <p:spPr>
              <a:xfrm>
                <a:off x="5364088" y="1831462"/>
                <a:ext cx="2461187" cy="79040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ES" b="0" i="1" smtClean="0">
                              <a:latin typeface="Cambria Math" panose="02040503050406030204" pitchFamily="18" charset="0"/>
                            </a:rPr>
                          </m:ctrlPr>
                        </m:fPr>
                        <m:num>
                          <m:r>
                            <a:rPr lang="es-ES" b="0" i="1" smtClean="0">
                              <a:latin typeface="Cambria Math" panose="02040503050406030204" pitchFamily="18" charset="0"/>
                              <a:ea typeface="Cambria Math" panose="02040503050406030204" pitchFamily="18" charset="0"/>
                            </a:rPr>
                            <m:t>𝜇</m:t>
                          </m:r>
                        </m:num>
                        <m:den>
                          <m:r>
                            <a:rPr lang="es-ES" b="0" i="1" smtClean="0">
                              <a:latin typeface="Cambria Math" panose="02040503050406030204" pitchFamily="18" charset="0"/>
                            </a:rPr>
                            <m:t>𝑇</m:t>
                          </m:r>
                        </m:den>
                      </m:f>
                      <m:f>
                        <m:fPr>
                          <m:ctrlPr>
                            <a:rPr lang="es-ES" b="0" i="1" smtClean="0">
                              <a:latin typeface="Cambria Math" panose="02040503050406030204" pitchFamily="18" charset="0"/>
                            </a:rPr>
                          </m:ctrlPr>
                        </m:fPr>
                        <m:num>
                          <m:sSup>
                            <m:sSupPr>
                              <m:ctrlPr>
                                <a:rPr lang="es-ES" b="0" i="1" smtClean="0">
                                  <a:latin typeface="Cambria Math" panose="02040503050406030204" pitchFamily="18" charset="0"/>
                                </a:rPr>
                              </m:ctrlPr>
                            </m:sSupPr>
                            <m:e>
                              <m:r>
                                <a:rPr lang="es-ES" i="1">
                                  <a:latin typeface="Cambria Math" panose="02040503050406030204" pitchFamily="18" charset="0"/>
                                </a:rPr>
                                <m:t>𝜕</m:t>
                              </m:r>
                            </m:e>
                            <m:sup>
                              <m:r>
                                <a:rPr lang="es-ES" b="0" i="1" smtClean="0">
                                  <a:latin typeface="Cambria Math" panose="02040503050406030204" pitchFamily="18" charset="0"/>
                                </a:rPr>
                                <m:t>2</m:t>
                              </m:r>
                            </m:sup>
                          </m:sSup>
                          <m:r>
                            <a:rPr lang="es-ES" b="0" i="1" smtClean="0">
                              <a:latin typeface="Cambria Math" panose="02040503050406030204" pitchFamily="18" charset="0"/>
                            </a:rPr>
                            <m:t>𝑦</m:t>
                          </m:r>
                        </m:num>
                        <m:den>
                          <m:r>
                            <a:rPr lang="es-ES" b="0" i="1" smtClean="0">
                              <a:latin typeface="Cambria Math" panose="02040503050406030204" pitchFamily="18" charset="0"/>
                            </a:rPr>
                            <m:t>𝜕</m:t>
                          </m:r>
                          <m:sSup>
                            <m:sSupPr>
                              <m:ctrlPr>
                                <a:rPr lang="es-ES" b="0" i="1" smtClean="0">
                                  <a:latin typeface="Cambria Math" panose="02040503050406030204" pitchFamily="18" charset="0"/>
                                </a:rPr>
                              </m:ctrlPr>
                            </m:sSupPr>
                            <m:e>
                              <m:r>
                                <a:rPr lang="es-ES" b="0" i="1" smtClean="0">
                                  <a:latin typeface="Cambria Math" panose="02040503050406030204" pitchFamily="18" charset="0"/>
                                </a:rPr>
                                <m:t>𝑡</m:t>
                              </m:r>
                            </m:e>
                            <m:sup>
                              <m:r>
                                <a:rPr lang="es-ES" b="0" i="1" smtClean="0">
                                  <a:latin typeface="Cambria Math" panose="02040503050406030204" pitchFamily="18" charset="0"/>
                                </a:rPr>
                                <m:t>2</m:t>
                              </m:r>
                            </m:sup>
                          </m:sSup>
                        </m:den>
                      </m:f>
                      <m:r>
                        <a:rPr lang="es-ES" i="1" smtClean="0">
                          <a:latin typeface="Cambria Math" panose="02040503050406030204" pitchFamily="18" charset="0"/>
                          <a:ea typeface="Cambria Math" panose="02040503050406030204" pitchFamily="18" charset="0"/>
                        </a:rPr>
                        <m:t>≈</m:t>
                      </m:r>
                      <m:f>
                        <m:fPr>
                          <m:ctrlPr>
                            <a:rPr lang="es-ES" i="1" smtClean="0">
                              <a:latin typeface="Cambria Math" panose="02040503050406030204" pitchFamily="18" charset="0"/>
                              <a:ea typeface="Cambria Math" panose="02040503050406030204" pitchFamily="18" charset="0"/>
                            </a:rPr>
                          </m:ctrlPr>
                        </m:fPr>
                        <m:num>
                          <m:sSub>
                            <m:sSubPr>
                              <m:ctrlPr>
                                <a:rPr lang="es-ES" i="1" smtClean="0">
                                  <a:latin typeface="Cambria Math" panose="02040503050406030204" pitchFamily="18" charset="0"/>
                                  <a:ea typeface="Cambria Math" panose="02040503050406030204" pitchFamily="18" charset="0"/>
                                </a:rPr>
                              </m:ctrlPr>
                            </m:sSubPr>
                            <m:e>
                              <m:d>
                                <m:dPr>
                                  <m:ctrlPr>
                                    <a:rPr lang="es-ES" i="1">
                                      <a:latin typeface="Cambria Math" panose="02040503050406030204" pitchFamily="18" charset="0"/>
                                      <a:ea typeface="Cambria Math" panose="02040503050406030204" pitchFamily="18" charset="0"/>
                                    </a:rPr>
                                  </m:ctrlPr>
                                </m:dPr>
                                <m:e>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𝑦</m:t>
                                      </m:r>
                                    </m:num>
                                    <m:den>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𝑥</m:t>
                                      </m:r>
                                    </m:den>
                                  </m:f>
                                </m:e>
                              </m:d>
                            </m:e>
                            <m:sub>
                              <m:r>
                                <a:rPr lang="es-ES" b="0" i="1" smtClean="0">
                                  <a:latin typeface="Cambria Math" panose="02040503050406030204" pitchFamily="18" charset="0"/>
                                  <a:ea typeface="Cambria Math" panose="02040503050406030204" pitchFamily="18" charset="0"/>
                                </a:rPr>
                                <m:t>𝐵</m:t>
                              </m:r>
                            </m:sub>
                          </m:sSub>
                          <m:r>
                            <a:rPr lang="es-ES" b="0" i="1" smtClean="0">
                              <a:latin typeface="Cambria Math" panose="02040503050406030204" pitchFamily="18" charset="0"/>
                              <a:ea typeface="Cambria Math" panose="02040503050406030204" pitchFamily="18" charset="0"/>
                            </a:rPr>
                            <m:t>−</m:t>
                          </m:r>
                          <m:sSub>
                            <m:sSubPr>
                              <m:ctrlPr>
                                <a:rPr lang="es-ES" i="1">
                                  <a:latin typeface="Cambria Math" panose="02040503050406030204" pitchFamily="18" charset="0"/>
                                  <a:ea typeface="Cambria Math" panose="02040503050406030204" pitchFamily="18" charset="0"/>
                                </a:rPr>
                              </m:ctrlPr>
                            </m:sSubPr>
                            <m:e>
                              <m:d>
                                <m:dPr>
                                  <m:ctrlPr>
                                    <a:rPr lang="es-ES" i="1">
                                      <a:latin typeface="Cambria Math" panose="02040503050406030204" pitchFamily="18" charset="0"/>
                                      <a:ea typeface="Cambria Math" panose="02040503050406030204" pitchFamily="18" charset="0"/>
                                    </a:rPr>
                                  </m:ctrlPr>
                                </m:dPr>
                                <m:e>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𝑦</m:t>
                                      </m:r>
                                    </m:num>
                                    <m:den>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𝑥</m:t>
                                      </m:r>
                                    </m:den>
                                  </m:f>
                                </m:e>
                              </m:d>
                            </m:e>
                            <m:sub>
                              <m:r>
                                <a:rPr lang="es-ES" b="0" i="1" smtClean="0">
                                  <a:latin typeface="Cambria Math" panose="02040503050406030204" pitchFamily="18" charset="0"/>
                                  <a:ea typeface="Cambria Math" panose="02040503050406030204" pitchFamily="18" charset="0"/>
                                </a:rPr>
                                <m:t>𝐴</m:t>
                              </m:r>
                            </m:sub>
                          </m:sSub>
                        </m:num>
                        <m:den>
                          <m:r>
                            <a:rPr lang="es-ES"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𝑥</m:t>
                          </m:r>
                        </m:den>
                      </m:f>
                    </m:oMath>
                  </m:oMathPara>
                </a14:m>
                <a:endParaRPr lang="es-PE" dirty="0"/>
              </a:p>
            </p:txBody>
          </p:sp>
        </mc:Choice>
        <mc:Fallback xmlns="">
          <p:sp>
            <p:nvSpPr>
              <p:cNvPr id="14" name="CuadroTexto 13"/>
              <p:cNvSpPr txBox="1">
                <a:spLocks noRot="1" noChangeAspect="1" noMove="1" noResize="1" noEditPoints="1" noAdjustHandles="1" noChangeArrowheads="1" noChangeShapeType="1" noTextEdit="1"/>
              </p:cNvSpPr>
              <p:nvPr/>
            </p:nvSpPr>
            <p:spPr>
              <a:xfrm>
                <a:off x="5364088" y="1831462"/>
                <a:ext cx="2461187" cy="790409"/>
              </a:xfrm>
              <a:prstGeom prst="rect">
                <a:avLst/>
              </a:prstGeom>
              <a:blipFill rotWithShape="0">
                <a:blip r:embed="rId6"/>
                <a:stretch>
                  <a:fillRect/>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15" name="CuadroTexto 14"/>
              <p:cNvSpPr txBox="1"/>
              <p:nvPr/>
            </p:nvSpPr>
            <p:spPr>
              <a:xfrm>
                <a:off x="5318306" y="2872790"/>
                <a:ext cx="2909707" cy="54425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PE" i="1" smtClean="0">
                              <a:latin typeface="Cambria Math" panose="02040503050406030204" pitchFamily="18" charset="0"/>
                            </a:rPr>
                          </m:ctrlPr>
                        </m:fPr>
                        <m:num>
                          <m:r>
                            <a:rPr lang="es-PE" i="1" smtClean="0">
                              <a:latin typeface="Cambria Math" panose="02040503050406030204" pitchFamily="18" charset="0"/>
                            </a:rPr>
                            <m:t>𝜕</m:t>
                          </m:r>
                          <m:r>
                            <a:rPr lang="es-ES" b="0" i="1" smtClean="0">
                              <a:latin typeface="Cambria Math" panose="02040503050406030204" pitchFamily="18" charset="0"/>
                            </a:rPr>
                            <m:t>𝑓</m:t>
                          </m:r>
                        </m:num>
                        <m:den>
                          <m:r>
                            <a:rPr lang="es-PE" i="1" smtClean="0">
                              <a:latin typeface="Cambria Math" panose="02040503050406030204" pitchFamily="18" charset="0"/>
                            </a:rPr>
                            <m:t>𝜕</m:t>
                          </m:r>
                          <m:r>
                            <a:rPr lang="es-PE" i="1" smtClean="0">
                              <a:latin typeface="Cambria Math" panose="02040503050406030204" pitchFamily="18" charset="0"/>
                            </a:rPr>
                            <m:t>𝑥</m:t>
                          </m:r>
                        </m:den>
                      </m:f>
                      <m:r>
                        <a:rPr lang="es-ES" b="0" i="1" smtClean="0">
                          <a:latin typeface="Cambria Math" panose="02040503050406030204" pitchFamily="18" charset="0"/>
                        </a:rPr>
                        <m:t>=</m:t>
                      </m:r>
                      <m:func>
                        <m:funcPr>
                          <m:ctrlPr>
                            <a:rPr lang="es-ES" b="0" i="1" smtClean="0">
                              <a:latin typeface="Cambria Math" panose="02040503050406030204" pitchFamily="18" charset="0"/>
                            </a:rPr>
                          </m:ctrlPr>
                        </m:funcPr>
                        <m:fName>
                          <m:limLow>
                            <m:limLowPr>
                              <m:ctrlPr>
                                <a:rPr lang="es-ES" b="0" i="1" smtClean="0">
                                  <a:latin typeface="Cambria Math" panose="02040503050406030204" pitchFamily="18" charset="0"/>
                                </a:rPr>
                              </m:ctrlPr>
                            </m:limLowPr>
                            <m:e>
                              <m:r>
                                <m:rPr>
                                  <m:sty m:val="p"/>
                                </m:rPr>
                                <a:rPr lang="es-ES" b="0" i="0" smtClean="0">
                                  <a:latin typeface="Cambria Math" panose="02040503050406030204" pitchFamily="18" charset="0"/>
                                </a:rPr>
                                <m:t>lim</m:t>
                              </m:r>
                            </m:e>
                            <m:lim>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𝑥</m:t>
                              </m:r>
                              <m:r>
                                <a:rPr lang="es-ES" b="0" i="1" smtClean="0">
                                  <a:latin typeface="Cambria Math" panose="02040503050406030204" pitchFamily="18" charset="0"/>
                                  <a:ea typeface="Cambria Math" panose="02040503050406030204" pitchFamily="18" charset="0"/>
                                </a:rPr>
                                <m:t>→0</m:t>
                              </m:r>
                            </m:lim>
                          </m:limLow>
                        </m:fName>
                        <m:e>
                          <m:f>
                            <m:fPr>
                              <m:ctrlPr>
                                <a:rPr lang="es-ES" b="0" i="1" smtClean="0">
                                  <a:latin typeface="Cambria Math" panose="02040503050406030204" pitchFamily="18" charset="0"/>
                                </a:rPr>
                              </m:ctrlPr>
                            </m:fPr>
                            <m:num>
                              <m:r>
                                <a:rPr lang="es-ES" b="0" i="1" smtClean="0">
                                  <a:latin typeface="Cambria Math" panose="02040503050406030204" pitchFamily="18" charset="0"/>
                                </a:rPr>
                                <m:t>𝑓</m:t>
                              </m:r>
                              <m:d>
                                <m:dPr>
                                  <m:ctrlPr>
                                    <a:rPr lang="es-ES" b="0" i="1" smtClean="0">
                                      <a:latin typeface="Cambria Math" panose="02040503050406030204" pitchFamily="18" charset="0"/>
                                    </a:rPr>
                                  </m:ctrlPr>
                                </m:dPr>
                                <m:e>
                                  <m:r>
                                    <a:rPr lang="es-ES" b="0" i="1" smtClean="0">
                                      <a:latin typeface="Cambria Math" panose="02040503050406030204" pitchFamily="18" charset="0"/>
                                    </a:rPr>
                                    <m:t>𝑥</m:t>
                                  </m:r>
                                  <m:r>
                                    <a:rPr lang="es-ES" b="0" i="1" smtClean="0">
                                      <a:latin typeface="Cambria Math" panose="02040503050406030204" pitchFamily="18" charset="0"/>
                                    </a:rPr>
                                    <m:t>+∆</m:t>
                                  </m:r>
                                  <m:r>
                                    <a:rPr lang="es-ES" i="1">
                                      <a:latin typeface="Cambria Math" panose="02040503050406030204" pitchFamily="18" charset="0"/>
                                      <a:ea typeface="Cambria Math" panose="02040503050406030204" pitchFamily="18" charset="0"/>
                                    </a:rPr>
                                    <m:t>𝑥</m:t>
                                  </m:r>
                                </m:e>
                              </m:d>
                              <m:r>
                                <a:rPr lang="es-ES" b="0" i="1" smtClean="0">
                                  <a:latin typeface="Cambria Math" panose="02040503050406030204" pitchFamily="18" charset="0"/>
                                </a:rPr>
                                <m:t>−</m:t>
                              </m:r>
                              <m:r>
                                <a:rPr lang="es-ES" b="0" i="1" smtClean="0">
                                  <a:latin typeface="Cambria Math" panose="02040503050406030204" pitchFamily="18" charset="0"/>
                                </a:rPr>
                                <m:t>𝑓</m:t>
                              </m:r>
                              <m:d>
                                <m:dPr>
                                  <m:ctrlPr>
                                    <a:rPr lang="es-ES" b="0" i="1" smtClean="0">
                                      <a:latin typeface="Cambria Math" panose="02040503050406030204" pitchFamily="18" charset="0"/>
                                    </a:rPr>
                                  </m:ctrlPr>
                                </m:dPr>
                                <m:e>
                                  <m:r>
                                    <a:rPr lang="es-ES" b="0" i="1" smtClean="0">
                                      <a:latin typeface="Cambria Math" panose="02040503050406030204" pitchFamily="18" charset="0"/>
                                    </a:rPr>
                                    <m:t>𝑥</m:t>
                                  </m:r>
                                </m:e>
                              </m:d>
                            </m:num>
                            <m:den>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𝑥</m:t>
                              </m:r>
                            </m:den>
                          </m:f>
                        </m:e>
                      </m:func>
                    </m:oMath>
                  </m:oMathPara>
                </a14:m>
                <a:endParaRPr lang="es-PE" dirty="0"/>
              </a:p>
            </p:txBody>
          </p:sp>
        </mc:Choice>
        <mc:Fallback xmlns="">
          <p:sp>
            <p:nvSpPr>
              <p:cNvPr id="15" name="CuadroTexto 14"/>
              <p:cNvSpPr txBox="1">
                <a:spLocks noRot="1" noChangeAspect="1" noMove="1" noResize="1" noEditPoints="1" noAdjustHandles="1" noChangeArrowheads="1" noChangeShapeType="1" noTextEdit="1"/>
              </p:cNvSpPr>
              <p:nvPr/>
            </p:nvSpPr>
            <p:spPr>
              <a:xfrm>
                <a:off x="5318306" y="2872790"/>
                <a:ext cx="2909707" cy="544252"/>
              </a:xfrm>
              <a:prstGeom prst="rect">
                <a:avLst/>
              </a:prstGeom>
              <a:blipFill rotWithShape="0">
                <a:blip r:embed="rId7"/>
                <a:stretch>
                  <a:fillRect/>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16" name="CuadroTexto 15"/>
              <p:cNvSpPr txBox="1"/>
              <p:nvPr/>
            </p:nvSpPr>
            <p:spPr>
              <a:xfrm>
                <a:off x="6071781" y="4654025"/>
                <a:ext cx="1398011" cy="5559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ES" b="0" i="1" smtClean="0">
                              <a:latin typeface="Cambria Math" panose="02040503050406030204" pitchFamily="18" charset="0"/>
                            </a:rPr>
                          </m:ctrlPr>
                        </m:fPr>
                        <m:num>
                          <m:sSup>
                            <m:sSupPr>
                              <m:ctrlPr>
                                <a:rPr lang="es-ES" b="0" i="1" smtClean="0">
                                  <a:latin typeface="Cambria Math" panose="02040503050406030204" pitchFamily="18" charset="0"/>
                                </a:rPr>
                              </m:ctrlPr>
                            </m:sSupPr>
                            <m:e>
                              <m:r>
                                <a:rPr lang="es-ES" i="1">
                                  <a:latin typeface="Cambria Math" panose="02040503050406030204" pitchFamily="18" charset="0"/>
                                </a:rPr>
                                <m:t>𝜕</m:t>
                              </m:r>
                            </m:e>
                            <m:sup>
                              <m:r>
                                <a:rPr lang="es-ES" b="0" i="1" smtClean="0">
                                  <a:latin typeface="Cambria Math" panose="02040503050406030204" pitchFamily="18" charset="0"/>
                                </a:rPr>
                                <m:t>2</m:t>
                              </m:r>
                            </m:sup>
                          </m:sSup>
                          <m:r>
                            <a:rPr lang="es-ES" b="0" i="1" smtClean="0">
                              <a:latin typeface="Cambria Math" panose="02040503050406030204" pitchFamily="18" charset="0"/>
                            </a:rPr>
                            <m:t>𝑦</m:t>
                          </m:r>
                        </m:num>
                        <m:den>
                          <m:r>
                            <a:rPr lang="es-ES" b="0" i="1" smtClean="0">
                              <a:latin typeface="Cambria Math" panose="02040503050406030204" pitchFamily="18" charset="0"/>
                            </a:rPr>
                            <m:t>𝜕</m:t>
                          </m:r>
                          <m:sSup>
                            <m:sSupPr>
                              <m:ctrlPr>
                                <a:rPr lang="es-ES" b="0" i="1" smtClean="0">
                                  <a:latin typeface="Cambria Math" panose="02040503050406030204" pitchFamily="18" charset="0"/>
                                </a:rPr>
                              </m:ctrlPr>
                            </m:sSupPr>
                            <m:e>
                              <m:r>
                                <a:rPr lang="es-ES" b="0" i="1" smtClean="0">
                                  <a:latin typeface="Cambria Math" panose="02040503050406030204" pitchFamily="18" charset="0"/>
                                </a:rPr>
                                <m:t>𝑡</m:t>
                              </m:r>
                            </m:e>
                            <m:sup>
                              <m:r>
                                <a:rPr lang="es-ES" b="0" i="1" smtClean="0">
                                  <a:latin typeface="Cambria Math" panose="02040503050406030204" pitchFamily="18" charset="0"/>
                                </a:rPr>
                                <m:t>2</m:t>
                              </m:r>
                            </m:sup>
                          </m:sSup>
                        </m:den>
                      </m:f>
                      <m:r>
                        <a:rPr lang="es-ES" b="0" i="1" smtClean="0">
                          <a:latin typeface="Cambria Math" panose="02040503050406030204" pitchFamily="18" charset="0"/>
                        </a:rPr>
                        <m:t>=</m:t>
                      </m:r>
                      <m:f>
                        <m:fPr>
                          <m:ctrlPr>
                            <a:rPr lang="es-ES" b="0" i="1" smtClean="0">
                              <a:latin typeface="Cambria Math" panose="02040503050406030204" pitchFamily="18" charset="0"/>
                            </a:rPr>
                          </m:ctrlPr>
                        </m:fPr>
                        <m:num>
                          <m:r>
                            <a:rPr lang="es-ES" b="0" i="1" smtClean="0">
                              <a:latin typeface="Cambria Math" panose="02040503050406030204" pitchFamily="18" charset="0"/>
                            </a:rPr>
                            <m:t>1</m:t>
                          </m:r>
                        </m:num>
                        <m:den>
                          <m:sSup>
                            <m:sSupPr>
                              <m:ctrlPr>
                                <a:rPr lang="es-ES" b="0" i="1" smtClean="0">
                                  <a:latin typeface="Cambria Math" panose="02040503050406030204" pitchFamily="18" charset="0"/>
                                </a:rPr>
                              </m:ctrlPr>
                            </m:sSupPr>
                            <m:e>
                              <m:r>
                                <a:rPr lang="es-ES" b="0" i="1" smtClean="0">
                                  <a:latin typeface="Cambria Math" panose="02040503050406030204" pitchFamily="18" charset="0"/>
                                </a:rPr>
                                <m:t>𝑣</m:t>
                              </m:r>
                            </m:e>
                            <m:sup>
                              <m:r>
                                <a:rPr lang="es-ES" b="0" i="1" smtClean="0">
                                  <a:latin typeface="Cambria Math" panose="02040503050406030204" pitchFamily="18" charset="0"/>
                                </a:rPr>
                                <m:t>2</m:t>
                              </m:r>
                            </m:sup>
                          </m:sSup>
                        </m:den>
                      </m:f>
                      <m:f>
                        <m:fPr>
                          <m:ctrlPr>
                            <a:rPr lang="es-ES" i="1">
                              <a:latin typeface="Cambria Math" panose="02040503050406030204" pitchFamily="18" charset="0"/>
                            </a:rPr>
                          </m:ctrlPr>
                        </m:fPr>
                        <m:num>
                          <m:sSup>
                            <m:sSupPr>
                              <m:ctrlPr>
                                <a:rPr lang="es-ES" i="1">
                                  <a:latin typeface="Cambria Math" panose="02040503050406030204" pitchFamily="18" charset="0"/>
                                </a:rPr>
                              </m:ctrlPr>
                            </m:sSupPr>
                            <m:e>
                              <m:r>
                                <a:rPr lang="es-ES" i="1">
                                  <a:latin typeface="Cambria Math" panose="02040503050406030204" pitchFamily="18" charset="0"/>
                                </a:rPr>
                                <m:t>𝜕</m:t>
                              </m:r>
                            </m:e>
                            <m:sup>
                              <m:r>
                                <a:rPr lang="es-ES" i="1">
                                  <a:latin typeface="Cambria Math" panose="02040503050406030204" pitchFamily="18" charset="0"/>
                                </a:rPr>
                                <m:t>2</m:t>
                              </m:r>
                            </m:sup>
                          </m:sSup>
                          <m:r>
                            <a:rPr lang="es-ES" i="1">
                              <a:latin typeface="Cambria Math" panose="02040503050406030204" pitchFamily="18" charset="0"/>
                            </a:rPr>
                            <m:t>𝑦</m:t>
                          </m:r>
                        </m:num>
                        <m:den>
                          <m:r>
                            <a:rPr lang="es-ES" i="1">
                              <a:latin typeface="Cambria Math" panose="02040503050406030204" pitchFamily="18" charset="0"/>
                            </a:rPr>
                            <m:t>𝜕</m:t>
                          </m:r>
                          <m:sSup>
                            <m:sSupPr>
                              <m:ctrlPr>
                                <a:rPr lang="es-ES" i="1">
                                  <a:latin typeface="Cambria Math" panose="02040503050406030204" pitchFamily="18" charset="0"/>
                                </a:rPr>
                              </m:ctrlPr>
                            </m:sSupPr>
                            <m:e>
                              <m:r>
                                <a:rPr lang="es-ES" b="0" i="1" smtClean="0">
                                  <a:latin typeface="Cambria Math" panose="02040503050406030204" pitchFamily="18" charset="0"/>
                                </a:rPr>
                                <m:t>𝑥</m:t>
                              </m:r>
                            </m:e>
                            <m:sup>
                              <m:r>
                                <a:rPr lang="es-ES" i="1">
                                  <a:latin typeface="Cambria Math" panose="02040503050406030204" pitchFamily="18" charset="0"/>
                                </a:rPr>
                                <m:t>2</m:t>
                              </m:r>
                            </m:sup>
                          </m:sSup>
                        </m:den>
                      </m:f>
                    </m:oMath>
                  </m:oMathPara>
                </a14:m>
                <a:endParaRPr lang="es-PE" dirty="0"/>
              </a:p>
            </p:txBody>
          </p:sp>
        </mc:Choice>
        <mc:Fallback xmlns="">
          <p:sp>
            <p:nvSpPr>
              <p:cNvPr id="16" name="CuadroTexto 15"/>
              <p:cNvSpPr txBox="1">
                <a:spLocks noRot="1" noChangeAspect="1" noMove="1" noResize="1" noEditPoints="1" noAdjustHandles="1" noChangeArrowheads="1" noChangeShapeType="1" noTextEdit="1"/>
              </p:cNvSpPr>
              <p:nvPr/>
            </p:nvSpPr>
            <p:spPr>
              <a:xfrm>
                <a:off x="6071781" y="4654025"/>
                <a:ext cx="1398011" cy="555921"/>
              </a:xfrm>
              <a:prstGeom prst="rect">
                <a:avLst/>
              </a:prstGeom>
              <a:blipFill rotWithShape="0">
                <a:blip r:embed="rId8"/>
                <a:stretch>
                  <a:fillRect/>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17" name="CuadroTexto 16"/>
              <p:cNvSpPr txBox="1"/>
              <p:nvPr/>
            </p:nvSpPr>
            <p:spPr>
              <a:xfrm>
                <a:off x="5986483" y="3513803"/>
                <a:ext cx="1295098" cy="55579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ES" i="1">
                              <a:latin typeface="Cambria Math" panose="02040503050406030204" pitchFamily="18" charset="0"/>
                            </a:rPr>
                          </m:ctrlPr>
                        </m:fPr>
                        <m:num>
                          <m:sSup>
                            <m:sSupPr>
                              <m:ctrlPr>
                                <a:rPr lang="es-ES" i="1">
                                  <a:latin typeface="Cambria Math" panose="02040503050406030204" pitchFamily="18" charset="0"/>
                                </a:rPr>
                              </m:ctrlPr>
                            </m:sSupPr>
                            <m:e>
                              <m:r>
                                <a:rPr lang="es-ES" i="1">
                                  <a:latin typeface="Cambria Math" panose="02040503050406030204" pitchFamily="18" charset="0"/>
                                </a:rPr>
                                <m:t>𝜕</m:t>
                              </m:r>
                            </m:e>
                            <m:sup>
                              <m:r>
                                <a:rPr lang="es-ES" i="1">
                                  <a:latin typeface="Cambria Math" panose="02040503050406030204" pitchFamily="18" charset="0"/>
                                </a:rPr>
                                <m:t>2</m:t>
                              </m:r>
                            </m:sup>
                          </m:sSup>
                          <m:r>
                            <a:rPr lang="es-ES" i="1">
                              <a:latin typeface="Cambria Math" panose="02040503050406030204" pitchFamily="18" charset="0"/>
                            </a:rPr>
                            <m:t>𝑦</m:t>
                          </m:r>
                        </m:num>
                        <m:den>
                          <m:r>
                            <a:rPr lang="es-ES" i="1">
                              <a:latin typeface="Cambria Math" panose="02040503050406030204" pitchFamily="18" charset="0"/>
                            </a:rPr>
                            <m:t>𝜕</m:t>
                          </m:r>
                          <m:sSup>
                            <m:sSupPr>
                              <m:ctrlPr>
                                <a:rPr lang="es-ES" i="1">
                                  <a:latin typeface="Cambria Math" panose="02040503050406030204" pitchFamily="18" charset="0"/>
                                </a:rPr>
                              </m:ctrlPr>
                            </m:sSupPr>
                            <m:e>
                              <m:r>
                                <a:rPr lang="es-ES" b="0" i="1" smtClean="0">
                                  <a:latin typeface="Cambria Math" panose="02040503050406030204" pitchFamily="18" charset="0"/>
                                </a:rPr>
                                <m:t>𝑥</m:t>
                              </m:r>
                            </m:e>
                            <m:sup>
                              <m:r>
                                <a:rPr lang="es-ES" i="1">
                                  <a:latin typeface="Cambria Math" panose="02040503050406030204" pitchFamily="18" charset="0"/>
                                </a:rPr>
                                <m:t>2</m:t>
                              </m:r>
                            </m:sup>
                          </m:sSup>
                        </m:den>
                      </m:f>
                      <m:r>
                        <a:rPr lang="es-ES" b="0" i="1" smtClean="0">
                          <a:latin typeface="Cambria Math" panose="02040503050406030204" pitchFamily="18" charset="0"/>
                        </a:rPr>
                        <m:t>=</m:t>
                      </m:r>
                      <m:f>
                        <m:fPr>
                          <m:ctrlPr>
                            <a:rPr lang="es-ES" i="1">
                              <a:latin typeface="Cambria Math" panose="02040503050406030204" pitchFamily="18" charset="0"/>
                            </a:rPr>
                          </m:ctrlPr>
                        </m:fPr>
                        <m:num>
                          <m:r>
                            <a:rPr lang="es-ES" i="1">
                              <a:latin typeface="Cambria Math" panose="02040503050406030204" pitchFamily="18" charset="0"/>
                              <a:ea typeface="Cambria Math" panose="02040503050406030204" pitchFamily="18" charset="0"/>
                            </a:rPr>
                            <m:t>𝜇</m:t>
                          </m:r>
                        </m:num>
                        <m:den>
                          <m:r>
                            <a:rPr lang="es-ES" i="1">
                              <a:latin typeface="Cambria Math" panose="02040503050406030204" pitchFamily="18" charset="0"/>
                            </a:rPr>
                            <m:t>𝑇</m:t>
                          </m:r>
                        </m:den>
                      </m:f>
                      <m:f>
                        <m:fPr>
                          <m:ctrlPr>
                            <a:rPr lang="es-ES" i="1">
                              <a:latin typeface="Cambria Math" panose="02040503050406030204" pitchFamily="18" charset="0"/>
                            </a:rPr>
                          </m:ctrlPr>
                        </m:fPr>
                        <m:num>
                          <m:sSup>
                            <m:sSupPr>
                              <m:ctrlPr>
                                <a:rPr lang="es-ES" i="1">
                                  <a:latin typeface="Cambria Math" panose="02040503050406030204" pitchFamily="18" charset="0"/>
                                </a:rPr>
                              </m:ctrlPr>
                            </m:sSupPr>
                            <m:e>
                              <m:r>
                                <a:rPr lang="es-ES" i="1">
                                  <a:latin typeface="Cambria Math" panose="02040503050406030204" pitchFamily="18" charset="0"/>
                                </a:rPr>
                                <m:t>𝜕</m:t>
                              </m:r>
                            </m:e>
                            <m:sup>
                              <m:r>
                                <a:rPr lang="es-ES" i="1">
                                  <a:latin typeface="Cambria Math" panose="02040503050406030204" pitchFamily="18" charset="0"/>
                                </a:rPr>
                                <m:t>2</m:t>
                              </m:r>
                            </m:sup>
                          </m:sSup>
                          <m:r>
                            <a:rPr lang="es-ES" i="1">
                              <a:latin typeface="Cambria Math" panose="02040503050406030204" pitchFamily="18" charset="0"/>
                            </a:rPr>
                            <m:t>𝑦</m:t>
                          </m:r>
                        </m:num>
                        <m:den>
                          <m:r>
                            <a:rPr lang="es-ES" i="1">
                              <a:latin typeface="Cambria Math" panose="02040503050406030204" pitchFamily="18" charset="0"/>
                            </a:rPr>
                            <m:t>𝜕</m:t>
                          </m:r>
                          <m:sSup>
                            <m:sSupPr>
                              <m:ctrlPr>
                                <a:rPr lang="es-ES" i="1">
                                  <a:latin typeface="Cambria Math" panose="02040503050406030204" pitchFamily="18" charset="0"/>
                                </a:rPr>
                              </m:ctrlPr>
                            </m:sSupPr>
                            <m:e>
                              <m:r>
                                <a:rPr lang="es-ES" i="1">
                                  <a:latin typeface="Cambria Math" panose="02040503050406030204" pitchFamily="18" charset="0"/>
                                </a:rPr>
                                <m:t>𝑡</m:t>
                              </m:r>
                            </m:e>
                            <m:sup>
                              <m:r>
                                <a:rPr lang="es-ES" i="1">
                                  <a:latin typeface="Cambria Math" panose="02040503050406030204" pitchFamily="18" charset="0"/>
                                </a:rPr>
                                <m:t>2</m:t>
                              </m:r>
                            </m:sup>
                          </m:sSup>
                        </m:den>
                      </m:f>
                    </m:oMath>
                  </m:oMathPara>
                </a14:m>
                <a:endParaRPr lang="es-PE" dirty="0"/>
              </a:p>
            </p:txBody>
          </p:sp>
        </mc:Choice>
        <mc:Fallback xmlns="">
          <p:sp>
            <p:nvSpPr>
              <p:cNvPr id="17" name="CuadroTexto 16"/>
              <p:cNvSpPr txBox="1">
                <a:spLocks noRot="1" noChangeAspect="1" noMove="1" noResize="1" noEditPoints="1" noAdjustHandles="1" noChangeArrowheads="1" noChangeShapeType="1" noTextEdit="1"/>
              </p:cNvSpPr>
              <p:nvPr/>
            </p:nvSpPr>
            <p:spPr>
              <a:xfrm>
                <a:off x="5986483" y="3513803"/>
                <a:ext cx="1295098" cy="555793"/>
              </a:xfrm>
              <a:prstGeom prst="rect">
                <a:avLst/>
              </a:prstGeom>
              <a:blipFill rotWithShape="0">
                <a:blip r:embed="rId9"/>
                <a:stretch>
                  <a:fillRect/>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18" name="Rectángulo 17"/>
              <p:cNvSpPr/>
              <p:nvPr/>
            </p:nvSpPr>
            <p:spPr>
              <a:xfrm>
                <a:off x="5364088" y="5239495"/>
                <a:ext cx="927690" cy="61286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s-ES" i="1" smtClean="0">
                              <a:latin typeface="Cambria Math" panose="02040503050406030204" pitchFamily="18" charset="0"/>
                            </a:rPr>
                          </m:ctrlPr>
                        </m:fPr>
                        <m:num>
                          <m:r>
                            <a:rPr lang="es-ES" i="1">
                              <a:latin typeface="Cambria Math" panose="02040503050406030204" pitchFamily="18" charset="0"/>
                            </a:rPr>
                            <m:t>1</m:t>
                          </m:r>
                        </m:num>
                        <m:den>
                          <m:sSup>
                            <m:sSupPr>
                              <m:ctrlPr>
                                <a:rPr lang="es-ES" i="1">
                                  <a:latin typeface="Cambria Math" panose="02040503050406030204" pitchFamily="18" charset="0"/>
                                </a:rPr>
                              </m:ctrlPr>
                            </m:sSupPr>
                            <m:e>
                              <m:r>
                                <a:rPr lang="es-ES" i="1">
                                  <a:latin typeface="Cambria Math" panose="02040503050406030204" pitchFamily="18" charset="0"/>
                                </a:rPr>
                                <m:t>𝑣</m:t>
                              </m:r>
                            </m:e>
                            <m:sup>
                              <m:r>
                                <a:rPr lang="es-ES" i="1">
                                  <a:latin typeface="Cambria Math" panose="02040503050406030204" pitchFamily="18" charset="0"/>
                                </a:rPr>
                                <m:t>2</m:t>
                              </m:r>
                            </m:sup>
                          </m:sSup>
                        </m:den>
                      </m:f>
                      <m:r>
                        <a:rPr lang="es-ES" b="0" i="1" smtClean="0">
                          <a:latin typeface="Cambria Math" panose="02040503050406030204" pitchFamily="18" charset="0"/>
                        </a:rPr>
                        <m:t>=</m:t>
                      </m:r>
                      <m:f>
                        <m:fPr>
                          <m:ctrlPr>
                            <a:rPr lang="es-ES" i="1">
                              <a:latin typeface="Cambria Math" panose="02040503050406030204" pitchFamily="18" charset="0"/>
                            </a:rPr>
                          </m:ctrlPr>
                        </m:fPr>
                        <m:num>
                          <m:r>
                            <a:rPr lang="es-ES" i="1">
                              <a:latin typeface="Cambria Math" panose="02040503050406030204" pitchFamily="18" charset="0"/>
                              <a:ea typeface="Cambria Math" panose="02040503050406030204" pitchFamily="18" charset="0"/>
                            </a:rPr>
                            <m:t>𝜇</m:t>
                          </m:r>
                        </m:num>
                        <m:den>
                          <m:r>
                            <a:rPr lang="es-ES" i="1">
                              <a:latin typeface="Cambria Math" panose="02040503050406030204" pitchFamily="18" charset="0"/>
                            </a:rPr>
                            <m:t>𝑇</m:t>
                          </m:r>
                        </m:den>
                      </m:f>
                    </m:oMath>
                  </m:oMathPara>
                </a14:m>
                <a:endParaRPr lang="es-PE" dirty="0"/>
              </a:p>
            </p:txBody>
          </p:sp>
        </mc:Choice>
        <mc:Fallback xmlns="">
          <p:sp>
            <p:nvSpPr>
              <p:cNvPr id="18" name="Rectángulo 17"/>
              <p:cNvSpPr>
                <a:spLocks noRot="1" noChangeAspect="1" noMove="1" noResize="1" noEditPoints="1" noAdjustHandles="1" noChangeArrowheads="1" noChangeShapeType="1" noTextEdit="1"/>
              </p:cNvSpPr>
              <p:nvPr/>
            </p:nvSpPr>
            <p:spPr>
              <a:xfrm>
                <a:off x="5364088" y="5239495"/>
                <a:ext cx="927690" cy="612860"/>
              </a:xfrm>
              <a:prstGeom prst="rect">
                <a:avLst/>
              </a:prstGeom>
              <a:blipFill rotWithShape="0">
                <a:blip r:embed="rId10"/>
                <a:stretch>
                  <a:fillRect/>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19" name="CuadroTexto 18"/>
              <p:cNvSpPr txBox="1"/>
              <p:nvPr/>
            </p:nvSpPr>
            <p:spPr>
              <a:xfrm>
                <a:off x="7337192" y="5166100"/>
                <a:ext cx="805477" cy="8183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b="0" i="1" smtClean="0">
                          <a:latin typeface="Cambria Math" panose="02040503050406030204" pitchFamily="18" charset="0"/>
                        </a:rPr>
                        <m:t>𝑣</m:t>
                      </m:r>
                      <m:r>
                        <a:rPr lang="es-ES" b="0" i="1" smtClean="0">
                          <a:latin typeface="Cambria Math" panose="02040503050406030204" pitchFamily="18" charset="0"/>
                        </a:rPr>
                        <m:t>=</m:t>
                      </m:r>
                      <m:rad>
                        <m:radPr>
                          <m:degHide m:val="on"/>
                          <m:ctrlPr>
                            <a:rPr lang="es-ES" b="0" i="1" smtClean="0">
                              <a:latin typeface="Cambria Math" panose="02040503050406030204" pitchFamily="18" charset="0"/>
                            </a:rPr>
                          </m:ctrlPr>
                        </m:radPr>
                        <m:deg/>
                        <m:e>
                          <m:f>
                            <m:fPr>
                              <m:ctrlPr>
                                <a:rPr lang="es-ES" b="0" i="1" smtClean="0">
                                  <a:latin typeface="Cambria Math" panose="02040503050406030204" pitchFamily="18" charset="0"/>
                                </a:rPr>
                              </m:ctrlPr>
                            </m:fPr>
                            <m:num>
                              <m:r>
                                <a:rPr lang="es-ES" b="0" i="1" smtClean="0">
                                  <a:latin typeface="Cambria Math" panose="02040503050406030204" pitchFamily="18" charset="0"/>
                                </a:rPr>
                                <m:t>𝑇</m:t>
                              </m:r>
                            </m:num>
                            <m:den>
                              <m:r>
                                <a:rPr lang="es-ES" b="0" i="1" smtClean="0">
                                  <a:latin typeface="Cambria Math" panose="02040503050406030204" pitchFamily="18" charset="0"/>
                                  <a:ea typeface="Cambria Math" panose="02040503050406030204" pitchFamily="18" charset="0"/>
                                </a:rPr>
                                <m:t>𝜇</m:t>
                              </m:r>
                            </m:den>
                          </m:f>
                        </m:e>
                      </m:rad>
                    </m:oMath>
                  </m:oMathPara>
                </a14:m>
                <a:endParaRPr lang="es-PE" dirty="0"/>
              </a:p>
            </p:txBody>
          </p:sp>
        </mc:Choice>
        <mc:Fallback xmlns="">
          <p:sp>
            <p:nvSpPr>
              <p:cNvPr id="19" name="CuadroTexto 18"/>
              <p:cNvSpPr txBox="1">
                <a:spLocks noRot="1" noChangeAspect="1" noMove="1" noResize="1" noEditPoints="1" noAdjustHandles="1" noChangeArrowheads="1" noChangeShapeType="1" noTextEdit="1"/>
              </p:cNvSpPr>
              <p:nvPr/>
            </p:nvSpPr>
            <p:spPr>
              <a:xfrm>
                <a:off x="7337192" y="5166100"/>
                <a:ext cx="805477" cy="818366"/>
              </a:xfrm>
              <a:prstGeom prst="rect">
                <a:avLst/>
              </a:prstGeom>
              <a:blipFill rotWithShape="0">
                <a:blip r:embed="rId11"/>
                <a:stretch>
                  <a:fillRect/>
                </a:stretch>
              </a:blipFill>
            </p:spPr>
            <p:txBody>
              <a:bodyPr/>
              <a:lstStyle/>
              <a:p>
                <a:r>
                  <a:rPr lang="es-PE">
                    <a:noFill/>
                  </a:rPr>
                  <a:t> </a:t>
                </a:r>
              </a:p>
            </p:txBody>
          </p:sp>
        </mc:Fallback>
      </mc:AlternateContent>
      <p:sp>
        <p:nvSpPr>
          <p:cNvPr id="20" name="CuadroTexto 19"/>
          <p:cNvSpPr txBox="1"/>
          <p:nvPr/>
        </p:nvSpPr>
        <p:spPr>
          <a:xfrm>
            <a:off x="4752001" y="4129429"/>
            <a:ext cx="3764061" cy="646331"/>
          </a:xfrm>
          <a:prstGeom prst="rect">
            <a:avLst/>
          </a:prstGeom>
          <a:noFill/>
        </p:spPr>
        <p:txBody>
          <a:bodyPr wrap="square" rtlCol="0">
            <a:spAutoFit/>
          </a:bodyPr>
          <a:lstStyle/>
          <a:p>
            <a:r>
              <a:rPr lang="es-ES" dirty="0" smtClean="0"/>
              <a:t>Comparando con la ecuación canónica de onda.</a:t>
            </a:r>
            <a:endParaRPr lang="es-PE" dirty="0"/>
          </a:p>
        </p:txBody>
      </p:sp>
      <mc:AlternateContent xmlns:mc="http://schemas.openxmlformats.org/markup-compatibility/2006" xmlns:a14="http://schemas.microsoft.com/office/drawing/2010/main">
        <mc:Choice Requires="a14">
          <p:sp>
            <p:nvSpPr>
              <p:cNvPr id="2" name="Rectángulo 1"/>
              <p:cNvSpPr/>
              <p:nvPr/>
            </p:nvSpPr>
            <p:spPr>
              <a:xfrm>
                <a:off x="4932040" y="6051640"/>
                <a:ext cx="4172874" cy="646331"/>
              </a:xfrm>
              <a:prstGeom prst="rect">
                <a:avLst/>
              </a:prstGeom>
            </p:spPr>
            <p:txBody>
              <a:bodyPr wrap="none">
                <a:spAutoFit/>
              </a:bodyPr>
              <a:lstStyle/>
              <a:p>
                <a14:m>
                  <m:oMath xmlns:m="http://schemas.openxmlformats.org/officeDocument/2006/math">
                    <m:r>
                      <a:rPr lang="es-ES" i="1">
                        <a:latin typeface="Cambria Math" panose="02040503050406030204" pitchFamily="18" charset="0"/>
                      </a:rPr>
                      <m:t>𝑣</m:t>
                    </m:r>
                  </m:oMath>
                </a14:m>
                <a:r>
                  <a:rPr lang="es-PE" dirty="0" smtClean="0"/>
                  <a:t>: representa la velocidad de propagación </a:t>
                </a:r>
              </a:p>
              <a:p>
                <a:r>
                  <a:rPr lang="es-PE" dirty="0" smtClean="0"/>
                  <a:t>de una onda en una cuerda</a:t>
                </a:r>
                <a:endParaRPr lang="es-PE" dirty="0"/>
              </a:p>
            </p:txBody>
          </p:sp>
        </mc:Choice>
        <mc:Fallback xmlns="">
          <p:sp>
            <p:nvSpPr>
              <p:cNvPr id="2" name="Rectángulo 1"/>
              <p:cNvSpPr>
                <a:spLocks noRot="1" noChangeAspect="1" noMove="1" noResize="1" noEditPoints="1" noAdjustHandles="1" noChangeArrowheads="1" noChangeShapeType="1" noTextEdit="1"/>
              </p:cNvSpPr>
              <p:nvPr/>
            </p:nvSpPr>
            <p:spPr>
              <a:xfrm>
                <a:off x="4932040" y="6051640"/>
                <a:ext cx="4172874" cy="646331"/>
              </a:xfrm>
              <a:prstGeom prst="rect">
                <a:avLst/>
              </a:prstGeom>
              <a:blipFill rotWithShape="0">
                <a:blip r:embed="rId12"/>
                <a:stretch>
                  <a:fillRect l="-1168" t="-5660" r="-146" b="-14151"/>
                </a:stretch>
              </a:blipFill>
            </p:spPr>
            <p:txBody>
              <a:bodyPr/>
              <a:lstStyle/>
              <a:p>
                <a:r>
                  <a:rPr lang="es-PE">
                    <a:noFill/>
                  </a:rPr>
                  <a:t> </a:t>
                </a:r>
              </a:p>
            </p:txBody>
          </p:sp>
        </mc:Fallback>
      </mc:AlternateContent>
    </p:spTree>
    <p:extLst>
      <p:ext uri="{BB962C8B-B14F-4D97-AF65-F5344CB8AC3E}">
        <p14:creationId xmlns:p14="http://schemas.microsoft.com/office/powerpoint/2010/main" val="408268378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5 Título"/>
          <p:cNvSpPr>
            <a:spLocks noGrp="1"/>
          </p:cNvSpPr>
          <p:nvPr>
            <p:ph type="title"/>
          </p:nvPr>
        </p:nvSpPr>
        <p:spPr>
          <a:xfrm>
            <a:off x="1894160" y="828898"/>
            <a:ext cx="3079254" cy="684372"/>
          </a:xfrm>
        </p:spPr>
        <p:txBody>
          <a:bodyPr/>
          <a:lstStyle/>
          <a:p>
            <a:r>
              <a:rPr lang="es-PE" b="1" dirty="0" smtClean="0"/>
              <a:t>Función de onda</a:t>
            </a:r>
            <a:endParaRPr lang="es-PE" b="1" dirty="0"/>
          </a:p>
        </p:txBody>
      </p:sp>
      <p:sp>
        <p:nvSpPr>
          <p:cNvPr id="7" name="6 Marcador de contenido"/>
          <p:cNvSpPr>
            <a:spLocks noGrp="1"/>
          </p:cNvSpPr>
          <p:nvPr>
            <p:ph sz="half" idx="1"/>
          </p:nvPr>
        </p:nvSpPr>
        <p:spPr>
          <a:xfrm>
            <a:off x="628650" y="1825625"/>
            <a:ext cx="8119814" cy="4351338"/>
          </a:xfrm>
        </p:spPr>
        <p:txBody>
          <a:bodyPr>
            <a:normAutofit/>
          </a:bodyPr>
          <a:lstStyle/>
          <a:p>
            <a:pPr marL="0" indent="0" algn="just">
              <a:buNone/>
            </a:pPr>
            <a:r>
              <a:rPr lang="es-PE" dirty="0"/>
              <a:t>La función de onda </a:t>
            </a:r>
            <a:r>
              <a:rPr lang="es-PE" dirty="0" smtClean="0"/>
              <a:t>que satisface la ecuación de onda tiene la </a:t>
            </a:r>
            <a:r>
              <a:rPr lang="es-PE" dirty="0"/>
              <a:t>siguiente </a:t>
            </a:r>
            <a:r>
              <a:rPr lang="es-PE" dirty="0" smtClean="0"/>
              <a:t>expresión:</a:t>
            </a:r>
            <a:endParaRPr lang="es-PE" dirty="0"/>
          </a:p>
          <a:p>
            <a:endParaRPr lang="es-PE" dirty="0"/>
          </a:p>
          <a:p>
            <a:endParaRPr lang="es-PE" dirty="0"/>
          </a:p>
          <a:p>
            <a:pPr marL="0" indent="0">
              <a:buNone/>
            </a:pPr>
            <a:r>
              <a:rPr lang="es-PE" dirty="0" smtClean="0"/>
              <a:t>d</a:t>
            </a:r>
            <a:r>
              <a:rPr lang="es-ES" dirty="0" err="1" smtClean="0"/>
              <a:t>onde</a:t>
            </a:r>
            <a:r>
              <a:rPr lang="es-ES" dirty="0" smtClean="0"/>
              <a:t>,</a:t>
            </a:r>
          </a:p>
          <a:p>
            <a:pPr marL="0" indent="0">
              <a:buNone/>
            </a:pPr>
            <a:endParaRPr lang="es-ES" dirty="0"/>
          </a:p>
          <a:p>
            <a:pPr marL="0" indent="0">
              <a:buNone/>
            </a:pPr>
            <a:r>
              <a:rPr lang="es-ES" dirty="0" smtClean="0">
                <a:sym typeface="Symbol" pitchFamily="18" charset="2"/>
              </a:rPr>
              <a:t>y es la dirección de la perturbación</a:t>
            </a:r>
          </a:p>
          <a:p>
            <a:pPr marL="0" indent="0">
              <a:buNone/>
            </a:pPr>
            <a:r>
              <a:rPr lang="es-ES" dirty="0" smtClean="0">
                <a:sym typeface="Symbol" pitchFamily="18" charset="2"/>
              </a:rPr>
              <a:t>X es la dirección de la propagación</a:t>
            </a:r>
          </a:p>
          <a:p>
            <a:pPr marL="0" indent="0">
              <a:buNone/>
            </a:pPr>
            <a:r>
              <a:rPr lang="es-ES" dirty="0" smtClean="0">
                <a:sym typeface="Symbol" pitchFamily="18" charset="2"/>
              </a:rPr>
              <a:t>A es la amplitud de la onda</a:t>
            </a:r>
          </a:p>
          <a:p>
            <a:pPr marL="0" indent="0">
              <a:buNone/>
            </a:pPr>
            <a:r>
              <a:rPr lang="es-ES" dirty="0" smtClean="0">
                <a:sym typeface="Symbol" pitchFamily="18" charset="2"/>
              </a:rPr>
              <a:t> </a:t>
            </a:r>
            <a:r>
              <a:rPr lang="es-ES" dirty="0">
                <a:sym typeface="Symbol" pitchFamily="18" charset="2"/>
              </a:rPr>
              <a:t>es la frecuencia angular </a:t>
            </a:r>
          </a:p>
          <a:p>
            <a:pPr marL="0" indent="0" algn="just">
              <a:buNone/>
            </a:pPr>
            <a:r>
              <a:rPr lang="es-ES" i="1" dirty="0">
                <a:latin typeface="Times New Roman" pitchFamily="18" charset="0"/>
                <a:sym typeface="Symbol" pitchFamily="18" charset="2"/>
              </a:rPr>
              <a:t>k</a:t>
            </a:r>
            <a:r>
              <a:rPr lang="es-ES" dirty="0">
                <a:sym typeface="Symbol" pitchFamily="18" charset="2"/>
              </a:rPr>
              <a:t> es el número de onda</a:t>
            </a:r>
            <a:endParaRPr lang="es-PE" dirty="0"/>
          </a:p>
          <a:p>
            <a:endParaRPr lang="es-PE" dirty="0"/>
          </a:p>
        </p:txBody>
      </p:sp>
      <p:graphicFrame>
        <p:nvGraphicFramePr>
          <p:cNvPr id="4" name="Object 6"/>
          <p:cNvGraphicFramePr>
            <a:graphicFrameLocks noChangeAspect="1"/>
          </p:cNvGraphicFramePr>
          <p:nvPr>
            <p:extLst>
              <p:ext uri="{D42A27DB-BD31-4B8C-83A1-F6EECF244321}">
                <p14:modId xmlns:p14="http://schemas.microsoft.com/office/powerpoint/2010/main" val="690557262"/>
              </p:ext>
            </p:extLst>
          </p:nvPr>
        </p:nvGraphicFramePr>
        <p:xfrm>
          <a:off x="1854423" y="3353513"/>
          <a:ext cx="682625" cy="557213"/>
        </p:xfrm>
        <a:graphic>
          <a:graphicData uri="http://schemas.openxmlformats.org/presentationml/2006/ole">
            <mc:AlternateContent xmlns:mc="http://schemas.openxmlformats.org/markup-compatibility/2006">
              <mc:Choice xmlns:v="urn:schemas-microsoft-com:vml" Requires="v">
                <p:oleObj spid="_x0000_s5352" name="Equation" r:id="rId3" imgW="482391" imgH="393529" progId="">
                  <p:embed/>
                </p:oleObj>
              </mc:Choice>
              <mc:Fallback>
                <p:oleObj name="Equation" r:id="rId3" imgW="482391" imgH="393529" progId="">
                  <p:embed/>
                  <p:pic>
                    <p:nvPicPr>
                      <p:cNvPr id="0" name="Picture 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54423" y="3353513"/>
                        <a:ext cx="682625" cy="557213"/>
                      </a:xfrm>
                      <a:prstGeom prst="rect">
                        <a:avLst/>
                      </a:prstGeom>
                      <a:solidFill>
                        <a:srgbClr val="00B0F0"/>
                      </a:solidFill>
                      <a:extLst/>
                    </p:spPr>
                  </p:pic>
                </p:oleObj>
              </mc:Fallback>
            </mc:AlternateContent>
          </a:graphicData>
        </a:graphic>
      </p:graphicFrame>
      <p:graphicFrame>
        <p:nvGraphicFramePr>
          <p:cNvPr id="5" name="Object 7"/>
          <p:cNvGraphicFramePr>
            <a:graphicFrameLocks noChangeAspect="1"/>
          </p:cNvGraphicFramePr>
          <p:nvPr>
            <p:extLst>
              <p:ext uri="{D42A27DB-BD31-4B8C-83A1-F6EECF244321}">
                <p14:modId xmlns:p14="http://schemas.microsoft.com/office/powerpoint/2010/main" val="371024327"/>
              </p:ext>
            </p:extLst>
          </p:nvPr>
        </p:nvGraphicFramePr>
        <p:xfrm>
          <a:off x="3064321" y="3353513"/>
          <a:ext cx="698500" cy="542925"/>
        </p:xfrm>
        <a:graphic>
          <a:graphicData uri="http://schemas.openxmlformats.org/presentationml/2006/ole">
            <mc:AlternateContent xmlns:mc="http://schemas.openxmlformats.org/markup-compatibility/2006">
              <mc:Choice xmlns:v="urn:schemas-microsoft-com:vml" Requires="v">
                <p:oleObj spid="_x0000_s5353" name="Equation" r:id="rId5" imgW="507780" imgH="393529" progId="">
                  <p:embed/>
                </p:oleObj>
              </mc:Choice>
              <mc:Fallback>
                <p:oleObj name="Equation" r:id="rId5" imgW="507780" imgH="393529" progId="">
                  <p:embed/>
                  <p:pic>
                    <p:nvPicPr>
                      <p:cNvPr id="0" name="Picture 3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64321" y="3353513"/>
                        <a:ext cx="698500" cy="542925"/>
                      </a:xfrm>
                      <a:prstGeom prst="rect">
                        <a:avLst/>
                      </a:prstGeom>
                      <a:solidFill>
                        <a:srgbClr val="00B0F0"/>
                      </a:solidFill>
                      <a:extLst/>
                    </p:spPr>
                  </p:pic>
                </p:oleObj>
              </mc:Fallback>
            </mc:AlternateContent>
          </a:graphicData>
        </a:graphic>
      </p:graphicFrame>
      <p:pic>
        <p:nvPicPr>
          <p:cNvPr id="8" name="Imagen 7"/>
          <p:cNvPicPr>
            <a:picLocks noChangeAspect="1"/>
          </p:cNvPicPr>
          <p:nvPr/>
        </p:nvPicPr>
        <p:blipFill>
          <a:blip r:embed="rId7"/>
          <a:stretch>
            <a:fillRect/>
          </a:stretch>
        </p:blipFill>
        <p:spPr>
          <a:xfrm>
            <a:off x="5940152" y="2390327"/>
            <a:ext cx="2470398" cy="3855668"/>
          </a:xfrm>
          <a:prstGeom prst="rect">
            <a:avLst/>
          </a:prstGeom>
        </p:spPr>
      </p:pic>
      <p:graphicFrame>
        <p:nvGraphicFramePr>
          <p:cNvPr id="11" name="Object 3"/>
          <p:cNvGraphicFramePr>
            <a:graphicFrameLocks noChangeAspect="1"/>
          </p:cNvGraphicFramePr>
          <p:nvPr>
            <p:extLst>
              <p:ext uri="{D42A27DB-BD31-4B8C-83A1-F6EECF244321}">
                <p14:modId xmlns:p14="http://schemas.microsoft.com/office/powerpoint/2010/main" val="1249503561"/>
              </p:ext>
            </p:extLst>
          </p:nvPr>
        </p:nvGraphicFramePr>
        <p:xfrm>
          <a:off x="755576" y="2508504"/>
          <a:ext cx="4320480" cy="574031"/>
        </p:xfrm>
        <a:graphic>
          <a:graphicData uri="http://schemas.openxmlformats.org/presentationml/2006/ole">
            <mc:AlternateContent xmlns:mc="http://schemas.openxmlformats.org/markup-compatibility/2006">
              <mc:Choice xmlns:v="urn:schemas-microsoft-com:vml" Requires="v">
                <p:oleObj spid="_x0000_s5354" name="Equation" r:id="rId8" imgW="2387600" imgH="317500" progId="">
                  <p:embed/>
                </p:oleObj>
              </mc:Choice>
              <mc:Fallback>
                <p:oleObj name="Equation" r:id="rId8" imgW="2387600" imgH="317500" progId="">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55576" y="2508504"/>
                        <a:ext cx="4320480" cy="574031"/>
                      </a:xfrm>
                      <a:prstGeom prst="rect">
                        <a:avLst/>
                      </a:prstGeom>
                      <a:solidFill>
                        <a:srgbClr val="00B0F0"/>
                      </a:solidFill>
                      <a:effectLst/>
                      <a:extLst/>
                    </p:spPr>
                  </p:pic>
                </p:oleObj>
              </mc:Fallback>
            </mc:AlternateContent>
          </a:graphicData>
        </a:graphic>
      </p:graphicFrame>
    </p:spTree>
    <p:extLst>
      <p:ext uri="{BB962C8B-B14F-4D97-AF65-F5344CB8AC3E}">
        <p14:creationId xmlns:p14="http://schemas.microsoft.com/office/powerpoint/2010/main" val="1980906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par>
                                <p:cTn id="8" presetID="3" presetClass="entr" presetSubtype="1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blinds(horizontal)">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17"/>
          <p:cNvSpPr>
            <a:spLocks noChangeArrowheads="1"/>
          </p:cNvSpPr>
          <p:nvPr/>
        </p:nvSpPr>
        <p:spPr bwMode="auto">
          <a:xfrm>
            <a:off x="0"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s-ES"/>
          </a:p>
        </p:txBody>
      </p:sp>
      <p:sp>
        <p:nvSpPr>
          <p:cNvPr id="6" name="Rectangle 19"/>
          <p:cNvSpPr>
            <a:spLocks noChangeArrowheads="1"/>
          </p:cNvSpPr>
          <p:nvPr/>
        </p:nvSpPr>
        <p:spPr bwMode="auto">
          <a:xfrm>
            <a:off x="0"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s-ES"/>
          </a:p>
        </p:txBody>
      </p:sp>
      <p:sp>
        <p:nvSpPr>
          <p:cNvPr id="8" name="7 Título"/>
          <p:cNvSpPr>
            <a:spLocks noGrp="1"/>
          </p:cNvSpPr>
          <p:nvPr>
            <p:ph type="title"/>
          </p:nvPr>
        </p:nvSpPr>
        <p:spPr>
          <a:xfrm>
            <a:off x="1994571" y="796131"/>
            <a:ext cx="3091780" cy="871538"/>
          </a:xfrm>
        </p:spPr>
        <p:txBody>
          <a:bodyPr/>
          <a:lstStyle/>
          <a:p>
            <a:r>
              <a:rPr lang="es-PE" dirty="0" smtClean="0"/>
              <a:t>EJEMPLOS</a:t>
            </a:r>
            <a:endParaRPr lang="es-PE" dirty="0"/>
          </a:p>
        </p:txBody>
      </p:sp>
      <p:sp>
        <p:nvSpPr>
          <p:cNvPr id="9" name="8 Marcador de contenido"/>
          <p:cNvSpPr>
            <a:spLocks noGrp="1"/>
          </p:cNvSpPr>
          <p:nvPr>
            <p:ph sz="half" idx="1"/>
          </p:nvPr>
        </p:nvSpPr>
        <p:spPr>
          <a:xfrm>
            <a:off x="467544" y="1916832"/>
            <a:ext cx="8280920" cy="4351338"/>
          </a:xfrm>
        </p:spPr>
        <p:txBody>
          <a:bodyPr>
            <a:normAutofit fontScale="92500" lnSpcReduction="10000"/>
          </a:bodyPr>
          <a:lstStyle/>
          <a:p>
            <a:pPr marL="457200" indent="-457200" algn="just">
              <a:buFont typeface="+mj-lt"/>
              <a:buAutoNum type="arabicPeriod"/>
            </a:pPr>
            <a:r>
              <a:rPr lang="es-PE" sz="1900" dirty="0"/>
              <a:t>Se llama ultrasonido a las frecuencias arriba de la gama que puede detectar el oído humano. Se usan para producir imágenes al reflejarse en las superficies. En una exploración típica de ultrasonido, las ondas viajan con una rapidez de 1 500 m/s. Para obtener una imagen detallada, la longitud de onda no debe ser mayor que </a:t>
            </a:r>
            <a:r>
              <a:rPr lang="es-PE" sz="1900" dirty="0" smtClean="0"/>
              <a:t>1,00 </a:t>
            </a:r>
            <a:r>
              <a:rPr lang="es-PE" sz="1900" dirty="0" err="1"/>
              <a:t>mm.</a:t>
            </a:r>
            <a:r>
              <a:rPr lang="es-PE" sz="1900" dirty="0"/>
              <a:t> ¿Qué frecuencia se requiere</a:t>
            </a:r>
            <a:r>
              <a:rPr lang="es-PE" sz="1900" dirty="0" smtClean="0"/>
              <a:t>?</a:t>
            </a:r>
          </a:p>
          <a:p>
            <a:pPr marL="457200" indent="-457200" algn="just">
              <a:buFont typeface="+mj-lt"/>
              <a:buAutoNum type="arabicPeriod"/>
            </a:pPr>
            <a:r>
              <a:rPr lang="es-PE" sz="1900" dirty="0" smtClean="0"/>
              <a:t>¿</a:t>
            </a:r>
            <a:r>
              <a:rPr lang="es-PE" sz="1900" dirty="0"/>
              <a:t>Con qué tensión debe estirarse una cuerda de 2,50 m de longitud y masa de 0,120 kg para que ondas transversales con frecuencia de 40,0 Hz tengan una longitud de onda de 0,750 </a:t>
            </a:r>
            <a:r>
              <a:rPr lang="es-PE" sz="1900" dirty="0" smtClean="0"/>
              <a:t>m?</a:t>
            </a:r>
          </a:p>
          <a:p>
            <a:pPr marL="457200" indent="-457200" algn="just">
              <a:buFont typeface="+mj-lt"/>
              <a:buAutoNum type="arabicPeriod"/>
            </a:pPr>
            <a:r>
              <a:rPr lang="es-PE" sz="1900" dirty="0" smtClean="0"/>
              <a:t>Su </a:t>
            </a:r>
            <a:r>
              <a:rPr lang="es-PE" sz="1900" dirty="0"/>
              <a:t>primo </a:t>
            </a:r>
            <a:r>
              <a:rPr lang="es-PE" sz="1900" dirty="0" err="1"/>
              <a:t>Morton</a:t>
            </a:r>
            <a:r>
              <a:rPr lang="es-PE" sz="1900" dirty="0"/>
              <a:t> está jugando con la cuerda para tender: desata un extremo, tensa la cuerda y mueve el extremo hacia arriba y hacia abajo </a:t>
            </a:r>
            <a:r>
              <a:rPr lang="es-PE" sz="1900" dirty="0" err="1"/>
              <a:t>senoidalmente</a:t>
            </a:r>
            <a:r>
              <a:rPr lang="es-PE" sz="1900" dirty="0"/>
              <a:t>, con una frecuencia de 2,0 Hz y una amplitud de 0,075 m. La rapidez de onda es </a:t>
            </a:r>
            <a:r>
              <a:rPr lang="es-PE" sz="1900" i="1" dirty="0"/>
              <a:t>v </a:t>
            </a:r>
            <a:r>
              <a:rPr lang="es-PE" sz="1900" dirty="0"/>
              <a:t>= 12,0 m/s. En </a:t>
            </a:r>
            <a:r>
              <a:rPr lang="es-PE" sz="1900" i="1" dirty="0"/>
              <a:t>t </a:t>
            </a:r>
            <a:r>
              <a:rPr lang="es-PE" sz="1900" dirty="0"/>
              <a:t>= 0, el extremo tiene desplazamiento positivo máximo. Suponga que ninguna onda rebota del extremo lejano </a:t>
            </a:r>
            <a:r>
              <a:rPr lang="es-PE" sz="1900" i="1" dirty="0"/>
              <a:t>a</a:t>
            </a:r>
            <a:r>
              <a:rPr lang="es-PE" sz="1900" dirty="0"/>
              <a:t>) Calcule la amplitud, la frecuencia angular, el periodo, la longitud de onda y el número de onda. </a:t>
            </a:r>
            <a:r>
              <a:rPr lang="es-PE" sz="1900" i="1" dirty="0"/>
              <a:t>b</a:t>
            </a:r>
            <a:r>
              <a:rPr lang="es-PE" sz="1900" dirty="0"/>
              <a:t>) Obtenga una función de onda que la describa. </a:t>
            </a:r>
            <a:r>
              <a:rPr lang="es-PE" sz="1900" i="1" dirty="0"/>
              <a:t>c</a:t>
            </a:r>
            <a:r>
              <a:rPr lang="es-PE" sz="1900" dirty="0"/>
              <a:t>) Escriba las ecuaciones para el desplazamiento, en función del tiempo, del extremo que </a:t>
            </a:r>
            <a:r>
              <a:rPr lang="es-PE" sz="1900" dirty="0" err="1"/>
              <a:t>Morton</a:t>
            </a:r>
            <a:r>
              <a:rPr lang="es-PE" sz="1900" dirty="0"/>
              <a:t> sujeta y de un punto a 3,00 m de ese extremo.</a:t>
            </a:r>
          </a:p>
          <a:p>
            <a:pPr marL="457200" indent="-457200" algn="just">
              <a:buFont typeface="+mj-lt"/>
              <a:buAutoNum type="arabicPeriod"/>
            </a:pPr>
            <a:endParaRPr lang="es-PE" dirty="0"/>
          </a:p>
          <a:p>
            <a:pPr marL="0" indent="0" algn="just">
              <a:buNone/>
            </a:pPr>
            <a:endParaRPr lang="es-ES" b="1" dirty="0"/>
          </a:p>
          <a:p>
            <a:endParaRPr lang="es-PE" dirty="0"/>
          </a:p>
        </p:txBody>
      </p:sp>
    </p:spTree>
    <p:extLst>
      <p:ext uri="{BB962C8B-B14F-4D97-AF65-F5344CB8AC3E}">
        <p14:creationId xmlns:p14="http://schemas.microsoft.com/office/powerpoint/2010/main" val="401572146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7 Título"/>
          <p:cNvSpPr>
            <a:spLocks noGrp="1"/>
          </p:cNvSpPr>
          <p:nvPr>
            <p:ph type="title"/>
          </p:nvPr>
        </p:nvSpPr>
        <p:spPr>
          <a:xfrm>
            <a:off x="1979712" y="1105954"/>
            <a:ext cx="4176464" cy="475134"/>
          </a:xfrm>
        </p:spPr>
        <p:txBody>
          <a:bodyPr>
            <a:normAutofit fontScale="90000"/>
          </a:bodyPr>
          <a:lstStyle/>
          <a:p>
            <a:r>
              <a:rPr lang="es-PE" dirty="0" smtClean="0"/>
              <a:t>Cinemática de una onda</a:t>
            </a:r>
            <a:endParaRPr lang="es-PE" dirty="0"/>
          </a:p>
        </p:txBody>
      </p:sp>
      <p:sp>
        <p:nvSpPr>
          <p:cNvPr id="9" name="8 Marcador de contenido"/>
          <p:cNvSpPr>
            <a:spLocks noGrp="1"/>
          </p:cNvSpPr>
          <p:nvPr>
            <p:ph sz="half" idx="1"/>
          </p:nvPr>
        </p:nvSpPr>
        <p:spPr>
          <a:xfrm>
            <a:off x="479088" y="2060848"/>
            <a:ext cx="4038600" cy="5141425"/>
          </a:xfrm>
        </p:spPr>
        <p:txBody>
          <a:bodyPr>
            <a:normAutofit/>
          </a:bodyPr>
          <a:lstStyle/>
          <a:p>
            <a:pPr algn="just">
              <a:buClr>
                <a:schemeClr val="bg1"/>
              </a:buClr>
            </a:pPr>
            <a:r>
              <a:rPr lang="es-PE" dirty="0" smtClean="0"/>
              <a:t>Sea la ecuación de desplazamiento de un onda:</a:t>
            </a:r>
          </a:p>
          <a:p>
            <a:pPr algn="just">
              <a:buClr>
                <a:schemeClr val="bg1"/>
              </a:buClr>
            </a:pPr>
            <a:endParaRPr lang="es-PE" dirty="0" smtClean="0"/>
          </a:p>
          <a:p>
            <a:pPr algn="just">
              <a:buClr>
                <a:schemeClr val="bg1"/>
              </a:buClr>
            </a:pPr>
            <a:endParaRPr lang="es-PE" dirty="0"/>
          </a:p>
          <a:p>
            <a:pPr algn="just">
              <a:buClr>
                <a:schemeClr val="bg1"/>
              </a:buClr>
            </a:pPr>
            <a:r>
              <a:rPr lang="es-PE" dirty="0" smtClean="0"/>
              <a:t>Derivando </a:t>
            </a:r>
            <a:r>
              <a:rPr lang="es-PE" dirty="0"/>
              <a:t>la ecuación de la onda se obtiene la velocidad </a:t>
            </a:r>
            <a:r>
              <a:rPr lang="es-PE" dirty="0" smtClean="0"/>
              <a:t>vertical, la </a:t>
            </a:r>
            <a:r>
              <a:rPr lang="es-PE" dirty="0"/>
              <a:t>cual se puede escribir como:</a:t>
            </a:r>
          </a:p>
          <a:p>
            <a:endParaRPr lang="es-PE" dirty="0"/>
          </a:p>
        </p:txBody>
      </p:sp>
      <p:sp>
        <p:nvSpPr>
          <p:cNvPr id="10" name="9 Marcador de contenido"/>
          <p:cNvSpPr>
            <a:spLocks noGrp="1"/>
          </p:cNvSpPr>
          <p:nvPr>
            <p:ph sz="half" idx="2"/>
          </p:nvPr>
        </p:nvSpPr>
        <p:spPr>
          <a:xfrm>
            <a:off x="4658133" y="2492896"/>
            <a:ext cx="4038600" cy="5141425"/>
          </a:xfrm>
        </p:spPr>
        <p:txBody>
          <a:bodyPr>
            <a:normAutofit/>
          </a:bodyPr>
          <a:lstStyle/>
          <a:p>
            <a:pPr algn="just"/>
            <a:r>
              <a:rPr lang="es-PE" dirty="0" smtClean="0"/>
              <a:t>Derivando la ecuación de la velocidad se puede obtener la expresión para la aceleración:</a:t>
            </a:r>
            <a:endParaRPr lang="es-PE" dirty="0"/>
          </a:p>
        </p:txBody>
      </p:sp>
      <p:graphicFrame>
        <p:nvGraphicFramePr>
          <p:cNvPr id="2" name="Object 2"/>
          <p:cNvGraphicFramePr>
            <a:graphicFrameLocks noChangeAspect="1"/>
          </p:cNvGraphicFramePr>
          <p:nvPr>
            <p:extLst>
              <p:ext uri="{D42A27DB-BD31-4B8C-83A1-F6EECF244321}">
                <p14:modId xmlns:p14="http://schemas.microsoft.com/office/powerpoint/2010/main" val="4076407575"/>
              </p:ext>
            </p:extLst>
          </p:nvPr>
        </p:nvGraphicFramePr>
        <p:xfrm>
          <a:off x="932709" y="2852936"/>
          <a:ext cx="3131357" cy="432048"/>
        </p:xfrm>
        <a:graphic>
          <a:graphicData uri="http://schemas.openxmlformats.org/presentationml/2006/ole">
            <mc:AlternateContent xmlns:mc="http://schemas.openxmlformats.org/markup-compatibility/2006">
              <mc:Choice xmlns:v="urn:schemas-microsoft-com:vml" Requires="v">
                <p:oleObj spid="_x0000_s7462" name="Equation" r:id="rId3" imgW="2705100" imgH="317500" progId="">
                  <p:embed/>
                </p:oleObj>
              </mc:Choice>
              <mc:Fallback>
                <p:oleObj name="Equation" r:id="rId3" imgW="2705100" imgH="317500" progId="">
                  <p:embed/>
                  <p:pic>
                    <p:nvPicPr>
                      <p:cNvPr id="0" name="Picture 3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2709" y="2852936"/>
                        <a:ext cx="3131357" cy="432048"/>
                      </a:xfrm>
                      <a:prstGeom prst="rect">
                        <a:avLst/>
                      </a:prstGeom>
                      <a:solidFill>
                        <a:schemeClr val="accent1">
                          <a:lumMod val="75000"/>
                        </a:schemeClr>
                      </a:solidFill>
                      <a:extLst/>
                    </p:spPr>
                  </p:pic>
                </p:oleObj>
              </mc:Fallback>
            </mc:AlternateContent>
          </a:graphicData>
        </a:graphic>
      </p:graphicFrame>
      <p:graphicFrame>
        <p:nvGraphicFramePr>
          <p:cNvPr id="3" name="Object 3"/>
          <p:cNvGraphicFramePr>
            <a:graphicFrameLocks noChangeAspect="1"/>
          </p:cNvGraphicFramePr>
          <p:nvPr>
            <p:extLst>
              <p:ext uri="{D42A27DB-BD31-4B8C-83A1-F6EECF244321}">
                <p14:modId xmlns:p14="http://schemas.microsoft.com/office/powerpoint/2010/main" val="25817288"/>
              </p:ext>
            </p:extLst>
          </p:nvPr>
        </p:nvGraphicFramePr>
        <p:xfrm>
          <a:off x="621168" y="4838816"/>
          <a:ext cx="3754438" cy="809625"/>
        </p:xfrm>
        <a:graphic>
          <a:graphicData uri="http://schemas.openxmlformats.org/presentationml/2006/ole">
            <mc:AlternateContent xmlns:mc="http://schemas.openxmlformats.org/markup-compatibility/2006">
              <mc:Choice xmlns:v="urn:schemas-microsoft-com:vml" Requires="v">
                <p:oleObj spid="_x0000_s7463" name="Equation" r:id="rId5" imgW="2298700" imgH="457200" progId="">
                  <p:embed/>
                </p:oleObj>
              </mc:Choice>
              <mc:Fallback>
                <p:oleObj name="Equation" r:id="rId5" imgW="2298700" imgH="457200" progId="">
                  <p:embed/>
                  <p:pic>
                    <p:nvPicPr>
                      <p:cNvPr id="0" name="Picture 3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1168" y="4838816"/>
                        <a:ext cx="3754438" cy="809625"/>
                      </a:xfrm>
                      <a:prstGeom prst="rect">
                        <a:avLst/>
                      </a:prstGeom>
                      <a:solidFill>
                        <a:schemeClr val="accent1">
                          <a:lumMod val="75000"/>
                        </a:schemeClr>
                      </a:solidFill>
                    </p:spPr>
                  </p:pic>
                </p:oleObj>
              </mc:Fallback>
            </mc:AlternateContent>
          </a:graphicData>
        </a:graphic>
      </p:graphicFrame>
      <p:graphicFrame>
        <p:nvGraphicFramePr>
          <p:cNvPr id="4" name="Object 4"/>
          <p:cNvGraphicFramePr>
            <a:graphicFrameLocks noChangeAspect="1"/>
          </p:cNvGraphicFramePr>
          <p:nvPr>
            <p:extLst>
              <p:ext uri="{D42A27DB-BD31-4B8C-83A1-F6EECF244321}">
                <p14:modId xmlns:p14="http://schemas.microsoft.com/office/powerpoint/2010/main" val="3018887750"/>
              </p:ext>
            </p:extLst>
          </p:nvPr>
        </p:nvGraphicFramePr>
        <p:xfrm>
          <a:off x="4865351" y="3721909"/>
          <a:ext cx="3636963" cy="836613"/>
        </p:xfrm>
        <a:graphic>
          <a:graphicData uri="http://schemas.openxmlformats.org/presentationml/2006/ole">
            <mc:AlternateContent xmlns:mc="http://schemas.openxmlformats.org/markup-compatibility/2006">
              <mc:Choice xmlns:v="urn:schemas-microsoft-com:vml" Requires="v">
                <p:oleObj spid="_x0000_s7464" name="Equation" r:id="rId7" imgW="2451100" imgH="457200" progId="">
                  <p:embed/>
                </p:oleObj>
              </mc:Choice>
              <mc:Fallback>
                <p:oleObj name="Equation" r:id="rId7" imgW="2451100" imgH="457200" progId="">
                  <p:embed/>
                  <p:pic>
                    <p:nvPicPr>
                      <p:cNvPr id="0" name="Picture 4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65351" y="3721909"/>
                        <a:ext cx="3636963" cy="836613"/>
                      </a:xfrm>
                      <a:prstGeom prst="rect">
                        <a:avLst/>
                      </a:prstGeom>
                      <a:solidFill>
                        <a:schemeClr val="accent1">
                          <a:lumMod val="75000"/>
                        </a:schemeClr>
                      </a:solidFill>
                    </p:spPr>
                  </p:pic>
                </p:oleObj>
              </mc:Fallback>
            </mc:AlternateContent>
          </a:graphicData>
        </a:graphic>
      </p:graphicFrame>
      <p:graphicFrame>
        <p:nvGraphicFramePr>
          <p:cNvPr id="6" name="Object 9"/>
          <p:cNvGraphicFramePr>
            <a:graphicFrameLocks noChangeAspect="1"/>
          </p:cNvGraphicFramePr>
          <p:nvPr>
            <p:extLst>
              <p:ext uri="{D42A27DB-BD31-4B8C-83A1-F6EECF244321}">
                <p14:modId xmlns:p14="http://schemas.microsoft.com/office/powerpoint/2010/main" val="3944819505"/>
              </p:ext>
            </p:extLst>
          </p:nvPr>
        </p:nvGraphicFramePr>
        <p:xfrm>
          <a:off x="5665402" y="5124049"/>
          <a:ext cx="2024062" cy="547688"/>
        </p:xfrm>
        <a:graphic>
          <a:graphicData uri="http://schemas.openxmlformats.org/presentationml/2006/ole">
            <mc:AlternateContent xmlns:mc="http://schemas.openxmlformats.org/markup-compatibility/2006">
              <mc:Choice xmlns:v="urn:schemas-microsoft-com:vml" Requires="v">
                <p:oleObj spid="_x0000_s7465" name="Equation" r:id="rId9" imgW="1079032" imgH="291973" progId="">
                  <p:embed/>
                </p:oleObj>
              </mc:Choice>
              <mc:Fallback>
                <p:oleObj name="Equation" r:id="rId9" imgW="1079032" imgH="291973" progId="">
                  <p:embed/>
                  <p:pic>
                    <p:nvPicPr>
                      <p:cNvPr id="0" name="Picture 4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665402" y="5124049"/>
                        <a:ext cx="2024062" cy="547688"/>
                      </a:xfrm>
                      <a:prstGeom prst="rect">
                        <a:avLst/>
                      </a:prstGeom>
                      <a:solidFill>
                        <a:schemeClr val="accent1">
                          <a:lumMod val="75000"/>
                        </a:schemeClr>
                      </a:solidFill>
                    </p:spPr>
                  </p:pic>
                </p:oleObj>
              </mc:Fallback>
            </mc:AlternateContent>
          </a:graphicData>
        </a:graphic>
      </p:graphicFrame>
    </p:spTree>
    <p:extLst>
      <p:ext uri="{BB962C8B-B14F-4D97-AF65-F5344CB8AC3E}">
        <p14:creationId xmlns:p14="http://schemas.microsoft.com/office/powerpoint/2010/main" val="1014031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linds(horizontal)">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linds(horizontal)">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ángulo 4"/>
          <p:cNvSpPr/>
          <p:nvPr/>
        </p:nvSpPr>
        <p:spPr>
          <a:xfrm>
            <a:off x="1871062" y="672019"/>
            <a:ext cx="4331635" cy="400110"/>
          </a:xfrm>
          <a:prstGeom prst="rect">
            <a:avLst/>
          </a:prstGeom>
        </p:spPr>
        <p:txBody>
          <a:bodyPr wrap="none">
            <a:spAutoFit/>
          </a:bodyPr>
          <a:lstStyle/>
          <a:p>
            <a:r>
              <a:rPr lang="es-PE" sz="2000" dirty="0">
                <a:latin typeface="MyriadPro-Semibold"/>
              </a:rPr>
              <a:t>Reflexión y </a:t>
            </a:r>
            <a:r>
              <a:rPr lang="es-PE" sz="2000" dirty="0" smtClean="0">
                <a:latin typeface="MyriadPro-Semibold"/>
              </a:rPr>
              <a:t>transmisión de una onda</a:t>
            </a:r>
            <a:endParaRPr lang="es-PE" sz="2000" dirty="0"/>
          </a:p>
        </p:txBody>
      </p:sp>
      <p:pic>
        <p:nvPicPr>
          <p:cNvPr id="4" name="Imagen 3"/>
          <p:cNvPicPr>
            <a:picLocks noChangeAspect="1"/>
          </p:cNvPicPr>
          <p:nvPr/>
        </p:nvPicPr>
        <p:blipFill>
          <a:blip r:embed="rId2"/>
          <a:stretch>
            <a:fillRect/>
          </a:stretch>
        </p:blipFill>
        <p:spPr>
          <a:xfrm>
            <a:off x="3341164" y="1812929"/>
            <a:ext cx="2282341" cy="1403151"/>
          </a:xfrm>
          <a:prstGeom prst="rect">
            <a:avLst/>
          </a:prstGeom>
        </p:spPr>
      </p:pic>
      <p:sp>
        <p:nvSpPr>
          <p:cNvPr id="2" name="Rectángulo 1"/>
          <p:cNvSpPr/>
          <p:nvPr/>
        </p:nvSpPr>
        <p:spPr>
          <a:xfrm>
            <a:off x="271438" y="3241472"/>
            <a:ext cx="4824536" cy="646331"/>
          </a:xfrm>
          <a:prstGeom prst="rect">
            <a:avLst/>
          </a:prstGeom>
        </p:spPr>
        <p:txBody>
          <a:bodyPr wrap="square">
            <a:spAutoFit/>
          </a:bodyPr>
          <a:lstStyle/>
          <a:p>
            <a:r>
              <a:rPr lang="es-PE" dirty="0" smtClean="0">
                <a:latin typeface="Times New Roman" panose="02020603050405020304" pitchFamily="18" charset="0"/>
              </a:rPr>
              <a:t>Existirá </a:t>
            </a:r>
            <a:r>
              <a:rPr lang="es-PE" dirty="0">
                <a:latin typeface="Times New Roman" panose="02020603050405020304" pitchFamily="18" charset="0"/>
              </a:rPr>
              <a:t>una onda incidente, </a:t>
            </a:r>
            <a:r>
              <a:rPr lang="es-PE" i="1" dirty="0" err="1">
                <a:latin typeface="TimesNewRomanPS-ItalicMT"/>
              </a:rPr>
              <a:t>y</a:t>
            </a:r>
            <a:r>
              <a:rPr lang="es-PE" sz="800" dirty="0" err="1">
                <a:latin typeface="Times New Roman" panose="02020603050405020304" pitchFamily="18" charset="0"/>
              </a:rPr>
              <a:t>I</a:t>
            </a:r>
            <a:r>
              <a:rPr lang="es-PE" dirty="0">
                <a:latin typeface="Times New Roman" panose="02020603050405020304" pitchFamily="18" charset="0"/>
              </a:rPr>
              <a:t>(</a:t>
            </a:r>
            <a:r>
              <a:rPr lang="es-PE" i="1" dirty="0">
                <a:latin typeface="TimesNewRomanPS-ItalicMT"/>
              </a:rPr>
              <a:t>x</a:t>
            </a:r>
            <a:r>
              <a:rPr lang="es-PE" dirty="0">
                <a:latin typeface="Times New Roman" panose="02020603050405020304" pitchFamily="18" charset="0"/>
              </a:rPr>
              <a:t>, </a:t>
            </a:r>
            <a:r>
              <a:rPr lang="es-PE" i="1" dirty="0">
                <a:latin typeface="TimesNewRomanPS-ItalicMT"/>
              </a:rPr>
              <a:t>t</a:t>
            </a:r>
            <a:r>
              <a:rPr lang="es-PE" dirty="0">
                <a:latin typeface="Times New Roman" panose="02020603050405020304" pitchFamily="18" charset="0"/>
              </a:rPr>
              <a:t>), una </a:t>
            </a:r>
            <a:r>
              <a:rPr lang="es-PE" dirty="0" smtClean="0">
                <a:latin typeface="Times New Roman" panose="02020603050405020304" pitchFamily="18" charset="0"/>
              </a:rPr>
              <a:t>onda reflejada</a:t>
            </a:r>
            <a:r>
              <a:rPr lang="es-PE" dirty="0">
                <a:latin typeface="Times New Roman" panose="02020603050405020304" pitchFamily="18" charset="0"/>
              </a:rPr>
              <a:t>, </a:t>
            </a:r>
            <a:r>
              <a:rPr lang="es-PE" i="1" dirty="0" err="1">
                <a:latin typeface="TimesNewRomanPS-ItalicMT"/>
              </a:rPr>
              <a:t>y</a:t>
            </a:r>
            <a:r>
              <a:rPr lang="es-PE" sz="800" dirty="0" err="1">
                <a:latin typeface="Times New Roman" panose="02020603050405020304" pitchFamily="18" charset="0"/>
              </a:rPr>
              <a:t>R</a:t>
            </a:r>
            <a:r>
              <a:rPr lang="es-PE" dirty="0">
                <a:latin typeface="Times New Roman" panose="02020603050405020304" pitchFamily="18" charset="0"/>
              </a:rPr>
              <a:t>(</a:t>
            </a:r>
            <a:r>
              <a:rPr lang="es-PE" i="1" dirty="0">
                <a:latin typeface="TimesNewRomanPS-ItalicMT"/>
              </a:rPr>
              <a:t>x, t</a:t>
            </a:r>
            <a:r>
              <a:rPr lang="es-PE" dirty="0">
                <a:latin typeface="Times New Roman" panose="02020603050405020304" pitchFamily="18" charset="0"/>
              </a:rPr>
              <a:t>), y una transmitida </a:t>
            </a:r>
            <a:r>
              <a:rPr lang="es-PE" i="1" dirty="0" err="1">
                <a:latin typeface="TimesNewRomanPS-ItalicMT"/>
              </a:rPr>
              <a:t>y</a:t>
            </a:r>
            <a:r>
              <a:rPr lang="es-PE" sz="800" dirty="0" err="1">
                <a:latin typeface="Times New Roman" panose="02020603050405020304" pitchFamily="18" charset="0"/>
              </a:rPr>
              <a:t>T</a:t>
            </a:r>
            <a:r>
              <a:rPr lang="es-PE" dirty="0">
                <a:latin typeface="Times New Roman" panose="02020603050405020304" pitchFamily="18" charset="0"/>
              </a:rPr>
              <a:t>(</a:t>
            </a:r>
            <a:r>
              <a:rPr lang="es-PE" i="1" dirty="0">
                <a:latin typeface="TimesNewRomanPS-ItalicMT"/>
              </a:rPr>
              <a:t>x</a:t>
            </a:r>
            <a:r>
              <a:rPr lang="es-PE" dirty="0">
                <a:latin typeface="Times New Roman" panose="02020603050405020304" pitchFamily="18" charset="0"/>
              </a:rPr>
              <a:t>, </a:t>
            </a:r>
            <a:r>
              <a:rPr lang="es-PE" i="1" dirty="0">
                <a:latin typeface="TimesNewRomanPS-ItalicMT"/>
              </a:rPr>
              <a:t>t</a:t>
            </a:r>
            <a:r>
              <a:rPr lang="es-PE" dirty="0">
                <a:latin typeface="Times New Roman" panose="02020603050405020304" pitchFamily="18" charset="0"/>
              </a:rPr>
              <a:t>).</a:t>
            </a:r>
            <a:endParaRPr lang="es-PE" dirty="0"/>
          </a:p>
        </p:txBody>
      </p:sp>
      <mc:AlternateContent xmlns:mc="http://schemas.openxmlformats.org/markup-compatibility/2006" xmlns:a14="http://schemas.microsoft.com/office/drawing/2010/main">
        <mc:Choice Requires="a14">
          <p:sp>
            <p:nvSpPr>
              <p:cNvPr id="3" name="CuadroTexto 2"/>
              <p:cNvSpPr txBox="1"/>
              <p:nvPr/>
            </p:nvSpPr>
            <p:spPr>
              <a:xfrm>
                <a:off x="821954" y="5214350"/>
                <a:ext cx="181767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PE" i="1" smtClean="0">
                              <a:latin typeface="Cambria Math" panose="02040503050406030204" pitchFamily="18" charset="0"/>
                            </a:rPr>
                          </m:ctrlPr>
                        </m:sSubPr>
                        <m:e>
                          <m:r>
                            <a:rPr lang="es-ES" b="0" i="1" smtClean="0">
                              <a:latin typeface="Cambria Math" panose="02040503050406030204" pitchFamily="18" charset="0"/>
                            </a:rPr>
                            <m:t>𝑦</m:t>
                          </m:r>
                        </m:e>
                        <m:sub>
                          <m:r>
                            <a:rPr lang="es-ES" b="0" i="1" smtClean="0">
                              <a:latin typeface="Cambria Math" panose="02040503050406030204" pitchFamily="18" charset="0"/>
                            </a:rPr>
                            <m:t>1</m:t>
                          </m:r>
                        </m:sub>
                      </m:sSub>
                      <m:r>
                        <a:rPr lang="es-ES" b="0" i="1" smtClean="0">
                          <a:latin typeface="Cambria Math" panose="02040503050406030204" pitchFamily="18" charset="0"/>
                        </a:rPr>
                        <m:t>(0,</m:t>
                      </m:r>
                      <m:r>
                        <a:rPr lang="es-ES" b="0" i="1" smtClean="0">
                          <a:latin typeface="Cambria Math" panose="02040503050406030204" pitchFamily="18" charset="0"/>
                        </a:rPr>
                        <m:t>𝑡</m:t>
                      </m:r>
                      <m:sSub>
                        <m:sSubPr>
                          <m:ctrlPr>
                            <a:rPr lang="es-PE" i="1">
                              <a:latin typeface="Cambria Math" panose="02040503050406030204" pitchFamily="18" charset="0"/>
                            </a:rPr>
                          </m:ctrlPr>
                        </m:sSubPr>
                        <m:e>
                          <m:r>
                            <a:rPr lang="es-ES" b="0" i="1" smtClean="0">
                              <a:latin typeface="Cambria Math" panose="02040503050406030204" pitchFamily="18" charset="0"/>
                            </a:rPr>
                            <m:t>)=</m:t>
                          </m:r>
                          <m:r>
                            <a:rPr lang="es-ES" i="1">
                              <a:latin typeface="Cambria Math" panose="02040503050406030204" pitchFamily="18" charset="0"/>
                            </a:rPr>
                            <m:t>𝑦</m:t>
                          </m:r>
                        </m:e>
                        <m:sub>
                          <m:r>
                            <a:rPr lang="es-ES" b="0" i="1" smtClean="0">
                              <a:latin typeface="Cambria Math" panose="02040503050406030204" pitchFamily="18" charset="0"/>
                            </a:rPr>
                            <m:t>2</m:t>
                          </m:r>
                        </m:sub>
                      </m:sSub>
                      <m:r>
                        <a:rPr lang="es-ES" i="1">
                          <a:latin typeface="Cambria Math" panose="02040503050406030204" pitchFamily="18" charset="0"/>
                        </a:rPr>
                        <m:t>(0,</m:t>
                      </m:r>
                      <m:r>
                        <a:rPr lang="es-ES" i="1">
                          <a:latin typeface="Cambria Math" panose="02040503050406030204" pitchFamily="18" charset="0"/>
                        </a:rPr>
                        <m:t>𝑡</m:t>
                      </m:r>
                      <m:r>
                        <a:rPr lang="es-ES" i="1">
                          <a:latin typeface="Cambria Math" panose="02040503050406030204" pitchFamily="18" charset="0"/>
                        </a:rPr>
                        <m:t>)</m:t>
                      </m:r>
                    </m:oMath>
                  </m:oMathPara>
                </a14:m>
                <a:endParaRPr lang="es-PE" dirty="0"/>
              </a:p>
            </p:txBody>
          </p:sp>
        </mc:Choice>
        <mc:Fallback xmlns="">
          <p:sp>
            <p:nvSpPr>
              <p:cNvPr id="3" name="CuadroTexto 2"/>
              <p:cNvSpPr txBox="1">
                <a:spLocks noRot="1" noChangeAspect="1" noMove="1" noResize="1" noEditPoints="1" noAdjustHandles="1" noChangeArrowheads="1" noChangeShapeType="1" noTextEdit="1"/>
              </p:cNvSpPr>
              <p:nvPr/>
            </p:nvSpPr>
            <p:spPr>
              <a:xfrm>
                <a:off x="821954" y="5214350"/>
                <a:ext cx="1817677" cy="276999"/>
              </a:xfrm>
              <a:prstGeom prst="rect">
                <a:avLst/>
              </a:prstGeom>
              <a:blipFill rotWithShape="0">
                <a:blip r:embed="rId3"/>
                <a:stretch>
                  <a:fillRect l="-2685" t="-2174" r="-4362" b="-32609"/>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7" name="CuadroTexto 6"/>
              <p:cNvSpPr txBox="1"/>
              <p:nvPr/>
            </p:nvSpPr>
            <p:spPr>
              <a:xfrm>
                <a:off x="418237" y="4394110"/>
                <a:ext cx="1830758" cy="2884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PE" i="1" smtClean="0">
                              <a:latin typeface="Cambria Math" panose="02040503050406030204" pitchFamily="18" charset="0"/>
                            </a:rPr>
                          </m:ctrlPr>
                        </m:sSubPr>
                        <m:e>
                          <m:r>
                            <a:rPr lang="es-ES" b="0" i="1" smtClean="0">
                              <a:latin typeface="Cambria Math" panose="02040503050406030204" pitchFamily="18" charset="0"/>
                            </a:rPr>
                            <m:t>𝑦</m:t>
                          </m:r>
                        </m:e>
                        <m:sub>
                          <m:r>
                            <a:rPr lang="es-ES" b="0" i="1" smtClean="0">
                              <a:latin typeface="Cambria Math" panose="02040503050406030204" pitchFamily="18" charset="0"/>
                            </a:rPr>
                            <m:t>2</m:t>
                          </m:r>
                        </m:sub>
                      </m:sSub>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𝐴</m:t>
                          </m:r>
                        </m:e>
                        <m:sub>
                          <m:r>
                            <a:rPr lang="es-ES" b="0" i="1" smtClean="0">
                              <a:latin typeface="Cambria Math" panose="02040503050406030204" pitchFamily="18" charset="0"/>
                            </a:rPr>
                            <m:t>𝑇</m:t>
                          </m:r>
                        </m:sub>
                      </m:sSub>
                      <m:sSup>
                        <m:sSupPr>
                          <m:ctrlPr>
                            <a:rPr lang="es-ES" b="0" i="1" smtClean="0">
                              <a:latin typeface="Cambria Math" panose="02040503050406030204" pitchFamily="18" charset="0"/>
                            </a:rPr>
                          </m:ctrlPr>
                        </m:sSupPr>
                        <m:e>
                          <m:r>
                            <a:rPr lang="es-ES" b="0" i="1" smtClean="0">
                              <a:latin typeface="Cambria Math" panose="02040503050406030204" pitchFamily="18" charset="0"/>
                            </a:rPr>
                            <m:t>𝑒</m:t>
                          </m:r>
                        </m:e>
                        <m:sup>
                          <m:r>
                            <a:rPr lang="es-ES" b="0" i="1" smtClean="0">
                              <a:latin typeface="Cambria Math" panose="02040503050406030204" pitchFamily="18" charset="0"/>
                            </a:rPr>
                            <m:t>𝑖</m:t>
                          </m:r>
                          <m:r>
                            <a:rPr lang="es-ES" b="0" i="1" smtClean="0">
                              <a:latin typeface="Cambria Math" panose="02040503050406030204" pitchFamily="18" charset="0"/>
                            </a:rPr>
                            <m:t>(</m:t>
                          </m:r>
                          <m:r>
                            <a:rPr lang="el-GR" b="0" i="1" smtClean="0">
                              <a:latin typeface="Cambria Math" panose="02040503050406030204" pitchFamily="18" charset="0"/>
                            </a:rPr>
                            <m:t>𝜔</m:t>
                          </m:r>
                          <m:r>
                            <a:rPr lang="es-ES" b="0" i="1" smtClean="0">
                              <a:latin typeface="Cambria Math" panose="02040503050406030204" pitchFamily="18" charset="0"/>
                            </a:rPr>
                            <m:t>𝑡</m:t>
                          </m:r>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𝑘</m:t>
                              </m:r>
                            </m:e>
                            <m:sub>
                              <m:r>
                                <a:rPr lang="es-ES" b="0" i="1" smtClean="0">
                                  <a:latin typeface="Cambria Math" panose="02040503050406030204" pitchFamily="18" charset="0"/>
                                </a:rPr>
                                <m:t>2</m:t>
                              </m:r>
                            </m:sub>
                          </m:sSub>
                          <m:r>
                            <a:rPr lang="es-ES" b="0" i="1" smtClean="0">
                              <a:latin typeface="Cambria Math" panose="02040503050406030204" pitchFamily="18" charset="0"/>
                            </a:rPr>
                            <m:t>𝑥</m:t>
                          </m:r>
                          <m:r>
                            <a:rPr lang="es-ES" b="0" i="1" smtClean="0">
                              <a:latin typeface="Cambria Math" panose="02040503050406030204" pitchFamily="18" charset="0"/>
                            </a:rPr>
                            <m:t>)</m:t>
                          </m:r>
                        </m:sup>
                      </m:sSup>
                    </m:oMath>
                  </m:oMathPara>
                </a14:m>
                <a:endParaRPr lang="es-PE" dirty="0"/>
              </a:p>
            </p:txBody>
          </p:sp>
        </mc:Choice>
        <mc:Fallback xmlns="">
          <p:sp>
            <p:nvSpPr>
              <p:cNvPr id="7" name="CuadroTexto 6"/>
              <p:cNvSpPr txBox="1">
                <a:spLocks noRot="1" noChangeAspect="1" noMove="1" noResize="1" noEditPoints="1" noAdjustHandles="1" noChangeArrowheads="1" noChangeShapeType="1" noTextEdit="1"/>
              </p:cNvSpPr>
              <p:nvPr/>
            </p:nvSpPr>
            <p:spPr>
              <a:xfrm>
                <a:off x="418237" y="4394110"/>
                <a:ext cx="1830758" cy="288477"/>
              </a:xfrm>
              <a:prstGeom prst="rect">
                <a:avLst/>
              </a:prstGeom>
              <a:blipFill rotWithShape="0">
                <a:blip r:embed="rId4"/>
                <a:stretch>
                  <a:fillRect l="-2667" t="-8511" r="-2333" b="-25532"/>
                </a:stretch>
              </a:blipFill>
            </p:spPr>
            <p:txBody>
              <a:bodyPr/>
              <a:lstStyle/>
              <a:p>
                <a:r>
                  <a:rPr lang="es-PE">
                    <a:noFill/>
                  </a:rPr>
                  <a:t> </a:t>
                </a:r>
              </a:p>
            </p:txBody>
          </p:sp>
        </mc:Fallback>
      </mc:AlternateContent>
      <p:sp>
        <p:nvSpPr>
          <p:cNvPr id="6" name="CuadroTexto 5"/>
          <p:cNvSpPr txBox="1"/>
          <p:nvPr/>
        </p:nvSpPr>
        <p:spPr>
          <a:xfrm>
            <a:off x="377879" y="4767185"/>
            <a:ext cx="4104456" cy="369332"/>
          </a:xfrm>
          <a:prstGeom prst="rect">
            <a:avLst/>
          </a:prstGeom>
          <a:noFill/>
        </p:spPr>
        <p:txBody>
          <a:bodyPr wrap="square" rtlCol="0">
            <a:spAutoFit/>
          </a:bodyPr>
          <a:lstStyle/>
          <a:p>
            <a:r>
              <a:rPr lang="es-ES" dirty="0" smtClean="0"/>
              <a:t>En la interface de las cuerdas tenemos:</a:t>
            </a:r>
            <a:endParaRPr lang="es-PE" dirty="0"/>
          </a:p>
        </p:txBody>
      </p:sp>
      <mc:AlternateContent xmlns:mc="http://schemas.openxmlformats.org/markup-compatibility/2006" xmlns:a14="http://schemas.microsoft.com/office/drawing/2010/main">
        <mc:Choice Requires="a14">
          <p:sp>
            <p:nvSpPr>
              <p:cNvPr id="10" name="CuadroTexto 9"/>
              <p:cNvSpPr txBox="1"/>
              <p:nvPr/>
            </p:nvSpPr>
            <p:spPr>
              <a:xfrm>
                <a:off x="1082270" y="5555067"/>
                <a:ext cx="269567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ES" b="0" i="1" smtClean="0">
                              <a:latin typeface="Cambria Math" panose="02040503050406030204" pitchFamily="18" charset="0"/>
                            </a:rPr>
                          </m:ctrlPr>
                        </m:sSubPr>
                        <m:e>
                          <m:r>
                            <a:rPr lang="es-ES" b="0" i="1" smtClean="0">
                              <a:latin typeface="Cambria Math" panose="02040503050406030204" pitchFamily="18" charset="0"/>
                            </a:rPr>
                            <m:t>𝐴</m:t>
                          </m:r>
                        </m:e>
                        <m:sub>
                          <m:r>
                            <a:rPr lang="es-ES" b="0" i="1" smtClean="0">
                              <a:latin typeface="Cambria Math" panose="02040503050406030204" pitchFamily="18" charset="0"/>
                            </a:rPr>
                            <m:t>𝐼</m:t>
                          </m:r>
                        </m:sub>
                      </m:sSub>
                      <m:r>
                        <a:rPr lang="es-ES" b="0" i="1" smtClean="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𝐴</m:t>
                          </m:r>
                        </m:e>
                        <m:sub>
                          <m:r>
                            <a:rPr lang="es-ES" b="0" i="1" smtClean="0">
                              <a:latin typeface="Cambria Math" panose="02040503050406030204" pitchFamily="18" charset="0"/>
                            </a:rPr>
                            <m:t>𝑅</m:t>
                          </m:r>
                        </m:sub>
                      </m:sSub>
                      <m:r>
                        <a:rPr lang="es-ES" b="0" i="0" smtClean="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𝐴</m:t>
                          </m:r>
                        </m:e>
                        <m:sub>
                          <m:r>
                            <a:rPr lang="es-ES" i="1">
                              <a:latin typeface="Cambria Math" panose="02040503050406030204" pitchFamily="18" charset="0"/>
                            </a:rPr>
                            <m:t>𝑇</m:t>
                          </m:r>
                        </m:sub>
                      </m:sSub>
                      <m:r>
                        <a:rPr lang="es-ES" b="0" i="1" smtClean="0">
                          <a:latin typeface="Cambria Math" panose="02040503050406030204" pitchFamily="18" charset="0"/>
                        </a:rPr>
                        <m:t>                   (1)</m:t>
                      </m:r>
                    </m:oMath>
                  </m:oMathPara>
                </a14:m>
                <a:endParaRPr lang="es-PE" dirty="0"/>
              </a:p>
            </p:txBody>
          </p:sp>
        </mc:Choice>
        <mc:Fallback xmlns="">
          <p:sp>
            <p:nvSpPr>
              <p:cNvPr id="10" name="CuadroTexto 9"/>
              <p:cNvSpPr txBox="1">
                <a:spLocks noRot="1" noChangeAspect="1" noMove="1" noResize="1" noEditPoints="1" noAdjustHandles="1" noChangeArrowheads="1" noChangeShapeType="1" noTextEdit="1"/>
              </p:cNvSpPr>
              <p:nvPr/>
            </p:nvSpPr>
            <p:spPr>
              <a:xfrm>
                <a:off x="1082270" y="5555067"/>
                <a:ext cx="2695674" cy="276999"/>
              </a:xfrm>
              <a:prstGeom prst="rect">
                <a:avLst/>
              </a:prstGeom>
              <a:blipFill rotWithShape="0">
                <a:blip r:embed="rId5"/>
                <a:stretch>
                  <a:fillRect l="-1810" t="-2174" r="-2941" b="-32609"/>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11" name="CuadroTexto 10"/>
              <p:cNvSpPr txBox="1"/>
              <p:nvPr/>
            </p:nvSpPr>
            <p:spPr>
              <a:xfrm>
                <a:off x="395536" y="3977310"/>
                <a:ext cx="3299237" cy="2884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PE" i="1" smtClean="0">
                              <a:latin typeface="Cambria Math" panose="02040503050406030204" pitchFamily="18" charset="0"/>
                            </a:rPr>
                          </m:ctrlPr>
                        </m:sSubPr>
                        <m:e>
                          <m:r>
                            <a:rPr lang="es-ES" b="0" i="1" smtClean="0">
                              <a:latin typeface="Cambria Math" panose="02040503050406030204" pitchFamily="18" charset="0"/>
                            </a:rPr>
                            <m:t>𝑦</m:t>
                          </m:r>
                        </m:e>
                        <m:sub>
                          <m:r>
                            <a:rPr lang="es-ES" b="0" i="1" smtClean="0">
                              <a:latin typeface="Cambria Math" panose="02040503050406030204" pitchFamily="18" charset="0"/>
                            </a:rPr>
                            <m:t>1</m:t>
                          </m:r>
                        </m:sub>
                      </m:sSub>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𝐴</m:t>
                          </m:r>
                        </m:e>
                        <m:sub>
                          <m:r>
                            <a:rPr lang="es-ES" b="0" i="1" smtClean="0">
                              <a:latin typeface="Cambria Math" panose="02040503050406030204" pitchFamily="18" charset="0"/>
                            </a:rPr>
                            <m:t>𝐼</m:t>
                          </m:r>
                        </m:sub>
                      </m:sSub>
                      <m:sSup>
                        <m:sSupPr>
                          <m:ctrlPr>
                            <a:rPr lang="es-ES" b="0" i="1" smtClean="0">
                              <a:latin typeface="Cambria Math" panose="02040503050406030204" pitchFamily="18" charset="0"/>
                            </a:rPr>
                          </m:ctrlPr>
                        </m:sSupPr>
                        <m:e>
                          <m:r>
                            <a:rPr lang="es-ES" b="0" i="1" smtClean="0">
                              <a:latin typeface="Cambria Math" panose="02040503050406030204" pitchFamily="18" charset="0"/>
                            </a:rPr>
                            <m:t>𝑒</m:t>
                          </m:r>
                        </m:e>
                        <m:sup>
                          <m:r>
                            <a:rPr lang="es-ES" b="0" i="1" smtClean="0">
                              <a:latin typeface="Cambria Math" panose="02040503050406030204" pitchFamily="18" charset="0"/>
                            </a:rPr>
                            <m:t>𝑖</m:t>
                          </m:r>
                          <m:r>
                            <a:rPr lang="es-ES" b="0" i="1" smtClean="0">
                              <a:latin typeface="Cambria Math" panose="02040503050406030204" pitchFamily="18" charset="0"/>
                            </a:rPr>
                            <m:t>(</m:t>
                          </m:r>
                          <m:r>
                            <a:rPr lang="el-GR" b="0" i="1" smtClean="0">
                              <a:latin typeface="Cambria Math" panose="02040503050406030204" pitchFamily="18" charset="0"/>
                            </a:rPr>
                            <m:t>𝜔</m:t>
                          </m:r>
                          <m:r>
                            <a:rPr lang="es-ES" b="0" i="1" smtClean="0">
                              <a:latin typeface="Cambria Math" panose="02040503050406030204" pitchFamily="18" charset="0"/>
                            </a:rPr>
                            <m:t>𝑡</m:t>
                          </m:r>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𝑘</m:t>
                              </m:r>
                            </m:e>
                            <m:sub>
                              <m:r>
                                <a:rPr lang="es-ES" b="0" i="1" smtClean="0">
                                  <a:latin typeface="Cambria Math" panose="02040503050406030204" pitchFamily="18" charset="0"/>
                                </a:rPr>
                                <m:t>1</m:t>
                              </m:r>
                            </m:sub>
                          </m:sSub>
                          <m:r>
                            <a:rPr lang="es-ES" b="0" i="1" smtClean="0">
                              <a:latin typeface="Cambria Math" panose="02040503050406030204" pitchFamily="18" charset="0"/>
                            </a:rPr>
                            <m:t>𝑥</m:t>
                          </m:r>
                          <m:r>
                            <a:rPr lang="es-ES" b="0" i="1" smtClean="0">
                              <a:latin typeface="Cambria Math" panose="02040503050406030204" pitchFamily="18" charset="0"/>
                            </a:rPr>
                            <m:t>)</m:t>
                          </m:r>
                        </m:sup>
                      </m:sSup>
                      <m:r>
                        <a:rPr lang="es-ES" b="0" i="1" smtClean="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𝐴</m:t>
                          </m:r>
                        </m:e>
                        <m:sub>
                          <m:r>
                            <a:rPr lang="es-ES" b="0" i="1" smtClean="0">
                              <a:latin typeface="Cambria Math" panose="02040503050406030204" pitchFamily="18" charset="0"/>
                            </a:rPr>
                            <m:t>𝑅</m:t>
                          </m:r>
                        </m:sub>
                      </m:sSub>
                      <m:sSup>
                        <m:sSupPr>
                          <m:ctrlPr>
                            <a:rPr lang="es-ES" i="1">
                              <a:latin typeface="Cambria Math" panose="02040503050406030204" pitchFamily="18" charset="0"/>
                            </a:rPr>
                          </m:ctrlPr>
                        </m:sSupPr>
                        <m:e>
                          <m:r>
                            <a:rPr lang="es-ES" i="1">
                              <a:latin typeface="Cambria Math" panose="02040503050406030204" pitchFamily="18" charset="0"/>
                            </a:rPr>
                            <m:t>𝑒</m:t>
                          </m:r>
                        </m:e>
                        <m:sup>
                          <m:r>
                            <a:rPr lang="es-ES" i="1">
                              <a:latin typeface="Cambria Math" panose="02040503050406030204" pitchFamily="18" charset="0"/>
                            </a:rPr>
                            <m:t>𝑖</m:t>
                          </m:r>
                          <m:r>
                            <a:rPr lang="es-ES" i="1">
                              <a:latin typeface="Cambria Math" panose="02040503050406030204" pitchFamily="18" charset="0"/>
                            </a:rPr>
                            <m:t>(</m:t>
                          </m:r>
                          <m:r>
                            <a:rPr lang="el-GR" i="1">
                              <a:latin typeface="Cambria Math" panose="02040503050406030204" pitchFamily="18" charset="0"/>
                            </a:rPr>
                            <m:t>𝜔</m:t>
                          </m:r>
                          <m:r>
                            <a:rPr lang="es-ES" i="1">
                              <a:latin typeface="Cambria Math" panose="02040503050406030204" pitchFamily="18" charset="0"/>
                            </a:rPr>
                            <m:t>𝑡</m:t>
                          </m:r>
                          <m:r>
                            <a:rPr lang="es-ES" b="0" i="1" smtClean="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𝑘</m:t>
                              </m:r>
                            </m:e>
                            <m:sub>
                              <m:r>
                                <a:rPr lang="es-ES" i="1">
                                  <a:latin typeface="Cambria Math" panose="02040503050406030204" pitchFamily="18" charset="0"/>
                                </a:rPr>
                                <m:t>1</m:t>
                              </m:r>
                            </m:sub>
                          </m:sSub>
                          <m:r>
                            <a:rPr lang="es-ES" i="1">
                              <a:latin typeface="Cambria Math" panose="02040503050406030204" pitchFamily="18" charset="0"/>
                            </a:rPr>
                            <m:t>𝑥</m:t>
                          </m:r>
                          <m:r>
                            <a:rPr lang="es-ES" i="1">
                              <a:latin typeface="Cambria Math" panose="02040503050406030204" pitchFamily="18" charset="0"/>
                            </a:rPr>
                            <m:t>)</m:t>
                          </m:r>
                        </m:sup>
                      </m:sSup>
                    </m:oMath>
                  </m:oMathPara>
                </a14:m>
                <a:endParaRPr lang="es-PE" dirty="0"/>
              </a:p>
            </p:txBody>
          </p:sp>
        </mc:Choice>
        <mc:Fallback xmlns="">
          <p:sp>
            <p:nvSpPr>
              <p:cNvPr id="11" name="CuadroTexto 10"/>
              <p:cNvSpPr txBox="1">
                <a:spLocks noRot="1" noChangeAspect="1" noMove="1" noResize="1" noEditPoints="1" noAdjustHandles="1" noChangeArrowheads="1" noChangeShapeType="1" noTextEdit="1"/>
              </p:cNvSpPr>
              <p:nvPr/>
            </p:nvSpPr>
            <p:spPr>
              <a:xfrm>
                <a:off x="395536" y="3977310"/>
                <a:ext cx="3299237" cy="288477"/>
              </a:xfrm>
              <a:prstGeom prst="rect">
                <a:avLst/>
              </a:prstGeom>
              <a:blipFill rotWithShape="0">
                <a:blip r:embed="rId6"/>
                <a:stretch>
                  <a:fillRect l="-1294" t="-8333" r="-1109" b="-22917"/>
                </a:stretch>
              </a:blipFill>
            </p:spPr>
            <p:txBody>
              <a:bodyPr/>
              <a:lstStyle/>
              <a:p>
                <a:r>
                  <a:rPr lang="es-PE">
                    <a:noFill/>
                  </a:rPr>
                  <a:t> </a:t>
                </a:r>
              </a:p>
            </p:txBody>
          </p:sp>
        </mc:Fallback>
      </mc:AlternateContent>
      <p:pic>
        <p:nvPicPr>
          <p:cNvPr id="8" name="Imagen 7"/>
          <p:cNvPicPr>
            <a:picLocks noChangeAspect="1"/>
          </p:cNvPicPr>
          <p:nvPr/>
        </p:nvPicPr>
        <p:blipFill>
          <a:blip r:embed="rId7"/>
          <a:stretch>
            <a:fillRect/>
          </a:stretch>
        </p:blipFill>
        <p:spPr>
          <a:xfrm>
            <a:off x="1730792" y="1246722"/>
            <a:ext cx="2895600" cy="733425"/>
          </a:xfrm>
          <a:prstGeom prst="rect">
            <a:avLst/>
          </a:prstGeom>
        </p:spPr>
      </p:pic>
      <p:pic>
        <p:nvPicPr>
          <p:cNvPr id="12" name="Imagen 11"/>
          <p:cNvPicPr>
            <a:picLocks noChangeAspect="1"/>
          </p:cNvPicPr>
          <p:nvPr/>
        </p:nvPicPr>
        <p:blipFill>
          <a:blip r:embed="rId8"/>
          <a:stretch>
            <a:fillRect/>
          </a:stretch>
        </p:blipFill>
        <p:spPr>
          <a:xfrm>
            <a:off x="282992" y="1962073"/>
            <a:ext cx="2895600" cy="1028700"/>
          </a:xfrm>
          <a:prstGeom prst="rect">
            <a:avLst/>
          </a:prstGeom>
        </p:spPr>
      </p:pic>
      <p:sp>
        <p:nvSpPr>
          <p:cNvPr id="13" name="CuadroTexto 12"/>
          <p:cNvSpPr txBox="1"/>
          <p:nvPr/>
        </p:nvSpPr>
        <p:spPr>
          <a:xfrm>
            <a:off x="430488" y="5855396"/>
            <a:ext cx="4429543" cy="923330"/>
          </a:xfrm>
          <a:prstGeom prst="rect">
            <a:avLst/>
          </a:prstGeom>
          <a:noFill/>
        </p:spPr>
        <p:txBody>
          <a:bodyPr wrap="square" rtlCol="0">
            <a:spAutoFit/>
          </a:bodyPr>
          <a:lstStyle/>
          <a:p>
            <a:r>
              <a:rPr lang="es-ES" dirty="0" smtClean="0"/>
              <a:t>Aplicamos la segunda ley de Newton y considerando una masa muy pequeña tenemos:</a:t>
            </a:r>
            <a:endParaRPr lang="es-PE" dirty="0"/>
          </a:p>
        </p:txBody>
      </p:sp>
      <mc:AlternateContent xmlns:mc="http://schemas.openxmlformats.org/markup-compatibility/2006" xmlns:a14="http://schemas.microsoft.com/office/drawing/2010/main">
        <mc:Choice Requires="a14">
          <p:sp>
            <p:nvSpPr>
              <p:cNvPr id="14" name="CuadroTexto 13"/>
              <p:cNvSpPr txBox="1"/>
              <p:nvPr/>
            </p:nvSpPr>
            <p:spPr>
              <a:xfrm>
                <a:off x="5289707" y="1287355"/>
                <a:ext cx="3563540" cy="66018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PE" i="1" smtClean="0">
                              <a:latin typeface="Cambria Math" panose="02040503050406030204" pitchFamily="18" charset="0"/>
                            </a:rPr>
                          </m:ctrlPr>
                        </m:sSubPr>
                        <m:e>
                          <m:r>
                            <a:rPr lang="es-ES" b="0" i="1" smtClean="0">
                              <a:latin typeface="Cambria Math" panose="02040503050406030204" pitchFamily="18" charset="0"/>
                            </a:rPr>
                            <m:t>−</m:t>
                          </m:r>
                          <m:r>
                            <a:rPr lang="es-ES" b="0" i="1" smtClean="0">
                              <a:latin typeface="Cambria Math" panose="02040503050406030204" pitchFamily="18" charset="0"/>
                            </a:rPr>
                            <m:t>𝑇</m:t>
                          </m:r>
                        </m:e>
                        <m:sub>
                          <m:r>
                            <a:rPr lang="es-ES" b="0" i="1" smtClean="0">
                              <a:latin typeface="Cambria Math" panose="02040503050406030204" pitchFamily="18" charset="0"/>
                            </a:rPr>
                            <m:t>01</m:t>
                          </m:r>
                        </m:sub>
                      </m:sSub>
                      <m:sSub>
                        <m:sSubPr>
                          <m:ctrlPr>
                            <a:rPr lang="es-PE" i="1" smtClean="0">
                              <a:latin typeface="Cambria Math" panose="02040503050406030204" pitchFamily="18" charset="0"/>
                            </a:rPr>
                          </m:ctrlPr>
                        </m:sSubPr>
                        <m:e>
                          <m:d>
                            <m:dPr>
                              <m:ctrlPr>
                                <a:rPr lang="es-PE" i="1">
                                  <a:latin typeface="Cambria Math" panose="02040503050406030204" pitchFamily="18" charset="0"/>
                                </a:rPr>
                              </m:ctrlPr>
                            </m:dPr>
                            <m:e>
                              <m:f>
                                <m:fPr>
                                  <m:ctrlPr>
                                    <a:rPr lang="es-PE" i="1">
                                      <a:latin typeface="Cambria Math" panose="02040503050406030204" pitchFamily="18" charset="0"/>
                                    </a:rPr>
                                  </m:ctrlPr>
                                </m:fPr>
                                <m:num>
                                  <m:r>
                                    <a:rPr lang="es-PE" i="1">
                                      <a:latin typeface="Cambria Math" panose="02040503050406030204" pitchFamily="18" charset="0"/>
                                    </a:rPr>
                                    <m:t>𝜕</m:t>
                                  </m:r>
                                  <m:sSub>
                                    <m:sSubPr>
                                      <m:ctrlPr>
                                        <a:rPr lang="es-PE" i="1">
                                          <a:latin typeface="Cambria Math" panose="02040503050406030204" pitchFamily="18" charset="0"/>
                                        </a:rPr>
                                      </m:ctrlPr>
                                    </m:sSubPr>
                                    <m:e>
                                      <m:r>
                                        <a:rPr lang="es-ES" i="1">
                                          <a:latin typeface="Cambria Math" panose="02040503050406030204" pitchFamily="18" charset="0"/>
                                        </a:rPr>
                                        <m:t>𝑦</m:t>
                                      </m:r>
                                    </m:e>
                                    <m:sub>
                                      <m:r>
                                        <a:rPr lang="es-ES" i="1">
                                          <a:latin typeface="Cambria Math" panose="02040503050406030204" pitchFamily="18" charset="0"/>
                                        </a:rPr>
                                        <m:t>1</m:t>
                                      </m:r>
                                    </m:sub>
                                  </m:sSub>
                                </m:num>
                                <m:den>
                                  <m:r>
                                    <a:rPr lang="es-PE" i="1">
                                      <a:latin typeface="Cambria Math" panose="02040503050406030204" pitchFamily="18" charset="0"/>
                                    </a:rPr>
                                    <m:t>𝜕</m:t>
                                  </m:r>
                                  <m:r>
                                    <a:rPr lang="es-PE" i="1">
                                      <a:latin typeface="Cambria Math" panose="02040503050406030204" pitchFamily="18" charset="0"/>
                                    </a:rPr>
                                    <m:t>𝑥</m:t>
                                  </m:r>
                                </m:den>
                              </m:f>
                            </m:e>
                          </m:d>
                        </m:e>
                        <m:sub>
                          <m:r>
                            <a:rPr lang="es-ES" b="0" i="1" smtClean="0">
                              <a:latin typeface="Cambria Math" panose="02040503050406030204" pitchFamily="18" charset="0"/>
                            </a:rPr>
                            <m:t>𝑥</m:t>
                          </m:r>
                          <m:r>
                            <a:rPr lang="es-ES" b="0" i="1" smtClean="0">
                              <a:latin typeface="Cambria Math" panose="02040503050406030204" pitchFamily="18" charset="0"/>
                            </a:rPr>
                            <m:t>=0</m:t>
                          </m:r>
                        </m:sub>
                      </m:sSub>
                      <m:r>
                        <a:rPr lang="es-ES" b="0" i="1" smtClean="0">
                          <a:latin typeface="Cambria Math" panose="02040503050406030204" pitchFamily="18" charset="0"/>
                        </a:rPr>
                        <m:t>+</m:t>
                      </m:r>
                      <m:sSub>
                        <m:sSubPr>
                          <m:ctrlPr>
                            <a:rPr lang="es-PE" i="1">
                              <a:latin typeface="Cambria Math" panose="02040503050406030204" pitchFamily="18" charset="0"/>
                            </a:rPr>
                          </m:ctrlPr>
                        </m:sSubPr>
                        <m:e>
                          <m:r>
                            <a:rPr lang="es-ES" i="1">
                              <a:latin typeface="Cambria Math" panose="02040503050406030204" pitchFamily="18" charset="0"/>
                            </a:rPr>
                            <m:t>𝑇</m:t>
                          </m:r>
                        </m:e>
                        <m:sub>
                          <m:r>
                            <a:rPr lang="es-ES" i="1">
                              <a:latin typeface="Cambria Math" panose="02040503050406030204" pitchFamily="18" charset="0"/>
                            </a:rPr>
                            <m:t>0</m:t>
                          </m:r>
                          <m:r>
                            <a:rPr lang="es-ES" b="0" i="1" smtClean="0">
                              <a:latin typeface="Cambria Math" panose="02040503050406030204" pitchFamily="18" charset="0"/>
                            </a:rPr>
                            <m:t>2</m:t>
                          </m:r>
                        </m:sub>
                      </m:sSub>
                      <m:sSub>
                        <m:sSubPr>
                          <m:ctrlPr>
                            <a:rPr lang="es-PE" i="1">
                              <a:latin typeface="Cambria Math" panose="02040503050406030204" pitchFamily="18" charset="0"/>
                            </a:rPr>
                          </m:ctrlPr>
                        </m:sSubPr>
                        <m:e>
                          <m:d>
                            <m:dPr>
                              <m:ctrlPr>
                                <a:rPr lang="es-PE" i="1">
                                  <a:latin typeface="Cambria Math" panose="02040503050406030204" pitchFamily="18" charset="0"/>
                                </a:rPr>
                              </m:ctrlPr>
                            </m:dPr>
                            <m:e>
                              <m:f>
                                <m:fPr>
                                  <m:ctrlPr>
                                    <a:rPr lang="es-PE" i="1">
                                      <a:latin typeface="Cambria Math" panose="02040503050406030204" pitchFamily="18" charset="0"/>
                                    </a:rPr>
                                  </m:ctrlPr>
                                </m:fPr>
                                <m:num>
                                  <m:r>
                                    <a:rPr lang="es-PE" i="1">
                                      <a:latin typeface="Cambria Math" panose="02040503050406030204" pitchFamily="18" charset="0"/>
                                    </a:rPr>
                                    <m:t>𝜕</m:t>
                                  </m:r>
                                  <m:sSub>
                                    <m:sSubPr>
                                      <m:ctrlPr>
                                        <a:rPr lang="es-PE" i="1">
                                          <a:latin typeface="Cambria Math" panose="02040503050406030204" pitchFamily="18" charset="0"/>
                                        </a:rPr>
                                      </m:ctrlPr>
                                    </m:sSubPr>
                                    <m:e>
                                      <m:r>
                                        <a:rPr lang="es-ES" i="1">
                                          <a:latin typeface="Cambria Math" panose="02040503050406030204" pitchFamily="18" charset="0"/>
                                        </a:rPr>
                                        <m:t>𝑦</m:t>
                                      </m:r>
                                    </m:e>
                                    <m:sub>
                                      <m:r>
                                        <a:rPr lang="es-ES" b="0" i="1" smtClean="0">
                                          <a:latin typeface="Cambria Math" panose="02040503050406030204" pitchFamily="18" charset="0"/>
                                        </a:rPr>
                                        <m:t>2</m:t>
                                      </m:r>
                                    </m:sub>
                                  </m:sSub>
                                </m:num>
                                <m:den>
                                  <m:r>
                                    <a:rPr lang="es-PE" i="1">
                                      <a:latin typeface="Cambria Math" panose="02040503050406030204" pitchFamily="18" charset="0"/>
                                    </a:rPr>
                                    <m:t>𝜕</m:t>
                                  </m:r>
                                  <m:r>
                                    <a:rPr lang="es-PE" i="1">
                                      <a:latin typeface="Cambria Math" panose="02040503050406030204" pitchFamily="18" charset="0"/>
                                    </a:rPr>
                                    <m:t>𝑥</m:t>
                                  </m:r>
                                </m:den>
                              </m:f>
                            </m:e>
                          </m:d>
                        </m:e>
                        <m:sub>
                          <m:r>
                            <a:rPr lang="es-ES" i="1">
                              <a:latin typeface="Cambria Math" panose="02040503050406030204" pitchFamily="18" charset="0"/>
                            </a:rPr>
                            <m:t>𝑥</m:t>
                          </m:r>
                          <m:r>
                            <a:rPr lang="es-ES" i="1">
                              <a:latin typeface="Cambria Math" panose="02040503050406030204" pitchFamily="18" charset="0"/>
                            </a:rPr>
                            <m:t>=0</m:t>
                          </m:r>
                        </m:sub>
                      </m:sSub>
                      <m:r>
                        <a:rPr lang="es-PE" i="1" smtClean="0">
                          <a:latin typeface="Cambria Math" panose="02040503050406030204" pitchFamily="18" charset="0"/>
                        </a:rPr>
                        <m:t>=</m:t>
                      </m:r>
                      <m:r>
                        <a:rPr lang="es-ES" b="0" i="1" smtClean="0">
                          <a:latin typeface="Cambria Math" panose="02040503050406030204" pitchFamily="18" charset="0"/>
                        </a:rPr>
                        <m:t>0</m:t>
                      </m:r>
                    </m:oMath>
                  </m:oMathPara>
                </a14:m>
                <a:endParaRPr lang="es-PE" dirty="0"/>
              </a:p>
            </p:txBody>
          </p:sp>
        </mc:Choice>
        <mc:Fallback xmlns="">
          <p:sp>
            <p:nvSpPr>
              <p:cNvPr id="14" name="CuadroTexto 13"/>
              <p:cNvSpPr txBox="1">
                <a:spLocks noRot="1" noChangeAspect="1" noMove="1" noResize="1" noEditPoints="1" noAdjustHandles="1" noChangeArrowheads="1" noChangeShapeType="1" noTextEdit="1"/>
              </p:cNvSpPr>
              <p:nvPr/>
            </p:nvSpPr>
            <p:spPr>
              <a:xfrm>
                <a:off x="5289707" y="1287355"/>
                <a:ext cx="3563540" cy="660181"/>
              </a:xfrm>
              <a:prstGeom prst="rect">
                <a:avLst/>
              </a:prstGeom>
              <a:blipFill rotWithShape="0">
                <a:blip r:embed="rId9"/>
                <a:stretch>
                  <a:fillRect b="-926"/>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15" name="Rectángulo 14"/>
              <p:cNvSpPr/>
              <p:nvPr/>
            </p:nvSpPr>
            <p:spPr>
              <a:xfrm>
                <a:off x="5491039" y="2097513"/>
                <a:ext cx="349467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s-PE" i="1" smtClean="0">
                              <a:latin typeface="Cambria Math" panose="02040503050406030204" pitchFamily="18" charset="0"/>
                            </a:rPr>
                          </m:ctrlPr>
                        </m:sSubPr>
                        <m:e>
                          <m:r>
                            <a:rPr lang="es-ES" b="0" i="1" smtClean="0">
                              <a:latin typeface="Cambria Math" panose="02040503050406030204" pitchFamily="18" charset="0"/>
                            </a:rPr>
                            <m:t>−</m:t>
                          </m:r>
                          <m:r>
                            <a:rPr lang="es-ES" i="1">
                              <a:latin typeface="Cambria Math" panose="02040503050406030204" pitchFamily="18" charset="0"/>
                            </a:rPr>
                            <m:t>𝑇</m:t>
                          </m:r>
                        </m:e>
                        <m:sub>
                          <m:r>
                            <a:rPr lang="es-ES" i="1">
                              <a:latin typeface="Cambria Math" panose="02040503050406030204" pitchFamily="18" charset="0"/>
                            </a:rPr>
                            <m:t>01</m:t>
                          </m:r>
                        </m:sub>
                      </m:sSub>
                      <m:sSub>
                        <m:sSubPr>
                          <m:ctrlPr>
                            <a:rPr lang="es-ES" i="1" smtClean="0">
                              <a:latin typeface="Cambria Math" panose="02040503050406030204" pitchFamily="18" charset="0"/>
                            </a:rPr>
                          </m:ctrlPr>
                        </m:sSubPr>
                        <m:e>
                          <m:r>
                            <a:rPr lang="es-ES" b="0" i="1" smtClean="0">
                              <a:latin typeface="Cambria Math" panose="02040503050406030204" pitchFamily="18" charset="0"/>
                            </a:rPr>
                            <m:t>𝐴</m:t>
                          </m:r>
                        </m:e>
                        <m:sub>
                          <m:r>
                            <a:rPr lang="es-ES" b="0" i="1" smtClean="0">
                              <a:latin typeface="Cambria Math" panose="02040503050406030204" pitchFamily="18" charset="0"/>
                            </a:rPr>
                            <m:t>𝐼</m:t>
                          </m:r>
                        </m:sub>
                      </m:sSub>
                      <m:sSub>
                        <m:sSubPr>
                          <m:ctrlPr>
                            <a:rPr lang="es-ES" i="1" smtClean="0">
                              <a:latin typeface="Cambria Math" panose="02040503050406030204" pitchFamily="18" charset="0"/>
                            </a:rPr>
                          </m:ctrlPr>
                        </m:sSubPr>
                        <m:e>
                          <m:r>
                            <a:rPr lang="es-ES" b="0" i="1" smtClean="0">
                              <a:latin typeface="Cambria Math" panose="02040503050406030204" pitchFamily="18" charset="0"/>
                            </a:rPr>
                            <m:t>𝑘</m:t>
                          </m:r>
                        </m:e>
                        <m:sub>
                          <m:r>
                            <a:rPr lang="es-ES" b="0" i="1" smtClean="0">
                              <a:latin typeface="Cambria Math" panose="02040503050406030204" pitchFamily="18" charset="0"/>
                            </a:rPr>
                            <m:t>1</m:t>
                          </m:r>
                        </m:sub>
                      </m:sSub>
                      <m:r>
                        <a:rPr lang="es-ES" b="0" i="1" smtClean="0">
                          <a:latin typeface="Cambria Math" panose="02040503050406030204" pitchFamily="18" charset="0"/>
                        </a:rPr>
                        <m:t>+</m:t>
                      </m:r>
                      <m:sSub>
                        <m:sSubPr>
                          <m:ctrlPr>
                            <a:rPr lang="es-PE" i="1">
                              <a:latin typeface="Cambria Math" panose="02040503050406030204" pitchFamily="18" charset="0"/>
                            </a:rPr>
                          </m:ctrlPr>
                        </m:sSubPr>
                        <m:e>
                          <m:r>
                            <a:rPr lang="es-ES" i="1">
                              <a:latin typeface="Cambria Math" panose="02040503050406030204" pitchFamily="18" charset="0"/>
                            </a:rPr>
                            <m:t>𝑇</m:t>
                          </m:r>
                        </m:e>
                        <m:sub>
                          <m:r>
                            <a:rPr lang="es-ES" i="1">
                              <a:latin typeface="Cambria Math" panose="02040503050406030204" pitchFamily="18" charset="0"/>
                            </a:rPr>
                            <m:t>01</m:t>
                          </m:r>
                        </m:sub>
                      </m:sSub>
                      <m:sSub>
                        <m:sSubPr>
                          <m:ctrlPr>
                            <a:rPr lang="es-ES" i="1">
                              <a:latin typeface="Cambria Math" panose="02040503050406030204" pitchFamily="18" charset="0"/>
                            </a:rPr>
                          </m:ctrlPr>
                        </m:sSubPr>
                        <m:e>
                          <m:r>
                            <a:rPr lang="es-ES" i="1">
                              <a:latin typeface="Cambria Math" panose="02040503050406030204" pitchFamily="18" charset="0"/>
                            </a:rPr>
                            <m:t>𝐴</m:t>
                          </m:r>
                        </m:e>
                        <m:sub>
                          <m:r>
                            <a:rPr lang="es-ES" b="0" i="1" smtClean="0">
                              <a:latin typeface="Cambria Math" panose="02040503050406030204" pitchFamily="18" charset="0"/>
                            </a:rPr>
                            <m:t>𝑅</m:t>
                          </m:r>
                        </m:sub>
                      </m:sSub>
                      <m:sSub>
                        <m:sSubPr>
                          <m:ctrlPr>
                            <a:rPr lang="es-ES" i="1">
                              <a:latin typeface="Cambria Math" panose="02040503050406030204" pitchFamily="18" charset="0"/>
                            </a:rPr>
                          </m:ctrlPr>
                        </m:sSubPr>
                        <m:e>
                          <m:r>
                            <a:rPr lang="es-ES" i="1">
                              <a:latin typeface="Cambria Math" panose="02040503050406030204" pitchFamily="18" charset="0"/>
                            </a:rPr>
                            <m:t>𝑘</m:t>
                          </m:r>
                        </m:e>
                        <m:sub>
                          <m:r>
                            <a:rPr lang="es-ES" i="1">
                              <a:latin typeface="Cambria Math" panose="02040503050406030204" pitchFamily="18" charset="0"/>
                            </a:rPr>
                            <m:t>1</m:t>
                          </m:r>
                        </m:sub>
                      </m:sSub>
                      <m:r>
                        <a:rPr lang="es-ES" b="0" i="1" smtClean="0">
                          <a:latin typeface="Cambria Math" panose="02040503050406030204" pitchFamily="18" charset="0"/>
                        </a:rPr>
                        <m:t>=</m:t>
                      </m:r>
                      <m:sSub>
                        <m:sSubPr>
                          <m:ctrlPr>
                            <a:rPr lang="es-PE" i="1">
                              <a:latin typeface="Cambria Math" panose="02040503050406030204" pitchFamily="18" charset="0"/>
                            </a:rPr>
                          </m:ctrlPr>
                        </m:sSubPr>
                        <m:e>
                          <m:r>
                            <a:rPr lang="es-ES" i="1">
                              <a:latin typeface="Cambria Math" panose="02040503050406030204" pitchFamily="18" charset="0"/>
                            </a:rPr>
                            <m:t>𝑇</m:t>
                          </m:r>
                        </m:e>
                        <m:sub>
                          <m:r>
                            <a:rPr lang="es-ES" i="1">
                              <a:latin typeface="Cambria Math" panose="02040503050406030204" pitchFamily="18" charset="0"/>
                            </a:rPr>
                            <m:t>0</m:t>
                          </m:r>
                          <m:r>
                            <a:rPr lang="es-ES" b="0" i="1" smtClean="0">
                              <a:latin typeface="Cambria Math" panose="02040503050406030204" pitchFamily="18" charset="0"/>
                            </a:rPr>
                            <m:t>2</m:t>
                          </m:r>
                        </m:sub>
                      </m:sSub>
                      <m:sSub>
                        <m:sSubPr>
                          <m:ctrlPr>
                            <a:rPr lang="es-ES" i="1">
                              <a:latin typeface="Cambria Math" panose="02040503050406030204" pitchFamily="18" charset="0"/>
                            </a:rPr>
                          </m:ctrlPr>
                        </m:sSubPr>
                        <m:e>
                          <m:r>
                            <a:rPr lang="es-ES" i="1">
                              <a:latin typeface="Cambria Math" panose="02040503050406030204" pitchFamily="18" charset="0"/>
                            </a:rPr>
                            <m:t>𝐴</m:t>
                          </m:r>
                        </m:e>
                        <m:sub>
                          <m:r>
                            <a:rPr lang="es-ES" b="0" i="1" smtClean="0">
                              <a:latin typeface="Cambria Math" panose="02040503050406030204" pitchFamily="18" charset="0"/>
                            </a:rPr>
                            <m:t>𝑇</m:t>
                          </m:r>
                        </m:sub>
                      </m:sSub>
                      <m:sSub>
                        <m:sSubPr>
                          <m:ctrlPr>
                            <a:rPr lang="es-ES" i="1">
                              <a:latin typeface="Cambria Math" panose="02040503050406030204" pitchFamily="18" charset="0"/>
                            </a:rPr>
                          </m:ctrlPr>
                        </m:sSubPr>
                        <m:e>
                          <m:r>
                            <a:rPr lang="es-ES" i="1">
                              <a:latin typeface="Cambria Math" panose="02040503050406030204" pitchFamily="18" charset="0"/>
                            </a:rPr>
                            <m:t>𝑘</m:t>
                          </m:r>
                        </m:e>
                        <m:sub>
                          <m:r>
                            <a:rPr lang="es-ES" b="0" i="1" smtClean="0">
                              <a:latin typeface="Cambria Math" panose="02040503050406030204" pitchFamily="18" charset="0"/>
                            </a:rPr>
                            <m:t>2</m:t>
                          </m:r>
                        </m:sub>
                      </m:sSub>
                    </m:oMath>
                  </m:oMathPara>
                </a14:m>
                <a:endParaRPr lang="es-PE" dirty="0"/>
              </a:p>
            </p:txBody>
          </p:sp>
        </mc:Choice>
        <mc:Fallback xmlns="">
          <p:sp>
            <p:nvSpPr>
              <p:cNvPr id="15" name="Rectángulo 14"/>
              <p:cNvSpPr>
                <a:spLocks noRot="1" noChangeAspect="1" noMove="1" noResize="1" noEditPoints="1" noAdjustHandles="1" noChangeArrowheads="1" noChangeShapeType="1" noTextEdit="1"/>
              </p:cNvSpPr>
              <p:nvPr/>
            </p:nvSpPr>
            <p:spPr>
              <a:xfrm>
                <a:off x="5491039" y="2097513"/>
                <a:ext cx="3494675" cy="369332"/>
              </a:xfrm>
              <a:prstGeom prst="rect">
                <a:avLst/>
              </a:prstGeom>
              <a:blipFill rotWithShape="0">
                <a:blip r:embed="rId10"/>
                <a:stretch>
                  <a:fillRect/>
                </a:stretch>
              </a:blipFill>
            </p:spPr>
            <p:txBody>
              <a:bodyPr/>
              <a:lstStyle/>
              <a:p>
                <a:r>
                  <a:rPr lang="es-PE">
                    <a:noFill/>
                  </a:rPr>
                  <a:t> </a:t>
                </a:r>
              </a:p>
            </p:txBody>
          </p:sp>
        </mc:Fallback>
      </mc:AlternateContent>
      <p:sp>
        <p:nvSpPr>
          <p:cNvPr id="16" name="CuadroTexto 15"/>
          <p:cNvSpPr txBox="1"/>
          <p:nvPr/>
        </p:nvSpPr>
        <p:spPr>
          <a:xfrm>
            <a:off x="5623505" y="2545989"/>
            <a:ext cx="3575041" cy="369332"/>
          </a:xfrm>
          <a:prstGeom prst="rect">
            <a:avLst/>
          </a:prstGeom>
          <a:noFill/>
        </p:spPr>
        <p:txBody>
          <a:bodyPr wrap="square" rtlCol="0">
            <a:spAutoFit/>
          </a:bodyPr>
          <a:lstStyle/>
          <a:p>
            <a:r>
              <a:rPr lang="es-ES" dirty="0" smtClean="0"/>
              <a:t>Impedancia Z, definimos:</a:t>
            </a:r>
            <a:endParaRPr lang="es-PE" dirty="0"/>
          </a:p>
        </p:txBody>
      </p:sp>
      <mc:AlternateContent xmlns:mc="http://schemas.openxmlformats.org/markup-compatibility/2006" xmlns:a14="http://schemas.microsoft.com/office/drawing/2010/main">
        <mc:Choice Requires="a14">
          <p:sp>
            <p:nvSpPr>
              <p:cNvPr id="17" name="CuadroTexto 16"/>
              <p:cNvSpPr txBox="1"/>
              <p:nvPr/>
            </p:nvSpPr>
            <p:spPr>
              <a:xfrm>
                <a:off x="5900128" y="2988170"/>
                <a:ext cx="172092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b="0" i="1" smtClean="0">
                          <a:latin typeface="Cambria Math" panose="02040503050406030204" pitchFamily="18" charset="0"/>
                        </a:rPr>
                        <m:t>𝑘𝑇</m:t>
                      </m:r>
                      <m:r>
                        <a:rPr lang="es-PE" i="1" smtClean="0">
                          <a:latin typeface="Cambria Math" panose="02040503050406030204" pitchFamily="18" charset="0"/>
                        </a:rPr>
                        <m:t>=</m:t>
                      </m:r>
                      <m:r>
                        <a:rPr lang="es-PE" i="1" smtClean="0">
                          <a:latin typeface="Cambria Math" panose="02040503050406030204" pitchFamily="18" charset="0"/>
                          <a:ea typeface="Cambria Math" panose="02040503050406030204" pitchFamily="18" charset="0"/>
                        </a:rPr>
                        <m:t>𝜔</m:t>
                      </m:r>
                      <m:r>
                        <a:rPr lang="es-ES" b="0" i="1" smtClean="0">
                          <a:latin typeface="Cambria Math" panose="02040503050406030204" pitchFamily="18" charset="0"/>
                          <a:ea typeface="Cambria Math" panose="02040503050406030204" pitchFamily="18" charset="0"/>
                        </a:rPr>
                        <m:t>𝑣</m:t>
                      </m:r>
                      <m:r>
                        <a:rPr lang="es-ES" b="0" i="1" smtClean="0">
                          <a:latin typeface="Cambria Math" panose="02040503050406030204" pitchFamily="18" charset="0"/>
                          <a:ea typeface="Cambria Math" panose="02040503050406030204" pitchFamily="18" charset="0"/>
                        </a:rPr>
                        <m:t>𝜇</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𝜔</m:t>
                      </m:r>
                      <m:r>
                        <a:rPr lang="es-ES" b="0" i="1" smtClean="0">
                          <a:latin typeface="Cambria Math" panose="02040503050406030204" pitchFamily="18" charset="0"/>
                          <a:ea typeface="Cambria Math" panose="02040503050406030204" pitchFamily="18" charset="0"/>
                        </a:rPr>
                        <m:t>𝑍</m:t>
                      </m:r>
                    </m:oMath>
                  </m:oMathPara>
                </a14:m>
                <a:endParaRPr lang="es-PE" dirty="0"/>
              </a:p>
            </p:txBody>
          </p:sp>
        </mc:Choice>
        <mc:Fallback xmlns="">
          <p:sp>
            <p:nvSpPr>
              <p:cNvPr id="17" name="CuadroTexto 16"/>
              <p:cNvSpPr txBox="1">
                <a:spLocks noRot="1" noChangeAspect="1" noMove="1" noResize="1" noEditPoints="1" noAdjustHandles="1" noChangeArrowheads="1" noChangeShapeType="1" noTextEdit="1"/>
              </p:cNvSpPr>
              <p:nvPr/>
            </p:nvSpPr>
            <p:spPr>
              <a:xfrm>
                <a:off x="5900128" y="2988170"/>
                <a:ext cx="1720920" cy="276999"/>
              </a:xfrm>
              <a:prstGeom prst="rect">
                <a:avLst/>
              </a:prstGeom>
              <a:blipFill rotWithShape="0">
                <a:blip r:embed="rId11"/>
                <a:stretch>
                  <a:fillRect l="-1064" r="-1064" b="-21739"/>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18" name="Rectángulo 17"/>
              <p:cNvSpPr/>
              <p:nvPr/>
            </p:nvSpPr>
            <p:spPr>
              <a:xfrm>
                <a:off x="5539657" y="3378480"/>
                <a:ext cx="3192349" cy="369332"/>
              </a:xfrm>
              <a:prstGeom prst="rect">
                <a:avLst/>
              </a:prstGeom>
            </p:spPr>
            <p:txBody>
              <a:bodyPr wrap="none">
                <a:spAutoFit/>
              </a:bodyPr>
              <a:lstStyle/>
              <a:p>
                <a14:m>
                  <m:oMath xmlns:m="http://schemas.openxmlformats.org/officeDocument/2006/math">
                    <m:sSub>
                      <m:sSubPr>
                        <m:ctrlPr>
                          <a:rPr lang="es-PE" i="1" smtClean="0">
                            <a:latin typeface="Cambria Math" panose="02040503050406030204" pitchFamily="18" charset="0"/>
                          </a:rPr>
                        </m:ctrlPr>
                      </m:sSubPr>
                      <m:e>
                        <m:r>
                          <a:rPr lang="es-ES" b="0" i="1" smtClean="0">
                            <a:latin typeface="Cambria Math" panose="02040503050406030204" pitchFamily="18" charset="0"/>
                          </a:rPr>
                          <m:t>−</m:t>
                        </m:r>
                        <m:r>
                          <a:rPr lang="es-ES" b="0" i="1" smtClean="0">
                            <a:latin typeface="Cambria Math" panose="02040503050406030204" pitchFamily="18" charset="0"/>
                          </a:rPr>
                          <m:t>𝑍</m:t>
                        </m:r>
                      </m:e>
                      <m:sub>
                        <m:r>
                          <a:rPr lang="es-ES" i="1">
                            <a:latin typeface="Cambria Math" panose="02040503050406030204" pitchFamily="18" charset="0"/>
                          </a:rPr>
                          <m:t>1</m:t>
                        </m:r>
                      </m:sub>
                    </m:sSub>
                    <m:sSub>
                      <m:sSubPr>
                        <m:ctrlPr>
                          <a:rPr lang="es-ES" i="1" smtClean="0">
                            <a:latin typeface="Cambria Math" panose="02040503050406030204" pitchFamily="18" charset="0"/>
                          </a:rPr>
                        </m:ctrlPr>
                      </m:sSubPr>
                      <m:e>
                        <m:r>
                          <a:rPr lang="es-ES" b="0" i="1" smtClean="0">
                            <a:latin typeface="Cambria Math" panose="02040503050406030204" pitchFamily="18" charset="0"/>
                          </a:rPr>
                          <m:t>𝐴</m:t>
                        </m:r>
                      </m:e>
                      <m:sub>
                        <m:r>
                          <a:rPr lang="es-ES" b="0" i="1" smtClean="0">
                            <a:latin typeface="Cambria Math" panose="02040503050406030204" pitchFamily="18" charset="0"/>
                          </a:rPr>
                          <m:t>𝐼</m:t>
                        </m:r>
                      </m:sub>
                    </m:sSub>
                    <m:r>
                      <a:rPr lang="es-ES" b="0" i="1" smtClean="0">
                        <a:latin typeface="Cambria Math" panose="02040503050406030204" pitchFamily="18" charset="0"/>
                      </a:rPr>
                      <m:t>+</m:t>
                    </m:r>
                    <m:sSub>
                      <m:sSubPr>
                        <m:ctrlPr>
                          <a:rPr lang="es-PE" i="1">
                            <a:latin typeface="Cambria Math" panose="02040503050406030204" pitchFamily="18" charset="0"/>
                          </a:rPr>
                        </m:ctrlPr>
                      </m:sSubPr>
                      <m:e>
                        <m:r>
                          <a:rPr lang="es-ES" b="0" i="1" smtClean="0">
                            <a:latin typeface="Cambria Math" panose="02040503050406030204" pitchFamily="18" charset="0"/>
                          </a:rPr>
                          <m:t>𝑍</m:t>
                        </m:r>
                      </m:e>
                      <m:sub>
                        <m:r>
                          <a:rPr lang="es-ES" i="1">
                            <a:latin typeface="Cambria Math" panose="02040503050406030204" pitchFamily="18" charset="0"/>
                          </a:rPr>
                          <m:t>1</m:t>
                        </m:r>
                      </m:sub>
                    </m:sSub>
                    <m:sSub>
                      <m:sSubPr>
                        <m:ctrlPr>
                          <a:rPr lang="es-ES" i="1">
                            <a:latin typeface="Cambria Math" panose="02040503050406030204" pitchFamily="18" charset="0"/>
                          </a:rPr>
                        </m:ctrlPr>
                      </m:sSubPr>
                      <m:e>
                        <m:r>
                          <a:rPr lang="es-ES" i="1">
                            <a:latin typeface="Cambria Math" panose="02040503050406030204" pitchFamily="18" charset="0"/>
                          </a:rPr>
                          <m:t>𝐴</m:t>
                        </m:r>
                      </m:e>
                      <m:sub>
                        <m:r>
                          <a:rPr lang="es-ES" b="0" i="1" smtClean="0">
                            <a:latin typeface="Cambria Math" panose="02040503050406030204" pitchFamily="18" charset="0"/>
                          </a:rPr>
                          <m:t>𝑅</m:t>
                        </m:r>
                      </m:sub>
                    </m:sSub>
                    <m:r>
                      <a:rPr lang="es-ES" b="0" i="1" smtClean="0">
                        <a:latin typeface="Cambria Math" panose="02040503050406030204" pitchFamily="18" charset="0"/>
                      </a:rPr>
                      <m:t>=</m:t>
                    </m:r>
                    <m:sSub>
                      <m:sSubPr>
                        <m:ctrlPr>
                          <a:rPr lang="es-PE" i="1">
                            <a:latin typeface="Cambria Math" panose="02040503050406030204" pitchFamily="18" charset="0"/>
                          </a:rPr>
                        </m:ctrlPr>
                      </m:sSubPr>
                      <m:e>
                        <m:r>
                          <a:rPr lang="es-ES" b="0" i="1" smtClean="0">
                            <a:latin typeface="Cambria Math" panose="02040503050406030204" pitchFamily="18" charset="0"/>
                          </a:rPr>
                          <m:t>𝑍</m:t>
                        </m:r>
                      </m:e>
                      <m:sub>
                        <m:r>
                          <a:rPr lang="es-ES" b="0" i="1" smtClean="0">
                            <a:latin typeface="Cambria Math" panose="02040503050406030204" pitchFamily="18" charset="0"/>
                          </a:rPr>
                          <m:t>2</m:t>
                        </m:r>
                      </m:sub>
                    </m:sSub>
                    <m:sSub>
                      <m:sSubPr>
                        <m:ctrlPr>
                          <a:rPr lang="es-ES" i="1">
                            <a:latin typeface="Cambria Math" panose="02040503050406030204" pitchFamily="18" charset="0"/>
                          </a:rPr>
                        </m:ctrlPr>
                      </m:sSubPr>
                      <m:e>
                        <m:r>
                          <a:rPr lang="es-ES" i="1">
                            <a:latin typeface="Cambria Math" panose="02040503050406030204" pitchFamily="18" charset="0"/>
                          </a:rPr>
                          <m:t>𝐴</m:t>
                        </m:r>
                      </m:e>
                      <m:sub>
                        <m:r>
                          <a:rPr lang="es-ES" b="0" i="1" smtClean="0">
                            <a:latin typeface="Cambria Math" panose="02040503050406030204" pitchFamily="18" charset="0"/>
                          </a:rPr>
                          <m:t>𝑇</m:t>
                        </m:r>
                      </m:sub>
                    </m:sSub>
                  </m:oMath>
                </a14:m>
                <a:r>
                  <a:rPr lang="es-PE" dirty="0" smtClean="0"/>
                  <a:t>          (2)</a:t>
                </a:r>
                <a:endParaRPr lang="es-PE" dirty="0"/>
              </a:p>
            </p:txBody>
          </p:sp>
        </mc:Choice>
        <mc:Fallback xmlns="">
          <p:sp>
            <p:nvSpPr>
              <p:cNvPr id="18" name="Rectángulo 17"/>
              <p:cNvSpPr>
                <a:spLocks noRot="1" noChangeAspect="1" noMove="1" noResize="1" noEditPoints="1" noAdjustHandles="1" noChangeArrowheads="1" noChangeShapeType="1" noTextEdit="1"/>
              </p:cNvSpPr>
              <p:nvPr/>
            </p:nvSpPr>
            <p:spPr>
              <a:xfrm>
                <a:off x="5539657" y="3378480"/>
                <a:ext cx="3192349" cy="369332"/>
              </a:xfrm>
              <a:prstGeom prst="rect">
                <a:avLst/>
              </a:prstGeom>
              <a:blipFill rotWithShape="0">
                <a:blip r:embed="rId12"/>
                <a:stretch>
                  <a:fillRect t="-8197" r="-956" b="-24590"/>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19" name="CuadroTexto 18"/>
              <p:cNvSpPr txBox="1"/>
              <p:nvPr/>
            </p:nvSpPr>
            <p:spPr>
              <a:xfrm>
                <a:off x="5168679" y="4332172"/>
                <a:ext cx="1759263" cy="102175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PE" i="1" smtClean="0">
                              <a:latin typeface="Cambria Math" panose="02040503050406030204" pitchFamily="18" charset="0"/>
                            </a:rPr>
                          </m:ctrlPr>
                        </m:sSubPr>
                        <m:e>
                          <m:r>
                            <a:rPr lang="es-ES" b="0" i="1" smtClean="0">
                              <a:latin typeface="Cambria Math" panose="02040503050406030204" pitchFamily="18" charset="0"/>
                            </a:rPr>
                            <m:t>𝐴</m:t>
                          </m:r>
                        </m:e>
                        <m:sub>
                          <m:r>
                            <a:rPr lang="es-ES" b="0" i="1" smtClean="0">
                              <a:latin typeface="Cambria Math" panose="02040503050406030204" pitchFamily="18" charset="0"/>
                            </a:rPr>
                            <m:t>𝑅</m:t>
                          </m:r>
                        </m:sub>
                      </m:sSub>
                      <m:r>
                        <a:rPr lang="es-PE" i="1" smtClean="0">
                          <a:latin typeface="Cambria Math" panose="02040503050406030204" pitchFamily="18" charset="0"/>
                        </a:rPr>
                        <m:t>=</m:t>
                      </m:r>
                      <m:f>
                        <m:fPr>
                          <m:ctrlPr>
                            <a:rPr lang="es-PE" i="1" smtClean="0">
                              <a:latin typeface="Cambria Math" panose="02040503050406030204" pitchFamily="18" charset="0"/>
                            </a:rPr>
                          </m:ctrlPr>
                        </m:fPr>
                        <m:num>
                          <m:r>
                            <a:rPr lang="es-ES" b="0" i="1" smtClean="0">
                              <a:latin typeface="Cambria Math" panose="02040503050406030204" pitchFamily="18" charset="0"/>
                            </a:rPr>
                            <m:t>1−</m:t>
                          </m:r>
                          <m:d>
                            <m:dPr>
                              <m:ctrlPr>
                                <a:rPr lang="es-ES" b="0" i="1" smtClean="0">
                                  <a:latin typeface="Cambria Math" panose="02040503050406030204" pitchFamily="18" charset="0"/>
                                </a:rPr>
                              </m:ctrlPr>
                            </m:dPr>
                            <m:e>
                              <m:f>
                                <m:fPr>
                                  <m:ctrlPr>
                                    <a:rPr lang="es-ES" b="0" i="1" smtClean="0">
                                      <a:latin typeface="Cambria Math" panose="02040503050406030204" pitchFamily="18" charset="0"/>
                                    </a:rPr>
                                  </m:ctrlPr>
                                </m:fPr>
                                <m:num>
                                  <m:sSub>
                                    <m:sSubPr>
                                      <m:ctrlPr>
                                        <a:rPr lang="es-ES" b="0" i="1" smtClean="0">
                                          <a:latin typeface="Cambria Math" panose="02040503050406030204" pitchFamily="18" charset="0"/>
                                        </a:rPr>
                                      </m:ctrlPr>
                                    </m:sSubPr>
                                    <m:e>
                                      <m:r>
                                        <a:rPr lang="es-ES" b="0" i="1" smtClean="0">
                                          <a:latin typeface="Cambria Math" panose="02040503050406030204" pitchFamily="18" charset="0"/>
                                        </a:rPr>
                                        <m:t>𝑍</m:t>
                                      </m:r>
                                    </m:e>
                                    <m:sub>
                                      <m:r>
                                        <a:rPr lang="es-ES" b="0" i="1" smtClean="0">
                                          <a:latin typeface="Cambria Math" panose="02040503050406030204" pitchFamily="18" charset="0"/>
                                        </a:rPr>
                                        <m:t>2</m:t>
                                      </m:r>
                                    </m:sub>
                                  </m:sSub>
                                </m:num>
                                <m:den>
                                  <m:sSub>
                                    <m:sSubPr>
                                      <m:ctrlPr>
                                        <a:rPr lang="es-ES" b="0" i="1" smtClean="0">
                                          <a:latin typeface="Cambria Math" panose="02040503050406030204" pitchFamily="18" charset="0"/>
                                        </a:rPr>
                                      </m:ctrlPr>
                                    </m:sSubPr>
                                    <m:e>
                                      <m:r>
                                        <a:rPr lang="es-ES" b="0" i="1" smtClean="0">
                                          <a:latin typeface="Cambria Math" panose="02040503050406030204" pitchFamily="18" charset="0"/>
                                        </a:rPr>
                                        <m:t>𝑍</m:t>
                                      </m:r>
                                    </m:e>
                                    <m:sub>
                                      <m:r>
                                        <a:rPr lang="es-ES" b="0" i="1" smtClean="0">
                                          <a:latin typeface="Cambria Math" panose="02040503050406030204" pitchFamily="18" charset="0"/>
                                        </a:rPr>
                                        <m:t>1</m:t>
                                      </m:r>
                                    </m:sub>
                                  </m:sSub>
                                </m:den>
                              </m:f>
                            </m:e>
                          </m:d>
                        </m:num>
                        <m:den>
                          <m:r>
                            <a:rPr lang="es-ES" b="0" i="1" smtClean="0">
                              <a:latin typeface="Cambria Math" panose="02040503050406030204" pitchFamily="18" charset="0"/>
                            </a:rPr>
                            <m:t>1+</m:t>
                          </m:r>
                          <m:d>
                            <m:dPr>
                              <m:ctrlPr>
                                <a:rPr lang="es-ES" i="1">
                                  <a:latin typeface="Cambria Math" panose="02040503050406030204" pitchFamily="18" charset="0"/>
                                </a:rPr>
                              </m:ctrlPr>
                            </m:dPr>
                            <m:e>
                              <m:f>
                                <m:fPr>
                                  <m:ctrlPr>
                                    <a:rPr lang="es-ES" i="1">
                                      <a:latin typeface="Cambria Math" panose="02040503050406030204" pitchFamily="18" charset="0"/>
                                    </a:rPr>
                                  </m:ctrlPr>
                                </m:fPr>
                                <m:num>
                                  <m:sSub>
                                    <m:sSubPr>
                                      <m:ctrlPr>
                                        <a:rPr lang="es-ES" i="1">
                                          <a:latin typeface="Cambria Math" panose="02040503050406030204" pitchFamily="18" charset="0"/>
                                        </a:rPr>
                                      </m:ctrlPr>
                                    </m:sSubPr>
                                    <m:e>
                                      <m:r>
                                        <a:rPr lang="es-ES" i="1">
                                          <a:latin typeface="Cambria Math" panose="02040503050406030204" pitchFamily="18" charset="0"/>
                                        </a:rPr>
                                        <m:t>𝑍</m:t>
                                      </m:r>
                                    </m:e>
                                    <m:sub>
                                      <m:r>
                                        <a:rPr lang="es-ES" i="1">
                                          <a:latin typeface="Cambria Math" panose="02040503050406030204" pitchFamily="18" charset="0"/>
                                        </a:rPr>
                                        <m:t>2</m:t>
                                      </m:r>
                                    </m:sub>
                                  </m:sSub>
                                </m:num>
                                <m:den>
                                  <m:sSub>
                                    <m:sSubPr>
                                      <m:ctrlPr>
                                        <a:rPr lang="es-ES" i="1">
                                          <a:latin typeface="Cambria Math" panose="02040503050406030204" pitchFamily="18" charset="0"/>
                                        </a:rPr>
                                      </m:ctrlPr>
                                    </m:sSubPr>
                                    <m:e>
                                      <m:r>
                                        <a:rPr lang="es-ES" i="1">
                                          <a:latin typeface="Cambria Math" panose="02040503050406030204" pitchFamily="18" charset="0"/>
                                        </a:rPr>
                                        <m:t>𝑍</m:t>
                                      </m:r>
                                    </m:e>
                                    <m:sub>
                                      <m:r>
                                        <a:rPr lang="es-ES" i="1">
                                          <a:latin typeface="Cambria Math" panose="02040503050406030204" pitchFamily="18" charset="0"/>
                                        </a:rPr>
                                        <m:t>1</m:t>
                                      </m:r>
                                    </m:sub>
                                  </m:sSub>
                                </m:den>
                              </m:f>
                            </m:e>
                          </m:d>
                        </m:den>
                      </m:f>
                      <m:sSub>
                        <m:sSubPr>
                          <m:ctrlPr>
                            <a:rPr lang="es-PE" i="1" smtClean="0">
                              <a:latin typeface="Cambria Math" panose="02040503050406030204" pitchFamily="18" charset="0"/>
                            </a:rPr>
                          </m:ctrlPr>
                        </m:sSubPr>
                        <m:e>
                          <m:r>
                            <a:rPr lang="es-ES" b="0" i="1" smtClean="0">
                              <a:latin typeface="Cambria Math" panose="02040503050406030204" pitchFamily="18" charset="0"/>
                            </a:rPr>
                            <m:t>𝐴</m:t>
                          </m:r>
                        </m:e>
                        <m:sub>
                          <m:r>
                            <a:rPr lang="es-ES" b="0" i="1" smtClean="0">
                              <a:latin typeface="Cambria Math" panose="02040503050406030204" pitchFamily="18" charset="0"/>
                            </a:rPr>
                            <m:t>𝐼</m:t>
                          </m:r>
                        </m:sub>
                      </m:sSub>
                    </m:oMath>
                  </m:oMathPara>
                </a14:m>
                <a:endParaRPr lang="es-PE" dirty="0"/>
              </a:p>
            </p:txBody>
          </p:sp>
        </mc:Choice>
        <mc:Fallback xmlns="">
          <p:sp>
            <p:nvSpPr>
              <p:cNvPr id="19" name="CuadroTexto 18"/>
              <p:cNvSpPr txBox="1">
                <a:spLocks noRot="1" noChangeAspect="1" noMove="1" noResize="1" noEditPoints="1" noAdjustHandles="1" noChangeArrowheads="1" noChangeShapeType="1" noTextEdit="1"/>
              </p:cNvSpPr>
              <p:nvPr/>
            </p:nvSpPr>
            <p:spPr>
              <a:xfrm>
                <a:off x="5168679" y="4332172"/>
                <a:ext cx="1759263" cy="1021755"/>
              </a:xfrm>
              <a:prstGeom prst="rect">
                <a:avLst/>
              </a:prstGeom>
              <a:blipFill rotWithShape="0">
                <a:blip r:embed="rId13"/>
                <a:stretch>
                  <a:fillRect/>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20" name="CuadroTexto 19"/>
              <p:cNvSpPr txBox="1"/>
              <p:nvPr/>
            </p:nvSpPr>
            <p:spPr>
              <a:xfrm>
                <a:off x="7092187" y="4384004"/>
                <a:ext cx="1761060" cy="79226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PE" i="1" smtClean="0">
                              <a:latin typeface="Cambria Math" panose="02040503050406030204" pitchFamily="18" charset="0"/>
                            </a:rPr>
                          </m:ctrlPr>
                        </m:sSubPr>
                        <m:e>
                          <m:r>
                            <a:rPr lang="es-ES" b="0" i="1" smtClean="0">
                              <a:latin typeface="Cambria Math" panose="02040503050406030204" pitchFamily="18" charset="0"/>
                            </a:rPr>
                            <m:t>𝐴</m:t>
                          </m:r>
                        </m:e>
                        <m:sub>
                          <m:r>
                            <a:rPr lang="es-ES" b="0" i="1" smtClean="0">
                              <a:latin typeface="Cambria Math" panose="02040503050406030204" pitchFamily="18" charset="0"/>
                            </a:rPr>
                            <m:t>𝑇</m:t>
                          </m:r>
                        </m:sub>
                      </m:sSub>
                      <m:r>
                        <a:rPr lang="es-PE" i="1" smtClean="0">
                          <a:latin typeface="Cambria Math" panose="02040503050406030204" pitchFamily="18" charset="0"/>
                        </a:rPr>
                        <m:t>=</m:t>
                      </m:r>
                      <m:f>
                        <m:fPr>
                          <m:ctrlPr>
                            <a:rPr lang="es-PE" i="1" smtClean="0">
                              <a:latin typeface="Cambria Math" panose="02040503050406030204" pitchFamily="18" charset="0"/>
                            </a:rPr>
                          </m:ctrlPr>
                        </m:fPr>
                        <m:num>
                          <m:r>
                            <a:rPr lang="es-ES" b="0" i="1" smtClean="0">
                              <a:latin typeface="Cambria Math" panose="02040503050406030204" pitchFamily="18" charset="0"/>
                            </a:rPr>
                            <m:t>2</m:t>
                          </m:r>
                        </m:num>
                        <m:den>
                          <m:r>
                            <a:rPr lang="es-ES" b="0" i="1" smtClean="0">
                              <a:latin typeface="Cambria Math" panose="02040503050406030204" pitchFamily="18" charset="0"/>
                            </a:rPr>
                            <m:t>1+</m:t>
                          </m:r>
                          <m:d>
                            <m:dPr>
                              <m:ctrlPr>
                                <a:rPr lang="es-ES" i="1">
                                  <a:latin typeface="Cambria Math" panose="02040503050406030204" pitchFamily="18" charset="0"/>
                                </a:rPr>
                              </m:ctrlPr>
                            </m:dPr>
                            <m:e>
                              <m:f>
                                <m:fPr>
                                  <m:ctrlPr>
                                    <a:rPr lang="es-ES" i="1">
                                      <a:latin typeface="Cambria Math" panose="02040503050406030204" pitchFamily="18" charset="0"/>
                                    </a:rPr>
                                  </m:ctrlPr>
                                </m:fPr>
                                <m:num>
                                  <m:sSub>
                                    <m:sSubPr>
                                      <m:ctrlPr>
                                        <a:rPr lang="es-ES" i="1">
                                          <a:latin typeface="Cambria Math" panose="02040503050406030204" pitchFamily="18" charset="0"/>
                                        </a:rPr>
                                      </m:ctrlPr>
                                    </m:sSubPr>
                                    <m:e>
                                      <m:r>
                                        <a:rPr lang="es-ES" i="1">
                                          <a:latin typeface="Cambria Math" panose="02040503050406030204" pitchFamily="18" charset="0"/>
                                        </a:rPr>
                                        <m:t>𝑍</m:t>
                                      </m:r>
                                    </m:e>
                                    <m:sub>
                                      <m:r>
                                        <a:rPr lang="es-ES" i="1">
                                          <a:latin typeface="Cambria Math" panose="02040503050406030204" pitchFamily="18" charset="0"/>
                                        </a:rPr>
                                        <m:t>2</m:t>
                                      </m:r>
                                    </m:sub>
                                  </m:sSub>
                                </m:num>
                                <m:den>
                                  <m:sSub>
                                    <m:sSubPr>
                                      <m:ctrlPr>
                                        <a:rPr lang="es-ES" i="1">
                                          <a:latin typeface="Cambria Math" panose="02040503050406030204" pitchFamily="18" charset="0"/>
                                        </a:rPr>
                                      </m:ctrlPr>
                                    </m:sSubPr>
                                    <m:e>
                                      <m:r>
                                        <a:rPr lang="es-ES" i="1">
                                          <a:latin typeface="Cambria Math" panose="02040503050406030204" pitchFamily="18" charset="0"/>
                                        </a:rPr>
                                        <m:t>𝑍</m:t>
                                      </m:r>
                                    </m:e>
                                    <m:sub>
                                      <m:r>
                                        <a:rPr lang="es-ES" i="1">
                                          <a:latin typeface="Cambria Math" panose="02040503050406030204" pitchFamily="18" charset="0"/>
                                        </a:rPr>
                                        <m:t>1</m:t>
                                      </m:r>
                                    </m:sub>
                                  </m:sSub>
                                </m:den>
                              </m:f>
                            </m:e>
                          </m:d>
                        </m:den>
                      </m:f>
                      <m:sSub>
                        <m:sSubPr>
                          <m:ctrlPr>
                            <a:rPr lang="es-PE" i="1" smtClean="0">
                              <a:latin typeface="Cambria Math" panose="02040503050406030204" pitchFamily="18" charset="0"/>
                            </a:rPr>
                          </m:ctrlPr>
                        </m:sSubPr>
                        <m:e>
                          <m:r>
                            <a:rPr lang="es-ES" b="0" i="1" smtClean="0">
                              <a:latin typeface="Cambria Math" panose="02040503050406030204" pitchFamily="18" charset="0"/>
                            </a:rPr>
                            <m:t>𝐴</m:t>
                          </m:r>
                        </m:e>
                        <m:sub>
                          <m:r>
                            <a:rPr lang="es-ES" b="0" i="1" smtClean="0">
                              <a:latin typeface="Cambria Math" panose="02040503050406030204" pitchFamily="18" charset="0"/>
                            </a:rPr>
                            <m:t>𝐼</m:t>
                          </m:r>
                        </m:sub>
                      </m:sSub>
                    </m:oMath>
                  </m:oMathPara>
                </a14:m>
                <a:endParaRPr lang="es-PE" dirty="0"/>
              </a:p>
            </p:txBody>
          </p:sp>
        </mc:Choice>
        <mc:Fallback xmlns="">
          <p:sp>
            <p:nvSpPr>
              <p:cNvPr id="20" name="CuadroTexto 19"/>
              <p:cNvSpPr txBox="1">
                <a:spLocks noRot="1" noChangeAspect="1" noMove="1" noResize="1" noEditPoints="1" noAdjustHandles="1" noChangeArrowheads="1" noChangeShapeType="1" noTextEdit="1"/>
              </p:cNvSpPr>
              <p:nvPr/>
            </p:nvSpPr>
            <p:spPr>
              <a:xfrm>
                <a:off x="7092187" y="4384004"/>
                <a:ext cx="1761060" cy="792268"/>
              </a:xfrm>
              <a:prstGeom prst="rect">
                <a:avLst/>
              </a:prstGeom>
              <a:blipFill rotWithShape="0">
                <a:blip r:embed="rId14"/>
                <a:stretch>
                  <a:fillRect/>
                </a:stretch>
              </a:blipFill>
            </p:spPr>
            <p:txBody>
              <a:bodyPr/>
              <a:lstStyle/>
              <a:p>
                <a:r>
                  <a:rPr lang="es-PE">
                    <a:noFill/>
                  </a:rPr>
                  <a:t> </a:t>
                </a:r>
              </a:p>
            </p:txBody>
          </p:sp>
        </mc:Fallback>
      </mc:AlternateContent>
      <p:sp>
        <p:nvSpPr>
          <p:cNvPr id="21" name="CuadroTexto 20"/>
          <p:cNvSpPr txBox="1"/>
          <p:nvPr/>
        </p:nvSpPr>
        <p:spPr>
          <a:xfrm>
            <a:off x="5289707" y="3879675"/>
            <a:ext cx="3575041" cy="369332"/>
          </a:xfrm>
          <a:prstGeom prst="rect">
            <a:avLst/>
          </a:prstGeom>
          <a:noFill/>
        </p:spPr>
        <p:txBody>
          <a:bodyPr wrap="square" rtlCol="0">
            <a:spAutoFit/>
          </a:bodyPr>
          <a:lstStyle/>
          <a:p>
            <a:r>
              <a:rPr lang="es-ES" dirty="0" smtClean="0"/>
              <a:t>Resolviendo (1) y (2) tenemos:</a:t>
            </a:r>
            <a:endParaRPr lang="es-PE" dirty="0"/>
          </a:p>
        </p:txBody>
      </p:sp>
      <mc:AlternateContent xmlns:mc="http://schemas.openxmlformats.org/markup-compatibility/2006" xmlns:a14="http://schemas.microsoft.com/office/drawing/2010/main">
        <mc:Choice Requires="a14">
          <p:sp>
            <p:nvSpPr>
              <p:cNvPr id="22" name="CuadroTexto 21"/>
              <p:cNvSpPr txBox="1"/>
              <p:nvPr/>
            </p:nvSpPr>
            <p:spPr>
              <a:xfrm>
                <a:off x="5097945" y="5412637"/>
                <a:ext cx="3988483" cy="796885"/>
              </a:xfrm>
              <a:prstGeom prst="rect">
                <a:avLst/>
              </a:prstGeom>
              <a:noFill/>
            </p:spPr>
            <p:txBody>
              <a:bodyPr wrap="square" rtlCol="0">
                <a:spAutoFit/>
              </a:bodyPr>
              <a:lstStyle/>
              <a:p>
                <a:r>
                  <a:rPr lang="es-ES" dirty="0" smtClean="0"/>
                  <a:t>Introducimos los </a:t>
                </a:r>
                <a:r>
                  <a:rPr lang="es-ES" dirty="0" err="1" smtClean="0"/>
                  <a:t>ceficientes</a:t>
                </a:r>
                <a:r>
                  <a:rPr lang="es-ES" dirty="0" smtClean="0"/>
                  <a:t> de reflexión y trasmisión </a:t>
                </a:r>
                <a14:m>
                  <m:oMath xmlns:m="http://schemas.openxmlformats.org/officeDocument/2006/math">
                    <m:r>
                      <a:rPr lang="es-ES" b="0" i="1" smtClean="0">
                        <a:latin typeface="Cambria Math" panose="02040503050406030204" pitchFamily="18" charset="0"/>
                      </a:rPr>
                      <m:t>𝑟</m:t>
                    </m:r>
                    <m:r>
                      <a:rPr lang="es-ES" b="0" i="1" smtClean="0">
                        <a:latin typeface="Cambria Math" panose="02040503050406030204" pitchFamily="18" charset="0"/>
                      </a:rPr>
                      <m:t>=</m:t>
                    </m:r>
                    <m:f>
                      <m:fPr>
                        <m:ctrlPr>
                          <a:rPr lang="es-ES" b="0" i="1" smtClean="0">
                            <a:latin typeface="Cambria Math" panose="02040503050406030204" pitchFamily="18" charset="0"/>
                          </a:rPr>
                        </m:ctrlPr>
                      </m:fPr>
                      <m:num>
                        <m:sSub>
                          <m:sSubPr>
                            <m:ctrlPr>
                              <a:rPr lang="es-ES" b="0" i="1" smtClean="0">
                                <a:latin typeface="Cambria Math" panose="02040503050406030204" pitchFamily="18" charset="0"/>
                              </a:rPr>
                            </m:ctrlPr>
                          </m:sSubPr>
                          <m:e>
                            <m:r>
                              <a:rPr lang="es-ES" b="0" i="1" smtClean="0">
                                <a:latin typeface="Cambria Math" panose="02040503050406030204" pitchFamily="18" charset="0"/>
                              </a:rPr>
                              <m:t>𝐴</m:t>
                            </m:r>
                          </m:e>
                          <m:sub>
                            <m:r>
                              <a:rPr lang="es-ES" b="0" i="1" smtClean="0">
                                <a:latin typeface="Cambria Math" panose="02040503050406030204" pitchFamily="18" charset="0"/>
                              </a:rPr>
                              <m:t>𝑅</m:t>
                            </m:r>
                          </m:sub>
                        </m:sSub>
                      </m:num>
                      <m:den>
                        <m:sSub>
                          <m:sSubPr>
                            <m:ctrlPr>
                              <a:rPr lang="es-ES" b="0" i="1" smtClean="0">
                                <a:latin typeface="Cambria Math" panose="02040503050406030204" pitchFamily="18" charset="0"/>
                              </a:rPr>
                            </m:ctrlPr>
                          </m:sSubPr>
                          <m:e>
                            <m:r>
                              <a:rPr lang="es-ES" b="0" i="1" smtClean="0">
                                <a:latin typeface="Cambria Math" panose="02040503050406030204" pitchFamily="18" charset="0"/>
                              </a:rPr>
                              <m:t>𝐴</m:t>
                            </m:r>
                          </m:e>
                          <m:sub>
                            <m:r>
                              <a:rPr lang="es-ES" b="0" i="1" smtClean="0">
                                <a:latin typeface="Cambria Math" panose="02040503050406030204" pitchFamily="18" charset="0"/>
                              </a:rPr>
                              <m:t>𝐼</m:t>
                            </m:r>
                          </m:sub>
                        </m:sSub>
                      </m:den>
                    </m:f>
                    <m:r>
                      <a:rPr lang="es-ES" b="0" i="1" smtClean="0">
                        <a:latin typeface="Cambria Math" panose="02040503050406030204" pitchFamily="18" charset="0"/>
                      </a:rPr>
                      <m:t> </m:t>
                    </m:r>
                    <m:r>
                      <a:rPr lang="es-ES" b="0" i="1" smtClean="0">
                        <a:latin typeface="Cambria Math" panose="02040503050406030204" pitchFamily="18" charset="0"/>
                      </a:rPr>
                      <m:t>𝑦</m:t>
                    </m:r>
                    <m:r>
                      <a:rPr lang="es-ES" b="0" i="1" smtClean="0">
                        <a:latin typeface="Cambria Math" panose="02040503050406030204" pitchFamily="18" charset="0"/>
                      </a:rPr>
                      <m:t> </m:t>
                    </m:r>
                    <m:r>
                      <a:rPr lang="es-ES" b="0" i="1" smtClean="0">
                        <a:latin typeface="Cambria Math" panose="02040503050406030204" pitchFamily="18" charset="0"/>
                      </a:rPr>
                      <m:t>𝑡</m:t>
                    </m:r>
                    <m:r>
                      <a:rPr lang="es-ES" i="1">
                        <a:latin typeface="Cambria Math" panose="02040503050406030204" pitchFamily="18" charset="0"/>
                      </a:rPr>
                      <m:t>=</m:t>
                    </m:r>
                    <m:f>
                      <m:fPr>
                        <m:ctrlPr>
                          <a:rPr lang="es-ES" i="1">
                            <a:latin typeface="Cambria Math" panose="02040503050406030204" pitchFamily="18" charset="0"/>
                          </a:rPr>
                        </m:ctrlPr>
                      </m:fPr>
                      <m:num>
                        <m:sSub>
                          <m:sSubPr>
                            <m:ctrlPr>
                              <a:rPr lang="es-ES" i="1">
                                <a:latin typeface="Cambria Math" panose="02040503050406030204" pitchFamily="18" charset="0"/>
                              </a:rPr>
                            </m:ctrlPr>
                          </m:sSubPr>
                          <m:e>
                            <m:r>
                              <a:rPr lang="es-ES" i="1">
                                <a:latin typeface="Cambria Math" panose="02040503050406030204" pitchFamily="18" charset="0"/>
                              </a:rPr>
                              <m:t>𝐴</m:t>
                            </m:r>
                          </m:e>
                          <m:sub>
                            <m:r>
                              <a:rPr lang="es-ES" b="0" i="1" smtClean="0">
                                <a:latin typeface="Cambria Math" panose="02040503050406030204" pitchFamily="18" charset="0"/>
                              </a:rPr>
                              <m:t>𝑇</m:t>
                            </m:r>
                          </m:sub>
                        </m:sSub>
                      </m:num>
                      <m:den>
                        <m:sSub>
                          <m:sSubPr>
                            <m:ctrlPr>
                              <a:rPr lang="es-ES" i="1">
                                <a:latin typeface="Cambria Math" panose="02040503050406030204" pitchFamily="18" charset="0"/>
                              </a:rPr>
                            </m:ctrlPr>
                          </m:sSubPr>
                          <m:e>
                            <m:r>
                              <a:rPr lang="es-ES" i="1">
                                <a:latin typeface="Cambria Math" panose="02040503050406030204" pitchFamily="18" charset="0"/>
                              </a:rPr>
                              <m:t>𝐴</m:t>
                            </m:r>
                          </m:e>
                          <m:sub>
                            <m:r>
                              <a:rPr lang="es-ES" i="1">
                                <a:latin typeface="Cambria Math" panose="02040503050406030204" pitchFamily="18" charset="0"/>
                              </a:rPr>
                              <m:t>𝐼</m:t>
                            </m:r>
                          </m:sub>
                        </m:sSub>
                      </m:den>
                    </m:f>
                    <m:r>
                      <a:rPr lang="es-ES" b="0" i="0" smtClean="0">
                        <a:latin typeface="Cambria Math" panose="02040503050406030204" pitchFamily="18" charset="0"/>
                      </a:rPr>
                      <m:t>;</m:t>
                    </m:r>
                    <m:r>
                      <m:rPr>
                        <m:sty m:val="p"/>
                      </m:rPr>
                      <a:rPr lang="es-ES" b="0" i="0" smtClean="0">
                        <a:latin typeface="Cambria Math" panose="02040503050406030204" pitchFamily="18" charset="0"/>
                      </a:rPr>
                      <m:t>entonces</m:t>
                    </m:r>
                    <m:r>
                      <a:rPr lang="es-ES" b="0" i="0" smtClean="0">
                        <a:latin typeface="Cambria Math" panose="02040503050406030204" pitchFamily="18" charset="0"/>
                      </a:rPr>
                      <m:t>:</m:t>
                    </m:r>
                  </m:oMath>
                </a14:m>
                <a:endParaRPr lang="es-PE" dirty="0"/>
              </a:p>
            </p:txBody>
          </p:sp>
        </mc:Choice>
        <mc:Fallback xmlns="">
          <p:sp>
            <p:nvSpPr>
              <p:cNvPr id="22" name="CuadroTexto 21"/>
              <p:cNvSpPr txBox="1">
                <a:spLocks noRot="1" noChangeAspect="1" noMove="1" noResize="1" noEditPoints="1" noAdjustHandles="1" noChangeArrowheads="1" noChangeShapeType="1" noTextEdit="1"/>
              </p:cNvSpPr>
              <p:nvPr/>
            </p:nvSpPr>
            <p:spPr>
              <a:xfrm>
                <a:off x="5097945" y="5412637"/>
                <a:ext cx="3988483" cy="796885"/>
              </a:xfrm>
              <a:prstGeom prst="rect">
                <a:avLst/>
              </a:prstGeom>
              <a:blipFill rotWithShape="0">
                <a:blip r:embed="rId15"/>
                <a:stretch>
                  <a:fillRect l="-1221" t="-4580" r="-916"/>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23" name="CuadroTexto 22"/>
              <p:cNvSpPr txBox="1"/>
              <p:nvPr/>
            </p:nvSpPr>
            <p:spPr>
              <a:xfrm>
                <a:off x="6669357" y="6257613"/>
                <a:ext cx="93294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s-ES" b="0" i="0" smtClean="0">
                          <a:latin typeface="Cambria Math" panose="02040503050406030204" pitchFamily="18" charset="0"/>
                        </a:rPr>
                        <m:t>t</m:t>
                      </m:r>
                      <m:r>
                        <a:rPr lang="es-ES" b="0" i="0" smtClean="0">
                          <a:latin typeface="Cambria Math" panose="02040503050406030204" pitchFamily="18" charset="0"/>
                        </a:rPr>
                        <m:t>−</m:t>
                      </m:r>
                      <m:r>
                        <m:rPr>
                          <m:sty m:val="p"/>
                        </m:rPr>
                        <a:rPr lang="es-ES" b="0" i="0" smtClean="0">
                          <a:latin typeface="Cambria Math" panose="02040503050406030204" pitchFamily="18" charset="0"/>
                        </a:rPr>
                        <m:t>r</m:t>
                      </m:r>
                      <m:r>
                        <a:rPr lang="es-ES" b="0" i="0" smtClean="0">
                          <a:latin typeface="Cambria Math" panose="02040503050406030204" pitchFamily="18" charset="0"/>
                        </a:rPr>
                        <m:t>=1</m:t>
                      </m:r>
                    </m:oMath>
                  </m:oMathPara>
                </a14:m>
                <a:endParaRPr lang="es-PE" dirty="0"/>
              </a:p>
            </p:txBody>
          </p:sp>
        </mc:Choice>
        <mc:Fallback xmlns="">
          <p:sp>
            <p:nvSpPr>
              <p:cNvPr id="23" name="CuadroTexto 22"/>
              <p:cNvSpPr txBox="1">
                <a:spLocks noRot="1" noChangeAspect="1" noMove="1" noResize="1" noEditPoints="1" noAdjustHandles="1" noChangeArrowheads="1" noChangeShapeType="1" noTextEdit="1"/>
              </p:cNvSpPr>
              <p:nvPr/>
            </p:nvSpPr>
            <p:spPr>
              <a:xfrm>
                <a:off x="6669357" y="6257613"/>
                <a:ext cx="932948" cy="276999"/>
              </a:xfrm>
              <a:prstGeom prst="rect">
                <a:avLst/>
              </a:prstGeom>
              <a:blipFill rotWithShape="0">
                <a:blip r:embed="rId16"/>
                <a:stretch>
                  <a:fillRect l="-4575" r="-5882" b="-6667"/>
                </a:stretch>
              </a:blipFill>
            </p:spPr>
            <p:txBody>
              <a:bodyPr/>
              <a:lstStyle/>
              <a:p>
                <a:r>
                  <a:rPr lang="es-PE">
                    <a:noFill/>
                  </a:rPr>
                  <a:t> </a:t>
                </a:r>
              </a:p>
            </p:txBody>
          </p:sp>
        </mc:Fallback>
      </mc:AlternateContent>
    </p:spTree>
    <p:extLst>
      <p:ext uri="{BB962C8B-B14F-4D97-AF65-F5344CB8AC3E}">
        <p14:creationId xmlns:p14="http://schemas.microsoft.com/office/powerpoint/2010/main" val="128858704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1 Título"/>
          <p:cNvSpPr>
            <a:spLocks noGrp="1"/>
          </p:cNvSpPr>
          <p:nvPr>
            <p:ph type="title"/>
          </p:nvPr>
        </p:nvSpPr>
        <p:spPr>
          <a:xfrm>
            <a:off x="1907704" y="847066"/>
            <a:ext cx="3600400" cy="572915"/>
          </a:xfrm>
        </p:spPr>
        <p:txBody>
          <a:bodyPr>
            <a:normAutofit/>
          </a:bodyPr>
          <a:lstStyle/>
          <a:p>
            <a:r>
              <a:rPr lang="es-PE" dirty="0" smtClean="0"/>
              <a:t>Ejemplo:</a:t>
            </a:r>
            <a:endParaRPr lang="es-PE" dirty="0"/>
          </a:p>
        </p:txBody>
      </p:sp>
      <p:sp>
        <p:nvSpPr>
          <p:cNvPr id="5" name="Rectángulo 4"/>
          <p:cNvSpPr/>
          <p:nvPr/>
        </p:nvSpPr>
        <p:spPr>
          <a:xfrm>
            <a:off x="559992" y="1690938"/>
            <a:ext cx="8064896" cy="1200329"/>
          </a:xfrm>
          <a:prstGeom prst="rect">
            <a:avLst/>
          </a:prstGeom>
        </p:spPr>
        <p:txBody>
          <a:bodyPr wrap="square">
            <a:spAutoFit/>
          </a:bodyPr>
          <a:lstStyle/>
          <a:p>
            <a:pPr algn="just"/>
            <a:r>
              <a:rPr lang="es-PE" dirty="0">
                <a:latin typeface="Times New Roman" panose="02020603050405020304" pitchFamily="18" charset="0"/>
              </a:rPr>
              <a:t>La onda: </a:t>
            </a:r>
            <a:r>
              <a:rPr lang="es-PE" i="1" dirty="0">
                <a:latin typeface="TimesNewRomanPS-ItalicMT"/>
              </a:rPr>
              <a:t>y</a:t>
            </a:r>
            <a:r>
              <a:rPr lang="es-PE" sz="800" dirty="0">
                <a:latin typeface="Times New Roman" panose="02020603050405020304" pitchFamily="18" charset="0"/>
              </a:rPr>
              <a:t>1</a:t>
            </a:r>
            <a:r>
              <a:rPr lang="es-PE" dirty="0">
                <a:latin typeface="Times New Roman" panose="02020603050405020304" pitchFamily="18" charset="0"/>
              </a:rPr>
              <a:t>(</a:t>
            </a:r>
            <a:r>
              <a:rPr lang="es-PE" i="1" dirty="0">
                <a:latin typeface="TimesNewRomanPS-ItalicMT"/>
              </a:rPr>
              <a:t>x, t</a:t>
            </a:r>
            <a:r>
              <a:rPr lang="es-PE" dirty="0">
                <a:latin typeface="Times New Roman" panose="02020603050405020304" pitchFamily="18" charset="0"/>
              </a:rPr>
              <a:t>) = (</a:t>
            </a:r>
            <a:r>
              <a:rPr lang="es-PE" dirty="0" smtClean="0">
                <a:latin typeface="Times New Roman" panose="02020603050405020304" pitchFamily="18" charset="0"/>
              </a:rPr>
              <a:t>10) </a:t>
            </a:r>
            <a:r>
              <a:rPr lang="es-PE" dirty="0" err="1" smtClean="0">
                <a:latin typeface="Times New Roman" panose="02020603050405020304" pitchFamily="18" charset="0"/>
              </a:rPr>
              <a:t>Sen</a:t>
            </a:r>
            <a:r>
              <a:rPr lang="es-PE" dirty="0" smtClean="0">
                <a:latin typeface="Times New Roman" panose="02020603050405020304" pitchFamily="18" charset="0"/>
              </a:rPr>
              <a:t> [40 </a:t>
            </a:r>
            <a:r>
              <a:rPr lang="es-PE" i="1" dirty="0" smtClean="0">
                <a:latin typeface="TimesNewRomanPS-ItalicMT"/>
              </a:rPr>
              <a:t>x </a:t>
            </a:r>
            <a:r>
              <a:rPr lang="es-PE" dirty="0">
                <a:latin typeface="Times New Roman" panose="02020603050405020304" pitchFamily="18" charset="0"/>
              </a:rPr>
              <a:t>– </a:t>
            </a:r>
            <a:r>
              <a:rPr lang="es-PE" dirty="0" smtClean="0">
                <a:latin typeface="Times New Roman" panose="02020603050405020304" pitchFamily="18" charset="0"/>
              </a:rPr>
              <a:t>200</a:t>
            </a:r>
            <a:r>
              <a:rPr lang="es-PE" i="1" dirty="0" smtClean="0">
                <a:latin typeface="TimesNewRomanPS-ItalicMT"/>
              </a:rPr>
              <a:t>t</a:t>
            </a:r>
            <a:r>
              <a:rPr lang="es-PE" dirty="0" smtClean="0">
                <a:latin typeface="Times New Roman" panose="02020603050405020304" pitchFamily="18" charset="0"/>
              </a:rPr>
              <a:t>]mm </a:t>
            </a:r>
            <a:r>
              <a:rPr lang="es-PE" dirty="0">
                <a:latin typeface="Times New Roman" panose="02020603050405020304" pitchFamily="18" charset="0"/>
              </a:rPr>
              <a:t>se propaga por una cuerda elástica tensa, </a:t>
            </a:r>
            <a:r>
              <a:rPr lang="es-PE" dirty="0" smtClean="0">
                <a:latin typeface="Times New Roman" panose="02020603050405020304" pitchFamily="18" charset="0"/>
              </a:rPr>
              <a:t>de densidad </a:t>
            </a:r>
            <a:r>
              <a:rPr lang="es-PE" dirty="0">
                <a:latin typeface="Times New Roman" panose="02020603050405020304" pitchFamily="18" charset="0"/>
              </a:rPr>
              <a:t>lineal </a:t>
            </a:r>
            <a:r>
              <a:rPr lang="el-GR" dirty="0" smtClean="0">
                <a:latin typeface="Times New Roman" panose="02020603050405020304" pitchFamily="18" charset="0"/>
              </a:rPr>
              <a:t>μ</a:t>
            </a:r>
            <a:r>
              <a:rPr lang="es-ES" dirty="0" smtClean="0">
                <a:latin typeface="Times New Roman" panose="02020603050405020304" pitchFamily="18" charset="0"/>
              </a:rPr>
              <a:t>=</a:t>
            </a:r>
            <a:r>
              <a:rPr lang="es-PE" dirty="0" smtClean="0">
                <a:latin typeface="Times New Roman" panose="02020603050405020304" pitchFamily="18" charset="0"/>
              </a:rPr>
              <a:t> </a:t>
            </a:r>
            <a:r>
              <a:rPr lang="es-PE" dirty="0">
                <a:latin typeface="Times New Roman" panose="02020603050405020304" pitchFamily="18" charset="0"/>
              </a:rPr>
              <a:t>40 g/m. En </a:t>
            </a:r>
            <a:r>
              <a:rPr lang="es-PE" i="1" dirty="0">
                <a:latin typeface="TimesNewRomanPS-ItalicMT"/>
              </a:rPr>
              <a:t>x </a:t>
            </a:r>
            <a:r>
              <a:rPr lang="es-PE" dirty="0">
                <a:latin typeface="Times New Roman" panose="02020603050405020304" pitchFamily="18" charset="0"/>
              </a:rPr>
              <a:t>= </a:t>
            </a:r>
            <a:r>
              <a:rPr lang="es-PE" i="1" dirty="0">
                <a:latin typeface="TimesNewRomanPS-ItalicMT"/>
              </a:rPr>
              <a:t>a </a:t>
            </a:r>
            <a:r>
              <a:rPr lang="es-PE" dirty="0">
                <a:latin typeface="Times New Roman" panose="02020603050405020304" pitchFamily="18" charset="0"/>
              </a:rPr>
              <a:t>cambia la densidad de la cuerda, que pasa a ser el </a:t>
            </a:r>
            <a:r>
              <a:rPr lang="es-PE" dirty="0" smtClean="0">
                <a:latin typeface="Times New Roman" panose="02020603050405020304" pitchFamily="18" charset="0"/>
              </a:rPr>
              <a:t>doble, manteniendo </a:t>
            </a:r>
            <a:r>
              <a:rPr lang="es-PE" dirty="0">
                <a:latin typeface="Times New Roman" panose="02020603050405020304" pitchFamily="18" charset="0"/>
              </a:rPr>
              <a:t>la misma tensión. </a:t>
            </a:r>
            <a:r>
              <a:rPr lang="es-PE" dirty="0" smtClean="0">
                <a:latin typeface="Times New Roman" panose="02020603050405020304" pitchFamily="18" charset="0"/>
              </a:rPr>
              <a:t>Escriba </a:t>
            </a:r>
            <a:r>
              <a:rPr lang="es-PE" dirty="0">
                <a:latin typeface="Times New Roman" panose="02020603050405020304" pitchFamily="18" charset="0"/>
              </a:rPr>
              <a:t>las funciones de onda </a:t>
            </a:r>
            <a:r>
              <a:rPr lang="es-PE" dirty="0" smtClean="0">
                <a:latin typeface="Times New Roman" panose="02020603050405020304" pitchFamily="18" charset="0"/>
              </a:rPr>
              <a:t> </a:t>
            </a:r>
            <a:r>
              <a:rPr lang="es-PE" dirty="0">
                <a:latin typeface="Times New Roman" panose="02020603050405020304" pitchFamily="18" charset="0"/>
              </a:rPr>
              <a:t>reflejada y de la </a:t>
            </a:r>
            <a:r>
              <a:rPr lang="es-PE" dirty="0" smtClean="0">
                <a:latin typeface="Times New Roman" panose="02020603050405020304" pitchFamily="18" charset="0"/>
              </a:rPr>
              <a:t>onda transmitida</a:t>
            </a:r>
            <a:endParaRPr lang="es-PE" dirty="0"/>
          </a:p>
        </p:txBody>
      </p:sp>
      <mc:AlternateContent xmlns:mc="http://schemas.openxmlformats.org/markup-compatibility/2006" xmlns:a14="http://schemas.microsoft.com/office/drawing/2010/main">
        <mc:Choice Requires="a14">
          <p:sp>
            <p:nvSpPr>
              <p:cNvPr id="6" name="CuadroTexto 5"/>
              <p:cNvSpPr txBox="1"/>
              <p:nvPr/>
            </p:nvSpPr>
            <p:spPr>
              <a:xfrm>
                <a:off x="735289" y="3786264"/>
                <a:ext cx="2486129" cy="7106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PE" i="1" smtClean="0">
                              <a:latin typeface="Cambria Math" panose="02040503050406030204" pitchFamily="18" charset="0"/>
                            </a:rPr>
                          </m:ctrlPr>
                        </m:fPr>
                        <m:num>
                          <m:sSub>
                            <m:sSubPr>
                              <m:ctrlPr>
                                <a:rPr lang="es-PE" i="1" smtClean="0">
                                  <a:latin typeface="Cambria Math" panose="02040503050406030204" pitchFamily="18" charset="0"/>
                                </a:rPr>
                              </m:ctrlPr>
                            </m:sSubPr>
                            <m:e>
                              <m:r>
                                <a:rPr lang="es-ES" b="0" i="1" smtClean="0">
                                  <a:latin typeface="Cambria Math" panose="02040503050406030204" pitchFamily="18" charset="0"/>
                                </a:rPr>
                                <m:t>𝑍</m:t>
                              </m:r>
                            </m:e>
                            <m:sub>
                              <m:r>
                                <a:rPr lang="es-ES" b="0" i="1" smtClean="0">
                                  <a:latin typeface="Cambria Math" panose="02040503050406030204" pitchFamily="18" charset="0"/>
                                </a:rPr>
                                <m:t>2</m:t>
                              </m:r>
                            </m:sub>
                          </m:sSub>
                        </m:num>
                        <m:den>
                          <m:sSub>
                            <m:sSubPr>
                              <m:ctrlPr>
                                <a:rPr lang="es-PE" i="1" smtClean="0">
                                  <a:latin typeface="Cambria Math" panose="02040503050406030204" pitchFamily="18" charset="0"/>
                                </a:rPr>
                              </m:ctrlPr>
                            </m:sSubPr>
                            <m:e>
                              <m:r>
                                <a:rPr lang="es-ES" b="0" i="1" smtClean="0">
                                  <a:latin typeface="Cambria Math" panose="02040503050406030204" pitchFamily="18" charset="0"/>
                                </a:rPr>
                                <m:t>𝑍</m:t>
                              </m:r>
                            </m:e>
                            <m:sub>
                              <m:r>
                                <a:rPr lang="es-ES" b="0" i="1" smtClean="0">
                                  <a:latin typeface="Cambria Math" panose="02040503050406030204" pitchFamily="18" charset="0"/>
                                </a:rPr>
                                <m:t>1</m:t>
                              </m:r>
                            </m:sub>
                          </m:sSub>
                        </m:den>
                      </m:f>
                      <m:r>
                        <a:rPr lang="es-ES" b="0" i="1" smtClean="0">
                          <a:latin typeface="Cambria Math" panose="02040503050406030204" pitchFamily="18" charset="0"/>
                        </a:rPr>
                        <m:t>=</m:t>
                      </m:r>
                      <m:f>
                        <m:fPr>
                          <m:ctrlPr>
                            <a:rPr lang="es-ES" b="0" i="1" smtClean="0">
                              <a:latin typeface="Cambria Math" panose="02040503050406030204" pitchFamily="18" charset="0"/>
                            </a:rPr>
                          </m:ctrlPr>
                        </m:fPr>
                        <m:num>
                          <m:sSub>
                            <m:sSubPr>
                              <m:ctrlPr>
                                <a:rPr lang="es-ES" b="0" i="1" smtClean="0">
                                  <a:latin typeface="Cambria Math" panose="02040503050406030204" pitchFamily="18" charset="0"/>
                                </a:rPr>
                              </m:ctrlPr>
                            </m:sSubPr>
                            <m:e>
                              <m:r>
                                <a:rPr lang="es-ES" b="0" i="1" smtClean="0">
                                  <a:latin typeface="Cambria Math" panose="02040503050406030204" pitchFamily="18" charset="0"/>
                                  <a:ea typeface="Cambria Math" panose="02040503050406030204" pitchFamily="18" charset="0"/>
                                </a:rPr>
                                <m:t>𝜇</m:t>
                              </m:r>
                            </m:e>
                            <m:sub>
                              <m:r>
                                <a:rPr lang="es-ES" b="0" i="1" smtClean="0">
                                  <a:latin typeface="Cambria Math" panose="02040503050406030204" pitchFamily="18" charset="0"/>
                                </a:rPr>
                                <m:t>2</m:t>
                              </m:r>
                            </m:sub>
                          </m:sSub>
                          <m:sSub>
                            <m:sSubPr>
                              <m:ctrlPr>
                                <a:rPr lang="es-ES" b="0" i="1" smtClean="0">
                                  <a:latin typeface="Cambria Math" panose="02040503050406030204" pitchFamily="18" charset="0"/>
                                </a:rPr>
                              </m:ctrlPr>
                            </m:sSubPr>
                            <m:e>
                              <m:r>
                                <a:rPr lang="es-ES" b="0" i="1" smtClean="0">
                                  <a:latin typeface="Cambria Math" panose="02040503050406030204" pitchFamily="18" charset="0"/>
                                </a:rPr>
                                <m:t>𝑣</m:t>
                              </m:r>
                            </m:e>
                            <m:sub>
                              <m:r>
                                <a:rPr lang="es-ES" b="0" i="1" smtClean="0">
                                  <a:latin typeface="Cambria Math" panose="02040503050406030204" pitchFamily="18" charset="0"/>
                                </a:rPr>
                                <m:t>2</m:t>
                              </m:r>
                            </m:sub>
                          </m:sSub>
                        </m:num>
                        <m:den>
                          <m:sSub>
                            <m:sSubPr>
                              <m:ctrlPr>
                                <a:rPr lang="es-ES" i="1">
                                  <a:latin typeface="Cambria Math" panose="02040503050406030204" pitchFamily="18" charset="0"/>
                                </a:rPr>
                              </m:ctrlPr>
                            </m:sSubPr>
                            <m:e>
                              <m:r>
                                <a:rPr lang="es-ES" i="1">
                                  <a:latin typeface="Cambria Math" panose="02040503050406030204" pitchFamily="18" charset="0"/>
                                  <a:ea typeface="Cambria Math" panose="02040503050406030204" pitchFamily="18" charset="0"/>
                                </a:rPr>
                                <m:t>𝜇</m:t>
                              </m:r>
                            </m:e>
                            <m:sub>
                              <m:r>
                                <a:rPr lang="es-ES" b="0" i="1" smtClean="0">
                                  <a:latin typeface="Cambria Math" panose="02040503050406030204" pitchFamily="18" charset="0"/>
                                  <a:ea typeface="Cambria Math" panose="02040503050406030204" pitchFamily="18" charset="0"/>
                                </a:rPr>
                                <m:t>1</m:t>
                              </m:r>
                            </m:sub>
                          </m:sSub>
                          <m:sSub>
                            <m:sSubPr>
                              <m:ctrlPr>
                                <a:rPr lang="es-ES" i="1">
                                  <a:latin typeface="Cambria Math" panose="02040503050406030204" pitchFamily="18" charset="0"/>
                                </a:rPr>
                              </m:ctrlPr>
                            </m:sSubPr>
                            <m:e>
                              <m:r>
                                <a:rPr lang="es-ES" i="1">
                                  <a:latin typeface="Cambria Math" panose="02040503050406030204" pitchFamily="18" charset="0"/>
                                </a:rPr>
                                <m:t>𝑣</m:t>
                              </m:r>
                            </m:e>
                            <m:sub>
                              <m:r>
                                <a:rPr lang="es-ES" b="0" i="1" smtClean="0">
                                  <a:latin typeface="Cambria Math" panose="02040503050406030204" pitchFamily="18" charset="0"/>
                                </a:rPr>
                                <m:t>1</m:t>
                              </m:r>
                            </m:sub>
                          </m:sSub>
                        </m:den>
                      </m:f>
                      <m:r>
                        <a:rPr lang="es-ES" b="0" i="1" smtClean="0">
                          <a:latin typeface="Cambria Math" panose="02040503050406030204" pitchFamily="18" charset="0"/>
                        </a:rPr>
                        <m:t>=</m:t>
                      </m:r>
                      <m:f>
                        <m:fPr>
                          <m:ctrlPr>
                            <a:rPr lang="es-ES" b="0" i="1" smtClean="0">
                              <a:latin typeface="Cambria Math" panose="02040503050406030204" pitchFamily="18" charset="0"/>
                            </a:rPr>
                          </m:ctrlPr>
                        </m:fPr>
                        <m:num>
                          <m:rad>
                            <m:radPr>
                              <m:degHide m:val="on"/>
                              <m:ctrlPr>
                                <a:rPr lang="es-ES" b="0" i="1" smtClean="0">
                                  <a:latin typeface="Cambria Math" panose="02040503050406030204" pitchFamily="18" charset="0"/>
                                </a:rPr>
                              </m:ctrlPr>
                            </m:radPr>
                            <m:deg/>
                            <m:e>
                              <m:r>
                                <a:rPr lang="es-ES" b="0" i="1" smtClean="0">
                                  <a:latin typeface="Cambria Math" panose="02040503050406030204" pitchFamily="18" charset="0"/>
                                </a:rPr>
                                <m:t>𝑇</m:t>
                              </m:r>
                              <m:sSub>
                                <m:sSubPr>
                                  <m:ctrlPr>
                                    <a:rPr lang="es-ES" i="1">
                                      <a:latin typeface="Cambria Math" panose="02040503050406030204" pitchFamily="18" charset="0"/>
                                    </a:rPr>
                                  </m:ctrlPr>
                                </m:sSubPr>
                                <m:e>
                                  <m:r>
                                    <a:rPr lang="es-ES" i="1">
                                      <a:latin typeface="Cambria Math" panose="02040503050406030204" pitchFamily="18" charset="0"/>
                                      <a:ea typeface="Cambria Math" panose="02040503050406030204" pitchFamily="18" charset="0"/>
                                    </a:rPr>
                                    <m:t>𝜇</m:t>
                                  </m:r>
                                </m:e>
                                <m:sub>
                                  <m:r>
                                    <a:rPr lang="es-ES" i="1">
                                      <a:latin typeface="Cambria Math" panose="02040503050406030204" pitchFamily="18" charset="0"/>
                                    </a:rPr>
                                    <m:t>2</m:t>
                                  </m:r>
                                </m:sub>
                              </m:sSub>
                            </m:e>
                          </m:rad>
                        </m:num>
                        <m:den>
                          <m:rad>
                            <m:radPr>
                              <m:degHide m:val="on"/>
                              <m:ctrlPr>
                                <a:rPr lang="es-ES" i="1">
                                  <a:latin typeface="Cambria Math" panose="02040503050406030204" pitchFamily="18" charset="0"/>
                                </a:rPr>
                              </m:ctrlPr>
                            </m:radPr>
                            <m:deg/>
                            <m:e>
                              <m:r>
                                <a:rPr lang="es-ES" i="1">
                                  <a:latin typeface="Cambria Math" panose="02040503050406030204" pitchFamily="18" charset="0"/>
                                </a:rPr>
                                <m:t>𝑇</m:t>
                              </m:r>
                              <m:sSub>
                                <m:sSubPr>
                                  <m:ctrlPr>
                                    <a:rPr lang="es-ES" i="1">
                                      <a:latin typeface="Cambria Math" panose="02040503050406030204" pitchFamily="18" charset="0"/>
                                    </a:rPr>
                                  </m:ctrlPr>
                                </m:sSubPr>
                                <m:e>
                                  <m:r>
                                    <a:rPr lang="es-ES" i="1">
                                      <a:latin typeface="Cambria Math" panose="02040503050406030204" pitchFamily="18" charset="0"/>
                                      <a:ea typeface="Cambria Math" panose="02040503050406030204" pitchFamily="18" charset="0"/>
                                    </a:rPr>
                                    <m:t>𝜇</m:t>
                                  </m:r>
                                </m:e>
                                <m:sub>
                                  <m:r>
                                    <a:rPr lang="es-ES" b="0" i="1" smtClean="0">
                                      <a:latin typeface="Cambria Math" panose="02040503050406030204" pitchFamily="18" charset="0"/>
                                      <a:ea typeface="Cambria Math" panose="02040503050406030204" pitchFamily="18" charset="0"/>
                                    </a:rPr>
                                    <m:t>1</m:t>
                                  </m:r>
                                </m:sub>
                              </m:sSub>
                            </m:e>
                          </m:rad>
                        </m:den>
                      </m:f>
                      <m:r>
                        <a:rPr lang="es-ES" b="0" i="1" smtClean="0">
                          <a:latin typeface="Cambria Math" panose="02040503050406030204" pitchFamily="18" charset="0"/>
                        </a:rPr>
                        <m:t>=</m:t>
                      </m:r>
                      <m:rad>
                        <m:radPr>
                          <m:degHide m:val="on"/>
                          <m:ctrlPr>
                            <a:rPr lang="es-ES" b="0" i="1" smtClean="0">
                              <a:latin typeface="Cambria Math" panose="02040503050406030204" pitchFamily="18" charset="0"/>
                            </a:rPr>
                          </m:ctrlPr>
                        </m:radPr>
                        <m:deg/>
                        <m:e>
                          <m:r>
                            <a:rPr lang="es-ES" b="0" i="1" smtClean="0">
                              <a:latin typeface="Cambria Math" panose="02040503050406030204" pitchFamily="18" charset="0"/>
                            </a:rPr>
                            <m:t>2</m:t>
                          </m:r>
                        </m:e>
                      </m:rad>
                    </m:oMath>
                  </m:oMathPara>
                </a14:m>
                <a:endParaRPr lang="es-PE" dirty="0"/>
              </a:p>
            </p:txBody>
          </p:sp>
        </mc:Choice>
        <mc:Fallback xmlns="">
          <p:sp>
            <p:nvSpPr>
              <p:cNvPr id="6" name="CuadroTexto 5"/>
              <p:cNvSpPr txBox="1">
                <a:spLocks noRot="1" noChangeAspect="1" noMove="1" noResize="1" noEditPoints="1" noAdjustHandles="1" noChangeArrowheads="1" noChangeShapeType="1" noTextEdit="1"/>
              </p:cNvSpPr>
              <p:nvPr/>
            </p:nvSpPr>
            <p:spPr>
              <a:xfrm>
                <a:off x="735289" y="3786264"/>
                <a:ext cx="2486129" cy="710644"/>
              </a:xfrm>
              <a:prstGeom prst="rect">
                <a:avLst/>
              </a:prstGeom>
              <a:blipFill rotWithShape="0">
                <a:blip r:embed="rId2"/>
                <a:stretch>
                  <a:fillRect/>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7" name="Rectángulo 6"/>
              <p:cNvSpPr/>
              <p:nvPr/>
            </p:nvSpPr>
            <p:spPr>
              <a:xfrm>
                <a:off x="735289" y="3283650"/>
                <a:ext cx="146508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s-PE" i="1" smtClean="0">
                              <a:latin typeface="Cambria Math" panose="02040503050406030204" pitchFamily="18" charset="0"/>
                            </a:rPr>
                          </m:ctrlPr>
                        </m:sSubPr>
                        <m:e>
                          <m:r>
                            <a:rPr lang="es-ES" b="0" i="1" smtClean="0">
                              <a:latin typeface="Cambria Math" panose="02040503050406030204" pitchFamily="18" charset="0"/>
                            </a:rPr>
                            <m:t>𝐴</m:t>
                          </m:r>
                        </m:e>
                        <m:sub>
                          <m:r>
                            <a:rPr lang="es-ES" b="0" i="1" smtClean="0">
                              <a:latin typeface="Cambria Math" panose="02040503050406030204" pitchFamily="18" charset="0"/>
                            </a:rPr>
                            <m:t>𝐼</m:t>
                          </m:r>
                        </m:sub>
                      </m:sSub>
                      <m:r>
                        <a:rPr lang="es-ES" b="0" i="1" smtClean="0">
                          <a:latin typeface="Cambria Math" panose="02040503050406030204" pitchFamily="18" charset="0"/>
                        </a:rPr>
                        <m:t>=10 </m:t>
                      </m:r>
                      <m:r>
                        <a:rPr lang="es-ES" b="0" i="1" smtClean="0">
                          <a:latin typeface="Cambria Math" panose="02040503050406030204" pitchFamily="18" charset="0"/>
                        </a:rPr>
                        <m:t>𝑚𝑚</m:t>
                      </m:r>
                    </m:oMath>
                  </m:oMathPara>
                </a14:m>
                <a:endParaRPr lang="es-PE" dirty="0"/>
              </a:p>
            </p:txBody>
          </p:sp>
        </mc:Choice>
        <mc:Fallback xmlns="">
          <p:sp>
            <p:nvSpPr>
              <p:cNvPr id="7" name="Rectángulo 6"/>
              <p:cNvSpPr>
                <a:spLocks noRot="1" noChangeAspect="1" noMove="1" noResize="1" noEditPoints="1" noAdjustHandles="1" noChangeArrowheads="1" noChangeShapeType="1" noTextEdit="1"/>
              </p:cNvSpPr>
              <p:nvPr/>
            </p:nvSpPr>
            <p:spPr>
              <a:xfrm>
                <a:off x="735289" y="3283650"/>
                <a:ext cx="1465081" cy="369332"/>
              </a:xfrm>
              <a:prstGeom prst="rect">
                <a:avLst/>
              </a:prstGeom>
              <a:blipFill rotWithShape="0">
                <a:blip r:embed="rId3"/>
                <a:stretch>
                  <a:fillRect/>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9" name="CuadroTexto 8"/>
              <p:cNvSpPr txBox="1"/>
              <p:nvPr/>
            </p:nvSpPr>
            <p:spPr>
              <a:xfrm>
                <a:off x="559992" y="4656880"/>
                <a:ext cx="4055726" cy="90813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PE" sz="1600" i="1" smtClean="0">
                              <a:latin typeface="Cambria Math" panose="02040503050406030204" pitchFamily="18" charset="0"/>
                            </a:rPr>
                          </m:ctrlPr>
                        </m:sSubPr>
                        <m:e>
                          <m:r>
                            <a:rPr lang="es-ES" sz="1600" b="0" i="1" smtClean="0">
                              <a:latin typeface="Cambria Math" panose="02040503050406030204" pitchFamily="18" charset="0"/>
                            </a:rPr>
                            <m:t>𝐴</m:t>
                          </m:r>
                        </m:e>
                        <m:sub>
                          <m:r>
                            <a:rPr lang="es-ES" sz="1600" b="0" i="1" smtClean="0">
                              <a:latin typeface="Cambria Math" panose="02040503050406030204" pitchFamily="18" charset="0"/>
                            </a:rPr>
                            <m:t>𝑅</m:t>
                          </m:r>
                        </m:sub>
                      </m:sSub>
                      <m:r>
                        <a:rPr lang="es-PE" sz="1600" i="1" smtClean="0">
                          <a:latin typeface="Cambria Math" panose="02040503050406030204" pitchFamily="18" charset="0"/>
                        </a:rPr>
                        <m:t>=</m:t>
                      </m:r>
                      <m:f>
                        <m:fPr>
                          <m:ctrlPr>
                            <a:rPr lang="es-PE" sz="1600" i="1" smtClean="0">
                              <a:latin typeface="Cambria Math" panose="02040503050406030204" pitchFamily="18" charset="0"/>
                            </a:rPr>
                          </m:ctrlPr>
                        </m:fPr>
                        <m:num>
                          <m:r>
                            <a:rPr lang="es-ES" sz="1600" b="0" i="1" smtClean="0">
                              <a:latin typeface="Cambria Math" panose="02040503050406030204" pitchFamily="18" charset="0"/>
                            </a:rPr>
                            <m:t>1−</m:t>
                          </m:r>
                          <m:d>
                            <m:dPr>
                              <m:ctrlPr>
                                <a:rPr lang="es-ES" sz="1600" b="0" i="1" smtClean="0">
                                  <a:latin typeface="Cambria Math" panose="02040503050406030204" pitchFamily="18" charset="0"/>
                                </a:rPr>
                              </m:ctrlPr>
                            </m:dPr>
                            <m:e>
                              <m:f>
                                <m:fPr>
                                  <m:ctrlPr>
                                    <a:rPr lang="es-ES" sz="1600" b="0" i="1" smtClean="0">
                                      <a:latin typeface="Cambria Math" panose="02040503050406030204" pitchFamily="18" charset="0"/>
                                    </a:rPr>
                                  </m:ctrlPr>
                                </m:fPr>
                                <m:num>
                                  <m:sSub>
                                    <m:sSubPr>
                                      <m:ctrlPr>
                                        <a:rPr lang="es-ES" sz="1600" b="0" i="1" smtClean="0">
                                          <a:latin typeface="Cambria Math" panose="02040503050406030204" pitchFamily="18" charset="0"/>
                                        </a:rPr>
                                      </m:ctrlPr>
                                    </m:sSubPr>
                                    <m:e>
                                      <m:r>
                                        <a:rPr lang="es-ES" sz="1600" b="0" i="1" smtClean="0">
                                          <a:latin typeface="Cambria Math" panose="02040503050406030204" pitchFamily="18" charset="0"/>
                                        </a:rPr>
                                        <m:t>𝑍</m:t>
                                      </m:r>
                                    </m:e>
                                    <m:sub>
                                      <m:r>
                                        <a:rPr lang="es-ES" sz="1600" b="0" i="1" smtClean="0">
                                          <a:latin typeface="Cambria Math" panose="02040503050406030204" pitchFamily="18" charset="0"/>
                                        </a:rPr>
                                        <m:t>2</m:t>
                                      </m:r>
                                    </m:sub>
                                  </m:sSub>
                                </m:num>
                                <m:den>
                                  <m:sSub>
                                    <m:sSubPr>
                                      <m:ctrlPr>
                                        <a:rPr lang="es-ES" sz="1600" b="0" i="1" smtClean="0">
                                          <a:latin typeface="Cambria Math" panose="02040503050406030204" pitchFamily="18" charset="0"/>
                                        </a:rPr>
                                      </m:ctrlPr>
                                    </m:sSubPr>
                                    <m:e>
                                      <m:r>
                                        <a:rPr lang="es-ES" sz="1600" b="0" i="1" smtClean="0">
                                          <a:latin typeface="Cambria Math" panose="02040503050406030204" pitchFamily="18" charset="0"/>
                                        </a:rPr>
                                        <m:t>𝑍</m:t>
                                      </m:r>
                                    </m:e>
                                    <m:sub>
                                      <m:r>
                                        <a:rPr lang="es-ES" sz="1600" b="0" i="1" smtClean="0">
                                          <a:latin typeface="Cambria Math" panose="02040503050406030204" pitchFamily="18" charset="0"/>
                                        </a:rPr>
                                        <m:t>1</m:t>
                                      </m:r>
                                    </m:sub>
                                  </m:sSub>
                                </m:den>
                              </m:f>
                            </m:e>
                          </m:d>
                        </m:num>
                        <m:den>
                          <m:r>
                            <a:rPr lang="es-ES" sz="1600" b="0" i="1" smtClean="0">
                              <a:latin typeface="Cambria Math" panose="02040503050406030204" pitchFamily="18" charset="0"/>
                            </a:rPr>
                            <m:t>1+</m:t>
                          </m:r>
                          <m:d>
                            <m:dPr>
                              <m:ctrlPr>
                                <a:rPr lang="es-ES" sz="1600" i="1">
                                  <a:latin typeface="Cambria Math" panose="02040503050406030204" pitchFamily="18" charset="0"/>
                                </a:rPr>
                              </m:ctrlPr>
                            </m:dPr>
                            <m:e>
                              <m:f>
                                <m:fPr>
                                  <m:ctrlPr>
                                    <a:rPr lang="es-ES" sz="1600" i="1">
                                      <a:latin typeface="Cambria Math" panose="02040503050406030204" pitchFamily="18" charset="0"/>
                                    </a:rPr>
                                  </m:ctrlPr>
                                </m:fPr>
                                <m:num>
                                  <m:sSub>
                                    <m:sSubPr>
                                      <m:ctrlPr>
                                        <a:rPr lang="es-ES" sz="1600" i="1">
                                          <a:latin typeface="Cambria Math" panose="02040503050406030204" pitchFamily="18" charset="0"/>
                                        </a:rPr>
                                      </m:ctrlPr>
                                    </m:sSubPr>
                                    <m:e>
                                      <m:r>
                                        <a:rPr lang="es-ES" sz="1600" i="1">
                                          <a:latin typeface="Cambria Math" panose="02040503050406030204" pitchFamily="18" charset="0"/>
                                        </a:rPr>
                                        <m:t>𝑍</m:t>
                                      </m:r>
                                    </m:e>
                                    <m:sub>
                                      <m:r>
                                        <a:rPr lang="es-ES" sz="1600" i="1">
                                          <a:latin typeface="Cambria Math" panose="02040503050406030204" pitchFamily="18" charset="0"/>
                                        </a:rPr>
                                        <m:t>2</m:t>
                                      </m:r>
                                    </m:sub>
                                  </m:sSub>
                                </m:num>
                                <m:den>
                                  <m:sSub>
                                    <m:sSubPr>
                                      <m:ctrlPr>
                                        <a:rPr lang="es-ES" sz="1600" i="1">
                                          <a:latin typeface="Cambria Math" panose="02040503050406030204" pitchFamily="18" charset="0"/>
                                        </a:rPr>
                                      </m:ctrlPr>
                                    </m:sSubPr>
                                    <m:e>
                                      <m:r>
                                        <a:rPr lang="es-ES" sz="1600" i="1">
                                          <a:latin typeface="Cambria Math" panose="02040503050406030204" pitchFamily="18" charset="0"/>
                                        </a:rPr>
                                        <m:t>𝑍</m:t>
                                      </m:r>
                                    </m:e>
                                    <m:sub>
                                      <m:r>
                                        <a:rPr lang="es-ES" sz="1600" i="1">
                                          <a:latin typeface="Cambria Math" panose="02040503050406030204" pitchFamily="18" charset="0"/>
                                        </a:rPr>
                                        <m:t>1</m:t>
                                      </m:r>
                                    </m:sub>
                                  </m:sSub>
                                </m:den>
                              </m:f>
                            </m:e>
                          </m:d>
                        </m:den>
                      </m:f>
                      <m:sSub>
                        <m:sSubPr>
                          <m:ctrlPr>
                            <a:rPr lang="es-PE" sz="1600" i="1" smtClean="0">
                              <a:latin typeface="Cambria Math" panose="02040503050406030204" pitchFamily="18" charset="0"/>
                            </a:rPr>
                          </m:ctrlPr>
                        </m:sSubPr>
                        <m:e>
                          <m:r>
                            <a:rPr lang="es-ES" sz="1600" b="0" i="1" smtClean="0">
                              <a:latin typeface="Cambria Math" panose="02040503050406030204" pitchFamily="18" charset="0"/>
                            </a:rPr>
                            <m:t>𝐴</m:t>
                          </m:r>
                        </m:e>
                        <m:sub>
                          <m:r>
                            <a:rPr lang="es-ES" sz="1600" b="0" i="1" smtClean="0">
                              <a:latin typeface="Cambria Math" panose="02040503050406030204" pitchFamily="18" charset="0"/>
                            </a:rPr>
                            <m:t>𝐼</m:t>
                          </m:r>
                        </m:sub>
                      </m:sSub>
                      <m:r>
                        <a:rPr lang="es-ES" sz="1600" b="0" i="1" smtClean="0">
                          <a:latin typeface="Cambria Math" panose="02040503050406030204" pitchFamily="18" charset="0"/>
                        </a:rPr>
                        <m:t>=</m:t>
                      </m:r>
                      <m:f>
                        <m:fPr>
                          <m:ctrlPr>
                            <a:rPr lang="es-ES" sz="1600" b="0" i="1" smtClean="0">
                              <a:latin typeface="Cambria Math" panose="02040503050406030204" pitchFamily="18" charset="0"/>
                            </a:rPr>
                          </m:ctrlPr>
                        </m:fPr>
                        <m:num>
                          <m:r>
                            <a:rPr lang="es-ES" sz="1600" b="0" i="1" smtClean="0">
                              <a:latin typeface="Cambria Math" panose="02040503050406030204" pitchFamily="18" charset="0"/>
                            </a:rPr>
                            <m:t>1−</m:t>
                          </m:r>
                          <m:rad>
                            <m:radPr>
                              <m:degHide m:val="on"/>
                              <m:ctrlPr>
                                <a:rPr lang="es-ES" sz="1600" b="0" i="1" smtClean="0">
                                  <a:latin typeface="Cambria Math" panose="02040503050406030204" pitchFamily="18" charset="0"/>
                                </a:rPr>
                              </m:ctrlPr>
                            </m:radPr>
                            <m:deg/>
                            <m:e>
                              <m:r>
                                <a:rPr lang="es-ES" sz="1600" b="0" i="1" smtClean="0">
                                  <a:latin typeface="Cambria Math" panose="02040503050406030204" pitchFamily="18" charset="0"/>
                                </a:rPr>
                                <m:t>2</m:t>
                              </m:r>
                            </m:e>
                          </m:rad>
                        </m:num>
                        <m:den>
                          <m:r>
                            <a:rPr lang="es-ES" sz="1600" b="0" i="1" smtClean="0">
                              <a:latin typeface="Cambria Math" panose="02040503050406030204" pitchFamily="18" charset="0"/>
                            </a:rPr>
                            <m:t>1+</m:t>
                          </m:r>
                          <m:rad>
                            <m:radPr>
                              <m:degHide m:val="on"/>
                              <m:ctrlPr>
                                <a:rPr lang="es-ES" sz="1600" b="0" i="1" smtClean="0">
                                  <a:latin typeface="Cambria Math" panose="02040503050406030204" pitchFamily="18" charset="0"/>
                                </a:rPr>
                              </m:ctrlPr>
                            </m:radPr>
                            <m:deg/>
                            <m:e>
                              <m:r>
                                <a:rPr lang="es-ES" sz="1600" b="0" i="1" smtClean="0">
                                  <a:latin typeface="Cambria Math" panose="02040503050406030204" pitchFamily="18" charset="0"/>
                                </a:rPr>
                                <m:t>2</m:t>
                              </m:r>
                            </m:e>
                          </m:rad>
                        </m:den>
                      </m:f>
                      <m:r>
                        <a:rPr lang="es-ES" sz="1600" b="0" i="1" smtClean="0">
                          <a:latin typeface="Cambria Math" panose="02040503050406030204" pitchFamily="18" charset="0"/>
                          <a:ea typeface="Cambria Math" panose="02040503050406030204" pitchFamily="18" charset="0"/>
                        </a:rPr>
                        <m:t>×10=−1,72</m:t>
                      </m:r>
                      <m:r>
                        <a:rPr lang="es-ES" sz="1600" b="0" i="1" smtClean="0">
                          <a:latin typeface="Cambria Math" panose="02040503050406030204" pitchFamily="18" charset="0"/>
                          <a:ea typeface="Cambria Math" panose="02040503050406030204" pitchFamily="18" charset="0"/>
                        </a:rPr>
                        <m:t>𝑚𝑚</m:t>
                      </m:r>
                    </m:oMath>
                  </m:oMathPara>
                </a14:m>
                <a:endParaRPr lang="es-PE" sz="1600" dirty="0"/>
              </a:p>
            </p:txBody>
          </p:sp>
        </mc:Choice>
        <mc:Fallback xmlns="">
          <p:sp>
            <p:nvSpPr>
              <p:cNvPr id="9" name="CuadroTexto 8"/>
              <p:cNvSpPr txBox="1">
                <a:spLocks noRot="1" noChangeAspect="1" noMove="1" noResize="1" noEditPoints="1" noAdjustHandles="1" noChangeArrowheads="1" noChangeShapeType="1" noTextEdit="1"/>
              </p:cNvSpPr>
              <p:nvPr/>
            </p:nvSpPr>
            <p:spPr>
              <a:xfrm>
                <a:off x="559992" y="4656880"/>
                <a:ext cx="4055726" cy="908134"/>
              </a:xfrm>
              <a:prstGeom prst="rect">
                <a:avLst/>
              </a:prstGeom>
              <a:blipFill rotWithShape="0">
                <a:blip r:embed="rId4"/>
                <a:stretch>
                  <a:fillRect/>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10" name="CuadroTexto 9"/>
              <p:cNvSpPr txBox="1"/>
              <p:nvPr/>
            </p:nvSpPr>
            <p:spPr>
              <a:xfrm>
                <a:off x="528534" y="5749842"/>
                <a:ext cx="3902735" cy="70416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PE" sz="1600" i="1" smtClean="0">
                              <a:latin typeface="Cambria Math" panose="02040503050406030204" pitchFamily="18" charset="0"/>
                            </a:rPr>
                          </m:ctrlPr>
                        </m:sSubPr>
                        <m:e>
                          <m:r>
                            <a:rPr lang="es-ES" sz="1600" b="0" i="1" smtClean="0">
                              <a:latin typeface="Cambria Math" panose="02040503050406030204" pitchFamily="18" charset="0"/>
                            </a:rPr>
                            <m:t>𝐴</m:t>
                          </m:r>
                        </m:e>
                        <m:sub>
                          <m:r>
                            <a:rPr lang="es-ES" sz="1600" b="0" i="1" smtClean="0">
                              <a:latin typeface="Cambria Math" panose="02040503050406030204" pitchFamily="18" charset="0"/>
                            </a:rPr>
                            <m:t>𝑇</m:t>
                          </m:r>
                        </m:sub>
                      </m:sSub>
                      <m:r>
                        <a:rPr lang="es-PE" sz="1600" i="1" smtClean="0">
                          <a:latin typeface="Cambria Math" panose="02040503050406030204" pitchFamily="18" charset="0"/>
                        </a:rPr>
                        <m:t>=</m:t>
                      </m:r>
                      <m:f>
                        <m:fPr>
                          <m:ctrlPr>
                            <a:rPr lang="es-PE" sz="1600" i="1" smtClean="0">
                              <a:latin typeface="Cambria Math" panose="02040503050406030204" pitchFamily="18" charset="0"/>
                            </a:rPr>
                          </m:ctrlPr>
                        </m:fPr>
                        <m:num>
                          <m:r>
                            <a:rPr lang="es-ES" sz="1600" b="0" i="1" smtClean="0">
                              <a:latin typeface="Cambria Math" panose="02040503050406030204" pitchFamily="18" charset="0"/>
                            </a:rPr>
                            <m:t>2</m:t>
                          </m:r>
                        </m:num>
                        <m:den>
                          <m:r>
                            <a:rPr lang="es-ES" sz="1600" b="0" i="1" smtClean="0">
                              <a:latin typeface="Cambria Math" panose="02040503050406030204" pitchFamily="18" charset="0"/>
                            </a:rPr>
                            <m:t>1+</m:t>
                          </m:r>
                          <m:d>
                            <m:dPr>
                              <m:ctrlPr>
                                <a:rPr lang="es-ES" sz="1600" i="1">
                                  <a:latin typeface="Cambria Math" panose="02040503050406030204" pitchFamily="18" charset="0"/>
                                </a:rPr>
                              </m:ctrlPr>
                            </m:dPr>
                            <m:e>
                              <m:f>
                                <m:fPr>
                                  <m:ctrlPr>
                                    <a:rPr lang="es-ES" sz="1600" i="1">
                                      <a:latin typeface="Cambria Math" panose="02040503050406030204" pitchFamily="18" charset="0"/>
                                    </a:rPr>
                                  </m:ctrlPr>
                                </m:fPr>
                                <m:num>
                                  <m:sSub>
                                    <m:sSubPr>
                                      <m:ctrlPr>
                                        <a:rPr lang="es-ES" sz="1600" i="1">
                                          <a:latin typeface="Cambria Math" panose="02040503050406030204" pitchFamily="18" charset="0"/>
                                        </a:rPr>
                                      </m:ctrlPr>
                                    </m:sSubPr>
                                    <m:e>
                                      <m:r>
                                        <a:rPr lang="es-ES" sz="1600" i="1">
                                          <a:latin typeface="Cambria Math" panose="02040503050406030204" pitchFamily="18" charset="0"/>
                                        </a:rPr>
                                        <m:t>𝑍</m:t>
                                      </m:r>
                                    </m:e>
                                    <m:sub>
                                      <m:r>
                                        <a:rPr lang="es-ES" sz="1600" i="1">
                                          <a:latin typeface="Cambria Math" panose="02040503050406030204" pitchFamily="18" charset="0"/>
                                        </a:rPr>
                                        <m:t>2</m:t>
                                      </m:r>
                                    </m:sub>
                                  </m:sSub>
                                </m:num>
                                <m:den>
                                  <m:sSub>
                                    <m:sSubPr>
                                      <m:ctrlPr>
                                        <a:rPr lang="es-ES" sz="1600" i="1">
                                          <a:latin typeface="Cambria Math" panose="02040503050406030204" pitchFamily="18" charset="0"/>
                                        </a:rPr>
                                      </m:ctrlPr>
                                    </m:sSubPr>
                                    <m:e>
                                      <m:r>
                                        <a:rPr lang="es-ES" sz="1600" i="1">
                                          <a:latin typeface="Cambria Math" panose="02040503050406030204" pitchFamily="18" charset="0"/>
                                        </a:rPr>
                                        <m:t>𝑍</m:t>
                                      </m:r>
                                    </m:e>
                                    <m:sub>
                                      <m:r>
                                        <a:rPr lang="es-ES" sz="1600" i="1">
                                          <a:latin typeface="Cambria Math" panose="02040503050406030204" pitchFamily="18" charset="0"/>
                                        </a:rPr>
                                        <m:t>1</m:t>
                                      </m:r>
                                    </m:sub>
                                  </m:sSub>
                                </m:den>
                              </m:f>
                            </m:e>
                          </m:d>
                        </m:den>
                      </m:f>
                      <m:sSub>
                        <m:sSubPr>
                          <m:ctrlPr>
                            <a:rPr lang="es-PE" sz="1600" i="1" smtClean="0">
                              <a:latin typeface="Cambria Math" panose="02040503050406030204" pitchFamily="18" charset="0"/>
                            </a:rPr>
                          </m:ctrlPr>
                        </m:sSubPr>
                        <m:e>
                          <m:r>
                            <a:rPr lang="es-ES" sz="1600" b="0" i="1" smtClean="0">
                              <a:latin typeface="Cambria Math" panose="02040503050406030204" pitchFamily="18" charset="0"/>
                            </a:rPr>
                            <m:t>𝐴</m:t>
                          </m:r>
                        </m:e>
                        <m:sub>
                          <m:r>
                            <a:rPr lang="es-ES" sz="1600" b="0" i="1" smtClean="0">
                              <a:latin typeface="Cambria Math" panose="02040503050406030204" pitchFamily="18" charset="0"/>
                            </a:rPr>
                            <m:t>𝐼</m:t>
                          </m:r>
                        </m:sub>
                      </m:sSub>
                      <m:r>
                        <a:rPr lang="es-ES" sz="1600" b="0" i="1" smtClean="0">
                          <a:latin typeface="Cambria Math" panose="02040503050406030204" pitchFamily="18" charset="0"/>
                        </a:rPr>
                        <m:t>=</m:t>
                      </m:r>
                      <m:f>
                        <m:fPr>
                          <m:ctrlPr>
                            <a:rPr lang="es-ES" sz="1600" b="0" i="1" smtClean="0">
                              <a:latin typeface="Cambria Math" panose="02040503050406030204" pitchFamily="18" charset="0"/>
                            </a:rPr>
                          </m:ctrlPr>
                        </m:fPr>
                        <m:num>
                          <m:r>
                            <a:rPr lang="es-ES" sz="1600" b="0" i="1" smtClean="0">
                              <a:latin typeface="Cambria Math" panose="02040503050406030204" pitchFamily="18" charset="0"/>
                            </a:rPr>
                            <m:t>2</m:t>
                          </m:r>
                        </m:num>
                        <m:den>
                          <m:r>
                            <a:rPr lang="es-ES" sz="1600" b="0" i="1" smtClean="0">
                              <a:latin typeface="Cambria Math" panose="02040503050406030204" pitchFamily="18" charset="0"/>
                            </a:rPr>
                            <m:t>1+</m:t>
                          </m:r>
                          <m:rad>
                            <m:radPr>
                              <m:degHide m:val="on"/>
                              <m:ctrlPr>
                                <a:rPr lang="es-ES" sz="1600" b="0" i="1" smtClean="0">
                                  <a:latin typeface="Cambria Math" panose="02040503050406030204" pitchFamily="18" charset="0"/>
                                </a:rPr>
                              </m:ctrlPr>
                            </m:radPr>
                            <m:deg/>
                            <m:e>
                              <m:r>
                                <a:rPr lang="es-ES" sz="1600" b="0" i="1" smtClean="0">
                                  <a:latin typeface="Cambria Math" panose="02040503050406030204" pitchFamily="18" charset="0"/>
                                </a:rPr>
                                <m:t>2</m:t>
                              </m:r>
                            </m:e>
                          </m:rad>
                        </m:den>
                      </m:f>
                      <m:r>
                        <a:rPr lang="es-ES" sz="1600" b="0" i="1" smtClean="0">
                          <a:latin typeface="Cambria Math" panose="02040503050406030204" pitchFamily="18" charset="0"/>
                          <a:ea typeface="Cambria Math" panose="02040503050406030204" pitchFamily="18" charset="0"/>
                        </a:rPr>
                        <m:t>×10=8,28</m:t>
                      </m:r>
                      <m:r>
                        <a:rPr lang="es-ES" sz="1600" b="0" i="1" smtClean="0">
                          <a:latin typeface="Cambria Math" panose="02040503050406030204" pitchFamily="18" charset="0"/>
                          <a:ea typeface="Cambria Math" panose="02040503050406030204" pitchFamily="18" charset="0"/>
                        </a:rPr>
                        <m:t>𝑚𝑚</m:t>
                      </m:r>
                    </m:oMath>
                  </m:oMathPara>
                </a14:m>
                <a:endParaRPr lang="es-PE" sz="1600" dirty="0"/>
              </a:p>
            </p:txBody>
          </p:sp>
        </mc:Choice>
        <mc:Fallback xmlns="">
          <p:sp>
            <p:nvSpPr>
              <p:cNvPr id="10" name="CuadroTexto 9"/>
              <p:cNvSpPr txBox="1">
                <a:spLocks noRot="1" noChangeAspect="1" noMove="1" noResize="1" noEditPoints="1" noAdjustHandles="1" noChangeArrowheads="1" noChangeShapeType="1" noTextEdit="1"/>
              </p:cNvSpPr>
              <p:nvPr/>
            </p:nvSpPr>
            <p:spPr>
              <a:xfrm>
                <a:off x="528534" y="5749842"/>
                <a:ext cx="3902735" cy="704167"/>
              </a:xfrm>
              <a:prstGeom prst="rect">
                <a:avLst/>
              </a:prstGeom>
              <a:blipFill rotWithShape="0">
                <a:blip r:embed="rId5"/>
                <a:stretch>
                  <a:fillRect/>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8" name="CuadroTexto 7"/>
              <p:cNvSpPr txBox="1"/>
              <p:nvPr/>
            </p:nvSpPr>
            <p:spPr>
              <a:xfrm>
                <a:off x="3725121" y="3283650"/>
                <a:ext cx="5832648"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PE" i="1" smtClean="0">
                              <a:latin typeface="Cambria Math" panose="02040503050406030204" pitchFamily="18" charset="0"/>
                            </a:rPr>
                          </m:ctrlPr>
                        </m:sSubPr>
                        <m:e>
                          <m:r>
                            <a:rPr lang="es-ES" b="0" i="1" smtClean="0">
                              <a:latin typeface="Cambria Math" panose="02040503050406030204" pitchFamily="18" charset="0"/>
                            </a:rPr>
                            <m:t>𝑦</m:t>
                          </m:r>
                        </m:e>
                        <m:sub>
                          <m:r>
                            <a:rPr lang="es-ES" b="0" i="1" smtClean="0">
                              <a:latin typeface="Cambria Math" panose="02040503050406030204" pitchFamily="18" charset="0"/>
                            </a:rPr>
                            <m:t>𝑅</m:t>
                          </m:r>
                        </m:sub>
                      </m:sSub>
                      <m:d>
                        <m:dPr>
                          <m:ctrlPr>
                            <a:rPr lang="es-PE" i="1" smtClean="0">
                              <a:latin typeface="Cambria Math" panose="02040503050406030204" pitchFamily="18" charset="0"/>
                            </a:rPr>
                          </m:ctrlPr>
                        </m:dPr>
                        <m:e>
                          <m:r>
                            <a:rPr lang="es-ES" b="0" i="1" smtClean="0">
                              <a:latin typeface="Cambria Math" panose="02040503050406030204" pitchFamily="18" charset="0"/>
                            </a:rPr>
                            <m:t>𝑥</m:t>
                          </m:r>
                          <m:r>
                            <a:rPr lang="es-ES" b="0" i="1" smtClean="0">
                              <a:latin typeface="Cambria Math" panose="02040503050406030204" pitchFamily="18" charset="0"/>
                              <a:ea typeface="Cambria Math" panose="02040503050406030204" pitchFamily="18" charset="0"/>
                            </a:rPr>
                            <m:t>&lt;</m:t>
                          </m:r>
                          <m:r>
                            <a:rPr lang="es-ES" b="0" i="1" smtClean="0">
                              <a:latin typeface="Cambria Math" panose="02040503050406030204" pitchFamily="18" charset="0"/>
                              <a:ea typeface="Cambria Math" panose="02040503050406030204" pitchFamily="18" charset="0"/>
                            </a:rPr>
                            <m:t>𝑎</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𝑡</m:t>
                          </m:r>
                        </m:e>
                      </m:d>
                      <m:r>
                        <a:rPr lang="es-ES" b="0" i="1" smtClean="0">
                          <a:latin typeface="Cambria Math" panose="02040503050406030204" pitchFamily="18" charset="0"/>
                        </a:rPr>
                        <m:t>=−1,72</m:t>
                      </m:r>
                      <m:r>
                        <m:rPr>
                          <m:nor/>
                        </m:rPr>
                        <a:rPr lang="es-PE" dirty="0">
                          <a:latin typeface="Times New Roman" panose="02020603050405020304" pitchFamily="18" charset="0"/>
                        </a:rPr>
                        <m:t>sen</m:t>
                      </m:r>
                      <m:r>
                        <m:rPr>
                          <m:nor/>
                        </m:rPr>
                        <a:rPr lang="es-PE" dirty="0">
                          <a:latin typeface="Times New Roman" panose="02020603050405020304" pitchFamily="18" charset="0"/>
                        </a:rPr>
                        <m:t>[40</m:t>
                      </m:r>
                      <m:r>
                        <m:rPr>
                          <m:nor/>
                        </m:rPr>
                        <a:rPr lang="es-ES" b="0" i="0" dirty="0" smtClean="0">
                          <a:latin typeface="Times New Roman" panose="02020603050405020304" pitchFamily="18" charset="0"/>
                        </a:rPr>
                        <m:t>x</m:t>
                      </m:r>
                      <m:r>
                        <m:rPr>
                          <m:nor/>
                        </m:rPr>
                        <a:rPr lang="es-ES" b="0" i="0" dirty="0" smtClean="0">
                          <a:latin typeface="Times New Roman" panose="02020603050405020304" pitchFamily="18" charset="0"/>
                        </a:rPr>
                        <m:t>+200</m:t>
                      </m:r>
                      <m:r>
                        <m:rPr>
                          <m:nor/>
                        </m:rPr>
                        <a:rPr lang="es-ES" b="0" i="0" dirty="0" smtClean="0">
                          <a:latin typeface="Times New Roman" panose="02020603050405020304" pitchFamily="18" charset="0"/>
                        </a:rPr>
                        <m:t>t</m:t>
                      </m:r>
                      <m:r>
                        <m:rPr>
                          <m:nor/>
                        </m:rPr>
                        <a:rPr lang="es-ES" b="0" i="0" dirty="0" smtClean="0">
                          <a:latin typeface="Times New Roman" panose="02020603050405020304" pitchFamily="18" charset="0"/>
                        </a:rPr>
                        <m:t>]</m:t>
                      </m:r>
                      <m:r>
                        <m:rPr>
                          <m:nor/>
                        </m:rPr>
                        <a:rPr lang="es-ES" b="0" i="0" dirty="0" smtClean="0">
                          <a:latin typeface="Times New Roman" panose="02020603050405020304" pitchFamily="18" charset="0"/>
                        </a:rPr>
                        <m:t>mm</m:t>
                      </m:r>
                    </m:oMath>
                  </m:oMathPara>
                </a14:m>
                <a:endParaRPr lang="es-PE" dirty="0"/>
              </a:p>
            </p:txBody>
          </p:sp>
        </mc:Choice>
        <mc:Fallback xmlns="">
          <p:sp>
            <p:nvSpPr>
              <p:cNvPr id="8" name="CuadroTexto 7"/>
              <p:cNvSpPr txBox="1">
                <a:spLocks noRot="1" noChangeAspect="1" noMove="1" noResize="1" noEditPoints="1" noAdjustHandles="1" noChangeArrowheads="1" noChangeShapeType="1" noTextEdit="1"/>
              </p:cNvSpPr>
              <p:nvPr/>
            </p:nvSpPr>
            <p:spPr>
              <a:xfrm>
                <a:off x="3725121" y="3283650"/>
                <a:ext cx="5832648" cy="276999"/>
              </a:xfrm>
              <a:prstGeom prst="rect">
                <a:avLst/>
              </a:prstGeom>
              <a:blipFill rotWithShape="0">
                <a:blip r:embed="rId6"/>
                <a:stretch>
                  <a:fillRect b="-33333"/>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11" name="Rectángulo 10"/>
              <p:cNvSpPr/>
              <p:nvPr/>
            </p:nvSpPr>
            <p:spPr>
              <a:xfrm>
                <a:off x="5364088" y="3727138"/>
                <a:ext cx="2111860" cy="6674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s-ES" i="1" smtClean="0">
                              <a:latin typeface="Cambria Math" panose="02040503050406030204" pitchFamily="18" charset="0"/>
                            </a:rPr>
                          </m:ctrlPr>
                        </m:fPr>
                        <m:num>
                          <m:sSub>
                            <m:sSubPr>
                              <m:ctrlPr>
                                <a:rPr lang="es-ES" i="1">
                                  <a:latin typeface="Cambria Math" panose="02040503050406030204" pitchFamily="18" charset="0"/>
                                </a:rPr>
                              </m:ctrlPr>
                            </m:sSubPr>
                            <m:e>
                              <m:r>
                                <a:rPr lang="es-ES" i="1">
                                  <a:latin typeface="Cambria Math" panose="02040503050406030204" pitchFamily="18" charset="0"/>
                                  <a:ea typeface="Cambria Math" panose="02040503050406030204" pitchFamily="18" charset="0"/>
                                </a:rPr>
                                <m:t>𝜇</m:t>
                              </m:r>
                            </m:e>
                            <m:sub>
                              <m:r>
                                <a:rPr lang="es-ES" i="1">
                                  <a:latin typeface="Cambria Math" panose="02040503050406030204" pitchFamily="18" charset="0"/>
                                </a:rPr>
                                <m:t>2</m:t>
                              </m:r>
                            </m:sub>
                          </m:sSub>
                          <m:sSub>
                            <m:sSubPr>
                              <m:ctrlPr>
                                <a:rPr lang="es-ES" i="1">
                                  <a:latin typeface="Cambria Math" panose="02040503050406030204" pitchFamily="18" charset="0"/>
                                </a:rPr>
                              </m:ctrlPr>
                            </m:sSubPr>
                            <m:e>
                              <m:r>
                                <a:rPr lang="es-ES" i="1">
                                  <a:latin typeface="Cambria Math" panose="02040503050406030204" pitchFamily="18" charset="0"/>
                                </a:rPr>
                                <m:t>𝑣</m:t>
                              </m:r>
                            </m:e>
                            <m:sub>
                              <m:r>
                                <a:rPr lang="es-ES" i="1">
                                  <a:latin typeface="Cambria Math" panose="02040503050406030204" pitchFamily="18" charset="0"/>
                                </a:rPr>
                                <m:t>2</m:t>
                              </m:r>
                            </m:sub>
                          </m:sSub>
                        </m:num>
                        <m:den>
                          <m:sSub>
                            <m:sSubPr>
                              <m:ctrlPr>
                                <a:rPr lang="es-ES" i="1">
                                  <a:latin typeface="Cambria Math" panose="02040503050406030204" pitchFamily="18" charset="0"/>
                                </a:rPr>
                              </m:ctrlPr>
                            </m:sSubPr>
                            <m:e>
                              <m:r>
                                <a:rPr lang="es-ES" i="1">
                                  <a:latin typeface="Cambria Math" panose="02040503050406030204" pitchFamily="18" charset="0"/>
                                  <a:ea typeface="Cambria Math" panose="02040503050406030204" pitchFamily="18" charset="0"/>
                                </a:rPr>
                                <m:t>𝜇</m:t>
                              </m:r>
                            </m:e>
                            <m:sub>
                              <m:r>
                                <a:rPr lang="es-ES" i="1">
                                  <a:latin typeface="Cambria Math" panose="02040503050406030204" pitchFamily="18" charset="0"/>
                                  <a:ea typeface="Cambria Math" panose="02040503050406030204" pitchFamily="18" charset="0"/>
                                </a:rPr>
                                <m:t>1</m:t>
                              </m:r>
                            </m:sub>
                          </m:sSub>
                          <m:sSub>
                            <m:sSubPr>
                              <m:ctrlPr>
                                <a:rPr lang="es-ES" i="1">
                                  <a:latin typeface="Cambria Math" panose="02040503050406030204" pitchFamily="18" charset="0"/>
                                </a:rPr>
                              </m:ctrlPr>
                            </m:sSubPr>
                            <m:e>
                              <m:r>
                                <a:rPr lang="es-ES" i="1">
                                  <a:latin typeface="Cambria Math" panose="02040503050406030204" pitchFamily="18" charset="0"/>
                                </a:rPr>
                                <m:t>𝑣</m:t>
                              </m:r>
                            </m:e>
                            <m:sub>
                              <m:r>
                                <a:rPr lang="es-ES" i="1">
                                  <a:latin typeface="Cambria Math" panose="02040503050406030204" pitchFamily="18" charset="0"/>
                                </a:rPr>
                                <m:t>1</m:t>
                              </m:r>
                            </m:sub>
                          </m:sSub>
                        </m:den>
                      </m:f>
                      <m:r>
                        <a:rPr lang="es-ES" i="1">
                          <a:latin typeface="Cambria Math" panose="02040503050406030204" pitchFamily="18" charset="0"/>
                        </a:rPr>
                        <m:t>=</m:t>
                      </m:r>
                      <m:r>
                        <a:rPr lang="es-ES" b="0" i="1" smtClean="0">
                          <a:latin typeface="Cambria Math" panose="02040503050406030204" pitchFamily="18" charset="0"/>
                        </a:rPr>
                        <m:t>2</m:t>
                      </m:r>
                      <m:f>
                        <m:fPr>
                          <m:ctrlPr>
                            <a:rPr lang="es-ES" i="1" smtClean="0">
                              <a:latin typeface="Cambria Math" panose="02040503050406030204" pitchFamily="18" charset="0"/>
                            </a:rPr>
                          </m:ctrlPr>
                        </m:fPr>
                        <m:num>
                          <m:sSub>
                            <m:sSubPr>
                              <m:ctrlPr>
                                <a:rPr lang="es-ES" i="1">
                                  <a:latin typeface="Cambria Math" panose="02040503050406030204" pitchFamily="18" charset="0"/>
                                </a:rPr>
                              </m:ctrlPr>
                            </m:sSubPr>
                            <m:e>
                              <m:r>
                                <a:rPr lang="es-ES" i="1" smtClean="0">
                                  <a:latin typeface="Cambria Math" panose="02040503050406030204" pitchFamily="18" charset="0"/>
                                  <a:ea typeface="Cambria Math" panose="02040503050406030204" pitchFamily="18" charset="0"/>
                                </a:rPr>
                                <m:t>𝜆</m:t>
                              </m:r>
                            </m:e>
                            <m:sub>
                              <m:r>
                                <a:rPr lang="es-ES" i="1">
                                  <a:latin typeface="Cambria Math" panose="02040503050406030204" pitchFamily="18" charset="0"/>
                                </a:rPr>
                                <m:t>2</m:t>
                              </m:r>
                            </m:sub>
                          </m:sSub>
                          <m:r>
                            <a:rPr lang="es-ES" b="0" i="1" smtClean="0">
                              <a:latin typeface="Cambria Math" panose="02040503050406030204" pitchFamily="18" charset="0"/>
                            </a:rPr>
                            <m:t>𝑓</m:t>
                          </m:r>
                        </m:num>
                        <m:den>
                          <m:sSub>
                            <m:sSubPr>
                              <m:ctrlPr>
                                <a:rPr lang="es-ES" i="1">
                                  <a:latin typeface="Cambria Math" panose="02040503050406030204" pitchFamily="18" charset="0"/>
                                </a:rPr>
                              </m:ctrlPr>
                            </m:sSubPr>
                            <m:e>
                              <m:r>
                                <a:rPr lang="es-ES" i="1" smtClean="0">
                                  <a:latin typeface="Cambria Math" panose="02040503050406030204" pitchFamily="18" charset="0"/>
                                  <a:ea typeface="Cambria Math" panose="02040503050406030204" pitchFamily="18" charset="0"/>
                                </a:rPr>
                                <m:t>𝜆</m:t>
                              </m:r>
                            </m:e>
                            <m:sub>
                              <m:r>
                                <a:rPr lang="es-ES" i="1">
                                  <a:latin typeface="Cambria Math" panose="02040503050406030204" pitchFamily="18" charset="0"/>
                                </a:rPr>
                                <m:t>1</m:t>
                              </m:r>
                            </m:sub>
                          </m:sSub>
                          <m:r>
                            <a:rPr lang="es-ES" b="0" i="1" smtClean="0">
                              <a:latin typeface="Cambria Math" panose="02040503050406030204" pitchFamily="18" charset="0"/>
                            </a:rPr>
                            <m:t>𝑓</m:t>
                          </m:r>
                        </m:den>
                      </m:f>
                      <m:r>
                        <a:rPr lang="es-ES" b="0" i="1" smtClean="0">
                          <a:latin typeface="Cambria Math" panose="02040503050406030204" pitchFamily="18" charset="0"/>
                        </a:rPr>
                        <m:t>=</m:t>
                      </m:r>
                      <m:rad>
                        <m:radPr>
                          <m:degHide m:val="on"/>
                          <m:ctrlPr>
                            <a:rPr lang="es-ES" i="1">
                              <a:latin typeface="Cambria Math" panose="02040503050406030204" pitchFamily="18" charset="0"/>
                            </a:rPr>
                          </m:ctrlPr>
                        </m:radPr>
                        <m:deg/>
                        <m:e>
                          <m:r>
                            <a:rPr lang="es-ES" i="1">
                              <a:latin typeface="Cambria Math" panose="02040503050406030204" pitchFamily="18" charset="0"/>
                            </a:rPr>
                            <m:t>2</m:t>
                          </m:r>
                        </m:e>
                      </m:rad>
                    </m:oMath>
                  </m:oMathPara>
                </a14:m>
                <a:endParaRPr lang="es-PE" dirty="0"/>
              </a:p>
            </p:txBody>
          </p:sp>
        </mc:Choice>
        <mc:Fallback xmlns="">
          <p:sp>
            <p:nvSpPr>
              <p:cNvPr id="11" name="Rectángulo 10"/>
              <p:cNvSpPr>
                <a:spLocks noRot="1" noChangeAspect="1" noMove="1" noResize="1" noEditPoints="1" noAdjustHandles="1" noChangeArrowheads="1" noChangeShapeType="1" noTextEdit="1"/>
              </p:cNvSpPr>
              <p:nvPr/>
            </p:nvSpPr>
            <p:spPr>
              <a:xfrm>
                <a:off x="5364088" y="3727138"/>
                <a:ext cx="2111860" cy="667490"/>
              </a:xfrm>
              <a:prstGeom prst="rect">
                <a:avLst/>
              </a:prstGeom>
              <a:blipFill rotWithShape="0">
                <a:blip r:embed="rId7"/>
                <a:stretch>
                  <a:fillRect/>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13" name="Rectángulo 12"/>
              <p:cNvSpPr/>
              <p:nvPr/>
            </p:nvSpPr>
            <p:spPr>
              <a:xfrm>
                <a:off x="5308753" y="4561117"/>
                <a:ext cx="1111265" cy="8994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s-ES" i="1" smtClean="0">
                              <a:latin typeface="Cambria Math" panose="02040503050406030204" pitchFamily="18" charset="0"/>
                            </a:rPr>
                          </m:ctrlPr>
                        </m:fPr>
                        <m:num>
                          <m:sSub>
                            <m:sSubPr>
                              <m:ctrlPr>
                                <a:rPr lang="es-ES" i="1">
                                  <a:latin typeface="Cambria Math" panose="02040503050406030204" pitchFamily="18" charset="0"/>
                                </a:rPr>
                              </m:ctrlPr>
                            </m:sSubPr>
                            <m:e>
                              <m:r>
                                <a:rPr lang="es-ES" i="1" smtClean="0">
                                  <a:latin typeface="Cambria Math" panose="02040503050406030204" pitchFamily="18" charset="0"/>
                                  <a:ea typeface="Cambria Math" panose="02040503050406030204" pitchFamily="18" charset="0"/>
                                </a:rPr>
                                <m:t>𝜆</m:t>
                              </m:r>
                            </m:e>
                            <m:sub>
                              <m:r>
                                <a:rPr lang="es-ES" i="1">
                                  <a:latin typeface="Cambria Math" panose="02040503050406030204" pitchFamily="18" charset="0"/>
                                </a:rPr>
                                <m:t>2</m:t>
                              </m:r>
                            </m:sub>
                          </m:sSub>
                        </m:num>
                        <m:den>
                          <m:f>
                            <m:fPr>
                              <m:ctrlPr>
                                <a:rPr lang="es-ES" i="1" smtClean="0">
                                  <a:latin typeface="Cambria Math" panose="02040503050406030204" pitchFamily="18" charset="0"/>
                                </a:rPr>
                              </m:ctrlPr>
                            </m:fPr>
                            <m:num>
                              <m:r>
                                <a:rPr lang="es-ES" b="0" i="1" smtClean="0">
                                  <a:latin typeface="Cambria Math" panose="02040503050406030204" pitchFamily="18" charset="0"/>
                                </a:rPr>
                                <m:t>2</m:t>
                              </m:r>
                              <m:r>
                                <a:rPr lang="es-ES" b="0" i="1" smtClean="0">
                                  <a:latin typeface="Cambria Math" panose="02040503050406030204" pitchFamily="18" charset="0"/>
                                  <a:ea typeface="Cambria Math" panose="02040503050406030204" pitchFamily="18" charset="0"/>
                                </a:rPr>
                                <m:t>𝜋</m:t>
                              </m:r>
                            </m:num>
                            <m:den>
                              <m:r>
                                <a:rPr lang="es-ES" b="0" i="1" smtClean="0">
                                  <a:latin typeface="Cambria Math" panose="02040503050406030204" pitchFamily="18" charset="0"/>
                                </a:rPr>
                                <m:t>40</m:t>
                              </m:r>
                            </m:den>
                          </m:f>
                        </m:den>
                      </m:f>
                      <m:r>
                        <a:rPr lang="es-ES" b="0" i="1" smtClean="0">
                          <a:latin typeface="Cambria Math" panose="02040503050406030204" pitchFamily="18" charset="0"/>
                        </a:rPr>
                        <m:t>=</m:t>
                      </m:r>
                      <m:f>
                        <m:fPr>
                          <m:ctrlPr>
                            <a:rPr lang="es-ES" b="0" i="1" smtClean="0">
                              <a:latin typeface="Cambria Math" panose="02040503050406030204" pitchFamily="18" charset="0"/>
                            </a:rPr>
                          </m:ctrlPr>
                        </m:fPr>
                        <m:num>
                          <m:rad>
                            <m:radPr>
                              <m:degHide m:val="on"/>
                              <m:ctrlPr>
                                <a:rPr lang="es-ES" i="1">
                                  <a:latin typeface="Cambria Math" panose="02040503050406030204" pitchFamily="18" charset="0"/>
                                </a:rPr>
                              </m:ctrlPr>
                            </m:radPr>
                            <m:deg/>
                            <m:e>
                              <m:r>
                                <a:rPr lang="es-ES" i="1">
                                  <a:latin typeface="Cambria Math" panose="02040503050406030204" pitchFamily="18" charset="0"/>
                                </a:rPr>
                                <m:t>2</m:t>
                              </m:r>
                            </m:e>
                          </m:rad>
                        </m:num>
                        <m:den>
                          <m:r>
                            <a:rPr lang="es-ES" b="0" i="1" smtClean="0">
                              <a:latin typeface="Cambria Math" panose="02040503050406030204" pitchFamily="18" charset="0"/>
                            </a:rPr>
                            <m:t>2</m:t>
                          </m:r>
                        </m:den>
                      </m:f>
                    </m:oMath>
                  </m:oMathPara>
                </a14:m>
                <a:endParaRPr lang="es-PE" dirty="0"/>
              </a:p>
            </p:txBody>
          </p:sp>
        </mc:Choice>
        <mc:Fallback xmlns="">
          <p:sp>
            <p:nvSpPr>
              <p:cNvPr id="13" name="Rectángulo 12"/>
              <p:cNvSpPr>
                <a:spLocks noRot="1" noChangeAspect="1" noMove="1" noResize="1" noEditPoints="1" noAdjustHandles="1" noChangeArrowheads="1" noChangeShapeType="1" noTextEdit="1"/>
              </p:cNvSpPr>
              <p:nvPr/>
            </p:nvSpPr>
            <p:spPr>
              <a:xfrm>
                <a:off x="5308753" y="4561117"/>
                <a:ext cx="1111265" cy="899477"/>
              </a:xfrm>
              <a:prstGeom prst="rect">
                <a:avLst/>
              </a:prstGeom>
              <a:blipFill rotWithShape="0">
                <a:blip r:embed="rId8"/>
                <a:stretch>
                  <a:fillRect/>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12" name="Rectángulo 11"/>
              <p:cNvSpPr/>
              <p:nvPr/>
            </p:nvSpPr>
            <p:spPr>
              <a:xfrm>
                <a:off x="6616128" y="4741615"/>
                <a:ext cx="132754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s-ES" i="1" smtClean="0">
                              <a:latin typeface="Cambria Math" panose="02040503050406030204" pitchFamily="18" charset="0"/>
                            </a:rPr>
                          </m:ctrlPr>
                        </m:sSubPr>
                        <m:e>
                          <m:r>
                            <a:rPr lang="es-ES" i="1">
                              <a:latin typeface="Cambria Math" panose="02040503050406030204" pitchFamily="18" charset="0"/>
                              <a:ea typeface="Cambria Math" panose="02040503050406030204" pitchFamily="18" charset="0"/>
                            </a:rPr>
                            <m:t>𝜆</m:t>
                          </m:r>
                        </m:e>
                        <m:sub>
                          <m:r>
                            <a:rPr lang="es-ES" i="1">
                              <a:latin typeface="Cambria Math" panose="02040503050406030204" pitchFamily="18" charset="0"/>
                            </a:rPr>
                            <m:t>2</m:t>
                          </m:r>
                        </m:sub>
                      </m:sSub>
                      <m:r>
                        <a:rPr lang="es-ES" b="0" i="1" smtClean="0">
                          <a:latin typeface="Cambria Math" panose="02040503050406030204" pitchFamily="18" charset="0"/>
                        </a:rPr>
                        <m:t>=0,111</m:t>
                      </m:r>
                    </m:oMath>
                  </m:oMathPara>
                </a14:m>
                <a:endParaRPr lang="es-PE" dirty="0"/>
              </a:p>
            </p:txBody>
          </p:sp>
        </mc:Choice>
        <mc:Fallback xmlns="">
          <p:sp>
            <p:nvSpPr>
              <p:cNvPr id="12" name="Rectángulo 11"/>
              <p:cNvSpPr>
                <a:spLocks noRot="1" noChangeAspect="1" noMove="1" noResize="1" noEditPoints="1" noAdjustHandles="1" noChangeArrowheads="1" noChangeShapeType="1" noTextEdit="1"/>
              </p:cNvSpPr>
              <p:nvPr/>
            </p:nvSpPr>
            <p:spPr>
              <a:xfrm>
                <a:off x="6616128" y="4741615"/>
                <a:ext cx="1327543" cy="369332"/>
              </a:xfrm>
              <a:prstGeom prst="rect">
                <a:avLst/>
              </a:prstGeom>
              <a:blipFill rotWithShape="0">
                <a:blip r:embed="rId9"/>
                <a:stretch>
                  <a:fillRect/>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15" name="Rectángulo 14"/>
              <p:cNvSpPr/>
              <p:nvPr/>
            </p:nvSpPr>
            <p:spPr>
              <a:xfrm>
                <a:off x="5389854" y="5537536"/>
                <a:ext cx="186057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𝑘</m:t>
                          </m:r>
                        </m:e>
                        <m:sub>
                          <m:r>
                            <a:rPr lang="es-ES" i="1">
                              <a:latin typeface="Cambria Math" panose="02040503050406030204" pitchFamily="18" charset="0"/>
                            </a:rPr>
                            <m:t>2</m:t>
                          </m:r>
                        </m:sub>
                      </m:sSub>
                      <m:r>
                        <a:rPr lang="es-ES" b="0" i="1" smtClean="0">
                          <a:latin typeface="Cambria Math" panose="02040503050406030204" pitchFamily="18" charset="0"/>
                        </a:rPr>
                        <m:t>=56,6 </m:t>
                      </m:r>
                      <m:r>
                        <a:rPr lang="es-ES" b="0" i="1" smtClean="0">
                          <a:latin typeface="Cambria Math" panose="02040503050406030204" pitchFamily="18" charset="0"/>
                        </a:rPr>
                        <m:t>𝑟𝑎𝑑</m:t>
                      </m:r>
                      <m:r>
                        <a:rPr lang="es-ES" b="0" i="1" smtClean="0">
                          <a:latin typeface="Cambria Math" panose="02040503050406030204" pitchFamily="18" charset="0"/>
                        </a:rPr>
                        <m:t>/</m:t>
                      </m:r>
                      <m:r>
                        <a:rPr lang="es-ES" b="0" i="1" smtClean="0">
                          <a:latin typeface="Cambria Math" panose="02040503050406030204" pitchFamily="18" charset="0"/>
                        </a:rPr>
                        <m:t>𝑠</m:t>
                      </m:r>
                    </m:oMath>
                  </m:oMathPara>
                </a14:m>
                <a:endParaRPr lang="es-PE" dirty="0"/>
              </a:p>
            </p:txBody>
          </p:sp>
        </mc:Choice>
        <mc:Fallback xmlns="">
          <p:sp>
            <p:nvSpPr>
              <p:cNvPr id="15" name="Rectángulo 14"/>
              <p:cNvSpPr>
                <a:spLocks noRot="1" noChangeAspect="1" noMove="1" noResize="1" noEditPoints="1" noAdjustHandles="1" noChangeArrowheads="1" noChangeShapeType="1" noTextEdit="1"/>
              </p:cNvSpPr>
              <p:nvPr/>
            </p:nvSpPr>
            <p:spPr>
              <a:xfrm>
                <a:off x="5389854" y="5537536"/>
                <a:ext cx="1860573" cy="369332"/>
              </a:xfrm>
              <a:prstGeom prst="rect">
                <a:avLst/>
              </a:prstGeom>
              <a:blipFill rotWithShape="0">
                <a:blip r:embed="rId10"/>
                <a:stretch>
                  <a:fillRect b="-13115"/>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16" name="CuadroTexto 15"/>
              <p:cNvSpPr txBox="1"/>
              <p:nvPr/>
            </p:nvSpPr>
            <p:spPr>
              <a:xfrm>
                <a:off x="4211960" y="6056458"/>
                <a:ext cx="5832648"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PE" i="1" smtClean="0">
                              <a:latin typeface="Cambria Math" panose="02040503050406030204" pitchFamily="18" charset="0"/>
                            </a:rPr>
                          </m:ctrlPr>
                        </m:sSubPr>
                        <m:e>
                          <m:r>
                            <a:rPr lang="es-ES" b="0" i="1" smtClean="0">
                              <a:latin typeface="Cambria Math" panose="02040503050406030204" pitchFamily="18" charset="0"/>
                            </a:rPr>
                            <m:t>𝑦</m:t>
                          </m:r>
                        </m:e>
                        <m:sub>
                          <m:r>
                            <a:rPr lang="es-ES" b="0" i="1" smtClean="0">
                              <a:latin typeface="Cambria Math" panose="02040503050406030204" pitchFamily="18" charset="0"/>
                            </a:rPr>
                            <m:t>𝑇</m:t>
                          </m:r>
                        </m:sub>
                      </m:sSub>
                      <m:d>
                        <m:dPr>
                          <m:ctrlPr>
                            <a:rPr lang="es-PE" i="1" smtClean="0">
                              <a:latin typeface="Cambria Math" panose="02040503050406030204" pitchFamily="18" charset="0"/>
                            </a:rPr>
                          </m:ctrlPr>
                        </m:dPr>
                        <m:e>
                          <m:r>
                            <a:rPr lang="es-ES" b="0" i="1" smtClean="0">
                              <a:latin typeface="Cambria Math" panose="02040503050406030204" pitchFamily="18" charset="0"/>
                            </a:rPr>
                            <m:t>𝑥</m:t>
                          </m:r>
                          <m:r>
                            <a:rPr lang="es-ES" b="0" i="1" smtClean="0">
                              <a:latin typeface="Cambria Math" panose="02040503050406030204" pitchFamily="18" charset="0"/>
                              <a:ea typeface="Cambria Math" panose="02040503050406030204" pitchFamily="18" charset="0"/>
                            </a:rPr>
                            <m:t>&gt;</m:t>
                          </m:r>
                          <m:r>
                            <a:rPr lang="es-ES" b="0" i="1" smtClean="0">
                              <a:latin typeface="Cambria Math" panose="02040503050406030204" pitchFamily="18" charset="0"/>
                              <a:ea typeface="Cambria Math" panose="02040503050406030204" pitchFamily="18" charset="0"/>
                            </a:rPr>
                            <m:t>𝑎</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𝑡</m:t>
                          </m:r>
                        </m:e>
                      </m:d>
                      <m:r>
                        <a:rPr lang="es-ES" b="0" i="1" smtClean="0">
                          <a:latin typeface="Cambria Math" panose="02040503050406030204" pitchFamily="18" charset="0"/>
                        </a:rPr>
                        <m:t>=8,28</m:t>
                      </m:r>
                      <m:r>
                        <m:rPr>
                          <m:nor/>
                        </m:rPr>
                        <a:rPr lang="es-PE" dirty="0">
                          <a:latin typeface="Times New Roman" panose="02020603050405020304" pitchFamily="18" charset="0"/>
                        </a:rPr>
                        <m:t>sen</m:t>
                      </m:r>
                      <m:r>
                        <m:rPr>
                          <m:nor/>
                        </m:rPr>
                        <a:rPr lang="es-PE" dirty="0">
                          <a:latin typeface="Times New Roman" panose="02020603050405020304" pitchFamily="18" charset="0"/>
                        </a:rPr>
                        <m:t>[</m:t>
                      </m:r>
                      <m:r>
                        <m:rPr>
                          <m:nor/>
                        </m:rPr>
                        <a:rPr lang="es-ES" b="0" i="0" dirty="0" smtClean="0">
                          <a:latin typeface="Times New Roman" panose="02020603050405020304" pitchFamily="18" charset="0"/>
                        </a:rPr>
                        <m:t>56,6</m:t>
                      </m:r>
                      <m:r>
                        <m:rPr>
                          <m:nor/>
                        </m:rPr>
                        <a:rPr lang="es-ES" b="0" i="0" dirty="0" smtClean="0">
                          <a:latin typeface="Times New Roman" panose="02020603050405020304" pitchFamily="18" charset="0"/>
                        </a:rPr>
                        <m:t>x</m:t>
                      </m:r>
                      <m:r>
                        <m:rPr>
                          <m:nor/>
                        </m:rPr>
                        <a:rPr lang="es-ES" b="0" i="0" dirty="0" smtClean="0">
                          <a:latin typeface="Times New Roman" panose="02020603050405020304" pitchFamily="18" charset="0"/>
                        </a:rPr>
                        <m:t>−200</m:t>
                      </m:r>
                      <m:r>
                        <m:rPr>
                          <m:nor/>
                        </m:rPr>
                        <a:rPr lang="es-ES" b="0" i="0" dirty="0" smtClean="0">
                          <a:latin typeface="Times New Roman" panose="02020603050405020304" pitchFamily="18" charset="0"/>
                        </a:rPr>
                        <m:t>t</m:t>
                      </m:r>
                      <m:r>
                        <m:rPr>
                          <m:nor/>
                        </m:rPr>
                        <a:rPr lang="es-ES" b="0" i="0" dirty="0" smtClean="0">
                          <a:latin typeface="Times New Roman" panose="02020603050405020304" pitchFamily="18" charset="0"/>
                        </a:rPr>
                        <m:t>]</m:t>
                      </m:r>
                      <m:r>
                        <m:rPr>
                          <m:nor/>
                        </m:rPr>
                        <a:rPr lang="es-ES" b="0" i="0" dirty="0" smtClean="0">
                          <a:latin typeface="Times New Roman" panose="02020603050405020304" pitchFamily="18" charset="0"/>
                        </a:rPr>
                        <m:t>mm</m:t>
                      </m:r>
                    </m:oMath>
                  </m:oMathPara>
                </a14:m>
                <a:endParaRPr lang="es-PE" dirty="0"/>
              </a:p>
            </p:txBody>
          </p:sp>
        </mc:Choice>
        <mc:Fallback xmlns="">
          <p:sp>
            <p:nvSpPr>
              <p:cNvPr id="16" name="CuadroTexto 15"/>
              <p:cNvSpPr txBox="1">
                <a:spLocks noRot="1" noChangeAspect="1" noMove="1" noResize="1" noEditPoints="1" noAdjustHandles="1" noChangeArrowheads="1" noChangeShapeType="1" noTextEdit="1"/>
              </p:cNvSpPr>
              <p:nvPr/>
            </p:nvSpPr>
            <p:spPr>
              <a:xfrm>
                <a:off x="4211960" y="6056458"/>
                <a:ext cx="5832648" cy="276999"/>
              </a:xfrm>
              <a:prstGeom prst="rect">
                <a:avLst/>
              </a:prstGeom>
              <a:blipFill rotWithShape="0">
                <a:blip r:embed="rId11"/>
                <a:stretch>
                  <a:fillRect b="-33333"/>
                </a:stretch>
              </a:blipFill>
            </p:spPr>
            <p:txBody>
              <a:bodyPr/>
              <a:lstStyle/>
              <a:p>
                <a:r>
                  <a:rPr lang="es-PE">
                    <a:noFill/>
                  </a:rPr>
                  <a:t> </a:t>
                </a:r>
              </a:p>
            </p:txBody>
          </p:sp>
        </mc:Fallback>
      </mc:AlternateContent>
      <p:sp>
        <p:nvSpPr>
          <p:cNvPr id="14" name="CuadroTexto 13"/>
          <p:cNvSpPr txBox="1"/>
          <p:nvPr/>
        </p:nvSpPr>
        <p:spPr>
          <a:xfrm>
            <a:off x="683568" y="2891267"/>
            <a:ext cx="1224136" cy="369332"/>
          </a:xfrm>
          <a:prstGeom prst="rect">
            <a:avLst/>
          </a:prstGeom>
          <a:noFill/>
        </p:spPr>
        <p:txBody>
          <a:bodyPr wrap="square" rtlCol="0">
            <a:spAutoFit/>
          </a:bodyPr>
          <a:lstStyle/>
          <a:p>
            <a:r>
              <a:rPr lang="es-ES" dirty="0" smtClean="0"/>
              <a:t>Solución:</a:t>
            </a:r>
            <a:endParaRPr lang="es-PE" dirty="0"/>
          </a:p>
        </p:txBody>
      </p:sp>
    </p:spTree>
    <p:extLst>
      <p:ext uri="{BB962C8B-B14F-4D97-AF65-F5344CB8AC3E}">
        <p14:creationId xmlns:p14="http://schemas.microsoft.com/office/powerpoint/2010/main" val="336266550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1 Título"/>
          <p:cNvSpPr>
            <a:spLocks noGrp="1"/>
          </p:cNvSpPr>
          <p:nvPr>
            <p:ph type="title"/>
          </p:nvPr>
        </p:nvSpPr>
        <p:spPr>
          <a:xfrm>
            <a:off x="1907704" y="847066"/>
            <a:ext cx="3600400" cy="572915"/>
          </a:xfrm>
        </p:spPr>
        <p:txBody>
          <a:bodyPr>
            <a:normAutofit/>
          </a:bodyPr>
          <a:lstStyle/>
          <a:p>
            <a:r>
              <a:rPr lang="es-PE" dirty="0" smtClean="0"/>
              <a:t>Ejemplo:</a:t>
            </a:r>
            <a:endParaRPr lang="es-PE" dirty="0"/>
          </a:p>
        </p:txBody>
      </p:sp>
      <mc:AlternateContent xmlns:mc="http://schemas.openxmlformats.org/markup-compatibility/2006" xmlns:a14="http://schemas.microsoft.com/office/drawing/2010/main">
        <mc:Choice Requires="a14">
          <p:sp>
            <p:nvSpPr>
              <p:cNvPr id="5" name="Rectángulo 4"/>
              <p:cNvSpPr/>
              <p:nvPr/>
            </p:nvSpPr>
            <p:spPr>
              <a:xfrm>
                <a:off x="559992" y="1690938"/>
                <a:ext cx="8064896" cy="1200329"/>
              </a:xfrm>
              <a:prstGeom prst="rect">
                <a:avLst/>
              </a:prstGeom>
            </p:spPr>
            <p:txBody>
              <a:bodyPr wrap="square">
                <a:spAutoFit/>
              </a:bodyPr>
              <a:lstStyle/>
              <a:p>
                <a:pPr algn="just"/>
                <a:r>
                  <a:rPr lang="es-PE" dirty="0" smtClean="0"/>
                  <a:t>Cuando un alambre de densidad  </a:t>
                </a:r>
                <a14:m>
                  <m:oMath xmlns:m="http://schemas.openxmlformats.org/officeDocument/2006/math">
                    <m:sSub>
                      <m:sSubPr>
                        <m:ctrlPr>
                          <a:rPr lang="es-PE" i="1" smtClean="0">
                            <a:latin typeface="Cambria Math" panose="02040503050406030204" pitchFamily="18" charset="0"/>
                          </a:rPr>
                        </m:ctrlPr>
                      </m:sSubPr>
                      <m:e>
                        <m:r>
                          <a:rPr lang="es-PE" i="1" smtClean="0">
                            <a:latin typeface="Cambria Math" panose="02040503050406030204" pitchFamily="18" charset="0"/>
                            <a:ea typeface="Cambria Math" panose="02040503050406030204" pitchFamily="18" charset="0"/>
                          </a:rPr>
                          <m:t>𝜇</m:t>
                        </m:r>
                      </m:e>
                      <m:sub>
                        <m:r>
                          <a:rPr lang="es-ES" b="0" i="1" smtClean="0">
                            <a:latin typeface="Cambria Math" panose="02040503050406030204" pitchFamily="18" charset="0"/>
                          </a:rPr>
                          <m:t>1</m:t>
                        </m:r>
                      </m:sub>
                    </m:sSub>
                    <m:r>
                      <a:rPr lang="es-PE" i="1" smtClean="0">
                        <a:latin typeface="Cambria Math" panose="02040503050406030204" pitchFamily="18" charset="0"/>
                      </a:rPr>
                      <m:t>=</m:t>
                    </m:r>
                    <m:r>
                      <a:rPr lang="es-ES" b="0" i="1" smtClean="0">
                        <a:latin typeface="Cambria Math" panose="02040503050406030204" pitchFamily="18" charset="0"/>
                      </a:rPr>
                      <m:t>0,036 </m:t>
                    </m:r>
                    <m:r>
                      <a:rPr lang="es-ES" b="0" i="1" smtClean="0">
                        <a:latin typeface="Cambria Math" panose="02040503050406030204" pitchFamily="18" charset="0"/>
                      </a:rPr>
                      <m:t>𝑘𝑔</m:t>
                    </m:r>
                    <m:r>
                      <a:rPr lang="es-ES" b="0" i="1" smtClean="0">
                        <a:latin typeface="Cambria Math" panose="02040503050406030204" pitchFamily="18" charset="0"/>
                      </a:rPr>
                      <m:t>/</m:t>
                    </m:r>
                    <m:r>
                      <a:rPr lang="es-ES" b="0" i="1" smtClean="0">
                        <a:latin typeface="Cambria Math" panose="02040503050406030204" pitchFamily="18" charset="0"/>
                      </a:rPr>
                      <m:t>𝑚</m:t>
                    </m:r>
                  </m:oMath>
                </a14:m>
                <a:r>
                  <a:rPr lang="es-PE" dirty="0" smtClean="0"/>
                  <a:t>,  </a:t>
                </a:r>
                <a:r>
                  <a:rPr lang="es-PE" dirty="0"/>
                  <a:t>vibra con una </a:t>
                </a:r>
                <a:r>
                  <a:rPr lang="es-PE" dirty="0" smtClean="0"/>
                  <a:t>Amplitud de 2,64 cm, frecuencia de 4.00 </a:t>
                </a:r>
                <a:r>
                  <a:rPr lang="es-PE" dirty="0"/>
                  <a:t>Hz, se produce una onda </a:t>
                </a:r>
                <a:r>
                  <a:rPr lang="es-PE" dirty="0" smtClean="0"/>
                  <a:t>transversal </a:t>
                </a:r>
                <a:r>
                  <a:rPr lang="es-PE" dirty="0"/>
                  <a:t>con longitud </a:t>
                </a:r>
                <a:r>
                  <a:rPr lang="es-PE" dirty="0" smtClean="0"/>
                  <a:t>de onda </a:t>
                </a:r>
                <a:r>
                  <a:rPr lang="es-PE" dirty="0"/>
                  <a:t>de </a:t>
                </a:r>
                <a:r>
                  <a:rPr lang="es-PE" dirty="0" smtClean="0"/>
                  <a:t>16,0 </a:t>
                </a:r>
                <a:r>
                  <a:rPr lang="es-PE" dirty="0"/>
                  <a:t>cm. </a:t>
                </a:r>
                <a:r>
                  <a:rPr lang="es-PE" dirty="0" smtClean="0"/>
                  <a:t>En x= 32,0 cm, el alambre cambia de densidad a </a:t>
                </a:r>
                <a14:m>
                  <m:oMath xmlns:m="http://schemas.openxmlformats.org/officeDocument/2006/math">
                    <m:sSub>
                      <m:sSubPr>
                        <m:ctrlPr>
                          <a:rPr lang="es-PE" i="1">
                            <a:latin typeface="Cambria Math" panose="02040503050406030204" pitchFamily="18" charset="0"/>
                          </a:rPr>
                        </m:ctrlPr>
                      </m:sSubPr>
                      <m:e>
                        <m:r>
                          <a:rPr lang="es-PE" i="1">
                            <a:latin typeface="Cambria Math" panose="02040503050406030204" pitchFamily="18" charset="0"/>
                            <a:ea typeface="Cambria Math" panose="02040503050406030204" pitchFamily="18" charset="0"/>
                          </a:rPr>
                          <m:t>𝜇</m:t>
                        </m:r>
                      </m:e>
                      <m:sub>
                        <m:r>
                          <a:rPr lang="es-ES" b="0" i="1" smtClean="0">
                            <a:latin typeface="Cambria Math" panose="02040503050406030204" pitchFamily="18" charset="0"/>
                            <a:ea typeface="Cambria Math" panose="02040503050406030204" pitchFamily="18" charset="0"/>
                          </a:rPr>
                          <m:t>2</m:t>
                        </m:r>
                      </m:sub>
                    </m:sSub>
                    <m:r>
                      <a:rPr lang="es-PE" i="1">
                        <a:latin typeface="Cambria Math" panose="02040503050406030204" pitchFamily="18" charset="0"/>
                      </a:rPr>
                      <m:t>=</m:t>
                    </m:r>
                    <m:r>
                      <a:rPr lang="es-ES" i="1">
                        <a:latin typeface="Cambria Math" panose="02040503050406030204" pitchFamily="18" charset="0"/>
                      </a:rPr>
                      <m:t>0,0</m:t>
                    </m:r>
                    <m:r>
                      <a:rPr lang="es-ES" b="0" i="1" smtClean="0">
                        <a:latin typeface="Cambria Math" panose="02040503050406030204" pitchFamily="18" charset="0"/>
                      </a:rPr>
                      <m:t>22</m:t>
                    </m:r>
                    <m:r>
                      <a:rPr lang="es-ES" i="1">
                        <a:latin typeface="Cambria Math" panose="02040503050406030204" pitchFamily="18" charset="0"/>
                      </a:rPr>
                      <m:t> </m:t>
                    </m:r>
                    <m:r>
                      <a:rPr lang="es-ES" i="1">
                        <a:latin typeface="Cambria Math" panose="02040503050406030204" pitchFamily="18" charset="0"/>
                      </a:rPr>
                      <m:t>𝑘𝑔</m:t>
                    </m:r>
                    <m:r>
                      <a:rPr lang="es-ES" i="1">
                        <a:latin typeface="Cambria Math" panose="02040503050406030204" pitchFamily="18" charset="0"/>
                      </a:rPr>
                      <m:t>/</m:t>
                    </m:r>
                    <m:r>
                      <a:rPr lang="es-ES" i="1">
                        <a:latin typeface="Cambria Math" panose="02040503050406030204" pitchFamily="18" charset="0"/>
                      </a:rPr>
                      <m:t>𝑚</m:t>
                    </m:r>
                  </m:oMath>
                </a14:m>
                <a:r>
                  <a:rPr lang="es-PE" dirty="0" smtClean="0"/>
                  <a:t> Determine </a:t>
                </a:r>
                <a:r>
                  <a:rPr lang="es-PE" dirty="0"/>
                  <a:t>la </a:t>
                </a:r>
                <a:r>
                  <a:rPr lang="es-PE" dirty="0" smtClean="0"/>
                  <a:t>amplitud (a) Reflejada y (b) la potencia media trasmitida.</a:t>
                </a:r>
                <a:endParaRPr lang="es-PE" dirty="0"/>
              </a:p>
            </p:txBody>
          </p:sp>
        </mc:Choice>
        <mc:Fallback xmlns="">
          <p:sp>
            <p:nvSpPr>
              <p:cNvPr id="5" name="Rectángulo 4"/>
              <p:cNvSpPr>
                <a:spLocks noRot="1" noChangeAspect="1" noMove="1" noResize="1" noEditPoints="1" noAdjustHandles="1" noChangeArrowheads="1" noChangeShapeType="1" noTextEdit="1"/>
              </p:cNvSpPr>
              <p:nvPr/>
            </p:nvSpPr>
            <p:spPr>
              <a:xfrm>
                <a:off x="559992" y="1690938"/>
                <a:ext cx="8064896" cy="1200329"/>
              </a:xfrm>
              <a:prstGeom prst="rect">
                <a:avLst/>
              </a:prstGeom>
              <a:blipFill rotWithShape="0">
                <a:blip r:embed="rId2"/>
                <a:stretch>
                  <a:fillRect l="-680" t="-2538" r="-605" b="-7107"/>
                </a:stretch>
              </a:blipFill>
            </p:spPr>
            <p:txBody>
              <a:bodyPr/>
              <a:lstStyle/>
              <a:p>
                <a:r>
                  <a:rPr lang="es-PE">
                    <a:noFill/>
                  </a:rPr>
                  <a:t> </a:t>
                </a:r>
              </a:p>
            </p:txBody>
          </p:sp>
        </mc:Fallback>
      </mc:AlternateContent>
      <p:sp>
        <p:nvSpPr>
          <p:cNvPr id="14" name="CuadroTexto 13"/>
          <p:cNvSpPr txBox="1"/>
          <p:nvPr/>
        </p:nvSpPr>
        <p:spPr>
          <a:xfrm>
            <a:off x="748851" y="3039866"/>
            <a:ext cx="1224136" cy="369332"/>
          </a:xfrm>
          <a:prstGeom prst="rect">
            <a:avLst/>
          </a:prstGeom>
          <a:noFill/>
        </p:spPr>
        <p:txBody>
          <a:bodyPr wrap="square" rtlCol="0">
            <a:spAutoFit/>
          </a:bodyPr>
          <a:lstStyle/>
          <a:p>
            <a:r>
              <a:rPr lang="es-ES" dirty="0" smtClean="0"/>
              <a:t>Solución:</a:t>
            </a:r>
            <a:endParaRPr lang="es-PE" dirty="0"/>
          </a:p>
        </p:txBody>
      </p:sp>
      <p:pic>
        <p:nvPicPr>
          <p:cNvPr id="3" name="Imagen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9992" y="3431693"/>
            <a:ext cx="3686689" cy="1705213"/>
          </a:xfrm>
          <a:prstGeom prst="rect">
            <a:avLst/>
          </a:prstGeom>
        </p:spPr>
      </p:pic>
    </p:spTree>
    <p:extLst>
      <p:ext uri="{BB962C8B-B14F-4D97-AF65-F5344CB8AC3E}">
        <p14:creationId xmlns:p14="http://schemas.microsoft.com/office/powerpoint/2010/main" val="414879308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6 Título"/>
          <p:cNvSpPr>
            <a:spLocks noGrp="1"/>
          </p:cNvSpPr>
          <p:nvPr>
            <p:ph type="title"/>
          </p:nvPr>
        </p:nvSpPr>
        <p:spPr>
          <a:xfrm>
            <a:off x="1907704" y="781831"/>
            <a:ext cx="3168352" cy="702701"/>
          </a:xfrm>
        </p:spPr>
        <p:txBody>
          <a:bodyPr/>
          <a:lstStyle/>
          <a:p>
            <a:r>
              <a:rPr lang="es-PE" dirty="0" smtClean="0"/>
              <a:t>Ondas sonoras</a:t>
            </a:r>
            <a:endParaRPr lang="es-PE" dirty="0"/>
          </a:p>
        </p:txBody>
      </p:sp>
      <p:sp>
        <p:nvSpPr>
          <p:cNvPr id="10" name="Rectangle 4"/>
          <p:cNvSpPr txBox="1">
            <a:spLocks noGrp="1" noChangeArrowheads="1"/>
          </p:cNvSpPr>
          <p:nvPr>
            <p:ph sz="half" idx="1"/>
          </p:nvPr>
        </p:nvSpPr>
        <p:spPr>
          <a:prstGeom prst="rect">
            <a:avLst/>
          </a:prstGeom>
        </p:spPr>
        <p:txBody>
          <a:bodyPr>
            <a:normAutofit fontScale="85000" lnSpcReduction="10000"/>
          </a:bodyPr>
          <a:lstStyle>
            <a:lvl1pPr marL="342900" indent="-342900" algn="l" defTabSz="457200" rtl="0" eaLnBrk="1" fontAlgn="base" hangingPunct="1">
              <a:spcBef>
                <a:spcPct val="20000"/>
              </a:spcBef>
              <a:spcAft>
                <a:spcPct val="0"/>
              </a:spcAft>
              <a:buClr>
                <a:srgbClr val="EFA82F"/>
              </a:buClr>
              <a:buFont typeface="Arial" charset="0"/>
              <a:buChar char="•"/>
              <a:defRPr sz="1600" kern="1200">
                <a:solidFill>
                  <a:srgbClr val="676767"/>
                </a:solidFill>
                <a:latin typeface="Arial"/>
                <a:ea typeface="MS PGothic" pitchFamily="34" charset="-128"/>
                <a:cs typeface="+mn-cs"/>
              </a:defRPr>
            </a:lvl1pPr>
            <a:lvl2pPr marL="742950" indent="-285750" algn="l" defTabSz="457200" rtl="0" eaLnBrk="1" fontAlgn="base" hangingPunct="1">
              <a:spcBef>
                <a:spcPct val="20000"/>
              </a:spcBef>
              <a:spcAft>
                <a:spcPct val="0"/>
              </a:spcAft>
              <a:buClr>
                <a:srgbClr val="EFA82F"/>
              </a:buClr>
              <a:buFont typeface="Arial" charset="0"/>
              <a:buChar char="•"/>
              <a:defRPr sz="1600" kern="1200">
                <a:solidFill>
                  <a:srgbClr val="676767"/>
                </a:solidFill>
                <a:latin typeface="Arial"/>
                <a:ea typeface="MS PGothic" pitchFamily="34" charset="-128"/>
                <a:cs typeface="+mn-cs"/>
              </a:defRPr>
            </a:lvl2pPr>
            <a:lvl3pPr marL="1143000" indent="-228600" algn="l" defTabSz="457200" rtl="0" eaLnBrk="1" fontAlgn="base" hangingPunct="1">
              <a:spcBef>
                <a:spcPct val="20000"/>
              </a:spcBef>
              <a:spcAft>
                <a:spcPct val="0"/>
              </a:spcAft>
              <a:buClr>
                <a:srgbClr val="EFA82F"/>
              </a:buClr>
              <a:buFont typeface="Arial" charset="0"/>
              <a:buChar char="•"/>
              <a:defRPr sz="1600" kern="1200">
                <a:solidFill>
                  <a:srgbClr val="676767"/>
                </a:solidFill>
                <a:latin typeface="Arial"/>
                <a:ea typeface="MS PGothic" pitchFamily="34" charset="-128"/>
                <a:cs typeface="+mn-cs"/>
              </a:defRPr>
            </a:lvl3pPr>
            <a:lvl4pPr marL="1600200" indent="-228600" algn="l" defTabSz="457200" rtl="0" eaLnBrk="1" fontAlgn="base" hangingPunct="1">
              <a:spcBef>
                <a:spcPct val="20000"/>
              </a:spcBef>
              <a:spcAft>
                <a:spcPct val="0"/>
              </a:spcAft>
              <a:buClr>
                <a:srgbClr val="EFA82F"/>
              </a:buClr>
              <a:buFont typeface="Arial" charset="0"/>
              <a:buChar char="•"/>
              <a:defRPr sz="1600" kern="1200">
                <a:solidFill>
                  <a:srgbClr val="676767"/>
                </a:solidFill>
                <a:latin typeface="Arial"/>
                <a:ea typeface="MS PGothic" pitchFamily="34" charset="-128"/>
                <a:cs typeface="+mn-cs"/>
              </a:defRPr>
            </a:lvl4pPr>
            <a:lvl5pPr marL="2057400" indent="-228600" algn="l" defTabSz="457200" rtl="0" eaLnBrk="1" fontAlgn="base" hangingPunct="1">
              <a:spcBef>
                <a:spcPct val="20000"/>
              </a:spcBef>
              <a:spcAft>
                <a:spcPct val="0"/>
              </a:spcAft>
              <a:buClr>
                <a:srgbClr val="EFA82F"/>
              </a:buClr>
              <a:buFont typeface="Arial" charset="0"/>
              <a:buChar char="•"/>
              <a:defRPr sz="1600" kern="1200">
                <a:solidFill>
                  <a:srgbClr val="676767"/>
                </a:solidFill>
                <a:latin typeface="Arial"/>
                <a:ea typeface="MS PGothic" pitchFamily="34"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just">
              <a:lnSpc>
                <a:spcPct val="150000"/>
              </a:lnSpc>
              <a:spcBef>
                <a:spcPct val="0"/>
              </a:spcBef>
            </a:pPr>
            <a:r>
              <a:rPr lang="es-PE" sz="1800" dirty="0" smtClean="0">
                <a:solidFill>
                  <a:schemeClr val="tx1"/>
                </a:solidFill>
              </a:rPr>
              <a:t>El sonido, desde el punto de vista físico, es una onda longitudinal que se propaga en un medio elástico (aire, agua o sólidos). </a:t>
            </a:r>
          </a:p>
          <a:p>
            <a:pPr algn="just">
              <a:lnSpc>
                <a:spcPct val="150000"/>
              </a:lnSpc>
              <a:spcBef>
                <a:spcPct val="0"/>
              </a:spcBef>
            </a:pPr>
            <a:r>
              <a:rPr lang="es-PE" sz="1800" dirty="0" smtClean="0">
                <a:solidFill>
                  <a:schemeClr val="tx1"/>
                </a:solidFill>
              </a:rPr>
              <a:t>Es producido por las fluctuaciones de la presión del aire, debidas a la oscilación de un objeto a determinada frecuencia.</a:t>
            </a:r>
          </a:p>
          <a:p>
            <a:pPr algn="just">
              <a:lnSpc>
                <a:spcPct val="150000"/>
              </a:lnSpc>
              <a:spcBef>
                <a:spcPct val="0"/>
              </a:spcBef>
            </a:pPr>
            <a:r>
              <a:rPr lang="es-PE" sz="1800" dirty="0" smtClean="0">
                <a:solidFill>
                  <a:schemeClr val="tx1"/>
                </a:solidFill>
              </a:rPr>
              <a:t>La frecuencia de vibración se hace audible a los 200 Hz (infrasonido) y  deja de percibirse  cuando la frecuencia es superior a 200 000 Hz (ultrasonido).</a:t>
            </a:r>
            <a:endParaRPr lang="es-ES" sz="1800" dirty="0">
              <a:solidFill>
                <a:schemeClr val="tx1"/>
              </a:solidFill>
            </a:endParaRPr>
          </a:p>
        </p:txBody>
      </p:sp>
      <p:pic>
        <p:nvPicPr>
          <p:cNvPr id="3" name="Picture 7" descr="MA64_S10_01_ondas_sonoras"/>
          <p:cNvPicPr>
            <a:picLocks noChangeAspect="1" noChangeArrowheads="1"/>
          </p:cNvPicPr>
          <p:nvPr/>
        </p:nvPicPr>
        <p:blipFill>
          <a:blip r:embed="rId2"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4955254" y="1634664"/>
            <a:ext cx="3649166" cy="2200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8" descr="MA64_2009_01_S10_partes_oido"/>
          <p:cNvPicPr>
            <a:picLocks noChangeAspect="1" noChangeArrowheads="1"/>
          </p:cNvPicPr>
          <p:nvPr/>
        </p:nvPicPr>
        <p:blipFill>
          <a:blip r:embed="rId3"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4955254" y="3807914"/>
            <a:ext cx="3721174" cy="2369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8373946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8 Título"/>
          <p:cNvSpPr>
            <a:spLocks noGrp="1"/>
          </p:cNvSpPr>
          <p:nvPr>
            <p:ph type="title"/>
          </p:nvPr>
        </p:nvSpPr>
        <p:spPr>
          <a:xfrm>
            <a:off x="2035826" y="980728"/>
            <a:ext cx="5056454" cy="565945"/>
          </a:xfrm>
        </p:spPr>
        <p:txBody>
          <a:bodyPr/>
          <a:lstStyle/>
          <a:p>
            <a:r>
              <a:rPr lang="es-PE" dirty="0" smtClean="0"/>
              <a:t>Rapidez de una onda sonora</a:t>
            </a:r>
            <a:endParaRPr lang="es-PE" dirty="0"/>
          </a:p>
        </p:txBody>
      </p:sp>
      <p:sp>
        <p:nvSpPr>
          <p:cNvPr id="10" name="9 Marcador de contenido"/>
          <p:cNvSpPr>
            <a:spLocks noGrp="1"/>
          </p:cNvSpPr>
          <p:nvPr>
            <p:ph sz="half" idx="1"/>
          </p:nvPr>
        </p:nvSpPr>
        <p:spPr/>
        <p:txBody>
          <a:bodyPr>
            <a:normAutofit fontScale="92500" lnSpcReduction="10000"/>
          </a:bodyPr>
          <a:lstStyle/>
          <a:p>
            <a:pPr algn="just">
              <a:spcBef>
                <a:spcPct val="0"/>
              </a:spcBef>
              <a:buClr>
                <a:schemeClr val="bg1"/>
              </a:buClr>
            </a:pPr>
            <a:r>
              <a:rPr lang="es-PE" dirty="0"/>
              <a:t>La rapidez de una onda sonora en un fluido depende del módulo de volumen </a:t>
            </a:r>
            <a:r>
              <a:rPr lang="es-PE" i="1" dirty="0"/>
              <a:t>B</a:t>
            </a:r>
            <a:r>
              <a:rPr lang="es-PE" dirty="0"/>
              <a:t> y la densidad del fluido </a:t>
            </a:r>
            <a:r>
              <a:rPr lang="es-PE" dirty="0">
                <a:sym typeface="Symbol" pitchFamily="18" charset="2"/>
              </a:rPr>
              <a:t></a:t>
            </a:r>
            <a:r>
              <a:rPr lang="es-PE" dirty="0" smtClean="0">
                <a:sym typeface="Symbol" pitchFamily="18" charset="2"/>
              </a:rPr>
              <a:t>:</a:t>
            </a:r>
          </a:p>
          <a:p>
            <a:pPr algn="just">
              <a:spcBef>
                <a:spcPct val="0"/>
              </a:spcBef>
              <a:buClr>
                <a:schemeClr val="bg1"/>
              </a:buClr>
            </a:pPr>
            <a:endParaRPr lang="es-PE" dirty="0">
              <a:sym typeface="Symbol" pitchFamily="18" charset="2"/>
            </a:endParaRPr>
          </a:p>
          <a:p>
            <a:pPr algn="just">
              <a:spcBef>
                <a:spcPct val="0"/>
              </a:spcBef>
              <a:buClr>
                <a:schemeClr val="bg1"/>
              </a:buClr>
            </a:pPr>
            <a:endParaRPr lang="es-PE" dirty="0">
              <a:sym typeface="Symbol" pitchFamily="18" charset="2"/>
            </a:endParaRPr>
          </a:p>
          <a:p>
            <a:pPr algn="just">
              <a:spcBef>
                <a:spcPct val="0"/>
              </a:spcBef>
              <a:buClr>
                <a:schemeClr val="bg1"/>
              </a:buClr>
            </a:pPr>
            <a:r>
              <a:rPr lang="es-PE" dirty="0">
                <a:sym typeface="Symbol" pitchFamily="18" charset="2"/>
              </a:rPr>
              <a:t>Si el fluido es un gas ideal, la rapidez se expresa en términos de la temperatura </a:t>
            </a:r>
            <a:r>
              <a:rPr lang="es-PE" i="1" dirty="0">
                <a:sym typeface="Symbol" pitchFamily="18" charset="2"/>
              </a:rPr>
              <a:t>T</a:t>
            </a:r>
            <a:r>
              <a:rPr lang="es-PE" dirty="0">
                <a:sym typeface="Symbol" pitchFamily="18" charset="2"/>
              </a:rPr>
              <a:t>, la masa molar </a:t>
            </a:r>
            <a:r>
              <a:rPr lang="es-PE" i="1" dirty="0">
                <a:sym typeface="Symbol" pitchFamily="18" charset="2"/>
              </a:rPr>
              <a:t>M </a:t>
            </a:r>
            <a:r>
              <a:rPr lang="es-PE" dirty="0">
                <a:sym typeface="Symbol" pitchFamily="18" charset="2"/>
              </a:rPr>
              <a:t>y la razón de capacidades caloríficas  de un gas:</a:t>
            </a:r>
          </a:p>
          <a:p>
            <a:pPr algn="just">
              <a:spcBef>
                <a:spcPct val="0"/>
              </a:spcBef>
              <a:buClr>
                <a:schemeClr val="bg1"/>
              </a:buClr>
            </a:pPr>
            <a:endParaRPr lang="es-PE" dirty="0">
              <a:sym typeface="Symbol" pitchFamily="18" charset="2"/>
            </a:endParaRPr>
          </a:p>
          <a:p>
            <a:pPr algn="just">
              <a:spcBef>
                <a:spcPct val="0"/>
              </a:spcBef>
              <a:buClr>
                <a:schemeClr val="bg1"/>
              </a:buClr>
            </a:pPr>
            <a:endParaRPr lang="es-PE" dirty="0">
              <a:sym typeface="Symbol" pitchFamily="18" charset="2"/>
            </a:endParaRPr>
          </a:p>
          <a:p>
            <a:pPr algn="just">
              <a:spcBef>
                <a:spcPct val="0"/>
              </a:spcBef>
              <a:buClr>
                <a:schemeClr val="bg1"/>
              </a:buClr>
            </a:pPr>
            <a:r>
              <a:rPr lang="es-PE" dirty="0">
                <a:sym typeface="Symbol" pitchFamily="18" charset="2"/>
              </a:rPr>
              <a:t>La rapidez de las ondas sonoras en una varilla sólida depende de la densidad del material  y el módulo de Young </a:t>
            </a:r>
            <a:r>
              <a:rPr lang="es-PE" i="1" dirty="0">
                <a:sym typeface="Symbol" pitchFamily="18" charset="2"/>
              </a:rPr>
              <a:t>Y</a:t>
            </a:r>
            <a:r>
              <a:rPr lang="es-PE" dirty="0">
                <a:sym typeface="Symbol" pitchFamily="18" charset="2"/>
              </a:rPr>
              <a:t>:</a:t>
            </a:r>
          </a:p>
          <a:p>
            <a:endParaRPr lang="es-PE" dirty="0"/>
          </a:p>
        </p:txBody>
      </p:sp>
      <p:sp>
        <p:nvSpPr>
          <p:cNvPr id="11" name="10 Marcador de contenido"/>
          <p:cNvSpPr>
            <a:spLocks noGrp="1"/>
          </p:cNvSpPr>
          <p:nvPr>
            <p:ph sz="half" idx="2"/>
          </p:nvPr>
        </p:nvSpPr>
        <p:spPr/>
        <p:txBody>
          <a:bodyPr>
            <a:normAutofit fontScale="92500" lnSpcReduction="10000"/>
          </a:bodyPr>
          <a:lstStyle/>
          <a:p>
            <a:r>
              <a:rPr lang="es-PE" b="1" dirty="0"/>
              <a:t>Rapidez del sonido en varios medios materiales</a:t>
            </a:r>
          </a:p>
          <a:p>
            <a:endParaRPr lang="es-PE" dirty="0"/>
          </a:p>
        </p:txBody>
      </p:sp>
      <p:graphicFrame>
        <p:nvGraphicFramePr>
          <p:cNvPr id="4" name="Object 5"/>
          <p:cNvGraphicFramePr>
            <a:graphicFrameLocks noChangeAspect="1"/>
          </p:cNvGraphicFramePr>
          <p:nvPr>
            <p:extLst>
              <p:ext uri="{D42A27DB-BD31-4B8C-83A1-F6EECF244321}">
                <p14:modId xmlns:p14="http://schemas.microsoft.com/office/powerpoint/2010/main" val="9210365"/>
              </p:ext>
            </p:extLst>
          </p:nvPr>
        </p:nvGraphicFramePr>
        <p:xfrm>
          <a:off x="2506315" y="4168602"/>
          <a:ext cx="935037" cy="614363"/>
        </p:xfrm>
        <a:graphic>
          <a:graphicData uri="http://schemas.openxmlformats.org/presentationml/2006/ole">
            <mc:AlternateContent xmlns:mc="http://schemas.openxmlformats.org/markup-compatibility/2006">
              <mc:Choice xmlns:v="urn:schemas-microsoft-com:vml" Requires="v">
                <p:oleObj spid="_x0000_s14554" name="Equation" r:id="rId3" imgW="622030" imgH="406224" progId="">
                  <p:embed/>
                </p:oleObj>
              </mc:Choice>
              <mc:Fallback>
                <p:oleObj name="Equation" r:id="rId3" imgW="622030" imgH="406224" progId="">
                  <p:embed/>
                  <p:pic>
                    <p:nvPicPr>
                      <p:cNvPr id="0" name="Picture 2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06315" y="4168602"/>
                        <a:ext cx="935037" cy="614363"/>
                      </a:xfrm>
                      <a:prstGeom prst="rect">
                        <a:avLst/>
                      </a:prstGeom>
                      <a:solidFill>
                        <a:schemeClr val="accent1">
                          <a:lumMod val="75000"/>
                        </a:schemeClr>
                      </a:solidFill>
                      <a:effectLst/>
                      <a:extLst/>
                    </p:spPr>
                  </p:pic>
                </p:oleObj>
              </mc:Fallback>
            </mc:AlternateContent>
          </a:graphicData>
        </a:graphic>
      </p:graphicFrame>
      <p:graphicFrame>
        <p:nvGraphicFramePr>
          <p:cNvPr id="5" name="Object 7"/>
          <p:cNvGraphicFramePr>
            <a:graphicFrameLocks noChangeAspect="1"/>
          </p:cNvGraphicFramePr>
          <p:nvPr>
            <p:extLst>
              <p:ext uri="{D42A27DB-BD31-4B8C-83A1-F6EECF244321}">
                <p14:modId xmlns:p14="http://schemas.microsoft.com/office/powerpoint/2010/main" val="3305907830"/>
              </p:ext>
            </p:extLst>
          </p:nvPr>
        </p:nvGraphicFramePr>
        <p:xfrm>
          <a:off x="2405621" y="5752653"/>
          <a:ext cx="765175" cy="703262"/>
        </p:xfrm>
        <a:graphic>
          <a:graphicData uri="http://schemas.openxmlformats.org/presentationml/2006/ole">
            <mc:AlternateContent xmlns:mc="http://schemas.openxmlformats.org/markup-compatibility/2006">
              <mc:Choice xmlns:v="urn:schemas-microsoft-com:vml" Requires="v">
                <p:oleObj spid="_x0000_s14555" name="Equation" r:id="rId5" imgW="469696" imgH="431613" progId="">
                  <p:embed/>
                </p:oleObj>
              </mc:Choice>
              <mc:Fallback>
                <p:oleObj name="Equation" r:id="rId5" imgW="469696" imgH="431613" progId="">
                  <p:embed/>
                  <p:pic>
                    <p:nvPicPr>
                      <p:cNvPr id="0" name="Picture 3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05621" y="5752653"/>
                        <a:ext cx="765175" cy="703262"/>
                      </a:xfrm>
                      <a:prstGeom prst="rect">
                        <a:avLst/>
                      </a:prstGeom>
                      <a:solidFill>
                        <a:schemeClr val="accent1">
                          <a:lumMod val="75000"/>
                        </a:schemeClr>
                      </a:solidFill>
                      <a:effectLst/>
                      <a:extLst/>
                    </p:spPr>
                  </p:pic>
                </p:oleObj>
              </mc:Fallback>
            </mc:AlternateContent>
          </a:graphicData>
        </a:graphic>
      </p:graphicFrame>
      <p:graphicFrame>
        <p:nvGraphicFramePr>
          <p:cNvPr id="6" name="Group 87"/>
          <p:cNvGraphicFramePr>
            <a:graphicFrameLocks/>
          </p:cNvGraphicFramePr>
          <p:nvPr>
            <p:extLst>
              <p:ext uri="{D42A27DB-BD31-4B8C-83A1-F6EECF244321}">
                <p14:modId xmlns:p14="http://schemas.microsoft.com/office/powerpoint/2010/main" val="2962903040"/>
              </p:ext>
            </p:extLst>
          </p:nvPr>
        </p:nvGraphicFramePr>
        <p:xfrm>
          <a:off x="4932040" y="1844824"/>
          <a:ext cx="3286125" cy="3990978"/>
        </p:xfrm>
        <a:graphic>
          <a:graphicData uri="http://schemas.openxmlformats.org/drawingml/2006/table">
            <a:tbl>
              <a:tblPr/>
              <a:tblGrid>
                <a:gridCol w="2066925"/>
                <a:gridCol w="1219200"/>
              </a:tblGrid>
              <a:tr h="544513">
                <a:tc>
                  <a:txBody>
                    <a:bodyPr/>
                    <a:lstStyle/>
                    <a:p>
                      <a:pPr marL="0" marR="0" lvl="0" indent="0" algn="ctr" defTabSz="914400" rtl="0" eaLnBrk="1" fontAlgn="base" latinLnBrk="0" hangingPunct="1">
                        <a:lnSpc>
                          <a:spcPct val="100000"/>
                        </a:lnSpc>
                        <a:spcBef>
                          <a:spcPct val="60000"/>
                        </a:spcBef>
                        <a:spcAft>
                          <a:spcPct val="0"/>
                        </a:spcAft>
                        <a:buClrTx/>
                        <a:buSzTx/>
                        <a:buFontTx/>
                        <a:buNone/>
                        <a:tabLst/>
                      </a:pPr>
                      <a:r>
                        <a:rPr kumimoji="1" lang="es-PE" sz="2000" b="1" i="0" u="none" strike="noStrike" cap="none" normalizeH="0" baseline="0" smtClean="0">
                          <a:ln>
                            <a:noFill/>
                          </a:ln>
                          <a:solidFill>
                            <a:srgbClr val="000099"/>
                          </a:solidFill>
                          <a:effectLst/>
                          <a:latin typeface="Calibri" pitchFamily="34" charset="0"/>
                        </a:rPr>
                        <a:t>Medio</a:t>
                      </a:r>
                    </a:p>
                  </a:txBody>
                  <a:tcPr marL="0" marR="0" marT="0" marB="0" anchorCtr="1"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rgbClr val="F8F8F8"/>
                    </a:solidFill>
                  </a:tcPr>
                </a:tc>
                <a:tc>
                  <a:txBody>
                    <a:bodyPr/>
                    <a:lstStyle/>
                    <a:p>
                      <a:pPr marL="0" marR="0" lvl="0" indent="0" algn="ctr" defTabSz="914400" rtl="0" eaLnBrk="1" fontAlgn="base" latinLnBrk="0" hangingPunct="1">
                        <a:lnSpc>
                          <a:spcPct val="100000"/>
                        </a:lnSpc>
                        <a:spcBef>
                          <a:spcPct val="60000"/>
                        </a:spcBef>
                        <a:spcAft>
                          <a:spcPct val="0"/>
                        </a:spcAft>
                        <a:buClrTx/>
                        <a:buSzTx/>
                        <a:buFontTx/>
                        <a:buNone/>
                        <a:tabLst/>
                      </a:pPr>
                      <a:r>
                        <a:rPr kumimoji="1" lang="es-PE" sz="2000" b="1" i="0" u="none" strike="noStrike" cap="none" normalizeH="0" baseline="0" smtClean="0">
                          <a:ln>
                            <a:noFill/>
                          </a:ln>
                          <a:solidFill>
                            <a:srgbClr val="000099"/>
                          </a:solidFill>
                          <a:effectLst/>
                          <a:latin typeface="Calibri" pitchFamily="34" charset="0"/>
                        </a:rPr>
                        <a:t>v (m/s)</a:t>
                      </a:r>
                    </a:p>
                  </a:txBody>
                  <a:tcPr marL="0" marR="0" marT="0" marB="0" anchorCtr="1"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rgbClr val="F8F8F8"/>
                    </a:solidFill>
                  </a:tcPr>
                </a:tc>
              </a:tr>
              <a:tr h="430213">
                <a:tc>
                  <a:txBody>
                    <a:bodyPr/>
                    <a:lstStyle/>
                    <a:p>
                      <a:pPr marL="0" marR="0" lvl="0" indent="0" algn="l" defTabSz="914400" rtl="0" eaLnBrk="1" fontAlgn="base" latinLnBrk="0" hangingPunct="1">
                        <a:lnSpc>
                          <a:spcPct val="100000"/>
                        </a:lnSpc>
                        <a:spcBef>
                          <a:spcPct val="60000"/>
                        </a:spcBef>
                        <a:spcAft>
                          <a:spcPct val="0"/>
                        </a:spcAft>
                        <a:buClrTx/>
                        <a:buSzTx/>
                        <a:buFontTx/>
                        <a:buNone/>
                        <a:tabLst/>
                      </a:pPr>
                      <a:r>
                        <a:rPr kumimoji="1" lang="es-PE" sz="2000" b="0" i="0" u="none" strike="noStrike" cap="none" normalizeH="0" baseline="0" smtClean="0">
                          <a:ln>
                            <a:noFill/>
                          </a:ln>
                          <a:solidFill>
                            <a:schemeClr val="tx1"/>
                          </a:solidFill>
                          <a:effectLst/>
                          <a:latin typeface="Calibri" pitchFamily="34" charset="0"/>
                          <a:cs typeface="Times New Roman" pitchFamily="18" charset="0"/>
                        </a:rPr>
                        <a:t>Aire(0°C)</a:t>
                      </a:r>
                    </a:p>
                  </a:txBody>
                  <a:tcPr marL="0" marR="0" marT="0" marB="0" anchorCtr="1"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rgbClr val="0066CC"/>
                    </a:solidFill>
                  </a:tcPr>
                </a:tc>
                <a:tc>
                  <a:txBody>
                    <a:bodyPr/>
                    <a:lstStyle/>
                    <a:p>
                      <a:pPr marL="0" marR="0" lvl="0" indent="0" algn="ctr" defTabSz="914400" rtl="0" eaLnBrk="1" fontAlgn="base" latinLnBrk="0" hangingPunct="1">
                        <a:lnSpc>
                          <a:spcPct val="100000"/>
                        </a:lnSpc>
                        <a:spcBef>
                          <a:spcPct val="60000"/>
                        </a:spcBef>
                        <a:spcAft>
                          <a:spcPct val="0"/>
                        </a:spcAft>
                        <a:buClrTx/>
                        <a:buSzTx/>
                        <a:buFontTx/>
                        <a:buNone/>
                        <a:tabLst/>
                      </a:pPr>
                      <a:r>
                        <a:rPr kumimoji="1" lang="es-PE" sz="2000" b="0" i="0" u="none" strike="noStrike" cap="none" normalizeH="0" baseline="0" smtClean="0">
                          <a:ln>
                            <a:noFill/>
                          </a:ln>
                          <a:solidFill>
                            <a:srgbClr val="000099"/>
                          </a:solidFill>
                          <a:effectLst/>
                          <a:latin typeface="Calibri" pitchFamily="34" charset="0"/>
                          <a:cs typeface="Times New Roman" pitchFamily="18" charset="0"/>
                        </a:rPr>
                        <a:t>331</a:t>
                      </a:r>
                    </a:p>
                  </a:txBody>
                  <a:tcPr marL="0" marR="0" marT="0" marB="0" anchorCtr="1"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tr>
              <a:tr h="431800">
                <a:tc>
                  <a:txBody>
                    <a:bodyPr/>
                    <a:lstStyle/>
                    <a:p>
                      <a:pPr marL="0" marR="0" lvl="0" indent="0" algn="l" defTabSz="914400" rtl="0" eaLnBrk="1" fontAlgn="base" latinLnBrk="0" hangingPunct="1">
                        <a:lnSpc>
                          <a:spcPct val="100000"/>
                        </a:lnSpc>
                        <a:spcBef>
                          <a:spcPct val="60000"/>
                        </a:spcBef>
                        <a:spcAft>
                          <a:spcPct val="0"/>
                        </a:spcAft>
                        <a:buClrTx/>
                        <a:buSzTx/>
                        <a:buFontTx/>
                        <a:buNone/>
                        <a:tabLst/>
                      </a:pPr>
                      <a:r>
                        <a:rPr kumimoji="1" lang="es-ES" sz="2000" b="0" i="0" u="none" strike="noStrike" cap="none" normalizeH="0" baseline="0" smtClean="0">
                          <a:ln>
                            <a:noFill/>
                          </a:ln>
                          <a:solidFill>
                            <a:schemeClr val="tx1"/>
                          </a:solidFill>
                          <a:effectLst/>
                          <a:latin typeface="Calibri" pitchFamily="34" charset="0"/>
                        </a:rPr>
                        <a:t>Aire (20°C)</a:t>
                      </a:r>
                      <a:r>
                        <a:rPr kumimoji="1" lang="es-PE" sz="2000" b="0" i="0" u="none" strike="noStrike" cap="none" normalizeH="0" baseline="0" smtClean="0">
                          <a:ln>
                            <a:noFill/>
                          </a:ln>
                          <a:solidFill>
                            <a:schemeClr val="tx1"/>
                          </a:solidFill>
                          <a:effectLst/>
                          <a:latin typeface="Calibri" pitchFamily="34" charset="0"/>
                        </a:rPr>
                        <a:t> </a:t>
                      </a:r>
                    </a:p>
                  </a:txBody>
                  <a:tcPr marL="0" marR="0" marT="0" marB="0" anchorCtr="1"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rgbClr val="0066CC"/>
                    </a:solidFill>
                  </a:tcPr>
                </a:tc>
                <a:tc>
                  <a:txBody>
                    <a:bodyPr/>
                    <a:lstStyle/>
                    <a:p>
                      <a:pPr marL="0" marR="0" lvl="0" indent="0" algn="ctr" defTabSz="914400" rtl="0" eaLnBrk="1" fontAlgn="base" latinLnBrk="0" hangingPunct="1">
                        <a:lnSpc>
                          <a:spcPct val="100000"/>
                        </a:lnSpc>
                        <a:spcBef>
                          <a:spcPct val="60000"/>
                        </a:spcBef>
                        <a:spcAft>
                          <a:spcPct val="0"/>
                        </a:spcAft>
                        <a:buClrTx/>
                        <a:buSzTx/>
                        <a:buFontTx/>
                        <a:buNone/>
                        <a:tabLst/>
                      </a:pPr>
                      <a:r>
                        <a:rPr kumimoji="1" lang="es-ES" sz="2000" b="0" i="0" u="none" strike="noStrike" cap="none" normalizeH="0" baseline="0" smtClean="0">
                          <a:ln>
                            <a:noFill/>
                          </a:ln>
                          <a:solidFill>
                            <a:srgbClr val="000099"/>
                          </a:solidFill>
                          <a:effectLst/>
                          <a:latin typeface="Calibri" pitchFamily="34" charset="0"/>
                        </a:rPr>
                        <a:t>343</a:t>
                      </a:r>
                      <a:r>
                        <a:rPr kumimoji="1" lang="es-PE" sz="2000" b="0" i="0" u="none" strike="noStrike" cap="none" normalizeH="0" baseline="0" smtClean="0">
                          <a:ln>
                            <a:noFill/>
                          </a:ln>
                          <a:solidFill>
                            <a:srgbClr val="000099"/>
                          </a:solidFill>
                          <a:effectLst/>
                          <a:latin typeface="Calibri" pitchFamily="34" charset="0"/>
                        </a:rPr>
                        <a:t> </a:t>
                      </a:r>
                    </a:p>
                  </a:txBody>
                  <a:tcPr marL="0" marR="0" marT="0" marB="0" anchorCtr="1"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tr>
              <a:tr h="430213">
                <a:tc>
                  <a:txBody>
                    <a:bodyPr/>
                    <a:lstStyle/>
                    <a:p>
                      <a:pPr marL="0" marR="0" lvl="0" indent="0" algn="l" defTabSz="914400" rtl="0" eaLnBrk="1" fontAlgn="base" latinLnBrk="0" hangingPunct="1">
                        <a:lnSpc>
                          <a:spcPct val="100000"/>
                        </a:lnSpc>
                        <a:spcBef>
                          <a:spcPct val="60000"/>
                        </a:spcBef>
                        <a:spcAft>
                          <a:spcPct val="0"/>
                        </a:spcAft>
                        <a:buClrTx/>
                        <a:buSzTx/>
                        <a:buFontTx/>
                        <a:buNone/>
                        <a:tabLst/>
                      </a:pPr>
                      <a:r>
                        <a:rPr kumimoji="1" lang="es-ES" sz="2000" b="0" i="0" u="none" strike="noStrike" cap="none" normalizeH="0" baseline="0" smtClean="0">
                          <a:ln>
                            <a:noFill/>
                          </a:ln>
                          <a:solidFill>
                            <a:schemeClr val="tx1"/>
                          </a:solidFill>
                          <a:effectLst/>
                          <a:latin typeface="Calibri" pitchFamily="34" charset="0"/>
                        </a:rPr>
                        <a:t>Hidrógeno (0°C)</a:t>
                      </a:r>
                      <a:r>
                        <a:rPr kumimoji="1" lang="es-PE" sz="2000" b="0" i="0" u="none" strike="noStrike" cap="none" normalizeH="0" baseline="0" smtClean="0">
                          <a:ln>
                            <a:noFill/>
                          </a:ln>
                          <a:solidFill>
                            <a:schemeClr val="tx1"/>
                          </a:solidFill>
                          <a:effectLst/>
                          <a:latin typeface="Calibri" pitchFamily="34" charset="0"/>
                        </a:rPr>
                        <a:t> </a:t>
                      </a:r>
                    </a:p>
                  </a:txBody>
                  <a:tcPr marL="0" marR="0" marT="0" marB="0" anchorCtr="1"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rgbClr val="0066CC"/>
                    </a:solidFill>
                  </a:tcPr>
                </a:tc>
                <a:tc>
                  <a:txBody>
                    <a:bodyPr/>
                    <a:lstStyle/>
                    <a:p>
                      <a:pPr marL="0" marR="0" lvl="0" indent="0" algn="ctr" defTabSz="914400" rtl="0" eaLnBrk="1" fontAlgn="base" latinLnBrk="0" hangingPunct="1">
                        <a:lnSpc>
                          <a:spcPct val="100000"/>
                        </a:lnSpc>
                        <a:spcBef>
                          <a:spcPct val="60000"/>
                        </a:spcBef>
                        <a:spcAft>
                          <a:spcPct val="0"/>
                        </a:spcAft>
                        <a:buClrTx/>
                        <a:buSzTx/>
                        <a:buFontTx/>
                        <a:buNone/>
                        <a:tabLst/>
                      </a:pPr>
                      <a:r>
                        <a:rPr kumimoji="1" lang="es-ES" sz="2000" b="0" i="0" u="none" strike="noStrike" cap="none" normalizeH="0" baseline="0" smtClean="0">
                          <a:ln>
                            <a:noFill/>
                          </a:ln>
                          <a:solidFill>
                            <a:srgbClr val="000099"/>
                          </a:solidFill>
                          <a:effectLst/>
                          <a:latin typeface="Calibri" pitchFamily="34" charset="0"/>
                        </a:rPr>
                        <a:t>1 286</a:t>
                      </a:r>
                      <a:r>
                        <a:rPr kumimoji="1" lang="es-PE" sz="2000" b="0" i="0" u="none" strike="noStrike" cap="none" normalizeH="0" baseline="0" smtClean="0">
                          <a:ln>
                            <a:noFill/>
                          </a:ln>
                          <a:solidFill>
                            <a:srgbClr val="000099"/>
                          </a:solidFill>
                          <a:effectLst/>
                          <a:latin typeface="Calibri" pitchFamily="34" charset="0"/>
                        </a:rPr>
                        <a:t> </a:t>
                      </a:r>
                    </a:p>
                  </a:txBody>
                  <a:tcPr marL="0" marR="0" marT="0" marB="0" anchorCtr="1"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tr>
              <a:tr h="431800">
                <a:tc>
                  <a:txBody>
                    <a:bodyPr/>
                    <a:lstStyle/>
                    <a:p>
                      <a:pPr marL="0" marR="0" lvl="0" indent="0" algn="l" defTabSz="914400" rtl="0" eaLnBrk="1" fontAlgn="base" latinLnBrk="0" hangingPunct="1">
                        <a:lnSpc>
                          <a:spcPct val="100000"/>
                        </a:lnSpc>
                        <a:spcBef>
                          <a:spcPct val="60000"/>
                        </a:spcBef>
                        <a:spcAft>
                          <a:spcPct val="0"/>
                        </a:spcAft>
                        <a:buClrTx/>
                        <a:buSzTx/>
                        <a:buFontTx/>
                        <a:buNone/>
                        <a:tabLst/>
                      </a:pPr>
                      <a:r>
                        <a:rPr kumimoji="1" lang="es-ES" sz="2000" b="0" i="0" u="none" strike="noStrike" cap="none" normalizeH="0" baseline="0" smtClean="0">
                          <a:ln>
                            <a:noFill/>
                          </a:ln>
                          <a:solidFill>
                            <a:schemeClr val="tx1"/>
                          </a:solidFill>
                          <a:effectLst/>
                          <a:latin typeface="Calibri" pitchFamily="34" charset="0"/>
                        </a:rPr>
                        <a:t>Agua (25°C)</a:t>
                      </a:r>
                      <a:r>
                        <a:rPr kumimoji="1" lang="es-PE" sz="2000" b="0" i="0" u="none" strike="noStrike" cap="none" normalizeH="0" baseline="0" smtClean="0">
                          <a:ln>
                            <a:noFill/>
                          </a:ln>
                          <a:solidFill>
                            <a:schemeClr val="tx1"/>
                          </a:solidFill>
                          <a:effectLst/>
                          <a:latin typeface="Calibri" pitchFamily="34" charset="0"/>
                        </a:rPr>
                        <a:t> </a:t>
                      </a:r>
                    </a:p>
                  </a:txBody>
                  <a:tcPr marL="0" marR="0" marT="0" marB="0" anchorCtr="1"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rgbClr val="0066CC"/>
                    </a:solidFill>
                  </a:tcPr>
                </a:tc>
                <a:tc>
                  <a:txBody>
                    <a:bodyPr/>
                    <a:lstStyle/>
                    <a:p>
                      <a:pPr marL="0" marR="0" lvl="0" indent="0" algn="ctr" defTabSz="914400" rtl="0" eaLnBrk="1" fontAlgn="base" latinLnBrk="0" hangingPunct="1">
                        <a:lnSpc>
                          <a:spcPct val="100000"/>
                        </a:lnSpc>
                        <a:spcBef>
                          <a:spcPct val="60000"/>
                        </a:spcBef>
                        <a:spcAft>
                          <a:spcPct val="0"/>
                        </a:spcAft>
                        <a:buClrTx/>
                        <a:buSzTx/>
                        <a:buFontTx/>
                        <a:buNone/>
                        <a:tabLst/>
                      </a:pPr>
                      <a:r>
                        <a:rPr kumimoji="1" lang="es-ES" sz="2000" b="0" i="0" u="none" strike="noStrike" cap="none" normalizeH="0" baseline="0" smtClean="0">
                          <a:ln>
                            <a:noFill/>
                          </a:ln>
                          <a:solidFill>
                            <a:srgbClr val="000099"/>
                          </a:solidFill>
                          <a:effectLst/>
                          <a:latin typeface="Calibri" pitchFamily="34" charset="0"/>
                        </a:rPr>
                        <a:t>1 500</a:t>
                      </a:r>
                      <a:endParaRPr kumimoji="1" lang="es-PE" sz="2000" b="0" i="0" u="none" strike="noStrike" cap="none" normalizeH="0" baseline="0" smtClean="0">
                        <a:ln>
                          <a:noFill/>
                        </a:ln>
                        <a:solidFill>
                          <a:srgbClr val="000099"/>
                        </a:solidFill>
                        <a:effectLst/>
                        <a:latin typeface="Calibri" pitchFamily="34" charset="0"/>
                      </a:endParaRPr>
                    </a:p>
                  </a:txBody>
                  <a:tcPr marL="0" marR="0" marT="0" marB="0" anchorCtr="1"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tr>
              <a:tr h="430213">
                <a:tc>
                  <a:txBody>
                    <a:bodyPr/>
                    <a:lstStyle/>
                    <a:p>
                      <a:pPr marL="0" marR="0" lvl="0" indent="0" algn="l" defTabSz="914400" rtl="0" eaLnBrk="1" fontAlgn="base" latinLnBrk="0" hangingPunct="1">
                        <a:lnSpc>
                          <a:spcPct val="100000"/>
                        </a:lnSpc>
                        <a:spcBef>
                          <a:spcPct val="60000"/>
                        </a:spcBef>
                        <a:spcAft>
                          <a:spcPct val="0"/>
                        </a:spcAft>
                        <a:buClrTx/>
                        <a:buSzTx/>
                        <a:buFontTx/>
                        <a:buNone/>
                        <a:tabLst/>
                      </a:pPr>
                      <a:r>
                        <a:rPr kumimoji="1" lang="es-ES" sz="2000" b="0" i="0" u="none" strike="noStrike" cap="none" normalizeH="0" baseline="0" smtClean="0">
                          <a:ln>
                            <a:noFill/>
                          </a:ln>
                          <a:solidFill>
                            <a:schemeClr val="tx1"/>
                          </a:solidFill>
                          <a:effectLst/>
                          <a:latin typeface="Calibri" pitchFamily="34" charset="0"/>
                        </a:rPr>
                        <a:t>Mercurio </a:t>
                      </a:r>
                      <a:r>
                        <a:rPr kumimoji="1" lang="es-PE" sz="2000" b="0" i="0" u="none" strike="noStrike" cap="none" normalizeH="0" baseline="0" smtClean="0">
                          <a:ln>
                            <a:noFill/>
                          </a:ln>
                          <a:solidFill>
                            <a:schemeClr val="tx1"/>
                          </a:solidFill>
                          <a:effectLst/>
                          <a:latin typeface="Calibri" pitchFamily="34" charset="0"/>
                        </a:rPr>
                        <a:t> </a:t>
                      </a:r>
                    </a:p>
                  </a:txBody>
                  <a:tcPr marL="0" marR="0" marT="0" marB="0" anchorCtr="1"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rgbClr val="0066CC"/>
                    </a:solidFill>
                  </a:tcPr>
                </a:tc>
                <a:tc>
                  <a:txBody>
                    <a:bodyPr/>
                    <a:lstStyle/>
                    <a:p>
                      <a:pPr marL="0" marR="0" lvl="0" indent="0" algn="ctr" defTabSz="914400" rtl="0" eaLnBrk="1" fontAlgn="base" latinLnBrk="0" hangingPunct="1">
                        <a:lnSpc>
                          <a:spcPct val="100000"/>
                        </a:lnSpc>
                        <a:spcBef>
                          <a:spcPct val="60000"/>
                        </a:spcBef>
                        <a:spcAft>
                          <a:spcPct val="0"/>
                        </a:spcAft>
                        <a:buClrTx/>
                        <a:buSzTx/>
                        <a:buFontTx/>
                        <a:buNone/>
                        <a:tabLst/>
                      </a:pPr>
                      <a:r>
                        <a:rPr kumimoji="1" lang="es-ES" sz="2000" b="0" i="0" u="none" strike="noStrike" cap="none" normalizeH="0" baseline="0" smtClean="0">
                          <a:ln>
                            <a:noFill/>
                          </a:ln>
                          <a:solidFill>
                            <a:srgbClr val="000099"/>
                          </a:solidFill>
                          <a:effectLst/>
                          <a:latin typeface="Calibri" pitchFamily="34" charset="0"/>
                        </a:rPr>
                        <a:t>1 400</a:t>
                      </a:r>
                      <a:endParaRPr kumimoji="1" lang="es-PE" sz="2000" b="0" i="0" u="none" strike="noStrike" cap="none" normalizeH="0" baseline="0" smtClean="0">
                        <a:ln>
                          <a:noFill/>
                        </a:ln>
                        <a:solidFill>
                          <a:srgbClr val="000099"/>
                        </a:solidFill>
                        <a:effectLst/>
                        <a:latin typeface="Calibri" pitchFamily="34" charset="0"/>
                      </a:endParaRPr>
                    </a:p>
                  </a:txBody>
                  <a:tcPr marL="0" marR="0" marT="0" marB="0" anchorCtr="1"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tr>
              <a:tr h="430213">
                <a:tc>
                  <a:txBody>
                    <a:bodyPr/>
                    <a:lstStyle/>
                    <a:p>
                      <a:pPr marL="0" marR="0" lvl="0" indent="0" algn="l" defTabSz="914400" rtl="0" eaLnBrk="1" fontAlgn="base" latinLnBrk="0" hangingPunct="1">
                        <a:lnSpc>
                          <a:spcPct val="100000"/>
                        </a:lnSpc>
                        <a:spcBef>
                          <a:spcPct val="60000"/>
                        </a:spcBef>
                        <a:spcAft>
                          <a:spcPct val="0"/>
                        </a:spcAft>
                        <a:buClrTx/>
                        <a:buSzTx/>
                        <a:buFontTx/>
                        <a:buNone/>
                        <a:tabLst/>
                      </a:pPr>
                      <a:r>
                        <a:rPr kumimoji="1" lang="es-ES" sz="2000" b="0" i="0" u="none" strike="noStrike" cap="none" normalizeH="0" baseline="0" smtClean="0">
                          <a:ln>
                            <a:noFill/>
                          </a:ln>
                          <a:solidFill>
                            <a:schemeClr val="tx1"/>
                          </a:solidFill>
                          <a:effectLst/>
                          <a:latin typeface="Calibri" pitchFamily="34" charset="0"/>
                        </a:rPr>
                        <a:t>Aluminio</a:t>
                      </a:r>
                      <a:r>
                        <a:rPr kumimoji="1" lang="es-PE" sz="2000" b="0" i="0" u="none" strike="noStrike" cap="none" normalizeH="0" baseline="0" smtClean="0">
                          <a:ln>
                            <a:noFill/>
                          </a:ln>
                          <a:solidFill>
                            <a:schemeClr val="tx1"/>
                          </a:solidFill>
                          <a:effectLst/>
                          <a:latin typeface="Calibri" pitchFamily="34" charset="0"/>
                        </a:rPr>
                        <a:t> </a:t>
                      </a:r>
                    </a:p>
                  </a:txBody>
                  <a:tcPr marL="0" marR="0" marT="0" marB="0" anchorCtr="1"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rgbClr val="0066CC"/>
                    </a:solidFill>
                  </a:tcPr>
                </a:tc>
                <a:tc>
                  <a:txBody>
                    <a:bodyPr/>
                    <a:lstStyle/>
                    <a:p>
                      <a:pPr marL="0" marR="0" lvl="0" indent="0" algn="ctr" defTabSz="914400" rtl="0" eaLnBrk="1" fontAlgn="base" latinLnBrk="0" hangingPunct="1">
                        <a:lnSpc>
                          <a:spcPct val="100000"/>
                        </a:lnSpc>
                        <a:spcBef>
                          <a:spcPct val="60000"/>
                        </a:spcBef>
                        <a:spcAft>
                          <a:spcPct val="0"/>
                        </a:spcAft>
                        <a:buClrTx/>
                        <a:buSzTx/>
                        <a:buFontTx/>
                        <a:buNone/>
                        <a:tabLst/>
                      </a:pPr>
                      <a:r>
                        <a:rPr kumimoji="1" lang="es-ES" sz="2000" b="0" i="0" u="none" strike="noStrike" cap="none" normalizeH="0" baseline="0" smtClean="0">
                          <a:ln>
                            <a:noFill/>
                          </a:ln>
                          <a:solidFill>
                            <a:srgbClr val="000099"/>
                          </a:solidFill>
                          <a:effectLst/>
                          <a:latin typeface="Calibri" pitchFamily="34" charset="0"/>
                        </a:rPr>
                        <a:t>5 100</a:t>
                      </a:r>
                      <a:r>
                        <a:rPr kumimoji="1" lang="es-PE" sz="2000" b="0" i="0" u="none" strike="noStrike" cap="none" normalizeH="0" baseline="0" smtClean="0">
                          <a:ln>
                            <a:noFill/>
                          </a:ln>
                          <a:solidFill>
                            <a:srgbClr val="000099"/>
                          </a:solidFill>
                          <a:effectLst/>
                          <a:latin typeface="Calibri" pitchFamily="34" charset="0"/>
                        </a:rPr>
                        <a:t> </a:t>
                      </a:r>
                    </a:p>
                  </a:txBody>
                  <a:tcPr marL="0" marR="0" marT="0" marB="0" anchorCtr="1"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tr>
              <a:tr h="431800">
                <a:tc>
                  <a:txBody>
                    <a:bodyPr/>
                    <a:lstStyle/>
                    <a:p>
                      <a:pPr marL="0" marR="0" lvl="0" indent="0" algn="l" defTabSz="914400" rtl="0" eaLnBrk="1" fontAlgn="base" latinLnBrk="0" hangingPunct="1">
                        <a:lnSpc>
                          <a:spcPct val="100000"/>
                        </a:lnSpc>
                        <a:spcBef>
                          <a:spcPct val="60000"/>
                        </a:spcBef>
                        <a:spcAft>
                          <a:spcPct val="0"/>
                        </a:spcAft>
                        <a:buClrTx/>
                        <a:buSzTx/>
                        <a:buFontTx/>
                        <a:buNone/>
                        <a:tabLst/>
                      </a:pPr>
                      <a:r>
                        <a:rPr kumimoji="1" lang="es-ES" sz="2000" b="0" i="0" u="none" strike="noStrike" cap="none" normalizeH="0" baseline="0" smtClean="0">
                          <a:ln>
                            <a:noFill/>
                          </a:ln>
                          <a:solidFill>
                            <a:schemeClr val="tx1"/>
                          </a:solidFill>
                          <a:effectLst/>
                          <a:latin typeface="Calibri" pitchFamily="34" charset="0"/>
                        </a:rPr>
                        <a:t>Cobre</a:t>
                      </a:r>
                      <a:r>
                        <a:rPr kumimoji="1" lang="es-PE" sz="2000" b="0" i="0" u="none" strike="noStrike" cap="none" normalizeH="0" baseline="0" smtClean="0">
                          <a:ln>
                            <a:noFill/>
                          </a:ln>
                          <a:solidFill>
                            <a:schemeClr val="tx1"/>
                          </a:solidFill>
                          <a:effectLst/>
                          <a:latin typeface="Calibri" pitchFamily="34" charset="0"/>
                        </a:rPr>
                        <a:t> </a:t>
                      </a:r>
                    </a:p>
                  </a:txBody>
                  <a:tcPr marL="0" marR="0" marT="0" marB="0" anchorCtr="1"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rgbClr val="0066CC"/>
                    </a:solidFill>
                  </a:tcPr>
                </a:tc>
                <a:tc>
                  <a:txBody>
                    <a:bodyPr/>
                    <a:lstStyle/>
                    <a:p>
                      <a:pPr marL="0" marR="0" lvl="0" indent="0" algn="ctr" defTabSz="914400" rtl="0" eaLnBrk="1" fontAlgn="base" latinLnBrk="0" hangingPunct="1">
                        <a:lnSpc>
                          <a:spcPct val="100000"/>
                        </a:lnSpc>
                        <a:spcBef>
                          <a:spcPct val="60000"/>
                        </a:spcBef>
                        <a:spcAft>
                          <a:spcPct val="0"/>
                        </a:spcAft>
                        <a:buClrTx/>
                        <a:buSzTx/>
                        <a:buFontTx/>
                        <a:buNone/>
                        <a:tabLst/>
                      </a:pPr>
                      <a:r>
                        <a:rPr kumimoji="1" lang="es-ES" sz="2000" b="0" i="0" u="none" strike="noStrike" cap="none" normalizeH="0" baseline="0" smtClean="0">
                          <a:ln>
                            <a:noFill/>
                          </a:ln>
                          <a:solidFill>
                            <a:srgbClr val="000099"/>
                          </a:solidFill>
                          <a:effectLst/>
                          <a:latin typeface="Calibri" pitchFamily="34" charset="0"/>
                        </a:rPr>
                        <a:t>3 560</a:t>
                      </a:r>
                      <a:r>
                        <a:rPr kumimoji="1" lang="es-PE" sz="2000" b="0" i="0" u="none" strike="noStrike" cap="none" normalizeH="0" baseline="0" smtClean="0">
                          <a:ln>
                            <a:noFill/>
                          </a:ln>
                          <a:solidFill>
                            <a:srgbClr val="000099"/>
                          </a:solidFill>
                          <a:effectLst/>
                          <a:latin typeface="Calibri" pitchFamily="34" charset="0"/>
                        </a:rPr>
                        <a:t> </a:t>
                      </a:r>
                    </a:p>
                  </a:txBody>
                  <a:tcPr marL="0" marR="0" marT="0" marB="0" anchorCtr="1"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tr>
              <a:tr h="430213">
                <a:tc>
                  <a:txBody>
                    <a:bodyPr/>
                    <a:lstStyle/>
                    <a:p>
                      <a:pPr marL="0" marR="0" lvl="0" indent="0" algn="l" defTabSz="914400" rtl="0" eaLnBrk="1" fontAlgn="base" latinLnBrk="0" hangingPunct="1">
                        <a:lnSpc>
                          <a:spcPct val="100000"/>
                        </a:lnSpc>
                        <a:spcBef>
                          <a:spcPct val="60000"/>
                        </a:spcBef>
                        <a:spcAft>
                          <a:spcPct val="0"/>
                        </a:spcAft>
                        <a:buClrTx/>
                        <a:buSzTx/>
                        <a:buFontTx/>
                        <a:buNone/>
                        <a:tabLst/>
                      </a:pPr>
                      <a:r>
                        <a:rPr kumimoji="1" lang="es-ES" sz="2000" b="0" i="0" u="none" strike="noStrike" cap="none" normalizeH="0" baseline="0" smtClean="0">
                          <a:ln>
                            <a:noFill/>
                          </a:ln>
                          <a:solidFill>
                            <a:schemeClr val="tx1"/>
                          </a:solidFill>
                          <a:effectLst/>
                          <a:latin typeface="Calibri" pitchFamily="34" charset="0"/>
                        </a:rPr>
                        <a:t>Acero</a:t>
                      </a:r>
                      <a:r>
                        <a:rPr kumimoji="1" lang="es-PE" sz="2000" b="0" i="0" u="none" strike="noStrike" cap="none" normalizeH="0" baseline="0" smtClean="0">
                          <a:ln>
                            <a:noFill/>
                          </a:ln>
                          <a:solidFill>
                            <a:schemeClr val="tx1"/>
                          </a:solidFill>
                          <a:effectLst/>
                          <a:latin typeface="Calibri" pitchFamily="34" charset="0"/>
                        </a:rPr>
                        <a:t> </a:t>
                      </a:r>
                    </a:p>
                  </a:txBody>
                  <a:tcPr marL="0" marR="0" marT="0" marB="0" anchorCtr="1"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rgbClr val="0066CC"/>
                    </a:solidFill>
                  </a:tcPr>
                </a:tc>
                <a:tc>
                  <a:txBody>
                    <a:bodyPr/>
                    <a:lstStyle/>
                    <a:p>
                      <a:pPr marL="0" marR="0" lvl="0" indent="0" algn="ctr" defTabSz="914400" rtl="0" eaLnBrk="1" fontAlgn="base" latinLnBrk="0" hangingPunct="1">
                        <a:lnSpc>
                          <a:spcPct val="100000"/>
                        </a:lnSpc>
                        <a:spcBef>
                          <a:spcPct val="60000"/>
                        </a:spcBef>
                        <a:spcAft>
                          <a:spcPct val="0"/>
                        </a:spcAft>
                        <a:buClrTx/>
                        <a:buSzTx/>
                        <a:buFontTx/>
                        <a:buNone/>
                        <a:tabLst/>
                      </a:pPr>
                      <a:r>
                        <a:rPr kumimoji="1" lang="es-ES" sz="2000" b="0" i="0" u="none" strike="noStrike" cap="none" normalizeH="0" baseline="0" dirty="0" smtClean="0">
                          <a:ln>
                            <a:noFill/>
                          </a:ln>
                          <a:solidFill>
                            <a:srgbClr val="000099"/>
                          </a:solidFill>
                          <a:effectLst/>
                          <a:latin typeface="Calibri" pitchFamily="34" charset="0"/>
                        </a:rPr>
                        <a:t>5 130</a:t>
                      </a:r>
                      <a:r>
                        <a:rPr kumimoji="1" lang="es-PE" sz="2000" b="0" i="0" u="none" strike="noStrike" cap="none" normalizeH="0" baseline="0" dirty="0" smtClean="0">
                          <a:ln>
                            <a:noFill/>
                          </a:ln>
                          <a:solidFill>
                            <a:srgbClr val="000099"/>
                          </a:solidFill>
                          <a:effectLst/>
                          <a:latin typeface="Calibri" pitchFamily="34" charset="0"/>
                        </a:rPr>
                        <a:t> </a:t>
                      </a:r>
                    </a:p>
                  </a:txBody>
                  <a:tcPr marL="0" marR="0" marT="0" marB="0" anchorCtr="1"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tr>
            </a:tbl>
          </a:graphicData>
        </a:graphic>
      </p:graphicFrame>
      <p:graphicFrame>
        <p:nvGraphicFramePr>
          <p:cNvPr id="7" name="Object 6"/>
          <p:cNvGraphicFramePr>
            <a:graphicFrameLocks noChangeAspect="1"/>
          </p:cNvGraphicFramePr>
          <p:nvPr>
            <p:extLst>
              <p:ext uri="{D42A27DB-BD31-4B8C-83A1-F6EECF244321}">
                <p14:modId xmlns:p14="http://schemas.microsoft.com/office/powerpoint/2010/main" val="4167997194"/>
              </p:ext>
            </p:extLst>
          </p:nvPr>
        </p:nvGraphicFramePr>
        <p:xfrm>
          <a:off x="2771800" y="2568222"/>
          <a:ext cx="752475" cy="711200"/>
        </p:xfrm>
        <a:graphic>
          <a:graphicData uri="http://schemas.openxmlformats.org/presentationml/2006/ole">
            <mc:AlternateContent xmlns:mc="http://schemas.openxmlformats.org/markup-compatibility/2006">
              <mc:Choice xmlns:v="urn:schemas-microsoft-com:vml" Requires="v">
                <p:oleObj spid="_x0000_s14556" name="Equation" r:id="rId7" imgW="457200" imgH="431800" progId="">
                  <p:embed/>
                </p:oleObj>
              </mc:Choice>
              <mc:Fallback>
                <p:oleObj name="Equation" r:id="rId7" imgW="457200" imgH="431800" progId="">
                  <p:embed/>
                  <p:pic>
                    <p:nvPicPr>
                      <p:cNvPr id="0" name="Picture 3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71800" y="2568222"/>
                        <a:ext cx="752475" cy="711200"/>
                      </a:xfrm>
                      <a:prstGeom prst="rect">
                        <a:avLst/>
                      </a:prstGeom>
                      <a:solidFill>
                        <a:schemeClr val="accent1">
                          <a:lumMod val="75000"/>
                        </a:schemeClr>
                      </a:solidFill>
                    </p:spPr>
                  </p:pic>
                </p:oleObj>
              </mc:Fallback>
            </mc:AlternateContent>
          </a:graphicData>
        </a:graphic>
      </p:graphicFrame>
    </p:spTree>
    <p:extLst>
      <p:ext uri="{BB962C8B-B14F-4D97-AF65-F5344CB8AC3E}">
        <p14:creationId xmlns:p14="http://schemas.microsoft.com/office/powerpoint/2010/main" val="1268363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4 Título"/>
          <p:cNvSpPr>
            <a:spLocks noGrp="1"/>
          </p:cNvSpPr>
          <p:nvPr>
            <p:ph type="title"/>
          </p:nvPr>
        </p:nvSpPr>
        <p:spPr>
          <a:xfrm>
            <a:off x="1907704" y="981056"/>
            <a:ext cx="5328592" cy="546094"/>
          </a:xfrm>
        </p:spPr>
        <p:txBody>
          <a:bodyPr/>
          <a:lstStyle/>
          <a:p>
            <a:r>
              <a:rPr lang="es-PE" dirty="0" smtClean="0"/>
              <a:t>Rapidez del sonido en el aire</a:t>
            </a:r>
            <a:endParaRPr lang="es-PE" dirty="0"/>
          </a:p>
        </p:txBody>
      </p:sp>
      <p:sp>
        <p:nvSpPr>
          <p:cNvPr id="6" name="5 Marcador de contenido"/>
          <p:cNvSpPr>
            <a:spLocks noGrp="1"/>
          </p:cNvSpPr>
          <p:nvPr>
            <p:ph sz="half" idx="1"/>
          </p:nvPr>
        </p:nvSpPr>
        <p:spPr/>
        <p:txBody>
          <a:bodyPr/>
          <a:lstStyle/>
          <a:p>
            <a:pPr algn="just"/>
            <a:r>
              <a:rPr lang="es-PE" dirty="0"/>
              <a:t>También depende la velocidad del sonido en el aire de la temperatura del medio.</a:t>
            </a:r>
          </a:p>
          <a:p>
            <a:endParaRPr lang="es-PE" dirty="0"/>
          </a:p>
          <a:p>
            <a:r>
              <a:rPr lang="es-PE" dirty="0" smtClean="0"/>
              <a:t>La </a:t>
            </a:r>
            <a:r>
              <a:rPr lang="es-PE" dirty="0"/>
              <a:t>temperatura del aire se mide en grados centígrados.</a:t>
            </a:r>
            <a:endParaRPr lang="es-PE" b="1" dirty="0"/>
          </a:p>
          <a:p>
            <a:endParaRPr lang="es-PE" dirty="0"/>
          </a:p>
        </p:txBody>
      </p:sp>
      <p:graphicFrame>
        <p:nvGraphicFramePr>
          <p:cNvPr id="3" name="Object 7"/>
          <p:cNvGraphicFramePr>
            <a:graphicFrameLocks noChangeAspect="1"/>
          </p:cNvGraphicFramePr>
          <p:nvPr>
            <p:extLst>
              <p:ext uri="{D42A27DB-BD31-4B8C-83A1-F6EECF244321}">
                <p14:modId xmlns:p14="http://schemas.microsoft.com/office/powerpoint/2010/main" val="2675842068"/>
              </p:ext>
            </p:extLst>
          </p:nvPr>
        </p:nvGraphicFramePr>
        <p:xfrm>
          <a:off x="1421935" y="2752467"/>
          <a:ext cx="2232025" cy="458788"/>
        </p:xfrm>
        <a:graphic>
          <a:graphicData uri="http://schemas.openxmlformats.org/presentationml/2006/ole">
            <mc:AlternateContent xmlns:mc="http://schemas.openxmlformats.org/markup-compatibility/2006">
              <mc:Choice xmlns:v="urn:schemas-microsoft-com:vml" Requires="v">
                <p:oleObj spid="_x0000_s15439" name="Equation" r:id="rId3" imgW="927100" imgH="190500" progId="">
                  <p:embed/>
                </p:oleObj>
              </mc:Choice>
              <mc:Fallback>
                <p:oleObj name="Equation" r:id="rId3" imgW="927100" imgH="190500" progId="">
                  <p:embed/>
                  <p:pic>
                    <p:nvPicPr>
                      <p:cNvPr id="0" name="Picture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21935" y="2752467"/>
                        <a:ext cx="2232025" cy="458788"/>
                      </a:xfrm>
                      <a:prstGeom prst="rect">
                        <a:avLst/>
                      </a:prstGeom>
                      <a:solidFill>
                        <a:schemeClr val="accent1">
                          <a:lumMod val="75000"/>
                        </a:schemeClr>
                      </a:solidFill>
                    </p:spPr>
                  </p:pic>
                </p:oleObj>
              </mc:Fallback>
            </mc:AlternateContent>
          </a:graphicData>
        </a:graphic>
      </p:graphicFrame>
      <p:pic>
        <p:nvPicPr>
          <p:cNvPr id="15390" name="Picture 30" descr="http://2.bp.blogspot.com/-HhMgci3NRN8/TfVFwe-wvUI/AAAAAAAAABA/ks-NiGv27HM/s320/Dibujo.bmp"/>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51187" y="1916832"/>
            <a:ext cx="3481250" cy="1512168"/>
          </a:xfrm>
          <a:prstGeom prst="rect">
            <a:avLst/>
          </a:prstGeom>
          <a:noFill/>
          <a:extLst>
            <a:ext uri="{909E8E84-426E-40DD-AFC4-6F175D3DCCD1}">
              <a14:hiddenFill xmlns:a14="http://schemas.microsoft.com/office/drawing/2010/main">
                <a:solidFill>
                  <a:srgbClr val="FFFFFF"/>
                </a:solidFill>
              </a14:hiddenFill>
            </a:ext>
          </a:extLst>
        </p:spPr>
      </p:pic>
      <p:pic>
        <p:nvPicPr>
          <p:cNvPr id="15392" name="Picture 32" descr="http://www.labc.usb.ve/paginas/EC4514/AUDIO/Sonido/Recursos/GIF/image%20206.gif"/>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1247" y="3928105"/>
            <a:ext cx="4023603" cy="25202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759215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a:xfrm>
            <a:off x="1308101" y="709437"/>
            <a:ext cx="7315200" cy="1143000"/>
          </a:xfrm>
        </p:spPr>
        <p:txBody>
          <a:bodyPr/>
          <a:lstStyle/>
          <a:p>
            <a:pPr algn="ctr"/>
            <a:r>
              <a:rPr lang="es-MX" b="1" dirty="0"/>
              <a:t>El efecto </a:t>
            </a:r>
            <a:r>
              <a:rPr lang="es-MX" b="1" dirty="0" err="1"/>
              <a:t>Doppler</a:t>
            </a:r>
            <a:endParaRPr lang="es-MX" b="1" dirty="0"/>
          </a:p>
        </p:txBody>
      </p:sp>
      <p:sp>
        <p:nvSpPr>
          <p:cNvPr id="8" name="Text Box 4"/>
          <p:cNvSpPr txBox="1">
            <a:spLocks noChangeArrowheads="1"/>
          </p:cNvSpPr>
          <p:nvPr/>
        </p:nvSpPr>
        <p:spPr bwMode="auto">
          <a:xfrm>
            <a:off x="340197" y="1725494"/>
            <a:ext cx="8535516" cy="8002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tIns="91440" bIns="91440" anchor="ctr">
            <a:spAutoFit/>
          </a:bodyPr>
          <a:lstStyle/>
          <a:p>
            <a:pPr algn="just"/>
            <a:r>
              <a:rPr lang="es-MX" sz="2000" dirty="0"/>
              <a:t>El efecto </a:t>
            </a:r>
            <a:r>
              <a:rPr lang="es-MX" sz="2000" dirty="0" err="1"/>
              <a:t>Doppler</a:t>
            </a:r>
            <a:r>
              <a:rPr lang="es-MX" sz="2000" dirty="0"/>
              <a:t> se refiere al aparente cambio en frecuencia de un sonido cuando hay movimiento relativo de la fuente y el escucha.</a:t>
            </a:r>
          </a:p>
        </p:txBody>
      </p:sp>
      <p:graphicFrame>
        <p:nvGraphicFramePr>
          <p:cNvPr id="9" name="Object 5"/>
          <p:cNvGraphicFramePr>
            <a:graphicFrameLocks noChangeAspect="1"/>
          </p:cNvGraphicFramePr>
          <p:nvPr>
            <p:extLst>
              <p:ext uri="{D42A27DB-BD31-4B8C-83A1-F6EECF244321}">
                <p14:modId xmlns:p14="http://schemas.microsoft.com/office/powerpoint/2010/main" val="2774064303"/>
              </p:ext>
            </p:extLst>
          </p:nvPr>
        </p:nvGraphicFramePr>
        <p:xfrm>
          <a:off x="1308101" y="2705270"/>
          <a:ext cx="1003300" cy="938212"/>
        </p:xfrm>
        <a:graphic>
          <a:graphicData uri="http://schemas.openxmlformats.org/presentationml/2006/ole">
            <mc:AlternateContent xmlns:mc="http://schemas.openxmlformats.org/markup-compatibility/2006">
              <mc:Choice xmlns:v="urn:schemas-microsoft-com:vml" Requires="v">
                <p:oleObj spid="_x0000_s16398" name="Equation" r:id="rId5" imgW="419040" imgH="393480" progId="Equation.DSMT4">
                  <p:embed/>
                </p:oleObj>
              </mc:Choice>
              <mc:Fallback>
                <p:oleObj name="Equation" r:id="rId5" imgW="419040" imgH="39348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08101" y="2705270"/>
                        <a:ext cx="1003300" cy="938212"/>
                      </a:xfrm>
                      <a:prstGeom prst="rect">
                        <a:avLst/>
                      </a:prstGeom>
                      <a:solidFill>
                        <a:schemeClr val="accent1">
                          <a:lumMod val="75000"/>
                        </a:schemeClr>
                      </a:solidFill>
                      <a:ln>
                        <a:noFill/>
                      </a:ln>
                      <a:effectLst/>
                    </p:spPr>
                  </p:pic>
                </p:oleObj>
              </mc:Fallback>
            </mc:AlternateContent>
          </a:graphicData>
        </a:graphic>
      </p:graphicFrame>
      <p:sp>
        <p:nvSpPr>
          <p:cNvPr id="10" name="Text Box 6"/>
          <p:cNvSpPr txBox="1">
            <a:spLocks noChangeArrowheads="1"/>
          </p:cNvSpPr>
          <p:nvPr/>
        </p:nvSpPr>
        <p:spPr bwMode="auto">
          <a:xfrm>
            <a:off x="323529" y="5226089"/>
            <a:ext cx="3032446"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tIns="91440" bIns="91440" anchor="ctr">
            <a:spAutoFit/>
          </a:bodyPr>
          <a:lstStyle/>
          <a:p>
            <a:pPr algn="just"/>
            <a:r>
              <a:rPr lang="es-MX" sz="2000" dirty="0"/>
              <a:t>La persona derecha escucha mayor </a:t>
            </a:r>
            <a:r>
              <a:rPr lang="es-MX" sz="2000" i="1" dirty="0"/>
              <a:t>f</a:t>
            </a:r>
            <a:r>
              <a:rPr lang="es-MX" sz="2000" dirty="0"/>
              <a:t> debido a más corta </a:t>
            </a:r>
            <a:r>
              <a:rPr lang="es-MX" sz="2000" dirty="0">
                <a:latin typeface="Symbol" panose="05050102010706020507" pitchFamily="18" charset="2"/>
              </a:rPr>
              <a:t>l</a:t>
            </a:r>
          </a:p>
        </p:txBody>
      </p:sp>
      <p:sp>
        <p:nvSpPr>
          <p:cNvPr id="11" name="Text Box 7"/>
          <p:cNvSpPr txBox="1">
            <a:spLocks noChangeArrowheads="1"/>
          </p:cNvSpPr>
          <p:nvPr/>
        </p:nvSpPr>
        <p:spPr bwMode="auto">
          <a:xfrm>
            <a:off x="340197" y="3847652"/>
            <a:ext cx="3094360"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tIns="91440" bIns="91440" anchor="ctr">
            <a:spAutoFit/>
          </a:bodyPr>
          <a:lstStyle/>
          <a:p>
            <a:pPr algn="just"/>
            <a:r>
              <a:rPr lang="es-MX" sz="2000" dirty="0"/>
              <a:t>La persona izquierda escucha menor </a:t>
            </a:r>
            <a:r>
              <a:rPr lang="es-MX" sz="2000" i="1" dirty="0"/>
              <a:t>f</a:t>
            </a:r>
            <a:r>
              <a:rPr lang="es-MX" sz="2000" dirty="0"/>
              <a:t> debido a más larga </a:t>
            </a:r>
            <a:r>
              <a:rPr lang="es-MX" sz="2000" dirty="0">
                <a:latin typeface="Symbol" panose="05050102010706020507" pitchFamily="18" charset="2"/>
              </a:rPr>
              <a:t>l.</a:t>
            </a:r>
            <a:endParaRPr lang="es-MX" sz="2000" dirty="0"/>
          </a:p>
        </p:txBody>
      </p:sp>
      <p:grpSp>
        <p:nvGrpSpPr>
          <p:cNvPr id="12" name="Group 13"/>
          <p:cNvGrpSpPr>
            <a:grpSpLocks/>
          </p:cNvGrpSpPr>
          <p:nvPr/>
        </p:nvGrpSpPr>
        <p:grpSpPr bwMode="auto">
          <a:xfrm>
            <a:off x="3513138" y="2513013"/>
            <a:ext cx="5495925" cy="3865562"/>
            <a:chOff x="2213" y="1583"/>
            <a:chExt cx="3462" cy="2435"/>
          </a:xfrm>
        </p:grpSpPr>
        <p:grpSp>
          <p:nvGrpSpPr>
            <p:cNvPr id="13" name="Group 10"/>
            <p:cNvGrpSpPr>
              <a:grpSpLocks/>
            </p:cNvGrpSpPr>
            <p:nvPr/>
          </p:nvGrpSpPr>
          <p:grpSpPr bwMode="auto">
            <a:xfrm>
              <a:off x="2213" y="1583"/>
              <a:ext cx="3462" cy="2435"/>
              <a:chOff x="2213" y="1583"/>
              <a:chExt cx="3462" cy="2435"/>
            </a:xfrm>
          </p:grpSpPr>
          <p:pic>
            <p:nvPicPr>
              <p:cNvPr id="16"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13" y="1677"/>
                <a:ext cx="3378" cy="2341"/>
              </a:xfrm>
              <a:prstGeom prst="rect">
                <a:avLst/>
              </a:prstGeom>
              <a:noFill/>
              <a:ln w="9525">
                <a:solidFill>
                  <a:srgbClr val="000000"/>
                </a:solidFill>
                <a:miter lim="800000"/>
                <a:headEnd/>
                <a:tailEnd/>
              </a:ln>
              <a:effectLst>
                <a:outerShdw dist="107763" dir="2700000" algn="ctr" rotWithShape="0">
                  <a:schemeClr val="bg2"/>
                </a:outerShdw>
              </a:effectLst>
              <a:extLst>
                <a:ext uri="{909E8E84-426E-40DD-AFC4-6F175D3DCCD1}">
                  <a14:hiddenFill xmlns:a14="http://schemas.microsoft.com/office/drawing/2010/main">
                    <a:solidFill>
                      <a:schemeClr val="accent1"/>
                    </a:solidFill>
                  </a14:hiddenFill>
                </a:ext>
              </a:extLst>
            </p:spPr>
          </p:pic>
          <p:sp>
            <p:nvSpPr>
              <p:cNvPr id="17" name="Text Box 8"/>
              <p:cNvSpPr txBox="1">
                <a:spLocks noChangeArrowheads="1"/>
              </p:cNvSpPr>
              <p:nvPr/>
            </p:nvSpPr>
            <p:spPr bwMode="auto">
              <a:xfrm>
                <a:off x="2297" y="1583"/>
                <a:ext cx="3378" cy="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91440" bIns="91440" anchor="ctr">
                <a:spAutoFit/>
              </a:bodyPr>
              <a:lstStyle/>
              <a:p>
                <a:pPr algn="ctr"/>
                <a:r>
                  <a:rPr lang="es-MX">
                    <a:solidFill>
                      <a:srgbClr val="000000"/>
                    </a:solidFill>
                  </a:rPr>
                  <a:t>Fuente sonora se mueve con </a:t>
                </a:r>
                <a:r>
                  <a:rPr lang="es-MX" i="1">
                    <a:solidFill>
                      <a:srgbClr val="000000"/>
                    </a:solidFill>
                  </a:rPr>
                  <a:t>v</a:t>
                </a:r>
                <a:r>
                  <a:rPr lang="es-MX" i="1" baseline="-25000">
                    <a:solidFill>
                      <a:srgbClr val="000000"/>
                    </a:solidFill>
                  </a:rPr>
                  <a:t>s</a:t>
                </a:r>
                <a:endParaRPr lang="es-MX"/>
              </a:p>
            </p:txBody>
          </p:sp>
          <p:sp>
            <p:nvSpPr>
              <p:cNvPr id="18" name="Text Box 9"/>
              <p:cNvSpPr txBox="1">
                <a:spLocks noChangeArrowheads="1"/>
              </p:cNvSpPr>
              <p:nvPr/>
            </p:nvSpPr>
            <p:spPr bwMode="auto">
              <a:xfrm>
                <a:off x="2297" y="3661"/>
                <a:ext cx="3294" cy="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91440" bIns="91440" anchor="ctr">
                <a:spAutoFit/>
              </a:bodyPr>
              <a:lstStyle/>
              <a:p>
                <a:pPr algn="ctr"/>
                <a:r>
                  <a:rPr lang="es-MX" sz="2400">
                    <a:solidFill>
                      <a:srgbClr val="000000"/>
                    </a:solidFill>
                  </a:rPr>
                  <a:t>El movimiento afecta la </a:t>
                </a:r>
                <a:r>
                  <a:rPr lang="es-MX" sz="2400" i="1">
                    <a:solidFill>
                      <a:srgbClr val="000000"/>
                    </a:solidFill>
                  </a:rPr>
                  <a:t>f</a:t>
                </a:r>
                <a:r>
                  <a:rPr lang="es-MX" sz="2400" i="1" baseline="-25000">
                    <a:solidFill>
                      <a:srgbClr val="000000"/>
                    </a:solidFill>
                  </a:rPr>
                  <a:t>0 </a:t>
                </a:r>
                <a:r>
                  <a:rPr lang="es-MX" sz="2400">
                    <a:solidFill>
                      <a:srgbClr val="000000"/>
                    </a:solidFill>
                  </a:rPr>
                  <a:t>aparente.</a:t>
                </a:r>
              </a:p>
            </p:txBody>
          </p:sp>
        </p:grpSp>
        <p:sp>
          <p:nvSpPr>
            <p:cNvPr id="14" name="Text Box 11"/>
            <p:cNvSpPr txBox="1">
              <a:spLocks noChangeArrowheads="1"/>
            </p:cNvSpPr>
            <p:nvPr/>
          </p:nvSpPr>
          <p:spPr bwMode="auto">
            <a:xfrm>
              <a:off x="2528" y="2078"/>
              <a:ext cx="600" cy="308"/>
            </a:xfrm>
            <a:prstGeom prst="rect">
              <a:avLst/>
            </a:prstGeom>
            <a:solidFill>
              <a:srgbClr val="FFFFA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91440" bIns="91440">
              <a:spAutoFit/>
            </a:bodyPr>
            <a:lstStyle/>
            <a:p>
              <a:r>
                <a:rPr lang="es-MX" sz="1000" b="1">
                  <a:solidFill>
                    <a:srgbClr val="000000"/>
                  </a:solidFill>
                </a:rPr>
                <a:t>Observador estacionario</a:t>
              </a:r>
            </a:p>
          </p:txBody>
        </p:sp>
        <p:sp>
          <p:nvSpPr>
            <p:cNvPr id="15" name="Text Box 12"/>
            <p:cNvSpPr txBox="1">
              <a:spLocks noChangeArrowheads="1"/>
            </p:cNvSpPr>
            <p:nvPr/>
          </p:nvSpPr>
          <p:spPr bwMode="auto">
            <a:xfrm>
              <a:off x="4884" y="2054"/>
              <a:ext cx="600" cy="308"/>
            </a:xfrm>
            <a:prstGeom prst="rect">
              <a:avLst/>
            </a:prstGeom>
            <a:solidFill>
              <a:srgbClr val="FFFFA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91440" bIns="91440">
              <a:spAutoFit/>
            </a:bodyPr>
            <a:lstStyle/>
            <a:p>
              <a:r>
                <a:rPr lang="es-MX" sz="1000" b="1">
                  <a:solidFill>
                    <a:srgbClr val="000000"/>
                  </a:solidFill>
                </a:rPr>
                <a:t>Observador estacionario</a:t>
              </a:r>
            </a:p>
          </p:txBody>
        </p:sp>
      </p:grpSp>
    </p:spTree>
    <p:extLst>
      <p:ext uri="{BB962C8B-B14F-4D97-AF65-F5344CB8AC3E}">
        <p14:creationId xmlns:p14="http://schemas.microsoft.com/office/powerpoint/2010/main" val="1962476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out)">
                                      <p:cBhvr>
                                        <p:cTn id="7" dur="500"/>
                                        <p:tgtEl>
                                          <p:spTgt spid="7"/>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500"/>
                                        <p:tgtEl>
                                          <p:spTgt spid="8"/>
                                        </p:tgtEl>
                                      </p:cBhvr>
                                    </p:animEffect>
                                  </p:childTnLst>
                                  <p:subTnLst>
                                    <p:audio>
                                      <p:cMediaNode>
                                        <p:cTn display="0" masterRel="sameClick">
                                          <p:stCondLst>
                                            <p:cond evt="begin" delay="0">
                                              <p:tn val="9"/>
                                            </p:cond>
                                          </p:stCondLst>
                                          <p:endCondLst>
                                            <p:cond evt="onStopAudio" delay="0">
                                              <p:tgtEl>
                                                <p:sldTgt/>
                                              </p:tgtEl>
                                            </p:cond>
                                          </p:endCondLst>
                                        </p:cTn>
                                        <p:tgtEl>
                                          <p:sndTgt r:embed="rId4" name="WHOOSH.WAV"/>
                                        </p:tgtEl>
                                      </p:cMediaNode>
                                    </p:audio>
                                  </p:subTnLst>
                                </p:cTn>
                              </p:par>
                            </p:childTnLst>
                          </p:cTn>
                        </p:par>
                      </p:childTnLst>
                    </p:cTn>
                  </p:par>
                  <p:par>
                    <p:cTn id="12" fill="hold">
                      <p:stCondLst>
                        <p:cond delay="indefinite"/>
                      </p:stCondLst>
                      <p:childTnLst>
                        <p:par>
                          <p:cTn id="13" fill="hold">
                            <p:stCondLst>
                              <p:cond delay="0"/>
                            </p:stCondLst>
                            <p:childTnLst>
                              <p:par>
                                <p:cTn id="14" presetID="2" presetClass="entr" presetSubtype="9" fill="hold" nodeType="clickEffect">
                                  <p:stCondLst>
                                    <p:cond delay="0"/>
                                  </p:stCondLst>
                                  <p:childTnLst>
                                    <p:set>
                                      <p:cBhvr>
                                        <p:cTn id="15" dur="1" fill="hold">
                                          <p:stCondLst>
                                            <p:cond delay="0"/>
                                          </p:stCondLst>
                                        </p:cTn>
                                        <p:tgtEl>
                                          <p:spTgt spid="12"/>
                                        </p:tgtEl>
                                        <p:attrNameLst>
                                          <p:attrName>style.visibility</p:attrName>
                                        </p:attrNameLst>
                                      </p:cBhvr>
                                      <p:to>
                                        <p:strVal val="visible"/>
                                      </p:to>
                                    </p:set>
                                    <p:anim calcmode="lin" valueType="num">
                                      <p:cBhvr additive="base">
                                        <p:cTn id="16" dur="500" fill="hold"/>
                                        <p:tgtEl>
                                          <p:spTgt spid="12"/>
                                        </p:tgtEl>
                                        <p:attrNameLst>
                                          <p:attrName>ppt_x</p:attrName>
                                        </p:attrNameLst>
                                      </p:cBhvr>
                                      <p:tavLst>
                                        <p:tav tm="0">
                                          <p:val>
                                            <p:strVal val="0-#ppt_w/2"/>
                                          </p:val>
                                        </p:tav>
                                        <p:tav tm="100000">
                                          <p:val>
                                            <p:strVal val="#ppt_x"/>
                                          </p:val>
                                        </p:tav>
                                      </p:tavLst>
                                    </p:anim>
                                    <p:anim calcmode="lin" valueType="num">
                                      <p:cBhvr additive="base">
                                        <p:cTn id="17" dur="500" fill="hold"/>
                                        <p:tgtEl>
                                          <p:spTgt spid="12"/>
                                        </p:tgtEl>
                                        <p:attrNameLst>
                                          <p:attrName>ppt_y</p:attrName>
                                        </p:attrNameLst>
                                      </p:cBhvr>
                                      <p:tavLst>
                                        <p:tav tm="0">
                                          <p:val>
                                            <p:strVal val="0-#ppt_h/2"/>
                                          </p:val>
                                        </p:tav>
                                        <p:tav tm="100000">
                                          <p:val>
                                            <p:strVal val="#ppt_y"/>
                                          </p:val>
                                        </p:tav>
                                      </p:tavLst>
                                    </p:anim>
                                  </p:childTnLst>
                                </p:cTn>
                              </p:par>
                            </p:childTnLst>
                          </p:cTn>
                        </p:par>
                        <p:par>
                          <p:cTn id="18" fill="hold">
                            <p:stCondLst>
                              <p:cond delay="500"/>
                            </p:stCondLst>
                            <p:childTnLst>
                              <p:par>
                                <p:cTn id="19" presetID="2" presetClass="entr" presetSubtype="9" fill="hold" nodeType="after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additive="base">
                                        <p:cTn id="21" dur="500" fill="hold"/>
                                        <p:tgtEl>
                                          <p:spTgt spid="9"/>
                                        </p:tgtEl>
                                        <p:attrNameLst>
                                          <p:attrName>ppt_x</p:attrName>
                                        </p:attrNameLst>
                                      </p:cBhvr>
                                      <p:tavLst>
                                        <p:tav tm="0">
                                          <p:val>
                                            <p:strVal val="0-#ppt_w/2"/>
                                          </p:val>
                                        </p:tav>
                                        <p:tav tm="100000">
                                          <p:val>
                                            <p:strVal val="#ppt_x"/>
                                          </p:val>
                                        </p:tav>
                                      </p:tavLst>
                                    </p:anim>
                                    <p:anim calcmode="lin" valueType="num">
                                      <p:cBhvr additive="base">
                                        <p:cTn id="22" dur="500" fill="hold"/>
                                        <p:tgtEl>
                                          <p:spTgt spid="9"/>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19"/>
                                            </p:cond>
                                          </p:stCondLst>
                                          <p:endCondLst>
                                            <p:cond evt="onStopAudio" delay="0">
                                              <p:tgtEl>
                                                <p:sldTgt/>
                                              </p:tgtEl>
                                            </p:cond>
                                          </p:endCondLst>
                                        </p:cTn>
                                        <p:tgtEl>
                                          <p:sndTgt r:embed="rId4" name="WHOOSH.WAV"/>
                                        </p:tgtEl>
                                      </p:cMediaNode>
                                    </p:audio>
                                  </p:sub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dissolve">
                                      <p:cBhvr>
                                        <p:cTn id="27" dur="500"/>
                                        <p:tgtEl>
                                          <p:spTgt spid="11"/>
                                        </p:tgtEl>
                                      </p:cBhvr>
                                    </p:animEffect>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dissolve">
                                      <p:cBhvr>
                                        <p:cTn id="32" dur="500"/>
                                        <p:tgtEl>
                                          <p:spTgt spid="10"/>
                                        </p:tgtEl>
                                      </p:cBhvr>
                                    </p:animEffect>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p:bldP spid="8" grpId="0" autoUpdateAnimBg="0"/>
      <p:bldP spid="10" grpId="0" autoUpdateAnimBg="0"/>
      <p:bldP spid="11"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a:xfrm>
            <a:off x="1763688" y="596902"/>
            <a:ext cx="7705725" cy="1143000"/>
          </a:xfrm>
        </p:spPr>
        <p:txBody>
          <a:bodyPr/>
          <a:lstStyle/>
          <a:p>
            <a:r>
              <a:rPr lang="es-MX" sz="3600" b="1" dirty="0"/>
              <a:t>Fórmula general para efecto </a:t>
            </a:r>
            <a:r>
              <a:rPr lang="es-MX" sz="3600" b="1" dirty="0" err="1"/>
              <a:t>Doppler</a:t>
            </a:r>
            <a:endParaRPr lang="es-MX" b="1" dirty="0"/>
          </a:p>
        </p:txBody>
      </p:sp>
      <p:grpSp>
        <p:nvGrpSpPr>
          <p:cNvPr id="11" name="Group 14"/>
          <p:cNvGrpSpPr>
            <a:grpSpLocks/>
          </p:cNvGrpSpPr>
          <p:nvPr/>
        </p:nvGrpSpPr>
        <p:grpSpPr bwMode="auto">
          <a:xfrm>
            <a:off x="432048" y="3203196"/>
            <a:ext cx="3491880" cy="2174652"/>
            <a:chOff x="2829" y="1104"/>
            <a:chExt cx="2560" cy="2776"/>
          </a:xfrm>
          <a:solidFill>
            <a:schemeClr val="accent1">
              <a:lumMod val="60000"/>
              <a:lumOff val="40000"/>
            </a:schemeClr>
          </a:solidFill>
        </p:grpSpPr>
        <p:sp>
          <p:nvSpPr>
            <p:cNvPr id="12" name="Rectangle 5"/>
            <p:cNvSpPr>
              <a:spLocks noChangeArrowheads="1"/>
            </p:cNvSpPr>
            <p:nvPr/>
          </p:nvSpPr>
          <p:spPr bwMode="auto">
            <a:xfrm>
              <a:off x="2829" y="1104"/>
              <a:ext cx="2560" cy="2776"/>
            </a:xfrm>
            <a:prstGeom prst="rect">
              <a:avLst/>
            </a:prstGeom>
            <a:grpFill/>
            <a:ln w="9525">
              <a:solidFill>
                <a:schemeClr val="accent1">
                  <a:lumMod val="75000"/>
                </a:schemeClr>
              </a:solidFill>
              <a:miter lim="800000"/>
              <a:headEnd/>
              <a:tailEnd/>
            </a:ln>
            <a:effectLst>
              <a:outerShdw dist="107763" dir="2700000" algn="ctr" rotWithShape="0">
                <a:schemeClr val="bg2"/>
              </a:outerShdw>
            </a:effectLst>
          </p:spPr>
          <p:txBody>
            <a:bodyPr tIns="91440" bIns="91440" anchor="ctr">
              <a:spAutoFit/>
            </a:bodyPr>
            <a:lstStyle/>
            <a:p>
              <a:endParaRPr lang="es-PE"/>
            </a:p>
          </p:txBody>
        </p:sp>
        <p:sp>
          <p:nvSpPr>
            <p:cNvPr id="13" name="Text Box 7"/>
            <p:cNvSpPr txBox="1">
              <a:spLocks noChangeArrowheads="1"/>
            </p:cNvSpPr>
            <p:nvPr/>
          </p:nvSpPr>
          <p:spPr bwMode="auto">
            <a:xfrm>
              <a:off x="2986" y="1824"/>
              <a:ext cx="2355" cy="1280"/>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tIns="91440" bIns="91440" anchor="ctr">
              <a:spAutoFit/>
            </a:bodyPr>
            <a:lstStyle/>
            <a:p>
              <a:pPr algn="ctr"/>
              <a:r>
                <a:rPr lang="es-MX" sz="2000" b="1" i="1" u="sng" dirty="0">
                  <a:solidFill>
                    <a:srgbClr val="000000"/>
                  </a:solidFill>
                </a:rPr>
                <a:t>Definición de términos:</a:t>
              </a:r>
              <a:endParaRPr lang="es-MX" sz="2000" b="1" i="1" dirty="0">
                <a:solidFill>
                  <a:srgbClr val="000000"/>
                </a:solidFill>
              </a:endParaRPr>
            </a:p>
            <a:p>
              <a:r>
                <a:rPr lang="es-MX" sz="2000" b="1" i="1" dirty="0">
                  <a:solidFill>
                    <a:srgbClr val="000000"/>
                  </a:solidFill>
                </a:rPr>
                <a:t>f</a:t>
              </a:r>
              <a:r>
                <a:rPr lang="es-MX" sz="2000" b="1" i="1" baseline="-25000" dirty="0">
                  <a:solidFill>
                    <a:srgbClr val="000000"/>
                  </a:solidFill>
                </a:rPr>
                <a:t>0</a:t>
              </a:r>
              <a:r>
                <a:rPr lang="es-MX" sz="2000" b="1" i="1" dirty="0">
                  <a:solidFill>
                    <a:srgbClr val="000000"/>
                  </a:solidFill>
                </a:rPr>
                <a:t> = frecuencia observada</a:t>
              </a:r>
            </a:p>
            <a:p>
              <a:r>
                <a:rPr lang="es-MX" sz="2000" b="1" i="1" dirty="0" err="1">
                  <a:solidFill>
                    <a:srgbClr val="000000"/>
                  </a:solidFill>
                </a:rPr>
                <a:t>f</a:t>
              </a:r>
              <a:r>
                <a:rPr lang="es-MX" sz="2000" b="1" i="1" baseline="-25000" dirty="0" err="1">
                  <a:solidFill>
                    <a:srgbClr val="000000"/>
                  </a:solidFill>
                </a:rPr>
                <a:t>s</a:t>
              </a:r>
              <a:r>
                <a:rPr lang="es-MX" sz="2000" b="1" i="1" dirty="0">
                  <a:solidFill>
                    <a:srgbClr val="000000"/>
                  </a:solidFill>
                </a:rPr>
                <a:t> = frecuencia de fuente</a:t>
              </a:r>
            </a:p>
            <a:p>
              <a:r>
                <a:rPr lang="es-MX" sz="2000" b="1" i="1" dirty="0">
                  <a:solidFill>
                    <a:srgbClr val="000000"/>
                  </a:solidFill>
                </a:rPr>
                <a:t>V = velocidad del sonido</a:t>
              </a:r>
            </a:p>
            <a:p>
              <a:r>
                <a:rPr lang="es-MX" sz="2000" b="1" i="1" dirty="0">
                  <a:solidFill>
                    <a:srgbClr val="000000"/>
                  </a:solidFill>
                </a:rPr>
                <a:t>v</a:t>
              </a:r>
              <a:r>
                <a:rPr lang="es-MX" sz="2000" b="1" i="1" baseline="-25000" dirty="0">
                  <a:solidFill>
                    <a:srgbClr val="000000"/>
                  </a:solidFill>
                </a:rPr>
                <a:t>0</a:t>
              </a:r>
              <a:r>
                <a:rPr lang="es-MX" sz="2000" b="1" i="1" dirty="0">
                  <a:solidFill>
                    <a:srgbClr val="000000"/>
                  </a:solidFill>
                </a:rPr>
                <a:t> = velocidad del observador</a:t>
              </a:r>
            </a:p>
            <a:p>
              <a:r>
                <a:rPr lang="es-MX" sz="2000" b="1" i="1" dirty="0">
                  <a:solidFill>
                    <a:srgbClr val="000000"/>
                  </a:solidFill>
                </a:rPr>
                <a:t>v</a:t>
              </a:r>
              <a:r>
                <a:rPr lang="es-MX" sz="2000" b="1" i="1" baseline="-25000" dirty="0">
                  <a:solidFill>
                    <a:srgbClr val="000000"/>
                  </a:solidFill>
                </a:rPr>
                <a:t>s</a:t>
              </a:r>
              <a:r>
                <a:rPr lang="es-MX" sz="2000" b="1" i="1" dirty="0">
                  <a:solidFill>
                    <a:srgbClr val="000000"/>
                  </a:solidFill>
                </a:rPr>
                <a:t> = velocidad de la fuente</a:t>
              </a:r>
              <a:endParaRPr lang="es-MX" sz="2000" i="1" dirty="0"/>
            </a:p>
          </p:txBody>
        </p:sp>
      </p:grpSp>
      <p:pic>
        <p:nvPicPr>
          <p:cNvPr id="19" name="Imagen 1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27984" y="1739902"/>
            <a:ext cx="4392801" cy="2286924"/>
          </a:xfrm>
          <a:prstGeom prst="rect">
            <a:avLst/>
          </a:prstGeom>
        </p:spPr>
      </p:pic>
      <p:pic>
        <p:nvPicPr>
          <p:cNvPr id="20" name="Imagen 1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27983" y="4334133"/>
            <a:ext cx="4392801" cy="2258338"/>
          </a:xfrm>
          <a:prstGeom prst="rect">
            <a:avLst/>
          </a:prstGeom>
        </p:spPr>
      </p:pic>
      <mc:AlternateContent xmlns:mc="http://schemas.openxmlformats.org/markup-compatibility/2006" xmlns:a14="http://schemas.microsoft.com/office/drawing/2010/main">
        <mc:Choice Requires="a14">
          <p:sp>
            <p:nvSpPr>
              <p:cNvPr id="2" name="CuadroTexto 1"/>
              <p:cNvSpPr txBox="1"/>
              <p:nvPr/>
            </p:nvSpPr>
            <p:spPr>
              <a:xfrm>
                <a:off x="862007" y="1889011"/>
                <a:ext cx="2520279" cy="82984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PE" sz="2400" i="1" smtClean="0">
                              <a:latin typeface="Cambria Math" panose="02040503050406030204" pitchFamily="18" charset="0"/>
                            </a:rPr>
                          </m:ctrlPr>
                        </m:sSubPr>
                        <m:e>
                          <m:r>
                            <a:rPr lang="es-ES" sz="2400" b="0" i="1" smtClean="0">
                              <a:latin typeface="Cambria Math" panose="02040503050406030204" pitchFamily="18" charset="0"/>
                            </a:rPr>
                            <m:t>𝑓</m:t>
                          </m:r>
                        </m:e>
                        <m:sub>
                          <m:r>
                            <a:rPr lang="es-ES" sz="2400" b="0" i="1" smtClean="0">
                              <a:latin typeface="Cambria Math" panose="02040503050406030204" pitchFamily="18" charset="0"/>
                            </a:rPr>
                            <m:t>0</m:t>
                          </m:r>
                        </m:sub>
                      </m:sSub>
                      <m:r>
                        <a:rPr lang="es-ES" sz="2400" b="0" i="1" smtClean="0">
                          <a:latin typeface="Cambria Math" panose="02040503050406030204" pitchFamily="18" charset="0"/>
                        </a:rPr>
                        <m:t>=</m:t>
                      </m:r>
                      <m:sSub>
                        <m:sSubPr>
                          <m:ctrlPr>
                            <a:rPr lang="es-ES" sz="2400" b="0" i="1" smtClean="0">
                              <a:latin typeface="Cambria Math" panose="02040503050406030204" pitchFamily="18" charset="0"/>
                            </a:rPr>
                          </m:ctrlPr>
                        </m:sSubPr>
                        <m:e>
                          <m:r>
                            <a:rPr lang="es-ES" sz="2400" b="0" i="1" smtClean="0">
                              <a:latin typeface="Cambria Math" panose="02040503050406030204" pitchFamily="18" charset="0"/>
                            </a:rPr>
                            <m:t>𝑓</m:t>
                          </m:r>
                        </m:e>
                        <m:sub>
                          <m:r>
                            <a:rPr lang="es-ES" sz="2400" b="0" i="1" smtClean="0">
                              <a:latin typeface="Cambria Math" panose="02040503050406030204" pitchFamily="18" charset="0"/>
                            </a:rPr>
                            <m:t>𝑆</m:t>
                          </m:r>
                        </m:sub>
                      </m:sSub>
                      <m:d>
                        <m:dPr>
                          <m:ctrlPr>
                            <a:rPr lang="es-ES" sz="2400" b="0" i="1" smtClean="0">
                              <a:latin typeface="Cambria Math" panose="02040503050406030204" pitchFamily="18" charset="0"/>
                            </a:rPr>
                          </m:ctrlPr>
                        </m:dPr>
                        <m:e>
                          <m:f>
                            <m:fPr>
                              <m:ctrlPr>
                                <a:rPr lang="es-ES" sz="2400" b="0" i="1" smtClean="0">
                                  <a:latin typeface="Cambria Math" panose="02040503050406030204" pitchFamily="18" charset="0"/>
                                </a:rPr>
                              </m:ctrlPr>
                            </m:fPr>
                            <m:num>
                              <m:r>
                                <a:rPr lang="es-ES" sz="2400" b="0" i="1" smtClean="0">
                                  <a:latin typeface="Cambria Math" panose="02040503050406030204" pitchFamily="18" charset="0"/>
                                </a:rPr>
                                <m:t>𝑉</m:t>
                              </m:r>
                              <m:r>
                                <a:rPr lang="es-ES" sz="2400" b="0" i="1" smtClean="0">
                                  <a:latin typeface="Cambria Math" panose="02040503050406030204" pitchFamily="18" charset="0"/>
                                </a:rPr>
                                <m:t>+</m:t>
                              </m:r>
                              <m:sSub>
                                <m:sSubPr>
                                  <m:ctrlPr>
                                    <a:rPr lang="es-ES" sz="2400" b="0" i="1" smtClean="0">
                                      <a:latin typeface="Cambria Math" panose="02040503050406030204" pitchFamily="18" charset="0"/>
                                    </a:rPr>
                                  </m:ctrlPr>
                                </m:sSubPr>
                                <m:e>
                                  <m:r>
                                    <a:rPr lang="es-ES" sz="2400" b="0" i="1" smtClean="0">
                                      <a:latin typeface="Cambria Math" panose="02040503050406030204" pitchFamily="18" charset="0"/>
                                    </a:rPr>
                                    <m:t>𝑣</m:t>
                                  </m:r>
                                </m:e>
                                <m:sub>
                                  <m:r>
                                    <a:rPr lang="es-ES" sz="2400" b="0" i="1" smtClean="0">
                                      <a:latin typeface="Cambria Math" panose="02040503050406030204" pitchFamily="18" charset="0"/>
                                    </a:rPr>
                                    <m:t>0</m:t>
                                  </m:r>
                                </m:sub>
                              </m:sSub>
                            </m:num>
                            <m:den>
                              <m:r>
                                <a:rPr lang="es-ES" sz="2400" b="0" i="1" smtClean="0">
                                  <a:latin typeface="Cambria Math" panose="02040503050406030204" pitchFamily="18" charset="0"/>
                                </a:rPr>
                                <m:t>𝑉</m:t>
                              </m:r>
                              <m:r>
                                <a:rPr lang="es-ES" sz="2400" b="0" i="1" smtClean="0">
                                  <a:latin typeface="Cambria Math" panose="02040503050406030204" pitchFamily="18" charset="0"/>
                                </a:rPr>
                                <m:t>+</m:t>
                              </m:r>
                              <m:sSub>
                                <m:sSubPr>
                                  <m:ctrlPr>
                                    <a:rPr lang="es-ES" sz="2400" b="0" i="1" smtClean="0">
                                      <a:latin typeface="Cambria Math" panose="02040503050406030204" pitchFamily="18" charset="0"/>
                                    </a:rPr>
                                  </m:ctrlPr>
                                </m:sSubPr>
                                <m:e>
                                  <m:r>
                                    <a:rPr lang="es-ES" sz="2400" b="0" i="1" smtClean="0">
                                      <a:latin typeface="Cambria Math" panose="02040503050406030204" pitchFamily="18" charset="0"/>
                                    </a:rPr>
                                    <m:t>𝑣</m:t>
                                  </m:r>
                                </m:e>
                                <m:sub>
                                  <m:r>
                                    <a:rPr lang="es-ES" sz="2400" b="0" i="1" smtClean="0">
                                      <a:latin typeface="Cambria Math" panose="02040503050406030204" pitchFamily="18" charset="0"/>
                                    </a:rPr>
                                    <m:t>𝑆</m:t>
                                  </m:r>
                                </m:sub>
                              </m:sSub>
                            </m:den>
                          </m:f>
                        </m:e>
                      </m:d>
                    </m:oMath>
                  </m:oMathPara>
                </a14:m>
                <a:endParaRPr lang="es-PE" sz="2400" dirty="0"/>
              </a:p>
            </p:txBody>
          </p:sp>
        </mc:Choice>
        <mc:Fallback xmlns="">
          <p:sp>
            <p:nvSpPr>
              <p:cNvPr id="2" name="CuadroTexto 1"/>
              <p:cNvSpPr txBox="1">
                <a:spLocks noRot="1" noChangeAspect="1" noMove="1" noResize="1" noEditPoints="1" noAdjustHandles="1" noChangeArrowheads="1" noChangeShapeType="1" noTextEdit="1"/>
              </p:cNvSpPr>
              <p:nvPr/>
            </p:nvSpPr>
            <p:spPr>
              <a:xfrm>
                <a:off x="862007" y="1889011"/>
                <a:ext cx="2520279" cy="829843"/>
              </a:xfrm>
              <a:prstGeom prst="rect">
                <a:avLst/>
              </a:prstGeom>
              <a:blipFill rotWithShape="0">
                <a:blip r:embed="rId6"/>
                <a:stretch>
                  <a:fillRect/>
                </a:stretch>
              </a:blipFill>
            </p:spPr>
            <p:txBody>
              <a:bodyPr/>
              <a:lstStyle/>
              <a:p>
                <a:r>
                  <a:rPr lang="es-PE">
                    <a:noFill/>
                  </a:rPr>
                  <a:t> </a:t>
                </a:r>
              </a:p>
            </p:txBody>
          </p:sp>
        </mc:Fallback>
      </mc:AlternateContent>
    </p:spTree>
    <p:extLst>
      <p:ext uri="{BB962C8B-B14F-4D97-AF65-F5344CB8AC3E}">
        <p14:creationId xmlns:p14="http://schemas.microsoft.com/office/powerpoint/2010/main" val="911108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out)">
                                      <p:cBhvr>
                                        <p:cTn id="7" dur="500"/>
                                        <p:tgtEl>
                                          <p:spTgt spid="7"/>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strips(downRight)">
                                      <p:cBhvr>
                                        <p:cTn id="12" dur="500"/>
                                        <p:tgtEl>
                                          <p:spTgt spid="11"/>
                                        </p:tgtEl>
                                      </p:cBhvr>
                                    </p:animEffect>
                                  </p:childTnLst>
                                  <p:subTnLst>
                                    <p:audio>
                                      <p:cMediaNode>
                                        <p:cTn display="0" masterRel="sameClick">
                                          <p:stCondLst>
                                            <p:cond evt="begin" delay="0">
                                              <p:tn val="10"/>
                                            </p:cond>
                                          </p:stCondLst>
                                          <p:endCondLst>
                                            <p:cond evt="onStopAudio" delay="0">
                                              <p:tgtEl>
                                                <p:sldTgt/>
                                              </p:tgtEl>
                                            </p:cond>
                                          </p:endCondLst>
                                        </p:cTn>
                                        <p:tgtEl>
                                          <p:sndTgt r:embed="rId3" name="click.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a:xfrm>
            <a:off x="1763688" y="596902"/>
            <a:ext cx="2094767" cy="1143000"/>
          </a:xfrm>
        </p:spPr>
        <p:txBody>
          <a:bodyPr/>
          <a:lstStyle/>
          <a:p>
            <a:r>
              <a:rPr lang="es-MX" sz="3600" b="1" dirty="0" smtClean="0"/>
              <a:t>Ejemplo</a:t>
            </a:r>
            <a:endParaRPr lang="es-MX" b="1" dirty="0"/>
          </a:p>
        </p:txBody>
      </p:sp>
      <p:sp>
        <p:nvSpPr>
          <p:cNvPr id="2" name="Rectángulo 1"/>
          <p:cNvSpPr/>
          <p:nvPr/>
        </p:nvSpPr>
        <p:spPr>
          <a:xfrm>
            <a:off x="395536" y="1739902"/>
            <a:ext cx="8424936" cy="2031325"/>
          </a:xfrm>
          <a:prstGeom prst="rect">
            <a:avLst/>
          </a:prstGeom>
        </p:spPr>
        <p:txBody>
          <a:bodyPr wrap="square">
            <a:spAutoFit/>
          </a:bodyPr>
          <a:lstStyle/>
          <a:p>
            <a:pPr algn="just"/>
            <a:r>
              <a:rPr lang="es-PE" dirty="0">
                <a:latin typeface="NewBaskerville-Roman"/>
              </a:rPr>
              <a:t>Un bloque con una bocina atornillada a el se conecta a un </a:t>
            </a:r>
            <a:r>
              <a:rPr lang="es-PE" dirty="0" smtClean="0">
                <a:latin typeface="NewBaskerville-Roman"/>
              </a:rPr>
              <a:t>resorte que </a:t>
            </a:r>
            <a:r>
              <a:rPr lang="es-PE" dirty="0">
                <a:latin typeface="NewBaskerville-Roman"/>
              </a:rPr>
              <a:t>tiene una constante de resorte </a:t>
            </a:r>
            <a:r>
              <a:rPr lang="es-PE" i="1" dirty="0">
                <a:latin typeface="NewBaskerville-Italic"/>
              </a:rPr>
              <a:t>k </a:t>
            </a:r>
            <a:r>
              <a:rPr lang="es-PE" i="1" dirty="0" smtClean="0">
                <a:latin typeface="NewBaskerville-Italic"/>
              </a:rPr>
              <a:t>= </a:t>
            </a:r>
            <a:r>
              <a:rPr lang="es-PE" dirty="0" smtClean="0">
                <a:latin typeface="NewBaskerville-Roman"/>
              </a:rPr>
              <a:t>20,0 </a:t>
            </a:r>
            <a:r>
              <a:rPr lang="es-PE" dirty="0">
                <a:latin typeface="NewBaskerville-Roman"/>
              </a:rPr>
              <a:t>N/m, </a:t>
            </a:r>
            <a:r>
              <a:rPr lang="es-PE" dirty="0" smtClean="0">
                <a:latin typeface="NewBaskerville-Roman"/>
              </a:rPr>
              <a:t>como se </a:t>
            </a:r>
            <a:r>
              <a:rPr lang="es-PE" dirty="0">
                <a:latin typeface="NewBaskerville-Roman"/>
              </a:rPr>
              <a:t>muestra en la </a:t>
            </a:r>
            <a:r>
              <a:rPr lang="es-PE" dirty="0" smtClean="0">
                <a:latin typeface="NewBaskerville-Roman"/>
              </a:rPr>
              <a:t>figura. </a:t>
            </a:r>
            <a:r>
              <a:rPr lang="es-PE" dirty="0">
                <a:latin typeface="NewBaskerville-Roman"/>
              </a:rPr>
              <a:t>La masa total del bloque y </a:t>
            </a:r>
            <a:r>
              <a:rPr lang="es-PE" dirty="0" smtClean="0">
                <a:latin typeface="NewBaskerville-Roman"/>
              </a:rPr>
              <a:t>la bocina </a:t>
            </a:r>
            <a:r>
              <a:rPr lang="es-PE" dirty="0">
                <a:latin typeface="NewBaskerville-Roman"/>
              </a:rPr>
              <a:t>es de </a:t>
            </a:r>
            <a:r>
              <a:rPr lang="es-PE" dirty="0" smtClean="0">
                <a:latin typeface="NewBaskerville-Roman"/>
              </a:rPr>
              <a:t>5,00 </a:t>
            </a:r>
            <a:r>
              <a:rPr lang="es-PE" dirty="0">
                <a:latin typeface="NewBaskerville-Roman"/>
              </a:rPr>
              <a:t>kg, y la amplitud de movimiento de esta unidad</a:t>
            </a:r>
          </a:p>
          <a:p>
            <a:pPr algn="just"/>
            <a:r>
              <a:rPr lang="es-PE" dirty="0">
                <a:latin typeface="NewBaskerville-Roman"/>
              </a:rPr>
              <a:t>es </a:t>
            </a:r>
            <a:r>
              <a:rPr lang="es-PE" dirty="0" smtClean="0">
                <a:latin typeface="NewBaskerville-Roman"/>
              </a:rPr>
              <a:t>0,500 </a:t>
            </a:r>
            <a:r>
              <a:rPr lang="es-PE" dirty="0">
                <a:latin typeface="NewBaskerville-Roman"/>
              </a:rPr>
              <a:t>m. a) La bocina emite ondas sonoras de 440 Hz </a:t>
            </a:r>
            <a:r>
              <a:rPr lang="es-PE" dirty="0" smtClean="0">
                <a:latin typeface="NewBaskerville-Roman"/>
              </a:rPr>
              <a:t>de frecuencia</a:t>
            </a:r>
            <a:r>
              <a:rPr lang="es-PE" dirty="0">
                <a:latin typeface="NewBaskerville-Roman"/>
              </a:rPr>
              <a:t>. Determine las frecuencias mas alta y mas baja </a:t>
            </a:r>
            <a:r>
              <a:rPr lang="es-PE" dirty="0" smtClean="0">
                <a:latin typeface="NewBaskerville-Roman"/>
              </a:rPr>
              <a:t>que escucha </a:t>
            </a:r>
            <a:r>
              <a:rPr lang="es-PE" dirty="0">
                <a:latin typeface="NewBaskerville-Roman"/>
              </a:rPr>
              <a:t>una persona a la derecha de la bocina. </a:t>
            </a:r>
            <a:r>
              <a:rPr lang="es-PE" dirty="0" smtClean="0">
                <a:latin typeface="NewBaskerville-Roman"/>
              </a:rPr>
              <a:t>b) Si la persona se aleja de la bocina a una velocidad de 18,5 m/s, cuales son las frecuencias mas altas y mas bajas que escucha.</a:t>
            </a:r>
            <a:endParaRPr lang="es-PE" dirty="0"/>
          </a:p>
        </p:txBody>
      </p:sp>
      <p:pic>
        <p:nvPicPr>
          <p:cNvPr id="3" name="Imagen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1690" y="4077072"/>
            <a:ext cx="3286765" cy="2000086"/>
          </a:xfrm>
          <a:prstGeom prst="rect">
            <a:avLst/>
          </a:prstGeom>
        </p:spPr>
      </p:pic>
    </p:spTree>
    <p:extLst>
      <p:ext uri="{BB962C8B-B14F-4D97-AF65-F5344CB8AC3E}">
        <p14:creationId xmlns:p14="http://schemas.microsoft.com/office/powerpoint/2010/main" val="3897675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out)">
                                      <p:cBhvr>
                                        <p:cTn id="7" dur="500"/>
                                        <p:tgtEl>
                                          <p:spTgt spid="7"/>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a:xfrm>
            <a:off x="1763688" y="596902"/>
            <a:ext cx="2094767" cy="1143000"/>
          </a:xfrm>
        </p:spPr>
        <p:txBody>
          <a:bodyPr/>
          <a:lstStyle/>
          <a:p>
            <a:r>
              <a:rPr lang="es-MX" sz="3600" b="1" dirty="0" smtClean="0"/>
              <a:t>Ejemplo</a:t>
            </a:r>
            <a:endParaRPr lang="es-MX" b="1" dirty="0"/>
          </a:p>
        </p:txBody>
      </p:sp>
      <mc:AlternateContent xmlns:mc="http://schemas.openxmlformats.org/markup-compatibility/2006">
        <mc:Choice xmlns:a14="http://schemas.microsoft.com/office/drawing/2010/main" Requires="a14">
          <p:sp>
            <p:nvSpPr>
              <p:cNvPr id="2" name="Rectángulo 1"/>
              <p:cNvSpPr/>
              <p:nvPr/>
            </p:nvSpPr>
            <p:spPr>
              <a:xfrm>
                <a:off x="395536" y="1739902"/>
                <a:ext cx="8424936" cy="1821140"/>
              </a:xfrm>
              <a:prstGeom prst="rect">
                <a:avLst/>
              </a:prstGeom>
            </p:spPr>
            <p:txBody>
              <a:bodyPr wrap="square">
                <a:spAutoFit/>
              </a:bodyPr>
              <a:lstStyle/>
              <a:p>
                <a:pPr algn="just"/>
                <a:r>
                  <a:rPr lang="es-PE" dirty="0" smtClean="0"/>
                  <a:t>Se lanzan dos proyectiles simultáneamente en direcciones opuestas, un proyectil emite un sonido con una frecuencia de 500 Hz </a:t>
                </a:r>
                <a:r>
                  <a:rPr lang="es-PE" dirty="0"/>
                  <a:t>vuela hacia </a:t>
                </a:r>
                <a:r>
                  <a:rPr lang="es-PE" dirty="0" smtClean="0"/>
                  <a:t>derecha </a:t>
                </a:r>
                <a:r>
                  <a:rPr lang="es-PE" dirty="0"/>
                  <a:t>con velocidad </a:t>
                </a:r>
                <a:r>
                  <a:rPr lang="es-PE" dirty="0" smtClean="0"/>
                  <a:t>inicial </a:t>
                </a:r>
                <a14:m>
                  <m:oMath xmlns:m="http://schemas.openxmlformats.org/officeDocument/2006/math">
                    <m:sSub>
                      <m:sSubPr>
                        <m:ctrlPr>
                          <a:rPr lang="es-PE" i="1" smtClean="0">
                            <a:latin typeface="Cambria Math" panose="02040503050406030204" pitchFamily="18" charset="0"/>
                          </a:rPr>
                        </m:ctrlPr>
                      </m:sSubPr>
                      <m:e>
                        <m:r>
                          <a:rPr lang="es-ES" b="0" i="1" smtClean="0">
                            <a:latin typeface="Cambria Math" panose="02040503050406030204" pitchFamily="18" charset="0"/>
                          </a:rPr>
                          <m:t>𝑣</m:t>
                        </m:r>
                      </m:e>
                      <m:sub>
                        <m:r>
                          <a:rPr lang="es-ES" b="0" i="1" smtClean="0">
                            <a:latin typeface="Cambria Math" panose="02040503050406030204" pitchFamily="18" charset="0"/>
                          </a:rPr>
                          <m:t>0</m:t>
                        </m:r>
                      </m:sub>
                    </m:sSub>
                    <m:r>
                      <a:rPr lang="es-ES" b="0" i="1" smtClean="0">
                        <a:latin typeface="Cambria Math" panose="02040503050406030204" pitchFamily="18" charset="0"/>
                      </a:rPr>
                      <m:t>=16,8 </m:t>
                    </m:r>
                    <m:r>
                      <a:rPr lang="es-ES" b="0" i="1" smtClean="0">
                        <a:latin typeface="Cambria Math" panose="02040503050406030204" pitchFamily="18" charset="0"/>
                      </a:rPr>
                      <m:t>𝑚</m:t>
                    </m:r>
                    <m:r>
                      <a:rPr lang="es-ES" b="0" i="1" smtClean="0">
                        <a:latin typeface="Cambria Math" panose="02040503050406030204" pitchFamily="18" charset="0"/>
                      </a:rPr>
                      <m:t>/</m:t>
                    </m:r>
                    <m:r>
                      <a:rPr lang="es-ES" b="0" i="1" smtClean="0">
                        <a:latin typeface="Cambria Math" panose="02040503050406030204" pitchFamily="18" charset="0"/>
                      </a:rPr>
                      <m:t>𝑠</m:t>
                    </m:r>
                  </m:oMath>
                </a14:m>
                <a:r>
                  <a:rPr lang="es-PE" i="1" dirty="0" smtClean="0"/>
                  <a:t> </a:t>
                </a:r>
                <a:r>
                  <a:rPr lang="es-PE" dirty="0"/>
                  <a:t>a un </a:t>
                </a:r>
                <a:r>
                  <a:rPr lang="es-PE" dirty="0" smtClean="0"/>
                  <a:t>ángulo </a:t>
                </a:r>
                <a14:m>
                  <m:oMath xmlns:m="http://schemas.openxmlformats.org/officeDocument/2006/math">
                    <m:sSub>
                      <m:sSubPr>
                        <m:ctrlPr>
                          <a:rPr lang="es-PE" i="1">
                            <a:latin typeface="Cambria Math" panose="02040503050406030204" pitchFamily="18" charset="0"/>
                          </a:rPr>
                        </m:ctrlPr>
                      </m:sSubPr>
                      <m:e>
                        <m:r>
                          <a:rPr lang="es-ES" i="1" smtClean="0">
                            <a:latin typeface="Cambria Math" panose="02040503050406030204" pitchFamily="18" charset="0"/>
                            <a:ea typeface="Cambria Math" panose="02040503050406030204" pitchFamily="18" charset="0"/>
                          </a:rPr>
                          <m:t>𝜃</m:t>
                        </m:r>
                      </m:e>
                      <m:sub>
                        <m:r>
                          <a:rPr lang="es-ES" b="0" i="1" smtClean="0">
                            <a:latin typeface="Cambria Math" panose="02040503050406030204" pitchFamily="18" charset="0"/>
                          </a:rPr>
                          <m:t>𝑖</m:t>
                        </m:r>
                      </m:sub>
                    </m:sSub>
                    <m:r>
                      <a:rPr lang="es-ES" b="0" i="1" smtClean="0">
                        <a:latin typeface="Cambria Math" panose="02040503050406030204" pitchFamily="18" charset="0"/>
                      </a:rPr>
                      <m:t>=</m:t>
                    </m:r>
                    <m:sSup>
                      <m:sSupPr>
                        <m:ctrlPr>
                          <a:rPr lang="es-ES" b="0" i="1" smtClean="0">
                            <a:latin typeface="Cambria Math" panose="02040503050406030204" pitchFamily="18" charset="0"/>
                          </a:rPr>
                        </m:ctrlPr>
                      </m:sSupPr>
                      <m:e>
                        <m:r>
                          <a:rPr lang="es-ES" b="0" i="1" smtClean="0">
                            <a:latin typeface="Cambria Math" panose="02040503050406030204" pitchFamily="18" charset="0"/>
                          </a:rPr>
                          <m:t>34</m:t>
                        </m:r>
                      </m:e>
                      <m:sup>
                        <m:r>
                          <a:rPr lang="es-ES" b="0" i="1" smtClean="0">
                            <a:latin typeface="Cambria Math" panose="02040503050406030204" pitchFamily="18" charset="0"/>
                          </a:rPr>
                          <m:t>0</m:t>
                        </m:r>
                      </m:sup>
                    </m:sSup>
                  </m:oMath>
                </a14:m>
                <a:r>
                  <a:rPr lang="es-PE" i="1" dirty="0" smtClean="0"/>
                  <a:t> </a:t>
                </a:r>
                <a:r>
                  <a:rPr lang="es-PE" dirty="0"/>
                  <a:t>sobre la </a:t>
                </a:r>
                <a:r>
                  <a:rPr lang="es-PE" dirty="0" smtClean="0"/>
                  <a:t>horizontal y el otro proyectil </a:t>
                </a:r>
                <a:r>
                  <a:rPr lang="es-PE" dirty="0"/>
                  <a:t>vuela hacia </a:t>
                </a:r>
                <a:r>
                  <a:rPr lang="es-PE" dirty="0" smtClean="0"/>
                  <a:t>la izquierda </a:t>
                </a:r>
                <a:r>
                  <a:rPr lang="es-PE" dirty="0"/>
                  <a:t>con </a:t>
                </a:r>
                <a:r>
                  <a:rPr lang="es-PE" dirty="0" smtClean="0"/>
                  <a:t>el doble de la rapidez  y mismo ángulo </a:t>
                </a:r>
                <a:r>
                  <a:rPr lang="es-PE" dirty="0"/>
                  <a:t>sobre la horizontal, como se muestra en la </a:t>
                </a:r>
                <a:r>
                  <a:rPr lang="es-PE" dirty="0" smtClean="0"/>
                  <a:t>figura. Encuentre la frecuencia que detecta el proyectil que vuela </a:t>
                </a:r>
                <a:r>
                  <a:rPr lang="es-PE" dirty="0" smtClean="0"/>
                  <a:t>a la izquierda después </a:t>
                </a:r>
                <a:r>
                  <a:rPr lang="es-PE" dirty="0" smtClean="0"/>
                  <a:t>de 1,8 s.</a:t>
                </a:r>
                <a:endParaRPr lang="es-PE" dirty="0"/>
              </a:p>
            </p:txBody>
          </p:sp>
        </mc:Choice>
        <mc:Fallback>
          <p:sp>
            <p:nvSpPr>
              <p:cNvPr id="2" name="Rectángulo 1"/>
              <p:cNvSpPr>
                <a:spLocks noRot="1" noChangeAspect="1" noMove="1" noResize="1" noEditPoints="1" noAdjustHandles="1" noChangeArrowheads="1" noChangeShapeType="1" noTextEdit="1"/>
              </p:cNvSpPr>
              <p:nvPr/>
            </p:nvSpPr>
            <p:spPr>
              <a:xfrm>
                <a:off x="395536" y="1739902"/>
                <a:ext cx="8424936" cy="1821140"/>
              </a:xfrm>
              <a:prstGeom prst="rect">
                <a:avLst/>
              </a:prstGeom>
              <a:blipFill rotWithShape="0">
                <a:blip r:embed="rId3"/>
                <a:stretch>
                  <a:fillRect l="-651" t="-1672" r="-579" b="-669"/>
                </a:stretch>
              </a:blipFill>
            </p:spPr>
            <p:txBody>
              <a:bodyPr/>
              <a:lstStyle/>
              <a:p>
                <a:r>
                  <a:rPr lang="es-PE">
                    <a:noFill/>
                  </a:rPr>
                  <a:t> </a:t>
                </a:r>
              </a:p>
            </p:txBody>
          </p:sp>
        </mc:Fallback>
      </mc:AlternateContent>
      <p:pic>
        <p:nvPicPr>
          <p:cNvPr id="3" name="Imagen 2"/>
          <p:cNvPicPr>
            <a:picLocks noChangeAspect="1"/>
          </p:cNvPicPr>
          <p:nvPr/>
        </p:nvPicPr>
        <p:blipFill>
          <a:blip r:embed="rId4"/>
          <a:stretch>
            <a:fillRect/>
          </a:stretch>
        </p:blipFill>
        <p:spPr>
          <a:xfrm>
            <a:off x="486962" y="3523750"/>
            <a:ext cx="4124325" cy="1800225"/>
          </a:xfrm>
          <a:prstGeom prst="rect">
            <a:avLst/>
          </a:prstGeom>
        </p:spPr>
      </p:pic>
    </p:spTree>
    <p:extLst>
      <p:ext uri="{BB962C8B-B14F-4D97-AF65-F5344CB8AC3E}">
        <p14:creationId xmlns:p14="http://schemas.microsoft.com/office/powerpoint/2010/main" val="543627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out)">
                                      <p:cBhvr>
                                        <p:cTn id="7" dur="500"/>
                                        <p:tgtEl>
                                          <p:spTgt spid="7"/>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2 Rectángulo"/>
          <p:cNvSpPr/>
          <p:nvPr/>
        </p:nvSpPr>
        <p:spPr>
          <a:xfrm>
            <a:off x="1475656" y="1772816"/>
            <a:ext cx="6840760" cy="4464496"/>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marL="571500" indent="-571500"/>
            <a:endParaRPr lang="es-ES" sz="2400" dirty="0" smtClean="0">
              <a:solidFill>
                <a:schemeClr val="tx1"/>
              </a:solidFill>
            </a:endParaRPr>
          </a:p>
          <a:p>
            <a:pPr marL="571500" indent="-571500"/>
            <a:r>
              <a:rPr lang="es-ES" sz="2400" dirty="0" smtClean="0">
                <a:solidFill>
                  <a:schemeClr val="tx1"/>
                </a:solidFill>
              </a:rPr>
              <a:t>R. </a:t>
            </a:r>
            <a:r>
              <a:rPr lang="es-ES" sz="2400" dirty="0" err="1" smtClean="0">
                <a:solidFill>
                  <a:schemeClr val="tx1"/>
                </a:solidFill>
              </a:rPr>
              <a:t>Serway</a:t>
            </a:r>
            <a:r>
              <a:rPr lang="es-ES" sz="2400" dirty="0" smtClean="0">
                <a:solidFill>
                  <a:schemeClr val="tx1"/>
                </a:solidFill>
              </a:rPr>
              <a:t>, J. </a:t>
            </a:r>
            <a:r>
              <a:rPr lang="es-ES" sz="2400" dirty="0" err="1" smtClean="0">
                <a:solidFill>
                  <a:schemeClr val="tx1"/>
                </a:solidFill>
              </a:rPr>
              <a:t>Jewett</a:t>
            </a:r>
            <a:r>
              <a:rPr lang="es-ES" sz="2400" dirty="0" smtClean="0">
                <a:solidFill>
                  <a:schemeClr val="tx1"/>
                </a:solidFill>
              </a:rPr>
              <a:t>. Física para Ciencias e Ingeniería. 7° edición. </a:t>
            </a:r>
            <a:r>
              <a:rPr lang="es-ES" sz="2400" dirty="0" err="1" smtClean="0">
                <a:solidFill>
                  <a:schemeClr val="tx1"/>
                </a:solidFill>
              </a:rPr>
              <a:t>Ed.Cengage</a:t>
            </a:r>
            <a:r>
              <a:rPr lang="es-ES" sz="2400" dirty="0" smtClean="0">
                <a:solidFill>
                  <a:schemeClr val="tx1"/>
                </a:solidFill>
              </a:rPr>
              <a:t> </a:t>
            </a:r>
            <a:r>
              <a:rPr lang="es-ES" sz="2400" dirty="0" err="1" smtClean="0">
                <a:solidFill>
                  <a:schemeClr val="tx1"/>
                </a:solidFill>
              </a:rPr>
              <a:t>Learning</a:t>
            </a:r>
            <a:r>
              <a:rPr lang="es-ES" sz="2400" dirty="0" smtClean="0">
                <a:solidFill>
                  <a:schemeClr val="tx1"/>
                </a:solidFill>
              </a:rPr>
              <a:t>. Pág. 426-429; 436-437.</a:t>
            </a:r>
          </a:p>
          <a:p>
            <a:pPr marL="571500" indent="-571500"/>
            <a:r>
              <a:rPr lang="es-ES" sz="2400" dirty="0" smtClean="0">
                <a:solidFill>
                  <a:schemeClr val="tx1"/>
                </a:solidFill>
              </a:rPr>
              <a:t>J. Wilson, A. </a:t>
            </a:r>
            <a:r>
              <a:rPr lang="es-ES" sz="2400" dirty="0" err="1" smtClean="0">
                <a:solidFill>
                  <a:schemeClr val="tx1"/>
                </a:solidFill>
              </a:rPr>
              <a:t>Buffa</a:t>
            </a:r>
            <a:r>
              <a:rPr lang="es-ES" sz="2400" dirty="0" smtClean="0">
                <a:solidFill>
                  <a:schemeClr val="tx1"/>
                </a:solidFill>
              </a:rPr>
              <a:t>. Física. 6° edición. Ed. </a:t>
            </a:r>
            <a:r>
              <a:rPr lang="es-ES" sz="2400" dirty="0" err="1" smtClean="0">
                <a:solidFill>
                  <a:schemeClr val="tx1"/>
                </a:solidFill>
              </a:rPr>
              <a:t>Pearson</a:t>
            </a:r>
            <a:r>
              <a:rPr lang="es-ES" sz="2400" dirty="0" smtClean="0">
                <a:solidFill>
                  <a:schemeClr val="tx1"/>
                </a:solidFill>
              </a:rPr>
              <a:t> Educación. Pág. 445-446.</a:t>
            </a:r>
          </a:p>
          <a:p>
            <a:pPr marL="571500" indent="-571500"/>
            <a:r>
              <a:rPr lang="es-ES" sz="2400" dirty="0" smtClean="0">
                <a:solidFill>
                  <a:schemeClr val="tx1"/>
                </a:solidFill>
              </a:rPr>
              <a:t>Sears </a:t>
            </a:r>
            <a:r>
              <a:rPr lang="es-ES" sz="2400" dirty="0" err="1" smtClean="0">
                <a:solidFill>
                  <a:schemeClr val="tx1"/>
                </a:solidFill>
              </a:rPr>
              <a:t>Zemansky</a:t>
            </a:r>
            <a:r>
              <a:rPr lang="es-ES" sz="2400" dirty="0" smtClean="0">
                <a:solidFill>
                  <a:schemeClr val="tx1"/>
                </a:solidFill>
              </a:rPr>
              <a:t>. Física Universitaria. 12° edición. Ed. </a:t>
            </a:r>
            <a:r>
              <a:rPr lang="es-ES" sz="2400" dirty="0" err="1" smtClean="0">
                <a:solidFill>
                  <a:schemeClr val="tx1"/>
                </a:solidFill>
              </a:rPr>
              <a:t>Pearson</a:t>
            </a:r>
            <a:r>
              <a:rPr lang="es-ES" sz="2400" dirty="0" smtClean="0">
                <a:solidFill>
                  <a:schemeClr val="tx1"/>
                </a:solidFill>
              </a:rPr>
              <a:t> Educación. Pág. 428,424; 440-442.</a:t>
            </a:r>
          </a:p>
        </p:txBody>
      </p:sp>
      <p:sp>
        <p:nvSpPr>
          <p:cNvPr id="2" name="Rectángulo 1"/>
          <p:cNvSpPr/>
          <p:nvPr/>
        </p:nvSpPr>
        <p:spPr>
          <a:xfrm>
            <a:off x="2051720" y="908720"/>
            <a:ext cx="3432222" cy="461665"/>
          </a:xfrm>
          <a:prstGeom prst="rect">
            <a:avLst/>
          </a:prstGeom>
        </p:spPr>
        <p:txBody>
          <a:bodyPr wrap="none">
            <a:spAutoFit/>
          </a:bodyPr>
          <a:lstStyle/>
          <a:p>
            <a:pPr marL="571500" indent="-571500"/>
            <a:r>
              <a:rPr lang="es-ES" sz="2400" b="1" dirty="0"/>
              <a:t>Referencias Bibliográficas</a:t>
            </a:r>
          </a:p>
        </p:txBody>
      </p:sp>
    </p:spTree>
    <p:extLst>
      <p:ext uri="{BB962C8B-B14F-4D97-AF65-F5344CB8AC3E}">
        <p14:creationId xmlns:p14="http://schemas.microsoft.com/office/powerpoint/2010/main" val="3531960184"/>
      </p:ext>
    </p:extLst>
  </p:cSld>
  <p:clrMapOvr>
    <a:masterClrMapping/>
  </p:clrMapOvr>
  <p:timing>
    <p:tnLst>
      <p:par>
        <p:cTn id="1" dur="indefinite" restart="never" nodeType="tmRoot"/>
      </p:par>
    </p:tnLst>
  </p:timing>
</p:sld>
</file>

<file path=ppt/theme/theme1.xml><?xml version="1.0" encoding="utf-8"?>
<a:theme xmlns:a="http://schemas.openxmlformats.org/drawingml/2006/main" name="PATRO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PATRO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1607</TotalTime>
  <Words>1500</Words>
  <Application>Microsoft Office PowerPoint</Application>
  <PresentationFormat>Presentación en pantalla (4:3)</PresentationFormat>
  <Paragraphs>194</Paragraphs>
  <Slides>24</Slides>
  <Notes>0</Notes>
  <HiddenSlides>0</HiddenSlides>
  <MMClips>0</MMClips>
  <ScaleCrop>false</ScaleCrop>
  <HeadingPairs>
    <vt:vector size="8" baseType="variant">
      <vt:variant>
        <vt:lpstr>Fuentes usadas</vt:lpstr>
      </vt:variant>
      <vt:variant>
        <vt:i4>14</vt:i4>
      </vt:variant>
      <vt:variant>
        <vt:lpstr>Tema</vt:lpstr>
      </vt:variant>
      <vt:variant>
        <vt:i4>3</vt:i4>
      </vt:variant>
      <vt:variant>
        <vt:lpstr>Servidores OLE incrustados</vt:lpstr>
      </vt:variant>
      <vt:variant>
        <vt:i4>1</vt:i4>
      </vt:variant>
      <vt:variant>
        <vt:lpstr>Títulos de diapositiva</vt:lpstr>
      </vt:variant>
      <vt:variant>
        <vt:i4>24</vt:i4>
      </vt:variant>
    </vt:vector>
  </HeadingPairs>
  <TitlesOfParts>
    <vt:vector size="42" baseType="lpstr">
      <vt:lpstr>BatangChe</vt:lpstr>
      <vt:lpstr>ＭＳ Ｐゴシック</vt:lpstr>
      <vt:lpstr>ＭＳ Ｐゴシック</vt:lpstr>
      <vt:lpstr>Arial</vt:lpstr>
      <vt:lpstr>Bell MT</vt:lpstr>
      <vt:lpstr>Calibri</vt:lpstr>
      <vt:lpstr>Calibri Light</vt:lpstr>
      <vt:lpstr>Cambria Math</vt:lpstr>
      <vt:lpstr>MyriadPro-Semibold</vt:lpstr>
      <vt:lpstr>NewBaskerville-Italic</vt:lpstr>
      <vt:lpstr>NewBaskerville-Roman</vt:lpstr>
      <vt:lpstr>Symbol</vt:lpstr>
      <vt:lpstr>Times New Roman</vt:lpstr>
      <vt:lpstr>TimesNewRomanPS-ItalicMT</vt:lpstr>
      <vt:lpstr>PATRON</vt:lpstr>
      <vt:lpstr>Tema de Office</vt:lpstr>
      <vt:lpstr>1_PATRON</vt:lpstr>
      <vt:lpstr>Equation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Función de onda</vt:lpstr>
      <vt:lpstr>EJEMPLOS</vt:lpstr>
      <vt:lpstr>Cinemática de una onda</vt:lpstr>
      <vt:lpstr>Presentación de PowerPoint</vt:lpstr>
      <vt:lpstr>Ejemplo:</vt:lpstr>
      <vt:lpstr>Ejemplo:</vt:lpstr>
      <vt:lpstr>Ondas sonoras</vt:lpstr>
      <vt:lpstr>Rapidez de una onda sonora</vt:lpstr>
      <vt:lpstr>Rapidez del sonido en el aire</vt:lpstr>
      <vt:lpstr>El efecto Doppler</vt:lpstr>
      <vt:lpstr>Fórmula general para efecto Doppler</vt:lpstr>
      <vt:lpstr>Ejemplo</vt:lpstr>
      <vt:lpstr>Ejemplo</vt:lpstr>
      <vt:lpstr>Presentación de PowerPoint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Ondas mecánicas</dc:title>
  <dc:creator>Paredes Aguilar Hector</dc:creator>
  <cp:lastModifiedBy>Nelson Diaz Leiva</cp:lastModifiedBy>
  <cp:revision>120</cp:revision>
  <dcterms:created xsi:type="dcterms:W3CDTF">2013-09-21T23:02:57Z</dcterms:created>
  <dcterms:modified xsi:type="dcterms:W3CDTF">2020-06-12T04:26:17Z</dcterms:modified>
</cp:coreProperties>
</file>