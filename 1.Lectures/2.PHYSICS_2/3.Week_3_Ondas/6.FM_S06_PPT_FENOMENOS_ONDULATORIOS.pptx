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  <p:sldMasterId id="2147483761" r:id="rId2"/>
    <p:sldMasterId id="2147483778" r:id="rId3"/>
  </p:sldMasterIdLst>
  <p:sldIdLst>
    <p:sldId id="256" r:id="rId4"/>
    <p:sldId id="289" r:id="rId5"/>
    <p:sldId id="290" r:id="rId6"/>
    <p:sldId id="291" r:id="rId7"/>
    <p:sldId id="293" r:id="rId8"/>
    <p:sldId id="310" r:id="rId9"/>
    <p:sldId id="311" r:id="rId10"/>
    <p:sldId id="299" r:id="rId11"/>
    <p:sldId id="297" r:id="rId12"/>
    <p:sldId id="303" r:id="rId13"/>
    <p:sldId id="302" r:id="rId14"/>
    <p:sldId id="312" r:id="rId15"/>
    <p:sldId id="301" r:id="rId16"/>
    <p:sldId id="305" r:id="rId17"/>
    <p:sldId id="306" r:id="rId18"/>
    <p:sldId id="307" r:id="rId19"/>
    <p:sldId id="313" r:id="rId20"/>
    <p:sldId id="308" r:id="rId21"/>
    <p:sldId id="276" r:id="rId22"/>
    <p:sldId id="277" r:id="rId23"/>
    <p:sldId id="281" r:id="rId24"/>
    <p:sldId id="282" r:id="rId25"/>
  </p:sldIdLst>
  <p:sldSz cx="9144000" cy="6858000" type="screen4x3"/>
  <p:notesSz cx="6858000" cy="9144000"/>
  <p:defaultTextStyle>
    <a:defPPr>
      <a:defRPr lang="es-E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76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0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93365" y="1848218"/>
            <a:ext cx="7772400" cy="345317"/>
          </a:xfr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93365" y="2287319"/>
            <a:ext cx="6400800" cy="978395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49280"/>
            <a:ext cx="2160240" cy="648072"/>
          </a:xfrm>
          <a:prstGeom prst="rect">
            <a:avLst/>
          </a:prstGeom>
        </p:spPr>
      </p:pic>
      <p:sp>
        <p:nvSpPr>
          <p:cNvPr id="6" name="Rectángulo 7"/>
          <p:cNvSpPr/>
          <p:nvPr userDrawn="1"/>
        </p:nvSpPr>
        <p:spPr>
          <a:xfrm>
            <a:off x="0" y="1835150"/>
            <a:ext cx="239713" cy="108979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2"/>
            <a:ext cx="8229600" cy="5141425"/>
          </a:xfrm>
        </p:spPr>
        <p:txBody>
          <a:bodyPr/>
          <a:lstStyle>
            <a:lvl1pPr marL="457200" indent="-457200">
              <a:buFont typeface="+mj-lt"/>
              <a:buNone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57200" y="393579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4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332656"/>
            <a:ext cx="445597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332656"/>
            <a:ext cx="445597" cy="654174"/>
          </a:xfrm>
          <a:prstGeom prst="rect">
            <a:avLst/>
          </a:prstGeom>
        </p:spPr>
      </p:pic>
      <p:pic>
        <p:nvPicPr>
          <p:cNvPr id="7" name="Imagen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238" y="306388"/>
            <a:ext cx="43973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ángulo 8"/>
          <p:cNvSpPr/>
          <p:nvPr userDrawn="1"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9" name="8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078522"/>
            <a:ext cx="4038600" cy="51414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078522"/>
            <a:ext cx="4038600" cy="51414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332656"/>
            <a:ext cx="445597" cy="654174"/>
          </a:xfrm>
          <a:prstGeom prst="rect">
            <a:avLst/>
          </a:prstGeom>
        </p:spPr>
      </p:pic>
      <p:sp>
        <p:nvSpPr>
          <p:cNvPr id="9" name="Rectángulo 8"/>
          <p:cNvSpPr/>
          <p:nvPr userDrawn="1"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2"/>
            <a:ext cx="8229600" cy="514142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57200" y="393579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332656"/>
            <a:ext cx="445597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2"/>
            <a:ext cx="8229600" cy="514142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57200" y="393579"/>
            <a:ext cx="2648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CONCLUSIONES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332656"/>
            <a:ext cx="445597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538" y="306388"/>
            <a:ext cx="43973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8"/>
          <p:cNvSpPr/>
          <p:nvPr userDrawn="1"/>
        </p:nvSpPr>
        <p:spPr>
          <a:xfrm>
            <a:off x="8915400" y="482600"/>
            <a:ext cx="239713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5" name="4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09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clus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538" y="306388"/>
            <a:ext cx="43973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8"/>
          <p:cNvSpPr/>
          <p:nvPr userDrawn="1"/>
        </p:nvSpPr>
        <p:spPr>
          <a:xfrm>
            <a:off x="8915400" y="482600"/>
            <a:ext cx="239713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5" name="4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 userDrawn="1"/>
        </p:nvSpPr>
        <p:spPr>
          <a:xfrm>
            <a:off x="467544" y="447055"/>
            <a:ext cx="2141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dirty="0" smtClean="0">
                <a:latin typeface="Times New Roman" pitchFamily="18" charset="0"/>
                <a:cs typeface="Times New Roman" pitchFamily="18" charset="0"/>
              </a:rPr>
              <a:t>CONCLUSIONES</a:t>
            </a:r>
            <a:endParaRPr lang="es-E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01000" cy="487680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bg1"/>
              </a:buClr>
            </a:pPr>
            <a:r>
              <a:rPr lang="es-ES" sz="2200" dirty="0"/>
              <a:t>Las ondas mecánicas son perturbaciones que se propagan en un medio. De ellas, las armónicas pueden describirse fácilmente.</a:t>
            </a:r>
          </a:p>
          <a:p>
            <a:pPr algn="just">
              <a:lnSpc>
                <a:spcPct val="90000"/>
              </a:lnSpc>
              <a:buClr>
                <a:schemeClr val="bg1"/>
              </a:buClr>
            </a:pPr>
            <a:r>
              <a:rPr lang="es-ES" sz="2200" dirty="0"/>
              <a:t>Con ayuda de la expresión de la posición vertical se puede hallar las ecuaciones cinemáticas.</a:t>
            </a:r>
          </a:p>
          <a:p>
            <a:pPr algn="just">
              <a:lnSpc>
                <a:spcPct val="90000"/>
              </a:lnSpc>
              <a:buClr>
                <a:schemeClr val="bg1"/>
              </a:buClr>
            </a:pPr>
            <a:r>
              <a:rPr lang="es-ES" sz="2200" dirty="0"/>
              <a:t>Las ondas estacionarias surgen del análisis de las ondas armónicas, concluyendo que existen frecuencias específicas en que se produce un patrón de ondas estacionario (armónicos).</a:t>
            </a:r>
          </a:p>
          <a:p>
            <a:pPr algn="just">
              <a:lnSpc>
                <a:spcPct val="90000"/>
              </a:lnSpc>
              <a:buClr>
                <a:schemeClr val="bg1"/>
              </a:buClr>
            </a:pPr>
            <a:r>
              <a:rPr lang="es-ES" sz="2200" dirty="0"/>
              <a:t>Se estudia las propiedades básicas del sonido y se calcula la velocidad de propagación de esta onda.</a:t>
            </a:r>
          </a:p>
        </p:txBody>
      </p:sp>
    </p:spTree>
    <p:extLst>
      <p:ext uri="{BB962C8B-B14F-4D97-AF65-F5344CB8AC3E}">
        <p14:creationId xmlns:p14="http://schemas.microsoft.com/office/powerpoint/2010/main" val="32267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Referencias_bibliográ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538" y="306388"/>
            <a:ext cx="43973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ángulo 8"/>
          <p:cNvSpPr/>
          <p:nvPr userDrawn="1"/>
        </p:nvSpPr>
        <p:spPr>
          <a:xfrm>
            <a:off x="8915400" y="482600"/>
            <a:ext cx="239713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5" name="4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 userDrawn="1"/>
        </p:nvSpPr>
        <p:spPr>
          <a:xfrm>
            <a:off x="467544" y="447055"/>
            <a:ext cx="4104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dirty="0" smtClean="0">
                <a:latin typeface="Times New Roman" pitchFamily="18" charset="0"/>
                <a:cs typeface="Times New Roman" pitchFamily="18" charset="0"/>
              </a:rPr>
              <a:t>REFERENCIAS BIBLIOGRÁFICAS</a:t>
            </a:r>
            <a:endParaRPr lang="es-E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98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Rectángulo 7"/>
          <p:cNvSpPr/>
          <p:nvPr userDrawn="1"/>
        </p:nvSpPr>
        <p:spPr>
          <a:xfrm>
            <a:off x="0" y="1835150"/>
            <a:ext cx="239713" cy="108979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981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  <p:pic>
        <p:nvPicPr>
          <p:cNvPr id="7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238" y="306388"/>
            <a:ext cx="439737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ángulo 8"/>
          <p:cNvSpPr/>
          <p:nvPr userDrawn="1"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9" name="8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300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4079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/>
          <p:cNvSpPr/>
          <p:nvPr userDrawn="1"/>
        </p:nvSpPr>
        <p:spPr>
          <a:xfrm>
            <a:off x="8939213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cxnSp>
        <p:nvCxnSpPr>
          <p:cNvPr id="9" name="9 Conector recto"/>
          <p:cNvCxnSpPr/>
          <p:nvPr userDrawn="1"/>
        </p:nvCxnSpPr>
        <p:spPr>
          <a:xfrm>
            <a:off x="467544" y="1052736"/>
            <a:ext cx="7632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767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7567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0222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3880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4482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3486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6157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AB4-58F2-4B3B-9A3D-F46CCFD1F5F8}" type="datetimeFigureOut">
              <a:rPr lang="es-PE" smtClean="0"/>
              <a:t>02/11/2020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58282-670E-4AE6-AC47-2934A657998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1358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2"/>
            <a:ext cx="82296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6675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2"/>
            <a:ext cx="82296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757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4017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1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93365" y="1848218"/>
            <a:ext cx="7772400" cy="345317"/>
          </a:xfrm>
          <a:prstGeom prst="rect">
            <a:avLst/>
          </a:prstGeom>
        </p:spPr>
        <p:txBody>
          <a:bodyPr/>
          <a:lstStyle>
            <a:lvl1pPr>
              <a:defRPr sz="2585" cap="all">
                <a:solidFill>
                  <a:srgbClr val="272727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93365" y="2287321"/>
            <a:ext cx="6400800" cy="97839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62">
                <a:solidFill>
                  <a:schemeClr val="bg2">
                    <a:lumMod val="25000"/>
                  </a:schemeClr>
                </a:solidFill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240" y="5949280"/>
            <a:ext cx="2160240" cy="648072"/>
          </a:xfrm>
          <a:prstGeom prst="rect">
            <a:avLst/>
          </a:prstGeom>
        </p:spPr>
      </p:pic>
      <p:sp>
        <p:nvSpPr>
          <p:cNvPr id="7" name="Rectángulo 7"/>
          <p:cNvSpPr/>
          <p:nvPr/>
        </p:nvSpPr>
        <p:spPr>
          <a:xfrm>
            <a:off x="1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 userDrawn="1"/>
        </p:nvSpPr>
        <p:spPr>
          <a:xfrm>
            <a:off x="7223597" y="12700"/>
            <a:ext cx="1907704" cy="1124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</a:pPr>
            <a:endParaRPr lang="es-PE">
              <a:solidFill>
                <a:prstClr val="white"/>
              </a:solidFill>
            </a:endParaRPr>
          </a:p>
        </p:txBody>
      </p:sp>
      <p:sp>
        <p:nvSpPr>
          <p:cNvPr id="10" name="Rectángulo 7"/>
          <p:cNvSpPr/>
          <p:nvPr userDrawn="1"/>
        </p:nvSpPr>
        <p:spPr>
          <a:xfrm>
            <a:off x="0" y="1835150"/>
            <a:ext cx="221274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48246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4"/>
            <a:ext cx="8229600" cy="5141425"/>
          </a:xfrm>
          <a:prstGeom prst="rect">
            <a:avLst/>
          </a:prstGeom>
        </p:spPr>
        <p:txBody>
          <a:bodyPr/>
          <a:lstStyle>
            <a:lvl1pPr marL="422041" indent="-422041">
              <a:buFont typeface="+mj-lt"/>
              <a:buNone/>
              <a:defRPr sz="1846"/>
            </a:lvl1pPr>
            <a:lvl2pPr marL="844083" indent="-422041">
              <a:buFont typeface="+mj-lt"/>
              <a:buAutoNum type="arabicPeriod"/>
              <a:defRPr sz="1846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57200" y="393580"/>
            <a:ext cx="1401346" cy="4331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4083" fontAlgn="auto">
              <a:spcBef>
                <a:spcPts val="0"/>
              </a:spcBef>
              <a:spcAft>
                <a:spcPts val="0"/>
              </a:spcAft>
            </a:pPr>
            <a:r>
              <a:rPr lang="es-ES_tradnl" sz="2215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215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8939214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9" y="332656"/>
            <a:ext cx="445597" cy="6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684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8939214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0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15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078524"/>
            <a:ext cx="8229600" cy="5141425"/>
          </a:xfrm>
          <a:prstGeom prst="rect">
            <a:avLst/>
          </a:prstGeom>
        </p:spPr>
        <p:txBody>
          <a:bodyPr/>
          <a:lstStyle>
            <a:lvl1pPr>
              <a:defRPr sz="1846"/>
            </a:lvl1pPr>
            <a:lvl2pPr>
              <a:defRPr sz="1846"/>
            </a:lvl2pPr>
            <a:lvl3pPr>
              <a:defRPr sz="1846"/>
            </a:lvl3pPr>
            <a:lvl4pPr>
              <a:defRPr sz="1846"/>
            </a:lvl4pPr>
            <a:lvl5pPr>
              <a:defRPr sz="1846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9" y="332656"/>
            <a:ext cx="445597" cy="6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497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8939214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078524"/>
            <a:ext cx="403860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46"/>
            </a:lvl1pPr>
            <a:lvl2pPr>
              <a:defRPr sz="1846"/>
            </a:lvl2pPr>
            <a:lvl3pPr>
              <a:defRPr sz="1846"/>
            </a:lvl3pPr>
            <a:lvl4pPr>
              <a:defRPr sz="1846"/>
            </a:lvl4pPr>
            <a:lvl5pPr>
              <a:defRPr sz="1846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078524"/>
            <a:ext cx="403860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46"/>
            </a:lvl1pPr>
            <a:lvl2pPr>
              <a:defRPr sz="1846"/>
            </a:lvl2pPr>
            <a:lvl3pPr>
              <a:defRPr sz="1846"/>
            </a:lvl3pPr>
            <a:lvl4pPr>
              <a:defRPr sz="1846"/>
            </a:lvl4pPr>
            <a:lvl5pPr>
              <a:defRPr sz="1846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9" y="332656"/>
            <a:ext cx="445597" cy="6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88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8939214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4"/>
            <a:ext cx="8229600" cy="5141425"/>
          </a:xfrm>
          <a:prstGeom prst="rect">
            <a:avLst/>
          </a:prstGeom>
        </p:spPr>
        <p:txBody>
          <a:bodyPr/>
          <a:lstStyle>
            <a:lvl1pPr marL="422041" indent="-422041">
              <a:buFont typeface="+mj-lt"/>
              <a:buAutoNum type="arabicPeriod"/>
              <a:defRPr sz="1846"/>
            </a:lvl1pPr>
            <a:lvl2pPr marL="844083" indent="-422041">
              <a:buFont typeface="+mj-lt"/>
              <a:buAutoNum type="arabicPeriod"/>
              <a:defRPr sz="1846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57201" y="393580"/>
            <a:ext cx="4647426" cy="4331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4083" fontAlgn="auto">
              <a:spcBef>
                <a:spcPts val="0"/>
              </a:spcBef>
              <a:spcAft>
                <a:spcPts val="0"/>
              </a:spcAft>
            </a:pPr>
            <a:r>
              <a:rPr lang="es-ES_tradnl" sz="2215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215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9" y="332656"/>
            <a:ext cx="445597" cy="6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647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8939214" y="487363"/>
            <a:ext cx="217487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57200" y="1078524"/>
            <a:ext cx="8229600" cy="5141425"/>
          </a:xfrm>
          <a:prstGeom prst="rect">
            <a:avLst/>
          </a:prstGeom>
        </p:spPr>
        <p:txBody>
          <a:bodyPr/>
          <a:lstStyle>
            <a:lvl1pPr marL="422041" indent="-422041">
              <a:buFont typeface="+mj-lt"/>
              <a:buAutoNum type="arabicPeriod"/>
              <a:defRPr sz="1846"/>
            </a:lvl1pPr>
            <a:lvl2pPr marL="844083" indent="-422041">
              <a:buFont typeface="+mj-lt"/>
              <a:buAutoNum type="arabicPeriod"/>
              <a:defRPr sz="1846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57200" y="393580"/>
            <a:ext cx="2457724" cy="4331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4083" fontAlgn="auto">
              <a:spcBef>
                <a:spcPts val="0"/>
              </a:spcBef>
              <a:spcAft>
                <a:spcPts val="0"/>
              </a:spcAft>
            </a:pPr>
            <a:r>
              <a:rPr lang="es-ES_tradnl" sz="2215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CONCLUSIONES</a:t>
            </a:r>
            <a:endParaRPr lang="es-MX" sz="2215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9" y="332656"/>
            <a:ext cx="445597" cy="6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21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"/>
          <p:cNvSpPr/>
          <p:nvPr/>
        </p:nvSpPr>
        <p:spPr>
          <a:xfrm>
            <a:off x="8915401" y="482602"/>
            <a:ext cx="239713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44083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9" y="332656"/>
            <a:ext cx="445597" cy="6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29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84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0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_tradnl" smtClean="0"/>
              <a:t>CLIC PARA EDITAR TÍTULO</a:t>
            </a:r>
            <a:endParaRPr lang="es-ES" smtClean="0"/>
          </a:p>
        </p:txBody>
      </p:sp>
      <p:sp>
        <p:nvSpPr>
          <p:cNvPr id="16388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457200" y="1078522"/>
            <a:ext cx="8229600" cy="51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smtClean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AE029DD-EBB8-48F4-AE16-93E2ECB4FAA6}" type="datetimeFigureOut">
              <a:rPr lang="es-ES" smtClean="0"/>
              <a:pPr>
                <a:defRPr/>
              </a:pPr>
              <a:t>02/11/2020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D4B74AB-FBA2-40A7-9DDB-AAD86792C911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50" r:id="rId7"/>
    <p:sldLayoutId id="2147483751" r:id="rId8"/>
    <p:sldLayoutId id="2147483752" r:id="rId9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E029DD-EBB8-48F4-AE16-93E2ECB4FAA6}" type="datetimeFigureOut">
              <a:rPr lang="es-ES" smtClean="0"/>
              <a:pPr>
                <a:defRPr/>
              </a:pPr>
              <a:t>02/11/2020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4B74AB-FBA2-40A7-9DDB-AAD86792C911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25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5" r:id="rId12"/>
    <p:sldLayoutId id="2147483776" r:id="rId13"/>
    <p:sldLayoutId id="2147483787" r:id="rId1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24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22041" rtl="0" eaLnBrk="1" fontAlgn="base" hangingPunct="1">
        <a:spcBef>
          <a:spcPct val="0"/>
        </a:spcBef>
        <a:spcAft>
          <a:spcPct val="0"/>
        </a:spcAft>
        <a:defRPr sz="2215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22041"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844083"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266124"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688165" algn="l" defTabSz="422041" rtl="0" eaLnBrk="1" fontAlgn="base" hangingPunct="1">
        <a:spcBef>
          <a:spcPct val="0"/>
        </a:spcBef>
        <a:spcAft>
          <a:spcPct val="0"/>
        </a:spcAft>
        <a:defRPr sz="1846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16531" indent="-316531" algn="l" defTabSz="422041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477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685817" indent="-263776" algn="l" defTabSz="422041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477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055103" indent="-211021" algn="l" defTabSz="422041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477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477145" indent="-211021" algn="l" defTabSz="422041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477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1899186" indent="-211021" algn="l" defTabSz="422041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477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321227" indent="-211021" algn="l" defTabSz="422041" rtl="0" eaLnBrk="1" latinLnBrk="0" hangingPunct="1">
        <a:spcBef>
          <a:spcPct val="20000"/>
        </a:spcBef>
        <a:buFont typeface="Arial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422041" rtl="0" eaLnBrk="1" latinLnBrk="0" hangingPunct="1">
        <a:spcBef>
          <a:spcPct val="20000"/>
        </a:spcBef>
        <a:buFont typeface="Arial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422041" rtl="0" eaLnBrk="1" latinLnBrk="0" hangingPunct="1">
        <a:spcBef>
          <a:spcPct val="20000"/>
        </a:spcBef>
        <a:buFont typeface="Arial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422041" rtl="0" eaLnBrk="1" latinLnBrk="0" hangingPunct="1">
        <a:spcBef>
          <a:spcPct val="20000"/>
        </a:spcBef>
        <a:buFont typeface="Arial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422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png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907704" y="798327"/>
            <a:ext cx="6048672" cy="6480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04975" indent="-1704975"/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06:  FENOMENOS  ONDULATORIOS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47564" y="1844824"/>
            <a:ext cx="2700300" cy="48245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hangingPunct="0"/>
            <a:r>
              <a:rPr lang="es-ES" sz="2000" dirty="0">
                <a:solidFill>
                  <a:schemeClr val="tx1"/>
                </a:solidFill>
              </a:rPr>
              <a:t>Velocidad de propagación de la onda. Velocidad de oscilación.</a:t>
            </a:r>
            <a:endParaRPr lang="es-PE" sz="2000" dirty="0">
              <a:solidFill>
                <a:schemeClr val="tx1"/>
              </a:solidFill>
            </a:endParaRPr>
          </a:p>
          <a:p>
            <a:pPr hangingPunct="0"/>
            <a:r>
              <a:rPr lang="es-ES" sz="2000" dirty="0">
                <a:solidFill>
                  <a:schemeClr val="tx1"/>
                </a:solidFill>
              </a:rPr>
              <a:t>Ecuación de la onda en una dimensión. Potencia e Intensidad </a:t>
            </a:r>
            <a:r>
              <a:rPr lang="es-ES" sz="2000" dirty="0" smtClean="0">
                <a:solidFill>
                  <a:schemeClr val="tx1"/>
                </a:solidFill>
              </a:rPr>
              <a:t>de una </a:t>
            </a:r>
            <a:r>
              <a:rPr lang="es-ES" sz="2000" dirty="0">
                <a:solidFill>
                  <a:schemeClr val="tx1"/>
                </a:solidFill>
              </a:rPr>
              <a:t>Onda.  Principio </a:t>
            </a:r>
            <a:r>
              <a:rPr lang="es-ES" sz="2000" dirty="0" smtClean="0">
                <a:solidFill>
                  <a:schemeClr val="tx1"/>
                </a:solidFill>
              </a:rPr>
              <a:t>de Superposición</a:t>
            </a:r>
            <a:r>
              <a:rPr lang="es-ES" sz="2000" dirty="0">
                <a:solidFill>
                  <a:schemeClr val="tx1"/>
                </a:solidFill>
              </a:rPr>
              <a:t>.  Interferencia  de  </a:t>
            </a:r>
            <a:r>
              <a:rPr lang="es-ES" sz="2000" dirty="0" smtClean="0">
                <a:solidFill>
                  <a:schemeClr val="tx1"/>
                </a:solidFill>
              </a:rPr>
              <a:t>Ondas Armónicas</a:t>
            </a:r>
            <a:r>
              <a:rPr lang="es-ES" sz="2000" dirty="0">
                <a:solidFill>
                  <a:schemeClr val="tx1"/>
                </a:solidFill>
              </a:rPr>
              <a:t>. Ondas Estacionarias y Resonancia.</a:t>
            </a:r>
            <a:endParaRPr lang="es-PE" sz="2000" dirty="0">
              <a:solidFill>
                <a:schemeClr val="tx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844824"/>
            <a:ext cx="4072180" cy="44158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1671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2195736" y="730815"/>
            <a:ext cx="5502631" cy="89275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954" b="1" dirty="0">
                <a:solidFill>
                  <a:schemeClr val="tx1"/>
                </a:solidFill>
              </a:rPr>
              <a:t>OBSERVA LA IMÁGEN .  .  .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2051720" y="5589240"/>
            <a:ext cx="5370677" cy="596413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954" b="1" dirty="0">
                <a:solidFill>
                  <a:schemeClr val="tx1"/>
                </a:solidFill>
              </a:rPr>
              <a:t>¿Qué opinión tienes al respecto?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983142"/>
            <a:ext cx="4399901" cy="324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3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979712" y="901523"/>
            <a:ext cx="2755563" cy="62544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954" dirty="0">
                <a:solidFill>
                  <a:schemeClr val="tx1"/>
                </a:solidFill>
              </a:rPr>
              <a:t>PENSEMOS. . .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5901379" y="1900215"/>
            <a:ext cx="3057570" cy="4168775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215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s-PE" sz="2215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PE" sz="1846" b="1" dirty="0">
                <a:solidFill>
                  <a:schemeClr val="tx1"/>
                </a:solidFill>
              </a:rPr>
              <a:t>¿Qué entiendes </a:t>
            </a:r>
            <a:r>
              <a:rPr lang="es-PE" sz="1846" b="1" dirty="0" smtClean="0">
                <a:solidFill>
                  <a:schemeClr val="tx1"/>
                </a:solidFill>
              </a:rPr>
              <a:t>interferencia de ondas?</a:t>
            </a:r>
            <a:r>
              <a:rPr lang="es-PE" sz="1846" b="1" dirty="0">
                <a:solidFill>
                  <a:schemeClr val="tx1"/>
                </a:solidFill>
              </a:rPr>
              <a:t/>
            </a:r>
            <a:br>
              <a:rPr lang="es-PE" sz="1846" b="1" dirty="0">
                <a:solidFill>
                  <a:schemeClr val="tx1"/>
                </a:solidFill>
              </a:rPr>
            </a:br>
            <a:r>
              <a:rPr lang="es-PE" sz="1846" b="1" dirty="0">
                <a:solidFill>
                  <a:schemeClr val="tx1"/>
                </a:solidFill>
              </a:rPr>
              <a:t>¿Qué entiendes por </a:t>
            </a:r>
            <a:r>
              <a:rPr lang="es-PE" sz="1846" b="1" dirty="0" smtClean="0">
                <a:solidFill>
                  <a:schemeClr val="tx1"/>
                </a:solidFill>
              </a:rPr>
              <a:t>Intensidad de una onda?</a:t>
            </a:r>
            <a:r>
              <a:rPr lang="es-PE" sz="1846" b="1" dirty="0">
                <a:solidFill>
                  <a:schemeClr val="tx1"/>
                </a:solidFill>
              </a:rPr>
              <a:t/>
            </a:r>
            <a:br>
              <a:rPr lang="es-PE" sz="1846" b="1" dirty="0">
                <a:solidFill>
                  <a:schemeClr val="tx1"/>
                </a:solidFill>
              </a:rPr>
            </a:br>
            <a:r>
              <a:rPr lang="es-PE" sz="1846" b="1" dirty="0">
                <a:solidFill>
                  <a:schemeClr val="tx1"/>
                </a:solidFill>
              </a:rPr>
              <a:t>¿Qué es </a:t>
            </a:r>
            <a:r>
              <a:rPr lang="es-PE" sz="1846" b="1" dirty="0" smtClean="0">
                <a:solidFill>
                  <a:schemeClr val="tx1"/>
                </a:solidFill>
              </a:rPr>
              <a:t>una onda estacionaria?</a:t>
            </a:r>
            <a:endParaRPr lang="es-PE" sz="1846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PE" sz="1846" b="1" dirty="0" smtClean="0">
                <a:solidFill>
                  <a:schemeClr val="tx1"/>
                </a:solidFill>
              </a:rPr>
              <a:t>¿Qué es la resonancia en ondas </a:t>
            </a:r>
            <a:r>
              <a:rPr lang="es-PE" sz="1846" b="1" dirty="0" err="1" smtClean="0">
                <a:solidFill>
                  <a:schemeClr val="tx1"/>
                </a:solidFill>
              </a:rPr>
              <a:t>mecanicas</a:t>
            </a:r>
            <a:r>
              <a:rPr lang="es-PE" sz="1846" b="1" dirty="0" smtClean="0">
                <a:solidFill>
                  <a:schemeClr val="tx1"/>
                </a:solidFill>
              </a:rPr>
              <a:t>?</a:t>
            </a:r>
            <a:r>
              <a:rPr lang="es-PE" sz="1846" b="1" dirty="0">
                <a:solidFill>
                  <a:schemeClr val="tx1"/>
                </a:solidFill>
              </a:rPr>
              <a:t/>
            </a:r>
            <a:br>
              <a:rPr lang="es-PE" sz="1846" b="1" dirty="0">
                <a:solidFill>
                  <a:schemeClr val="tx1"/>
                </a:solidFill>
              </a:rPr>
            </a:br>
            <a:r>
              <a:rPr lang="es-PE" sz="2215" b="1" dirty="0">
                <a:solidFill>
                  <a:schemeClr val="tx1"/>
                </a:solidFill>
              </a:rPr>
              <a:t/>
            </a:r>
            <a:br>
              <a:rPr lang="es-PE" sz="2215" b="1" dirty="0">
                <a:solidFill>
                  <a:schemeClr val="tx1"/>
                </a:solidFill>
              </a:rPr>
            </a:br>
            <a:endParaRPr lang="es-PE" sz="2215" b="1" dirty="0">
              <a:solidFill>
                <a:schemeClr val="tx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76872"/>
            <a:ext cx="4965120" cy="326764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81398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1873615" y="986906"/>
            <a:ext cx="2459349" cy="465282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215" b="1" dirty="0">
                <a:solidFill>
                  <a:schemeClr val="tx1"/>
                </a:solidFill>
              </a:rPr>
              <a:t>PROPÓSITO</a:t>
            </a:r>
          </a:p>
        </p:txBody>
      </p:sp>
      <p:sp>
        <p:nvSpPr>
          <p:cNvPr id="8" name="2 Redondear rectángulo de esquina diagonal"/>
          <p:cNvSpPr/>
          <p:nvPr/>
        </p:nvSpPr>
        <p:spPr>
          <a:xfrm>
            <a:off x="5220072" y="1634340"/>
            <a:ext cx="3406550" cy="4109652"/>
          </a:xfrm>
          <a:prstGeom prst="round2DiagRect">
            <a:avLst>
              <a:gd name="adj1" fmla="val 14362"/>
              <a:gd name="adj2" fmla="val 0"/>
            </a:avLst>
          </a:prstGeom>
          <a:solidFill>
            <a:srgbClr val="11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PE" sz="1846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PE" sz="1846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termino de la sesión, el estudiante resuelve problemas de </a:t>
            </a:r>
            <a:r>
              <a:rPr lang="es-PE" sz="1846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fenómenos ondulatorios en una dimensión, </a:t>
            </a:r>
            <a:r>
              <a:rPr lang="es-PE" sz="1846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limpieza, orden y precisión en el cálculo.</a:t>
            </a:r>
          </a:p>
          <a:p>
            <a:pPr marL="316531" indent="-31653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1846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2" y="2232560"/>
            <a:ext cx="3608605" cy="351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ector recto 34"/>
          <p:cNvCxnSpPr/>
          <p:nvPr/>
        </p:nvCxnSpPr>
        <p:spPr>
          <a:xfrm flipV="1">
            <a:off x="8094853" y="3784950"/>
            <a:ext cx="0" cy="16762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/>
          <p:cNvCxnSpPr>
            <a:endCxn id="33" idx="2"/>
          </p:cNvCxnSpPr>
          <p:nvPr/>
        </p:nvCxnSpPr>
        <p:spPr>
          <a:xfrm>
            <a:off x="4368381" y="3934987"/>
            <a:ext cx="308928" cy="8841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2707036" y="3611291"/>
            <a:ext cx="3834" cy="64709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redondeado 8"/>
          <p:cNvSpPr/>
          <p:nvPr/>
        </p:nvSpPr>
        <p:spPr>
          <a:xfrm>
            <a:off x="2191989" y="964657"/>
            <a:ext cx="4018085" cy="486462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585" b="1" dirty="0">
                <a:solidFill>
                  <a:schemeClr val="tx1"/>
                </a:solidFill>
              </a:rPr>
              <a:t>CONTENIDO TEMÁTICO</a:t>
            </a:r>
            <a:endParaRPr lang="es-PE" sz="2585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xmlns="" id="{8029014D-9243-4890-AF00-9E6FC9945B2C}"/>
              </a:ext>
            </a:extLst>
          </p:cNvPr>
          <p:cNvSpPr/>
          <p:nvPr/>
        </p:nvSpPr>
        <p:spPr>
          <a:xfrm>
            <a:off x="2995602" y="1954204"/>
            <a:ext cx="3053697" cy="531751"/>
          </a:xfrm>
          <a:prstGeom prst="rect">
            <a:avLst/>
          </a:prstGeom>
          <a:solidFill>
            <a:srgbClr val="1199FF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 smtClean="0">
                <a:solidFill>
                  <a:schemeClr val="tx1"/>
                </a:solidFill>
              </a:rPr>
              <a:t>FENÓMENOS ONDULATORIOS</a:t>
            </a:r>
            <a:endParaRPr lang="es-PE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xmlns="" id="{008A15F1-A2F7-4515-8854-56CDE8B68B99}"/>
              </a:ext>
            </a:extLst>
          </p:cNvPr>
          <p:cNvCxnSpPr>
            <a:cxnSpLocks/>
          </p:cNvCxnSpPr>
          <p:nvPr/>
        </p:nvCxnSpPr>
        <p:spPr>
          <a:xfrm>
            <a:off x="4538273" y="2526279"/>
            <a:ext cx="0" cy="332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019396" y="3066622"/>
            <a:ext cx="1392712" cy="54466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77" b="1" dirty="0">
                <a:solidFill>
                  <a:schemeClr val="tx1"/>
                </a:solidFill>
              </a:rPr>
              <a:t>CANTIDADES </a:t>
            </a:r>
            <a:r>
              <a:rPr lang="es-PE" sz="1477" b="1" dirty="0"/>
              <a:t>FÍSICAS</a:t>
            </a:r>
            <a:endParaRPr lang="es-PE" sz="1477" b="1" dirty="0">
              <a:solidFill>
                <a:schemeClr val="tx1"/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xmlns="" id="{43098481-B66C-4565-AFF8-F4FBF153DF92}"/>
              </a:ext>
            </a:extLst>
          </p:cNvPr>
          <p:cNvCxnSpPr>
            <a:cxnSpLocks/>
          </p:cNvCxnSpPr>
          <p:nvPr/>
        </p:nvCxnSpPr>
        <p:spPr>
          <a:xfrm flipH="1" flipV="1">
            <a:off x="1111178" y="2848454"/>
            <a:ext cx="6822547" cy="2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xmlns="" id="{E4375B2A-706A-4D8E-8409-0FE4926350F3}"/>
              </a:ext>
            </a:extLst>
          </p:cNvPr>
          <p:cNvCxnSpPr>
            <a:cxnSpLocks/>
          </p:cNvCxnSpPr>
          <p:nvPr/>
        </p:nvCxnSpPr>
        <p:spPr>
          <a:xfrm>
            <a:off x="4539915" y="2858623"/>
            <a:ext cx="0" cy="332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xmlns="" id="{491CDA35-9E9C-46DA-B439-A69909018FD2}"/>
              </a:ext>
            </a:extLst>
          </p:cNvPr>
          <p:cNvSpPr/>
          <p:nvPr/>
        </p:nvSpPr>
        <p:spPr>
          <a:xfrm>
            <a:off x="2143136" y="3826894"/>
            <a:ext cx="1350729" cy="1814597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kumimoji="1" lang="en-GB" altLang="es-PE" sz="129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kumimoji="1" lang="en-GB" altLang="es-PE" sz="129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kumimoji="1" lang="en-GB" altLang="es-PE" sz="1292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kumimoji="1" lang="en-GB" altLang="es-PE" sz="129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Frecuencia</a:t>
            </a:r>
            <a:r>
              <a:rPr kumimoji="1" lang="en-GB" altLang="es-PE" sz="129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endParaRPr kumimoji="1" lang="en-GB" altLang="es-PE" sz="129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Aceleración</a:t>
            </a:r>
            <a:r>
              <a:rPr kumimoji="1" lang="en-GB" altLang="es-PE" sz="129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endParaRPr kumimoji="1" lang="en-GB" altLang="es-PE" sz="129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7574" indent="-187574" algn="just">
              <a:buFont typeface="Arial" panose="020B0604020202020204" pitchFamily="34" charset="0"/>
              <a:buChar char="•"/>
            </a:pPr>
            <a:r>
              <a:rPr kumimoji="1" lang="en-GB" altLang="es-PE" sz="1292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kumimoji="1" lang="en-GB" altLang="es-PE" sz="1292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PE" sz="1292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185051" y="3066622"/>
            <a:ext cx="1710978" cy="66107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77" b="1" dirty="0" smtClean="0">
                <a:solidFill>
                  <a:schemeClr val="tx1"/>
                </a:solidFill>
              </a:rPr>
              <a:t>INTENSIDAD DE UNA ONDA</a:t>
            </a:r>
            <a:endParaRPr lang="es-PE" sz="1477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3660311" y="3051186"/>
            <a:ext cx="1830220" cy="890030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477" b="1" dirty="0" smtClean="0">
                <a:cs typeface="Arial" panose="020B0604020202020204" pitchFamily="34" charset="0"/>
              </a:rPr>
              <a:t>POTENCIA E INTENSIDAD DE UNA </a:t>
            </a:r>
            <a:r>
              <a:rPr lang="es-PE" sz="1477" b="1" dirty="0">
                <a:cs typeface="Arial" panose="020B0604020202020204" pitchFamily="34" charset="0"/>
              </a:rPr>
              <a:t>ONDA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7430164" y="5335811"/>
                <a:ext cx="1568863" cy="818415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PE" sz="1477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𝑘</m:t>
                      </m:r>
                      <m:d>
                        <m:dPr>
                          <m:ctrlPr>
                            <a:rPr lang="es-PE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PE" sz="147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164" y="5335811"/>
                <a:ext cx="1568863" cy="81841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xmlns="" id="{C2DA4E98-4D40-4E2B-AC84-9B82C98610BC}"/>
              </a:ext>
            </a:extLst>
          </p:cNvPr>
          <p:cNvCxnSpPr>
            <a:cxnSpLocks/>
          </p:cNvCxnSpPr>
          <p:nvPr/>
        </p:nvCxnSpPr>
        <p:spPr>
          <a:xfrm>
            <a:off x="1040539" y="3741332"/>
            <a:ext cx="0" cy="265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5616771" y="3073921"/>
            <a:ext cx="1488029" cy="910553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477" b="1" dirty="0" smtClean="0">
                <a:cs typeface="Arial" panose="020B0604020202020204" pitchFamily="34" charset="0"/>
              </a:rPr>
              <a:t>NIVEL SONORO</a:t>
            </a:r>
            <a:endParaRPr lang="es-PE" sz="1477" b="1" dirty="0">
              <a:cs typeface="Arial" panose="020B0604020202020204" pitchFamily="34" charset="0"/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1108812" y="2848454"/>
            <a:ext cx="0" cy="21816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7933724" y="2848454"/>
            <a:ext cx="0" cy="2246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6319453" y="2858623"/>
            <a:ext cx="0" cy="2246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>
          <a:xfrm>
            <a:off x="2782785" y="2841995"/>
            <a:ext cx="0" cy="2246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3579264" y="4066548"/>
                <a:ext cx="2196090" cy="752547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ES" sz="1400" i="1" dirty="0" smtClean="0"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lvl="0" algn="just"/>
                <a:endParaRPr lang="es-PE" sz="1400" i="1" dirty="0" smtClean="0"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</m:acc>
                      <m:r>
                        <a:rPr lang="es-E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ctrlPr>
                            <a:rPr lang="es-PE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s-PE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s-PE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</m:acc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s-PE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𝑑𝐴</m:t>
                          </m:r>
                        </m:e>
                      </m:nary>
                      <m:d>
                        <m:dPr>
                          <m:ctrlPr>
                            <a:rPr lang="es-PE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𝑊𝑎𝑡𝑡𝑠</m:t>
                          </m:r>
                        </m:e>
                      </m:d>
                    </m:oMath>
                  </m:oMathPara>
                </a14:m>
                <a:endParaRPr lang="es-PE" sz="1477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47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264" y="4066548"/>
                <a:ext cx="2196090" cy="75254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44822C0F-02DC-406F-8E12-F1FFDD5CFB2F}"/>
                  </a:ext>
                </a:extLst>
              </p:cNvPr>
              <p:cNvSpPr/>
              <p:nvPr/>
            </p:nvSpPr>
            <p:spPr>
              <a:xfrm>
                <a:off x="5224654" y="4845635"/>
                <a:ext cx="2205510" cy="795856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s-ES" sz="1477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s-PE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6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s-ES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s-PE" sz="1477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PE" sz="1477" dirty="0"/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822C0F-02DC-406F-8E12-F1FFDD5CF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654" y="4845635"/>
                <a:ext cx="2205510" cy="7958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xmlns="" id="{8EF499C7-AECE-44DE-89A6-BD7D3BC55E42}"/>
                  </a:ext>
                </a:extLst>
              </p:cNvPr>
              <p:cNvSpPr/>
              <p:nvPr/>
            </p:nvSpPr>
            <p:spPr>
              <a:xfrm>
                <a:off x="217930" y="4007208"/>
                <a:ext cx="1667129" cy="1634284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r>
                  <a:rPr lang="es-PE" sz="1292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Es un vector definido como el cociente de la potencia por unidad de área. Sus unidades en el SI son W 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E" sz="1292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1292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s-ES" sz="1292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s-PE" sz="1292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EF499C7-AECE-44DE-89A6-BD7D3BC55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30" y="4007208"/>
                <a:ext cx="1667129" cy="1634284"/>
              </a:xfrm>
              <a:prstGeom prst="rect">
                <a:avLst/>
              </a:prstGeom>
              <a:blipFill rotWithShape="0">
                <a:blip r:embed="rId5"/>
                <a:stretch>
                  <a:fillRect l="-7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ángulo 35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7303930" y="3052352"/>
            <a:ext cx="1444533" cy="910553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477" b="1" dirty="0" smtClean="0">
                <a:cs typeface="Arial" panose="020B0604020202020204" pitchFamily="34" charset="0"/>
              </a:rPr>
              <a:t>TERMINO DE INTERFERENCIA</a:t>
            </a:r>
            <a:endParaRPr lang="es-PE" sz="1477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17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33" grpId="0" animBg="1"/>
      <p:bldP spid="19" grpId="0" animBg="1"/>
      <p:bldP spid="17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900028" y="812868"/>
            <a:ext cx="5912332" cy="521989"/>
          </a:xfrm>
        </p:spPr>
        <p:txBody>
          <a:bodyPr>
            <a:normAutofit fontScale="90000"/>
          </a:bodyPr>
          <a:lstStyle/>
          <a:p>
            <a:r>
              <a:rPr lang="es-PE" b="1" dirty="0" smtClean="0"/>
              <a:t>Potencia transmitida por una onda</a:t>
            </a:r>
            <a:endParaRPr lang="es-P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Marcador de contenido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01856" y="2902927"/>
                <a:ext cx="4663430" cy="364339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r>
                  <a:rPr lang="es-PE" dirty="0" smtClean="0"/>
                  <a:t>La energía cinética en un elemento de cuerda es:</a:t>
                </a:r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𝑑𝑚</m:t>
                      </m:r>
                      <m:sSubSup>
                        <m:sSub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endParaRPr lang="es-PE" dirty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𝑥𝐴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𝑆𝑒𝑛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𝑘𝑥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endParaRPr lang="es-ES" dirty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r>
                  <a:rPr lang="es-ES" dirty="0" smtClean="0"/>
                  <a:t>Tomamos el valor medio en un periodo entonces:</a:t>
                </a:r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𝑆𝑒𝑛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𝑘𝑥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r>
                  <a:rPr lang="es-ES" dirty="0" smtClean="0"/>
                  <a:t>En un oscilador armónico se cumple que:</a:t>
                </a:r>
                <a:endParaRPr lang="es-PE" dirty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r>
                  <a:rPr lang="es-ES" dirty="0" smtClean="0"/>
                  <a:t>La energía total media es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̅"/>
                        <m:ctrlPr>
                          <a:rPr lang="es-P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P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̅"/>
                        <m:ctrlPr>
                          <a:rPr lang="es-P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P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̅"/>
                        <m:ctrlPr>
                          <a:rPr lang="es-P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P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acc>
                  </m:oMath>
                </a14:m>
                <a:endParaRPr lang="es-PE" dirty="0" smtClean="0"/>
              </a:p>
              <a:p>
                <a:pPr marL="0" indent="0" algn="just">
                  <a:spcBef>
                    <a:spcPct val="0"/>
                  </a:spcBef>
                  <a:buClr>
                    <a:schemeClr val="bg1"/>
                  </a:buClr>
                  <a:buNone/>
                </a:pPr>
                <a:endParaRPr lang="es-PE" dirty="0"/>
              </a:p>
              <a:p>
                <a:pPr marL="0" indent="0" algn="just">
                  <a:buNone/>
                </a:pPr>
                <a:endParaRPr lang="es-PE" dirty="0"/>
              </a:p>
            </p:txBody>
          </p:sp>
        </mc:Choice>
        <mc:Fallback xmlns="">
          <p:sp>
            <p:nvSpPr>
              <p:cNvPr id="9" name="8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01856" y="2902927"/>
                <a:ext cx="4663430" cy="3643394"/>
              </a:xfrm>
              <a:blipFill rotWithShape="0">
                <a:blip r:embed="rId3"/>
                <a:stretch>
                  <a:fillRect l="-654" t="-217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8"/>
          <p:cNvGraphicFramePr>
            <a:graphicFrameLocks noChangeAspect="1"/>
          </p:cNvGraphicFramePr>
          <p:nvPr>
            <p:extLst/>
          </p:nvPr>
        </p:nvGraphicFramePr>
        <p:xfrm>
          <a:off x="5790592" y="5477025"/>
          <a:ext cx="211613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4" imgW="1905000" imgH="673100" progId="">
                  <p:embed/>
                </p:oleObj>
              </mc:Choice>
              <mc:Fallback>
                <p:oleObj name="Equation" r:id="rId4" imgW="1905000" imgH="6731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0592" y="5477025"/>
                        <a:ext cx="2116138" cy="74771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75000"/>
                        </a:schemeClr>
                      </a:solidFill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44" y="1754221"/>
            <a:ext cx="4097048" cy="1148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5868144" y="1756446"/>
                <a:ext cx="2024337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acc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𝑑𝑥𝐴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756446"/>
                <a:ext cx="2024337" cy="61093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/>
          <p:cNvSpPr txBox="1"/>
          <p:nvPr/>
        </p:nvSpPr>
        <p:spPr>
          <a:xfrm>
            <a:off x="5211524" y="2353783"/>
            <a:ext cx="305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Dividiendo por </a:t>
            </a:r>
            <a:r>
              <a:rPr lang="es-ES" dirty="0" err="1" smtClean="0"/>
              <a:t>dt</a:t>
            </a:r>
            <a:r>
              <a:rPr lang="es-ES" dirty="0" smtClean="0"/>
              <a:t> tenemos: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6059350" y="4561574"/>
                <a:ext cx="1642436" cy="61093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350" y="4561574"/>
                <a:ext cx="1642436" cy="6109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5790592" y="2848089"/>
                <a:ext cx="2557944" cy="6476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592" y="2848089"/>
                <a:ext cx="2557944" cy="64767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/>
          <p:cNvSpPr txBox="1"/>
          <p:nvPr/>
        </p:nvSpPr>
        <p:spPr>
          <a:xfrm>
            <a:off x="5508104" y="3597940"/>
            <a:ext cx="305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La potencia media trasmitida por una onda: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1392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1979712" y="945409"/>
            <a:ext cx="2232248" cy="710100"/>
          </a:xfrm>
        </p:spPr>
        <p:txBody>
          <a:bodyPr/>
          <a:lstStyle/>
          <a:p>
            <a:r>
              <a:rPr lang="es-PE" dirty="0" smtClean="0"/>
              <a:t>Ejemplo 4</a:t>
            </a:r>
            <a:endParaRPr lang="es-PE" dirty="0"/>
          </a:p>
        </p:txBody>
      </p:sp>
      <p:sp>
        <p:nvSpPr>
          <p:cNvPr id="8" name="7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s-PE" dirty="0"/>
              <a:t>Un alambre de piano con masa de 3,00 g y longitud de 80,0 cm se estira con una tensión de 25,0 N. Una onda con frecuencia de 120,0 Hz y amplitud 1,6 mm viaja por el alambre. a) calcule la potencia media que transporta la onda. b) ¿Qué sucede con la potencia media si se reduce a la mitad la amplitud de la onda?</a:t>
            </a:r>
          </a:p>
          <a:p>
            <a:pPr algn="just"/>
            <a:endParaRPr lang="es-PE" dirty="0"/>
          </a:p>
        </p:txBody>
      </p:sp>
      <p:graphicFrame>
        <p:nvGraphicFramePr>
          <p:cNvPr id="3" name="Object 13"/>
          <p:cNvGraphicFramePr>
            <a:graphicFrameLocks noChangeAspect="1"/>
          </p:cNvGraphicFramePr>
          <p:nvPr>
            <p:extLst/>
          </p:nvPr>
        </p:nvGraphicFramePr>
        <p:xfrm>
          <a:off x="1115616" y="5364108"/>
          <a:ext cx="2214562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3" imgW="1905000" imgH="673100" progId="">
                  <p:embed/>
                </p:oleObj>
              </mc:Choice>
              <mc:Fallback>
                <p:oleObj name="Equation" r:id="rId3" imgW="1905000" imgH="6731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364108"/>
                        <a:ext cx="2214562" cy="7826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75000"/>
                        </a:schemeClr>
                      </a:solidFill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351" name="Picture 87" descr="http://www.backtomusicschool.com/wp-content/uploads/2014/01/oiano_interio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825625"/>
            <a:ext cx="3816423" cy="228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28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323528" y="1795490"/>
                <a:ext cx="4608512" cy="4909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s-ES" sz="1600" dirty="0" smtClean="0">
                    <a:latin typeface="Times New Roman" panose="02020603050405020304" pitchFamily="18" charset="0"/>
                  </a:rPr>
                  <a:t>Si </a:t>
                </a:r>
                <a:r>
                  <a:rPr lang="es-ES" sz="1600" dirty="0">
                    <a:latin typeface="Times New Roman" panose="02020603050405020304" pitchFamily="18" charset="0"/>
                  </a:rPr>
                  <a:t>esta potencia media </a:t>
                </a:r>
                <a:r>
                  <a:rPr lang="es-ES" sz="1600" dirty="0" smtClean="0">
                    <a:latin typeface="Times New Roman" panose="02020603050405020304" pitchFamily="18" charset="0"/>
                  </a:rPr>
                  <a:t>la </a:t>
                </a:r>
                <a:r>
                  <a:rPr lang="es-ES" sz="1600" dirty="0">
                    <a:latin typeface="Times New Roman" panose="02020603050405020304" pitchFamily="18" charset="0"/>
                  </a:rPr>
                  <a:t>consideramos que se transmite a través de un medio elástico de densidad ρ y sección transversal perpendicular a la </a:t>
                </a:r>
                <a:r>
                  <a:rPr lang="es-ES" sz="1600" dirty="0" smtClean="0">
                    <a:latin typeface="Times New Roman" panose="02020603050405020304" pitchFamily="18" charset="0"/>
                  </a:rPr>
                  <a:t>dirección </a:t>
                </a:r>
                <a:r>
                  <a:rPr lang="es-ES" sz="1600" dirty="0">
                    <a:latin typeface="Times New Roman" panose="02020603050405020304" pitchFamily="18" charset="0"/>
                  </a:rPr>
                  <a:t>de </a:t>
                </a:r>
                <a:r>
                  <a:rPr lang="es-ES" sz="1600" dirty="0" smtClean="0">
                    <a:latin typeface="Times New Roman" panose="02020603050405020304" pitchFamily="18" charset="0"/>
                  </a:rPr>
                  <a:t>propagación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>
                            <a:effectLst/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s-ES" sz="1600" b="0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sz="1600" b="0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" sz="1600" dirty="0">
                    <a:effectLst/>
                    <a:latin typeface="Times New Roman" panose="02020603050405020304" pitchFamily="18" charset="0"/>
                  </a:rPr>
                  <a:t>, podemos representarla 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</a:rPr>
                  <a:t>a través 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</a:rPr>
                  <a:t>de la intensidad  media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>
                            <a:effectLst/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</m:oMath>
                </a14:m>
                <a:r>
                  <a:rPr lang="es-ES" sz="1600" dirty="0">
                    <a:effectLst/>
                    <a:latin typeface="Times New Roman" panose="02020603050405020304" pitchFamily="18" charset="0"/>
                  </a:rPr>
                  <a:t>, definida como</a:t>
                </a:r>
                <a:endParaRPr lang="es-PE" sz="1600" dirty="0">
                  <a:effectLst/>
                  <a:latin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</m:e>
                    </m:acc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s-PE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s-PE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Entonces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s-PE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𝑣</m:t>
                      </m:r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𝑊𝑎𝑡𝑡𝑠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PE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s-E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 donde hemos considerado que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𝜌</m:t>
                      </m:r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sSub>
                            <m:sSubPr>
                              <m:ctrlPr>
                                <a:rPr lang="es-PE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La cantidad de energía que pasa en la unidad de tiempo por la unidad de superficie se llama densidad de flujo o intensidad media cuyas unidades son 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Watts/m</a:t>
                </a:r>
                <a:r>
                  <a:rPr lang="es-ES" sz="1600" baseline="30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s-ES" sz="16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ahora como la velocidad es un vector, 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95490"/>
                <a:ext cx="4608512" cy="4909421"/>
              </a:xfrm>
              <a:prstGeom prst="rect">
                <a:avLst/>
              </a:prstGeom>
              <a:blipFill rotWithShape="0">
                <a:blip r:embed="rId2"/>
                <a:stretch>
                  <a:fillRect l="-661" t="-373" r="-794" b="-74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/>
          <p:cNvSpPr txBox="1"/>
          <p:nvPr/>
        </p:nvSpPr>
        <p:spPr>
          <a:xfrm>
            <a:off x="1835696" y="980728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INTENSIDAD MEDIA DE UNA ONDA. VECTOR DE UMOV </a:t>
            </a:r>
            <a:endParaRPr lang="es-PE" b="1" dirty="0"/>
          </a:p>
        </p:txBody>
      </p:sp>
      <p:sp>
        <p:nvSpPr>
          <p:cNvPr id="8" name="Rectángulo 7"/>
          <p:cNvSpPr/>
          <p:nvPr/>
        </p:nvSpPr>
        <p:spPr>
          <a:xfrm>
            <a:off x="5115840" y="1784722"/>
            <a:ext cx="38164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La </a:t>
            </a:r>
            <a:r>
              <a:rPr lang="es-E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intensidad de energía media también puede considerarse como un vector dirigido en el sentido de la propagación de la </a:t>
            </a:r>
            <a:r>
              <a:rPr lang="es-ES" sz="16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onda</a:t>
            </a:r>
            <a:r>
              <a:rPr lang="es-E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s-ES" sz="16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0" name="Group 31785"/>
          <p:cNvGrpSpPr>
            <a:grpSpLocks/>
          </p:cNvGrpSpPr>
          <p:nvPr/>
        </p:nvGrpSpPr>
        <p:grpSpPr bwMode="auto">
          <a:xfrm>
            <a:off x="4858271" y="2615719"/>
            <a:ext cx="4003040" cy="1941830"/>
            <a:chOff x="2601" y="3042"/>
            <a:chExt cx="6304" cy="3058"/>
          </a:xfrm>
        </p:grpSpPr>
        <p:grpSp>
          <p:nvGrpSpPr>
            <p:cNvPr id="11" name="Group 31745"/>
            <p:cNvGrpSpPr>
              <a:grpSpLocks/>
            </p:cNvGrpSpPr>
            <p:nvPr/>
          </p:nvGrpSpPr>
          <p:grpSpPr bwMode="auto">
            <a:xfrm>
              <a:off x="3516" y="3042"/>
              <a:ext cx="3295" cy="2561"/>
              <a:chOff x="6201" y="6727"/>
              <a:chExt cx="3885" cy="3690"/>
            </a:xfrm>
          </p:grpSpPr>
          <p:sp>
            <p:nvSpPr>
              <p:cNvPr id="25" name="Freeform 31746"/>
              <p:cNvSpPr>
                <a:spLocks/>
              </p:cNvSpPr>
              <p:nvPr/>
            </p:nvSpPr>
            <p:spPr bwMode="auto">
              <a:xfrm rot="-152945">
                <a:off x="7131" y="6727"/>
                <a:ext cx="2340" cy="3600"/>
              </a:xfrm>
              <a:custGeom>
                <a:avLst/>
                <a:gdLst>
                  <a:gd name="T0" fmla="*/ 0 w 2340"/>
                  <a:gd name="T1" fmla="*/ 1080 h 3600"/>
                  <a:gd name="T2" fmla="*/ 1080 w 2340"/>
                  <a:gd name="T3" fmla="*/ 0 h 3600"/>
                  <a:gd name="T4" fmla="*/ 2340 w 2340"/>
                  <a:gd name="T5" fmla="*/ 2520 h 3600"/>
                  <a:gd name="T6" fmla="*/ 1260 w 2340"/>
                  <a:gd name="T7" fmla="*/ 3600 h 3600"/>
                  <a:gd name="T8" fmla="*/ 0 w 2340"/>
                  <a:gd name="T9" fmla="*/ 1080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0" h="3600">
                    <a:moveTo>
                      <a:pt x="0" y="1080"/>
                    </a:moveTo>
                    <a:lnTo>
                      <a:pt x="1080" y="0"/>
                    </a:lnTo>
                    <a:lnTo>
                      <a:pt x="2340" y="2520"/>
                    </a:lnTo>
                    <a:lnTo>
                      <a:pt x="1260" y="3600"/>
                    </a:lnTo>
                    <a:lnTo>
                      <a:pt x="0" y="1080"/>
                    </a:lnTo>
                    <a:close/>
                  </a:path>
                </a:pathLst>
              </a:custGeom>
              <a:solidFill>
                <a:srgbClr val="FFFF99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PE"/>
              </a:p>
            </p:txBody>
          </p:sp>
          <p:sp>
            <p:nvSpPr>
              <p:cNvPr id="26" name="Freeform 31747"/>
              <p:cNvSpPr>
                <a:spLocks/>
              </p:cNvSpPr>
              <p:nvPr/>
            </p:nvSpPr>
            <p:spPr bwMode="auto">
              <a:xfrm>
                <a:off x="7101" y="7897"/>
                <a:ext cx="900" cy="2520"/>
              </a:xfrm>
              <a:custGeom>
                <a:avLst/>
                <a:gdLst>
                  <a:gd name="T0" fmla="*/ 0 w 900"/>
                  <a:gd name="T1" fmla="*/ 0 h 2520"/>
                  <a:gd name="T2" fmla="*/ 0 w 900"/>
                  <a:gd name="T3" fmla="*/ 2520 h 2520"/>
                  <a:gd name="T4" fmla="*/ 900 w 900"/>
                  <a:gd name="T5" fmla="*/ 1620 h 2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0" h="2520">
                    <a:moveTo>
                      <a:pt x="0" y="0"/>
                    </a:moveTo>
                    <a:lnTo>
                      <a:pt x="0" y="2520"/>
                    </a:lnTo>
                    <a:lnTo>
                      <a:pt x="900" y="1620"/>
                    </a:lnTo>
                  </a:path>
                </a:pathLst>
              </a:custGeom>
              <a:solidFill>
                <a:srgbClr val="FFFF99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PE"/>
              </a:p>
            </p:txBody>
          </p:sp>
          <p:grpSp>
            <p:nvGrpSpPr>
              <p:cNvPr id="27" name="Group 31748"/>
              <p:cNvGrpSpPr>
                <a:grpSpLocks/>
              </p:cNvGrpSpPr>
              <p:nvPr/>
            </p:nvGrpSpPr>
            <p:grpSpPr bwMode="auto">
              <a:xfrm>
                <a:off x="6201" y="7177"/>
                <a:ext cx="3885" cy="690"/>
                <a:chOff x="6201" y="7177"/>
                <a:chExt cx="3885" cy="690"/>
              </a:xfrm>
            </p:grpSpPr>
            <p:grpSp>
              <p:nvGrpSpPr>
                <p:cNvPr id="43" name="Group 31749"/>
                <p:cNvGrpSpPr>
                  <a:grpSpLocks/>
                </p:cNvGrpSpPr>
                <p:nvPr/>
              </p:nvGrpSpPr>
              <p:grpSpPr bwMode="auto">
                <a:xfrm>
                  <a:off x="6816" y="7177"/>
                  <a:ext cx="3270" cy="0"/>
                  <a:chOff x="6816" y="7177"/>
                  <a:chExt cx="3270" cy="0"/>
                </a:xfrm>
              </p:grpSpPr>
              <p:cxnSp>
                <p:nvCxnSpPr>
                  <p:cNvPr id="50" name="Line 3175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06" y="7177"/>
                    <a:ext cx="19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1" name="Line 31751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816" y="7177"/>
                    <a:ext cx="90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44" name="Group 31752"/>
                <p:cNvGrpSpPr>
                  <a:grpSpLocks/>
                </p:cNvGrpSpPr>
                <p:nvPr/>
              </p:nvGrpSpPr>
              <p:grpSpPr bwMode="auto">
                <a:xfrm>
                  <a:off x="6486" y="7537"/>
                  <a:ext cx="3270" cy="0"/>
                  <a:chOff x="6816" y="7177"/>
                  <a:chExt cx="3270" cy="0"/>
                </a:xfrm>
              </p:grpSpPr>
              <p:cxnSp>
                <p:nvCxnSpPr>
                  <p:cNvPr id="48" name="Line 3175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06" y="7177"/>
                    <a:ext cx="19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Line 31754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816" y="7177"/>
                    <a:ext cx="90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45" name="Group 31755"/>
                <p:cNvGrpSpPr>
                  <a:grpSpLocks/>
                </p:cNvGrpSpPr>
                <p:nvPr/>
              </p:nvGrpSpPr>
              <p:grpSpPr bwMode="auto">
                <a:xfrm>
                  <a:off x="6201" y="7867"/>
                  <a:ext cx="3270" cy="0"/>
                  <a:chOff x="6816" y="7177"/>
                  <a:chExt cx="3270" cy="0"/>
                </a:xfrm>
              </p:grpSpPr>
              <p:cxnSp>
                <p:nvCxnSpPr>
                  <p:cNvPr id="46" name="Line 3175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06" y="7177"/>
                    <a:ext cx="198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7" name="Line 31757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816" y="7177"/>
                    <a:ext cx="90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cxnSp>
            <p:nvCxnSpPr>
              <p:cNvPr id="28" name="Line 31758"/>
              <p:cNvCxnSpPr>
                <a:cxnSpLocks noChangeShapeType="1"/>
              </p:cNvCxnSpPr>
              <p:nvPr/>
            </p:nvCxnSpPr>
            <p:spPr bwMode="auto">
              <a:xfrm>
                <a:off x="8901" y="8437"/>
                <a:ext cx="1185" cy="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31759"/>
              <p:cNvCxnSpPr>
                <a:cxnSpLocks noChangeShapeType="1"/>
              </p:cNvCxnSpPr>
              <p:nvPr/>
            </p:nvCxnSpPr>
            <p:spPr bwMode="auto">
              <a:xfrm>
                <a:off x="8541" y="8797"/>
                <a:ext cx="1215" cy="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Line 31760"/>
              <p:cNvCxnSpPr>
                <a:cxnSpLocks noChangeShapeType="1"/>
              </p:cNvCxnSpPr>
              <p:nvPr/>
            </p:nvCxnSpPr>
            <p:spPr bwMode="auto">
              <a:xfrm>
                <a:off x="8181" y="9157"/>
                <a:ext cx="129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Line 31761"/>
              <p:cNvCxnSpPr>
                <a:cxnSpLocks noChangeShapeType="1"/>
              </p:cNvCxnSpPr>
              <p:nvPr/>
            </p:nvCxnSpPr>
            <p:spPr bwMode="auto">
              <a:xfrm flipH="1">
                <a:off x="6201" y="9157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Line 31762"/>
              <p:cNvCxnSpPr>
                <a:cxnSpLocks noChangeShapeType="1"/>
              </p:cNvCxnSpPr>
              <p:nvPr/>
            </p:nvCxnSpPr>
            <p:spPr bwMode="auto">
              <a:xfrm flipH="1">
                <a:off x="6201" y="10327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Line 31763"/>
              <p:cNvCxnSpPr>
                <a:cxnSpLocks noChangeShapeType="1"/>
              </p:cNvCxnSpPr>
              <p:nvPr/>
            </p:nvCxnSpPr>
            <p:spPr bwMode="auto">
              <a:xfrm>
                <a:off x="6741" y="8437"/>
                <a:ext cx="3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Line 31764"/>
              <p:cNvCxnSpPr>
                <a:cxnSpLocks noChangeShapeType="1"/>
              </p:cNvCxnSpPr>
              <p:nvPr/>
            </p:nvCxnSpPr>
            <p:spPr bwMode="auto">
              <a:xfrm flipH="1">
                <a:off x="7281" y="9157"/>
                <a:ext cx="5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Line 31765"/>
              <p:cNvCxnSpPr>
                <a:cxnSpLocks noChangeShapeType="1"/>
              </p:cNvCxnSpPr>
              <p:nvPr/>
            </p:nvCxnSpPr>
            <p:spPr bwMode="auto">
              <a:xfrm>
                <a:off x="9081" y="9637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Line 31766"/>
              <p:cNvCxnSpPr>
                <a:cxnSpLocks noChangeShapeType="1"/>
              </p:cNvCxnSpPr>
              <p:nvPr/>
            </p:nvCxnSpPr>
            <p:spPr bwMode="auto">
              <a:xfrm>
                <a:off x="8826" y="9952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Line 31767"/>
              <p:cNvCxnSpPr>
                <a:cxnSpLocks noChangeShapeType="1"/>
              </p:cNvCxnSpPr>
              <p:nvPr/>
            </p:nvCxnSpPr>
            <p:spPr bwMode="auto">
              <a:xfrm>
                <a:off x="8481" y="10327"/>
                <a:ext cx="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Line 31768"/>
              <p:cNvCxnSpPr>
                <a:cxnSpLocks noChangeShapeType="1"/>
              </p:cNvCxnSpPr>
              <p:nvPr/>
            </p:nvCxnSpPr>
            <p:spPr bwMode="auto">
              <a:xfrm flipH="1">
                <a:off x="7101" y="10327"/>
                <a:ext cx="14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Line 31769"/>
              <p:cNvCxnSpPr>
                <a:cxnSpLocks noChangeShapeType="1"/>
              </p:cNvCxnSpPr>
              <p:nvPr/>
            </p:nvCxnSpPr>
            <p:spPr bwMode="auto">
              <a:xfrm>
                <a:off x="7551" y="9967"/>
                <a:ext cx="7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Line 31770"/>
              <p:cNvCxnSpPr>
                <a:cxnSpLocks noChangeShapeType="1"/>
              </p:cNvCxnSpPr>
              <p:nvPr/>
            </p:nvCxnSpPr>
            <p:spPr bwMode="auto">
              <a:xfrm>
                <a:off x="6741" y="9652"/>
                <a:ext cx="3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Line 31771"/>
              <p:cNvCxnSpPr>
                <a:cxnSpLocks noChangeShapeType="1"/>
              </p:cNvCxnSpPr>
              <p:nvPr/>
            </p:nvCxnSpPr>
            <p:spPr bwMode="auto">
              <a:xfrm>
                <a:off x="6561" y="8797"/>
                <a:ext cx="5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Line 31772"/>
              <p:cNvCxnSpPr>
                <a:cxnSpLocks noChangeShapeType="1"/>
              </p:cNvCxnSpPr>
              <p:nvPr/>
            </p:nvCxnSpPr>
            <p:spPr bwMode="auto">
              <a:xfrm>
                <a:off x="6561" y="9967"/>
                <a:ext cx="5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2" name="Line 31773"/>
            <p:cNvCxnSpPr>
              <a:cxnSpLocks noChangeShapeType="1"/>
            </p:cNvCxnSpPr>
            <p:nvPr/>
          </p:nvCxnSpPr>
          <p:spPr bwMode="auto">
            <a:xfrm flipV="1">
              <a:off x="5503" y="3979"/>
              <a:ext cx="764" cy="5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Freeform 31774"/>
            <p:cNvSpPr>
              <a:spLocks/>
            </p:cNvSpPr>
            <p:nvPr/>
          </p:nvSpPr>
          <p:spPr bwMode="auto">
            <a:xfrm rot="-455679">
              <a:off x="5414" y="4218"/>
              <a:ext cx="305" cy="125"/>
            </a:xfrm>
            <a:custGeom>
              <a:avLst/>
              <a:gdLst>
                <a:gd name="T0" fmla="*/ 0 w 720"/>
                <a:gd name="T1" fmla="*/ 360 h 360"/>
                <a:gd name="T2" fmla="*/ 540 w 720"/>
                <a:gd name="T3" fmla="*/ 0 h 360"/>
                <a:gd name="T4" fmla="*/ 720 w 720"/>
                <a:gd name="T5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360">
                  <a:moveTo>
                    <a:pt x="0" y="360"/>
                  </a:moveTo>
                  <a:lnTo>
                    <a:pt x="540" y="0"/>
                  </a:lnTo>
                  <a:lnTo>
                    <a:pt x="720" y="36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cxnSp>
          <p:nvCxnSpPr>
            <p:cNvPr id="15" name="Line 31775"/>
            <p:cNvCxnSpPr>
              <a:cxnSpLocks noChangeShapeType="1"/>
            </p:cNvCxnSpPr>
            <p:nvPr/>
          </p:nvCxnSpPr>
          <p:spPr bwMode="auto">
            <a:xfrm>
              <a:off x="5312" y="4229"/>
              <a:ext cx="306" cy="3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Freeform 31776"/>
            <p:cNvSpPr>
              <a:spLocks/>
            </p:cNvSpPr>
            <p:nvPr/>
          </p:nvSpPr>
          <p:spPr bwMode="auto">
            <a:xfrm rot="2322559">
              <a:off x="5758" y="4323"/>
              <a:ext cx="152" cy="124"/>
            </a:xfrm>
            <a:custGeom>
              <a:avLst/>
              <a:gdLst>
                <a:gd name="T0" fmla="*/ 540 w 570"/>
                <a:gd name="T1" fmla="*/ 900 h 900"/>
                <a:gd name="T2" fmla="*/ 540 w 570"/>
                <a:gd name="T3" fmla="*/ 540 h 900"/>
                <a:gd name="T4" fmla="*/ 360 w 570"/>
                <a:gd name="T5" fmla="*/ 180 h 900"/>
                <a:gd name="T6" fmla="*/ 0 w 570"/>
                <a:gd name="T7" fmla="*/ 0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0" h="900">
                  <a:moveTo>
                    <a:pt x="540" y="900"/>
                  </a:moveTo>
                  <a:cubicBezTo>
                    <a:pt x="555" y="780"/>
                    <a:pt x="570" y="660"/>
                    <a:pt x="540" y="540"/>
                  </a:cubicBezTo>
                  <a:cubicBezTo>
                    <a:pt x="510" y="420"/>
                    <a:pt x="450" y="270"/>
                    <a:pt x="360" y="180"/>
                  </a:cubicBezTo>
                  <a:cubicBezTo>
                    <a:pt x="270" y="90"/>
                    <a:pt x="135" y="45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sp>
          <p:nvSpPr>
            <p:cNvPr id="17" name="Freeform 31777"/>
            <p:cNvSpPr>
              <a:spLocks/>
            </p:cNvSpPr>
            <p:nvPr/>
          </p:nvSpPr>
          <p:spPr bwMode="auto">
            <a:xfrm rot="8477448">
              <a:off x="4280" y="4260"/>
              <a:ext cx="305" cy="125"/>
            </a:xfrm>
            <a:custGeom>
              <a:avLst/>
              <a:gdLst>
                <a:gd name="T0" fmla="*/ 540 w 570"/>
                <a:gd name="T1" fmla="*/ 900 h 900"/>
                <a:gd name="T2" fmla="*/ 540 w 570"/>
                <a:gd name="T3" fmla="*/ 540 h 900"/>
                <a:gd name="T4" fmla="*/ 360 w 570"/>
                <a:gd name="T5" fmla="*/ 180 h 900"/>
                <a:gd name="T6" fmla="*/ 0 w 570"/>
                <a:gd name="T7" fmla="*/ 0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0" h="900">
                  <a:moveTo>
                    <a:pt x="540" y="900"/>
                  </a:moveTo>
                  <a:cubicBezTo>
                    <a:pt x="555" y="780"/>
                    <a:pt x="570" y="660"/>
                    <a:pt x="540" y="540"/>
                  </a:cubicBezTo>
                  <a:cubicBezTo>
                    <a:pt x="510" y="420"/>
                    <a:pt x="450" y="270"/>
                    <a:pt x="360" y="180"/>
                  </a:cubicBezTo>
                  <a:cubicBezTo>
                    <a:pt x="270" y="90"/>
                    <a:pt x="135" y="45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sp>
          <p:nvSpPr>
            <p:cNvPr id="18" name="Text Box 31778"/>
            <p:cNvSpPr txBox="1">
              <a:spLocks noChangeArrowheads="1"/>
            </p:cNvSpPr>
            <p:nvPr/>
          </p:nvSpPr>
          <p:spPr bwMode="auto">
            <a:xfrm>
              <a:off x="5935" y="4155"/>
              <a:ext cx="45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200" b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Φ</a:t>
              </a:r>
              <a:endPara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Text Box 31779"/>
            <p:cNvSpPr txBox="1">
              <a:spLocks noChangeArrowheads="1"/>
            </p:cNvSpPr>
            <p:nvPr/>
          </p:nvSpPr>
          <p:spPr bwMode="auto">
            <a:xfrm>
              <a:off x="4281" y="4354"/>
              <a:ext cx="611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200" b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Φ</a:t>
              </a:r>
              <a:endPara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Text Box 31780"/>
            <p:cNvSpPr txBox="1">
              <a:spLocks noChangeArrowheads="1"/>
            </p:cNvSpPr>
            <p:nvPr/>
          </p:nvSpPr>
          <p:spPr bwMode="auto">
            <a:xfrm>
              <a:off x="6129" y="3699"/>
              <a:ext cx="514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none" lIns="91440" tIns="45720" rIns="91440" bIns="45720" anchor="t" anchorCtr="0" upright="1">
              <a:sp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endParaRPr lang="es-E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Text Box 31781"/>
            <p:cNvSpPr txBox="1">
              <a:spLocks noChangeArrowheads="1"/>
            </p:cNvSpPr>
            <p:nvPr/>
          </p:nvSpPr>
          <p:spPr bwMode="auto">
            <a:xfrm>
              <a:off x="3365" y="4179"/>
              <a:ext cx="489" cy="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none" lIns="91440" tIns="45720" rIns="91440" bIns="45720" anchor="t" anchorCtr="0" upright="1">
              <a:sp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endParaRPr lang="es-E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2" name="Text Box 31782"/>
            <p:cNvSpPr txBox="1">
              <a:spLocks noChangeArrowheads="1"/>
            </p:cNvSpPr>
            <p:nvPr/>
          </p:nvSpPr>
          <p:spPr bwMode="auto">
            <a:xfrm>
              <a:off x="4161" y="4899"/>
              <a:ext cx="840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200" b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∆A</a:t>
              </a:r>
              <a:r>
                <a:rPr lang="es-ES" sz="1200" b="1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  <a:endPara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3" name="Text Box 31783"/>
            <p:cNvSpPr txBox="1">
              <a:spLocks noChangeArrowheads="1"/>
            </p:cNvSpPr>
            <p:nvPr/>
          </p:nvSpPr>
          <p:spPr bwMode="auto">
            <a:xfrm>
              <a:off x="5198" y="4978"/>
              <a:ext cx="611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200" b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∆AS</a:t>
              </a:r>
              <a:endPara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Text Box 31784"/>
            <p:cNvSpPr txBox="1">
              <a:spLocks noChangeArrowheads="1"/>
            </p:cNvSpPr>
            <p:nvPr/>
          </p:nvSpPr>
          <p:spPr bwMode="auto">
            <a:xfrm>
              <a:off x="2601" y="5724"/>
              <a:ext cx="6304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0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Intensidad </a:t>
              </a:r>
              <a:r>
                <a:rPr lang="es-E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de </a:t>
              </a:r>
              <a:r>
                <a:rPr lang="es-ES" sz="10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energía </a:t>
              </a:r>
              <a:r>
                <a:rPr lang="es-E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 través de una superficie </a:t>
              </a:r>
              <a:r>
                <a:rPr lang="es-ES" sz="10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∆A</a:t>
              </a:r>
              <a:endPara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5324726" y="4620724"/>
                <a:ext cx="3735082" cy="19616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∆</m:t>
                          </m:r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∆</m:t>
                      </m:r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𝐴𝐶𝑜𝑠</m:t>
                      </m:r>
                      <m:d>
                        <m:d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s-PE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∆</m:t>
                      </m:r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 manera general tenemos que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</m:acc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s-PE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s-PE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</m:acc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s-PE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𝑑𝐴</m:t>
                          </m:r>
                        </m:e>
                      </m:nary>
                      <m:d>
                        <m:d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𝑊𝑎𝑡𝑡𝑠</m:t>
                          </m:r>
                        </m:e>
                      </m:d>
                    </m:oMath>
                  </m:oMathPara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Donde</a:t>
                </a:r>
                <a:r>
                  <a:rPr lang="es-ES" sz="1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representa el vector normal a la superficie que es atravesada por el vector intensidad.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726" y="4620724"/>
                <a:ext cx="3735082" cy="1961627"/>
              </a:xfrm>
              <a:prstGeom prst="rect">
                <a:avLst/>
              </a:prstGeom>
              <a:blipFill rotWithShape="0">
                <a:blip r:embed="rId3"/>
                <a:stretch>
                  <a:fillRect l="-816" t="-2484" r="-979" b="-310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Imagen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361" y="2659786"/>
            <a:ext cx="112395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5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35696" y="980728"/>
            <a:ext cx="4896544" cy="572915"/>
          </a:xfrm>
        </p:spPr>
        <p:txBody>
          <a:bodyPr>
            <a:normAutofit/>
          </a:bodyPr>
          <a:lstStyle/>
          <a:p>
            <a:r>
              <a:rPr lang="es-PE" b="1" dirty="0" smtClean="0"/>
              <a:t>Ejemplo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467544" y="1772816"/>
                <a:ext cx="8136904" cy="9569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dirty="0" smtClean="0">
                    <a:latin typeface="NewBaskerville-Roman"/>
                  </a:rPr>
                  <a:t>Considere una Intensidad de sonido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acc>
                      <m:accPr>
                        <m:chr m:val="⃗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it-IT" dirty="0" smtClean="0">
                    <a:latin typeface="NewBaskerville-Roman"/>
                  </a:rPr>
                  <a:t> no uniforme </a:t>
                </a:r>
                <a:r>
                  <a:rPr lang="es-PE" dirty="0" smtClean="0">
                    <a:latin typeface="NewBaskerville-Roman"/>
                  </a:rPr>
                  <a:t>orientado </a:t>
                </a:r>
                <a:r>
                  <a:rPr lang="es-PE" dirty="0">
                    <a:latin typeface="NewBaskerville-Roman"/>
                  </a:rPr>
                  <a:t>en la dirección </a:t>
                </a:r>
                <a:r>
                  <a:rPr lang="es-PE" i="1" dirty="0">
                    <a:latin typeface="NewBaskerville-Italic"/>
                  </a:rPr>
                  <a:t>x </a:t>
                </a:r>
                <a:r>
                  <a:rPr lang="es-PE" dirty="0">
                    <a:latin typeface="NewBaskerville-Roman"/>
                  </a:rPr>
                  <a:t>en el </a:t>
                </a:r>
                <a:r>
                  <a:rPr lang="es-PE" dirty="0" smtClean="0">
                    <a:latin typeface="NewBaskerville-Roman"/>
                  </a:rPr>
                  <a:t>espacio vacío</a:t>
                </a:r>
                <a:r>
                  <a:rPr lang="es-PE" dirty="0">
                    <a:latin typeface="NewBaskerville-Roman"/>
                  </a:rPr>
                  <a:t>. Encuentre </a:t>
                </a:r>
                <a:r>
                  <a:rPr lang="es-PE" dirty="0" smtClean="0">
                    <a:latin typeface="NewBaskerville-Roman"/>
                  </a:rPr>
                  <a:t>la potencia neta a través </a:t>
                </a:r>
                <a:r>
                  <a:rPr lang="es-PE" dirty="0">
                    <a:latin typeface="NewBaskerville-Roman"/>
                  </a:rPr>
                  <a:t>de la superficie de un cubo con </a:t>
                </a:r>
                <a:r>
                  <a:rPr lang="es-PE" dirty="0" smtClean="0">
                    <a:latin typeface="NewBaskerville-Roman"/>
                  </a:rPr>
                  <a:t>arista l, orientado </a:t>
                </a:r>
                <a:r>
                  <a:rPr lang="es-PE" dirty="0">
                    <a:latin typeface="NewBaskerville-Roman"/>
                  </a:rPr>
                  <a:t>como se muestra en la </a:t>
                </a:r>
                <a:r>
                  <a:rPr lang="es-PE" dirty="0" smtClean="0">
                    <a:latin typeface="NewBaskerville-Roman"/>
                  </a:rPr>
                  <a:t>figura.</a:t>
                </a:r>
                <a:endParaRPr lang="es-PE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72816"/>
                <a:ext cx="8136904" cy="956929"/>
              </a:xfrm>
              <a:prstGeom prst="rect">
                <a:avLst/>
              </a:prstGeom>
              <a:blipFill rotWithShape="0">
                <a:blip r:embed="rId2"/>
                <a:stretch>
                  <a:fillRect l="-675" t="-8917" r="-675" b="-891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746197"/>
            <a:ext cx="27241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9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35696" y="980728"/>
            <a:ext cx="4896544" cy="572915"/>
          </a:xfrm>
        </p:spPr>
        <p:txBody>
          <a:bodyPr>
            <a:normAutofit/>
          </a:bodyPr>
          <a:lstStyle/>
          <a:p>
            <a:r>
              <a:rPr lang="es-PE" b="1" dirty="0" smtClean="0"/>
              <a:t>Ejemplo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467544" y="1772816"/>
                <a:ext cx="8136904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dirty="0" smtClean="0"/>
                  <a:t>Considere una caja triangular  con h = 10,0 cm cerrada </a:t>
                </a:r>
                <a:r>
                  <a:rPr lang="es-PE" dirty="0"/>
                  <a:t>en reposo dentro </a:t>
                </a:r>
                <a:r>
                  <a:rPr lang="es-PE" dirty="0" smtClean="0"/>
                  <a:t>de una intensidad de sonido </a:t>
                </a:r>
                <a:r>
                  <a:rPr lang="es-PE" dirty="0"/>
                  <a:t>horizontal con una magnitud </a:t>
                </a:r>
                <a:r>
                  <a:rPr lang="es-PE" dirty="0" smtClean="0"/>
                  <a:t>I =</a:t>
                </a:r>
                <a:r>
                  <a:rPr lang="es-PE" i="1" dirty="0" smtClean="0"/>
                  <a:t> </a:t>
                </a:r>
                <a:r>
                  <a:rPr lang="es-PE" dirty="0" smtClean="0"/>
                  <a:t>7,80 </a:t>
                </a:r>
                <a14:m>
                  <m:oMath xmlns:m="http://schemas.openxmlformats.org/officeDocument/2006/math">
                    <m:r>
                      <a:rPr lang="es-P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P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acc>
                      <m:accPr>
                        <m:chr m:val="⃗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dirty="0" smtClean="0"/>
                  <a:t>, </a:t>
                </a:r>
                <a:r>
                  <a:rPr lang="es-PE" dirty="0"/>
                  <a:t>como se muestra en la </a:t>
                </a:r>
                <a:r>
                  <a:rPr lang="es-PE" dirty="0" smtClean="0"/>
                  <a:t>figura.  </a:t>
                </a:r>
                <a:r>
                  <a:rPr lang="es-PE" dirty="0"/>
                  <a:t>Calcule </a:t>
                </a:r>
                <a:r>
                  <a:rPr lang="es-PE" dirty="0" smtClean="0"/>
                  <a:t>el flujo de potencia del sonido </a:t>
                </a:r>
                <a:r>
                  <a:rPr lang="es-PE" dirty="0"/>
                  <a:t>a través de a) la superficie rectangular vertical, b) </a:t>
                </a:r>
                <a:r>
                  <a:rPr lang="es-PE" dirty="0" smtClean="0"/>
                  <a:t>la superficie </a:t>
                </a:r>
                <a:r>
                  <a:rPr lang="es-PE" dirty="0"/>
                  <a:t>inclinada, y c) la superficie total de la caja.</a:t>
                </a:r>
                <a:r>
                  <a:rPr lang="es-PE" dirty="0" smtClean="0"/>
                  <a:t> </a:t>
                </a:r>
                <a:endParaRPr lang="es-PE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72816"/>
                <a:ext cx="8136904" cy="1477328"/>
              </a:xfrm>
              <a:prstGeom prst="rect">
                <a:avLst/>
              </a:prstGeom>
              <a:blipFill rotWithShape="0">
                <a:blip r:embed="rId2"/>
                <a:stretch>
                  <a:fillRect l="-675" t="-2479" r="-675" b="-578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469317"/>
            <a:ext cx="2609850" cy="128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4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07704" y="847066"/>
            <a:ext cx="4896544" cy="572915"/>
          </a:xfrm>
        </p:spPr>
        <p:txBody>
          <a:bodyPr>
            <a:normAutofit/>
          </a:bodyPr>
          <a:lstStyle/>
          <a:p>
            <a:r>
              <a:rPr lang="es-PE" b="1" dirty="0"/>
              <a:t>Nivel sonoro en decibeles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179512" y="1700808"/>
                <a:ext cx="5976664" cy="20650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PE" sz="1550" dirty="0" smtClean="0">
                    <a:latin typeface="NewBaskerville-Roman"/>
                  </a:rPr>
                  <a:t>El </a:t>
                </a:r>
                <a:r>
                  <a:rPr lang="es-PE" sz="1550" dirty="0">
                    <a:latin typeface="NewBaskerville-Roman"/>
                  </a:rPr>
                  <a:t>intervalo </a:t>
                </a:r>
                <a:r>
                  <a:rPr lang="es-PE" sz="1550" dirty="0" smtClean="0">
                    <a:latin typeface="NewBaskerville-Roman"/>
                  </a:rPr>
                  <a:t>de sonido audible es </a:t>
                </a:r>
                <a:r>
                  <a:rPr lang="es-PE" sz="1550" dirty="0">
                    <a:latin typeface="NewBaskerville-Roman"/>
                  </a:rPr>
                  <a:t>tan amplio, </a:t>
                </a:r>
                <a:r>
                  <a:rPr lang="es-PE" sz="1550" dirty="0" smtClean="0">
                    <a:latin typeface="NewBaskerville-Roman"/>
                  </a:rPr>
                  <a:t>por lo que es </a:t>
                </a:r>
                <a:r>
                  <a:rPr lang="es-PE" sz="1550" dirty="0">
                    <a:latin typeface="NewBaskerville-Roman"/>
                  </a:rPr>
                  <a:t>conveniente usar una escala </a:t>
                </a:r>
                <a:r>
                  <a:rPr lang="es-PE" sz="1550" dirty="0" smtClean="0">
                    <a:latin typeface="NewBaskerville-Roman"/>
                  </a:rPr>
                  <a:t>logarítmica, donde </a:t>
                </a:r>
                <a:r>
                  <a:rPr lang="es-PE" sz="1550" dirty="0">
                    <a:latin typeface="NewBaskerville-Roman"/>
                  </a:rPr>
                  <a:t>el </a:t>
                </a:r>
                <a:r>
                  <a:rPr lang="es-PE" sz="1550" dirty="0">
                    <a:latin typeface="NewBaskerville-Bold"/>
                  </a:rPr>
                  <a:t>nivel </a:t>
                </a:r>
                <a:r>
                  <a:rPr lang="es-PE" sz="1550" dirty="0" smtClean="0">
                    <a:latin typeface="NewBaskerville-Bold"/>
                  </a:rPr>
                  <a:t>sonoro  </a:t>
                </a:r>
                <a:r>
                  <a:rPr lang="el-GR" sz="1550" b="1" dirty="0" smtClean="0">
                    <a:latin typeface="NewBaskerville-Bold"/>
                  </a:rPr>
                  <a:t>β</a:t>
                </a:r>
                <a:r>
                  <a:rPr lang="es-ES" sz="1550" b="1" dirty="0" smtClean="0">
                    <a:latin typeface="NewBaskerville-Bold"/>
                  </a:rPr>
                  <a:t> </a:t>
                </a:r>
                <a:r>
                  <a:rPr lang="es-PE" sz="1550" dirty="0" smtClean="0">
                    <a:latin typeface="NewBaskerville-Roman"/>
                  </a:rPr>
                  <a:t>letra </a:t>
                </a:r>
                <a:r>
                  <a:rPr lang="es-PE" sz="1550" dirty="0">
                    <a:latin typeface="NewBaskerville-Roman"/>
                  </a:rPr>
                  <a:t>griega beta) se define mediante la </a:t>
                </a:r>
                <a:r>
                  <a:rPr lang="es-PE" sz="1550" dirty="0" smtClean="0">
                    <a:latin typeface="NewBaskerville-Roman"/>
                  </a:rPr>
                  <a:t>ecuación: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s-P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    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dirty="0" smtClean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700808"/>
                <a:ext cx="5976664" cy="2065052"/>
              </a:xfrm>
              <a:prstGeom prst="rect">
                <a:avLst/>
              </a:prstGeom>
              <a:blipFill rotWithShape="0">
                <a:blip r:embed="rId2"/>
                <a:stretch>
                  <a:fillRect l="-408" r="-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179512" y="3501008"/>
                <a:ext cx="5976664" cy="3312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La constante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5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550" b="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s-ES" sz="155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es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la intensidad de referencia, considerada como el umbral de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audición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5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550" b="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s-ES" sz="155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550" b="0" i="0" smtClean="0">
                        <a:latin typeface="Cambria Math" panose="02040503050406030204" pitchFamily="18" charset="0"/>
                      </a:rPr>
                      <m:t>=1,0</m:t>
                    </m:r>
                    <m:r>
                      <a:rPr lang="es-ES" sz="15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ES" sz="15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5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ES" sz="15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sup>
                    </m:sSup>
                    <m:r>
                      <m:rPr>
                        <m:sty m:val="p"/>
                      </m:rPr>
                      <a:rPr lang="es-ES" sz="15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Watts</m:t>
                    </m:r>
                    <m:r>
                      <a:rPr lang="es-ES" sz="15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s-ES" sz="15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ES" sz="15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s-ES" sz="155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es la intensidad en watts por cada metro cuadrado a la que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corresponde el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nivel de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sonido </a:t>
                </a:r>
                <a:r>
                  <a:rPr lang="el-GR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s-ES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donde </a:t>
                </a:r>
                <a:r>
                  <a:rPr lang="el-GR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r>
                  <a:rPr lang="es-ES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se mide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en decibeles (dB). En esta escala, el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umbral de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dolor (I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= 1.00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55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Watts</m:t>
                    </m:r>
                    <m:r>
                      <a:rPr lang="es-ES" sz="155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s-E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corresponde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a un nivel sonoro de </a:t>
                </a:r>
                <a:r>
                  <a:rPr lang="el-GR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β </a:t>
                </a:r>
                <a:r>
                  <a:rPr lang="es-ES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10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log [(1 W/m2)/(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W/m2)]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=120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dB, y el umbral de 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audición </a:t>
                </a:r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corresponde a </a:t>
                </a:r>
                <a:r>
                  <a:rPr lang="el-GR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β </a:t>
                </a:r>
                <a:r>
                  <a:rPr lang="es-ES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10 log</a:t>
                </a:r>
                <a:r>
                  <a:rPr lang="pl-PL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[(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s-PE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55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Watts</m:t>
                    </m:r>
                    <m:r>
                      <a:rPr lang="es-ES" sz="155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s-E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l-PL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)/(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s-PE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55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Watts</m:t>
                    </m:r>
                    <m:r>
                      <a:rPr lang="es-ES" sz="155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s-E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s-ES" sz="155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l-PL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)] </a:t>
                </a:r>
                <a:r>
                  <a:rPr lang="es-ES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pl-PL" sz="155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l-PL" sz="1550" dirty="0">
                    <a:latin typeface="Arial" panose="020B0604020202020204" pitchFamily="34" charset="0"/>
                    <a:cs typeface="Arial" panose="020B0604020202020204" pitchFamily="34" charset="0"/>
                  </a:rPr>
                  <a:t>0 dB.</a:t>
                </a:r>
                <a:endParaRPr lang="es-PE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501008"/>
                <a:ext cx="5976664" cy="3312445"/>
              </a:xfrm>
              <a:prstGeom prst="rect">
                <a:avLst/>
              </a:prstGeom>
              <a:blipFill rotWithShape="0">
                <a:blip r:embed="rId3"/>
                <a:stretch>
                  <a:fillRect l="-408" r="-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844824"/>
            <a:ext cx="2441132" cy="444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5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688" y="596902"/>
            <a:ext cx="2094767" cy="1143000"/>
          </a:xfrm>
        </p:spPr>
        <p:txBody>
          <a:bodyPr/>
          <a:lstStyle/>
          <a:p>
            <a:r>
              <a:rPr lang="es-MX" sz="3600" b="1" dirty="0" smtClean="0"/>
              <a:t>Ejemplo</a:t>
            </a:r>
            <a:endParaRPr lang="es-MX" b="1" dirty="0"/>
          </a:p>
        </p:txBody>
      </p:sp>
      <p:sp>
        <p:nvSpPr>
          <p:cNvPr id="2" name="Rectángulo 1"/>
          <p:cNvSpPr/>
          <p:nvPr/>
        </p:nvSpPr>
        <p:spPr>
          <a:xfrm>
            <a:off x="395536" y="1739902"/>
            <a:ext cx="84249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NewBaskerville-Roman"/>
              </a:rPr>
              <a:t>Un bloque con una bocina atornillada a el se conecta a un </a:t>
            </a:r>
            <a:r>
              <a:rPr lang="es-PE" dirty="0" smtClean="0">
                <a:latin typeface="NewBaskerville-Roman"/>
              </a:rPr>
              <a:t>resorte que </a:t>
            </a:r>
            <a:r>
              <a:rPr lang="es-PE" dirty="0">
                <a:latin typeface="NewBaskerville-Roman"/>
              </a:rPr>
              <a:t>tiene una constante de resorte </a:t>
            </a:r>
            <a:r>
              <a:rPr lang="es-PE" i="1" dirty="0">
                <a:latin typeface="NewBaskerville-Italic"/>
              </a:rPr>
              <a:t>k </a:t>
            </a:r>
            <a:r>
              <a:rPr lang="es-PE" i="1" dirty="0" smtClean="0">
                <a:latin typeface="NewBaskerville-Italic"/>
              </a:rPr>
              <a:t>= </a:t>
            </a:r>
            <a:r>
              <a:rPr lang="es-PE" dirty="0" smtClean="0">
                <a:latin typeface="NewBaskerville-Roman"/>
              </a:rPr>
              <a:t>20,0 </a:t>
            </a:r>
            <a:r>
              <a:rPr lang="es-PE" dirty="0">
                <a:latin typeface="NewBaskerville-Roman"/>
              </a:rPr>
              <a:t>N/m, </a:t>
            </a:r>
            <a:r>
              <a:rPr lang="es-PE" dirty="0" smtClean="0">
                <a:latin typeface="NewBaskerville-Roman"/>
              </a:rPr>
              <a:t>como se </a:t>
            </a:r>
            <a:r>
              <a:rPr lang="es-PE" dirty="0">
                <a:latin typeface="NewBaskerville-Roman"/>
              </a:rPr>
              <a:t>muestra en la </a:t>
            </a:r>
            <a:r>
              <a:rPr lang="es-PE" dirty="0" smtClean="0">
                <a:latin typeface="NewBaskerville-Roman"/>
              </a:rPr>
              <a:t>figura. </a:t>
            </a:r>
            <a:r>
              <a:rPr lang="es-PE" dirty="0">
                <a:latin typeface="NewBaskerville-Roman"/>
              </a:rPr>
              <a:t>La masa total del bloque y </a:t>
            </a:r>
            <a:r>
              <a:rPr lang="es-PE" dirty="0" smtClean="0">
                <a:latin typeface="NewBaskerville-Roman"/>
              </a:rPr>
              <a:t>la bocina </a:t>
            </a:r>
            <a:r>
              <a:rPr lang="es-PE" dirty="0">
                <a:latin typeface="NewBaskerville-Roman"/>
              </a:rPr>
              <a:t>es de </a:t>
            </a:r>
            <a:r>
              <a:rPr lang="es-PE" dirty="0" smtClean="0">
                <a:latin typeface="NewBaskerville-Roman"/>
              </a:rPr>
              <a:t>5,00 </a:t>
            </a:r>
            <a:r>
              <a:rPr lang="es-PE" dirty="0">
                <a:latin typeface="NewBaskerville-Roman"/>
              </a:rPr>
              <a:t>kg, y la amplitud de movimiento de esta unidad</a:t>
            </a:r>
          </a:p>
          <a:p>
            <a:pPr algn="just"/>
            <a:r>
              <a:rPr lang="es-PE" dirty="0">
                <a:latin typeface="NewBaskerville-Roman"/>
              </a:rPr>
              <a:t>es </a:t>
            </a:r>
            <a:r>
              <a:rPr lang="es-PE" dirty="0" smtClean="0">
                <a:latin typeface="NewBaskerville-Roman"/>
              </a:rPr>
              <a:t>0,500 </a:t>
            </a:r>
            <a:r>
              <a:rPr lang="es-PE" dirty="0">
                <a:latin typeface="NewBaskerville-Roman"/>
              </a:rPr>
              <a:t>m. a) La bocina emite ondas sonoras de 440 Hz </a:t>
            </a:r>
            <a:r>
              <a:rPr lang="es-PE" dirty="0" smtClean="0">
                <a:latin typeface="NewBaskerville-Roman"/>
              </a:rPr>
              <a:t>de frecuencia</a:t>
            </a:r>
            <a:r>
              <a:rPr lang="es-PE" dirty="0">
                <a:latin typeface="NewBaskerville-Roman"/>
              </a:rPr>
              <a:t>. Determine las frecuencias mas alta y mas baja </a:t>
            </a:r>
            <a:r>
              <a:rPr lang="es-PE" dirty="0" smtClean="0">
                <a:latin typeface="NewBaskerville-Roman"/>
              </a:rPr>
              <a:t>que escucha </a:t>
            </a:r>
            <a:r>
              <a:rPr lang="es-PE" dirty="0">
                <a:latin typeface="NewBaskerville-Roman"/>
              </a:rPr>
              <a:t>una persona a la derecha de la bocina. b) Si el </a:t>
            </a:r>
            <a:r>
              <a:rPr lang="es-PE" dirty="0" smtClean="0">
                <a:latin typeface="NewBaskerville-Roman"/>
              </a:rPr>
              <a:t>nivel sonoro máximo </a:t>
            </a:r>
            <a:r>
              <a:rPr lang="es-PE" dirty="0">
                <a:latin typeface="NewBaskerville-Roman"/>
              </a:rPr>
              <a:t>que escucha la persona es de </a:t>
            </a:r>
            <a:r>
              <a:rPr lang="es-PE" dirty="0" smtClean="0">
                <a:latin typeface="NewBaskerville-Roman"/>
              </a:rPr>
              <a:t>60,0 </a:t>
            </a:r>
            <a:r>
              <a:rPr lang="es-PE" dirty="0">
                <a:latin typeface="NewBaskerville-Roman"/>
              </a:rPr>
              <a:t>dB </a:t>
            </a:r>
            <a:r>
              <a:rPr lang="es-PE" dirty="0" smtClean="0">
                <a:latin typeface="NewBaskerville-Roman"/>
              </a:rPr>
              <a:t>cuando esta </a:t>
            </a:r>
            <a:r>
              <a:rPr lang="es-PE" dirty="0">
                <a:latin typeface="NewBaskerville-Roman"/>
              </a:rPr>
              <a:t>mas cerca de la bocina, a </a:t>
            </a:r>
            <a:r>
              <a:rPr lang="es-PE" dirty="0" smtClean="0">
                <a:latin typeface="NewBaskerville-Roman"/>
              </a:rPr>
              <a:t>1,00 </a:t>
            </a:r>
            <a:r>
              <a:rPr lang="es-PE" dirty="0">
                <a:latin typeface="NewBaskerville-Roman"/>
              </a:rPr>
              <a:t>m de distancia, ¿cual es el</a:t>
            </a:r>
          </a:p>
          <a:p>
            <a:pPr algn="just"/>
            <a:r>
              <a:rPr lang="es-PE" dirty="0">
                <a:latin typeface="NewBaskerville-Roman"/>
              </a:rPr>
              <a:t>nivel sonoro </a:t>
            </a:r>
            <a:r>
              <a:rPr lang="es-PE" dirty="0" smtClean="0">
                <a:latin typeface="NewBaskerville-Roman"/>
              </a:rPr>
              <a:t>mínimo </a:t>
            </a:r>
            <a:r>
              <a:rPr lang="es-PE" dirty="0">
                <a:latin typeface="NewBaskerville-Roman"/>
              </a:rPr>
              <a:t>que escucha el observador? Suponga </a:t>
            </a:r>
            <a:r>
              <a:rPr lang="es-PE" dirty="0" smtClean="0">
                <a:latin typeface="NewBaskerville-Roman"/>
              </a:rPr>
              <a:t>que la </a:t>
            </a:r>
            <a:r>
              <a:rPr lang="es-PE" dirty="0">
                <a:latin typeface="NewBaskerville-Roman"/>
              </a:rPr>
              <a:t>rapidez del sonido es de 343 m/s.</a:t>
            </a:r>
            <a:endParaRPr lang="es-PE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71" y="4468182"/>
            <a:ext cx="3286765" cy="200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2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683568" y="1772816"/>
            <a:ext cx="80648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NewBaskerville-Roman"/>
              </a:rPr>
              <a:t>Dos bocinas </a:t>
            </a:r>
            <a:r>
              <a:rPr lang="es-PE" dirty="0" smtClean="0">
                <a:latin typeface="NewBaskerville-Roman"/>
              </a:rPr>
              <a:t>pequeñas </a:t>
            </a:r>
            <a:r>
              <a:rPr lang="es-PE" dirty="0">
                <a:latin typeface="NewBaskerville-Roman"/>
              </a:rPr>
              <a:t>emiten ondas sonoras de diferentes </a:t>
            </a:r>
            <a:r>
              <a:rPr lang="es-PE" dirty="0" smtClean="0">
                <a:latin typeface="NewBaskerville-Roman"/>
              </a:rPr>
              <a:t>frecuencias, por </a:t>
            </a:r>
            <a:r>
              <a:rPr lang="es-PE" dirty="0">
                <a:latin typeface="NewBaskerville-Roman"/>
              </a:rPr>
              <a:t>igual, en todas direcciones. La bocina </a:t>
            </a:r>
            <a:r>
              <a:rPr lang="es-PE" i="1" dirty="0">
                <a:latin typeface="NewBaskerville-Italic"/>
              </a:rPr>
              <a:t>A </a:t>
            </a:r>
            <a:r>
              <a:rPr lang="es-PE" dirty="0" smtClean="0">
                <a:latin typeface="NewBaskerville-Roman"/>
              </a:rPr>
              <a:t>tiene una </a:t>
            </a:r>
            <a:r>
              <a:rPr lang="es-PE" dirty="0">
                <a:latin typeface="NewBaskerville-Roman"/>
              </a:rPr>
              <a:t>salida de </a:t>
            </a:r>
            <a:r>
              <a:rPr lang="es-PE" dirty="0" smtClean="0">
                <a:latin typeface="NewBaskerville-Roman"/>
              </a:rPr>
              <a:t>1,00 </a:t>
            </a:r>
            <a:r>
              <a:rPr lang="es-PE" dirty="0" err="1">
                <a:latin typeface="NewBaskerville-Roman"/>
              </a:rPr>
              <a:t>mW</a:t>
            </a:r>
            <a:r>
              <a:rPr lang="es-PE" dirty="0">
                <a:latin typeface="NewBaskerville-Roman"/>
              </a:rPr>
              <a:t>, y la bocina </a:t>
            </a:r>
            <a:r>
              <a:rPr lang="es-PE" i="1" dirty="0">
                <a:latin typeface="NewBaskerville-Italic"/>
              </a:rPr>
              <a:t>B </a:t>
            </a:r>
            <a:r>
              <a:rPr lang="es-PE" dirty="0">
                <a:latin typeface="NewBaskerville-Roman"/>
              </a:rPr>
              <a:t>tiene una salida de </a:t>
            </a:r>
            <a:r>
              <a:rPr lang="es-PE" dirty="0" smtClean="0">
                <a:latin typeface="NewBaskerville-Roman"/>
              </a:rPr>
              <a:t>1,50 </a:t>
            </a:r>
            <a:r>
              <a:rPr lang="es-PE" dirty="0" err="1" smtClean="0">
                <a:latin typeface="NewBaskerville-Roman"/>
              </a:rPr>
              <a:t>mW</a:t>
            </a:r>
            <a:r>
              <a:rPr lang="es-PE" dirty="0">
                <a:latin typeface="NewBaskerville-Roman"/>
              </a:rPr>
              <a:t>. Determine el nivel sonoro (</a:t>
            </a:r>
            <a:r>
              <a:rPr lang="es-PE" dirty="0" smtClean="0">
                <a:latin typeface="NewBaskerville-Roman"/>
              </a:rPr>
              <a:t>en decibeles</a:t>
            </a:r>
            <a:r>
              <a:rPr lang="es-PE" dirty="0">
                <a:latin typeface="NewBaskerville-Roman"/>
              </a:rPr>
              <a:t>) en el punto </a:t>
            </a:r>
            <a:r>
              <a:rPr lang="es-PE" i="1" dirty="0" smtClean="0">
                <a:latin typeface="NewBaskerville-Italic"/>
              </a:rPr>
              <a:t>C </a:t>
            </a:r>
            <a:r>
              <a:rPr lang="es-PE" dirty="0" smtClean="0">
                <a:latin typeface="NewBaskerville-Roman"/>
              </a:rPr>
              <a:t>de </a:t>
            </a:r>
            <a:r>
              <a:rPr lang="es-PE" dirty="0">
                <a:latin typeface="NewBaskerville-Roman"/>
              </a:rPr>
              <a:t>la </a:t>
            </a:r>
            <a:r>
              <a:rPr lang="es-PE" dirty="0" smtClean="0">
                <a:latin typeface="NewBaskerville-Roman"/>
              </a:rPr>
              <a:t>figura, </a:t>
            </a:r>
            <a:r>
              <a:rPr lang="es-PE" dirty="0">
                <a:latin typeface="NewBaskerville-Roman"/>
              </a:rPr>
              <a:t>si supone que a) solo la bocina </a:t>
            </a:r>
            <a:r>
              <a:rPr lang="es-PE" i="1" dirty="0">
                <a:latin typeface="NewBaskerville-Italic"/>
              </a:rPr>
              <a:t>A </a:t>
            </a:r>
            <a:r>
              <a:rPr lang="es-PE" dirty="0" smtClean="0">
                <a:latin typeface="NewBaskerville-Roman"/>
              </a:rPr>
              <a:t>emite sonido</a:t>
            </a:r>
            <a:r>
              <a:rPr lang="es-PE" dirty="0">
                <a:latin typeface="NewBaskerville-Roman"/>
              </a:rPr>
              <a:t>, b) solo la bocina </a:t>
            </a:r>
            <a:r>
              <a:rPr lang="es-PE" i="1" dirty="0">
                <a:latin typeface="NewBaskerville-Italic"/>
              </a:rPr>
              <a:t>B </a:t>
            </a:r>
            <a:r>
              <a:rPr lang="es-PE" dirty="0">
                <a:latin typeface="NewBaskerville-Roman"/>
              </a:rPr>
              <a:t>emite sonido y c) ambas </a:t>
            </a:r>
            <a:r>
              <a:rPr lang="es-PE" dirty="0" smtClean="0">
                <a:latin typeface="NewBaskerville-Roman"/>
              </a:rPr>
              <a:t>bocinas emiten </a:t>
            </a:r>
            <a:r>
              <a:rPr lang="es-PE" dirty="0">
                <a:latin typeface="NewBaskerville-Roman"/>
              </a:rPr>
              <a:t>sonido.</a:t>
            </a:r>
            <a:endParaRPr lang="es-PE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356992"/>
            <a:ext cx="26003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8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051720" y="908720"/>
            <a:ext cx="4176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400" dirty="0" err="1">
                <a:latin typeface="MyriadPro-Semibold"/>
              </a:rPr>
              <a:t>Sobreposición</a:t>
            </a:r>
            <a:r>
              <a:rPr lang="es-PE" sz="2400" dirty="0">
                <a:latin typeface="MyriadPro-Semibold"/>
              </a:rPr>
              <a:t> e interferencia</a:t>
            </a:r>
            <a:endParaRPr lang="es-PE" sz="24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49" y="1729691"/>
            <a:ext cx="4067743" cy="2610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107504" y="4058773"/>
                <a:ext cx="4457588" cy="2907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600" dirty="0" smtClean="0"/>
                  <a:t>Consideremos las siguientes ondas: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PE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PE" sz="16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PE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PE" sz="1600" dirty="0" smtClean="0"/>
              </a:p>
              <a:p>
                <a:pPr>
                  <a:lnSpc>
                    <a:spcPct val="150000"/>
                  </a:lnSpc>
                </a:pPr>
                <a:r>
                  <a:rPr lang="es-ES" sz="1600" dirty="0" smtClean="0"/>
                  <a:t>En el punto D las ondas se suman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1600" dirty="0" smtClean="0"/>
                  <a:t>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[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PE" sz="1600" dirty="0"/>
                  <a:t>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PE" sz="1600" dirty="0" smtClean="0"/>
              </a:p>
              <a:p>
                <a:pPr>
                  <a:lnSpc>
                    <a:spcPct val="150000"/>
                  </a:lnSpc>
                </a:pPr>
                <a:r>
                  <a:rPr lang="es-PE" sz="1600" dirty="0" smtClean="0"/>
                  <a:t>Utilizamos la siguiente identidad  trigonométrica: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s-ES" sz="1600" i="1">
                          <a:latin typeface="Cambria Math" panose="02040503050406030204" pitchFamily="18" charset="0"/>
                        </a:rPr>
                        <m:t>𝐶𝑜𝑠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PE" sz="1600" dirty="0" smtClean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58773"/>
                <a:ext cx="4457588" cy="2907527"/>
              </a:xfrm>
              <a:prstGeom prst="rect">
                <a:avLst/>
              </a:prstGeom>
              <a:blipFill rotWithShape="0">
                <a:blip r:embed="rId3"/>
                <a:stretch>
                  <a:fillRect l="-82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4954937" y="1511271"/>
                <a:ext cx="3937543" cy="5446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1600" dirty="0" smtClean="0"/>
                  <a:t>y =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[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s-E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s-PE" sz="1600" dirty="0"/>
                  <a:t>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s-PE" sz="1600" dirty="0" smtClean="0"/>
              </a:p>
              <a:p>
                <a:pPr>
                  <a:lnSpc>
                    <a:spcPct val="150000"/>
                  </a:lnSpc>
                </a:pPr>
                <a:r>
                  <a:rPr lang="es-PE" sz="1600" dirty="0" smtClean="0"/>
                  <a:t>Con 		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s-PE" sz="1600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P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P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sz="1600" i="1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̅"/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𝑃𝐷</m:t>
                        </m:r>
                      </m:e>
                    </m:acc>
                  </m:oMath>
                </a14:m>
                <a:endParaRPr lang="es-PE" sz="1600" dirty="0" smtClean="0"/>
              </a:p>
              <a:p>
                <a:pPr algn="ctr">
                  <a:lnSpc>
                    <a:spcPct val="150000"/>
                  </a:lnSpc>
                </a:pPr>
                <a:r>
                  <a:rPr lang="es-ES" sz="1600" dirty="0"/>
                  <a:t>y = Y</a:t>
                </a:r>
                <a:r>
                  <a:rPr lang="es-ES" sz="1600" baseline="-25000" dirty="0"/>
                  <a:t>0</a:t>
                </a:r>
                <a:r>
                  <a:rPr lang="es-ES" sz="1600" dirty="0"/>
                  <a:t> </a:t>
                </a:r>
                <a:r>
                  <a:rPr lang="es-ES" sz="1600" dirty="0" err="1" smtClean="0"/>
                  <a:t>Cos</a:t>
                </a:r>
                <a:r>
                  <a:rPr lang="es-ES" sz="1600" dirty="0" smtClean="0"/>
                  <a:t> </a:t>
                </a:r>
                <a:r>
                  <a:rPr lang="es-ES" sz="1600" dirty="0"/>
                  <a:t>(</a:t>
                </a:r>
                <a:r>
                  <a:rPr lang="es-ES" sz="1600" dirty="0" err="1"/>
                  <a:t>kX-ωt</a:t>
                </a:r>
                <a:r>
                  <a:rPr lang="es-ES" sz="1600" dirty="0" smtClean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P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P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PE" sz="1600" dirty="0"/>
              </a:p>
              <a:p>
                <a:r>
                  <a:rPr lang="es-ES" sz="1600" dirty="0"/>
                  <a:t>y</a:t>
                </a:r>
                <a:endParaRPr lang="es-PE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𝐶𝑜𝑠</m:t>
                      </m:r>
                      <m:d>
                        <m:dPr>
                          <m:begChr m:val="["/>
                          <m:endChr m:val="]"/>
                          <m:ctrlPr>
                            <a:rPr lang="es-P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PE" sz="1600" dirty="0" smtClean="0"/>
              </a:p>
              <a:p>
                <a:pPr algn="just">
                  <a:spcAft>
                    <a:spcPts val="0"/>
                  </a:spcAft>
                </a:pPr>
                <a:endParaRPr lang="es-ES" sz="1600" dirty="0" smtClean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dirty="0" smtClean="0">
                    <a:latin typeface="+mn-lt"/>
                    <a:ea typeface="Times New Roman" panose="02020603050405020304" pitchFamily="18" charset="0"/>
                  </a:rPr>
                  <a:t>La </a:t>
                </a:r>
                <a:r>
                  <a:rPr lang="es-ES" sz="1600" dirty="0">
                    <a:latin typeface="+mn-lt"/>
                    <a:ea typeface="Times New Roman" panose="02020603050405020304" pitchFamily="18" charset="0"/>
                  </a:rPr>
                  <a:t>expresión: </a:t>
                </a:r>
                <a14:m>
                  <m:oMath xmlns:m="http://schemas.openxmlformats.org/officeDocument/2006/math">
                    <m:r>
                      <a:rPr lang="es-ES" sz="160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es-PE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d>
                      <m:dPr>
                        <m:ctrlPr>
                          <a:rPr lang="es-PE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PE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PE" sz="1600" dirty="0" smtClean="0">
                  <a:latin typeface="+mn-lt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endParaRPr lang="es-PE" sz="1600" dirty="0">
                  <a:latin typeface="+mn-lt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s-ES" sz="1600" dirty="0">
                    <a:latin typeface="+mn-lt"/>
                    <a:ea typeface="Times New Roman" panose="02020603050405020304" pitchFamily="18" charset="0"/>
                  </a:rPr>
                  <a:t> Se denomina termino de interferencia y </a:t>
                </a:r>
                <a:r>
                  <a:rPr lang="es-ES" sz="1600" dirty="0" smtClean="0">
                    <a:latin typeface="+mn-lt"/>
                    <a:ea typeface="Times New Roman" panose="02020603050405020304" pitchFamily="18" charset="0"/>
                  </a:rPr>
                  <a:t>permite establecer las condiciones de  interferencia constructiva e interferencia destructiva</a:t>
                </a:r>
                <a:endParaRPr lang="es-PE" sz="1600" dirty="0">
                  <a:latin typeface="+mn-lt"/>
                </a:endParaRPr>
              </a:p>
              <a:p>
                <a:endParaRPr lang="es-PE" sz="1600" dirty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937" y="1511271"/>
                <a:ext cx="3937543" cy="5446940"/>
              </a:xfrm>
              <a:prstGeom prst="rect">
                <a:avLst/>
              </a:prstGeom>
              <a:blipFill rotWithShape="0">
                <a:blip r:embed="rId4"/>
                <a:stretch>
                  <a:fillRect l="-929" r="-77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1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899592" y="1700808"/>
                <a:ext cx="3960440" cy="51793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Para la interferencia destructiva tenemos:</a:t>
                </a:r>
              </a:p>
              <a:p>
                <a:pPr algn="just">
                  <a:spcAft>
                    <a:spcPts val="0"/>
                  </a:spcAft>
                </a:pPr>
                <a:endParaRPr lang="es-E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d>
                      <m:dPr>
                        <m:ctrlPr>
                          <a:rPr lang="es-PE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PE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sz="16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PE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E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Pero 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Entonces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r"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		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Generalizando obtenemos un mínimo si: 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PE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E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 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manera general para obtener una amplitud máxima se debe cumplir: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d>
                      <m:d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PE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PE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=0,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,2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,3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,….</m:t>
                    </m:r>
                  </m:oMath>
                </a14:m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Es 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decir: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P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es-E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	</a:t>
                </a:r>
                <a:endParaRPr lang="es-E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s-E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Donde </a:t>
                </a:r>
                <a:r>
                  <a:rPr lang="es-ES" sz="16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 </a:t>
                </a:r>
                <a:r>
                  <a:rPr lang="es-E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0,1,2,3,4,5,6,…</a:t>
                </a: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endParaRPr lang="es-PE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700808"/>
                <a:ext cx="3960440" cy="5179303"/>
              </a:xfrm>
              <a:prstGeom prst="rect">
                <a:avLst/>
              </a:prstGeom>
              <a:blipFill rotWithShape="0">
                <a:blip r:embed="rId2"/>
                <a:stretch>
                  <a:fillRect l="-924" t="-353" r="-77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2195736" y="908720"/>
            <a:ext cx="4176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400" dirty="0" err="1">
                <a:latin typeface="MyriadPro-Semibold"/>
              </a:rPr>
              <a:t>Sobreposición</a:t>
            </a:r>
            <a:r>
              <a:rPr lang="es-PE" sz="2400" dirty="0">
                <a:latin typeface="MyriadPro-Semibold"/>
              </a:rPr>
              <a:t> e interferencia</a:t>
            </a:r>
            <a:endParaRPr lang="es-PE" sz="24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700808"/>
            <a:ext cx="237626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9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35696" y="980728"/>
            <a:ext cx="1656184" cy="572915"/>
          </a:xfrm>
        </p:spPr>
        <p:txBody>
          <a:bodyPr>
            <a:normAutofit/>
          </a:bodyPr>
          <a:lstStyle/>
          <a:p>
            <a:r>
              <a:rPr lang="es-PE" dirty="0" smtClean="0"/>
              <a:t>Ejemplo</a:t>
            </a:r>
            <a:endParaRPr lang="es-PE" dirty="0"/>
          </a:p>
        </p:txBody>
      </p:sp>
      <p:sp>
        <p:nvSpPr>
          <p:cNvPr id="5" name="Rectángulo 4"/>
          <p:cNvSpPr/>
          <p:nvPr/>
        </p:nvSpPr>
        <p:spPr>
          <a:xfrm>
            <a:off x="323528" y="1844824"/>
            <a:ext cx="84612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NewBaskerville-Roman"/>
              </a:rPr>
              <a:t>Dos bocinas </a:t>
            </a:r>
            <a:r>
              <a:rPr lang="es-PE" dirty="0" smtClean="0">
                <a:latin typeface="NewBaskerville-Roman"/>
              </a:rPr>
              <a:t>idénticas </a:t>
            </a:r>
            <a:r>
              <a:rPr lang="es-PE" dirty="0">
                <a:latin typeface="NewBaskerville-Roman"/>
              </a:rPr>
              <a:t>se activan mediante el mismo </a:t>
            </a:r>
            <a:r>
              <a:rPr lang="es-PE" dirty="0" smtClean="0">
                <a:latin typeface="NewBaskerville-Roman"/>
              </a:rPr>
              <a:t>oscilador de </a:t>
            </a:r>
            <a:r>
              <a:rPr lang="es-PE" dirty="0">
                <a:latin typeface="NewBaskerville-Roman"/>
              </a:rPr>
              <a:t>200 Hz de frecuencia. Las bocinas se ubican en un </a:t>
            </a:r>
            <a:r>
              <a:rPr lang="es-PE" dirty="0" smtClean="0">
                <a:latin typeface="NewBaskerville-Roman"/>
              </a:rPr>
              <a:t>poste vertical </a:t>
            </a:r>
            <a:r>
              <a:rPr lang="es-PE" dirty="0">
                <a:latin typeface="NewBaskerville-Roman"/>
              </a:rPr>
              <a:t>a una distancia de </a:t>
            </a:r>
            <a:r>
              <a:rPr lang="es-PE" dirty="0" smtClean="0">
                <a:latin typeface="NewBaskerville-Roman"/>
              </a:rPr>
              <a:t>4,00 </a:t>
            </a:r>
            <a:r>
              <a:rPr lang="es-PE" dirty="0">
                <a:latin typeface="NewBaskerville-Roman"/>
              </a:rPr>
              <a:t>m una de otra. Un </a:t>
            </a:r>
            <a:r>
              <a:rPr lang="es-PE" dirty="0" smtClean="0">
                <a:latin typeface="NewBaskerville-Roman"/>
              </a:rPr>
              <a:t>hombre camina </a:t>
            </a:r>
            <a:r>
              <a:rPr lang="es-PE" dirty="0">
                <a:latin typeface="NewBaskerville-Roman"/>
              </a:rPr>
              <a:t>directo hacia la bocina inferior en una </a:t>
            </a:r>
            <a:r>
              <a:rPr lang="es-PE" dirty="0" smtClean="0">
                <a:latin typeface="NewBaskerville-Roman"/>
              </a:rPr>
              <a:t>dirección perpendicular al </a:t>
            </a:r>
            <a:r>
              <a:rPr lang="es-PE" dirty="0">
                <a:latin typeface="NewBaskerville-Roman"/>
              </a:rPr>
              <a:t>poste, como se muestra en la </a:t>
            </a:r>
            <a:r>
              <a:rPr lang="es-PE" dirty="0" smtClean="0">
                <a:latin typeface="NewBaskerville-Roman"/>
              </a:rPr>
              <a:t>figura. </a:t>
            </a:r>
            <a:r>
              <a:rPr lang="es-PE" dirty="0">
                <a:latin typeface="NewBaskerville-Roman"/>
              </a:rPr>
              <a:t>a</a:t>
            </a:r>
            <a:r>
              <a:rPr lang="es-PE" dirty="0" smtClean="0">
                <a:latin typeface="NewBaskerville-Roman"/>
              </a:rPr>
              <a:t>) ¿</a:t>
            </a:r>
            <a:r>
              <a:rPr lang="es-PE" dirty="0">
                <a:latin typeface="NewBaskerville-Roman"/>
              </a:rPr>
              <a:t>Cuantas veces escuchara un </a:t>
            </a:r>
            <a:r>
              <a:rPr lang="es-PE" dirty="0" smtClean="0">
                <a:latin typeface="NewBaskerville-Roman"/>
              </a:rPr>
              <a:t>mínimo </a:t>
            </a:r>
            <a:r>
              <a:rPr lang="es-PE" dirty="0">
                <a:latin typeface="NewBaskerville-Roman"/>
              </a:rPr>
              <a:t>en la intensidad </a:t>
            </a:r>
            <a:r>
              <a:rPr lang="es-PE" dirty="0" smtClean="0">
                <a:latin typeface="NewBaskerville-Roman"/>
              </a:rPr>
              <a:t>sonora? b</a:t>
            </a:r>
            <a:r>
              <a:rPr lang="es-PE" dirty="0">
                <a:latin typeface="NewBaskerville-Roman"/>
              </a:rPr>
              <a:t>) ¿A que distancia esta del poste en estos momentos? </a:t>
            </a:r>
            <a:r>
              <a:rPr lang="es-PE" dirty="0" smtClean="0">
                <a:latin typeface="NewBaskerville-Roman"/>
              </a:rPr>
              <a:t>Considere que </a:t>
            </a:r>
            <a:r>
              <a:rPr lang="es-PE" dirty="0">
                <a:latin typeface="NewBaskerville-Roman"/>
              </a:rPr>
              <a:t>la rapidez del sonido es de 330 m/s e ignore </a:t>
            </a:r>
            <a:r>
              <a:rPr lang="es-PE" dirty="0" smtClean="0">
                <a:latin typeface="NewBaskerville-Roman"/>
              </a:rPr>
              <a:t>cualquier reflexión </a:t>
            </a:r>
            <a:r>
              <a:rPr lang="es-PE" dirty="0">
                <a:latin typeface="NewBaskerville-Roman"/>
              </a:rPr>
              <a:t>de sonido producida por el suelo.</a:t>
            </a:r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144126"/>
            <a:ext cx="2438147" cy="22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5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35696" y="980728"/>
            <a:ext cx="1656184" cy="572915"/>
          </a:xfrm>
        </p:spPr>
        <p:txBody>
          <a:bodyPr>
            <a:normAutofit/>
          </a:bodyPr>
          <a:lstStyle/>
          <a:p>
            <a:r>
              <a:rPr lang="es-PE" dirty="0" smtClean="0"/>
              <a:t>Ejemplo</a:t>
            </a:r>
            <a:endParaRPr lang="es-PE" dirty="0"/>
          </a:p>
        </p:txBody>
      </p:sp>
      <p:sp>
        <p:nvSpPr>
          <p:cNvPr id="5" name="Rectángulo 4"/>
          <p:cNvSpPr/>
          <p:nvPr/>
        </p:nvSpPr>
        <p:spPr>
          <a:xfrm>
            <a:off x="323528" y="1844824"/>
            <a:ext cx="84612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NewBaskerville-Roman"/>
              </a:rPr>
              <a:t>Dos bocinas </a:t>
            </a:r>
            <a:r>
              <a:rPr lang="es-PE" dirty="0" smtClean="0">
                <a:latin typeface="NewBaskerville-Roman"/>
              </a:rPr>
              <a:t>idénticas </a:t>
            </a:r>
            <a:r>
              <a:rPr lang="es-PE" dirty="0">
                <a:latin typeface="NewBaskerville-Roman"/>
              </a:rPr>
              <a:t>se activan mediante el mismo </a:t>
            </a:r>
            <a:r>
              <a:rPr lang="es-PE" dirty="0" smtClean="0">
                <a:latin typeface="NewBaskerville-Roman"/>
              </a:rPr>
              <a:t>oscilador de f = 500 </a:t>
            </a:r>
            <a:r>
              <a:rPr lang="es-PE" dirty="0">
                <a:latin typeface="NewBaskerville-Roman"/>
              </a:rPr>
              <a:t>Hz de frecuencia. Las bocinas se ubican en </a:t>
            </a:r>
            <a:r>
              <a:rPr lang="es-PE" dirty="0" smtClean="0">
                <a:latin typeface="NewBaskerville-Roman"/>
              </a:rPr>
              <a:t>eje x una en el origen y la otra a una distancia d. </a:t>
            </a:r>
            <a:r>
              <a:rPr lang="es-PE" dirty="0">
                <a:latin typeface="NewBaskerville-Roman"/>
              </a:rPr>
              <a:t>Un </a:t>
            </a:r>
            <a:r>
              <a:rPr lang="es-PE" dirty="0" smtClean="0">
                <a:latin typeface="NewBaskerville-Roman"/>
              </a:rPr>
              <a:t>detector D se mueve a la largo de la línea recta y = cx,  </a:t>
            </a:r>
            <a:r>
              <a:rPr lang="es-PE" dirty="0">
                <a:latin typeface="NewBaskerville-Roman"/>
              </a:rPr>
              <a:t>a</a:t>
            </a:r>
            <a:r>
              <a:rPr lang="es-PE" dirty="0" smtClean="0">
                <a:latin typeface="NewBaskerville-Roman"/>
              </a:rPr>
              <a:t>) ¿A que altura y se produce el mínimo de orden n=0? b</a:t>
            </a:r>
            <a:r>
              <a:rPr lang="es-PE" dirty="0">
                <a:latin typeface="NewBaskerville-Roman"/>
              </a:rPr>
              <a:t>) ¿A que </a:t>
            </a:r>
            <a:r>
              <a:rPr lang="es-PE" dirty="0" smtClean="0">
                <a:latin typeface="NewBaskerville-Roman"/>
              </a:rPr>
              <a:t>altura se produce el máximo de orden n= 1? Considere que </a:t>
            </a:r>
            <a:r>
              <a:rPr lang="es-PE" dirty="0">
                <a:latin typeface="NewBaskerville-Roman"/>
              </a:rPr>
              <a:t>la rapidez del sonido es de </a:t>
            </a:r>
            <a:r>
              <a:rPr lang="es-PE" dirty="0" smtClean="0">
                <a:latin typeface="NewBaskerville-Roman"/>
              </a:rPr>
              <a:t>340 </a:t>
            </a:r>
            <a:r>
              <a:rPr lang="es-PE" dirty="0">
                <a:latin typeface="NewBaskerville-Roman"/>
              </a:rPr>
              <a:t>m/s e ignore </a:t>
            </a:r>
            <a:r>
              <a:rPr lang="es-PE" dirty="0" smtClean="0">
                <a:latin typeface="NewBaskerville-Roman"/>
              </a:rPr>
              <a:t>cualquier reflexión </a:t>
            </a:r>
            <a:r>
              <a:rPr lang="es-PE" dirty="0">
                <a:latin typeface="NewBaskerville-Roman"/>
              </a:rPr>
              <a:t>de sonido producida por el suelo.</a:t>
            </a:r>
            <a:endParaRPr lang="es-PE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789040"/>
            <a:ext cx="2664296" cy="2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2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07704" y="847066"/>
            <a:ext cx="3600400" cy="572915"/>
          </a:xfrm>
        </p:spPr>
        <p:txBody>
          <a:bodyPr/>
          <a:lstStyle/>
          <a:p>
            <a:r>
              <a:rPr lang="es-PE" dirty="0" smtClean="0"/>
              <a:t>Ondas estacionarias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28800"/>
                <a:ext cx="4248472" cy="4351338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Es el resultado de la superposición de dos ondas viajeras de la misma frecuencia que se mueven en sentidos opuestos.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PE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PE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𝐶𝑜𝑠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PE" sz="16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P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sz="160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PE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𝐶𝑜𝑠</m:t>
                      </m:r>
                      <m:d>
                        <m:d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𝑘𝑥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𝐶𝑜𝑠</m:t>
                      </m:r>
                      <m:d>
                        <m:d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𝑘𝑥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PE" sz="16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ES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Utilizamos la identidad trigonométrica: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d>
                        <m:d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s-PE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)∓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𝑆𝑒𝑛</m:t>
                      </m:r>
                      <m:d>
                        <m:dPr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𝑆𝑒𝑛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16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ES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Entoces</a:t>
                </a:r>
                <a:r>
                  <a:rPr lang="es-ES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la suma de las ondas nos da: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𝐴𝑆𝑒𝑛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d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𝑆𝑒𝑛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PE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ES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Que representa la ecuación de una onda estacionaria</a:t>
                </a:r>
                <a:endParaRPr lang="es-PE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PE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28800"/>
                <a:ext cx="4248472" cy="4351338"/>
              </a:xfrm>
              <a:blipFill rotWithShape="0">
                <a:blip r:embed="rId2"/>
                <a:stretch>
                  <a:fillRect l="-717" r="-861" b="-1540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4293096"/>
            <a:ext cx="4040233" cy="1943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5007940" y="1628800"/>
                <a:ext cx="3888432" cy="2741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 smtClean="0"/>
                  <a:t>En donde si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𝑆𝑒𝑛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r>
                  <a:rPr lang="es-ES" sz="1600" dirty="0" smtClean="0"/>
                  <a:t> es 1 tenemos un máximo:</a:t>
                </a:r>
              </a:p>
              <a:p>
                <a:r>
                  <a:rPr lang="es-ES" sz="1600" dirty="0" smtClean="0"/>
                  <a:t>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 </m:t>
                    </m:r>
                  </m:oMath>
                </a14:m>
                <a:endParaRPr lang="es-PE" sz="16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PE" sz="1600" dirty="0" smtClean="0"/>
              </a:p>
              <a:p>
                <a:r>
                  <a:rPr lang="es-ES" sz="1600" dirty="0" smtClean="0"/>
                  <a:t>Si 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𝑆𝑒𝑛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r>
                  <a:rPr lang="es-ES" sz="1600" dirty="0"/>
                  <a:t> es </a:t>
                </a:r>
                <a:r>
                  <a:rPr lang="es-ES" sz="1600" dirty="0" smtClean="0"/>
                  <a:t>0; tenemos un mínimo:</a:t>
                </a:r>
              </a:p>
              <a:p>
                <a:r>
                  <a:rPr lang="es-ES" sz="1600" dirty="0" smtClean="0"/>
                  <a:t> </a:t>
                </a:r>
                <a:r>
                  <a:rPr lang="es-ES" sz="1600" dirty="0"/>
                  <a:t>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s-ES" sz="16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PE" sz="1600" dirty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940" y="1628800"/>
                <a:ext cx="3888432" cy="2741969"/>
              </a:xfrm>
              <a:prstGeom prst="rect">
                <a:avLst/>
              </a:prstGeom>
              <a:blipFill rotWithShape="0">
                <a:blip r:embed="rId4"/>
                <a:stretch>
                  <a:fillRect l="-942" t="-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7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23728" y="840482"/>
            <a:ext cx="5527526" cy="687610"/>
          </a:xfrm>
        </p:spPr>
        <p:txBody>
          <a:bodyPr/>
          <a:lstStyle/>
          <a:p>
            <a:r>
              <a:rPr lang="es-PE" dirty="0" smtClean="0"/>
              <a:t>Ondas estacionarias en cuerdas</a:t>
            </a:r>
            <a:endParaRPr lang="es-PE" dirty="0"/>
          </a:p>
        </p:txBody>
      </p:sp>
      <p:sp>
        <p:nvSpPr>
          <p:cNvPr id="6" name="5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180975" indent="-180975">
              <a:spcBef>
                <a:spcPct val="0"/>
              </a:spcBef>
            </a:pPr>
            <a:r>
              <a:rPr lang="es-PE" i="1" dirty="0"/>
              <a:t>Modo Fundamental (primer armónico</a:t>
            </a:r>
            <a:r>
              <a:rPr lang="es-PE" i="1" dirty="0" smtClean="0"/>
              <a:t>):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PE" i="1" dirty="0" smtClean="0"/>
              <a:t>L=</a:t>
            </a:r>
            <a:r>
              <a:rPr lang="el-GR" i="1" dirty="0" smtClean="0"/>
              <a:t>λ</a:t>
            </a:r>
            <a:r>
              <a:rPr lang="es-PE" i="1" dirty="0" smtClean="0"/>
              <a:t>/2</a:t>
            </a:r>
          </a:p>
          <a:p>
            <a:pPr marL="0" indent="0" algn="ctr">
              <a:spcBef>
                <a:spcPct val="0"/>
              </a:spcBef>
              <a:buNone/>
            </a:pPr>
            <a:endParaRPr lang="es-PE" i="1" dirty="0" smtClean="0"/>
          </a:p>
          <a:p>
            <a:pPr>
              <a:spcBef>
                <a:spcPct val="0"/>
              </a:spcBef>
            </a:pPr>
            <a:r>
              <a:rPr lang="es-PE" i="1" dirty="0" smtClean="0"/>
              <a:t>Segundo armónico: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PE" i="1" dirty="0" smtClean="0"/>
              <a:t>L=2(</a:t>
            </a:r>
            <a:r>
              <a:rPr lang="el-GR" i="1" dirty="0" smtClean="0"/>
              <a:t>λ</a:t>
            </a:r>
            <a:r>
              <a:rPr lang="es-PE" i="1" dirty="0" smtClean="0"/>
              <a:t>/2)</a:t>
            </a:r>
          </a:p>
          <a:p>
            <a:pPr marL="0" indent="0" algn="ctr">
              <a:spcBef>
                <a:spcPct val="0"/>
              </a:spcBef>
              <a:buNone/>
            </a:pPr>
            <a:endParaRPr lang="es-PE" i="1" dirty="0" smtClean="0"/>
          </a:p>
          <a:p>
            <a:pPr>
              <a:spcBef>
                <a:spcPct val="0"/>
              </a:spcBef>
            </a:pPr>
            <a:r>
              <a:rPr lang="es-PE" i="1" dirty="0" smtClean="0"/>
              <a:t>Tercer armónico: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PE" i="1" dirty="0" smtClean="0"/>
              <a:t>L= 3(</a:t>
            </a:r>
            <a:r>
              <a:rPr lang="el-GR" i="1" dirty="0"/>
              <a:t>λ</a:t>
            </a:r>
            <a:r>
              <a:rPr lang="es-PE" i="1" dirty="0"/>
              <a:t>/2</a:t>
            </a:r>
            <a:r>
              <a:rPr lang="es-PE" i="1" dirty="0" smtClean="0"/>
              <a:t>)</a:t>
            </a:r>
          </a:p>
          <a:p>
            <a:pPr marL="0" indent="0" algn="ctr">
              <a:spcBef>
                <a:spcPct val="0"/>
              </a:spcBef>
              <a:buNone/>
            </a:pPr>
            <a:endParaRPr lang="es-PE" i="1" dirty="0" smtClean="0"/>
          </a:p>
          <a:p>
            <a:pPr>
              <a:spcBef>
                <a:spcPct val="0"/>
              </a:spcBef>
            </a:pPr>
            <a:r>
              <a:rPr lang="es-PE" i="1" dirty="0" smtClean="0"/>
              <a:t>De manera general: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PE" i="1" dirty="0" smtClean="0"/>
              <a:t>L=n(</a:t>
            </a:r>
            <a:r>
              <a:rPr lang="el-GR" i="1" dirty="0"/>
              <a:t>λ</a:t>
            </a:r>
            <a:r>
              <a:rPr lang="es-PE" i="1" dirty="0" smtClean="0"/>
              <a:t>/2)</a:t>
            </a:r>
          </a:p>
          <a:p>
            <a:pPr marL="0" indent="0" algn="ctr">
              <a:spcBef>
                <a:spcPct val="0"/>
              </a:spcBef>
              <a:buNone/>
            </a:pPr>
            <a:endParaRPr lang="es-PE" i="1" dirty="0"/>
          </a:p>
          <a:p>
            <a:pPr>
              <a:spcBef>
                <a:spcPct val="0"/>
              </a:spcBef>
            </a:pPr>
            <a:r>
              <a:rPr lang="es-PE" i="1" dirty="0" smtClean="0"/>
              <a:t>La longitud de onda en un armónico «n», será: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l-GR" i="1" dirty="0" smtClean="0"/>
              <a:t>λ</a:t>
            </a:r>
            <a:r>
              <a:rPr lang="es-PE" i="1" dirty="0" smtClean="0"/>
              <a:t>=2L/n</a:t>
            </a:r>
            <a:endParaRPr lang="es-PE" dirty="0"/>
          </a:p>
        </p:txBody>
      </p:sp>
      <p:pic>
        <p:nvPicPr>
          <p:cNvPr id="4" name="Picture 24" descr="MA64_S09_01_IMG01_armonico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6016" y="1825625"/>
            <a:ext cx="396044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5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907704" y="930014"/>
            <a:ext cx="2160240" cy="533475"/>
          </a:xfrm>
        </p:spPr>
        <p:txBody>
          <a:bodyPr>
            <a:normAutofit fontScale="90000"/>
          </a:bodyPr>
          <a:lstStyle/>
          <a:p>
            <a:r>
              <a:rPr lang="es-PE" dirty="0" smtClean="0"/>
              <a:t>Ejemplo 5</a:t>
            </a:r>
            <a:endParaRPr lang="es-PE" dirty="0"/>
          </a:p>
        </p:txBody>
      </p:sp>
      <p:sp>
        <p:nvSpPr>
          <p:cNvPr id="6" name="5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s-PE" dirty="0"/>
              <a:t>Un alambre de 40,0 g está estirado de modo que sus extremos están fijos en puntos separados 80,0 cm. El alambre vibra en su modo fundamental con frecuencia de 60,0 Hz y amplitud en los antinodos  de 0,300 cm. a) Calcule la rapidez de propagación de ondas transversales en el alambre. b) Calcule la tensión en el alambre</a:t>
            </a: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4932040" y="1958751"/>
            <a:ext cx="3927475" cy="4876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MS PGothic" pitchFamily="34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MS PGothic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MS PGothic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MS PGothic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es-PE" sz="2200" dirty="0" smtClean="0">
                <a:solidFill>
                  <a:schemeClr val="tx1"/>
                </a:solidFill>
              </a:rPr>
              <a:t>Solución.</a:t>
            </a:r>
          </a:p>
          <a:p>
            <a:pPr algn="just">
              <a:buClr>
                <a:srgbClr val="000000"/>
              </a:buClr>
              <a:buFontTx/>
              <a:buAutoNum type="alphaLcPeriod"/>
            </a:pPr>
            <a:r>
              <a:rPr lang="es-PE" sz="2200" i="1" dirty="0" smtClean="0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</a:rPr>
              <a:t> = </a:t>
            </a:r>
            <a:r>
              <a:rPr lang="es-PE" sz="2200" i="1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f</a:t>
            </a: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</a:p>
          <a:p>
            <a:pPr algn="just">
              <a:buClr>
                <a:srgbClr val="000000"/>
              </a:buClr>
              <a:buFontTx/>
              <a:buNone/>
            </a:pP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       = (20,800)(60,0) m/s </a:t>
            </a:r>
          </a:p>
          <a:p>
            <a:pPr algn="just">
              <a:buClr>
                <a:srgbClr val="000000"/>
              </a:buClr>
              <a:buFontTx/>
              <a:buNone/>
            </a:pP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       = 96,0 m/s</a:t>
            </a:r>
          </a:p>
          <a:p>
            <a:pPr algn="just">
              <a:buClr>
                <a:srgbClr val="000000"/>
              </a:buClr>
              <a:buFontTx/>
              <a:buAutoNum type="alphaLcPeriod"/>
            </a:pPr>
            <a:r>
              <a:rPr lang="es-PE" sz="2200" i="1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F </a:t>
            </a: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= </a:t>
            </a:r>
            <a:r>
              <a:rPr lang="es-PE" sz="2200" i="1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v</a:t>
            </a:r>
            <a:r>
              <a:rPr lang="es-PE" sz="2200" baseline="300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es-PE" sz="2200" dirty="0" smtClean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  <a:p>
            <a:pPr algn="just">
              <a:buClr>
                <a:srgbClr val="000000"/>
              </a:buClr>
              <a:buFontTx/>
              <a:buNone/>
            </a:pP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       = (0,0400/0,800)(96,0)</a:t>
            </a:r>
            <a:r>
              <a:rPr lang="es-PE" sz="2200" baseline="300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N </a:t>
            </a:r>
          </a:p>
          <a:p>
            <a:pPr algn="just">
              <a:buClr>
                <a:srgbClr val="000000"/>
              </a:buClr>
              <a:buFontTx/>
              <a:buNone/>
            </a:pPr>
            <a:r>
              <a:rPr lang="es-PE" sz="22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       = 461 N</a:t>
            </a:r>
          </a:p>
          <a:p>
            <a:pPr algn="just">
              <a:buClr>
                <a:srgbClr val="000000"/>
              </a:buClr>
              <a:buFontTx/>
              <a:buAutoNum type="alphaLcPeriod"/>
            </a:pPr>
            <a:endParaRPr lang="es-PE" sz="2200" dirty="0" smtClean="0">
              <a:latin typeface="Times New Roman" pitchFamily="18" charset="0"/>
              <a:sym typeface="Symbol" pitchFamily="18" charset="2"/>
            </a:endParaRPr>
          </a:p>
          <a:p>
            <a:pPr algn="just">
              <a:buClr>
                <a:srgbClr val="000000"/>
              </a:buClr>
              <a:buFontTx/>
              <a:buAutoNum type="alphaLcPeriod"/>
            </a:pPr>
            <a:endParaRPr lang="es-PE" sz="2200" dirty="0" smtClean="0">
              <a:latin typeface="Times New Roman" pitchFamily="18" charset="0"/>
              <a:sym typeface="Symbol" pitchFamily="18" charset="2"/>
            </a:endParaRPr>
          </a:p>
          <a:p>
            <a:pPr algn="just"/>
            <a:endParaRPr lang="es-PE" sz="22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774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08155"/>
            <a:ext cx="8229600" cy="5141425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r>
              <a:rPr lang="es-ES" sz="2200" dirty="0"/>
              <a:t>Las ondas mecánicas son perturbaciones que se propagan en un medio. De ellas, las armónicas pueden describirse fácilmente.</a:t>
            </a:r>
          </a:p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endParaRPr lang="es-ES" sz="2200" dirty="0" smtClean="0"/>
          </a:p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r>
              <a:rPr lang="es-ES" sz="2200" dirty="0" smtClean="0"/>
              <a:t>Con </a:t>
            </a:r>
            <a:r>
              <a:rPr lang="es-ES" sz="2200" dirty="0"/>
              <a:t>ayuda de la expresión de la posición vertical se puede hallar las ecuaciones cinemáticas</a:t>
            </a:r>
            <a:r>
              <a:rPr lang="es-ES" sz="2200" dirty="0" smtClean="0"/>
              <a:t>.</a:t>
            </a:r>
          </a:p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endParaRPr lang="es-ES" sz="2200" dirty="0"/>
          </a:p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r>
              <a:rPr lang="es-ES" sz="2200" dirty="0"/>
              <a:t>Las ondas estacionarias surgen del análisis de las ondas armónicas, concluyendo que existen frecuencias específicas en que se produce un patrón de ondas estacionario (armónicos</a:t>
            </a:r>
            <a:r>
              <a:rPr lang="es-ES" sz="2200" dirty="0" smtClean="0"/>
              <a:t>).</a:t>
            </a:r>
          </a:p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endParaRPr lang="es-ES" sz="2200" dirty="0"/>
          </a:p>
          <a:p>
            <a:pPr algn="just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Ø"/>
            </a:pPr>
            <a:r>
              <a:rPr lang="es-ES" sz="2200" dirty="0"/>
              <a:t>Se estudia las propiedades básicas del sonido y se calcula la velocidad de propagación de esta onda.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907704" y="908720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/>
              <a:t>Conclusiones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150268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827584" y="2132856"/>
            <a:ext cx="7776864" cy="338437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/>
            <a:r>
              <a:rPr lang="es-ES" sz="2400" dirty="0" smtClean="0">
                <a:solidFill>
                  <a:schemeClr val="tx1"/>
                </a:solidFill>
              </a:rPr>
              <a:t>R. </a:t>
            </a:r>
            <a:r>
              <a:rPr lang="es-ES" sz="2400" dirty="0" err="1" smtClean="0">
                <a:solidFill>
                  <a:schemeClr val="tx1"/>
                </a:solidFill>
              </a:rPr>
              <a:t>Serway</a:t>
            </a:r>
            <a:r>
              <a:rPr lang="es-ES" sz="2400" dirty="0" smtClean="0">
                <a:solidFill>
                  <a:schemeClr val="tx1"/>
                </a:solidFill>
              </a:rPr>
              <a:t>, J. </a:t>
            </a:r>
            <a:r>
              <a:rPr lang="es-ES" sz="2400" dirty="0" err="1" smtClean="0">
                <a:solidFill>
                  <a:schemeClr val="tx1"/>
                </a:solidFill>
              </a:rPr>
              <a:t>Jewett</a:t>
            </a:r>
            <a:r>
              <a:rPr lang="es-ES" sz="2400" dirty="0" smtClean="0">
                <a:solidFill>
                  <a:schemeClr val="tx1"/>
                </a:solidFill>
              </a:rPr>
              <a:t>. Física para Ciencias e Ingeniería. 7° edición. </a:t>
            </a:r>
            <a:r>
              <a:rPr lang="es-ES" sz="2400" dirty="0" err="1" smtClean="0">
                <a:solidFill>
                  <a:schemeClr val="tx1"/>
                </a:solidFill>
              </a:rPr>
              <a:t>Ed.Cengage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</a:rPr>
              <a:t>Learning</a:t>
            </a:r>
            <a:r>
              <a:rPr lang="es-ES" sz="2400" dirty="0" smtClean="0">
                <a:solidFill>
                  <a:schemeClr val="tx1"/>
                </a:solidFill>
              </a:rPr>
              <a:t>. Pág. 426-429; 436-437.</a:t>
            </a:r>
          </a:p>
          <a:p>
            <a:pPr marL="571500" indent="-571500"/>
            <a:endParaRPr lang="es-ES" sz="2400" dirty="0" smtClean="0">
              <a:solidFill>
                <a:schemeClr val="tx1"/>
              </a:solidFill>
            </a:endParaRPr>
          </a:p>
          <a:p>
            <a:pPr marL="571500" indent="-571500"/>
            <a:r>
              <a:rPr lang="es-ES" sz="2400" dirty="0" smtClean="0">
                <a:solidFill>
                  <a:schemeClr val="tx1"/>
                </a:solidFill>
              </a:rPr>
              <a:t>J. Wilson, A. </a:t>
            </a:r>
            <a:r>
              <a:rPr lang="es-ES" sz="2400" dirty="0" err="1" smtClean="0">
                <a:solidFill>
                  <a:schemeClr val="tx1"/>
                </a:solidFill>
              </a:rPr>
              <a:t>Buffa</a:t>
            </a:r>
            <a:r>
              <a:rPr lang="es-ES" sz="2400" dirty="0" smtClean="0">
                <a:solidFill>
                  <a:schemeClr val="tx1"/>
                </a:solidFill>
              </a:rPr>
              <a:t>. Física. 6° edición. Ed. </a:t>
            </a:r>
            <a:r>
              <a:rPr lang="es-ES" sz="2400" dirty="0" err="1" smtClean="0">
                <a:solidFill>
                  <a:schemeClr val="tx1"/>
                </a:solidFill>
              </a:rPr>
              <a:t>Pearson</a:t>
            </a:r>
            <a:r>
              <a:rPr lang="es-ES" sz="2400" dirty="0" smtClean="0">
                <a:solidFill>
                  <a:schemeClr val="tx1"/>
                </a:solidFill>
              </a:rPr>
              <a:t> Educación. Pág. 445-446.</a:t>
            </a:r>
          </a:p>
          <a:p>
            <a:pPr marL="571500" indent="-571500"/>
            <a:endParaRPr lang="es-ES" sz="2400" dirty="0" smtClean="0">
              <a:solidFill>
                <a:schemeClr val="tx1"/>
              </a:solidFill>
            </a:endParaRPr>
          </a:p>
          <a:p>
            <a:pPr marL="571500" indent="-571500"/>
            <a:r>
              <a:rPr lang="es-ES" sz="2400" dirty="0" smtClean="0">
                <a:solidFill>
                  <a:schemeClr val="tx1"/>
                </a:solidFill>
              </a:rPr>
              <a:t>Sears </a:t>
            </a:r>
            <a:r>
              <a:rPr lang="es-ES" sz="2400" dirty="0" err="1" smtClean="0">
                <a:solidFill>
                  <a:schemeClr val="tx1"/>
                </a:solidFill>
              </a:rPr>
              <a:t>Zemansky</a:t>
            </a:r>
            <a:r>
              <a:rPr lang="es-ES" sz="2400" dirty="0" smtClean="0">
                <a:solidFill>
                  <a:schemeClr val="tx1"/>
                </a:solidFill>
              </a:rPr>
              <a:t>. Física Universitaria. 12° edición. Ed. </a:t>
            </a:r>
            <a:r>
              <a:rPr lang="es-ES" sz="2400" dirty="0" err="1" smtClean="0">
                <a:solidFill>
                  <a:schemeClr val="tx1"/>
                </a:solidFill>
              </a:rPr>
              <a:t>Pearson</a:t>
            </a:r>
            <a:r>
              <a:rPr lang="es-ES" sz="2400" dirty="0" smtClean="0">
                <a:solidFill>
                  <a:schemeClr val="tx1"/>
                </a:solidFill>
              </a:rPr>
              <a:t> Educación. Pág. 428,424; 440-442.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979712" y="908720"/>
            <a:ext cx="2611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s-ES" b="1" dirty="0"/>
              <a:t>Referencias Bibliográficas</a:t>
            </a:r>
          </a:p>
        </p:txBody>
      </p:sp>
    </p:spTree>
    <p:extLst>
      <p:ext uri="{BB962C8B-B14F-4D97-AF65-F5344CB8AC3E}">
        <p14:creationId xmlns:p14="http://schemas.microsoft.com/office/powerpoint/2010/main" val="353196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2018</TotalTime>
  <Words>1220</Words>
  <Application>Microsoft Office PowerPoint</Application>
  <PresentationFormat>Presentación en pantalla (4:3)</PresentationFormat>
  <Paragraphs>189</Paragraphs>
  <Slides>22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13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9" baseType="lpstr">
      <vt:lpstr>ＭＳ Ｐゴシック</vt:lpstr>
      <vt:lpstr>ＭＳ Ｐゴシック</vt:lpstr>
      <vt:lpstr>Arial</vt:lpstr>
      <vt:lpstr>Calibri</vt:lpstr>
      <vt:lpstr>Calibri Light</vt:lpstr>
      <vt:lpstr>Cambria Math</vt:lpstr>
      <vt:lpstr>MyriadPro-Semibold</vt:lpstr>
      <vt:lpstr>NewBaskerville-Bold</vt:lpstr>
      <vt:lpstr>NewBaskerville-Italic</vt:lpstr>
      <vt:lpstr>NewBaskerville-Roman</vt:lpstr>
      <vt:lpstr>Symbol</vt:lpstr>
      <vt:lpstr>Times New Roman</vt:lpstr>
      <vt:lpstr>Wingdings</vt:lpstr>
      <vt:lpstr>PATRON</vt:lpstr>
      <vt:lpstr>Tema de Office</vt:lpstr>
      <vt:lpstr>1_PATRON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Potencia transmitida por una onda</vt:lpstr>
      <vt:lpstr>Ejemplo 4</vt:lpstr>
      <vt:lpstr>Presentación de PowerPoint</vt:lpstr>
      <vt:lpstr>Ejemplo</vt:lpstr>
      <vt:lpstr>Ejemplo</vt:lpstr>
      <vt:lpstr>Nivel sonoro en decibeles</vt:lpstr>
      <vt:lpstr>Ejemplo</vt:lpstr>
      <vt:lpstr>Presentación de PowerPoint</vt:lpstr>
      <vt:lpstr>Presentación de PowerPoint</vt:lpstr>
      <vt:lpstr>Presentación de PowerPoint</vt:lpstr>
      <vt:lpstr>Ejemplo</vt:lpstr>
      <vt:lpstr>Ejemplo</vt:lpstr>
      <vt:lpstr>Ondas estacionarias</vt:lpstr>
      <vt:lpstr>Ondas estacionarias en cuerdas</vt:lpstr>
      <vt:lpstr>Ejemplo 5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Ondas mecánicas</dc:title>
  <dc:creator>Paredes Aguilar Hector</dc:creator>
  <cp:lastModifiedBy>Cuenta Microsoft</cp:lastModifiedBy>
  <cp:revision>136</cp:revision>
  <dcterms:created xsi:type="dcterms:W3CDTF">2013-09-21T23:02:57Z</dcterms:created>
  <dcterms:modified xsi:type="dcterms:W3CDTF">2020-11-02T17:40:40Z</dcterms:modified>
</cp:coreProperties>
</file>