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363" r:id="rId2"/>
    <p:sldId id="256" r:id="rId3"/>
    <p:sldId id="365" r:id="rId4"/>
    <p:sldId id="366" r:id="rId5"/>
    <p:sldId id="367" r:id="rId6"/>
    <p:sldId id="389" r:id="rId7"/>
    <p:sldId id="395" r:id="rId8"/>
    <p:sldId id="401" r:id="rId9"/>
    <p:sldId id="400" r:id="rId10"/>
    <p:sldId id="406" r:id="rId11"/>
    <p:sldId id="371" r:id="rId12"/>
    <p:sldId id="384" r:id="rId13"/>
    <p:sldId id="387" r:id="rId14"/>
    <p:sldId id="402" r:id="rId15"/>
    <p:sldId id="381" r:id="rId16"/>
    <p:sldId id="403" r:id="rId17"/>
    <p:sldId id="393" r:id="rId18"/>
    <p:sldId id="404" r:id="rId19"/>
    <p:sldId id="405" r:id="rId20"/>
    <p:sldId id="376" r:id="rId21"/>
    <p:sldId id="382" r:id="rId22"/>
    <p:sldId id="378" r:id="rId23"/>
  </p:sldIdLst>
  <p:sldSz cx="9906000" cy="6858000" type="A4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D1611"/>
    <a:srgbClr val="A51313"/>
    <a:srgbClr val="B71515"/>
    <a:srgbClr val="D51919"/>
    <a:srgbClr val="B6120E"/>
    <a:srgbClr val="930E0B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36" autoAdjust="0"/>
    <p:restoredTop sz="94660"/>
  </p:normalViewPr>
  <p:slideViewPr>
    <p:cSldViewPr>
      <p:cViewPr varScale="1">
        <p:scale>
          <a:sx n="84" d="100"/>
          <a:sy n="84" d="100"/>
        </p:scale>
        <p:origin x="1464" y="4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219AD7-51CE-483B-A812-AE489C31F232}" type="datetimeFigureOut">
              <a:rPr lang="es-MX" smtClean="0"/>
              <a:t>02/11/2020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476D70-7FD1-490F-953D-DAC7EFCA24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52353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223AA-9B34-4DCC-A6E4-0C980A794CD5}" type="datetimeFigureOut">
              <a:rPr lang="es-MX" smtClean="0"/>
              <a:t>02/11/2020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07FDC-64A3-4F2D-9092-2E95035D7FC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6993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7"/>
          <p:cNvSpPr/>
          <p:nvPr/>
        </p:nvSpPr>
        <p:spPr>
          <a:xfrm>
            <a:off x="1" y="1835150"/>
            <a:ext cx="259689" cy="143056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4479" y="1848218"/>
            <a:ext cx="8420100" cy="345317"/>
          </a:xfrm>
          <a:prstGeom prst="rect">
            <a:avLst/>
          </a:prstGeom>
        </p:spPr>
        <p:txBody>
          <a:bodyPr/>
          <a:lstStyle>
            <a:lvl1pPr>
              <a:defRPr sz="2800" cap="all">
                <a:solidFill>
                  <a:srgbClr val="272727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34479" y="2287320"/>
            <a:ext cx="6934200" cy="97839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3260" y="5949280"/>
            <a:ext cx="2340260" cy="648072"/>
          </a:xfrm>
          <a:prstGeom prst="rect">
            <a:avLst/>
          </a:prstGeom>
        </p:spPr>
      </p:pic>
      <p:sp>
        <p:nvSpPr>
          <p:cNvPr id="7" name="Rectángulo 7"/>
          <p:cNvSpPr/>
          <p:nvPr/>
        </p:nvSpPr>
        <p:spPr>
          <a:xfrm>
            <a:off x="1" y="1835150"/>
            <a:ext cx="259689" cy="143056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8" name="7 Rectángulo"/>
          <p:cNvSpPr/>
          <p:nvPr userDrawn="1"/>
        </p:nvSpPr>
        <p:spPr>
          <a:xfrm>
            <a:off x="7825563" y="12700"/>
            <a:ext cx="2066679" cy="11247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7"/>
          <p:cNvSpPr/>
          <p:nvPr userDrawn="1"/>
        </p:nvSpPr>
        <p:spPr>
          <a:xfrm>
            <a:off x="0" y="1835150"/>
            <a:ext cx="239713" cy="143056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None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6" name="Rectangle 5"/>
          <p:cNvSpPr/>
          <p:nvPr/>
        </p:nvSpPr>
        <p:spPr>
          <a:xfrm>
            <a:off x="495300" y="393580"/>
            <a:ext cx="15007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LOGROS</a:t>
            </a:r>
            <a:endParaRPr lang="es-MX" sz="2400" dirty="0">
              <a:solidFill>
                <a:srgbClr val="FFC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710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7101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95300" y="1078523"/>
            <a:ext cx="4375150" cy="51414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035550" y="1078523"/>
            <a:ext cx="4375150" cy="51414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IAS BIBLIOGRAFI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12" name="Rectangle 11"/>
          <p:cNvSpPr/>
          <p:nvPr/>
        </p:nvSpPr>
        <p:spPr>
          <a:xfrm>
            <a:off x="495301" y="393580"/>
            <a:ext cx="50225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solidFill>
                  <a:srgbClr val="FFC000"/>
                </a:solidFill>
                <a:effectLst/>
                <a:latin typeface="Arial" pitchFamily="34" charset="0"/>
                <a:cs typeface="Arial" pitchFamily="34" charset="0"/>
              </a:rPr>
              <a:t>REFERENCIAS BIBLIOGRÁFICAS</a:t>
            </a:r>
            <a:endParaRPr lang="es-MX" sz="2400" dirty="0">
              <a:solidFill>
                <a:srgbClr val="FFC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REFERENCIAS BIBLIOGRAFI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12" name="Rectangle 11"/>
          <p:cNvSpPr/>
          <p:nvPr/>
        </p:nvSpPr>
        <p:spPr>
          <a:xfrm>
            <a:off x="495300" y="393580"/>
            <a:ext cx="26484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solidFill>
                  <a:srgbClr val="FFC000"/>
                </a:solidFill>
                <a:effectLst/>
                <a:latin typeface="Arial" pitchFamily="34" charset="0"/>
                <a:cs typeface="Arial" pitchFamily="34" charset="0"/>
              </a:rPr>
              <a:t>CONCLUSIONES</a:t>
            </a:r>
            <a:endParaRPr lang="es-MX" sz="2400" dirty="0">
              <a:solidFill>
                <a:srgbClr val="FFC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"/>
          <p:cNvSpPr/>
          <p:nvPr/>
        </p:nvSpPr>
        <p:spPr>
          <a:xfrm>
            <a:off x="9658351" y="482601"/>
            <a:ext cx="259689" cy="492125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7101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77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772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 l="-9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0" r:id="rId8"/>
    <p:sldLayoutId id="2147483671" r:id="rId9"/>
  </p:sldLayoutIdLst>
  <p:transition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kern="1200" cap="all">
          <a:solidFill>
            <a:srgbClr val="EFA82F"/>
          </a:solidFill>
          <a:latin typeface="Arial"/>
          <a:ea typeface="ＭＳ Ｐゴシック" charset="-128"/>
          <a:cs typeface="+mj-cs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5.jpeg"/><Relationship Id="rId4" Type="http://schemas.openxmlformats.org/officeDocument/2006/relationships/image" Target="../media/image1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26.jpeg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5.png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isicarecreativa.com/" TargetMode="External"/><Relationship Id="rId2" Type="http://schemas.openxmlformats.org/officeDocument/2006/relationships/hyperlink" Target="http://www.sc.ehu.es/sbweb/fisica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200472" y="2132854"/>
            <a:ext cx="3312367" cy="4176465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2400" dirty="0" smtClean="0">
                <a:solidFill>
                  <a:schemeClr val="tx1"/>
                </a:solidFill>
              </a:rPr>
              <a:t>Densidad</a:t>
            </a:r>
            <a:r>
              <a:rPr lang="es-PE" sz="2400" dirty="0">
                <a:solidFill>
                  <a:schemeClr val="tx1"/>
                </a:solidFill>
              </a:rPr>
              <a:t>. Peso </a:t>
            </a:r>
            <a:r>
              <a:rPr lang="es-PE" sz="2400" dirty="0" smtClean="0">
                <a:solidFill>
                  <a:schemeClr val="tx1"/>
                </a:solidFill>
              </a:rPr>
              <a:t>Específico.</a:t>
            </a:r>
          </a:p>
          <a:p>
            <a:r>
              <a:rPr lang="es-PE" sz="2400" dirty="0" smtClean="0">
                <a:solidFill>
                  <a:schemeClr val="tx1"/>
                </a:solidFill>
              </a:rPr>
              <a:t>Presión.</a:t>
            </a:r>
          </a:p>
          <a:p>
            <a:r>
              <a:rPr lang="es-PE" sz="2400" dirty="0" smtClean="0">
                <a:solidFill>
                  <a:schemeClr val="tx1"/>
                </a:solidFill>
              </a:rPr>
              <a:t>Variación de la presión </a:t>
            </a:r>
            <a:r>
              <a:rPr lang="es-PE" sz="2400" dirty="0">
                <a:solidFill>
                  <a:schemeClr val="tx1"/>
                </a:solidFill>
              </a:rPr>
              <a:t>en un fluido con la profundidad.</a:t>
            </a:r>
          </a:p>
          <a:p>
            <a:r>
              <a:rPr lang="es-PE" sz="2400" dirty="0">
                <a:solidFill>
                  <a:schemeClr val="tx1"/>
                </a:solidFill>
              </a:rPr>
              <a:t>Principios de Pascal </a:t>
            </a:r>
            <a:r>
              <a:rPr lang="es-PE" sz="2400" dirty="0" smtClean="0">
                <a:solidFill>
                  <a:schemeClr val="tx1"/>
                </a:solidFill>
              </a:rPr>
              <a:t>Principio de </a:t>
            </a:r>
            <a:r>
              <a:rPr lang="es-PE" sz="2400" dirty="0">
                <a:solidFill>
                  <a:schemeClr val="tx1"/>
                </a:solidFill>
              </a:rPr>
              <a:t>Arquímedes.</a:t>
            </a:r>
          </a:p>
          <a:p>
            <a:pPr fontAlgn="base" hangingPunct="0"/>
            <a:endParaRPr lang="es-PE" sz="2400" dirty="0">
              <a:solidFill>
                <a:schemeClr val="tx1"/>
              </a:solidFill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548194" y="760506"/>
            <a:ext cx="4916974" cy="6480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04975" indent="-1704975"/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 </a:t>
            </a:r>
            <a:r>
              <a:rPr lang="es-PE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07:  ESTÁTICA DE FLUÍDOS</a:t>
            </a:r>
            <a:endParaRPr lang="es-PE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912" y="2060848"/>
            <a:ext cx="5304218" cy="40330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3192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1640632" y="764704"/>
            <a:ext cx="5961184" cy="967154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200" b="1" dirty="0" smtClean="0">
                <a:solidFill>
                  <a:schemeClr val="tx1"/>
                </a:solidFill>
              </a:rPr>
              <a:t>OBSERVA LA IMÁGEN .  .  .</a:t>
            </a:r>
            <a:endParaRPr lang="es-PE" sz="3200" b="1" dirty="0">
              <a:solidFill>
                <a:schemeClr val="tx1"/>
              </a:solidFill>
            </a:endParaRPr>
          </a:p>
        </p:txBody>
      </p:sp>
      <p:sp>
        <p:nvSpPr>
          <p:cNvPr id="8" name="Rectángulo redondeado 7"/>
          <p:cNvSpPr/>
          <p:nvPr/>
        </p:nvSpPr>
        <p:spPr>
          <a:xfrm>
            <a:off x="556247" y="5925472"/>
            <a:ext cx="8264769" cy="646114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200" b="1" dirty="0" smtClean="0">
                <a:solidFill>
                  <a:schemeClr val="tx1"/>
                </a:solidFill>
              </a:rPr>
              <a:t>¿Qué opinión tienes al respecto?</a:t>
            </a:r>
            <a:endParaRPr lang="es-PE" sz="3200" b="1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656" y="2060848"/>
            <a:ext cx="5560666" cy="3516627"/>
          </a:xfrm>
          <a:prstGeom prst="rect">
            <a:avLst/>
          </a:prstGeom>
          <a:ln w="228600" cap="sq" cmpd="thickThin">
            <a:solidFill>
              <a:srgbClr val="00B0F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3873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1712640" y="873007"/>
            <a:ext cx="2985193" cy="677561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3200" dirty="0" smtClean="0">
                <a:solidFill>
                  <a:schemeClr val="tx1"/>
                </a:solidFill>
              </a:rPr>
              <a:t>PENSEMOS. . .</a:t>
            </a:r>
            <a:endParaRPr lang="es-PE" sz="3200" dirty="0">
              <a:solidFill>
                <a:schemeClr val="tx1"/>
              </a:solidFill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1712640" y="4653136"/>
            <a:ext cx="6696744" cy="1872208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400" b="1" dirty="0" smtClean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s-PE" sz="24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s-PE" sz="2000" b="1" dirty="0" smtClean="0">
                <a:solidFill>
                  <a:schemeClr val="tx1"/>
                </a:solidFill>
              </a:rPr>
              <a:t>¿</a:t>
            </a:r>
            <a:r>
              <a:rPr lang="es-PE" sz="2000" b="1" dirty="0">
                <a:solidFill>
                  <a:schemeClr val="tx1"/>
                </a:solidFill>
              </a:rPr>
              <a:t>Qué </a:t>
            </a:r>
            <a:r>
              <a:rPr lang="es-PE" sz="2000" b="1" dirty="0" smtClean="0">
                <a:solidFill>
                  <a:schemeClr val="tx1"/>
                </a:solidFill>
              </a:rPr>
              <a:t>entiendes hidrostática?   ¿Qué entiendes por presión? ¿Qué entiendes por densidad?   ¿Qué dice el principio de Pascal? ¿En que consiste el principio de Arquímedes?</a:t>
            </a:r>
          </a:p>
          <a:p>
            <a:pPr>
              <a:lnSpc>
                <a:spcPct val="150000"/>
              </a:lnSpc>
            </a:pPr>
            <a:r>
              <a:rPr lang="es-PE" sz="2000" b="1" dirty="0" smtClean="0">
                <a:solidFill>
                  <a:schemeClr val="tx1"/>
                </a:solidFill>
              </a:rPr>
              <a:t>¿La  presión es energía por unidad de volumen?</a:t>
            </a:r>
            <a:r>
              <a:rPr lang="es-PE" sz="2000" b="1" dirty="0">
                <a:solidFill>
                  <a:schemeClr val="tx1"/>
                </a:solidFill>
              </a:rPr>
              <a:t/>
            </a:r>
            <a:br>
              <a:rPr lang="es-PE" sz="2000" b="1" dirty="0">
                <a:solidFill>
                  <a:schemeClr val="tx1"/>
                </a:solidFill>
              </a:rPr>
            </a:br>
            <a:r>
              <a:rPr lang="es-PE" sz="2400" b="1" dirty="0">
                <a:solidFill>
                  <a:schemeClr val="tx1"/>
                </a:solidFill>
              </a:rPr>
              <a:t/>
            </a:r>
            <a:br>
              <a:rPr lang="es-PE" sz="2400" b="1" dirty="0">
                <a:solidFill>
                  <a:schemeClr val="tx1"/>
                </a:solidFill>
              </a:rPr>
            </a:br>
            <a:endParaRPr lang="es-PE" sz="2400" b="1" dirty="0">
              <a:solidFill>
                <a:schemeClr val="tx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40" y="1661692"/>
            <a:ext cx="6696744" cy="278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110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40633" y="980728"/>
            <a:ext cx="2664295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PROPÓSITO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8" name="2 Redondear rectángulo de esquina diagonal"/>
          <p:cNvSpPr/>
          <p:nvPr/>
        </p:nvSpPr>
        <p:spPr>
          <a:xfrm>
            <a:off x="5241032" y="1484784"/>
            <a:ext cx="4104475" cy="4452123"/>
          </a:xfrm>
          <a:prstGeom prst="round2DiagRect">
            <a:avLst>
              <a:gd name="adj1" fmla="val 14362"/>
              <a:gd name="adj2" fmla="val 0"/>
            </a:avLst>
          </a:prstGeom>
          <a:solidFill>
            <a:srgbClr val="11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s-PE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 </a:t>
            </a:r>
            <a:r>
              <a:rPr lang="es-PE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termino de </a:t>
            </a:r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sesión, el estudiante resuelve problemas </a:t>
            </a:r>
            <a:r>
              <a:rPr lang="es-PE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hidrostática, utilizando los conceptos de densidad, presión y los principios de Pascal y Arquímedes de forma </a:t>
            </a:r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correcta, con </a:t>
            </a:r>
            <a:r>
              <a:rPr lang="es-PE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limpieza, orden </a:t>
            </a:r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precisión en el cálculo.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PE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36" y="2132856"/>
            <a:ext cx="3909322" cy="380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4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7"/>
          <p:cNvCxnSpPr>
            <a:stCxn id="16" idx="2"/>
          </p:cNvCxnSpPr>
          <p:nvPr/>
        </p:nvCxnSpPr>
        <p:spPr>
          <a:xfrm flipH="1">
            <a:off x="8703022" y="4025210"/>
            <a:ext cx="1" cy="9994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5"/>
          <p:cNvCxnSpPr>
            <a:endCxn id="33" idx="2"/>
          </p:cNvCxnSpPr>
          <p:nvPr/>
        </p:nvCxnSpPr>
        <p:spPr>
          <a:xfrm>
            <a:off x="5029186" y="3911376"/>
            <a:ext cx="1" cy="2541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/>
          <p:cNvCxnSpPr/>
          <p:nvPr/>
        </p:nvCxnSpPr>
        <p:spPr>
          <a:xfrm>
            <a:off x="2932622" y="3626482"/>
            <a:ext cx="4154" cy="7010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xmlns="" id="{8001D105-DCAC-42FF-A68E-0D3DE034E8B2}"/>
              </a:ext>
            </a:extLst>
          </p:cNvPr>
          <p:cNvCxnSpPr>
            <a:cxnSpLocks/>
          </p:cNvCxnSpPr>
          <p:nvPr/>
        </p:nvCxnSpPr>
        <p:spPr>
          <a:xfrm flipH="1">
            <a:off x="6875364" y="4025210"/>
            <a:ext cx="6402" cy="6946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9" name="Rectángulo redondeado 8"/>
          <p:cNvSpPr/>
          <p:nvPr/>
        </p:nvSpPr>
        <p:spPr>
          <a:xfrm>
            <a:off x="1640632" y="1003815"/>
            <a:ext cx="4352925" cy="527000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800" b="1" dirty="0" smtClean="0">
                <a:solidFill>
                  <a:schemeClr val="tx1"/>
                </a:solidFill>
              </a:rPr>
              <a:t>CONTENIDO TEMÁTICO</a:t>
            </a:r>
            <a:endParaRPr lang="es-PE" sz="2800" dirty="0">
              <a:solidFill>
                <a:schemeClr val="tx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xmlns="" id="{8029014D-9243-4890-AF00-9E6FC9945B2C}"/>
              </a:ext>
            </a:extLst>
          </p:cNvPr>
          <p:cNvSpPr/>
          <p:nvPr/>
        </p:nvSpPr>
        <p:spPr>
          <a:xfrm>
            <a:off x="2600759" y="1844824"/>
            <a:ext cx="5195686" cy="576064"/>
          </a:xfrm>
          <a:prstGeom prst="rect">
            <a:avLst/>
          </a:prstGeom>
          <a:solidFill>
            <a:srgbClr val="1199FF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b="1" dirty="0" smtClean="0">
                <a:solidFill>
                  <a:schemeClr val="tx1"/>
                </a:solidFill>
              </a:rPr>
              <a:t>HIDROSTÁTICA</a:t>
            </a:r>
            <a:endParaRPr lang="es-PE" b="1" dirty="0">
              <a:solidFill>
                <a:schemeClr val="tx1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xmlns="" id="{008A15F1-A2F7-4515-8854-56CDE8B68B99}"/>
              </a:ext>
            </a:extLst>
          </p:cNvPr>
          <p:cNvCxnSpPr>
            <a:cxnSpLocks/>
          </p:cNvCxnSpPr>
          <p:nvPr/>
        </p:nvCxnSpPr>
        <p:spPr>
          <a:xfrm>
            <a:off x="4916462" y="2451052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xmlns="" id="{B377CFE4-F974-430F-8D3E-31A44641DDDD}"/>
              </a:ext>
            </a:extLst>
          </p:cNvPr>
          <p:cNvSpPr/>
          <p:nvPr/>
        </p:nvSpPr>
        <p:spPr>
          <a:xfrm>
            <a:off x="2187679" y="3036424"/>
            <a:ext cx="1508771" cy="590058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b="1" dirty="0">
                <a:solidFill>
                  <a:schemeClr val="tx1"/>
                </a:solidFill>
              </a:rPr>
              <a:t>CANTIDADES </a:t>
            </a:r>
            <a:r>
              <a:rPr lang="es-PE" sz="1600" b="1" dirty="0"/>
              <a:t>FÍSICAS</a:t>
            </a:r>
            <a:endParaRPr lang="es-PE" sz="1600" b="1" dirty="0">
              <a:solidFill>
                <a:schemeClr val="tx1"/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xmlns="" id="{43098481-B66C-4565-AFF8-F4FBF153DF92}"/>
              </a:ext>
            </a:extLst>
          </p:cNvPr>
          <p:cNvCxnSpPr>
            <a:cxnSpLocks/>
          </p:cNvCxnSpPr>
          <p:nvPr/>
        </p:nvCxnSpPr>
        <p:spPr>
          <a:xfrm flipH="1" flipV="1">
            <a:off x="1203775" y="2800075"/>
            <a:ext cx="7391093" cy="27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xmlns="" id="{E4375B2A-706A-4D8E-8409-0FE4926350F3}"/>
              </a:ext>
            </a:extLst>
          </p:cNvPr>
          <p:cNvCxnSpPr>
            <a:cxnSpLocks/>
          </p:cNvCxnSpPr>
          <p:nvPr/>
        </p:nvCxnSpPr>
        <p:spPr>
          <a:xfrm>
            <a:off x="4918241" y="2811092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xmlns="" id="{B32EC4F4-40F8-440A-A577-A55B582660EF}"/>
              </a:ext>
            </a:extLst>
          </p:cNvPr>
          <p:cNvSpPr/>
          <p:nvPr/>
        </p:nvSpPr>
        <p:spPr>
          <a:xfrm>
            <a:off x="7744073" y="3066114"/>
            <a:ext cx="1917899" cy="959096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sz="1600" b="1" dirty="0" smtClean="0">
              <a:cs typeface="Arial" panose="020B0604020202020204" pitchFamily="34" charset="0"/>
            </a:endParaRPr>
          </a:p>
          <a:p>
            <a:pPr algn="ctr"/>
            <a:r>
              <a:rPr lang="es-PE" sz="1600" b="1" dirty="0" smtClean="0">
                <a:cs typeface="Arial" panose="020B0604020202020204" pitchFamily="34" charset="0"/>
              </a:rPr>
              <a:t> </a:t>
            </a:r>
            <a:r>
              <a:rPr lang="es-PE" sz="1600" b="1" dirty="0">
                <a:cs typeface="Arial" panose="020B0604020202020204" pitchFamily="34" charset="0"/>
              </a:rPr>
              <a:t>ECUACIÓN FUNDAMENTAL DE LA HIDROSTATICA</a:t>
            </a:r>
          </a:p>
          <a:p>
            <a:pPr lvl="0" algn="ctr"/>
            <a:endParaRPr lang="es-PE" sz="1600" b="1" dirty="0">
              <a:cs typeface="Arial" panose="020B060402020202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xmlns="" id="{491CDA35-9E9C-46DA-B439-A69909018FD2}"/>
              </a:ext>
            </a:extLst>
          </p:cNvPr>
          <p:cNvSpPr/>
          <p:nvPr/>
        </p:nvSpPr>
        <p:spPr>
          <a:xfrm>
            <a:off x="2321731" y="3860053"/>
            <a:ext cx="1463290" cy="1770474"/>
          </a:xfrm>
          <a:prstGeom prst="rect">
            <a:avLst/>
          </a:prstGeom>
          <a:solidFill>
            <a:srgbClr val="EAF991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03200" lvl="0" indent="-2032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Fluido</a:t>
            </a: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03200" lvl="0" indent="-2032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Densidad</a:t>
            </a: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Peso </a:t>
            </a: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específico</a:t>
            </a:r>
            <a:endParaRPr kumimoji="1" lang="en-GB" altLang="es-PE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Presión</a:t>
            </a:r>
            <a:endParaRPr kumimoji="1" lang="en-GB" altLang="es-PE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Empuje</a:t>
            </a: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algn="just"/>
            <a:endParaRPr lang="es-PE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xmlns="" id="{B377CFE4-F974-430F-8D3E-31A44641DDDD}"/>
              </a:ext>
            </a:extLst>
          </p:cNvPr>
          <p:cNvSpPr/>
          <p:nvPr/>
        </p:nvSpPr>
        <p:spPr>
          <a:xfrm>
            <a:off x="200472" y="3036423"/>
            <a:ext cx="1853559" cy="716169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b="1" dirty="0" smtClean="0">
                <a:solidFill>
                  <a:schemeClr val="tx1"/>
                </a:solidFill>
              </a:rPr>
              <a:t>HIDROSTÁTICA</a:t>
            </a:r>
            <a:endParaRPr lang="es-PE" sz="1600" b="1" dirty="0">
              <a:solidFill>
                <a:schemeClr val="tx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xmlns="" id="{6B0406B6-735E-446A-993D-567F64EC9E37}"/>
              </a:ext>
            </a:extLst>
          </p:cNvPr>
          <p:cNvSpPr/>
          <p:nvPr/>
        </p:nvSpPr>
        <p:spPr>
          <a:xfrm>
            <a:off x="3965337" y="3019701"/>
            <a:ext cx="1982738" cy="964199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s-PE" sz="1600" b="1" dirty="0" smtClean="0">
                <a:cs typeface="Arial" panose="020B0604020202020204" pitchFamily="34" charset="0"/>
              </a:rPr>
              <a:t>DENSIDAD</a:t>
            </a:r>
            <a:endParaRPr lang="es-PE" sz="1600" b="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xmlns="" id="{491CDA35-9E9C-46DA-B439-A69909018FD2}"/>
                  </a:ext>
                </a:extLst>
              </p:cNvPr>
              <p:cNvSpPr/>
              <p:nvPr/>
            </p:nvSpPr>
            <p:spPr>
              <a:xfrm>
                <a:off x="7834034" y="4391151"/>
                <a:ext cx="1865527" cy="1508014"/>
              </a:xfrm>
              <a:prstGeom prst="rect">
                <a:avLst/>
              </a:prstGeom>
              <a:solidFill>
                <a:srgbClr val="EAF99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𝛻</m:t>
                          </m:r>
                        </m:e>
                      </m:acc>
                      <m:r>
                        <a:rPr lang="es-PE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r>
                        <a:rPr lang="es-PE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acc>
                        <m:accPr>
                          <m:chr m:val="⃗"/>
                          <m:ctrlP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</m:oMath>
                  </m:oMathPara>
                </a14:m>
                <a:endParaRPr lang="es-PE" sz="1600" dirty="0"/>
              </a:p>
              <a:p>
                <a:endParaRPr lang="es-PE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PE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PE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PE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PE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PE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𝑔h</m:t>
                      </m:r>
                    </m:oMath>
                  </m:oMathPara>
                </a14:m>
                <a:endParaRPr lang="es-PE" sz="1600" dirty="0"/>
              </a:p>
              <a:p>
                <a:endParaRPr lang="es-PE" sz="1600" dirty="0"/>
              </a:p>
            </p:txBody>
          </p:sp>
        </mc:Choice>
        <mc:Fallback xmlns="">
          <p:sp>
            <p:nvSpPr>
              <p:cNvPr id="22" name="Rectángulo 2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91CDA35-9E9C-46DA-B439-A69909018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4034" y="4391151"/>
                <a:ext cx="1865527" cy="150801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xmlns="" id="{C2DA4E98-4D40-4E2B-AC84-9B82C98610BC}"/>
              </a:ext>
            </a:extLst>
          </p:cNvPr>
          <p:cNvCxnSpPr>
            <a:cxnSpLocks/>
          </p:cNvCxnSpPr>
          <p:nvPr/>
        </p:nvCxnSpPr>
        <p:spPr>
          <a:xfrm>
            <a:off x="1127251" y="3767360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xmlns="" id="{6B0406B6-735E-446A-993D-567F64EC9E37}"/>
              </a:ext>
            </a:extLst>
          </p:cNvPr>
          <p:cNvSpPr/>
          <p:nvPr/>
        </p:nvSpPr>
        <p:spPr>
          <a:xfrm>
            <a:off x="6084836" y="3044331"/>
            <a:ext cx="1522476" cy="986432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s-PE" sz="1600" b="1">
                <a:cs typeface="Arial" panose="020B0604020202020204" pitchFamily="34" charset="0"/>
              </a:rPr>
              <a:t>PRESIÓN</a:t>
            </a:r>
            <a:endParaRPr lang="es-PE" sz="1600" b="1" dirty="0">
              <a:cs typeface="Arial" panose="020B0604020202020204" pitchFamily="34" charset="0"/>
            </a:endParaRPr>
          </a:p>
        </p:txBody>
      </p:sp>
      <p:cxnSp>
        <p:nvCxnSpPr>
          <p:cNvPr id="26" name="Conector recto 25"/>
          <p:cNvCxnSpPr/>
          <p:nvPr/>
        </p:nvCxnSpPr>
        <p:spPr>
          <a:xfrm>
            <a:off x="1201213" y="2800075"/>
            <a:ext cx="0" cy="23634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/>
          <p:cNvCxnSpPr/>
          <p:nvPr/>
        </p:nvCxnSpPr>
        <p:spPr>
          <a:xfrm>
            <a:off x="8594868" y="2800075"/>
            <a:ext cx="0" cy="24334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/>
          <p:cNvCxnSpPr/>
          <p:nvPr/>
        </p:nvCxnSpPr>
        <p:spPr>
          <a:xfrm>
            <a:off x="6846074" y="2811092"/>
            <a:ext cx="0" cy="24334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/>
          <p:cNvCxnSpPr/>
          <p:nvPr/>
        </p:nvCxnSpPr>
        <p:spPr>
          <a:xfrm>
            <a:off x="3014684" y="2793078"/>
            <a:ext cx="0" cy="24334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ángulo 32">
                <a:extLst>
                  <a:ext uri="{FF2B5EF4-FFF2-40B4-BE49-F238E27FC236}">
                    <a16:creationId xmlns:a16="http://schemas.microsoft.com/office/drawing/2014/main" xmlns="" id="{491CDA35-9E9C-46DA-B439-A69909018FD2}"/>
                  </a:ext>
                </a:extLst>
              </p:cNvPr>
              <p:cNvSpPr/>
              <p:nvPr/>
            </p:nvSpPr>
            <p:spPr>
              <a:xfrm>
                <a:off x="4174309" y="4227692"/>
                <a:ext cx="1709755" cy="2225644"/>
              </a:xfrm>
              <a:prstGeom prst="rect">
                <a:avLst/>
              </a:prstGeom>
              <a:solidFill>
                <a:srgbClr val="EAF99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𝜌</m:t>
                      </m:r>
                      <m:r>
                        <a:rPr lang="es-P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P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P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𝑑𝑚</m:t>
                          </m:r>
                        </m:num>
                        <m:den>
                          <m:r>
                            <a:rPr lang="es-P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𝑑𝑉</m:t>
                          </m:r>
                        </m:den>
                      </m:f>
                    </m:oMath>
                  </m:oMathPara>
                </a14:m>
                <a:endParaRPr lang="es-PE" sz="1600" b="0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i="1" dirty="0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𝑠𝑔</m:t>
                      </m:r>
                      <m:r>
                        <a:rPr lang="es-PE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PE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PE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𝜌</m:t>
                          </m:r>
                        </m:num>
                        <m:den>
                          <m:sSub>
                            <m:sSubPr>
                              <m:ctrlPr>
                                <a:rPr lang="es-PE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PE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𝜌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s-PE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PE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s-PE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PE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𝛾</m:t>
                      </m:r>
                      <m:r>
                        <a:rPr lang="es-PE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PE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𝜌</m:t>
                      </m:r>
                      <m:r>
                        <a:rPr lang="es-P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𝑔</m:t>
                      </m:r>
                    </m:oMath>
                  </m:oMathPara>
                </a14:m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Rectángulo 3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91CDA35-9E9C-46DA-B439-A69909018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309" y="4227692"/>
                <a:ext cx="1709755" cy="222564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xmlns="" id="{44822C0F-02DC-406F-8E12-F1FFDD5CFB2F}"/>
                  </a:ext>
                </a:extLst>
              </p:cNvPr>
              <p:cNvSpPr/>
              <p:nvPr/>
            </p:nvSpPr>
            <p:spPr>
              <a:xfrm>
                <a:off x="6124897" y="4264002"/>
                <a:ext cx="1482415" cy="1678250"/>
              </a:xfrm>
              <a:prstGeom prst="rect">
                <a:avLst/>
              </a:prstGeom>
              <a:solidFill>
                <a:srgbClr val="EAF99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𝑷</m:t>
                      </m:r>
                      <m:r>
                        <a:rPr lang="es-PE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PE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PE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𝒅𝑭</m:t>
                          </m:r>
                        </m:num>
                        <m:den>
                          <m:r>
                            <a:rPr lang="es-PE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𝒅𝑨</m:t>
                          </m:r>
                        </m:den>
                      </m:f>
                    </m:oMath>
                  </m:oMathPara>
                </a14:m>
                <a:endParaRPr lang="es-PE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s-PE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trlPr>
                            <a:rPr lang="es-PE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PE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𝑨</m:t>
                          </m:r>
                        </m:sub>
                        <m:sup/>
                        <m:e>
                          <m:r>
                            <a:rPr lang="es-PE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𝑷𝒅𝑨</m:t>
                          </m:r>
                        </m:e>
                      </m:nary>
                    </m:oMath>
                  </m:oMathPara>
                </a14:m>
                <a:endParaRPr lang="es-PE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Rectángulo 1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4822C0F-02DC-406F-8E12-F1FFDD5CFB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897" y="4264002"/>
                <a:ext cx="1482415" cy="167825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ángulo 16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8EF499C7-AECE-44DE-89A6-BD7D3BC55E42}"/>
              </a:ext>
            </a:extLst>
          </p:cNvPr>
          <p:cNvSpPr/>
          <p:nvPr/>
        </p:nvSpPr>
        <p:spPr>
          <a:xfrm>
            <a:off x="223006" y="3860053"/>
            <a:ext cx="1741728" cy="2161235"/>
          </a:xfrm>
          <a:prstGeom prst="rect">
            <a:avLst/>
          </a:prstGeom>
          <a:solidFill>
            <a:srgbClr val="EAF991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/>
            <a:r>
              <a:rPr lang="es-PE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Parte de la física que estudia los fluidos en reposo que están sometidos únicamente  a esfuerzos normales</a:t>
            </a:r>
            <a:endParaRPr lang="es-PE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99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6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33" grpId="0" animBg="1"/>
      <p:bldP spid="19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redondeado 13"/>
          <p:cNvSpPr/>
          <p:nvPr/>
        </p:nvSpPr>
        <p:spPr>
          <a:xfrm>
            <a:off x="1637806" y="817512"/>
            <a:ext cx="3387202" cy="571401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HIDROSTATICA</a:t>
            </a:r>
            <a:endParaRPr lang="es-PE" sz="2400" dirty="0">
              <a:solidFill>
                <a:schemeClr val="tx1"/>
              </a:solidFill>
            </a:endParaRPr>
          </a:p>
        </p:txBody>
      </p:sp>
      <p:pic>
        <p:nvPicPr>
          <p:cNvPr id="13" name="Picture 6" descr="Lect16_06_0001"/>
          <p:cNvPicPr>
            <a:picLocks noChangeAspect="1" noChangeArrowheads="1"/>
          </p:cNvPicPr>
          <p:nvPr/>
        </p:nvPicPr>
        <p:blipFill>
          <a:blip r:embed="rId2" cstate="email">
            <a:clrChange>
              <a:clrFrom>
                <a:srgbClr val="FAF9F2"/>
              </a:clrFrom>
              <a:clrTo>
                <a:srgbClr val="FAF9F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57619" y="4038862"/>
            <a:ext cx="7134777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ángulo 2"/>
          <p:cNvSpPr/>
          <p:nvPr/>
        </p:nvSpPr>
        <p:spPr>
          <a:xfrm>
            <a:off x="272480" y="1663990"/>
            <a:ext cx="51845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dirty="0" smtClean="0"/>
              <a:t>Es aquella parte de la física que estudia a los fluidos en reposo.</a:t>
            </a:r>
            <a:r>
              <a:rPr lang="es-PE" dirty="0"/>
              <a:t> Las fronteras del fluido </a:t>
            </a:r>
            <a:r>
              <a:rPr lang="es-PE" dirty="0" smtClean="0"/>
              <a:t>solo experimentan </a:t>
            </a:r>
            <a:r>
              <a:rPr lang="es-PE" dirty="0"/>
              <a:t>fuerzas normales</a:t>
            </a:r>
          </a:p>
          <a:p>
            <a:pPr algn="just"/>
            <a:r>
              <a:rPr lang="es-PE" dirty="0" smtClean="0"/>
              <a:t>Se </a:t>
            </a:r>
            <a:r>
              <a:rPr lang="es-PE" dirty="0"/>
              <a:t>denominan fluidos a aquellas sustancias entre cuyas moléculas las fuerzas de cohesión intermolecular son muy débiles o no existen.</a:t>
            </a:r>
          </a:p>
          <a:p>
            <a:pPr algn="just"/>
            <a:r>
              <a:rPr lang="es-PE" dirty="0"/>
              <a:t>Los fluidos no son capaces de sostener esfuerzos cortantes</a:t>
            </a:r>
            <a:r>
              <a:rPr lang="es-PE" dirty="0" smtClean="0"/>
              <a:t>.</a:t>
            </a:r>
            <a:endParaRPr lang="es-PE" dirty="0"/>
          </a:p>
        </p:txBody>
      </p:sp>
      <p:pic>
        <p:nvPicPr>
          <p:cNvPr id="15" name="Imagen 6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17096" y="1663990"/>
            <a:ext cx="3755724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3364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ítulo 1"/>
          <p:cNvSpPr txBox="1">
            <a:spLocks/>
          </p:cNvSpPr>
          <p:nvPr/>
        </p:nvSpPr>
        <p:spPr>
          <a:xfrm>
            <a:off x="1856656" y="812670"/>
            <a:ext cx="6563072" cy="7101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0" i="0" u="none" kern="1200" cap="all">
                <a:solidFill>
                  <a:schemeClr val="tx1"/>
                </a:solidFill>
                <a:latin typeface="Arial"/>
                <a:ea typeface="ＭＳ Ｐゴシック" charset="-128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PE" sz="2400" b="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ＭＳ Ｐゴシック" charset="-128"/>
            </a:endParaRPr>
          </a:p>
        </p:txBody>
      </p:sp>
      <p:sp>
        <p:nvSpPr>
          <p:cNvPr id="15" name="Rectángulo redondeado 14"/>
          <p:cNvSpPr/>
          <p:nvPr/>
        </p:nvSpPr>
        <p:spPr>
          <a:xfrm>
            <a:off x="1669791" y="868377"/>
            <a:ext cx="3355217" cy="571401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DENSIDAD Y PRESIÓN</a:t>
            </a:r>
            <a:endParaRPr lang="es-P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172144" y="1812850"/>
                <a:ext cx="4244221" cy="42222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fontAlgn="auto">
                  <a:spcAft>
                    <a:spcPts val="0"/>
                  </a:spcAft>
                </a:pPr>
                <a:r>
                  <a:rPr lang="es-ES" b="1" dirty="0" smtClean="0">
                    <a:latin typeface="Arial"/>
                    <a:ea typeface="MS PGothic" pitchFamily="34" charset="-128"/>
                  </a:rPr>
                  <a:t>Densidad</a:t>
                </a:r>
              </a:p>
              <a:p>
                <a:pPr algn="just" fontAlgn="auto">
                  <a:spcAft>
                    <a:spcPts val="0"/>
                  </a:spcAft>
                </a:pPr>
                <a:endParaRPr lang="es-ES" dirty="0" smtClean="0">
                  <a:latin typeface="Arial"/>
                  <a:ea typeface="MS PGothic" pitchFamily="34" charset="-128"/>
                </a:endParaRPr>
              </a:p>
              <a:p>
                <a:pPr algn="just" fontAlgn="auto">
                  <a:spcAft>
                    <a:spcPts val="0"/>
                  </a:spcAft>
                </a:pPr>
                <a:r>
                  <a:rPr lang="es-ES" dirty="0" smtClean="0">
                    <a:latin typeface="Arial"/>
                    <a:ea typeface="MS PGothic" pitchFamily="34" charset="-128"/>
                  </a:rPr>
                  <a:t>La densidad es una propiedad de las sustancias que se define como la relación entre su masa y el volumen que ocupa la masa.</a:t>
                </a:r>
                <a:endParaRPr lang="es-ES" dirty="0">
                  <a:latin typeface="Arial"/>
                  <a:ea typeface="MS PGothic" pitchFamily="34" charset="-128"/>
                </a:endParaRPr>
              </a:p>
              <a:p>
                <a:pPr algn="just" fontAlgn="auto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ES" i="1" smtClean="0">
                          <a:latin typeface="Cambria Math" panose="02040503050406030204" pitchFamily="18" charset="0"/>
                          <a:ea typeface="MS PGothic" pitchFamily="34" charset="-128"/>
                        </a:rPr>
                        <m:t>=</m:t>
                      </m:r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  <a:ea typeface="MS PGothic" pitchFamily="34" charset="-128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  <a:ea typeface="MS PGothic" pitchFamily="34" charset="-128"/>
                            </a:rPr>
                            <m:t>𝑑𝑚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  <a:ea typeface="MS PGothic" pitchFamily="34" charset="-128"/>
                            </a:rPr>
                            <m:t>𝑑𝑉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  <a:ea typeface="MS PGothic" pitchFamily="34" charset="-128"/>
                        </a:rPr>
                        <m:t>    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  <a:ea typeface="MS PGothic" pitchFamily="34" charset="-128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i="1">
                                  <a:latin typeface="Cambria Math" panose="02040503050406030204" pitchFamily="18" charset="0"/>
                                  <a:ea typeface="MS PGothic" pitchFamily="34" charset="-128"/>
                                </a:rPr>
                              </m:ctrlPr>
                            </m:fPr>
                            <m:num>
                              <m:r>
                                <a:rPr lang="es-PE" i="1">
                                  <a:latin typeface="Cambria Math" panose="02040503050406030204" pitchFamily="18" charset="0"/>
                                  <a:ea typeface="MS PGothic" pitchFamily="34" charset="-128"/>
                                </a:rPr>
                                <m:t>𝑘𝑔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PE" i="1">
                                      <a:latin typeface="Cambria Math" panose="02040503050406030204" pitchFamily="18" charset="0"/>
                                      <a:ea typeface="MS PGothic" pitchFamily="34" charset="-128"/>
                                    </a:rPr>
                                  </m:ctrlPr>
                                </m:sSupPr>
                                <m:e>
                                  <m:r>
                                    <a:rPr lang="es-PE" i="1">
                                      <a:latin typeface="Cambria Math" panose="02040503050406030204" pitchFamily="18" charset="0"/>
                                      <a:ea typeface="MS PGothic" pitchFamily="34" charset="-128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s-PE" i="1">
                                      <a:latin typeface="Cambria Math" panose="02040503050406030204" pitchFamily="18" charset="0"/>
                                      <a:ea typeface="MS PGothic" pitchFamily="34" charset="-128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s-ES" dirty="0" smtClean="0">
                  <a:latin typeface="Arial"/>
                  <a:ea typeface="MS PGothic" pitchFamily="34" charset="-128"/>
                </a:endParaRPr>
              </a:p>
              <a:p>
                <a:pPr algn="just" fontAlgn="auto">
                  <a:spcAft>
                    <a:spcPts val="0"/>
                  </a:spcAft>
                </a:pPr>
                <a:r>
                  <a:rPr lang="es-ES" dirty="0" smtClean="0">
                    <a:latin typeface="Arial"/>
                    <a:ea typeface="MS PGothic" pitchFamily="34" charset="-128"/>
                  </a:rPr>
                  <a:t>Densidad relativa o gravedad especifica:</a:t>
                </a:r>
              </a:p>
              <a:p>
                <a:pPr algn="just" fontAlgn="auto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latin typeface="Cambria Math" panose="02040503050406030204" pitchFamily="18" charset="0"/>
                              <a:ea typeface="MS PGothic" pitchFamily="34" charset="-128"/>
                            </a:rPr>
                          </m:ctrlPr>
                        </m:sSubPr>
                        <m:e>
                          <m: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  <a:ea typeface="MS PGothic" pitchFamily="34" charset="-128"/>
                            </a:rPr>
                            <m:t>𝑟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  <a:ea typeface="MS PGothic" pitchFamily="34" charset="-128"/>
                        </a:rPr>
                        <m:t>=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MS PGothic" pitchFamily="34" charset="-128"/>
                        </a:rPr>
                        <m:t>𝑠𝑔</m:t>
                      </m:r>
                      <m:r>
                        <a:rPr lang="es-ES" i="1" smtClean="0">
                          <a:latin typeface="Cambria Math" panose="02040503050406030204" pitchFamily="18" charset="0"/>
                          <a:ea typeface="MS PGothic" pitchFamily="34" charset="-128"/>
                        </a:rPr>
                        <m:t>=</m:t>
                      </m:r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  <a:ea typeface="MS PGothic" pitchFamily="34" charset="-128"/>
                            </a:rPr>
                          </m:ctrlPr>
                        </m:fPr>
                        <m:num>
                          <m:r>
                            <a:rPr lang="es-E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  <a:ea typeface="MS PGothic" pitchFamily="34" charset="-128"/>
                                </a:rPr>
                              </m:ctrlPr>
                            </m:sSubPr>
                            <m:e>
                              <m:r>
                                <a:rPr lang="es-E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s-ES" i="1" smtClean="0">
                                      <a:latin typeface="Cambria Math" panose="02040503050406030204" pitchFamily="18" charset="0"/>
                                      <a:ea typeface="MS PGothic" pitchFamily="34" charset="-128"/>
                                    </a:rPr>
                                  </m:ctrlPr>
                                </m:sSubPr>
                                <m:e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  <a:ea typeface="MS PGothic" pitchFamily="34" charset="-128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s-PE" b="0" i="1" smtClean="0">
                                      <a:latin typeface="Cambria Math" panose="02040503050406030204" pitchFamily="18" charset="0"/>
                                      <a:ea typeface="MS PGothic" pitchFamily="34" charset="-128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PE" b="0" i="1" smtClean="0">
                                  <a:latin typeface="Cambria Math" panose="02040503050406030204" pitchFamily="18" charset="0"/>
                                  <a:ea typeface="MS PGothic" pitchFamily="34" charset="-128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" dirty="0" smtClean="0">
                  <a:latin typeface="Arial"/>
                  <a:ea typeface="MS PGothic" pitchFamily="34" charset="-128"/>
                </a:endParaRPr>
              </a:p>
              <a:p>
                <a:pPr algn="just" fontAlgn="auto">
                  <a:spcAft>
                    <a:spcPts val="0"/>
                  </a:spcAft>
                </a:pPr>
                <a:r>
                  <a:rPr lang="es-ES" dirty="0" smtClean="0">
                    <a:latin typeface="Arial"/>
                    <a:ea typeface="MS PGothic" pitchFamily="34" charset="-128"/>
                  </a:rPr>
                  <a:t>Peso especifico:</a:t>
                </a:r>
              </a:p>
              <a:p>
                <a:pPr algn="ctr" fontAlgn="auto"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s-E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</m:t>
                    </m:r>
                    <m:d>
                      <m:dPr>
                        <m:ctrlPr>
                          <a:rPr lang="es-P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P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P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s-P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P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s-P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s-ES" dirty="0" smtClean="0">
                    <a:latin typeface="Arial"/>
                    <a:ea typeface="MS PGothic" pitchFamily="34" charset="-128"/>
                  </a:rPr>
                  <a:t> </a:t>
                </a:r>
                <a:endParaRPr lang="es-ES" dirty="0">
                  <a:latin typeface="Arial"/>
                  <a:ea typeface="MS PGothic" pitchFamily="34" charset="-128"/>
                </a:endParaRPr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44" y="1812850"/>
                <a:ext cx="4244221" cy="4222246"/>
              </a:xfrm>
              <a:prstGeom prst="rect">
                <a:avLst/>
              </a:prstGeom>
              <a:blipFill rotWithShape="0">
                <a:blip r:embed="rId2"/>
                <a:stretch>
                  <a:fillRect l="-1149" t="-722" r="-129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9"/>
              <p:cNvSpPr/>
              <p:nvPr/>
            </p:nvSpPr>
            <p:spPr>
              <a:xfrm>
                <a:off x="4880992" y="1693306"/>
                <a:ext cx="4896544" cy="49849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PE" b="1" dirty="0" smtClean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Presión</a:t>
                </a:r>
              </a:p>
              <a:p>
                <a:pPr algn="just"/>
                <a:endParaRPr lang="es-PE" dirty="0" smtClean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s-PE" dirty="0" smtClean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La fuerza ejercida por unidad de superficie es la presión. La presión es una magnitud escalar.</a:t>
                </a:r>
              </a:p>
              <a:p>
                <a:pPr algn="just"/>
                <a:r>
                  <a:rPr lang="es-PE" dirty="0" smtClean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Si una fuerza perpendicular </a:t>
                </a:r>
                <a:r>
                  <a:rPr lang="es-PE" i="1" dirty="0" err="1" smtClean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dF</a:t>
                </a:r>
                <a:r>
                  <a:rPr lang="es-PE" dirty="0" smtClean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actúa sobre una superficie </a:t>
                </a:r>
                <a:r>
                  <a:rPr lang="es-PE" i="1" dirty="0" err="1" smtClean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dA</a:t>
                </a:r>
                <a:r>
                  <a:rPr lang="es-PE" dirty="0" smtClean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, la presión en ese punto es:</a:t>
                </a:r>
              </a:p>
              <a:p>
                <a:pPr algn="just"/>
                <a:endParaRPr lang="es-PE" dirty="0" smtClean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s-PE" dirty="0" smtClean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                                                                                              </a:t>
                </a:r>
              </a:p>
              <a:p>
                <a:pPr algn="just"/>
                <a:r>
                  <a:rPr lang="es-PE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P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s-PE" b="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                </a:t>
                </a:r>
                <a14:m>
                  <m:oMath xmlns:m="http://schemas.openxmlformats.org/officeDocument/2006/math">
                    <m:r>
                      <a:rPr lang="es-PE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s-PE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s-PE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s-PE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𝑑𝐹</m:t>
                        </m:r>
                      </m:num>
                      <m:den>
                        <m:r>
                          <a:rPr lang="es-PE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𝑑𝐴</m:t>
                        </m:r>
                      </m:den>
                    </m:f>
                    <m:r>
                      <a:rPr lang="es-PE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s-PE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PE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f>
                          <m:fPr>
                            <m:ctrlPr>
                              <a:rPr lang="es-PE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s-PE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𝑁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s-PE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s-PE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s-PE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s-PE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s-PE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𝑃𝑎𝑠</m:t>
                        </m:r>
                      </m:e>
                    </m:d>
                  </m:oMath>
                </a14:m>
                <a:endParaRPr lang="es-PE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PE" dirty="0" smtClean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PE" dirty="0" smtClean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PE" dirty="0" smtClean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PE" dirty="0" smtClean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s-PE" dirty="0" smtClean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La presión es la misma en todos los puntos de una superficie plana.</a:t>
                </a:r>
                <a:endParaRPr lang="es-ES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992" y="1693306"/>
                <a:ext cx="4896544" cy="4984954"/>
              </a:xfrm>
              <a:prstGeom prst="rect">
                <a:avLst/>
              </a:prstGeom>
              <a:blipFill rotWithShape="0">
                <a:blip r:embed="rId3"/>
                <a:stretch>
                  <a:fillRect l="-1121" t="-733" r="-996" b="-97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6"/>
          <p:cNvGrpSpPr>
            <a:grpSpLocks/>
          </p:cNvGrpSpPr>
          <p:nvPr/>
        </p:nvGrpSpPr>
        <p:grpSpPr bwMode="auto">
          <a:xfrm>
            <a:off x="4887380" y="3943095"/>
            <a:ext cx="2446545" cy="1872391"/>
            <a:chOff x="885" y="1525"/>
            <a:chExt cx="1360" cy="981"/>
          </a:xfrm>
        </p:grpSpPr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885" y="1525"/>
              <a:ext cx="1360" cy="981"/>
            </a:xfrm>
            <a:custGeom>
              <a:avLst/>
              <a:gdLst/>
              <a:ahLst/>
              <a:cxnLst>
                <a:cxn ang="0">
                  <a:pos x="658" y="60"/>
                </a:cxn>
                <a:cxn ang="0">
                  <a:pos x="250" y="60"/>
                </a:cxn>
                <a:cxn ang="0">
                  <a:pos x="23" y="287"/>
                </a:cxn>
                <a:cxn ang="0">
                  <a:pos x="114" y="468"/>
                </a:cxn>
                <a:cxn ang="0">
                  <a:pos x="114" y="741"/>
                </a:cxn>
                <a:cxn ang="0">
                  <a:pos x="386" y="831"/>
                </a:cxn>
                <a:cxn ang="0">
                  <a:pos x="1021" y="831"/>
                </a:cxn>
                <a:cxn ang="0">
                  <a:pos x="1248" y="423"/>
                </a:cxn>
                <a:cxn ang="0">
                  <a:pos x="1066" y="60"/>
                </a:cxn>
                <a:cxn ang="0">
                  <a:pos x="658" y="60"/>
                </a:cxn>
              </a:cxnLst>
              <a:rect l="0" t="0" r="r" b="b"/>
              <a:pathLst>
                <a:path w="1255" h="899">
                  <a:moveTo>
                    <a:pt x="658" y="60"/>
                  </a:moveTo>
                  <a:cubicBezTo>
                    <a:pt x="522" y="60"/>
                    <a:pt x="356" y="22"/>
                    <a:pt x="250" y="60"/>
                  </a:cubicBezTo>
                  <a:cubicBezTo>
                    <a:pt x="144" y="98"/>
                    <a:pt x="46" y="219"/>
                    <a:pt x="23" y="287"/>
                  </a:cubicBezTo>
                  <a:cubicBezTo>
                    <a:pt x="0" y="355"/>
                    <a:pt x="99" y="392"/>
                    <a:pt x="114" y="468"/>
                  </a:cubicBezTo>
                  <a:cubicBezTo>
                    <a:pt x="129" y="544"/>
                    <a:pt x="69" y="681"/>
                    <a:pt x="114" y="741"/>
                  </a:cubicBezTo>
                  <a:cubicBezTo>
                    <a:pt x="159" y="801"/>
                    <a:pt x="235" y="816"/>
                    <a:pt x="386" y="831"/>
                  </a:cubicBezTo>
                  <a:cubicBezTo>
                    <a:pt x="537" y="846"/>
                    <a:pt x="877" y="899"/>
                    <a:pt x="1021" y="831"/>
                  </a:cubicBezTo>
                  <a:cubicBezTo>
                    <a:pt x="1165" y="763"/>
                    <a:pt x="1241" y="551"/>
                    <a:pt x="1248" y="423"/>
                  </a:cubicBezTo>
                  <a:cubicBezTo>
                    <a:pt x="1255" y="295"/>
                    <a:pt x="1157" y="120"/>
                    <a:pt x="1066" y="60"/>
                  </a:cubicBezTo>
                  <a:cubicBezTo>
                    <a:pt x="975" y="0"/>
                    <a:pt x="794" y="60"/>
                    <a:pt x="658" y="6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ECFF"/>
                </a:gs>
              </a:gsLst>
              <a:path path="rect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s-MX" sz="4000">
                <a:latin typeface="+mj-lt"/>
              </a:endParaRPr>
            </a:p>
          </p:txBody>
        </p:sp>
        <p:sp>
          <p:nvSpPr>
            <p:cNvPr id="24" name="Freeform 8"/>
            <p:cNvSpPr>
              <a:spLocks/>
            </p:cNvSpPr>
            <p:nvPr/>
          </p:nvSpPr>
          <p:spPr bwMode="auto">
            <a:xfrm>
              <a:off x="1376" y="1624"/>
              <a:ext cx="393" cy="7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3" y="136"/>
                </a:cxn>
                <a:cxn ang="0">
                  <a:pos x="363" y="726"/>
                </a:cxn>
                <a:cxn ang="0">
                  <a:pos x="0" y="590"/>
                </a:cxn>
                <a:cxn ang="0">
                  <a:pos x="0" y="0"/>
                </a:cxn>
              </a:cxnLst>
              <a:rect l="0" t="0" r="r" b="b"/>
              <a:pathLst>
                <a:path w="363" h="726">
                  <a:moveTo>
                    <a:pt x="0" y="0"/>
                  </a:moveTo>
                  <a:lnTo>
                    <a:pt x="363" y="136"/>
                  </a:lnTo>
                  <a:lnTo>
                    <a:pt x="363" y="726"/>
                  </a:lnTo>
                  <a:lnTo>
                    <a:pt x="0" y="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MX" sz="4000">
                <a:latin typeface="+mj-lt"/>
              </a:endParaRPr>
            </a:p>
          </p:txBody>
        </p:sp>
        <p:sp>
          <p:nvSpPr>
            <p:cNvPr id="25" name="Line 9"/>
            <p:cNvSpPr>
              <a:spLocks noChangeShapeType="1"/>
            </p:cNvSpPr>
            <p:nvPr/>
          </p:nvSpPr>
          <p:spPr bwMode="auto">
            <a:xfrm flipV="1">
              <a:off x="1081" y="2020"/>
              <a:ext cx="541" cy="9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s-MX" sz="4000">
                <a:latin typeface="+mj-lt"/>
              </a:endParaRPr>
            </a:p>
          </p:txBody>
        </p:sp>
        <p:sp>
          <p:nvSpPr>
            <p:cNvPr id="26" name="Line 10"/>
            <p:cNvSpPr>
              <a:spLocks noChangeShapeType="1"/>
            </p:cNvSpPr>
            <p:nvPr/>
          </p:nvSpPr>
          <p:spPr bwMode="auto">
            <a:xfrm flipV="1">
              <a:off x="1761" y="1916"/>
              <a:ext cx="407" cy="7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MX" sz="4000">
                <a:latin typeface="+mj-lt"/>
              </a:endParaRPr>
            </a:p>
          </p:txBody>
        </p:sp>
        <p:sp>
          <p:nvSpPr>
            <p:cNvPr id="27" name="Line 11"/>
            <p:cNvSpPr>
              <a:spLocks noChangeShapeType="1"/>
            </p:cNvSpPr>
            <p:nvPr/>
          </p:nvSpPr>
          <p:spPr bwMode="auto">
            <a:xfrm flipH="1">
              <a:off x="1619" y="1991"/>
              <a:ext cx="157" cy="30"/>
            </a:xfrm>
            <a:prstGeom prst="line">
              <a:avLst/>
            </a:prstGeom>
            <a:noFill/>
            <a:ln w="38100">
              <a:solidFill>
                <a:srgbClr val="FF9999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s-MX" sz="4000">
                <a:latin typeface="+mj-lt"/>
              </a:endParaRPr>
            </a:p>
          </p:txBody>
        </p:sp>
        <p:sp>
          <p:nvSpPr>
            <p:cNvPr id="28" name="Text Box 12"/>
            <p:cNvSpPr txBox="1">
              <a:spLocks noChangeArrowheads="1"/>
            </p:cNvSpPr>
            <p:nvPr/>
          </p:nvSpPr>
          <p:spPr bwMode="auto">
            <a:xfrm>
              <a:off x="968" y="1886"/>
              <a:ext cx="329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s-PE" sz="2400" i="1">
                  <a:solidFill>
                    <a:srgbClr val="FF3300"/>
                  </a:solidFill>
                  <a:effectLst/>
                  <a:latin typeface="+mj-lt"/>
                </a:rPr>
                <a:t>dF</a:t>
              </a:r>
              <a:endParaRPr lang="es-ES" sz="2400" i="1">
                <a:solidFill>
                  <a:srgbClr val="FF3300"/>
                </a:solidFill>
                <a:effectLst/>
                <a:latin typeface="+mj-lt"/>
              </a:endParaRPr>
            </a:p>
          </p:txBody>
        </p:sp>
        <p:sp>
          <p:nvSpPr>
            <p:cNvPr id="29" name="Text Box 13"/>
            <p:cNvSpPr txBox="1">
              <a:spLocks noChangeArrowheads="1"/>
            </p:cNvSpPr>
            <p:nvPr/>
          </p:nvSpPr>
          <p:spPr bwMode="auto">
            <a:xfrm>
              <a:off x="1844" y="1707"/>
              <a:ext cx="320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s-PE" sz="2400" i="1" dirty="0" err="1">
                  <a:solidFill>
                    <a:srgbClr val="FF3300"/>
                  </a:solidFill>
                  <a:effectLst/>
                  <a:latin typeface="+mj-lt"/>
                </a:rPr>
                <a:t>dF</a:t>
              </a:r>
              <a:endParaRPr lang="es-ES" sz="2400" i="1" dirty="0">
                <a:solidFill>
                  <a:srgbClr val="FF3300"/>
                </a:solidFill>
                <a:effectLst/>
                <a:latin typeface="+mj-lt"/>
              </a:endParaRPr>
            </a:p>
          </p:txBody>
        </p:sp>
        <p:sp>
          <p:nvSpPr>
            <p:cNvPr id="30" name="Text Box 14"/>
            <p:cNvSpPr txBox="1">
              <a:spLocks noChangeArrowheads="1"/>
            </p:cNvSpPr>
            <p:nvPr/>
          </p:nvSpPr>
          <p:spPr bwMode="auto">
            <a:xfrm>
              <a:off x="1860" y="2165"/>
              <a:ext cx="302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s-PE" sz="2400" i="1">
                  <a:solidFill>
                    <a:srgbClr val="0066FF"/>
                  </a:solidFill>
                  <a:effectLst/>
                  <a:latin typeface="+mj-lt"/>
                </a:rPr>
                <a:t>dA</a:t>
              </a:r>
              <a:endParaRPr lang="es-ES" sz="2400" i="1">
                <a:solidFill>
                  <a:srgbClr val="0066FF"/>
                </a:solidFill>
                <a:effectLst/>
                <a:latin typeface="+mj-lt"/>
              </a:endParaRPr>
            </a:p>
          </p:txBody>
        </p:sp>
        <p:sp>
          <p:nvSpPr>
            <p:cNvPr id="31" name="Freeform 15"/>
            <p:cNvSpPr>
              <a:spLocks/>
            </p:cNvSpPr>
            <p:nvPr/>
          </p:nvSpPr>
          <p:spPr bwMode="auto">
            <a:xfrm>
              <a:off x="1802" y="2158"/>
              <a:ext cx="134" cy="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8" y="24"/>
                </a:cxn>
                <a:cxn ang="0">
                  <a:pos x="124" y="88"/>
                </a:cxn>
              </a:cxnLst>
              <a:rect l="0" t="0" r="r" b="b"/>
              <a:pathLst>
                <a:path w="124" h="88">
                  <a:moveTo>
                    <a:pt x="0" y="0"/>
                  </a:moveTo>
                  <a:lnTo>
                    <a:pt x="88" y="24"/>
                  </a:lnTo>
                  <a:lnTo>
                    <a:pt x="124" y="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s-MX" sz="4000">
                <a:latin typeface="+mj-lt"/>
              </a:endParaRPr>
            </a:p>
          </p:txBody>
        </p:sp>
      </p:grpSp>
      <p:sp>
        <p:nvSpPr>
          <p:cNvPr id="4" name="Elipse 3"/>
          <p:cNvSpPr/>
          <p:nvPr/>
        </p:nvSpPr>
        <p:spPr>
          <a:xfrm>
            <a:off x="7333925" y="1439778"/>
            <a:ext cx="211363" cy="18902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Conector recto de flecha 5"/>
          <p:cNvCxnSpPr>
            <a:endCxn id="4" idx="7"/>
          </p:cNvCxnSpPr>
          <p:nvPr/>
        </p:nvCxnSpPr>
        <p:spPr>
          <a:xfrm flipH="1">
            <a:off x="7514335" y="891851"/>
            <a:ext cx="377968" cy="575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/>
          <p:cNvCxnSpPr>
            <a:endCxn id="4" idx="1"/>
          </p:cNvCxnSpPr>
          <p:nvPr/>
        </p:nvCxnSpPr>
        <p:spPr>
          <a:xfrm>
            <a:off x="6778056" y="980728"/>
            <a:ext cx="586822" cy="486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>
            <a:endCxn id="4" idx="3"/>
          </p:cNvCxnSpPr>
          <p:nvPr/>
        </p:nvCxnSpPr>
        <p:spPr>
          <a:xfrm flipV="1">
            <a:off x="6897216" y="1601118"/>
            <a:ext cx="467662" cy="387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/>
          <p:nvPr/>
        </p:nvCxnSpPr>
        <p:spPr>
          <a:xfrm flipH="1" flipV="1">
            <a:off x="7545289" y="1628800"/>
            <a:ext cx="464626" cy="459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66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redondeado 13"/>
          <p:cNvSpPr/>
          <p:nvPr/>
        </p:nvSpPr>
        <p:spPr>
          <a:xfrm>
            <a:off x="1712640" y="764704"/>
            <a:ext cx="4949838" cy="560768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s-PE" sz="2400" dirty="0" smtClean="0">
                <a:solidFill>
                  <a:schemeClr val="tx1"/>
                </a:solidFill>
              </a:rPr>
              <a:t>DENSIDAD DE ALGUNAS SUSTANCIAS</a:t>
            </a:r>
            <a:endParaRPr lang="es-PE" sz="2800" dirty="0">
              <a:solidFill>
                <a:schemeClr val="tx1"/>
              </a:solidFill>
            </a:endParaRPr>
          </a:p>
        </p:txBody>
      </p:sp>
      <p:graphicFrame>
        <p:nvGraphicFramePr>
          <p:cNvPr id="13" name="Group 6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4760704"/>
              </p:ext>
            </p:extLst>
          </p:nvPr>
        </p:nvGraphicFramePr>
        <p:xfrm>
          <a:off x="4376936" y="1592828"/>
          <a:ext cx="5040560" cy="5029200"/>
        </p:xfrm>
        <a:graphic>
          <a:graphicData uri="http://schemas.openxmlformats.org/drawingml/2006/table">
            <a:tbl>
              <a:tblPr/>
              <a:tblGrid>
                <a:gridCol w="2756719"/>
                <a:gridCol w="2283841"/>
              </a:tblGrid>
              <a:tr h="298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PE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itchFamily="34" charset="0"/>
                        </a:rPr>
                        <a:t>Sustancia</a:t>
                      </a:r>
                      <a:endParaRPr kumimoji="1" lang="es-E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PE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itchFamily="34" charset="0"/>
                        </a:rPr>
                        <a:t>Densidad (kg/m</a:t>
                      </a:r>
                      <a:r>
                        <a:rPr kumimoji="1" lang="es-PE" sz="16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itchFamily="34" charset="0"/>
                        </a:rPr>
                        <a:t>3</a:t>
                      </a:r>
                      <a:r>
                        <a:rPr kumimoji="1" lang="es-PE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itchFamily="34" charset="0"/>
                        </a:rPr>
                        <a:t>)</a:t>
                      </a:r>
                      <a:endParaRPr kumimoji="1" lang="es-E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</a:tr>
              <a:tr h="298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Aire</a:t>
                      </a:r>
                      <a:endParaRPr kumimoji="1" lang="es-E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1,20</a:t>
                      </a:r>
                      <a:endParaRPr kumimoji="1" lang="es-E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FF"/>
                    </a:solidFill>
                  </a:tcPr>
                </a:tc>
              </a:tr>
              <a:tr h="298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Helio</a:t>
                      </a:r>
                      <a:endParaRPr kumimoji="1" lang="es-E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0,18</a:t>
                      </a:r>
                      <a:endParaRPr kumimoji="1" lang="es-E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FF"/>
                    </a:solidFill>
                  </a:tcPr>
                </a:tc>
              </a:tr>
              <a:tr h="298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Hidrógeno</a:t>
                      </a:r>
                      <a:endParaRPr kumimoji="1" lang="es-E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0,09</a:t>
                      </a:r>
                      <a:endParaRPr kumimoji="1" lang="es-E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FF"/>
                    </a:solidFill>
                  </a:tcPr>
                </a:tc>
              </a:tr>
              <a:tr h="298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Agua dulce</a:t>
                      </a:r>
                      <a:endParaRPr kumimoji="1" lang="es-E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1 000</a:t>
                      </a:r>
                      <a:endParaRPr kumimoji="1" lang="es-E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  <a:tr h="298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Hielo</a:t>
                      </a:r>
                      <a:endParaRPr kumimoji="1" lang="es-E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917</a:t>
                      </a:r>
                      <a:endParaRPr kumimoji="1" lang="es-E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  <a:tr h="298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Agua salada</a:t>
                      </a:r>
                      <a:endParaRPr kumimoji="1" lang="es-E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1 030</a:t>
                      </a:r>
                      <a:endParaRPr kumimoji="1" lang="es-E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  <a:tr h="298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Alcohol</a:t>
                      </a:r>
                      <a:endParaRPr kumimoji="1" lang="es-E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806</a:t>
                      </a:r>
                      <a:endParaRPr kumimoji="1" lang="es-E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  <a:tr h="298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Madera</a:t>
                      </a:r>
                      <a:endParaRPr kumimoji="1" lang="es-E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373</a:t>
                      </a:r>
                      <a:endParaRPr kumimoji="1" lang="es-E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98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Aluminio</a:t>
                      </a:r>
                      <a:endParaRPr kumimoji="1" lang="es-E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2 700</a:t>
                      </a:r>
                      <a:endParaRPr kumimoji="1" lang="es-E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98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Cobre</a:t>
                      </a:r>
                      <a:endParaRPr kumimoji="1" lang="es-E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8 920</a:t>
                      </a:r>
                      <a:endParaRPr kumimoji="1" lang="es-E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98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Hierro, Acero</a:t>
                      </a:r>
                      <a:endParaRPr kumimoji="1" lang="es-E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7 800</a:t>
                      </a:r>
                      <a:endParaRPr kumimoji="1" lang="es-E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98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Plomo</a:t>
                      </a:r>
                      <a:endParaRPr kumimoji="1" lang="es-E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11 300</a:t>
                      </a:r>
                      <a:endParaRPr kumimoji="1" lang="es-E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98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Oro</a:t>
                      </a:r>
                      <a:endParaRPr kumimoji="1" lang="es-E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19 300</a:t>
                      </a:r>
                      <a:endParaRPr kumimoji="1" lang="es-E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98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Mercurio</a:t>
                      </a:r>
                      <a:endParaRPr kumimoji="1" lang="es-E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s-MX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13 600</a:t>
                      </a:r>
                      <a:endParaRPr kumimoji="1" lang="es-E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311267" marR="311267" horzOverflow="overflow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</a:tbl>
          </a:graphicData>
        </a:graphic>
      </p:graphicFrame>
      <p:sp>
        <p:nvSpPr>
          <p:cNvPr id="15" name="5 Rectángulo"/>
          <p:cNvSpPr/>
          <p:nvPr/>
        </p:nvSpPr>
        <p:spPr>
          <a:xfrm>
            <a:off x="274170" y="1708592"/>
            <a:ext cx="37024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 unidad de medición de la densidad en el SI es</a:t>
            </a:r>
            <a:r>
              <a:rPr lang="es-ES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 kg/m</a:t>
            </a:r>
            <a:r>
              <a:rPr lang="es-ES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s-ES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s-E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>
              <a:buFontTx/>
              <a:buNone/>
            </a:pPr>
            <a:r>
              <a:rPr lang="es-E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 kg/m</a:t>
            </a:r>
            <a:r>
              <a:rPr lang="es-ES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s-E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10</a:t>
            </a:r>
            <a:r>
              <a:rPr lang="es-ES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s-E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g/cm</a:t>
            </a:r>
            <a:r>
              <a:rPr lang="es-ES" baseline="30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s-E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s-E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274170" y="2741274"/>
            <a:ext cx="3776260" cy="1963553"/>
            <a:chOff x="87" y="2007"/>
            <a:chExt cx="2593" cy="1849"/>
          </a:xfrm>
        </p:grpSpPr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318" y="3628"/>
              <a:ext cx="2286" cy="228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s-ES_tradnl" sz="14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Los líquidos son fluidos poco compresibles</a:t>
              </a:r>
              <a:endParaRPr lang="es-E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8" name="Group 15"/>
            <p:cNvGrpSpPr>
              <a:grpSpLocks/>
            </p:cNvGrpSpPr>
            <p:nvPr/>
          </p:nvGrpSpPr>
          <p:grpSpPr bwMode="auto">
            <a:xfrm>
              <a:off x="87" y="2007"/>
              <a:ext cx="2593" cy="1606"/>
              <a:chOff x="87" y="821"/>
              <a:chExt cx="2593" cy="1606"/>
            </a:xfrm>
          </p:grpSpPr>
          <p:pic>
            <p:nvPicPr>
              <p:cNvPr id="19" name="Picture 16" descr="C:\Mis documentos\Presentac en Pw point\Banco de graficos\Bco Graficos Fisica\Gr Fisica Ecosfera 4º\p072a.jpg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87" y="821"/>
                <a:ext cx="2593" cy="15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1" name="Text Box 17"/>
              <p:cNvSpPr txBox="1">
                <a:spLocks noChangeArrowheads="1"/>
              </p:cNvSpPr>
              <p:nvPr/>
            </p:nvSpPr>
            <p:spPr bwMode="auto">
              <a:xfrm>
                <a:off x="886" y="1302"/>
                <a:ext cx="994" cy="2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s-ES_tradnl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Líquido</a:t>
                </a:r>
                <a:endParaRPr lang="es-E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" name="Text Box 18"/>
              <p:cNvSpPr txBox="1">
                <a:spLocks noChangeArrowheads="1"/>
              </p:cNvSpPr>
              <p:nvPr/>
            </p:nvSpPr>
            <p:spPr bwMode="auto">
              <a:xfrm>
                <a:off x="1036" y="2131"/>
                <a:ext cx="695" cy="2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s-ES_tradnl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Líquido</a:t>
                </a:r>
                <a:endParaRPr lang="es-E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23" name="Group 7"/>
          <p:cNvGrpSpPr>
            <a:grpSpLocks/>
          </p:cNvGrpSpPr>
          <p:nvPr/>
        </p:nvGrpSpPr>
        <p:grpSpPr bwMode="auto">
          <a:xfrm>
            <a:off x="388050" y="4760033"/>
            <a:ext cx="3619500" cy="1981335"/>
            <a:chOff x="3046" y="1906"/>
            <a:chExt cx="2550" cy="1974"/>
          </a:xfrm>
        </p:grpSpPr>
        <p:sp>
          <p:nvSpPr>
            <p:cNvPr id="24" name="Text Box 8"/>
            <p:cNvSpPr txBox="1">
              <a:spLocks noChangeArrowheads="1"/>
            </p:cNvSpPr>
            <p:nvPr/>
          </p:nvSpPr>
          <p:spPr bwMode="auto">
            <a:xfrm>
              <a:off x="3176" y="3648"/>
              <a:ext cx="2286" cy="232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s-ES_tradnl" sz="14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Los gases son fluidos muy compresibles</a:t>
              </a:r>
              <a:endParaRPr lang="es-E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8" name="Group 9"/>
            <p:cNvGrpSpPr>
              <a:grpSpLocks/>
            </p:cNvGrpSpPr>
            <p:nvPr/>
          </p:nvGrpSpPr>
          <p:grpSpPr bwMode="auto">
            <a:xfrm>
              <a:off x="3046" y="1906"/>
              <a:ext cx="2550" cy="1726"/>
              <a:chOff x="3046" y="720"/>
              <a:chExt cx="2550" cy="1726"/>
            </a:xfrm>
          </p:grpSpPr>
          <p:pic>
            <p:nvPicPr>
              <p:cNvPr id="29" name="Picture 10" descr="C:\Mis documentos\Presentac en Pw point\Banco de graficos\Bco Graficos Fisica\Gr Fisica Ecosfera 4º\p072b.jpg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046" y="720"/>
                <a:ext cx="2550" cy="16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0" name="Text Box 11"/>
              <p:cNvSpPr txBox="1">
                <a:spLocks noChangeArrowheads="1"/>
              </p:cNvSpPr>
              <p:nvPr/>
            </p:nvSpPr>
            <p:spPr bwMode="auto">
              <a:xfrm>
                <a:off x="4043" y="1365"/>
                <a:ext cx="426" cy="3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s-ES_tradnl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Gas</a:t>
                </a:r>
                <a:endParaRPr lang="es-E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" name="Text Box 12"/>
              <p:cNvSpPr txBox="1">
                <a:spLocks noChangeArrowheads="1"/>
              </p:cNvSpPr>
              <p:nvPr/>
            </p:nvSpPr>
            <p:spPr bwMode="auto">
              <a:xfrm>
                <a:off x="4225" y="2145"/>
                <a:ext cx="487" cy="3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s-ES_tradnl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Gas</a:t>
                </a:r>
                <a:endParaRPr lang="es-E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67796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1546412" y="813699"/>
            <a:ext cx="3838636" cy="52706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PRESIÓN ATMOSFERICA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329310" y="1700808"/>
            <a:ext cx="4467912" cy="5216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  <a:buClr>
                <a:srgbClr val="0000FF"/>
              </a:buClr>
            </a:pP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La presión atmosférica es la presión ejercida  por la masa de aire.</a:t>
            </a:r>
          </a:p>
          <a:p>
            <a:pPr algn="just">
              <a:lnSpc>
                <a:spcPct val="150000"/>
              </a:lnSpc>
            </a:pP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La presión atmosférica al nivel de mar es:</a:t>
            </a:r>
          </a:p>
          <a:p>
            <a:pPr algn="ctr">
              <a:lnSpc>
                <a:spcPct val="150000"/>
              </a:lnSpc>
              <a:buFontTx/>
              <a:buNone/>
            </a:pP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 1,013x10</a:t>
            </a:r>
            <a:r>
              <a:rPr lang="es-ES_tradnl" baseline="30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dirty="0" err="1">
                <a:latin typeface="Arial" panose="020B0604020202020204" pitchFamily="34" charset="0"/>
                <a:cs typeface="Arial" panose="020B0604020202020204" pitchFamily="34" charset="0"/>
              </a:rPr>
              <a:t>Pa</a:t>
            </a: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 = 1 </a:t>
            </a:r>
            <a:r>
              <a:rPr lang="es-ES_tradnl" i="1" dirty="0">
                <a:latin typeface="Arial" panose="020B0604020202020204" pitchFamily="34" charset="0"/>
                <a:cs typeface="Arial" panose="020B0604020202020204" pitchFamily="34" charset="0"/>
              </a:rPr>
              <a:t>atmósfera</a:t>
            </a: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 = 17,7 psi</a:t>
            </a:r>
          </a:p>
          <a:p>
            <a:pPr>
              <a:lnSpc>
                <a:spcPct val="150000"/>
              </a:lnSpc>
            </a:pPr>
            <a:r>
              <a:rPr lang="es-ES_tradnl" dirty="0" smtClean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presión atmosférica varía con el clima y con la altura</a:t>
            </a:r>
            <a:r>
              <a:rPr lang="es-ES_tradnl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" b="1" i="1" dirty="0">
                <a:latin typeface="Arial" panose="020B0604020202020204" pitchFamily="34" charset="0"/>
                <a:cs typeface="Arial" panose="020B0604020202020204" pitchFamily="34" charset="0"/>
              </a:rPr>
              <a:t>presión manométrica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es el exceso de presión más allá de la presión atmosférica. </a:t>
            </a: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 presión que se mide con relación con el vacío perfecto se conoce con el nombre de </a:t>
            </a:r>
            <a:r>
              <a:rPr lang="es-ES" b="1" i="1" dirty="0">
                <a:latin typeface="Arial" panose="020B0604020202020204" pitchFamily="34" charset="0"/>
                <a:cs typeface="Arial" panose="020B0604020202020204" pitchFamily="34" charset="0"/>
              </a:rPr>
              <a:t>presión absoluta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>
              <a:lnSpc>
                <a:spcPct val="150000"/>
              </a:lnSpc>
            </a:pPr>
            <a:endParaRPr lang="es-ES_trad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>
          <a:xfrm>
            <a:off x="5241032" y="1457400"/>
            <a:ext cx="4316288" cy="5400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800000"/>
              </a:buClr>
              <a:buFont typeface="Courier New" pitchFamily="49" charset="0"/>
              <a:buChar char="o"/>
              <a:defRPr lang="es-ES" sz="2300" b="0" kern="1200" dirty="0" smtClean="0">
                <a:solidFill>
                  <a:schemeClr val="tx2">
                    <a:lumMod val="50000"/>
                  </a:schemeClr>
                </a:solidFill>
                <a:latin typeface="Arial Narrow" pitchFamily="34" charset="0"/>
                <a:ea typeface="+mn-ea"/>
                <a:cs typeface="Times New Roman" pitchFamily="18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800000"/>
              </a:buClr>
              <a:buFont typeface="Arial" pitchFamily="34" charset="0"/>
              <a:buChar char="•"/>
              <a:defRPr lang="es-ES" sz="2000" b="0" kern="1200" dirty="0" smtClean="0">
                <a:solidFill>
                  <a:schemeClr val="tx2">
                    <a:lumMod val="50000"/>
                  </a:schemeClr>
                </a:solidFill>
                <a:latin typeface="Arial Narrow" pitchFamily="34" charset="0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800000"/>
              </a:buClr>
              <a:buFont typeface="Courier New" pitchFamily="49" charset="0"/>
              <a:buChar char="o"/>
              <a:defRPr lang="es-ES" sz="1800" b="0" kern="1200" dirty="0" smtClean="0">
                <a:solidFill>
                  <a:schemeClr val="tx2">
                    <a:lumMod val="50000"/>
                  </a:schemeClr>
                </a:solidFill>
                <a:latin typeface="Arial Narrow" pitchFamily="34" charset="0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800000"/>
              </a:buClr>
              <a:buFont typeface="Arial" pitchFamily="34" charset="0"/>
              <a:buChar char="•"/>
              <a:defRPr lang="es-ES" sz="1400" b="0" kern="1200" dirty="0" smtClean="0">
                <a:solidFill>
                  <a:schemeClr val="tx2">
                    <a:lumMod val="50000"/>
                  </a:schemeClr>
                </a:solidFill>
                <a:latin typeface="Arial Narrow" pitchFamily="34" charset="0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800000"/>
              </a:buClr>
              <a:buFont typeface="Courier New" pitchFamily="49" charset="0"/>
              <a:buChar char="o"/>
              <a:defRPr lang="es-PE" sz="1400" b="0" kern="1200" dirty="0">
                <a:solidFill>
                  <a:schemeClr val="tx2">
                    <a:lumMod val="50000"/>
                  </a:schemeClr>
                </a:solidFill>
                <a:latin typeface="Arial Narrow" pitchFamily="34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spcAft>
                <a:spcPts val="0"/>
              </a:spcAft>
              <a:buNone/>
            </a:pPr>
            <a:r>
              <a:rPr lang="es-PE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A una altura </a:t>
            </a:r>
            <a:r>
              <a:rPr lang="es-PE" sz="1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h </a:t>
            </a:r>
            <a:r>
              <a:rPr lang="es-PE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la presión atmosférica se determina por:</a:t>
            </a:r>
          </a:p>
          <a:p>
            <a:pPr marL="0" indent="0" algn="just" fontAlgn="auto">
              <a:spcAft>
                <a:spcPts val="0"/>
              </a:spcAft>
              <a:buNone/>
            </a:pPr>
            <a:endParaRPr lang="es-PE" sz="2200" dirty="0" smtClean="0">
              <a:latin typeface="Times New Roman" pitchFamily="18" charset="0"/>
            </a:endParaRPr>
          </a:p>
          <a:p>
            <a:pPr marL="0" indent="0" algn="just" fontAlgn="auto">
              <a:spcAft>
                <a:spcPts val="0"/>
              </a:spcAft>
              <a:buNone/>
            </a:pPr>
            <a:endParaRPr lang="es-PE" sz="2200" dirty="0" smtClean="0">
              <a:latin typeface="Times New Roman" pitchFamily="18" charset="0"/>
            </a:endParaRPr>
          </a:p>
          <a:p>
            <a:pPr marL="0" indent="0" algn="just" fontAlgn="auto">
              <a:spcAft>
                <a:spcPts val="0"/>
              </a:spcAft>
              <a:buNone/>
            </a:pPr>
            <a:r>
              <a:rPr lang="es-ES_tradnl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Donde </a:t>
            </a:r>
            <a:r>
              <a:rPr lang="es-ES_tradnl" sz="1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_tradnl" sz="18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ES_tradnl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= 8,60 km y </a:t>
            </a:r>
            <a:r>
              <a:rPr lang="es-ES_tradnl" sz="1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_tradnl" sz="18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ES_tradnl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= 1,013 x 10</a:t>
            </a:r>
            <a:r>
              <a:rPr lang="es-ES_tradnl" sz="18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ES_tradnl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</a:t>
            </a:r>
            <a:r>
              <a:rPr lang="es-ES_tradnl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(presión atmosférica al nivel del mar).</a:t>
            </a:r>
          </a:p>
          <a:p>
            <a:pPr algn="just" fontAlgn="auto">
              <a:spcAft>
                <a:spcPts val="0"/>
              </a:spcAft>
            </a:pPr>
            <a:endParaRPr lang="es-PE" sz="2200" dirty="0">
              <a:latin typeface="Times New Roman" pitchFamily="18" charset="0"/>
            </a:endParaRPr>
          </a:p>
        </p:txBody>
      </p:sp>
      <p:graphicFrame>
        <p:nvGraphicFramePr>
          <p:cNvPr id="9" name="6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977854"/>
              </p:ext>
            </p:extLst>
          </p:nvPr>
        </p:nvGraphicFramePr>
        <p:xfrm>
          <a:off x="7038350" y="1988840"/>
          <a:ext cx="1733955" cy="88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Equation" r:id="rId3" imgW="596880" imgH="304560" progId="Equation.DSMT4">
                  <p:embed/>
                </p:oleObj>
              </mc:Choice>
              <mc:Fallback>
                <p:oleObj name="Equation" r:id="rId3" imgW="5968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8350" y="1988840"/>
                        <a:ext cx="1733955" cy="886963"/>
                      </a:xfrm>
                      <a:prstGeom prst="rect">
                        <a:avLst/>
                      </a:prstGeom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5" descr="presion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01072" y="3861048"/>
            <a:ext cx="3587698" cy="2996952"/>
          </a:xfrm>
          <a:prstGeom prst="rect">
            <a:avLst/>
          </a:prstGeom>
          <a:noFill/>
        </p:spPr>
      </p:pic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443394" y="6093296"/>
            <a:ext cx="4239744" cy="4616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s-ES" sz="2400" baseline="-2500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absoluta</a:t>
            </a:r>
            <a:r>
              <a:rPr lang="es-ES" sz="240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= p </a:t>
            </a:r>
            <a:r>
              <a:rPr lang="es-ES" sz="2400" baseline="-2500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atmosférica</a:t>
            </a:r>
            <a:r>
              <a:rPr lang="es-ES" sz="240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+ p </a:t>
            </a:r>
            <a:r>
              <a:rPr lang="es-ES" sz="2400" baseline="-2500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manométrica</a:t>
            </a:r>
          </a:p>
        </p:txBody>
      </p:sp>
    </p:spTree>
    <p:extLst>
      <p:ext uri="{BB962C8B-B14F-4D97-AF65-F5344CB8AC3E}">
        <p14:creationId xmlns:p14="http://schemas.microsoft.com/office/powerpoint/2010/main" val="201517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81828" y="733293"/>
            <a:ext cx="2479084" cy="844499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</a:t>
            </a:r>
            <a:endParaRPr lang="es-PE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272480" y="1763171"/>
            <a:ext cx="446449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dirty="0"/>
              <a:t>Un dispositivo  de  cilindro  y  pistón  en  posición  </a:t>
            </a:r>
            <a:r>
              <a:rPr lang="es-PE" dirty="0" smtClean="0"/>
              <a:t>vertical </a:t>
            </a:r>
            <a:r>
              <a:rPr lang="es-PE" dirty="0"/>
              <a:t>contiene un gas a una presión de 100 </a:t>
            </a:r>
            <a:r>
              <a:rPr lang="es-PE" dirty="0" err="1"/>
              <a:t>kPa</a:t>
            </a:r>
            <a:r>
              <a:rPr lang="es-PE" dirty="0"/>
              <a:t>. El pistón tiene una  masa  de  5  kg  y  un  diámetro  de  12  cm.  Debe  incrementarse  la  presión  del  gas  colocando  pesas  sobre  el  pistón. Determine la presión atmosférica local y la masa de las pesas para duplicar la presión del gas al interior del cilindro. 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3" y="4653136"/>
            <a:ext cx="2018538" cy="2070295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5313040" y="1763171"/>
            <a:ext cx="41764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dirty="0" smtClean="0"/>
              <a:t>La  </a:t>
            </a:r>
            <a:r>
              <a:rPr lang="es-PE" dirty="0"/>
              <a:t>presión  arterial  máxima  en  la  parte  </a:t>
            </a:r>
            <a:r>
              <a:rPr lang="es-PE" dirty="0" smtClean="0"/>
              <a:t>superior del </a:t>
            </a:r>
            <a:r>
              <a:rPr lang="es-PE" dirty="0"/>
              <a:t>brazo de una persona saludable es de alrededor de 120 mm Hg. Si un tubo vertical abierto a la atmósfera se conecta a la vena del  brazo,  determine  cuánto  ascenderá  la  sangre  en  el  tubo. Considere la densidad de la sangre como </a:t>
            </a:r>
            <a:r>
              <a:rPr lang="es-PE" dirty="0" smtClean="0"/>
              <a:t>1050 kg/m3 </a:t>
            </a:r>
            <a:r>
              <a:rPr lang="es-PE" dirty="0"/>
              <a:t>.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160" y="4221088"/>
            <a:ext cx="2362530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7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784648" y="954706"/>
            <a:ext cx="4032448" cy="530078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PRINCIPIO DE PASCAL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364233" y="1700808"/>
            <a:ext cx="3621360" cy="2431172"/>
          </a:xfrm>
          <a:prstGeom prst="rect">
            <a:avLst/>
          </a:prstGeom>
        </p:spPr>
        <p:txBody>
          <a:bodyPr>
            <a:normAutofit fontScale="40000" lnSpcReduction="20000"/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70000"/>
              </a:lnSpc>
              <a:buFont typeface="Arial" pitchFamily="34" charset="0"/>
              <a:buNone/>
            </a:pPr>
            <a:r>
              <a:rPr lang="es-PE" sz="4500" dirty="0" smtClean="0">
                <a:solidFill>
                  <a:schemeClr val="tx1"/>
                </a:solidFill>
              </a:rPr>
              <a:t>"La presión ejercida sobre un fluido encerrado es transmitida íntegramente a todos los puntos del fluido y a las paredes del recipiente que lo contiene". </a:t>
            </a:r>
          </a:p>
          <a:p>
            <a:pPr>
              <a:buFont typeface="Arial" pitchFamily="34" charset="0"/>
              <a:buNone/>
            </a:pPr>
            <a:endParaRPr lang="es-PE" sz="22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04" y="4005064"/>
            <a:ext cx="3497089" cy="2620434"/>
          </a:xfrm>
          <a:prstGeom prst="rect">
            <a:avLst/>
          </a:prstGeom>
        </p:spPr>
      </p:pic>
      <p:pic>
        <p:nvPicPr>
          <p:cNvPr id="10" name="Picture 16" descr="http://t3.gstatic.com/images?q=tbn:ANd9GcQ8X3zb6PmPsdbZSxClPdwEB9fRLsBOISoDOOU_6ILSGEIHLwaJ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20280" y="1772816"/>
            <a:ext cx="2121835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6" descr="esquema-situacion-direc-hidr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07999" y="3750951"/>
            <a:ext cx="4834116" cy="2944801"/>
          </a:xfrm>
          <a:prstGeom prst="rect">
            <a:avLst/>
          </a:prstGeom>
          <a:noFill/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950" y="1626580"/>
            <a:ext cx="2715004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907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1546412" y="813699"/>
            <a:ext cx="3046548" cy="52706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EJERCICIOS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176143" y="1751855"/>
            <a:ext cx="4766668" cy="2463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gas está contenido en un dispositivo de cilindro y émbolo en posición vertical. El émbolo tiene una masa de 4 kg y un área de la sección transversal de 35 cm</a:t>
            </a:r>
            <a:r>
              <a:rPr lang="es-PE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P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Un resorte comprimido arriba del émbolo ejerce una fuerza de 60 N sobre éste. Si la presión atmosférica es de 95 </a:t>
            </a:r>
            <a:r>
              <a:rPr lang="es-PE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kPa</a:t>
            </a:r>
            <a:r>
              <a:rPr lang="es-P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determine la presión en el interior del cilindro.</a:t>
            </a:r>
            <a:endParaRPr lang="es-P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146" y="4023987"/>
            <a:ext cx="2667372" cy="2610214"/>
          </a:xfrm>
          <a:prstGeom prst="rect">
            <a:avLst/>
          </a:prstGeom>
        </p:spPr>
      </p:pic>
      <p:sp>
        <p:nvSpPr>
          <p:cNvPr id="13" name="Rectángulo 12"/>
          <p:cNvSpPr/>
          <p:nvPr/>
        </p:nvSpPr>
        <p:spPr>
          <a:xfrm>
            <a:off x="5385048" y="1751855"/>
            <a:ext cx="4132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dirty="0"/>
              <a:t>Con una prensa hidráulica, se quiere levantar un coche de masa 1250 kg. Si la superficie del émbolo menor es de 15 cm2 y la del émbolo mayor de 3 m2 . Calcule la fuerza </a:t>
            </a:r>
            <a:r>
              <a:rPr lang="es-PE" dirty="0" smtClean="0"/>
              <a:t>F que </a:t>
            </a:r>
            <a:r>
              <a:rPr lang="es-PE" dirty="0"/>
              <a:t>debe </a:t>
            </a:r>
            <a:r>
              <a:rPr lang="es-PE" dirty="0" smtClean="0"/>
              <a:t>aplicarse, si b= 0,36 m y a = 2,6 cm.</a:t>
            </a:r>
            <a:endParaRPr lang="es-PE" dirty="0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215" y="4023987"/>
            <a:ext cx="3842350" cy="242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2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81828" y="733293"/>
            <a:ext cx="6398328" cy="844499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2400" dirty="0" smtClean="0">
                <a:solidFill>
                  <a:schemeClr val="tx1"/>
                </a:solidFill>
              </a:rPr>
              <a:t>ECUACIÓN FUNDAMENTAL DE LA HIDROSTÁTICA</a:t>
            </a:r>
          </a:p>
          <a:p>
            <a:r>
              <a:rPr lang="es-PE" sz="2400" dirty="0" smtClean="0">
                <a:solidFill>
                  <a:schemeClr val="tx1"/>
                </a:solidFill>
              </a:rPr>
              <a:t> PRESIÓN EN UN FLUIDO</a:t>
            </a:r>
            <a:endParaRPr lang="es-PE" sz="2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/>
              <p:cNvSpPr txBox="1">
                <a:spLocks noChangeArrowheads="1"/>
              </p:cNvSpPr>
              <p:nvPr/>
            </p:nvSpPr>
            <p:spPr>
              <a:xfrm>
                <a:off x="200472" y="1677296"/>
                <a:ext cx="4929649" cy="5141425"/>
              </a:xfrm>
              <a:prstGeom prst="rect">
                <a:avLst/>
              </a:prstGeom>
            </p:spPr>
            <p:txBody>
              <a:bodyPr>
                <a:normAutofit fontScale="55000" lnSpcReduction="20000"/>
              </a:bodyPr>
              <a:lstStyle>
                <a:lvl1pPr marL="342900" indent="-3429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Clr>
                    <a:srgbClr val="000000"/>
                  </a:buClr>
                  <a:buNone/>
                </a:pPr>
                <a:r>
                  <a:rPr lang="es-PE" sz="2900" dirty="0" smtClean="0">
                    <a:solidFill>
                      <a:schemeClr val="tx1"/>
                    </a:solidFill>
                  </a:rPr>
                  <a:t>Dado un líquido en reposo con densidad uniforme, evaluamos su condición de equilibrio.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s-PE" sz="2000" dirty="0" smtClean="0">
                    <a:solidFill>
                      <a:schemeClr val="tx1"/>
                    </a:solidFill>
                  </a:rPr>
                  <a:t>                                                 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s-PE" sz="2000" dirty="0">
                  <a:solidFill>
                    <a:schemeClr val="tx1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s-PE" sz="2000" dirty="0" smtClean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PE" sz="2900" dirty="0">
                    <a:solidFill>
                      <a:schemeClr val="tx1"/>
                    </a:solidFill>
                  </a:rPr>
                  <a:t> </a:t>
                </a:r>
                <a:r>
                  <a:rPr lang="es-PE" sz="2900" dirty="0" smtClean="0">
                    <a:solidFill>
                      <a:schemeClr val="tx1"/>
                    </a:solidFill>
                  </a:rPr>
                  <a:t>                                    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PE" sz="29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s-PE" sz="29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PE" sz="2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s-PE" sz="2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nary>
                    <m:r>
                      <a:rPr lang="es-PE" sz="29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PE" sz="29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s-PE" sz="2900" dirty="0" smtClean="0">
                  <a:solidFill>
                    <a:schemeClr val="tx1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s-PE" sz="2000" dirty="0" smtClean="0">
                  <a:solidFill>
                    <a:schemeClr val="tx1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s-PE" sz="2000" dirty="0">
                  <a:solidFill>
                    <a:schemeClr val="tx1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s-PE" sz="2000" dirty="0" smtClean="0">
                  <a:solidFill>
                    <a:schemeClr val="tx1"/>
                  </a:solidFill>
                </a:endParaRPr>
              </a:p>
              <a:p>
                <a:pPr marL="0" indent="0" algn="r">
                  <a:lnSpc>
                    <a:spcPct val="150000"/>
                  </a:lnSpc>
                  <a:buNone/>
                </a:pPr>
                <a:r>
                  <a:rPr lang="es-PE" sz="3600" b="0" dirty="0" smtClean="0">
                    <a:solidFill>
                      <a:schemeClr val="tx1"/>
                    </a:solidFill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s-PE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𝑝𝐴</m:t>
                    </m:r>
                    <m:r>
                      <a:rPr lang="es-PE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s-PE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PE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s-PE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PE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𝑑𝑝</m:t>
                        </m:r>
                      </m:e>
                    </m:d>
                    <m:r>
                      <a:rPr lang="es-PE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PE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PE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𝑑𝑤</m:t>
                    </m:r>
                    <m:r>
                      <a:rPr lang="es-PE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PE" sz="3600" dirty="0" smtClean="0">
                  <a:solidFill>
                    <a:schemeClr val="tx1"/>
                  </a:solidFill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endParaRPr lang="es-PE" sz="2900" dirty="0" smtClean="0">
                  <a:solidFill>
                    <a:schemeClr val="tx1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s-PE" sz="2900" dirty="0" smtClean="0">
                    <a:solidFill>
                      <a:schemeClr val="tx1"/>
                    </a:solidFill>
                  </a:rPr>
                  <a:t>Se </a:t>
                </a:r>
                <a:r>
                  <a:rPr lang="es-PE" sz="2900" dirty="0">
                    <a:solidFill>
                      <a:schemeClr val="tx1"/>
                    </a:solidFill>
                  </a:rPr>
                  <a:t>deduce la siguiente </a:t>
                </a:r>
                <a:r>
                  <a:rPr lang="es-PE" sz="2900" dirty="0" smtClean="0">
                    <a:solidFill>
                      <a:schemeClr val="tx1"/>
                    </a:solidFill>
                  </a:rPr>
                  <a:t>ecuación: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s-PE" sz="2900" dirty="0" smtClean="0">
                  <a:solidFill>
                    <a:schemeClr val="tx1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s-PE" sz="3600" dirty="0">
                  <a:solidFill>
                    <a:schemeClr val="tx1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PE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PE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PE" sz="3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PE" sz="3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lang="es-PE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PE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PE" sz="3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PE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PE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PE" sz="3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PE" sz="3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lang="es-PE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PE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PE" sz="3600" dirty="0" smtClean="0">
                  <a:solidFill>
                    <a:schemeClr val="tx1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PE" sz="3600" dirty="0" smtClean="0">
                  <a:solidFill>
                    <a:schemeClr val="tx1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s-PE" sz="1800" dirty="0">
                  <a:solidFill>
                    <a:schemeClr val="tx1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s-PE" sz="1800" dirty="0" smtClean="0">
                  <a:solidFill>
                    <a:schemeClr val="tx1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s-PE" sz="1800" dirty="0">
                  <a:solidFill>
                    <a:schemeClr val="tx1"/>
                  </a:solidFill>
                </a:endParaRPr>
              </a:p>
              <a:p>
                <a:pPr marL="0" indent="0" algn="just">
                  <a:buFont typeface="Arial" pitchFamily="34" charset="0"/>
                  <a:buNone/>
                </a:pPr>
                <a:endParaRPr lang="es-PE" sz="2000" dirty="0" smtClean="0">
                  <a:solidFill>
                    <a:schemeClr val="tx1"/>
                  </a:solidFill>
                </a:endParaRPr>
              </a:p>
              <a:p>
                <a:pPr algn="just"/>
                <a:endParaRPr lang="es-PE" sz="2600" dirty="0"/>
              </a:p>
            </p:txBody>
          </p:sp>
        </mc:Choice>
        <mc:Fallback xmlns="">
          <p:sp>
            <p:nvSpPr>
              <p:cNvPr id="7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72" y="1677296"/>
                <a:ext cx="4929649" cy="5141425"/>
              </a:xfrm>
              <a:prstGeom prst="rect">
                <a:avLst/>
              </a:prstGeom>
              <a:blipFill rotWithShape="0">
                <a:blip r:embed="rId3"/>
                <a:stretch>
                  <a:fillRect l="-742" r="-61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6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302263"/>
              </p:ext>
            </p:extLst>
          </p:nvPr>
        </p:nvGraphicFramePr>
        <p:xfrm>
          <a:off x="2029502" y="5516034"/>
          <a:ext cx="1271588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name="Equation" r:id="rId4" imgW="558558" imgH="355446" progId="">
                  <p:embed/>
                </p:oleObj>
              </mc:Choice>
              <mc:Fallback>
                <p:oleObj name="Equation" r:id="rId4" imgW="558558" imgH="35544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9502" y="5516034"/>
                        <a:ext cx="1271588" cy="76358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upo 3"/>
          <p:cNvGrpSpPr/>
          <p:nvPr/>
        </p:nvGrpSpPr>
        <p:grpSpPr>
          <a:xfrm>
            <a:off x="344488" y="2547741"/>
            <a:ext cx="2073863" cy="2158794"/>
            <a:chOff x="6883974" y="1810678"/>
            <a:chExt cx="2392363" cy="3229203"/>
          </a:xfrm>
        </p:grpSpPr>
        <p:grpSp>
          <p:nvGrpSpPr>
            <p:cNvPr id="3" name="Grupo 2"/>
            <p:cNvGrpSpPr/>
            <p:nvPr/>
          </p:nvGrpSpPr>
          <p:grpSpPr>
            <a:xfrm>
              <a:off x="6883974" y="1810678"/>
              <a:ext cx="2392363" cy="3229203"/>
              <a:chOff x="5512221" y="2360037"/>
              <a:chExt cx="2392363" cy="3229203"/>
            </a:xfrm>
          </p:grpSpPr>
          <p:grpSp>
            <p:nvGrpSpPr>
              <p:cNvPr id="10" name="Group 4"/>
              <p:cNvGrpSpPr>
                <a:grpSpLocks/>
              </p:cNvGrpSpPr>
              <p:nvPr/>
            </p:nvGrpSpPr>
            <p:grpSpPr bwMode="auto">
              <a:xfrm>
                <a:off x="5512221" y="2360037"/>
                <a:ext cx="2392363" cy="2574925"/>
                <a:chOff x="3542" y="689"/>
                <a:chExt cx="1507" cy="1622"/>
              </a:xfrm>
            </p:grpSpPr>
            <p:pic>
              <p:nvPicPr>
                <p:cNvPr id="11" name="Picture 5" descr="Vaso con cubo"/>
                <p:cNvPicPr>
                  <a:picLocks noChangeAspect="1" noChangeArrowheads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542" y="689"/>
                  <a:ext cx="1507" cy="1622"/>
                </a:xfrm>
                <a:prstGeom prst="rect">
                  <a:avLst/>
                </a:prstGeom>
                <a:noFill/>
              </p:spPr>
            </p:pic>
            <p:grpSp>
              <p:nvGrpSpPr>
                <p:cNvPr id="12" name="Group 6"/>
                <p:cNvGrpSpPr>
                  <a:grpSpLocks/>
                </p:cNvGrpSpPr>
                <p:nvPr/>
              </p:nvGrpSpPr>
              <p:grpSpPr bwMode="auto">
                <a:xfrm>
                  <a:off x="4454" y="1516"/>
                  <a:ext cx="390" cy="725"/>
                  <a:chOff x="4454" y="1516"/>
                  <a:chExt cx="390" cy="725"/>
                </a:xfrm>
              </p:grpSpPr>
              <p:sp>
                <p:nvSpPr>
                  <p:cNvPr id="14" name="Line 7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454" y="1651"/>
                    <a:ext cx="1" cy="59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stealth" w="lg" len="med"/>
                  </a:ln>
                  <a:effectLst/>
                </p:spPr>
                <p:txBody>
                  <a:bodyPr/>
                  <a:lstStyle/>
                  <a:p>
                    <a:endParaRPr lang="es-MX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5" name="Line 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568" y="1893"/>
                    <a:ext cx="0" cy="34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stealth" w="lg" len="med"/>
                  </a:ln>
                  <a:effectLst/>
                </p:spPr>
                <p:txBody>
                  <a:bodyPr/>
                  <a:lstStyle/>
                  <a:p>
                    <a:endParaRPr lang="es-MX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  <p:sp>
                <p:nvSpPr>
                  <p:cNvPr id="16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75" y="1516"/>
                    <a:ext cx="269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0"/>
                      </a:spcBef>
                    </a:pPr>
                    <a:r>
                      <a:rPr lang="es-PE" sz="1800" i="1"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rPr>
                      <a:t>y</a:t>
                    </a:r>
                    <a:r>
                      <a:rPr lang="es-PE" sz="1800" baseline="-25000"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rPr>
                      <a:t>2</a:t>
                    </a:r>
                  </a:p>
                </p:txBody>
              </p:sp>
              <p:sp>
                <p:nvSpPr>
                  <p:cNvPr id="17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75" y="1960"/>
                    <a:ext cx="269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0"/>
                      </a:spcBef>
                    </a:pPr>
                    <a:r>
                      <a:rPr lang="es-PE" sz="1800" i="1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rPr>
                      <a:t>y</a:t>
                    </a:r>
                    <a:r>
                      <a:rPr lang="es-PE" sz="1800" baseline="-2500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rPr>
                      <a:t>1</a:t>
                    </a:r>
                  </a:p>
                </p:txBody>
              </p:sp>
            </p:grpSp>
            <p:sp>
              <p:nvSpPr>
                <p:cNvPr id="1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800" y="1664"/>
                  <a:ext cx="256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eaLnBrk="1" hangingPunct="1">
                    <a:spcBef>
                      <a:spcPct val="0"/>
                    </a:spcBef>
                  </a:pPr>
                  <a:r>
                    <a:rPr lang="es-PE" sz="1800" i="1">
                      <a:solidFill>
                        <a:schemeClr val="tx1"/>
                      </a:solidFill>
                      <a:effectLst/>
                      <a:latin typeface="+mn-lt"/>
                      <a:cs typeface="Arial" charset="0"/>
                    </a:rPr>
                    <a:t>dy</a:t>
                  </a:r>
                </a:p>
              </p:txBody>
            </p:sp>
          </p:grpSp>
          <p:grpSp>
            <p:nvGrpSpPr>
              <p:cNvPr id="18" name="Group 12"/>
              <p:cNvGrpSpPr>
                <a:grpSpLocks/>
              </p:cNvGrpSpPr>
              <p:nvPr/>
            </p:nvGrpSpPr>
            <p:grpSpPr bwMode="auto">
              <a:xfrm>
                <a:off x="5912519" y="2915890"/>
                <a:ext cx="1128713" cy="993775"/>
                <a:chOff x="3812" y="1028"/>
                <a:chExt cx="711" cy="626"/>
              </a:xfrm>
            </p:grpSpPr>
            <p:sp>
              <p:nvSpPr>
                <p:cNvPr id="19" name="Line 13"/>
                <p:cNvSpPr>
                  <a:spLocks noChangeShapeType="1"/>
                </p:cNvSpPr>
                <p:nvPr/>
              </p:nvSpPr>
              <p:spPr bwMode="auto">
                <a:xfrm>
                  <a:off x="4194" y="1299"/>
                  <a:ext cx="0" cy="355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 type="stealth" w="lg" len="lg"/>
                </a:ln>
                <a:effectLst/>
              </p:spPr>
              <p:txBody>
                <a:bodyPr/>
                <a:lstStyle/>
                <a:p>
                  <a:endParaRPr lang="es-MX">
                    <a:latin typeface="+mn-lt"/>
                  </a:endParaRPr>
                </a:p>
              </p:txBody>
            </p:sp>
            <p:sp>
              <p:nvSpPr>
                <p:cNvPr id="20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3812" y="1028"/>
                  <a:ext cx="711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eaLnBrk="1" hangingPunct="1">
                    <a:spcBef>
                      <a:spcPct val="0"/>
                    </a:spcBef>
                  </a:pPr>
                  <a:r>
                    <a:rPr lang="es-ES" sz="2000" i="1" dirty="0">
                      <a:solidFill>
                        <a:schemeClr val="tx1"/>
                      </a:solidFill>
                      <a:effectLst/>
                      <a:latin typeface="+mn-lt"/>
                    </a:rPr>
                    <a:t>(p +</a:t>
                  </a:r>
                  <a:r>
                    <a:rPr lang="es-ES" sz="2000" i="1" dirty="0" err="1">
                      <a:solidFill>
                        <a:schemeClr val="tx1"/>
                      </a:solidFill>
                      <a:effectLst/>
                      <a:latin typeface="+mn-lt"/>
                    </a:rPr>
                    <a:t>dp</a:t>
                  </a:r>
                  <a:r>
                    <a:rPr lang="es-ES" sz="2000" i="1" dirty="0">
                      <a:solidFill>
                        <a:schemeClr val="tx1"/>
                      </a:solidFill>
                      <a:effectLst/>
                      <a:latin typeface="+mn-lt"/>
                    </a:rPr>
                    <a:t> )A</a:t>
                  </a:r>
                </a:p>
              </p:txBody>
            </p:sp>
          </p:grpSp>
          <p:grpSp>
            <p:nvGrpSpPr>
              <p:cNvPr id="21" name="Group 15"/>
              <p:cNvGrpSpPr>
                <a:grpSpLocks/>
              </p:cNvGrpSpPr>
              <p:nvPr/>
            </p:nvGrpSpPr>
            <p:grpSpPr bwMode="auto">
              <a:xfrm>
                <a:off x="6318916" y="4320827"/>
                <a:ext cx="466725" cy="1268413"/>
                <a:chOff x="4079" y="1913"/>
                <a:chExt cx="294" cy="799"/>
              </a:xfrm>
            </p:grpSpPr>
            <p:sp>
              <p:nvSpPr>
                <p:cNvPr id="22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4212" y="1913"/>
                  <a:ext cx="0" cy="596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 type="stealth" w="lg" len="lg"/>
                </a:ln>
                <a:effectLst/>
              </p:spPr>
              <p:txBody>
                <a:bodyPr/>
                <a:lstStyle/>
                <a:p>
                  <a:endParaRPr lang="es-MX">
                    <a:latin typeface="+mn-lt"/>
                  </a:endParaRPr>
                </a:p>
              </p:txBody>
            </p:sp>
            <p:sp>
              <p:nvSpPr>
                <p:cNvPr id="23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079" y="2462"/>
                  <a:ext cx="294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eaLnBrk="1" hangingPunct="1">
                    <a:spcBef>
                      <a:spcPct val="0"/>
                    </a:spcBef>
                  </a:pPr>
                  <a:r>
                    <a:rPr lang="es-ES" sz="2000" i="1" dirty="0" err="1">
                      <a:solidFill>
                        <a:schemeClr val="tx1"/>
                      </a:solidFill>
                      <a:effectLst/>
                      <a:latin typeface="+mn-lt"/>
                    </a:rPr>
                    <a:t>pA</a:t>
                  </a:r>
                  <a:endParaRPr lang="es-ES" sz="2000" i="1" dirty="0">
                    <a:solidFill>
                      <a:schemeClr val="tx1"/>
                    </a:solidFill>
                    <a:effectLst/>
                    <a:latin typeface="+mn-lt"/>
                  </a:endParaRPr>
                </a:p>
              </p:txBody>
            </p:sp>
          </p:grpSp>
        </p:grp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7792272" y="3518963"/>
              <a:ext cx="0" cy="542925"/>
            </a:xfrm>
            <a:prstGeom prst="line">
              <a:avLst/>
            </a:prstGeom>
            <a:noFill/>
            <a:ln w="28575">
              <a:solidFill>
                <a:srgbClr val="006666"/>
              </a:solidFill>
              <a:round/>
              <a:headEnd type="oval" w="med" len="med"/>
              <a:tailEnd type="stealth" w="lg" len="lg"/>
            </a:ln>
            <a:effectLst/>
          </p:spPr>
          <p:txBody>
            <a:bodyPr/>
            <a:lstStyle/>
            <a:p>
              <a:endParaRPr lang="es-MX">
                <a:latin typeface="+mn-lt"/>
              </a:endParaRPr>
            </a:p>
          </p:txBody>
        </p:sp>
        <p:sp>
          <p:nvSpPr>
            <p:cNvPr id="26" name="Text Box 20"/>
            <p:cNvSpPr txBox="1">
              <a:spLocks noChangeArrowheads="1"/>
            </p:cNvSpPr>
            <p:nvPr/>
          </p:nvSpPr>
          <p:spPr bwMode="auto">
            <a:xfrm>
              <a:off x="7284272" y="3845988"/>
              <a:ext cx="720725" cy="39687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lang="es-ES" sz="2000" i="1" dirty="0" err="1">
                  <a:solidFill>
                    <a:schemeClr val="tx1"/>
                  </a:solidFill>
                  <a:effectLst/>
                  <a:latin typeface="+mn-lt"/>
                </a:rPr>
                <a:t>dw</a:t>
              </a:r>
              <a:endParaRPr lang="es-ES" sz="2000" i="1" dirty="0"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  <p:grpSp>
        <p:nvGrpSpPr>
          <p:cNvPr id="27" name="Group 9"/>
          <p:cNvGrpSpPr>
            <a:grpSpLocks/>
          </p:cNvGrpSpPr>
          <p:nvPr/>
        </p:nvGrpSpPr>
        <p:grpSpPr bwMode="auto">
          <a:xfrm>
            <a:off x="5490351" y="4468830"/>
            <a:ext cx="4333868" cy="2181584"/>
            <a:chOff x="1700" y="709"/>
            <a:chExt cx="3659" cy="2506"/>
          </a:xfrm>
        </p:grpSpPr>
        <p:pic>
          <p:nvPicPr>
            <p:cNvPr id="28" name="Picture 10" descr="vasoscomunicantes"/>
            <p:cNvPicPr>
              <a:picLocks noChangeAspect="1" noChangeArrowheads="1"/>
            </p:cNvPicPr>
            <p:nvPr/>
          </p:nvPicPr>
          <p:blipFill>
            <a:blip r:embed="rId7" cstate="print">
              <a:clrChange>
                <a:clrFrom>
                  <a:srgbClr val="F5F6FB"/>
                </a:clrFrom>
                <a:clrTo>
                  <a:srgbClr val="F5F6FB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972" y="709"/>
              <a:ext cx="3387" cy="2506"/>
            </a:xfrm>
            <a:prstGeom prst="rect">
              <a:avLst/>
            </a:prstGeom>
            <a:noFill/>
          </p:spPr>
        </p:pic>
        <p:sp>
          <p:nvSpPr>
            <p:cNvPr id="29" name="Line 11"/>
            <p:cNvSpPr>
              <a:spLocks noChangeShapeType="1"/>
            </p:cNvSpPr>
            <p:nvPr/>
          </p:nvSpPr>
          <p:spPr bwMode="auto">
            <a:xfrm>
              <a:off x="1700" y="2478"/>
              <a:ext cx="33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Oval 12"/>
            <p:cNvSpPr>
              <a:spLocks noChangeArrowheads="1"/>
            </p:cNvSpPr>
            <p:nvPr/>
          </p:nvSpPr>
          <p:spPr bwMode="auto">
            <a:xfrm>
              <a:off x="2063" y="2432"/>
              <a:ext cx="90" cy="9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s-MX">
                <a:solidFill>
                  <a:schemeClr val="tx1"/>
                </a:solidFill>
              </a:endParaRPr>
            </a:p>
          </p:txBody>
        </p:sp>
        <p:sp>
          <p:nvSpPr>
            <p:cNvPr id="31" name="Oval 13"/>
            <p:cNvSpPr>
              <a:spLocks noChangeArrowheads="1"/>
            </p:cNvSpPr>
            <p:nvPr/>
          </p:nvSpPr>
          <p:spPr bwMode="auto">
            <a:xfrm>
              <a:off x="2834" y="2432"/>
              <a:ext cx="90" cy="9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s-MX"/>
            </a:p>
          </p:txBody>
        </p:sp>
        <p:sp>
          <p:nvSpPr>
            <p:cNvPr id="32" name="Oval 14"/>
            <p:cNvSpPr>
              <a:spLocks noChangeArrowheads="1"/>
            </p:cNvSpPr>
            <p:nvPr/>
          </p:nvSpPr>
          <p:spPr bwMode="auto">
            <a:xfrm>
              <a:off x="3741" y="2432"/>
              <a:ext cx="90" cy="9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s-MX"/>
            </a:p>
          </p:txBody>
        </p:sp>
        <p:sp>
          <p:nvSpPr>
            <p:cNvPr id="33" name="Oval 15"/>
            <p:cNvSpPr>
              <a:spLocks noChangeArrowheads="1"/>
            </p:cNvSpPr>
            <p:nvPr/>
          </p:nvSpPr>
          <p:spPr bwMode="auto">
            <a:xfrm>
              <a:off x="4875" y="2432"/>
              <a:ext cx="90" cy="9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s-MX"/>
            </a:p>
          </p:txBody>
        </p:sp>
        <p:sp>
          <p:nvSpPr>
            <p:cNvPr id="34" name="Text Box 16"/>
            <p:cNvSpPr txBox="1">
              <a:spLocks noChangeArrowheads="1"/>
            </p:cNvSpPr>
            <p:nvPr/>
          </p:nvSpPr>
          <p:spPr bwMode="auto">
            <a:xfrm>
              <a:off x="1745" y="2159"/>
              <a:ext cx="275" cy="38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lang="es-ES" sz="1800" dirty="0">
                  <a:solidFill>
                    <a:schemeClr val="tx1"/>
                  </a:solidFill>
                  <a:effectLst/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5" name="Text Box 17"/>
            <p:cNvSpPr txBox="1">
              <a:spLocks noChangeArrowheads="1"/>
            </p:cNvSpPr>
            <p:nvPr/>
          </p:nvSpPr>
          <p:spPr bwMode="auto">
            <a:xfrm>
              <a:off x="2589" y="2222"/>
              <a:ext cx="273" cy="38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lang="es-ES" sz="1800" dirty="0">
                  <a:solidFill>
                    <a:schemeClr val="tx1"/>
                  </a:solidFill>
                  <a:effectLst/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6" name="Text Box 18"/>
            <p:cNvSpPr txBox="1">
              <a:spLocks noChangeArrowheads="1"/>
            </p:cNvSpPr>
            <p:nvPr/>
          </p:nvSpPr>
          <p:spPr bwMode="auto">
            <a:xfrm>
              <a:off x="3531" y="2222"/>
              <a:ext cx="275" cy="38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lang="es-ES" sz="1800" dirty="0">
                  <a:solidFill>
                    <a:schemeClr val="tx1"/>
                  </a:solidFill>
                  <a:effectLst/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37" name="Text Box 19"/>
            <p:cNvSpPr txBox="1">
              <a:spLocks noChangeArrowheads="1"/>
            </p:cNvSpPr>
            <p:nvPr/>
          </p:nvSpPr>
          <p:spPr bwMode="auto">
            <a:xfrm>
              <a:off x="4559" y="2206"/>
              <a:ext cx="272" cy="38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lang="es-ES" sz="1800">
                  <a:solidFill>
                    <a:schemeClr val="tx1"/>
                  </a:solidFill>
                  <a:effectLst/>
                  <a:latin typeface="Times New Roman" pitchFamily="18" charset="0"/>
                </a:rPr>
                <a:t>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ángulo 37"/>
              <p:cNvSpPr/>
              <p:nvPr/>
            </p:nvSpPr>
            <p:spPr>
              <a:xfrm>
                <a:off x="5625411" y="1760606"/>
                <a:ext cx="4152125" cy="24702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PE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:r>
                  <a:rPr lang="es-PE" dirty="0">
                    <a:latin typeface="Arial" panose="020B0604020202020204" pitchFamily="34" charset="0"/>
                    <a:cs typeface="Arial" panose="020B0604020202020204" pitchFamily="34" charset="0"/>
                  </a:rPr>
                  <a:t>generalizamos esta expresión tenemos: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P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𝛻</m:t>
                          </m:r>
                        </m:e>
                      </m:acc>
                      <m:r>
                        <a:rPr lang="es-PE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PE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acc>
                        <m:accPr>
                          <m:chr m:val="⃗"/>
                          <m:ctrlP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</m:oMath>
                  </m:oMathPara>
                </a14:m>
                <a:endParaRPr lang="es-PE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s-PE" dirty="0">
                    <a:latin typeface="Arial" panose="020B0604020202020204" pitchFamily="34" charset="0"/>
                    <a:cs typeface="Arial" panose="020B0604020202020204" pitchFamily="34" charset="0"/>
                  </a:rPr>
                  <a:t>Entonces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000" i="1"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s-PE" sz="20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s-P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PE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P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000" i="1"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s-PE" sz="2000" i="1">
                              <a:latin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s-P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PE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PE" sz="2000" dirty="0" smtClean="0"/>
              </a:p>
              <a:p>
                <a:pPr algn="just"/>
                <a:endParaRPr lang="es-PE" sz="2000" dirty="0" smtClean="0"/>
              </a:p>
              <a:p>
                <a:pPr algn="just"/>
                <a:r>
                  <a:rPr lang="es-PE" sz="2000" dirty="0" smtClean="0"/>
                  <a:t>Principio de los vasos comunicantes</a:t>
                </a:r>
                <a:endParaRPr lang="es-PE" sz="2000" dirty="0"/>
              </a:p>
            </p:txBody>
          </p:sp>
        </mc:Choice>
        <mc:Fallback xmlns="">
          <p:sp>
            <p:nvSpPr>
              <p:cNvPr id="38" name="Rectángulo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411" y="1760606"/>
                <a:ext cx="4152125" cy="2470292"/>
              </a:xfrm>
              <a:prstGeom prst="rect">
                <a:avLst/>
              </a:prstGeom>
              <a:blipFill rotWithShape="0">
                <a:blip r:embed="rId8"/>
                <a:stretch>
                  <a:fillRect l="-1615" t="-1481" r="-1175" b="-345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327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81828" y="733293"/>
            <a:ext cx="2479084" cy="844499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</a:t>
            </a:r>
            <a:endParaRPr lang="es-PE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344488" y="1916832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PE" dirty="0"/>
              <a:t>Considérense los siguientes valores para la gravedad específica: Hg  </a:t>
            </a:r>
            <a:r>
              <a:rPr lang="es-PE" dirty="0" smtClean="0"/>
              <a:t>= 13.6</a:t>
            </a:r>
            <a:r>
              <a:rPr lang="es-PE" dirty="0"/>
              <a:t>, aceite SAE </a:t>
            </a:r>
            <a:r>
              <a:rPr lang="es-PE" dirty="0" smtClean="0"/>
              <a:t>30 =  </a:t>
            </a:r>
            <a:r>
              <a:rPr lang="es-PE" dirty="0"/>
              <a:t>0.917, </a:t>
            </a:r>
            <a:r>
              <a:rPr lang="es-PE" dirty="0" err="1"/>
              <a:t>CCl</a:t>
            </a:r>
            <a:r>
              <a:rPr lang="es-PE" dirty="0"/>
              <a:t> 4   </a:t>
            </a:r>
            <a:r>
              <a:rPr lang="es-PE" dirty="0" smtClean="0"/>
              <a:t>= 1.587</a:t>
            </a:r>
            <a:r>
              <a:rPr lang="es-PE" dirty="0"/>
              <a:t>.</a:t>
            </a:r>
          </a:p>
        </p:txBody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94" y="3573016"/>
            <a:ext cx="4505954" cy="2286319"/>
          </a:xfrm>
          <a:prstGeom prst="rect">
            <a:avLst/>
          </a:prstGeom>
        </p:spPr>
      </p:pic>
      <p:sp>
        <p:nvSpPr>
          <p:cNvPr id="39" name="Rectángulo 38"/>
          <p:cNvSpPr/>
          <p:nvPr/>
        </p:nvSpPr>
        <p:spPr>
          <a:xfrm>
            <a:off x="5097016" y="1916832"/>
            <a:ext cx="45343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/>
              <a:t>En la </a:t>
            </a:r>
            <a:r>
              <a:rPr lang="es-PE" dirty="0" smtClean="0"/>
              <a:t>figura, </a:t>
            </a:r>
            <a:r>
              <a:rPr lang="es-PE" dirty="0"/>
              <a:t>el manómetro A  indica 148.67 </a:t>
            </a:r>
            <a:r>
              <a:rPr lang="es-PE" dirty="0" err="1"/>
              <a:t>kPa</a:t>
            </a:r>
            <a:r>
              <a:rPr lang="es-PE" dirty="0"/>
              <a:t>. Hallar la lectura del manómetro B  en </a:t>
            </a:r>
            <a:r>
              <a:rPr lang="es-PE" dirty="0" err="1"/>
              <a:t>kPa</a:t>
            </a:r>
            <a:r>
              <a:rPr lang="es-PE" dirty="0"/>
              <a:t> y la altura h  en centímetros.</a:t>
            </a:r>
          </a:p>
        </p:txBody>
      </p:sp>
      <p:pic>
        <p:nvPicPr>
          <p:cNvPr id="41" name="Imagen 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457" y="3179202"/>
            <a:ext cx="4372585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5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712640" y="729560"/>
            <a:ext cx="6696744" cy="609582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FUERZAS SOBRE SUPERFICIES PLANAS</a:t>
            </a:r>
            <a:endParaRPr lang="es-PE" sz="2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/>
              <p:cNvSpPr txBox="1"/>
              <p:nvPr/>
            </p:nvSpPr>
            <p:spPr>
              <a:xfrm>
                <a:off x="344488" y="1654219"/>
                <a:ext cx="5472608" cy="5492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PE" dirty="0" smtClean="0"/>
                  <a:t>Calculemos ahora la fuerza que ejerce un fluido sobre una superficie plana conforme se muestra en la figura: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PE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P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𝑝𝑑𝐴</m:t>
                          </m:r>
                        </m:e>
                      </m:nary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P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𝑔𝑦𝑤𝑑𝑦</m:t>
                          </m:r>
                        </m:e>
                      </m:nary>
                    </m:oMath>
                  </m:oMathPara>
                </a14:m>
                <a:endParaRPr lang="es-PE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P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P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P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𝑔𝑤</m:t>
                      </m:r>
                      <m:sSup>
                        <m:sSupPr>
                          <m:ctrlP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P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P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𝑔𝑤</m:t>
                      </m:r>
                      <m:sSup>
                        <m:sSupPr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PE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P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P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f>
                        <m:f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P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s-PE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PE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PE" sz="2000" b="0" i="1" smtClean="0">
                              <a:latin typeface="Cambria Math" panose="02040503050406030204" pitchFamily="18" charset="0"/>
                            </a:rPr>
                            <m:t>𝑐𝑔</m:t>
                          </m:r>
                        </m:sub>
                      </m:sSub>
                      <m:r>
                        <a:rPr lang="es-PE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s-PE" sz="2000" dirty="0"/>
              </a:p>
              <a:p>
                <a:r>
                  <a:rPr lang="es-PE" dirty="0" smtClean="0"/>
                  <a:t>Centro de presiones: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𝑑𝑀</m:t>
                      </m:r>
                      <m:r>
                        <a:rPr lang="es-P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𝑑𝐹𝑦</m:t>
                      </m:r>
                    </m:oMath>
                  </m:oMathPara>
                </a14:m>
                <a:endParaRPr lang="es-PE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PE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P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𝑔𝑦𝑑</m:t>
                      </m:r>
                      <m:r>
                        <a:rPr lang="es-PE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s-P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i="1">
                          <a:latin typeface="Cambria Math" panose="02040503050406030204" pitchFamily="18" charset="0"/>
                        </a:rPr>
                        <m:t>𝑑𝑀</m:t>
                      </m:r>
                      <m:r>
                        <a:rPr lang="es-P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PE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s-PE" dirty="0" smtClean="0"/>
              </a:p>
              <a:p>
                <a:r>
                  <a:rPr lang="es-PE" dirty="0"/>
                  <a:t>Integrando tenemos: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𝑑𝑀</m:t>
                          </m:r>
                        </m:e>
                      </m:nary>
                      <m:r>
                        <a:rPr lang="es-P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i="1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𝑐𝑝</m:t>
                          </m:r>
                        </m:sub>
                      </m:sSub>
                      <m:r>
                        <a:rPr lang="es-P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P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nary>
                        <m:nary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PE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s-P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s-PE" i="1">
                          <a:latin typeface="Cambria Math" panose="02040503050406030204" pitchFamily="18" charset="0"/>
                        </a:rPr>
                        <m:t>𝑑𝐴</m:t>
                      </m:r>
                    </m:oMath>
                  </m:oMathPara>
                </a14:m>
                <a:endParaRPr lang="es-PE" dirty="0" smtClean="0"/>
              </a:p>
              <a:p>
                <a:endParaRPr lang="es-P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i="1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𝑐𝑝</m:t>
                          </m:r>
                        </m:sub>
                      </m:sSub>
                      <m:r>
                        <a:rPr lang="es-P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P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𝑔𝐼</m:t>
                      </m:r>
                    </m:oMath>
                  </m:oMathPara>
                </a14:m>
                <a:endParaRPr lang="es-PE" dirty="0"/>
              </a:p>
              <a:p>
                <a:endParaRPr lang="es-PE" dirty="0"/>
              </a:p>
              <a:p>
                <a:endParaRPr lang="es-PE" dirty="0"/>
              </a:p>
            </p:txBody>
          </p:sp>
        </mc:Choice>
        <mc:Fallback xmlns=""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1654219"/>
                <a:ext cx="5472608" cy="5492529"/>
              </a:xfrm>
              <a:prstGeom prst="rect">
                <a:avLst/>
              </a:prstGeom>
              <a:blipFill rotWithShape="0">
                <a:blip r:embed="rId2"/>
                <a:stretch>
                  <a:fillRect l="-1003" t="-55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5680141" y="4452589"/>
                <a:ext cx="4248472" cy="2744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PE" dirty="0" smtClean="0"/>
                  <a:t>I: momento de inercia de área completa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𝑐𝑝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𝑔𝐼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𝑐𝑔</m:t>
                              </m:r>
                            </m:sub>
                          </m:sSub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sSub>
                            <m:sSubPr>
                              <m:ctrlP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𝑐𝑔</m:t>
                              </m:r>
                            </m:sub>
                          </m:sSub>
                          <m: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s-PE" dirty="0" smtClean="0"/>
              </a:p>
              <a:p>
                <a:r>
                  <a:rPr lang="es-PE" dirty="0" smtClean="0"/>
                  <a:t>Ahora:  </a:t>
                </a:r>
                <a14:m>
                  <m:oMath xmlns:m="http://schemas.openxmlformats.org/officeDocument/2006/math">
                    <m:r>
                      <a:rPr lang="es-PE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s-PE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P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𝑐𝑔</m:t>
                        </m:r>
                      </m:sub>
                    </m:sSub>
                    <m:r>
                      <a:rPr lang="es-PE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s-P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𝑐𝑔</m:t>
                        </m:r>
                      </m:sub>
                      <m:sup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s-PE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s-PE" dirty="0" smtClean="0"/>
              </a:p>
              <a:p>
                <a:endParaRPr lang="es-PE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𝑐𝑝</m:t>
                          </m:r>
                        </m:sub>
                      </m:sSub>
                      <m:r>
                        <a:rPr lang="es-P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𝑐𝑔</m:t>
                              </m:r>
                            </m:sub>
                          </m:sSub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s-P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𝑐𝑔</m:t>
                              </m:r>
                            </m:sub>
                            <m:sup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m:rPr>
                              <m:nor/>
                            </m:rPr>
                            <a:rPr lang="es-PE" dirty="0"/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𝑐𝑔</m:t>
                              </m:r>
                            </m:sub>
                          </m:sSub>
                          <m: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𝑐𝑔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𝑐𝑔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s-PE" dirty="0"/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𝑐𝑔</m:t>
                              </m:r>
                            </m:sub>
                          </m:sSub>
                          <m:r>
                            <a:rPr lang="es-P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s-PE" dirty="0" smtClean="0"/>
              </a:p>
              <a:p>
                <a:endParaRPr lang="es-PE" dirty="0"/>
              </a:p>
              <a:p>
                <a:endParaRPr lang="es-PE" dirty="0"/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141" y="4452589"/>
                <a:ext cx="4248472" cy="2744790"/>
              </a:xfrm>
              <a:prstGeom prst="rect">
                <a:avLst/>
              </a:prstGeom>
              <a:blipFill rotWithShape="0">
                <a:blip r:embed="rId4"/>
                <a:stretch>
                  <a:fillRect l="-1291" t="-110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176" y="1545520"/>
            <a:ext cx="2344718" cy="290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41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40632" y="909827"/>
            <a:ext cx="2479084" cy="525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</a:t>
            </a:r>
            <a:endParaRPr lang="es-PE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344488" y="1700808"/>
            <a:ext cx="476535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dirty="0"/>
              <a:t>Supóngase que el fluido que se observa en la figura </a:t>
            </a:r>
            <a:r>
              <a:rPr lang="es-PE" dirty="0" smtClean="0"/>
              <a:t> </a:t>
            </a:r>
            <a:r>
              <a:rPr lang="es-PE" dirty="0"/>
              <a:t>es gasolina ( </a:t>
            </a:r>
            <a:r>
              <a:rPr lang="es-PE" dirty="0" err="1"/>
              <a:t>sg</a:t>
            </a:r>
            <a:r>
              <a:rPr lang="es-PE" dirty="0"/>
              <a:t>   0.68). En este caso, el contenedor tiene una profundidad de 12 pies, mientras que la pared tiene 40 pies de largo. Calcular la magnitud de la fuerza resultante sobre la pared y la ubicación del centro de presión.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66" y="4225156"/>
            <a:ext cx="3896269" cy="2324424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5529064" y="1700808"/>
            <a:ext cx="41764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dirty="0"/>
              <a:t>En la cortina vertical de un depósito hidráulico se instaló una compuerta rectangular, como se ilustra en la </a:t>
            </a:r>
            <a:r>
              <a:rPr lang="es-PE" dirty="0" smtClean="0"/>
              <a:t>figura. </a:t>
            </a:r>
            <a:r>
              <a:rPr lang="es-PE" dirty="0"/>
              <a:t>Calcular la magnitud de la fuerza resultante sobre la compuerta y la ubicación del centro de presión, así como la fuerza sobre cada uno de los pestillos mostrados.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4158146"/>
            <a:ext cx="4602435" cy="245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21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1640632" y="1052736"/>
            <a:ext cx="3960440" cy="43204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dirty="0" smtClean="0">
                <a:solidFill>
                  <a:schemeClr val="tx1"/>
                </a:solidFill>
              </a:rPr>
              <a:t>PRINCIPIO DE ARQUÍMEDES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28464" y="1772816"/>
            <a:ext cx="4024392" cy="158417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0" algn="just">
              <a:buClr>
                <a:schemeClr val="tx2"/>
              </a:buClr>
              <a:buFont typeface="Webdings" pitchFamily="18" charset="2"/>
              <a:buNone/>
            </a:pPr>
            <a:r>
              <a:rPr lang="es-PE" sz="1800" dirty="0" smtClean="0">
                <a:solidFill>
                  <a:srgbClr val="14181C"/>
                </a:solidFill>
              </a:rPr>
              <a:t>"Todo cuerpo sumergido en un fluido estático experimenta un empuje vertical hacia arriba igual al peso del fluido que desaloja”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92" y="3468093"/>
            <a:ext cx="4039164" cy="32865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/>
              <p:cNvSpPr txBox="1"/>
              <p:nvPr/>
            </p:nvSpPr>
            <p:spPr>
              <a:xfrm>
                <a:off x="4713685" y="3468093"/>
                <a:ext cx="4896544" cy="3688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PE" dirty="0" smtClean="0"/>
                  <a:t>De la figura tenemos: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PE" b="0" dirty="0" smtClean="0"/>
              </a:p>
              <a:p>
                <a:r>
                  <a:rPr lang="es-PE" dirty="0" smtClean="0"/>
                  <a:t>Ahora el empuje surge como consecuencia de hay un desbalance en la fuerza sobre el cuerpo debido a que la presión aumenta con la profundidad, entonces: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P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PE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PE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s-PE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es-P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s-PE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PE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P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s-PE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s-PE" sz="2000" i="1"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es-P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s-PE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PE" sz="200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s-PE" sz="2000" dirty="0" smtClean="0"/>
              </a:p>
              <a:p>
                <a:endParaRPr lang="es-PE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PE" sz="20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s-PE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s-PE" sz="20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P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P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s-PE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PE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P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s-PE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PE" sz="2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P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s-PE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s-PE" sz="200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s-PE" sz="2000" b="0" i="1" smtClean="0">
                          <a:latin typeface="Cambria Math" panose="02040503050406030204" pitchFamily="18" charset="0"/>
                        </a:rPr>
                        <m:t>h𝐴</m:t>
                      </m:r>
                    </m:oMath>
                  </m:oMathPara>
                </a14:m>
                <a:endParaRPr lang="es-PE" sz="2000" dirty="0" smtClean="0"/>
              </a:p>
              <a:p>
                <a:endParaRPr lang="es-PE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PE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P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s-PE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s-PE" sz="2000" i="1">
                          <a:latin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lang="es-PE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PE" sz="2000" b="0" i="1" smtClean="0">
                              <a:latin typeface="Cambria Math" panose="02040503050406030204" pitchFamily="18" charset="0"/>
                            </a:rPr>
                            <m:t>𝑠𝑢𝑚</m:t>
                          </m:r>
                        </m:sub>
                      </m:sSub>
                    </m:oMath>
                  </m:oMathPara>
                </a14:m>
                <a:endParaRPr lang="es-PE" sz="2000" dirty="0"/>
              </a:p>
              <a:p>
                <a:endParaRPr lang="es-PE" dirty="0"/>
              </a:p>
            </p:txBody>
          </p:sp>
        </mc:Choice>
        <mc:Fallback xmlns="">
          <p:sp>
            <p:nvSpPr>
              <p:cNvPr id="13" name="Cuadro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3685" y="3468093"/>
                <a:ext cx="4896544" cy="3688767"/>
              </a:xfrm>
              <a:prstGeom prst="rect">
                <a:avLst/>
              </a:prstGeom>
              <a:blipFill rotWithShape="0">
                <a:blip r:embed="rId3"/>
                <a:stretch>
                  <a:fillRect l="-996" t="-992" r="-137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n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2589" y="1484784"/>
            <a:ext cx="1943371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8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40632" y="909827"/>
            <a:ext cx="2479084" cy="525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</a:t>
            </a:r>
            <a:endParaRPr lang="es-PE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403674" y="1777289"/>
            <a:ext cx="447731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dirty="0"/>
              <a:t>Una cuña de madera, cuya densidad relativa es de 0.6, es forzada dentro del agua mediante una fuerza de 150 libras. El ancho de la cuña es 2 pies. ¿Cuál es la profundidad del agua? (véase </a:t>
            </a:r>
            <a:r>
              <a:rPr lang="es-PE" dirty="0" smtClean="0"/>
              <a:t>figura).</a:t>
            </a:r>
            <a:endParaRPr lang="es-PE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3597023"/>
            <a:ext cx="2458444" cy="2420328"/>
          </a:xfrm>
          <a:prstGeom prst="rect">
            <a:avLst/>
          </a:prstGeom>
        </p:spPr>
      </p:pic>
      <p:sp>
        <p:nvSpPr>
          <p:cNvPr id="11" name="Rectángulo 10"/>
          <p:cNvSpPr/>
          <p:nvPr/>
        </p:nvSpPr>
        <p:spPr>
          <a:xfrm>
            <a:off x="5169024" y="1777289"/>
            <a:ext cx="443279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dirty="0"/>
              <a:t>Un cubo de material con peso de 400 N se baja a un tanque que contiene una capa de agua encima de una capa de mercurio (véase </a:t>
            </a:r>
            <a:r>
              <a:rPr lang="es-PE" dirty="0" smtClean="0"/>
              <a:t>figura). </a:t>
            </a:r>
            <a:r>
              <a:rPr lang="es-PE" dirty="0"/>
              <a:t>Determinar la posición del bloque cuando se alcanza el equilibrio. 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075" y="3430632"/>
            <a:ext cx="2962688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80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1546412" y="813699"/>
            <a:ext cx="3046548" cy="52706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EJERCICIOS</a:t>
            </a:r>
            <a:endParaRPr lang="es-PE" sz="2400" b="1" dirty="0">
              <a:solidFill>
                <a:schemeClr val="tx1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072" y="2911836"/>
            <a:ext cx="3918124" cy="3766365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5327886" y="1648542"/>
            <a:ext cx="44644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Dos cámaras con  el mismo fluido en su base están separados  por un embolo cuyo peso </a:t>
            </a:r>
            <a:r>
              <a:rPr lang="es-PE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esde</a:t>
            </a:r>
            <a:r>
              <a:rPr lang="es-PE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25,0 N como se muestra en la figura. Calcule las presiones manométricas en las cámaras  A y B </a:t>
            </a:r>
            <a:endParaRPr lang="es-P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560512" y="1648542"/>
            <a:ext cx="422959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El flujo de agua desde un recipiente se controla por una compuerta con forma de L y de 5 ft de ancho, articulada en el punto A, como se muestra en la figura 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 se desea que la compuerta se abra cuando la altura del agua sea de 12 ft, determine la masa del peso necesario W</a:t>
            </a:r>
            <a:r>
              <a:rPr kumimoji="0" lang="es-PE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11" name="Group 3360"/>
          <p:cNvGrpSpPr>
            <a:grpSpLocks/>
          </p:cNvGrpSpPr>
          <p:nvPr/>
        </p:nvGrpSpPr>
        <p:grpSpPr bwMode="auto">
          <a:xfrm>
            <a:off x="1290879" y="3628792"/>
            <a:ext cx="3080914" cy="2896552"/>
            <a:chOff x="2601" y="9956"/>
            <a:chExt cx="2995" cy="2285"/>
          </a:xfrm>
        </p:grpSpPr>
        <p:sp>
          <p:nvSpPr>
            <p:cNvPr id="13" name="Freeform 3361"/>
            <p:cNvSpPr>
              <a:spLocks/>
            </p:cNvSpPr>
            <p:nvPr/>
          </p:nvSpPr>
          <p:spPr bwMode="auto">
            <a:xfrm>
              <a:off x="3839" y="10678"/>
              <a:ext cx="781" cy="1400"/>
            </a:xfrm>
            <a:custGeom>
              <a:avLst/>
              <a:gdLst>
                <a:gd name="T0" fmla="*/ 1080 w 1080"/>
                <a:gd name="T1" fmla="*/ 0 h 1800"/>
                <a:gd name="T2" fmla="*/ 0 w 1080"/>
                <a:gd name="T3" fmla="*/ 0 h 1800"/>
                <a:gd name="T4" fmla="*/ 0 w 1080"/>
                <a:gd name="T5" fmla="*/ 1800 h 1800"/>
                <a:gd name="T6" fmla="*/ 180 w 1080"/>
                <a:gd name="T7" fmla="*/ 1800 h 1800"/>
                <a:gd name="T8" fmla="*/ 180 w 1080"/>
                <a:gd name="T9" fmla="*/ 180 h 1800"/>
                <a:gd name="T10" fmla="*/ 1080 w 1080"/>
                <a:gd name="T11" fmla="*/ 180 h 1800"/>
                <a:gd name="T12" fmla="*/ 1080 w 1080"/>
                <a:gd name="T13" fmla="*/ 0 h 1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0" h="1800">
                  <a:moveTo>
                    <a:pt x="1080" y="0"/>
                  </a:moveTo>
                  <a:lnTo>
                    <a:pt x="0" y="0"/>
                  </a:lnTo>
                  <a:lnTo>
                    <a:pt x="0" y="1800"/>
                  </a:lnTo>
                  <a:lnTo>
                    <a:pt x="180" y="1800"/>
                  </a:lnTo>
                  <a:lnTo>
                    <a:pt x="180" y="180"/>
                  </a:lnTo>
                  <a:lnTo>
                    <a:pt x="1080" y="180"/>
                  </a:lnTo>
                  <a:lnTo>
                    <a:pt x="1080" y="0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PE"/>
            </a:p>
          </p:txBody>
        </p:sp>
        <p:grpSp>
          <p:nvGrpSpPr>
            <p:cNvPr id="14" name="Group 3362"/>
            <p:cNvGrpSpPr>
              <a:grpSpLocks/>
            </p:cNvGrpSpPr>
            <p:nvPr/>
          </p:nvGrpSpPr>
          <p:grpSpPr bwMode="auto">
            <a:xfrm rot="7981894">
              <a:off x="3642" y="10631"/>
              <a:ext cx="452" cy="186"/>
              <a:chOff x="3573" y="6277"/>
              <a:chExt cx="1800" cy="720"/>
            </a:xfrm>
          </p:grpSpPr>
          <p:grpSp>
            <p:nvGrpSpPr>
              <p:cNvPr id="37" name="Group 3363"/>
              <p:cNvGrpSpPr>
                <a:grpSpLocks/>
              </p:cNvGrpSpPr>
              <p:nvPr/>
            </p:nvGrpSpPr>
            <p:grpSpPr bwMode="auto">
              <a:xfrm>
                <a:off x="3573" y="6277"/>
                <a:ext cx="1800" cy="720"/>
                <a:chOff x="3573" y="6277"/>
                <a:chExt cx="1620" cy="540"/>
              </a:xfrm>
            </p:grpSpPr>
            <p:sp>
              <p:nvSpPr>
                <p:cNvPr id="39" name="Freeform 3364"/>
                <p:cNvSpPr>
                  <a:spLocks/>
                </p:cNvSpPr>
                <p:nvPr/>
              </p:nvSpPr>
              <p:spPr bwMode="auto">
                <a:xfrm>
                  <a:off x="3933" y="6277"/>
                  <a:ext cx="900" cy="540"/>
                </a:xfrm>
                <a:custGeom>
                  <a:avLst/>
                  <a:gdLst>
                    <a:gd name="T0" fmla="*/ 900 w 900"/>
                    <a:gd name="T1" fmla="*/ 540 h 540"/>
                    <a:gd name="T2" fmla="*/ 720 w 900"/>
                    <a:gd name="T3" fmla="*/ 0 h 540"/>
                    <a:gd name="T4" fmla="*/ 180 w 900"/>
                    <a:gd name="T5" fmla="*/ 0 h 540"/>
                    <a:gd name="T6" fmla="*/ 0 w 900"/>
                    <a:gd name="T7" fmla="*/ 540 h 5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00" h="540">
                      <a:moveTo>
                        <a:pt x="900" y="540"/>
                      </a:moveTo>
                      <a:lnTo>
                        <a:pt x="720" y="0"/>
                      </a:lnTo>
                      <a:lnTo>
                        <a:pt x="180" y="0"/>
                      </a:lnTo>
                      <a:lnTo>
                        <a:pt x="0" y="54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s-PE"/>
                </a:p>
              </p:txBody>
            </p:sp>
            <p:cxnSp>
              <p:nvCxnSpPr>
                <p:cNvPr id="40" name="Line 3365"/>
                <p:cNvCxnSpPr>
                  <a:cxnSpLocks noChangeShapeType="1"/>
                </p:cNvCxnSpPr>
                <p:nvPr/>
              </p:nvCxnSpPr>
              <p:spPr bwMode="auto">
                <a:xfrm>
                  <a:off x="3573" y="6817"/>
                  <a:ext cx="16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38" name="Oval 3366"/>
              <p:cNvSpPr>
                <a:spLocks noChangeArrowheads="1"/>
              </p:cNvSpPr>
              <p:nvPr/>
            </p:nvSpPr>
            <p:spPr bwMode="auto">
              <a:xfrm>
                <a:off x="4383" y="6352"/>
                <a:ext cx="180" cy="18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PE"/>
              </a:p>
            </p:txBody>
          </p:sp>
        </p:grpSp>
        <p:sp>
          <p:nvSpPr>
            <p:cNvPr id="15" name="Rectangle 3367" descr="Vertical oscura"/>
            <p:cNvSpPr>
              <a:spLocks noChangeArrowheads="1"/>
            </p:cNvSpPr>
            <p:nvPr/>
          </p:nvSpPr>
          <p:spPr bwMode="auto">
            <a:xfrm rot="7981894">
              <a:off x="3536" y="10579"/>
              <a:ext cx="452" cy="93"/>
            </a:xfrm>
            <a:prstGeom prst="rect">
              <a:avLst/>
            </a:prstGeom>
            <a:pattFill prst="dkVert">
              <a:fgClr>
                <a:srgbClr val="00000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PE"/>
            </a:p>
          </p:txBody>
        </p:sp>
        <p:sp>
          <p:nvSpPr>
            <p:cNvPr id="16" name="Rectangle 3368"/>
            <p:cNvSpPr>
              <a:spLocks noChangeArrowheads="1"/>
            </p:cNvSpPr>
            <p:nvPr/>
          </p:nvSpPr>
          <p:spPr bwMode="auto">
            <a:xfrm>
              <a:off x="4272" y="10261"/>
              <a:ext cx="335" cy="419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PE"/>
            </a:p>
          </p:txBody>
        </p:sp>
        <p:sp>
          <p:nvSpPr>
            <p:cNvPr id="17" name="Text Box 3369"/>
            <p:cNvSpPr txBox="1">
              <a:spLocks noChangeArrowheads="1"/>
            </p:cNvSpPr>
            <p:nvPr/>
          </p:nvSpPr>
          <p:spPr bwMode="auto">
            <a:xfrm>
              <a:off x="4221" y="10261"/>
              <a:ext cx="335" cy="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800"/>
                </a:lnSpc>
                <a:spcBef>
                  <a:spcPts val="480"/>
                </a:spcBef>
                <a:spcAft>
                  <a:spcPts val="0"/>
                </a:spcAft>
              </a:pPr>
              <a:r>
                <a:rPr lang="es-ES" sz="1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W</a:t>
              </a:r>
              <a:endParaRPr lang="es-PE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8" name="Line 3370"/>
            <p:cNvCxnSpPr>
              <a:cxnSpLocks noChangeShapeType="1"/>
            </p:cNvCxnSpPr>
            <p:nvPr/>
          </p:nvCxnSpPr>
          <p:spPr bwMode="auto">
            <a:xfrm>
              <a:off x="2601" y="12078"/>
              <a:ext cx="23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Rectangle 3371" descr="Diagonal hacia abajo ancha"/>
            <p:cNvSpPr>
              <a:spLocks noChangeArrowheads="1"/>
            </p:cNvSpPr>
            <p:nvPr/>
          </p:nvSpPr>
          <p:spPr bwMode="auto">
            <a:xfrm>
              <a:off x="2601" y="12090"/>
              <a:ext cx="2340" cy="151"/>
            </a:xfrm>
            <a:prstGeom prst="rect">
              <a:avLst/>
            </a:prstGeom>
            <a:pattFill prst="wdDnDiag">
              <a:fgClr>
                <a:srgbClr val="00000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PE"/>
            </a:p>
          </p:txBody>
        </p:sp>
        <p:cxnSp>
          <p:nvCxnSpPr>
            <p:cNvPr id="20" name="Line 3372"/>
            <p:cNvCxnSpPr>
              <a:cxnSpLocks noChangeShapeType="1"/>
            </p:cNvCxnSpPr>
            <p:nvPr/>
          </p:nvCxnSpPr>
          <p:spPr bwMode="auto">
            <a:xfrm flipH="1">
              <a:off x="2601" y="11100"/>
              <a:ext cx="12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Rectangle 3373"/>
            <p:cNvSpPr>
              <a:spLocks noChangeArrowheads="1"/>
            </p:cNvSpPr>
            <p:nvPr/>
          </p:nvSpPr>
          <p:spPr bwMode="auto">
            <a:xfrm>
              <a:off x="3715" y="11939"/>
              <a:ext cx="112" cy="139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PE"/>
            </a:p>
          </p:txBody>
        </p:sp>
        <p:sp>
          <p:nvSpPr>
            <p:cNvPr id="22" name="Text Box 3374"/>
            <p:cNvSpPr txBox="1">
              <a:spLocks noChangeArrowheads="1"/>
            </p:cNvSpPr>
            <p:nvPr/>
          </p:nvSpPr>
          <p:spPr bwMode="auto">
            <a:xfrm>
              <a:off x="4516" y="11338"/>
              <a:ext cx="1080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800"/>
                </a:lnSpc>
                <a:spcBef>
                  <a:spcPts val="480"/>
                </a:spcBef>
                <a:spcAft>
                  <a:spcPts val="0"/>
                </a:spcAft>
              </a:pPr>
              <a:r>
                <a:rPr lang="es-ES" sz="1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15 pies</a:t>
              </a:r>
              <a:endPara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3" name="Line 3375"/>
            <p:cNvCxnSpPr>
              <a:cxnSpLocks noChangeShapeType="1"/>
            </p:cNvCxnSpPr>
            <p:nvPr/>
          </p:nvCxnSpPr>
          <p:spPr bwMode="auto">
            <a:xfrm flipV="1">
              <a:off x="4941" y="10852"/>
              <a:ext cx="0" cy="4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Line 3376"/>
            <p:cNvCxnSpPr>
              <a:cxnSpLocks noChangeShapeType="1"/>
            </p:cNvCxnSpPr>
            <p:nvPr/>
          </p:nvCxnSpPr>
          <p:spPr bwMode="auto">
            <a:xfrm flipV="1">
              <a:off x="4941" y="11581"/>
              <a:ext cx="0" cy="4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Line 3377"/>
            <p:cNvCxnSpPr>
              <a:cxnSpLocks noChangeShapeType="1"/>
            </p:cNvCxnSpPr>
            <p:nvPr/>
          </p:nvCxnSpPr>
          <p:spPr bwMode="auto">
            <a:xfrm>
              <a:off x="4761" y="10866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Text Box 3378"/>
            <p:cNvSpPr txBox="1">
              <a:spLocks noChangeArrowheads="1"/>
            </p:cNvSpPr>
            <p:nvPr/>
          </p:nvSpPr>
          <p:spPr bwMode="auto">
            <a:xfrm>
              <a:off x="3033" y="11468"/>
              <a:ext cx="108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800"/>
                </a:lnSpc>
                <a:spcBef>
                  <a:spcPts val="480"/>
                </a:spcBef>
                <a:spcAft>
                  <a:spcPts val="0"/>
                </a:spcAft>
              </a:pPr>
              <a:r>
                <a:rPr lang="es-ES" sz="1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12 pies</a:t>
              </a:r>
              <a:endPara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7" name="Line 3379"/>
            <p:cNvCxnSpPr>
              <a:cxnSpLocks noChangeShapeType="1"/>
            </p:cNvCxnSpPr>
            <p:nvPr/>
          </p:nvCxnSpPr>
          <p:spPr bwMode="auto">
            <a:xfrm flipV="1">
              <a:off x="3321" y="11086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Line 3380"/>
            <p:cNvCxnSpPr>
              <a:cxnSpLocks noChangeShapeType="1"/>
            </p:cNvCxnSpPr>
            <p:nvPr/>
          </p:nvCxnSpPr>
          <p:spPr bwMode="auto">
            <a:xfrm flipV="1">
              <a:off x="3321" y="11731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" name="Text Box 3381"/>
            <p:cNvSpPr txBox="1">
              <a:spLocks noChangeArrowheads="1"/>
            </p:cNvSpPr>
            <p:nvPr/>
          </p:nvSpPr>
          <p:spPr bwMode="auto">
            <a:xfrm>
              <a:off x="3868" y="9956"/>
              <a:ext cx="9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800"/>
                </a:lnSpc>
                <a:spcBef>
                  <a:spcPts val="480"/>
                </a:spcBef>
                <a:spcAft>
                  <a:spcPts val="0"/>
                </a:spcAft>
              </a:pPr>
              <a:r>
                <a:rPr lang="es-ES" sz="1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5 pies</a:t>
              </a:r>
              <a:endParaRPr lang="es-PE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0" name="Line 3382"/>
            <p:cNvCxnSpPr>
              <a:cxnSpLocks noChangeShapeType="1"/>
            </p:cNvCxnSpPr>
            <p:nvPr/>
          </p:nvCxnSpPr>
          <p:spPr bwMode="auto">
            <a:xfrm>
              <a:off x="4401" y="10021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Line 3383"/>
            <p:cNvCxnSpPr>
              <a:cxnSpLocks noChangeShapeType="1"/>
            </p:cNvCxnSpPr>
            <p:nvPr/>
          </p:nvCxnSpPr>
          <p:spPr bwMode="auto">
            <a:xfrm>
              <a:off x="3861" y="10036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Line 3384"/>
            <p:cNvCxnSpPr>
              <a:cxnSpLocks noChangeShapeType="1"/>
            </p:cNvCxnSpPr>
            <p:nvPr/>
          </p:nvCxnSpPr>
          <p:spPr bwMode="auto">
            <a:xfrm>
              <a:off x="3501" y="10125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Line 3385"/>
            <p:cNvCxnSpPr>
              <a:cxnSpLocks noChangeShapeType="1"/>
            </p:cNvCxnSpPr>
            <p:nvPr/>
          </p:nvCxnSpPr>
          <p:spPr bwMode="auto">
            <a:xfrm>
              <a:off x="4401" y="10126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" name="AutoShape 3386"/>
            <p:cNvSpPr>
              <a:spLocks noChangeArrowheads="1"/>
            </p:cNvSpPr>
            <p:nvPr/>
          </p:nvSpPr>
          <p:spPr bwMode="auto">
            <a:xfrm flipV="1">
              <a:off x="2781" y="10917"/>
              <a:ext cx="180" cy="18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s-PE"/>
            </a:p>
          </p:txBody>
        </p:sp>
        <p:sp>
          <p:nvSpPr>
            <p:cNvPr id="35" name="Text Box 3387"/>
            <p:cNvSpPr txBox="1">
              <a:spLocks noChangeArrowheads="1"/>
            </p:cNvSpPr>
            <p:nvPr/>
          </p:nvSpPr>
          <p:spPr bwMode="auto">
            <a:xfrm>
              <a:off x="3531" y="10696"/>
              <a:ext cx="54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ts val="1800"/>
                </a:lnSpc>
                <a:spcBef>
                  <a:spcPts val="480"/>
                </a:spcBef>
                <a:spcAft>
                  <a:spcPts val="0"/>
                </a:spcAft>
              </a:pPr>
              <a:r>
                <a:rPr lang="es-ES" sz="1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</a:t>
              </a:r>
              <a:endParaRPr lang="es-PE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075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4730540" y="1567424"/>
            <a:ext cx="4896544" cy="481390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presión es una magnitud escalar que se considera energía por unidad de volumen.</a:t>
            </a:r>
          </a:p>
          <a:p>
            <a:pPr algn="just"/>
            <a:r>
              <a:rPr lang="es-MX" sz="2000" dirty="0" smtClean="0">
                <a:solidFill>
                  <a:schemeClr val="tx1"/>
                </a:solidFill>
              </a:rPr>
              <a:t>Los líquidos son fluidos incompresibles cuya densidad se considera constante.</a:t>
            </a:r>
          </a:p>
          <a:p>
            <a:pPr algn="just">
              <a:spcAft>
                <a:spcPts val="1200"/>
              </a:spcAft>
            </a:pPr>
            <a:r>
              <a:rPr lang="es-PE" sz="2000" dirty="0" smtClean="0">
                <a:solidFill>
                  <a:schemeClr val="tx1"/>
                </a:solidFill>
              </a:rPr>
              <a:t>Los líquidos o cuerpos flotan sobre otro fluido si su densidad promedio es menor que la densidad del fluido que los contiene.</a:t>
            </a:r>
          </a:p>
          <a:p>
            <a:pPr algn="just">
              <a:spcAft>
                <a:spcPts val="1200"/>
              </a:spcAft>
            </a:pPr>
            <a:r>
              <a:rPr lang="es-PE" sz="2000" dirty="0" smtClean="0">
                <a:solidFill>
                  <a:schemeClr val="tx1"/>
                </a:solidFill>
              </a:rPr>
              <a:t>Los fluidos ejercen una fuerza de presión sobre las superficies y el punto de aplicación de esa fuerza se conoce cono centro de presión.</a:t>
            </a:r>
          </a:p>
        </p:txBody>
      </p:sp>
      <p:sp>
        <p:nvSpPr>
          <p:cNvPr id="14" name="Rectángulo redondeado 13"/>
          <p:cNvSpPr/>
          <p:nvPr/>
        </p:nvSpPr>
        <p:spPr>
          <a:xfrm>
            <a:off x="1640633" y="980728"/>
            <a:ext cx="3096343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CONCLUSIONES</a:t>
            </a:r>
            <a:endParaRPr lang="es-PE" sz="2400" b="1" dirty="0">
              <a:solidFill>
                <a:schemeClr val="tx1"/>
              </a:solidFill>
            </a:endParaRP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28" y="1988840"/>
            <a:ext cx="3739432" cy="391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2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40633" y="980728"/>
            <a:ext cx="3312367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METACOGNICIÓN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8" name="Bocadillo: rectángulo con esquinas redondeadas 1">
            <a:extLst>
              <a:ext uri="{FF2B5EF4-FFF2-40B4-BE49-F238E27FC236}">
                <a16:creationId xmlns:a16="http://schemas.microsoft.com/office/drawing/2014/main" xmlns="" id="{82BC446B-F639-467D-A250-25259F9EF4B8}"/>
              </a:ext>
            </a:extLst>
          </p:cNvPr>
          <p:cNvSpPr/>
          <p:nvPr/>
        </p:nvSpPr>
        <p:spPr>
          <a:xfrm>
            <a:off x="992560" y="2420888"/>
            <a:ext cx="7488832" cy="2664296"/>
          </a:xfrm>
          <a:prstGeom prst="wedgeRoundRectCallout">
            <a:avLst>
              <a:gd name="adj1" fmla="val -17962"/>
              <a:gd name="adj2" fmla="val 48532"/>
              <a:gd name="adj3" fmla="val 16667"/>
            </a:avLst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 smtClean="0">
                <a:solidFill>
                  <a:schemeClr val="tx1"/>
                </a:solidFill>
                <a:cs typeface="Arial" pitchFamily="34" charset="0"/>
              </a:rPr>
              <a:t>¿Por qué un fluido ejerce una fuerza sobre las superficies sumergidas?</a:t>
            </a:r>
            <a:endParaRPr lang="es-PE" sz="2400" dirty="0">
              <a:solidFill>
                <a:schemeClr val="tx1"/>
              </a:solidFill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 smtClean="0">
                <a:solidFill>
                  <a:schemeClr val="tx1"/>
                </a:solidFill>
                <a:cs typeface="Arial" pitchFamily="34" charset="0"/>
              </a:rPr>
              <a:t>¿Cómo funciona un submarino?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 smtClean="0">
                <a:solidFill>
                  <a:schemeClr val="tx1"/>
                </a:solidFill>
                <a:cs typeface="Arial" pitchFamily="34" charset="0"/>
              </a:rPr>
              <a:t>¿El principio de Arquímedes funciona igual para fluidos acelerados?</a:t>
            </a:r>
            <a:endParaRPr lang="es-PE" sz="2400" dirty="0">
              <a:solidFill>
                <a:schemeClr val="tx1"/>
              </a:solidFill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 smtClean="0">
                <a:solidFill>
                  <a:schemeClr val="tx1"/>
                </a:solidFill>
                <a:cs typeface="Arial" pitchFamily="34" charset="0"/>
              </a:rPr>
              <a:t>¿En qué campos de la Ingeniera podríamos apreciar la aplicación de la hidrostática?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58463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40633" y="980728"/>
            <a:ext cx="2448271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800" b="1" dirty="0" smtClean="0">
                <a:solidFill>
                  <a:schemeClr val="tx1"/>
                </a:solidFill>
              </a:rPr>
              <a:t>REFERENCIAS</a:t>
            </a:r>
            <a:endParaRPr lang="es-PE" sz="2800" b="1" dirty="0">
              <a:solidFill>
                <a:schemeClr val="tx1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272480" y="1700808"/>
            <a:ext cx="9561512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u="sng" dirty="0" smtClean="0"/>
              <a:t>Bibliografía </a:t>
            </a:r>
            <a:r>
              <a:rPr lang="es-ES" sz="1600" b="1" u="sng" dirty="0"/>
              <a:t>Básica</a:t>
            </a:r>
            <a:r>
              <a:rPr lang="es-ES" sz="1600" b="1" u="sng" dirty="0" smtClean="0"/>
              <a:t>:</a:t>
            </a:r>
            <a:r>
              <a:rPr lang="es-ES" sz="1600" dirty="0"/>
              <a:t> </a:t>
            </a:r>
            <a:endParaRPr lang="es-PE" sz="1600" dirty="0"/>
          </a:p>
          <a:p>
            <a:r>
              <a:rPr lang="es-ES" sz="1600" dirty="0"/>
              <a:t>1. </a:t>
            </a:r>
            <a:r>
              <a:rPr lang="es-ES" sz="1600" b="1" dirty="0" err="1"/>
              <a:t>Serway</a:t>
            </a:r>
            <a:r>
              <a:rPr lang="es-ES" sz="1600" b="1" dirty="0"/>
              <a:t>, R. A. y </a:t>
            </a:r>
            <a:r>
              <a:rPr lang="es-ES" sz="1600" b="1" dirty="0" err="1"/>
              <a:t>Jewett</a:t>
            </a:r>
            <a:r>
              <a:rPr lang="es-ES" sz="1600" b="1" dirty="0"/>
              <a:t>, J. W.</a:t>
            </a:r>
            <a:r>
              <a:rPr lang="es-ES" sz="1600" dirty="0"/>
              <a:t> </a:t>
            </a:r>
            <a:r>
              <a:rPr lang="es-ES" sz="1600" i="1" dirty="0" err="1"/>
              <a:t>Fisica</a:t>
            </a:r>
            <a:r>
              <a:rPr lang="es-ES" sz="1600" i="1" dirty="0"/>
              <a:t> para Ciencias e </a:t>
            </a:r>
            <a:r>
              <a:rPr lang="es-ES" sz="1600" i="1" dirty="0" err="1"/>
              <a:t>Ingeneiría</a:t>
            </a:r>
            <a:r>
              <a:rPr lang="es-ES" sz="1600" i="1" dirty="0"/>
              <a:t>. </a:t>
            </a:r>
            <a:r>
              <a:rPr lang="es-ES" sz="1600" dirty="0"/>
              <a:t>México : </a:t>
            </a:r>
            <a:r>
              <a:rPr lang="es-ES" sz="1600" dirty="0" err="1"/>
              <a:t>Cengage</a:t>
            </a:r>
            <a:r>
              <a:rPr lang="es-ES" sz="1600" dirty="0"/>
              <a:t> </a:t>
            </a:r>
            <a:r>
              <a:rPr lang="es-ES" sz="1600" dirty="0" err="1"/>
              <a:t>Learning</a:t>
            </a:r>
            <a:r>
              <a:rPr lang="es-ES" sz="1600" dirty="0"/>
              <a:t>, 2015. Vol. I.</a:t>
            </a:r>
            <a:endParaRPr lang="es-PE" sz="1600" dirty="0"/>
          </a:p>
          <a:p>
            <a:r>
              <a:rPr lang="es-ES" sz="1600" dirty="0"/>
              <a:t>2. </a:t>
            </a:r>
            <a:r>
              <a:rPr lang="es-ES" sz="1600" b="1" dirty="0" err="1"/>
              <a:t>Resnick</a:t>
            </a:r>
            <a:r>
              <a:rPr lang="es-ES" sz="1600" b="1" dirty="0"/>
              <a:t>, R., </a:t>
            </a:r>
            <a:r>
              <a:rPr lang="es-ES" sz="1600" b="1" dirty="0" err="1"/>
              <a:t>Halliday</a:t>
            </a:r>
            <a:r>
              <a:rPr lang="es-ES" sz="1600" b="1" dirty="0"/>
              <a:t>, D. y </a:t>
            </a:r>
            <a:r>
              <a:rPr lang="es-ES" sz="1600" b="1" dirty="0" err="1"/>
              <a:t>Krane</a:t>
            </a:r>
            <a:r>
              <a:rPr lang="es-ES" sz="1600" b="1" dirty="0"/>
              <a:t>, K. S.</a:t>
            </a:r>
            <a:r>
              <a:rPr lang="es-ES" sz="1600" dirty="0"/>
              <a:t> </a:t>
            </a:r>
            <a:r>
              <a:rPr lang="es-ES" sz="1600" i="1" dirty="0"/>
              <a:t>Física. </a:t>
            </a:r>
            <a:r>
              <a:rPr lang="es-ES" sz="1600" dirty="0"/>
              <a:t>Quinta. México : </a:t>
            </a:r>
            <a:r>
              <a:rPr lang="es-ES" sz="1600" dirty="0" err="1"/>
              <a:t>Compañia</a:t>
            </a:r>
            <a:r>
              <a:rPr lang="es-ES" sz="1600" dirty="0"/>
              <a:t> editorial Continental, 2014. Vol. I.</a:t>
            </a:r>
            <a:endParaRPr lang="es-PE" sz="1600" dirty="0"/>
          </a:p>
          <a:p>
            <a:r>
              <a:rPr lang="es-ES" sz="1600" dirty="0"/>
              <a:t>3. </a:t>
            </a:r>
            <a:r>
              <a:rPr lang="es-ES" sz="1600" b="1" dirty="0" err="1"/>
              <a:t>Tipler</a:t>
            </a:r>
            <a:r>
              <a:rPr lang="es-ES" sz="1600" b="1" dirty="0"/>
              <a:t>, P. A. y Mosca, G.</a:t>
            </a:r>
            <a:r>
              <a:rPr lang="es-ES" sz="1600" dirty="0"/>
              <a:t> </a:t>
            </a:r>
            <a:r>
              <a:rPr lang="es-ES" sz="1600" i="1" dirty="0"/>
              <a:t>Física para la Ciencia y la Tecnología. </a:t>
            </a:r>
            <a:r>
              <a:rPr lang="es-ES" sz="1600" dirty="0"/>
              <a:t>Sexta. Barcelona : </a:t>
            </a:r>
            <a:r>
              <a:rPr lang="es-ES" sz="1600" dirty="0" err="1"/>
              <a:t>Reverté</a:t>
            </a:r>
            <a:r>
              <a:rPr lang="es-ES" sz="1600" dirty="0"/>
              <a:t> S.A., 2010. Vol. I.</a:t>
            </a:r>
            <a:endParaRPr lang="es-PE" sz="1600" dirty="0"/>
          </a:p>
          <a:p>
            <a:r>
              <a:rPr lang="es-ES" sz="1600" dirty="0"/>
              <a:t>4. </a:t>
            </a:r>
            <a:r>
              <a:rPr lang="es-ES" sz="1600" b="1" dirty="0" err="1"/>
              <a:t>Zemansky</a:t>
            </a:r>
            <a:r>
              <a:rPr lang="es-ES" sz="1600" b="1" dirty="0"/>
              <a:t>, M. W. y </a:t>
            </a:r>
            <a:r>
              <a:rPr lang="es-ES" sz="1600" b="1" dirty="0" err="1"/>
              <a:t>Freedman</a:t>
            </a:r>
            <a:r>
              <a:rPr lang="es-ES" sz="1600" b="1" dirty="0"/>
              <a:t>, R.A.</a:t>
            </a:r>
            <a:r>
              <a:rPr lang="es-ES" sz="1600" dirty="0"/>
              <a:t> </a:t>
            </a:r>
            <a:r>
              <a:rPr lang="es-ES" sz="1600" i="1" dirty="0"/>
              <a:t>Física Universitaria. </a:t>
            </a:r>
            <a:r>
              <a:rPr lang="es-ES" sz="1600" dirty="0"/>
              <a:t>México : Pearson </a:t>
            </a:r>
            <a:r>
              <a:rPr lang="es-ES" sz="1600" dirty="0" err="1"/>
              <a:t>Education</a:t>
            </a:r>
            <a:r>
              <a:rPr lang="es-ES" sz="1600" dirty="0"/>
              <a:t>, 2009. Vol. I.</a:t>
            </a:r>
            <a:endParaRPr lang="es-PE" sz="1600" dirty="0"/>
          </a:p>
          <a:p>
            <a:r>
              <a:rPr lang="es-ES" sz="1600" dirty="0"/>
              <a:t>5. </a:t>
            </a:r>
            <a:r>
              <a:rPr lang="es-ES" sz="1600" b="1" dirty="0" err="1"/>
              <a:t>Fishbane</a:t>
            </a:r>
            <a:r>
              <a:rPr lang="es-ES" sz="1600" b="1" dirty="0"/>
              <a:t>, P.M., </a:t>
            </a:r>
            <a:r>
              <a:rPr lang="es-ES" sz="1600" b="1" dirty="0" err="1"/>
              <a:t>Gasiorowicz</a:t>
            </a:r>
            <a:r>
              <a:rPr lang="es-ES" sz="1600" b="1" dirty="0"/>
              <a:t>, S. y </a:t>
            </a:r>
            <a:r>
              <a:rPr lang="es-ES" sz="1600" b="1" dirty="0" err="1"/>
              <a:t>Thornton</a:t>
            </a:r>
            <a:r>
              <a:rPr lang="es-ES" sz="1600" b="1" dirty="0"/>
              <a:t>, S.T.</a:t>
            </a:r>
            <a:r>
              <a:rPr lang="es-ES" sz="1600" dirty="0"/>
              <a:t> </a:t>
            </a:r>
            <a:r>
              <a:rPr lang="es-ES" sz="1600" i="1" dirty="0" smtClean="0"/>
              <a:t>Física </a:t>
            </a:r>
            <a:r>
              <a:rPr lang="es-ES" sz="1600" i="1" dirty="0"/>
              <a:t>para Ciencias e </a:t>
            </a:r>
            <a:r>
              <a:rPr lang="es-ES" sz="1600" i="1" dirty="0" err="1"/>
              <a:t>Ingeneiría</a:t>
            </a:r>
            <a:r>
              <a:rPr lang="es-ES" sz="1600" i="1" dirty="0"/>
              <a:t>. </a:t>
            </a:r>
            <a:r>
              <a:rPr lang="es-ES" sz="1600" dirty="0"/>
              <a:t>México : Prentice Hall Hispanoamericana, 1996. Vol. I.</a:t>
            </a:r>
            <a:endParaRPr lang="es-PE" sz="1600" dirty="0"/>
          </a:p>
          <a:p>
            <a:r>
              <a:rPr lang="es-ES" sz="1600" dirty="0"/>
              <a:t>6. </a:t>
            </a:r>
            <a:r>
              <a:rPr lang="es-ES" sz="1600" b="1" dirty="0"/>
              <a:t>Alonso, M. y </a:t>
            </a:r>
            <a:r>
              <a:rPr lang="es-ES" sz="1600" b="1" dirty="0" err="1"/>
              <a:t>Finn</a:t>
            </a:r>
            <a:r>
              <a:rPr lang="es-ES" sz="1600" b="1" dirty="0"/>
              <a:t>, E.J.</a:t>
            </a:r>
            <a:r>
              <a:rPr lang="es-ES" sz="1600" dirty="0"/>
              <a:t> </a:t>
            </a:r>
            <a:r>
              <a:rPr lang="es-ES" sz="1600" i="1" dirty="0"/>
              <a:t>Física: Mecánica. </a:t>
            </a:r>
            <a:r>
              <a:rPr lang="es-ES" sz="1600" dirty="0"/>
              <a:t>México : Fondo Educativo Interamericano S. A., 1971. Vol. I.</a:t>
            </a:r>
            <a:endParaRPr lang="es-PE" sz="1600" dirty="0"/>
          </a:p>
          <a:p>
            <a:r>
              <a:rPr lang="es-ES" sz="1600" b="1" u="sng" dirty="0" smtClean="0"/>
              <a:t>Bibliografía </a:t>
            </a:r>
            <a:r>
              <a:rPr lang="es-ES" sz="1600" b="1" u="sng" dirty="0"/>
              <a:t>Complementaria:</a:t>
            </a:r>
            <a:endParaRPr lang="es-PE" sz="1600" b="1" u="sng" dirty="0"/>
          </a:p>
          <a:p>
            <a:r>
              <a:rPr lang="es-ES" sz="1600" b="1" dirty="0"/>
              <a:t> </a:t>
            </a:r>
            <a:r>
              <a:rPr lang="es-ES" sz="1600" dirty="0" smtClean="0"/>
              <a:t>7</a:t>
            </a:r>
            <a:r>
              <a:rPr lang="es-ES" sz="1600" dirty="0"/>
              <a:t>. </a:t>
            </a:r>
            <a:r>
              <a:rPr lang="es-ES" sz="1600" b="1" dirty="0" err="1"/>
              <a:t>Beer</a:t>
            </a:r>
            <a:r>
              <a:rPr lang="es-ES" sz="1600" b="1" dirty="0"/>
              <a:t>, F. P., y otros.</a:t>
            </a:r>
            <a:r>
              <a:rPr lang="es-ES" sz="1600" dirty="0"/>
              <a:t> </a:t>
            </a:r>
            <a:r>
              <a:rPr lang="es-ES" sz="1600" i="1" dirty="0"/>
              <a:t>Mecánica vectorial para ingenieros</a:t>
            </a:r>
            <a:r>
              <a:rPr lang="es-ES" sz="1600" i="1" dirty="0" smtClean="0"/>
              <a:t>: Dinámica</a:t>
            </a:r>
            <a:r>
              <a:rPr lang="es-ES" sz="1600" i="1" dirty="0"/>
              <a:t>. </a:t>
            </a:r>
            <a:r>
              <a:rPr lang="es-ES" sz="1600" dirty="0"/>
              <a:t>México : Mc Graw Hill, 2010. Vol. Novena.</a:t>
            </a:r>
            <a:endParaRPr lang="es-PE" sz="1600" dirty="0"/>
          </a:p>
          <a:p>
            <a:r>
              <a:rPr lang="es-ES" sz="1600" dirty="0"/>
              <a:t>8. </a:t>
            </a:r>
            <a:r>
              <a:rPr lang="es-ES" sz="1600" b="1" dirty="0" err="1"/>
              <a:t>Beer</a:t>
            </a:r>
            <a:r>
              <a:rPr lang="es-ES" sz="1600" b="1" dirty="0"/>
              <a:t>, F.P., y otros.</a:t>
            </a:r>
            <a:r>
              <a:rPr lang="es-ES" sz="1600" dirty="0"/>
              <a:t> </a:t>
            </a:r>
            <a:r>
              <a:rPr lang="es-ES" sz="1600" i="1" dirty="0"/>
              <a:t>Mecánica Vectorial para Ingenieros: Estática. </a:t>
            </a:r>
            <a:r>
              <a:rPr lang="es-ES" sz="1600" dirty="0"/>
              <a:t>Novena. México : Mc Graw Hill, 2010.</a:t>
            </a:r>
            <a:endParaRPr lang="es-PE" sz="1600" dirty="0"/>
          </a:p>
          <a:p>
            <a:r>
              <a:rPr lang="es-ES" sz="1600" dirty="0"/>
              <a:t>9. </a:t>
            </a:r>
            <a:r>
              <a:rPr lang="es-ES" sz="1600" b="1" dirty="0"/>
              <a:t>Bedford, A. y </a:t>
            </a:r>
            <a:r>
              <a:rPr lang="es-ES" sz="1600" b="1" dirty="0" err="1"/>
              <a:t>Fowler</a:t>
            </a:r>
            <a:r>
              <a:rPr lang="es-ES" sz="1600" b="1" dirty="0"/>
              <a:t>, W.</a:t>
            </a:r>
            <a:r>
              <a:rPr lang="es-ES" sz="1600" dirty="0"/>
              <a:t> </a:t>
            </a:r>
            <a:r>
              <a:rPr lang="es-ES" sz="1600" i="1" dirty="0"/>
              <a:t>Mecánica para Ingeniería: Estática. </a:t>
            </a:r>
            <a:r>
              <a:rPr lang="es-ES" sz="1600" dirty="0"/>
              <a:t>Quinta. México : Pearson Educación, 2008.</a:t>
            </a:r>
            <a:endParaRPr lang="es-PE" sz="1600" dirty="0"/>
          </a:p>
          <a:p>
            <a:r>
              <a:rPr lang="es-ES" sz="1600" dirty="0"/>
              <a:t>10. —. </a:t>
            </a:r>
            <a:r>
              <a:rPr lang="es-ES" sz="1600" i="1" dirty="0"/>
              <a:t>Mecánica para Ingeniería: Dinámica. </a:t>
            </a:r>
            <a:r>
              <a:rPr lang="es-ES" sz="1600" dirty="0"/>
              <a:t>Quinta. México : Pearson Educación, 2008.</a:t>
            </a:r>
            <a:endParaRPr lang="es-PE" sz="1600" dirty="0"/>
          </a:p>
          <a:p>
            <a:r>
              <a:rPr lang="es-ES" sz="1600" dirty="0"/>
              <a:t>11. </a:t>
            </a:r>
            <a:r>
              <a:rPr lang="es-ES" sz="1600" b="1" dirty="0" err="1"/>
              <a:t>Hibbeler</a:t>
            </a:r>
            <a:r>
              <a:rPr lang="es-ES" sz="1600" b="1" dirty="0"/>
              <a:t>, R. C.</a:t>
            </a:r>
            <a:r>
              <a:rPr lang="es-ES" sz="1600" dirty="0"/>
              <a:t> </a:t>
            </a:r>
            <a:r>
              <a:rPr lang="es-ES" sz="1600" i="1" dirty="0"/>
              <a:t>Mecánica Vectorial para Ingenieros: Estática. </a:t>
            </a:r>
            <a:r>
              <a:rPr lang="es-ES" sz="1600" dirty="0"/>
              <a:t>Décima. México : Pearson Educación, 2004.</a:t>
            </a:r>
            <a:endParaRPr lang="es-PE" sz="1600" dirty="0"/>
          </a:p>
          <a:p>
            <a:r>
              <a:rPr lang="es-ES" sz="1600" dirty="0"/>
              <a:t>12. —. </a:t>
            </a:r>
            <a:r>
              <a:rPr lang="es-ES" sz="1600" i="1" dirty="0"/>
              <a:t>Mecánica Vectorial para Ingenieros: Dinámica. </a:t>
            </a:r>
            <a:r>
              <a:rPr lang="es-ES" sz="1600" dirty="0"/>
              <a:t>Décima. México : Pearson Educación, 2004.</a:t>
            </a:r>
            <a:r>
              <a:rPr lang="es-ES" sz="1500" dirty="0">
                <a:ea typeface="Symbol" panose="05050102010706020507" pitchFamily="18" charset="2"/>
                <a:cs typeface="Arial" panose="020B0604020202020204" pitchFamily="34" charset="0"/>
              </a:rPr>
              <a:t> </a:t>
            </a:r>
            <a:endParaRPr lang="es-ES" sz="1500" dirty="0" smtClean="0">
              <a:ea typeface="Symbol" panose="05050102010706020507" pitchFamily="18" charset="2"/>
              <a:cs typeface="Arial" panose="020B0604020202020204" pitchFamily="34" charset="0"/>
            </a:endParaRPr>
          </a:p>
          <a:p>
            <a:r>
              <a:rPr lang="es-ES" sz="1500" b="1" u="sng" dirty="0" smtClean="0">
                <a:ea typeface="Times New Roman" panose="02020603050405020304" pitchFamily="18" charset="0"/>
              </a:rPr>
              <a:t>Fuentes </a:t>
            </a:r>
            <a:r>
              <a:rPr lang="es-ES" sz="1500" b="1" u="sng" dirty="0" err="1" smtClean="0">
                <a:ea typeface="Times New Roman" panose="02020603050405020304" pitchFamily="18" charset="0"/>
              </a:rPr>
              <a:t>hemerográficas</a:t>
            </a:r>
            <a:endParaRPr lang="es-ES" sz="1500" b="1" u="sng" dirty="0">
              <a:ea typeface="Times New Roman" panose="02020603050405020304" pitchFamily="18" charset="0"/>
            </a:endParaRPr>
          </a:p>
          <a:p>
            <a:r>
              <a:rPr lang="es-ES" sz="1500" dirty="0" err="1" smtClean="0">
                <a:ea typeface="Times New Roman" panose="02020603050405020304" pitchFamily="18" charset="0"/>
              </a:rPr>
              <a:t>Physics</a:t>
            </a:r>
            <a:r>
              <a:rPr lang="es-ES" sz="1500" dirty="0" smtClean="0">
                <a:ea typeface="Times New Roman" panose="02020603050405020304" pitchFamily="18" charset="0"/>
              </a:rPr>
              <a:t> </a:t>
            </a:r>
            <a:r>
              <a:rPr lang="es-ES" sz="1500" dirty="0" err="1">
                <a:ea typeface="Times New Roman" panose="02020603050405020304" pitchFamily="18" charset="0"/>
              </a:rPr>
              <a:t>today</a:t>
            </a:r>
            <a:r>
              <a:rPr lang="es-ES" sz="1500" dirty="0">
                <a:ea typeface="Times New Roman" panose="02020603050405020304" pitchFamily="18" charset="0"/>
              </a:rPr>
              <a:t>, 68(11), 38(2015); </a:t>
            </a:r>
            <a:r>
              <a:rPr lang="es-ES" sz="1500" dirty="0" err="1">
                <a:ea typeface="Times New Roman" panose="02020603050405020304" pitchFamily="18" charset="0"/>
              </a:rPr>
              <a:t>doi</a:t>
            </a:r>
            <a:r>
              <a:rPr lang="es-ES" sz="1500" dirty="0">
                <a:ea typeface="Times New Roman" panose="02020603050405020304" pitchFamily="18" charset="0"/>
              </a:rPr>
              <a:t> 10.1063/PT </a:t>
            </a:r>
            <a:r>
              <a:rPr lang="es-ES" sz="1500" dirty="0" smtClean="0">
                <a:ea typeface="Times New Roman" panose="02020603050405020304" pitchFamily="18" charset="0"/>
              </a:rPr>
              <a:t>3.2980.</a:t>
            </a:r>
            <a:endParaRPr lang="es-PE" sz="1500" dirty="0">
              <a:ea typeface="Times New Roman" panose="02020603050405020304" pitchFamily="18" charset="0"/>
            </a:endParaRPr>
          </a:p>
          <a:p>
            <a:r>
              <a:rPr lang="es-ES" sz="1500" b="1" u="sng" dirty="0" err="1" smtClean="0">
                <a:ea typeface="Times New Roman" panose="02020603050405020304" pitchFamily="18" charset="0"/>
              </a:rPr>
              <a:t>Webgrafia</a:t>
            </a:r>
            <a:endParaRPr lang="es-ES" sz="1500" b="1" u="sng" dirty="0">
              <a:ea typeface="Times New Roman" panose="02020603050405020304" pitchFamily="18" charset="0"/>
            </a:endParaRPr>
          </a:p>
          <a:p>
            <a:r>
              <a:rPr lang="es-PE" sz="1500" u="sng" dirty="0" smtClean="0"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</a:t>
            </a:r>
            <a:r>
              <a:rPr lang="es-PE" sz="1500" u="sng" dirty="0"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://</a:t>
            </a:r>
            <a:r>
              <a:rPr lang="es-PE" sz="1500" u="sng" dirty="0" smtClean="0"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www.sc.ehu.es/sbweb/fisica/</a:t>
            </a:r>
            <a:endParaRPr lang="es-PE" sz="1500" u="sng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PE" sz="1500" u="sng" dirty="0" smtClean="0"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</a:t>
            </a:r>
            <a:r>
              <a:rPr lang="es-PE" sz="1500" u="sng" dirty="0"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://www.fisicarecreativa.com/</a:t>
            </a:r>
            <a:endParaRPr lang="es-PE" sz="1500" dirty="0"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00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TR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PATRON</Template>
  <TotalTime>10633</TotalTime>
  <Words>1631</Words>
  <Application>Microsoft Office PowerPoint</Application>
  <PresentationFormat>A4 (210 x 297 mm)</PresentationFormat>
  <Paragraphs>285</Paragraphs>
  <Slides>22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3" baseType="lpstr">
      <vt:lpstr>MS PGothic</vt:lpstr>
      <vt:lpstr>MS PGothic</vt:lpstr>
      <vt:lpstr>Arial</vt:lpstr>
      <vt:lpstr>Calibri</vt:lpstr>
      <vt:lpstr>Cambria Math</vt:lpstr>
      <vt:lpstr>Courier New</vt:lpstr>
      <vt:lpstr>Symbol</vt:lpstr>
      <vt:lpstr>Times New Roman</vt:lpstr>
      <vt:lpstr>Webdings</vt:lpstr>
      <vt:lpstr>PATRON</vt:lpstr>
      <vt:lpstr>Equation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Privada del Norte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Delfin Narciso</dc:creator>
  <cp:lastModifiedBy>Cuenta Microsoft</cp:lastModifiedBy>
  <cp:revision>495</cp:revision>
  <dcterms:created xsi:type="dcterms:W3CDTF">2012-09-19T03:34:19Z</dcterms:created>
  <dcterms:modified xsi:type="dcterms:W3CDTF">2020-11-02T22:25:40Z</dcterms:modified>
</cp:coreProperties>
</file>