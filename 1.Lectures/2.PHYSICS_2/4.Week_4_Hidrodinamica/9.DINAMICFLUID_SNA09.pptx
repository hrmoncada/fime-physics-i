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av" ContentType="audio/wav"/>
  <Default Extension="wdp" ContentType="image/vnd.ms-photo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handoutMasterIdLst>
    <p:handoutMasterId r:id="rId20"/>
  </p:handoutMasterIdLst>
  <p:sldIdLst>
    <p:sldId id="363" r:id="rId2"/>
    <p:sldId id="256" r:id="rId3"/>
    <p:sldId id="365" r:id="rId4"/>
    <p:sldId id="366" r:id="rId5"/>
    <p:sldId id="367" r:id="rId6"/>
    <p:sldId id="389" r:id="rId7"/>
    <p:sldId id="395" r:id="rId8"/>
    <p:sldId id="401" r:id="rId9"/>
    <p:sldId id="400" r:id="rId10"/>
    <p:sldId id="406" r:id="rId11"/>
    <p:sldId id="371" r:id="rId12"/>
    <p:sldId id="384" r:id="rId13"/>
    <p:sldId id="387" r:id="rId14"/>
    <p:sldId id="381" r:id="rId15"/>
    <p:sldId id="376" r:id="rId16"/>
    <p:sldId id="382" r:id="rId17"/>
    <p:sldId id="378" r:id="rId18"/>
  </p:sldIdLst>
  <p:sldSz cx="9906000" cy="6858000" type="A4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DD1611"/>
    <a:srgbClr val="A51313"/>
    <a:srgbClr val="B71515"/>
    <a:srgbClr val="D51919"/>
    <a:srgbClr val="B6120E"/>
    <a:srgbClr val="930E0B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36" autoAdjust="0"/>
    <p:restoredTop sz="94660"/>
  </p:normalViewPr>
  <p:slideViewPr>
    <p:cSldViewPr>
      <p:cViewPr varScale="1">
        <p:scale>
          <a:sx n="84" d="100"/>
          <a:sy n="84" d="100"/>
        </p:scale>
        <p:origin x="1464" y="60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219AD7-51CE-483B-A812-AE489C31F232}" type="datetimeFigureOut">
              <a:rPr lang="es-MX" smtClean="0"/>
              <a:t>05/11/2019</a:t>
            </a:fld>
            <a:endParaRPr lang="es-MX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476D70-7FD1-490F-953D-DAC7EFCA246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452353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5223AA-9B34-4DCC-A6E4-0C980A794CD5}" type="datetimeFigureOut">
              <a:rPr lang="es-MX" smtClean="0"/>
              <a:t>05/11/2019</a:t>
            </a:fld>
            <a:endParaRPr lang="es-MX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D07FDC-64A3-4F2D-9092-2E95035D7FC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469930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7"/>
          <p:cNvSpPr/>
          <p:nvPr/>
        </p:nvSpPr>
        <p:spPr>
          <a:xfrm>
            <a:off x="1" y="1835150"/>
            <a:ext cx="259689" cy="1430564"/>
          </a:xfrm>
          <a:prstGeom prst="rect">
            <a:avLst/>
          </a:prstGeom>
          <a:solidFill>
            <a:srgbClr val="EFA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34479" y="1848218"/>
            <a:ext cx="8420100" cy="345317"/>
          </a:xfrm>
          <a:prstGeom prst="rect">
            <a:avLst/>
          </a:prstGeom>
        </p:spPr>
        <p:txBody>
          <a:bodyPr/>
          <a:lstStyle>
            <a:lvl1pPr>
              <a:defRPr sz="2800" cap="all">
                <a:solidFill>
                  <a:srgbClr val="272727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534479" y="2287320"/>
            <a:ext cx="6934200" cy="97839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>
                <a:solidFill>
                  <a:schemeClr val="bg2">
                    <a:lumMod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pic>
        <p:nvPicPr>
          <p:cNvPr id="5" name="4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93260" y="5949280"/>
            <a:ext cx="2340260" cy="648072"/>
          </a:xfrm>
          <a:prstGeom prst="rect">
            <a:avLst/>
          </a:prstGeom>
        </p:spPr>
      </p:pic>
      <p:sp>
        <p:nvSpPr>
          <p:cNvPr id="7" name="Rectángulo 7"/>
          <p:cNvSpPr/>
          <p:nvPr/>
        </p:nvSpPr>
        <p:spPr>
          <a:xfrm>
            <a:off x="1" y="1835150"/>
            <a:ext cx="259689" cy="1430564"/>
          </a:xfrm>
          <a:prstGeom prst="rect">
            <a:avLst/>
          </a:prstGeom>
          <a:solidFill>
            <a:srgbClr val="EFA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8" name="7 Rectángulo"/>
          <p:cNvSpPr/>
          <p:nvPr userDrawn="1"/>
        </p:nvSpPr>
        <p:spPr>
          <a:xfrm>
            <a:off x="7825563" y="12700"/>
            <a:ext cx="2066679" cy="11247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Rectángulo 7"/>
          <p:cNvSpPr/>
          <p:nvPr userDrawn="1"/>
        </p:nvSpPr>
        <p:spPr>
          <a:xfrm>
            <a:off x="0" y="1835150"/>
            <a:ext cx="239713" cy="1430564"/>
          </a:xfrm>
          <a:prstGeom prst="rect">
            <a:avLst/>
          </a:prstGeom>
          <a:solidFill>
            <a:srgbClr val="EFA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C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495300" y="1078523"/>
            <a:ext cx="8915400" cy="5141425"/>
          </a:xfrm>
          <a:prstGeom prst="rect">
            <a:avLst/>
          </a:prstGeom>
        </p:spPr>
        <p:txBody>
          <a:bodyPr/>
          <a:lstStyle>
            <a:lvl1pPr marL="457200" indent="-457200">
              <a:buFont typeface="+mj-lt"/>
              <a:buNone/>
              <a:defRPr sz="2000"/>
            </a:lvl1pPr>
            <a:lvl2pPr marL="914400" indent="-457200">
              <a:buFont typeface="+mj-lt"/>
              <a:buAutoNum type="arabicPeriod"/>
              <a:defRPr sz="2000"/>
            </a:lvl2pPr>
          </a:lstStyle>
          <a:p>
            <a:pPr lvl="0"/>
            <a:r>
              <a:rPr lang="es-ES_tradnl" dirty="0" smtClean="0"/>
              <a:t>Haga clic para modificar el estilo de texto del patrón</a:t>
            </a:r>
          </a:p>
          <a:p>
            <a:pPr lvl="1"/>
            <a:endParaRPr lang="es-ES" dirty="0"/>
          </a:p>
        </p:txBody>
      </p:sp>
      <p:sp>
        <p:nvSpPr>
          <p:cNvPr id="6" name="Rectangle 5"/>
          <p:cNvSpPr/>
          <p:nvPr/>
        </p:nvSpPr>
        <p:spPr>
          <a:xfrm>
            <a:off x="495300" y="393580"/>
            <a:ext cx="15007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2400" dirty="0" smtClean="0">
                <a:solidFill>
                  <a:srgbClr val="FFC000"/>
                </a:solidFill>
                <a:latin typeface="Arial" pitchFamily="34" charset="0"/>
                <a:cs typeface="Arial" pitchFamily="34" charset="0"/>
              </a:rPr>
              <a:t>LOGROS</a:t>
            </a:r>
            <a:endParaRPr lang="es-MX" sz="2400" dirty="0">
              <a:solidFill>
                <a:srgbClr val="FFC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Rectángulo 8"/>
          <p:cNvSpPr/>
          <p:nvPr/>
        </p:nvSpPr>
        <p:spPr>
          <a:xfrm>
            <a:off x="9684148" y="487363"/>
            <a:ext cx="235611" cy="474662"/>
          </a:xfrm>
          <a:prstGeom prst="rect">
            <a:avLst/>
          </a:prstGeom>
          <a:solidFill>
            <a:srgbClr val="EFA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pic>
        <p:nvPicPr>
          <p:cNvPr id="2" name="1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31443" y="332656"/>
            <a:ext cx="482730" cy="6541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8"/>
          <p:cNvSpPr/>
          <p:nvPr/>
        </p:nvSpPr>
        <p:spPr>
          <a:xfrm>
            <a:off x="9684148" y="487363"/>
            <a:ext cx="235611" cy="474662"/>
          </a:xfrm>
          <a:prstGeom prst="rect">
            <a:avLst/>
          </a:prstGeom>
          <a:solidFill>
            <a:srgbClr val="EFA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7101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95300" y="1078523"/>
            <a:ext cx="8915400" cy="514142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pic>
        <p:nvPicPr>
          <p:cNvPr id="6" name="5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31443" y="332656"/>
            <a:ext cx="482730" cy="6541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8"/>
          <p:cNvSpPr/>
          <p:nvPr/>
        </p:nvSpPr>
        <p:spPr>
          <a:xfrm>
            <a:off x="9684148" y="487363"/>
            <a:ext cx="235611" cy="474662"/>
          </a:xfrm>
          <a:prstGeom prst="rect">
            <a:avLst/>
          </a:prstGeom>
          <a:solidFill>
            <a:srgbClr val="EFA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710100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95300" y="1078523"/>
            <a:ext cx="4375150" cy="51414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5035550" y="1078523"/>
            <a:ext cx="4375150" cy="51414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 dirty="0"/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31443" y="332656"/>
            <a:ext cx="482730" cy="6541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FERENCIAS BIBLIOGRAFIC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8"/>
          <p:cNvSpPr/>
          <p:nvPr/>
        </p:nvSpPr>
        <p:spPr>
          <a:xfrm>
            <a:off x="9684148" y="487363"/>
            <a:ext cx="235611" cy="474662"/>
          </a:xfrm>
          <a:prstGeom prst="rect">
            <a:avLst/>
          </a:prstGeom>
          <a:solidFill>
            <a:srgbClr val="EFA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11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495300" y="1078523"/>
            <a:ext cx="8915400" cy="5141425"/>
          </a:xfrm>
          <a:prstGeom prst="rect">
            <a:avLst/>
          </a:prstGeom>
        </p:spPr>
        <p:txBody>
          <a:bodyPr/>
          <a:lstStyle>
            <a:lvl1pPr marL="457200" indent="-457200">
              <a:buFont typeface="+mj-lt"/>
              <a:buAutoNum type="arabicPeriod"/>
              <a:defRPr sz="2000"/>
            </a:lvl1pPr>
            <a:lvl2pPr marL="914400" indent="-457200">
              <a:buFont typeface="+mj-lt"/>
              <a:buAutoNum type="arabicPeriod"/>
              <a:defRPr sz="2000"/>
            </a:lvl2pPr>
          </a:lstStyle>
          <a:p>
            <a:pPr lvl="0"/>
            <a:r>
              <a:rPr lang="es-ES_tradnl" dirty="0" smtClean="0"/>
              <a:t>Haga clic para modificar el estilo de texto del patrón</a:t>
            </a:r>
          </a:p>
          <a:p>
            <a:pPr lvl="1"/>
            <a:endParaRPr lang="es-ES" dirty="0"/>
          </a:p>
        </p:txBody>
      </p:sp>
      <p:sp>
        <p:nvSpPr>
          <p:cNvPr id="12" name="Rectangle 11"/>
          <p:cNvSpPr/>
          <p:nvPr/>
        </p:nvSpPr>
        <p:spPr>
          <a:xfrm>
            <a:off x="495301" y="393580"/>
            <a:ext cx="502252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2400" dirty="0" smtClean="0">
                <a:solidFill>
                  <a:srgbClr val="FFC000"/>
                </a:solidFill>
                <a:effectLst/>
                <a:latin typeface="Arial" pitchFamily="34" charset="0"/>
                <a:cs typeface="Arial" pitchFamily="34" charset="0"/>
              </a:rPr>
              <a:t>REFERENCIAS BIBLIOGRÁFICAS</a:t>
            </a:r>
            <a:endParaRPr lang="es-MX" sz="2400" dirty="0">
              <a:solidFill>
                <a:srgbClr val="FFC00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6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31443" y="332656"/>
            <a:ext cx="482730" cy="6541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REFERENCIAS BIBLIOGRAFIC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8"/>
          <p:cNvSpPr/>
          <p:nvPr/>
        </p:nvSpPr>
        <p:spPr>
          <a:xfrm>
            <a:off x="9684148" y="487363"/>
            <a:ext cx="235611" cy="474662"/>
          </a:xfrm>
          <a:prstGeom prst="rect">
            <a:avLst/>
          </a:prstGeom>
          <a:solidFill>
            <a:srgbClr val="EFA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11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495300" y="1078523"/>
            <a:ext cx="8915400" cy="5141425"/>
          </a:xfrm>
          <a:prstGeom prst="rect">
            <a:avLst/>
          </a:prstGeom>
        </p:spPr>
        <p:txBody>
          <a:bodyPr/>
          <a:lstStyle>
            <a:lvl1pPr marL="457200" indent="-457200">
              <a:buFont typeface="+mj-lt"/>
              <a:buAutoNum type="arabicPeriod"/>
              <a:defRPr sz="2000"/>
            </a:lvl1pPr>
            <a:lvl2pPr marL="914400" indent="-457200">
              <a:buFont typeface="+mj-lt"/>
              <a:buAutoNum type="arabicPeriod"/>
              <a:defRPr sz="2000"/>
            </a:lvl2pPr>
          </a:lstStyle>
          <a:p>
            <a:pPr lvl="0"/>
            <a:r>
              <a:rPr lang="es-ES_tradnl" dirty="0" smtClean="0"/>
              <a:t>Haga clic para modificar el estilo de texto del patrón</a:t>
            </a:r>
          </a:p>
          <a:p>
            <a:pPr lvl="1"/>
            <a:endParaRPr lang="es-ES" dirty="0"/>
          </a:p>
        </p:txBody>
      </p:sp>
      <p:sp>
        <p:nvSpPr>
          <p:cNvPr id="12" name="Rectangle 11"/>
          <p:cNvSpPr/>
          <p:nvPr/>
        </p:nvSpPr>
        <p:spPr>
          <a:xfrm>
            <a:off x="495300" y="393580"/>
            <a:ext cx="264848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2400" dirty="0" smtClean="0">
                <a:solidFill>
                  <a:srgbClr val="FFC000"/>
                </a:solidFill>
                <a:effectLst/>
                <a:latin typeface="Arial" pitchFamily="34" charset="0"/>
                <a:cs typeface="Arial" pitchFamily="34" charset="0"/>
              </a:rPr>
              <a:t>CONCLUSIONES</a:t>
            </a:r>
            <a:endParaRPr lang="es-MX" sz="2400" dirty="0">
              <a:solidFill>
                <a:srgbClr val="FFC00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6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31443" y="332656"/>
            <a:ext cx="482730" cy="6541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8"/>
          <p:cNvSpPr/>
          <p:nvPr/>
        </p:nvSpPr>
        <p:spPr>
          <a:xfrm>
            <a:off x="9658351" y="482601"/>
            <a:ext cx="259689" cy="492125"/>
          </a:xfrm>
          <a:prstGeom prst="rect">
            <a:avLst/>
          </a:prstGeom>
          <a:solidFill>
            <a:srgbClr val="EFA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710100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 dirty="0"/>
          </a:p>
        </p:txBody>
      </p:sp>
      <p:pic>
        <p:nvPicPr>
          <p:cNvPr id="6" name="5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31443" y="332656"/>
            <a:ext cx="482730" cy="6541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0772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0772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 l="-9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70" r:id="rId8"/>
    <p:sldLayoutId id="2147483671" r:id="rId9"/>
  </p:sldLayoutIdLst>
  <p:transition>
    <p:wipe dir="r"/>
  </p:transition>
  <p:timing>
    <p:tnLst>
      <p:par>
        <p:cTn id="1" dur="indefinite" restart="never" nodeType="tmRoot"/>
      </p:par>
    </p:tnLst>
  </p:timing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kern="1200" cap="all">
          <a:solidFill>
            <a:srgbClr val="EFA82F"/>
          </a:solidFill>
          <a:latin typeface="Arial"/>
          <a:ea typeface="ＭＳ Ｐゴシック" charset="-128"/>
          <a:cs typeface="+mj-cs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rgbClr val="EFA82F"/>
          </a:solidFill>
          <a:latin typeface="Arial" pitchFamily="34" charset="0"/>
          <a:ea typeface="ＭＳ Ｐゴシック" charset="-128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rgbClr val="EFA82F"/>
          </a:solidFill>
          <a:latin typeface="Arial" pitchFamily="34" charset="0"/>
          <a:ea typeface="ＭＳ Ｐゴシック" charset="-128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rgbClr val="EFA82F"/>
          </a:solidFill>
          <a:latin typeface="Arial" pitchFamily="34" charset="0"/>
          <a:ea typeface="ＭＳ Ｐゴシック" charset="-128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rgbClr val="EFA82F"/>
          </a:solidFill>
          <a:latin typeface="Arial" pitchFamily="34" charset="0"/>
          <a:ea typeface="ＭＳ Ｐゴシック" charset="-128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rgbClr val="EFA82F"/>
          </a:solidFill>
          <a:latin typeface="Arial" pitchFamily="34" charset="0"/>
          <a:ea typeface="ＭＳ Ｐゴシック" charset="-128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rgbClr val="EFA82F"/>
          </a:solidFill>
          <a:latin typeface="Arial" pitchFamily="34" charset="0"/>
          <a:ea typeface="ＭＳ Ｐゴシック" charset="-128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rgbClr val="EFA82F"/>
          </a:solidFill>
          <a:latin typeface="Arial" pitchFamily="34" charset="0"/>
          <a:ea typeface="ＭＳ Ｐゴシック" charset="-128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rgbClr val="EFA82F"/>
          </a:solidFill>
          <a:latin typeface="Arial" pitchFamily="34" charset="0"/>
          <a:ea typeface="ＭＳ Ｐゴシック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Clr>
          <a:srgbClr val="EFA82F"/>
        </a:buClr>
        <a:buFont typeface="Arial" pitchFamily="34" charset="0"/>
        <a:buChar char="•"/>
        <a:defRPr sz="1600" kern="1200">
          <a:solidFill>
            <a:srgbClr val="676767"/>
          </a:solidFill>
          <a:latin typeface="Arial"/>
          <a:ea typeface="ＭＳ Ｐゴシック" charset="-128"/>
          <a:cs typeface="+mn-cs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Clr>
          <a:srgbClr val="EFA82F"/>
        </a:buClr>
        <a:buFont typeface="Arial" pitchFamily="34" charset="0"/>
        <a:buChar char="•"/>
        <a:defRPr sz="1600" kern="1200">
          <a:solidFill>
            <a:srgbClr val="676767"/>
          </a:solidFill>
          <a:latin typeface="Arial"/>
          <a:ea typeface="ＭＳ Ｐゴシック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Clr>
          <a:srgbClr val="EFA82F"/>
        </a:buClr>
        <a:buFont typeface="Arial" pitchFamily="34" charset="0"/>
        <a:buChar char="•"/>
        <a:defRPr sz="1600" kern="1200">
          <a:solidFill>
            <a:srgbClr val="676767"/>
          </a:solidFill>
          <a:latin typeface="Arial"/>
          <a:ea typeface="ＭＳ Ｐゴシック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Clr>
          <a:srgbClr val="EFA82F"/>
        </a:buClr>
        <a:buFont typeface="Arial" pitchFamily="34" charset="0"/>
        <a:buChar char="•"/>
        <a:defRPr sz="1600" kern="1200">
          <a:solidFill>
            <a:srgbClr val="676767"/>
          </a:solidFill>
          <a:latin typeface="Arial"/>
          <a:ea typeface="ＭＳ Ｐゴシック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Clr>
          <a:srgbClr val="EFA82F"/>
        </a:buClr>
        <a:buFont typeface="Arial" pitchFamily="34" charset="0"/>
        <a:buChar char="•"/>
        <a:defRPr sz="1600" kern="1200">
          <a:solidFill>
            <a:srgbClr val="676767"/>
          </a:solidFill>
          <a:latin typeface="Arial"/>
          <a:ea typeface="ＭＳ Ｐゴシック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5.jpe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7.wmf"/><Relationship Id="rId4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3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8.png"/><Relationship Id="rId4" Type="http://schemas.microsoft.com/office/2007/relationships/hdphoto" Target="../media/hdphoto2.wdp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fisicarecreativa.com/" TargetMode="External"/><Relationship Id="rId2" Type="http://schemas.openxmlformats.org/officeDocument/2006/relationships/hyperlink" Target="http://www.sc.ehu.es/sbweb/fisica/" TargetMode="Externa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  <a:endParaRPr lang="es-PE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ángulo redondeado 4"/>
          <p:cNvSpPr/>
          <p:nvPr/>
        </p:nvSpPr>
        <p:spPr>
          <a:xfrm>
            <a:off x="200472" y="2132854"/>
            <a:ext cx="3312367" cy="4176465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2400" dirty="0" smtClean="0">
                <a:solidFill>
                  <a:schemeClr val="tx1"/>
                </a:solidFill>
              </a:rPr>
              <a:t>Dinámica </a:t>
            </a:r>
            <a:r>
              <a:rPr lang="es-ES" sz="2400" dirty="0">
                <a:solidFill>
                  <a:schemeClr val="tx1"/>
                </a:solidFill>
              </a:rPr>
              <a:t>de fluidos. Características del movimiento. Fluido Ideal.</a:t>
            </a:r>
            <a:endParaRPr lang="es-PE" sz="2400" dirty="0">
              <a:solidFill>
                <a:schemeClr val="tx1"/>
              </a:solidFill>
            </a:endParaRPr>
          </a:p>
          <a:p>
            <a:pPr fontAlgn="base" hangingPunct="0"/>
            <a:r>
              <a:rPr lang="es-ES" sz="2400" dirty="0">
                <a:solidFill>
                  <a:schemeClr val="tx1"/>
                </a:solidFill>
              </a:rPr>
              <a:t>Líneas de flujo. Tubo de flujo. Ecuaciones de continuidad y de</a:t>
            </a:r>
            <a:endParaRPr lang="es-PE" sz="2400" dirty="0">
              <a:solidFill>
                <a:schemeClr val="tx1"/>
              </a:solidFill>
            </a:endParaRPr>
          </a:p>
          <a:p>
            <a:r>
              <a:rPr lang="es-ES" sz="2400" dirty="0">
                <a:solidFill>
                  <a:schemeClr val="tx1"/>
                </a:solidFill>
              </a:rPr>
              <a:t>Bernoulli. Líquidos </a:t>
            </a:r>
            <a:r>
              <a:rPr lang="es-ES" sz="2400" dirty="0" smtClean="0">
                <a:solidFill>
                  <a:schemeClr val="tx1"/>
                </a:solidFill>
              </a:rPr>
              <a:t>Reales.</a:t>
            </a:r>
            <a:endParaRPr lang="es-PE" sz="2400" dirty="0">
              <a:solidFill>
                <a:schemeClr val="tx1"/>
              </a:solidFill>
            </a:endParaRPr>
          </a:p>
          <a:p>
            <a:pPr fontAlgn="base" hangingPunct="0"/>
            <a:endParaRPr lang="es-PE" sz="2400" dirty="0">
              <a:solidFill>
                <a:schemeClr val="tx1"/>
              </a:solidFill>
            </a:endParaRPr>
          </a:p>
        </p:txBody>
      </p:sp>
      <p:sp>
        <p:nvSpPr>
          <p:cNvPr id="6" name="Rectángulo redondeado 5"/>
          <p:cNvSpPr/>
          <p:nvPr/>
        </p:nvSpPr>
        <p:spPr>
          <a:xfrm>
            <a:off x="1548194" y="760506"/>
            <a:ext cx="4916974" cy="64807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04975" indent="-1704975"/>
            <a:r>
              <a:rPr lang="es-P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SEMANA </a:t>
            </a:r>
            <a:r>
              <a:rPr lang="es-PE" sz="2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09:  DINÁMICA DE FLUÍDOS</a:t>
            </a:r>
            <a:endParaRPr lang="es-PE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0912" y="2060848"/>
            <a:ext cx="5304218" cy="403308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931923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  <a:endParaRPr lang="es-PE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ángulo redondeado 4"/>
          <p:cNvSpPr/>
          <p:nvPr/>
        </p:nvSpPr>
        <p:spPr>
          <a:xfrm>
            <a:off x="1640632" y="764704"/>
            <a:ext cx="5961184" cy="967154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3200" b="1" dirty="0" smtClean="0">
                <a:solidFill>
                  <a:schemeClr val="tx1"/>
                </a:solidFill>
              </a:rPr>
              <a:t>OBSERVA LA IMÁGEN .  .  .</a:t>
            </a:r>
            <a:endParaRPr lang="es-PE" sz="3200" b="1" dirty="0">
              <a:solidFill>
                <a:schemeClr val="tx1"/>
              </a:solidFill>
            </a:endParaRPr>
          </a:p>
        </p:txBody>
      </p:sp>
      <p:sp>
        <p:nvSpPr>
          <p:cNvPr id="8" name="Rectángulo redondeado 7"/>
          <p:cNvSpPr/>
          <p:nvPr/>
        </p:nvSpPr>
        <p:spPr>
          <a:xfrm>
            <a:off x="556247" y="5925472"/>
            <a:ext cx="8264769" cy="646114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3200" b="1" dirty="0" smtClean="0">
                <a:solidFill>
                  <a:schemeClr val="tx1"/>
                </a:solidFill>
              </a:rPr>
              <a:t>¿Qué opinión tienes al respecto?</a:t>
            </a:r>
            <a:endParaRPr lang="es-PE" sz="3200" b="1" dirty="0">
              <a:solidFill>
                <a:schemeClr val="tx1"/>
              </a:solidFill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4688" y="1912373"/>
            <a:ext cx="4608512" cy="3813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733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  <a:endParaRPr lang="es-PE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ángulo redondeado 6"/>
          <p:cNvSpPr/>
          <p:nvPr/>
        </p:nvSpPr>
        <p:spPr>
          <a:xfrm>
            <a:off x="1712640" y="873007"/>
            <a:ext cx="2985193" cy="677561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PE" sz="3200" dirty="0" smtClean="0">
                <a:solidFill>
                  <a:schemeClr val="tx1"/>
                </a:solidFill>
              </a:rPr>
              <a:t>PENSEMOS. . .</a:t>
            </a:r>
            <a:endParaRPr lang="es-PE" sz="3200" dirty="0">
              <a:solidFill>
                <a:schemeClr val="tx1"/>
              </a:solidFill>
            </a:endParaRPr>
          </a:p>
        </p:txBody>
      </p:sp>
      <p:sp>
        <p:nvSpPr>
          <p:cNvPr id="9" name="Rectángulo redondeado 8"/>
          <p:cNvSpPr/>
          <p:nvPr/>
        </p:nvSpPr>
        <p:spPr>
          <a:xfrm>
            <a:off x="1712640" y="4653136"/>
            <a:ext cx="6696744" cy="1872208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2400" b="1" dirty="0" smtClean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endParaRPr lang="es-PE" sz="2400" b="1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s-PE" sz="2000" b="1" dirty="0" smtClean="0">
                <a:solidFill>
                  <a:schemeClr val="tx1"/>
                </a:solidFill>
              </a:rPr>
              <a:t>¿</a:t>
            </a:r>
            <a:r>
              <a:rPr lang="es-PE" sz="2000" b="1" dirty="0">
                <a:solidFill>
                  <a:schemeClr val="tx1"/>
                </a:solidFill>
              </a:rPr>
              <a:t>Qué </a:t>
            </a:r>
            <a:r>
              <a:rPr lang="es-PE" sz="2000" b="1" dirty="0" smtClean="0">
                <a:solidFill>
                  <a:schemeClr val="tx1"/>
                </a:solidFill>
              </a:rPr>
              <a:t>entiendes hidrostática?   ¿Qué entiendes por presión? ¿Qué entiendes por densidad?   ¿Qué dice el principio de Pascal? ¿En que consiste el principio de Arquímedes?</a:t>
            </a:r>
          </a:p>
          <a:p>
            <a:pPr>
              <a:lnSpc>
                <a:spcPct val="150000"/>
              </a:lnSpc>
            </a:pPr>
            <a:r>
              <a:rPr lang="es-PE" sz="2000" b="1" dirty="0" smtClean="0">
                <a:solidFill>
                  <a:schemeClr val="tx1"/>
                </a:solidFill>
              </a:rPr>
              <a:t>¿La  presión es energía por unidad de volumen?</a:t>
            </a:r>
            <a:r>
              <a:rPr lang="es-PE" sz="2000" b="1" dirty="0">
                <a:solidFill>
                  <a:schemeClr val="tx1"/>
                </a:solidFill>
              </a:rPr>
              <a:t/>
            </a:r>
            <a:br>
              <a:rPr lang="es-PE" sz="2000" b="1" dirty="0">
                <a:solidFill>
                  <a:schemeClr val="tx1"/>
                </a:solidFill>
              </a:rPr>
            </a:br>
            <a:r>
              <a:rPr lang="es-PE" sz="2400" b="1" dirty="0">
                <a:solidFill>
                  <a:schemeClr val="tx1"/>
                </a:solidFill>
              </a:rPr>
              <a:t/>
            </a:r>
            <a:br>
              <a:rPr lang="es-PE" sz="2400" b="1" dirty="0">
                <a:solidFill>
                  <a:schemeClr val="tx1"/>
                </a:solidFill>
              </a:rPr>
            </a:br>
            <a:endParaRPr lang="es-PE" sz="2400" b="1" dirty="0">
              <a:solidFill>
                <a:schemeClr val="tx1"/>
              </a:solidFill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2640" y="1661692"/>
            <a:ext cx="6696744" cy="2784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110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  <a:endParaRPr lang="es-PE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redondeado 5"/>
          <p:cNvSpPr/>
          <p:nvPr/>
        </p:nvSpPr>
        <p:spPr>
          <a:xfrm>
            <a:off x="1640633" y="980728"/>
            <a:ext cx="2664295" cy="504056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400" b="1" dirty="0" smtClean="0">
                <a:solidFill>
                  <a:schemeClr val="tx1"/>
                </a:solidFill>
              </a:rPr>
              <a:t>PROPÓSITO</a:t>
            </a:r>
            <a:endParaRPr lang="es-PE" sz="2400" b="1" dirty="0">
              <a:solidFill>
                <a:schemeClr val="tx1"/>
              </a:solidFill>
            </a:endParaRPr>
          </a:p>
        </p:txBody>
      </p:sp>
      <p:sp>
        <p:nvSpPr>
          <p:cNvPr id="8" name="2 Redondear rectángulo de esquina diagonal"/>
          <p:cNvSpPr/>
          <p:nvPr/>
        </p:nvSpPr>
        <p:spPr>
          <a:xfrm>
            <a:off x="5241032" y="1484784"/>
            <a:ext cx="4104475" cy="4452123"/>
          </a:xfrm>
          <a:prstGeom prst="round2DiagRect">
            <a:avLst>
              <a:gd name="adj1" fmla="val 14362"/>
              <a:gd name="adj2" fmla="val 0"/>
            </a:avLst>
          </a:prstGeom>
          <a:solidFill>
            <a:srgbClr val="11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s-PE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s-P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 </a:t>
            </a:r>
            <a:r>
              <a:rPr lang="es-PE" sz="2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termino de </a:t>
            </a:r>
            <a:r>
              <a:rPr lang="es-P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sesión, el estudiante resuelve problemas </a:t>
            </a:r>
            <a:r>
              <a:rPr lang="es-PE" sz="2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Dinámica de Fluidos, utilizando los principios de continuidad y Bernoulli de forma </a:t>
            </a:r>
            <a:r>
              <a:rPr lang="es-P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correcta, con </a:t>
            </a:r>
            <a:r>
              <a:rPr lang="es-PE" sz="2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limpieza, orden </a:t>
            </a:r>
            <a:r>
              <a:rPr lang="es-P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 precisión en el cálculo.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PE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536" y="2132856"/>
            <a:ext cx="3909322" cy="3807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41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ector recto 7"/>
          <p:cNvCxnSpPr>
            <a:stCxn id="16" idx="2"/>
          </p:cNvCxnSpPr>
          <p:nvPr/>
        </p:nvCxnSpPr>
        <p:spPr>
          <a:xfrm>
            <a:off x="8432230" y="4227692"/>
            <a:ext cx="0" cy="7969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Conector recto 5"/>
          <p:cNvCxnSpPr>
            <a:endCxn id="33" idx="2"/>
          </p:cNvCxnSpPr>
          <p:nvPr/>
        </p:nvCxnSpPr>
        <p:spPr>
          <a:xfrm>
            <a:off x="4799766" y="3911376"/>
            <a:ext cx="5851" cy="10297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/>
          <p:cNvCxnSpPr/>
          <p:nvPr/>
        </p:nvCxnSpPr>
        <p:spPr>
          <a:xfrm>
            <a:off x="2932622" y="3626482"/>
            <a:ext cx="4154" cy="70102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  <a:endParaRPr lang="es-PE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xmlns="" id="{8001D105-DCAC-42FF-A68E-0D3DE034E8B2}"/>
              </a:ext>
            </a:extLst>
          </p:cNvPr>
          <p:cNvCxnSpPr>
            <a:cxnSpLocks/>
          </p:cNvCxnSpPr>
          <p:nvPr/>
        </p:nvCxnSpPr>
        <p:spPr>
          <a:xfrm flipH="1">
            <a:off x="6393160" y="4025210"/>
            <a:ext cx="6402" cy="69468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</p:cxnSp>
      <p:sp>
        <p:nvSpPr>
          <p:cNvPr id="9" name="Rectángulo redondeado 8"/>
          <p:cNvSpPr/>
          <p:nvPr/>
        </p:nvSpPr>
        <p:spPr>
          <a:xfrm>
            <a:off x="1640632" y="1003815"/>
            <a:ext cx="4352925" cy="527000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800" b="1" dirty="0" smtClean="0">
                <a:solidFill>
                  <a:schemeClr val="tx1"/>
                </a:solidFill>
              </a:rPr>
              <a:t>CONTENIDO TEMÁTICO</a:t>
            </a:r>
            <a:endParaRPr lang="es-PE" sz="2800" dirty="0">
              <a:solidFill>
                <a:schemeClr val="tx1"/>
              </a:solidFill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xmlns="" id="{8029014D-9243-4890-AF00-9E6FC9945B2C}"/>
              </a:ext>
            </a:extLst>
          </p:cNvPr>
          <p:cNvSpPr/>
          <p:nvPr/>
        </p:nvSpPr>
        <p:spPr>
          <a:xfrm>
            <a:off x="2600759" y="1844824"/>
            <a:ext cx="5195686" cy="576064"/>
          </a:xfrm>
          <a:prstGeom prst="rect">
            <a:avLst/>
          </a:prstGeom>
          <a:solidFill>
            <a:srgbClr val="1199FF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b="1" dirty="0" smtClean="0">
                <a:solidFill>
                  <a:schemeClr val="tx1"/>
                </a:solidFill>
              </a:rPr>
              <a:t>DINÁMICA DE FLUIDOS</a:t>
            </a:r>
            <a:endParaRPr lang="es-PE" b="1" dirty="0">
              <a:solidFill>
                <a:schemeClr val="tx1"/>
              </a:solidFill>
            </a:endParaRP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xmlns="" id="{008A15F1-A2F7-4515-8854-56CDE8B68B99}"/>
              </a:ext>
            </a:extLst>
          </p:cNvPr>
          <p:cNvCxnSpPr>
            <a:cxnSpLocks/>
          </p:cNvCxnSpPr>
          <p:nvPr/>
        </p:nvCxnSpPr>
        <p:spPr>
          <a:xfrm>
            <a:off x="4916462" y="2451052"/>
            <a:ext cx="0" cy="3600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</p:cxnSp>
      <p:sp>
        <p:nvSpPr>
          <p:cNvPr id="13" name="Rectángulo 12">
            <a:extLst>
              <a:ext uri="{FF2B5EF4-FFF2-40B4-BE49-F238E27FC236}">
                <a16:creationId xmlns:a16="http://schemas.microsoft.com/office/drawing/2014/main" xmlns="" id="{B377CFE4-F974-430F-8D3E-31A44641DDDD}"/>
              </a:ext>
            </a:extLst>
          </p:cNvPr>
          <p:cNvSpPr/>
          <p:nvPr/>
        </p:nvSpPr>
        <p:spPr>
          <a:xfrm>
            <a:off x="2187679" y="3036424"/>
            <a:ext cx="1508771" cy="590058"/>
          </a:xfrm>
          <a:prstGeom prst="rect">
            <a:avLst/>
          </a:prstGeom>
          <a:solidFill>
            <a:srgbClr val="F9B367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1600" b="1" dirty="0">
                <a:solidFill>
                  <a:schemeClr val="tx1"/>
                </a:solidFill>
              </a:rPr>
              <a:t>CANTIDADES </a:t>
            </a:r>
            <a:r>
              <a:rPr lang="es-PE" sz="1600" b="1" dirty="0"/>
              <a:t>FÍSICAS</a:t>
            </a:r>
            <a:endParaRPr lang="es-PE" sz="1600" b="1" dirty="0">
              <a:solidFill>
                <a:schemeClr val="tx1"/>
              </a:solidFill>
            </a:endParaRP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xmlns="" id="{43098481-B66C-4565-AFF8-F4FBF153DF92}"/>
              </a:ext>
            </a:extLst>
          </p:cNvPr>
          <p:cNvCxnSpPr>
            <a:cxnSpLocks/>
          </p:cNvCxnSpPr>
          <p:nvPr/>
        </p:nvCxnSpPr>
        <p:spPr>
          <a:xfrm flipH="1">
            <a:off x="1203776" y="2793078"/>
            <a:ext cx="7205608" cy="69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xmlns="" id="{E4375B2A-706A-4D8E-8409-0FE4926350F3}"/>
              </a:ext>
            </a:extLst>
          </p:cNvPr>
          <p:cNvCxnSpPr>
            <a:cxnSpLocks/>
          </p:cNvCxnSpPr>
          <p:nvPr/>
        </p:nvCxnSpPr>
        <p:spPr>
          <a:xfrm>
            <a:off x="4664968" y="2811092"/>
            <a:ext cx="0" cy="3600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</p:cxnSp>
      <p:sp>
        <p:nvSpPr>
          <p:cNvPr id="16" name="Rectángulo 15">
            <a:extLst>
              <a:ext uri="{FF2B5EF4-FFF2-40B4-BE49-F238E27FC236}">
                <a16:creationId xmlns:a16="http://schemas.microsoft.com/office/drawing/2014/main" xmlns="" id="{B32EC4F4-40F8-440A-A577-A55B582660EF}"/>
              </a:ext>
            </a:extLst>
          </p:cNvPr>
          <p:cNvSpPr/>
          <p:nvPr/>
        </p:nvSpPr>
        <p:spPr>
          <a:xfrm>
            <a:off x="7473280" y="3066114"/>
            <a:ext cx="1917899" cy="1161578"/>
          </a:xfrm>
          <a:prstGeom prst="rect">
            <a:avLst/>
          </a:prstGeom>
          <a:solidFill>
            <a:srgbClr val="F9B367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1600" b="1" dirty="0" smtClean="0">
                <a:cs typeface="Arial" panose="020B0604020202020204" pitchFamily="34" charset="0"/>
              </a:rPr>
              <a:t> </a:t>
            </a:r>
            <a:r>
              <a:rPr lang="es-PE" sz="1600" b="1" dirty="0">
                <a:cs typeface="Arial" panose="020B0604020202020204" pitchFamily="34" charset="0"/>
              </a:rPr>
              <a:t>ECUACIÓN </a:t>
            </a:r>
            <a:r>
              <a:rPr lang="es-PE" sz="1600" b="1" dirty="0" smtClean="0">
                <a:cs typeface="Arial" panose="020B0604020202020204" pitchFamily="34" charset="0"/>
              </a:rPr>
              <a:t>DE BERNOULLI (CONSERVACIÓN DE LA ENERGÍA)</a:t>
            </a:r>
            <a:endParaRPr lang="es-PE" sz="1600" b="1" dirty="0">
              <a:cs typeface="Arial" panose="020B0604020202020204" pitchFamily="34" charset="0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xmlns="" id="{491CDA35-9E9C-46DA-B439-A69909018FD2}"/>
              </a:ext>
            </a:extLst>
          </p:cNvPr>
          <p:cNvSpPr/>
          <p:nvPr/>
        </p:nvSpPr>
        <p:spPr>
          <a:xfrm>
            <a:off x="2321731" y="3860052"/>
            <a:ext cx="1463290" cy="2377259"/>
          </a:xfrm>
          <a:prstGeom prst="rect">
            <a:avLst/>
          </a:prstGeom>
          <a:solidFill>
            <a:srgbClr val="EAF991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03200" lvl="0" indent="-203200" algn="just">
              <a:buFont typeface="Arial" panose="020B0604020202020204" pitchFamily="34" charset="0"/>
              <a:buChar char="•"/>
            </a:pPr>
            <a:r>
              <a:rPr kumimoji="1" lang="en-GB" altLang="es-PE" sz="14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Fluído</a:t>
            </a:r>
            <a:r>
              <a:rPr kumimoji="1" lang="en-GB" altLang="es-PE" sz="1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203200" lvl="0" indent="-203200" algn="just">
              <a:buFont typeface="Arial" panose="020B0604020202020204" pitchFamily="34" charset="0"/>
              <a:buChar char="•"/>
            </a:pPr>
            <a:r>
              <a:rPr kumimoji="1" lang="en-GB" altLang="es-PE" sz="14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Densidad</a:t>
            </a:r>
            <a:r>
              <a:rPr kumimoji="1" lang="en-GB" altLang="es-PE" sz="1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77800" lvl="0" indent="-177800" algn="just">
              <a:buFont typeface="Arial" panose="020B0604020202020204" pitchFamily="34" charset="0"/>
              <a:buChar char="•"/>
            </a:pPr>
            <a:r>
              <a:rPr kumimoji="1" lang="en-GB" altLang="es-PE" sz="1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Peso </a:t>
            </a:r>
            <a:r>
              <a:rPr kumimoji="1" lang="en-GB" altLang="es-PE" sz="14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específico</a:t>
            </a:r>
            <a:endParaRPr kumimoji="1" lang="en-GB" altLang="es-PE" sz="14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7800" lvl="0" indent="-177800" algn="just">
              <a:buFont typeface="Arial" panose="020B0604020202020204" pitchFamily="34" charset="0"/>
              <a:buChar char="•"/>
            </a:pPr>
            <a:r>
              <a:rPr kumimoji="1" lang="en-GB" altLang="es-PE" sz="14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Presión</a:t>
            </a:r>
            <a:r>
              <a:rPr kumimoji="1" lang="en-GB" altLang="es-PE" sz="1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GB" altLang="es-PE" sz="14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dinámica</a:t>
            </a:r>
            <a:endParaRPr kumimoji="1" lang="en-GB" altLang="es-PE" sz="14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7800" lvl="0" indent="-177800" algn="just">
              <a:buFont typeface="Arial" panose="020B0604020202020204" pitchFamily="34" charset="0"/>
              <a:buChar char="•"/>
            </a:pPr>
            <a:r>
              <a:rPr kumimoji="1" lang="en-GB" altLang="es-PE" sz="14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Presión</a:t>
            </a:r>
            <a:r>
              <a:rPr kumimoji="1" lang="en-GB" altLang="es-PE" sz="1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GB" altLang="es-PE" sz="14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estática</a:t>
            </a:r>
            <a:r>
              <a:rPr kumimoji="1" lang="en-GB" altLang="es-PE" sz="1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77800" lvl="0" indent="-177800" algn="just">
              <a:buFont typeface="Arial" panose="020B0604020202020204" pitchFamily="34" charset="0"/>
              <a:buChar char="•"/>
            </a:pPr>
            <a:r>
              <a:rPr kumimoji="1" lang="en-GB" altLang="es-PE" sz="14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Presión</a:t>
            </a:r>
            <a:r>
              <a:rPr kumimoji="1" lang="en-GB" altLang="es-PE" sz="1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GB" altLang="es-PE" sz="14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hidrostática</a:t>
            </a:r>
            <a:r>
              <a:rPr kumimoji="1" lang="en-GB" altLang="es-PE" sz="1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PE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xmlns="" id="{B377CFE4-F974-430F-8D3E-31A44641DDDD}"/>
              </a:ext>
            </a:extLst>
          </p:cNvPr>
          <p:cNvSpPr/>
          <p:nvPr/>
        </p:nvSpPr>
        <p:spPr>
          <a:xfrm>
            <a:off x="200472" y="3036423"/>
            <a:ext cx="1853559" cy="716169"/>
          </a:xfrm>
          <a:prstGeom prst="rect">
            <a:avLst/>
          </a:prstGeom>
          <a:solidFill>
            <a:srgbClr val="F9B367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1600" b="1" dirty="0" smtClean="0">
                <a:solidFill>
                  <a:schemeClr val="tx1"/>
                </a:solidFill>
              </a:rPr>
              <a:t>DINAMICA DE FLUIDOS</a:t>
            </a:r>
            <a:endParaRPr lang="es-PE" sz="1600" b="1" dirty="0">
              <a:solidFill>
                <a:schemeClr val="tx1"/>
              </a:solidFill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xmlns="" id="{6B0406B6-735E-446A-993D-567F64EC9E37}"/>
              </a:ext>
            </a:extLst>
          </p:cNvPr>
          <p:cNvSpPr/>
          <p:nvPr/>
        </p:nvSpPr>
        <p:spPr>
          <a:xfrm>
            <a:off x="3906366" y="3019701"/>
            <a:ext cx="1638807" cy="964199"/>
          </a:xfrm>
          <a:prstGeom prst="rect">
            <a:avLst/>
          </a:prstGeom>
          <a:solidFill>
            <a:srgbClr val="F9B367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r>
              <a:rPr lang="es-PE" sz="1600" b="1" dirty="0" smtClean="0">
                <a:cs typeface="Arial" panose="020B0604020202020204" pitchFamily="34" charset="0"/>
              </a:rPr>
              <a:t>ECUACIÓN DE CONTINUIDAD</a:t>
            </a:r>
            <a:endParaRPr lang="es-PE" sz="1600" b="1" dirty="0"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ángulo 21">
                <a:extLst>
                  <a:ext uri="{FF2B5EF4-FFF2-40B4-BE49-F238E27FC236}">
                    <a16:creationId xmlns:a16="http://schemas.microsoft.com/office/drawing/2014/main" xmlns="" id="{491CDA35-9E9C-46DA-B439-A69909018FD2}"/>
                  </a:ext>
                </a:extLst>
              </p:cNvPr>
              <p:cNvSpPr/>
              <p:nvPr/>
            </p:nvSpPr>
            <p:spPr>
              <a:xfrm>
                <a:off x="7113240" y="4391151"/>
                <a:ext cx="2633378" cy="633481"/>
              </a:xfrm>
              <a:prstGeom prst="rect">
                <a:avLst/>
              </a:prstGeom>
              <a:solidFill>
                <a:srgbClr val="EAF99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lvl="0" algn="just"/>
                <a:endParaRPr lang="es-ES" altLang="es-PE" sz="1600" b="1" i="1" dirty="0" smtClean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lvl="0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altLang="es-PE" sz="16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PE" altLang="es-PE" sz="16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𝒆</m:t>
                          </m:r>
                        </m:e>
                        <m:sub>
                          <m:r>
                            <a:rPr lang="es-ES" altLang="es-PE" sz="16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𝒕𝒐𝒕𝒂𝒍</m:t>
                          </m:r>
                        </m:sub>
                      </m:sSub>
                      <m:r>
                        <a:rPr lang="es-ES" altLang="es-PE" sz="1600" b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PE" altLang="es-PE" sz="16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𝑷</m:t>
                      </m:r>
                      <m:r>
                        <a:rPr lang="es-PE" altLang="es-PE" sz="16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f>
                        <m:fPr>
                          <m:ctrlPr>
                            <a:rPr lang="es-ES" altLang="es-PE" sz="16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s-ES" altLang="es-PE" sz="16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num>
                        <m:den>
                          <m:r>
                            <a:rPr lang="es-ES" altLang="es-PE" sz="16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den>
                      </m:f>
                      <m:r>
                        <a:rPr lang="es-ES" altLang="es-PE" sz="16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𝝆</m:t>
                      </m:r>
                      <m:sSup>
                        <m:sSupPr>
                          <m:ctrlPr>
                            <a:rPr lang="es-ES" altLang="es-PE" sz="16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s-PE" altLang="es-PE" sz="16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𝒗</m:t>
                          </m:r>
                        </m:e>
                        <m:sup>
                          <m:r>
                            <a:rPr lang="es-ES" altLang="es-PE" sz="16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p>
                      </m:sSup>
                      <m:r>
                        <a:rPr lang="es-PE" altLang="es-PE" sz="16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s-PE" altLang="es-PE" sz="16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𝝆</m:t>
                      </m:r>
                      <m:r>
                        <a:rPr lang="es-PE" altLang="es-PE" sz="16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𝒈𝒛</m:t>
                      </m:r>
                    </m:oMath>
                  </m:oMathPara>
                </a14:m>
                <a:endParaRPr kumimoji="1" lang="en-GB" altLang="es-PE" sz="16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s-PE" sz="1600" dirty="0"/>
              </a:p>
            </p:txBody>
          </p:sp>
        </mc:Choice>
        <mc:Fallback xmlns="">
          <p:sp>
            <p:nvSpPr>
              <p:cNvPr id="22" name="Rectángulo 21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491CDA35-9E9C-46DA-B439-A69909018F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3240" y="4391151"/>
                <a:ext cx="2633378" cy="633481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xmlns="" id="{C2DA4E98-4D40-4E2B-AC84-9B82C98610BC}"/>
              </a:ext>
            </a:extLst>
          </p:cNvPr>
          <p:cNvCxnSpPr>
            <a:cxnSpLocks/>
          </p:cNvCxnSpPr>
          <p:nvPr/>
        </p:nvCxnSpPr>
        <p:spPr>
          <a:xfrm>
            <a:off x="1127251" y="3767360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</p:cxnSp>
      <p:sp>
        <p:nvSpPr>
          <p:cNvPr id="24" name="Rectángulo 23">
            <a:extLst>
              <a:ext uri="{FF2B5EF4-FFF2-40B4-BE49-F238E27FC236}">
                <a16:creationId xmlns:a16="http://schemas.microsoft.com/office/drawing/2014/main" xmlns="" id="{6B0406B6-735E-446A-993D-567F64EC9E37}"/>
              </a:ext>
            </a:extLst>
          </p:cNvPr>
          <p:cNvSpPr/>
          <p:nvPr/>
        </p:nvSpPr>
        <p:spPr>
          <a:xfrm>
            <a:off x="5817096" y="3044331"/>
            <a:ext cx="1107404" cy="986432"/>
          </a:xfrm>
          <a:prstGeom prst="rect">
            <a:avLst/>
          </a:prstGeom>
          <a:solidFill>
            <a:srgbClr val="F9B367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r>
              <a:rPr lang="es-PE" sz="1600" b="1" dirty="0" smtClean="0">
                <a:cs typeface="Arial" panose="020B0604020202020204" pitchFamily="34" charset="0"/>
              </a:rPr>
              <a:t>FLUJO MÁSICO</a:t>
            </a:r>
            <a:endParaRPr lang="es-PE" sz="1600" b="1" dirty="0">
              <a:cs typeface="Arial" panose="020B0604020202020204" pitchFamily="34" charset="0"/>
            </a:endParaRPr>
          </a:p>
        </p:txBody>
      </p:sp>
      <p:cxnSp>
        <p:nvCxnSpPr>
          <p:cNvPr id="26" name="Conector recto 25"/>
          <p:cNvCxnSpPr/>
          <p:nvPr/>
        </p:nvCxnSpPr>
        <p:spPr>
          <a:xfrm>
            <a:off x="1201213" y="2800075"/>
            <a:ext cx="0" cy="236349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/>
          <p:cNvCxnSpPr/>
          <p:nvPr/>
        </p:nvCxnSpPr>
        <p:spPr>
          <a:xfrm>
            <a:off x="8409384" y="2800075"/>
            <a:ext cx="0" cy="243346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/>
          <p:cNvCxnSpPr/>
          <p:nvPr/>
        </p:nvCxnSpPr>
        <p:spPr>
          <a:xfrm>
            <a:off x="6249144" y="2811092"/>
            <a:ext cx="0" cy="243346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/>
          <p:cNvCxnSpPr/>
          <p:nvPr/>
        </p:nvCxnSpPr>
        <p:spPr>
          <a:xfrm>
            <a:off x="3014684" y="2793078"/>
            <a:ext cx="0" cy="243346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ángulo 32">
                <a:extLst>
                  <a:ext uri="{FF2B5EF4-FFF2-40B4-BE49-F238E27FC236}">
                    <a16:creationId xmlns:a16="http://schemas.microsoft.com/office/drawing/2014/main" xmlns="" id="{491CDA35-9E9C-46DA-B439-A69909018FD2}"/>
                  </a:ext>
                </a:extLst>
              </p:cNvPr>
              <p:cNvSpPr/>
              <p:nvPr/>
            </p:nvSpPr>
            <p:spPr>
              <a:xfrm>
                <a:off x="4066061" y="4227692"/>
                <a:ext cx="1479112" cy="713476"/>
              </a:xfrm>
              <a:prstGeom prst="rect">
                <a:avLst/>
              </a:prstGeom>
              <a:solidFill>
                <a:srgbClr val="EAF99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lvl="0" algn="just"/>
                <a:endParaRPr lang="es-PE" altLang="es-PE" sz="1600" b="1" i="1" dirty="0" smtClean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lvl="0" algn="just"/>
                <a:endParaRPr lang="es-PE" altLang="es-PE" sz="1600" b="1" i="1" dirty="0" smtClean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lvl="0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altLang="es-PE" sz="16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PE" altLang="es-PE" sz="16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𝑨</m:t>
                          </m:r>
                        </m:e>
                        <m:sub>
                          <m:r>
                            <a:rPr lang="es-PE" altLang="es-PE" sz="16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s-ES" altLang="es-PE" sz="16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PE" altLang="es-PE" sz="16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𝒗</m:t>
                          </m:r>
                        </m:e>
                        <m:sub>
                          <m:r>
                            <a:rPr lang="es-PE" altLang="es-PE" sz="16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  <m:r>
                        <a:rPr lang="es-ES" altLang="es-PE" sz="1600" b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s-ES" altLang="es-PE" sz="16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PE" altLang="es-PE" sz="16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𝑨</m:t>
                          </m:r>
                        </m:e>
                        <m:sub>
                          <m:r>
                            <a:rPr lang="es-PE" altLang="es-PE" sz="16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s-ES" altLang="es-PE" sz="16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PE" altLang="es-PE" sz="16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𝒗</m:t>
                          </m:r>
                        </m:e>
                        <m:sub>
                          <m:r>
                            <a:rPr lang="es-PE" altLang="es-PE" sz="16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s-PE" sz="1600" i="1" dirty="0">
                  <a:solidFill>
                    <a:schemeClr val="tx1"/>
                  </a:solidFill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lvl="0" algn="just"/>
                <a:endParaRPr lang="es-PE" sz="16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0" algn="just"/>
                <a:endParaRPr lang="es-PE" sz="16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3" name="Rectángulo 3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491CDA35-9E9C-46DA-B439-A69909018F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6061" y="4227692"/>
                <a:ext cx="1479112" cy="71347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ángulo 18">
                <a:extLst>
                  <a:ext uri="{FF2B5EF4-FFF2-40B4-BE49-F238E27FC236}">
                    <a16:creationId xmlns:a16="http://schemas.microsoft.com/office/drawing/2014/main" xmlns="" id="{44822C0F-02DC-406F-8E12-F1FFDD5CFB2F}"/>
                  </a:ext>
                </a:extLst>
              </p:cNvPr>
              <p:cNvSpPr/>
              <p:nvPr/>
            </p:nvSpPr>
            <p:spPr>
              <a:xfrm>
                <a:off x="5764857" y="4264002"/>
                <a:ext cx="1204367" cy="677166"/>
              </a:xfrm>
              <a:prstGeom prst="rect">
                <a:avLst/>
              </a:prstGeom>
              <a:solidFill>
                <a:srgbClr val="EAF99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lvl="0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s-PE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accPr>
                        <m:e>
                          <m:r>
                            <a:rPr lang="es-PE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𝒎</m:t>
                          </m:r>
                        </m:e>
                      </m:acc>
                      <m:r>
                        <a:rPr lang="es-PE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PE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𝝆</m:t>
                      </m:r>
                      <m:r>
                        <a:rPr lang="es-PE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𝒗𝑨</m:t>
                      </m:r>
                    </m:oMath>
                  </m:oMathPara>
                </a14:m>
                <a:endParaRPr lang="es-PE" sz="16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0" algn="just"/>
                <a:endParaRPr lang="es-PE" sz="16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Rectángulo 18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44822C0F-02DC-406F-8E12-F1FFDD5CFB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4857" y="4264002"/>
                <a:ext cx="1204367" cy="67716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ángulo 16">
            <a:extLst>
              <a:ext uri="{FF2B5EF4-FFF2-40B4-BE49-F238E27FC236}">
                <a16:creationId xmlns:mc="http://schemas.openxmlformats.org/markup-compatibility/2006" xmlns:a14="http://schemas.microsoft.com/office/drawing/2010/main" xmlns:a16="http://schemas.microsoft.com/office/drawing/2014/main" xmlns="" id="{8EF499C7-AECE-44DE-89A6-BD7D3BC55E42}"/>
              </a:ext>
            </a:extLst>
          </p:cNvPr>
          <p:cNvSpPr/>
          <p:nvPr/>
        </p:nvSpPr>
        <p:spPr>
          <a:xfrm>
            <a:off x="223006" y="3860053"/>
            <a:ext cx="1741728" cy="2161235"/>
          </a:xfrm>
          <a:prstGeom prst="rect">
            <a:avLst/>
          </a:prstGeom>
          <a:solidFill>
            <a:srgbClr val="EAF991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just"/>
            <a:r>
              <a:rPr lang="es-PE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Estudia los fluidos ideales en movimiento considerando los principios de conservación de la masa y de conservación de la energía especifica.</a:t>
            </a:r>
            <a:endParaRPr lang="es-PE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7991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6" grpId="0" animBg="1"/>
      <p:bldP spid="18" grpId="0" animBg="1"/>
      <p:bldP spid="20" grpId="0" animBg="1"/>
      <p:bldP spid="21" grpId="0" animBg="1"/>
      <p:bldP spid="22" grpId="0" animBg="1"/>
      <p:bldP spid="24" grpId="0" animBg="1"/>
      <p:bldP spid="33" grpId="0" animBg="1"/>
      <p:bldP spid="19" grpId="0" animBg="1"/>
      <p:bldP spid="1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  <a:endParaRPr lang="es-PE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ángulo redondeado 13"/>
          <p:cNvSpPr/>
          <p:nvPr/>
        </p:nvSpPr>
        <p:spPr>
          <a:xfrm>
            <a:off x="1637806" y="817512"/>
            <a:ext cx="3819250" cy="571401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400" b="1" dirty="0" smtClean="0">
                <a:solidFill>
                  <a:schemeClr val="tx1"/>
                </a:solidFill>
              </a:rPr>
              <a:t>FLUJO DE FLUIDO IDEAL</a:t>
            </a:r>
            <a:endParaRPr lang="es-PE" sz="2400" dirty="0">
              <a:solidFill>
                <a:schemeClr val="tx1"/>
              </a:soli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7296" y="2348880"/>
            <a:ext cx="1972472" cy="1191106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588368" y="1769258"/>
            <a:ext cx="4320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 smtClean="0"/>
              <a:t>Fluido no viscoso: </a:t>
            </a:r>
            <a:endParaRPr lang="es-PE" dirty="0"/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639" y="2261684"/>
            <a:ext cx="2996480" cy="1758209"/>
          </a:xfrm>
          <a:prstGeom prst="rect">
            <a:avLst/>
          </a:prstGeom>
        </p:spPr>
      </p:pic>
      <p:sp>
        <p:nvSpPr>
          <p:cNvPr id="10" name="CuadroTexto 9"/>
          <p:cNvSpPr txBox="1"/>
          <p:nvPr/>
        </p:nvSpPr>
        <p:spPr>
          <a:xfrm>
            <a:off x="554639" y="4272111"/>
            <a:ext cx="4320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 smtClean="0"/>
              <a:t>Fluido laminar o de régimen permanente: </a:t>
            </a:r>
            <a:endParaRPr lang="es-PE" dirty="0"/>
          </a:p>
        </p:txBody>
      </p:sp>
      <p:sp>
        <p:nvSpPr>
          <p:cNvPr id="11" name="CuadroTexto 10"/>
          <p:cNvSpPr txBox="1"/>
          <p:nvPr/>
        </p:nvSpPr>
        <p:spPr>
          <a:xfrm>
            <a:off x="4786898" y="1769258"/>
            <a:ext cx="3838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 smtClean="0"/>
              <a:t>Fluido no turbulento, </a:t>
            </a:r>
            <a:r>
              <a:rPr lang="es-PE" dirty="0" err="1" smtClean="0"/>
              <a:t>irrotacional</a:t>
            </a:r>
            <a:endParaRPr lang="es-PE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368" y="4797152"/>
            <a:ext cx="3312368" cy="1737431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3719" y="2348880"/>
            <a:ext cx="2326233" cy="1452090"/>
          </a:xfrm>
          <a:prstGeom prst="rect">
            <a:avLst/>
          </a:prstGeom>
        </p:spPr>
      </p:pic>
      <p:sp>
        <p:nvSpPr>
          <p:cNvPr id="16" name="CuadroTexto 15"/>
          <p:cNvSpPr txBox="1"/>
          <p:nvPr/>
        </p:nvSpPr>
        <p:spPr>
          <a:xfrm>
            <a:off x="4943719" y="4041776"/>
            <a:ext cx="3838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 smtClean="0"/>
              <a:t>Fluido incompresible.</a:t>
            </a:r>
            <a:endParaRPr lang="es-PE" dirty="0"/>
          </a:p>
        </p:txBody>
      </p:sp>
      <p:grpSp>
        <p:nvGrpSpPr>
          <p:cNvPr id="17" name="Group 13"/>
          <p:cNvGrpSpPr>
            <a:grpSpLocks/>
          </p:cNvGrpSpPr>
          <p:nvPr/>
        </p:nvGrpSpPr>
        <p:grpSpPr bwMode="auto">
          <a:xfrm>
            <a:off x="5119082" y="4797152"/>
            <a:ext cx="3506325" cy="1635545"/>
            <a:chOff x="87" y="2007"/>
            <a:chExt cx="2593" cy="1849"/>
          </a:xfrm>
        </p:grpSpPr>
        <p:sp>
          <p:nvSpPr>
            <p:cNvPr id="18" name="Text Box 14"/>
            <p:cNvSpPr txBox="1">
              <a:spLocks noChangeArrowheads="1"/>
            </p:cNvSpPr>
            <p:nvPr/>
          </p:nvSpPr>
          <p:spPr bwMode="auto">
            <a:xfrm>
              <a:off x="318" y="3628"/>
              <a:ext cx="2286" cy="228"/>
            </a:xfrm>
            <a:prstGeom prst="rect">
              <a:avLst/>
            </a:prstGeom>
            <a:solidFill>
              <a:srgbClr val="FFFF99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s-ES_tradnl" sz="1400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Los líquidos son fluidos poco compresibles</a:t>
              </a:r>
              <a:endParaRPr lang="es-ES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19" name="Group 15"/>
            <p:cNvGrpSpPr>
              <a:grpSpLocks/>
            </p:cNvGrpSpPr>
            <p:nvPr/>
          </p:nvGrpSpPr>
          <p:grpSpPr bwMode="auto">
            <a:xfrm>
              <a:off x="87" y="2007"/>
              <a:ext cx="2593" cy="1606"/>
              <a:chOff x="87" y="821"/>
              <a:chExt cx="2593" cy="1606"/>
            </a:xfrm>
          </p:grpSpPr>
          <p:pic>
            <p:nvPicPr>
              <p:cNvPr id="20" name="Picture 16" descr="C:\Mis documentos\Presentac en Pw point\Banco de graficos\Bco Graficos Fisica\Gr Fisica Ecosfera 4º\p072a.jpg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87" y="821"/>
                <a:ext cx="2593" cy="158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21" name="Text Box 17"/>
              <p:cNvSpPr txBox="1">
                <a:spLocks noChangeArrowheads="1"/>
              </p:cNvSpPr>
              <p:nvPr/>
            </p:nvSpPr>
            <p:spPr bwMode="auto">
              <a:xfrm>
                <a:off x="886" y="1302"/>
                <a:ext cx="994" cy="2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s-ES_tradnl" sz="2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Líquido</a:t>
                </a:r>
                <a:endParaRPr lang="es-ES" sz="2000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2" name="Text Box 18"/>
              <p:cNvSpPr txBox="1">
                <a:spLocks noChangeArrowheads="1"/>
              </p:cNvSpPr>
              <p:nvPr/>
            </p:nvSpPr>
            <p:spPr bwMode="auto">
              <a:xfrm>
                <a:off x="1036" y="2131"/>
                <a:ext cx="695" cy="2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s-ES_tradnl" sz="2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Líquido</a:t>
                </a:r>
                <a:endParaRPr lang="es-ES" sz="2000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33645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  <a:endParaRPr lang="es-PE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ángulo redondeado 14"/>
          <p:cNvSpPr/>
          <p:nvPr/>
        </p:nvSpPr>
        <p:spPr>
          <a:xfrm>
            <a:off x="1669791" y="868377"/>
            <a:ext cx="4651361" cy="571401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400" b="1" dirty="0" smtClean="0">
                <a:solidFill>
                  <a:schemeClr val="tx1"/>
                </a:solidFill>
              </a:rPr>
              <a:t>ECUACIÓN DE CONTINUIDAD</a:t>
            </a:r>
            <a:endParaRPr lang="es-PE" sz="2400" dirty="0">
              <a:solidFill>
                <a:schemeClr val="tx1"/>
              </a:solidFill>
            </a:endParaRPr>
          </a:p>
        </p:txBody>
      </p:sp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6656" y="2060848"/>
            <a:ext cx="7288933" cy="2733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" name="1 Marcador de contenido"/>
          <p:cNvSpPr txBox="1">
            <a:spLocks/>
          </p:cNvSpPr>
          <p:nvPr/>
        </p:nvSpPr>
        <p:spPr>
          <a:xfrm>
            <a:off x="1856656" y="5013176"/>
            <a:ext cx="4038600" cy="505476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800" dirty="0" smtClean="0">
                <a:solidFill>
                  <a:schemeClr val="tx1"/>
                </a:solidFill>
              </a:rPr>
              <a:t>Para una densidad constante.</a:t>
            </a:r>
          </a:p>
          <a:p>
            <a:endParaRPr lang="es-PE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6 CuadroTexto"/>
              <p:cNvSpPr txBox="1"/>
              <p:nvPr/>
            </p:nvSpPr>
            <p:spPr>
              <a:xfrm>
                <a:off x="1947463" y="5630147"/>
                <a:ext cx="2946656" cy="646331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sz="3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sz="36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s-PE" sz="36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PE" sz="3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sz="36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s-PE" sz="36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s-PE" sz="36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s-PE" sz="3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sz="36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s-PE" sz="36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PE" sz="3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sz="36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s-PE" sz="36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PE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6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7463" y="5630147"/>
                <a:ext cx="2946656" cy="646331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3 Marcador de contenido"/>
          <p:cNvSpPr txBox="1">
            <a:spLocks/>
          </p:cNvSpPr>
          <p:nvPr/>
        </p:nvSpPr>
        <p:spPr>
          <a:xfrm>
            <a:off x="5867400" y="5013176"/>
            <a:ext cx="4038600" cy="472751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PE" sz="1800" dirty="0" smtClean="0">
                <a:solidFill>
                  <a:schemeClr val="tx1"/>
                </a:solidFill>
              </a:rPr>
              <a:t>Para una densidad variable.</a:t>
            </a:r>
            <a:endParaRPr lang="es-PE" sz="1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7 CuadroTexto"/>
              <p:cNvSpPr txBox="1"/>
              <p:nvPr/>
            </p:nvSpPr>
            <p:spPr>
              <a:xfrm>
                <a:off x="5895256" y="5632902"/>
                <a:ext cx="3717364" cy="646331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sz="3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sz="360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𝜌</m:t>
                          </m:r>
                        </m:e>
                        <m:sub>
                          <m:r>
                            <a:rPr lang="es-PE" sz="36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PE" sz="3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sz="36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s-PE" sz="36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PE" sz="3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sz="36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s-PE" sz="36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s-PE" sz="36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s-PE" sz="3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sz="3600" i="1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𝜌</m:t>
                          </m:r>
                        </m:e>
                        <m:sub>
                          <m:r>
                            <a:rPr lang="es-PE" sz="36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PE" sz="3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sz="36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s-PE" sz="36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PE" sz="3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sz="36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s-PE" sz="36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PE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7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5256" y="5632902"/>
                <a:ext cx="3717364" cy="646331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9660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3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  <a:endParaRPr lang="es-PE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ángulo redondeado 13"/>
          <p:cNvSpPr/>
          <p:nvPr/>
        </p:nvSpPr>
        <p:spPr>
          <a:xfrm>
            <a:off x="1712640" y="764704"/>
            <a:ext cx="5976664" cy="560768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s-PE" sz="2400" dirty="0" smtClean="0">
                <a:solidFill>
                  <a:schemeClr val="tx1"/>
                </a:solidFill>
              </a:rPr>
              <a:t>CAUDAL, GASTO O FLUJO VOLUMETRICO (Q)</a:t>
            </a:r>
            <a:endParaRPr lang="es-PE" sz="2800" dirty="0">
              <a:solidFill>
                <a:schemeClr val="tx1"/>
              </a:solidFill>
            </a:endParaRPr>
          </a:p>
        </p:txBody>
      </p:sp>
      <p:pic>
        <p:nvPicPr>
          <p:cNvPr id="20" name="Picture 1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776" y="1952454"/>
            <a:ext cx="6446910" cy="41772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5" name="2 Marcador de contenido"/>
          <p:cNvSpPr txBox="1">
            <a:spLocks/>
          </p:cNvSpPr>
          <p:nvPr/>
        </p:nvSpPr>
        <p:spPr>
          <a:xfrm>
            <a:off x="194073" y="3356992"/>
            <a:ext cx="2467766" cy="1368152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s-PE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La unidad en el SI es m</a:t>
            </a:r>
            <a:r>
              <a:rPr lang="es-PE" baseline="30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3</a:t>
            </a:r>
            <a:r>
              <a:rPr lang="es-PE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/s.</a:t>
            </a:r>
          </a:p>
          <a:p>
            <a:pPr marL="0" indent="0" algn="r">
              <a:buNone/>
            </a:pPr>
            <a:r>
              <a:rPr lang="es-PE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La unidad en el Sistema Inglés es pie</a:t>
            </a:r>
            <a:r>
              <a:rPr lang="es-PE" baseline="30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3</a:t>
            </a:r>
            <a:r>
              <a:rPr lang="es-PE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/s.</a:t>
            </a:r>
            <a:endParaRPr lang="es-ES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algn="r"/>
            <a:endParaRPr lang="es-ES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algn="r"/>
            <a:endParaRPr lang="es-PE" dirty="0">
              <a:solidFill>
                <a:schemeClr val="tx1"/>
              </a:solidFill>
            </a:endParaRPr>
          </a:p>
        </p:txBody>
      </p:sp>
      <p:graphicFrame>
        <p:nvGraphicFramePr>
          <p:cNvPr id="26" name="3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2776384"/>
              </p:ext>
            </p:extLst>
          </p:nvPr>
        </p:nvGraphicFramePr>
        <p:xfrm>
          <a:off x="457200" y="2132856"/>
          <a:ext cx="1941513" cy="858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6" name="Equation" r:id="rId4" imgW="876240" imgH="393480" progId="Equation.DSMT4">
                  <p:embed/>
                </p:oleObj>
              </mc:Choice>
              <mc:Fallback>
                <p:oleObj name="Equation" r:id="rId4" imgW="87624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132856"/>
                        <a:ext cx="1941513" cy="858837"/>
                      </a:xfrm>
                      <a:prstGeom prst="rect">
                        <a:avLst/>
                      </a:prstGeom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67796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  <a:endParaRPr lang="es-PE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ángulo redondeado 4"/>
              <p:cNvSpPr/>
              <p:nvPr/>
            </p:nvSpPr>
            <p:spPr>
              <a:xfrm>
                <a:off x="1546412" y="813699"/>
                <a:ext cx="4342692" cy="527069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PE" sz="2400" b="1" dirty="0" smtClean="0">
                    <a:solidFill>
                      <a:schemeClr val="tx1"/>
                    </a:solidFill>
                  </a:rPr>
                  <a:t>FLUJO O CAUDAL MASICO (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s-PE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PE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</m:acc>
                  </m:oMath>
                </a14:m>
                <a:r>
                  <a:rPr lang="es-PE" sz="2400" b="1" dirty="0" smtClean="0">
                    <a:solidFill>
                      <a:schemeClr val="tx1"/>
                    </a:solidFill>
                  </a:rPr>
                  <a:t>)</a:t>
                </a:r>
                <a:endParaRPr lang="es-PE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ángulo redondead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6412" y="813699"/>
                <a:ext cx="4342692" cy="527069"/>
              </a:xfrm>
              <a:prstGeom prst="round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2 Marcador de contenido"/>
              <p:cNvSpPr txBox="1">
                <a:spLocks/>
              </p:cNvSpPr>
              <p:nvPr/>
            </p:nvSpPr>
            <p:spPr>
              <a:xfrm>
                <a:off x="736476" y="2060848"/>
                <a:ext cx="4038600" cy="3214572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EFA82F"/>
                  </a:buClr>
                  <a:buFont typeface="Arial" pitchFamily="34" charset="0"/>
                  <a:buChar char="•"/>
                  <a:defRPr sz="1600" kern="1200">
                    <a:solidFill>
                      <a:srgbClr val="676767"/>
                    </a:solidFill>
                    <a:latin typeface="Arial"/>
                    <a:ea typeface="ＭＳ Ｐゴシック" charset="-128"/>
                    <a:cs typeface="+mn-cs"/>
                  </a:defRPr>
                </a:lvl1pPr>
                <a:lvl2pPr marL="742950" indent="-28575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EFA82F"/>
                  </a:buClr>
                  <a:buFont typeface="Arial" pitchFamily="34" charset="0"/>
                  <a:buChar char="•"/>
                  <a:defRPr sz="1600" kern="1200">
                    <a:solidFill>
                      <a:srgbClr val="676767"/>
                    </a:solidFill>
                    <a:latin typeface="Arial"/>
                    <a:ea typeface="ＭＳ Ｐゴシック" charset="-128"/>
                    <a:cs typeface="+mn-cs"/>
                  </a:defRPr>
                </a:lvl2pPr>
                <a:lvl3pPr marL="1143000" indent="-22860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EFA82F"/>
                  </a:buClr>
                  <a:buFont typeface="Arial" pitchFamily="34" charset="0"/>
                  <a:buChar char="•"/>
                  <a:defRPr sz="1600" kern="1200">
                    <a:solidFill>
                      <a:srgbClr val="676767"/>
                    </a:solidFill>
                    <a:latin typeface="Arial"/>
                    <a:ea typeface="ＭＳ Ｐゴシック" charset="-128"/>
                    <a:cs typeface="+mn-cs"/>
                  </a:defRPr>
                </a:lvl3pPr>
                <a:lvl4pPr marL="1600200" indent="-22860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EFA82F"/>
                  </a:buClr>
                  <a:buFont typeface="Arial" pitchFamily="34" charset="0"/>
                  <a:buChar char="•"/>
                  <a:defRPr sz="1600" kern="1200">
                    <a:solidFill>
                      <a:srgbClr val="676767"/>
                    </a:solidFill>
                    <a:latin typeface="Arial"/>
                    <a:ea typeface="ＭＳ Ｐゴシック" charset="-128"/>
                    <a:cs typeface="+mn-cs"/>
                  </a:defRPr>
                </a:lvl4pPr>
                <a:lvl5pPr marL="2057400" indent="-22860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EFA82F"/>
                  </a:buClr>
                  <a:buFont typeface="Arial" pitchFamily="34" charset="0"/>
                  <a:buChar char="•"/>
                  <a:defRPr sz="1600" kern="1200">
                    <a:solidFill>
                      <a:srgbClr val="676767"/>
                    </a:solidFill>
                    <a:latin typeface="Arial"/>
                    <a:ea typeface="ＭＳ Ｐゴシック" charset="-128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s-PE" sz="1800" dirty="0" smtClean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 define como </a:t>
                </a:r>
                <a:r>
                  <a:rPr lang="es-PE" sz="1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 cantidad de </a:t>
                </a:r>
                <a:r>
                  <a:rPr lang="es-PE" sz="1800" dirty="0" smtClean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masa (kg) </a:t>
                </a:r>
                <a:r>
                  <a:rPr lang="es-PE" sz="1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por unidad </a:t>
                </a:r>
                <a:r>
                  <a:rPr lang="es-PE" sz="1800" dirty="0" smtClean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 tiempo (s).</a:t>
                </a:r>
              </a:p>
              <a:p>
                <a:pPr marL="0" indent="0">
                  <a:buFont typeface="Arial" pitchFamily="34" charset="0"/>
                  <a:buNone/>
                </a:pPr>
                <a:endParaRPr lang="es-PE" sz="18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s-PE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PE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</m:acc>
                      <m:r>
                        <a:rPr lang="es-PE" sz="2000" i="1" dirty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r>
                        <a:rPr lang="es-PE" sz="2000" i="1" dirty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𝜌</m:t>
                      </m:r>
                      <m:r>
                        <a:rPr lang="es-PE" sz="2000" i="1" dirty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𝐴𝑣</m:t>
                      </m:r>
                    </m:oMath>
                  </m:oMathPara>
                </a14:m>
                <a:endParaRPr lang="es-PE" sz="20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Font typeface="Arial" pitchFamily="34" charset="0"/>
                  <a:buNone/>
                </a:pPr>
                <a:endParaRPr lang="es-PE" sz="18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Font typeface="Arial" pitchFamily="34" charset="0"/>
                  <a:buNone/>
                </a:pPr>
                <a:r>
                  <a:rPr lang="es-PE" sz="1800" dirty="0" smtClean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Las unidades del caudal másico son:</a:t>
                </a:r>
              </a:p>
              <a:p>
                <a:pPr marL="0" indent="0">
                  <a:buFont typeface="Arial" pitchFamily="34" charset="0"/>
                  <a:buNone/>
                </a:pPr>
                <a:endParaRPr lang="es-PE" sz="1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Font typeface="Arial" pitchFamily="34" charset="0"/>
                  <a:buNone/>
                </a:pPr>
                <a:r>
                  <a:rPr lang="es-PE" sz="1800" dirty="0" smtClean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Sistema Internacional: kg/s</a:t>
                </a:r>
              </a:p>
              <a:p>
                <a:pPr marL="0" indent="0">
                  <a:buFont typeface="Arial" pitchFamily="34" charset="0"/>
                  <a:buNone/>
                </a:pPr>
                <a:r>
                  <a:rPr lang="es-PE" sz="1800" dirty="0" smtClean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Sistema Inglés: lb/s</a:t>
                </a:r>
                <a:endParaRPr lang="es-PE" sz="1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Font typeface="Arial" pitchFamily="34" charset="0"/>
                  <a:buNone/>
                </a:pPr>
                <a:endParaRPr lang="es-PE" dirty="0"/>
              </a:p>
            </p:txBody>
          </p:sp>
        </mc:Choice>
        <mc:Fallback xmlns="">
          <p:sp>
            <p:nvSpPr>
              <p:cNvPr id="12" name="2 Marcador de contenid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476" y="2060848"/>
                <a:ext cx="4038600" cy="3214572"/>
              </a:xfrm>
              <a:prstGeom prst="rect">
                <a:avLst/>
              </a:prstGeom>
              <a:blipFill rotWithShape="0">
                <a:blip r:embed="rId3"/>
                <a:stretch>
                  <a:fillRect l="-1360" t="-949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8 Marcador de contenido"/>
          <p:cNvSpPr txBox="1">
            <a:spLocks/>
          </p:cNvSpPr>
          <p:nvPr/>
        </p:nvSpPr>
        <p:spPr>
          <a:xfrm>
            <a:off x="5186985" y="1576170"/>
            <a:ext cx="4038600" cy="394380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PE" b="1" dirty="0" err="1" smtClean="0">
                <a:solidFill>
                  <a:schemeClr val="tx1"/>
                </a:solidFill>
              </a:rPr>
              <a:t>Caudalímetro</a:t>
            </a:r>
            <a:r>
              <a:rPr lang="es-PE" b="1" dirty="0" smtClean="0">
                <a:solidFill>
                  <a:schemeClr val="tx1"/>
                </a:solidFill>
              </a:rPr>
              <a:t> másicos </a:t>
            </a:r>
            <a:r>
              <a:rPr lang="es-PE" b="1" dirty="0" err="1" smtClean="0">
                <a:solidFill>
                  <a:schemeClr val="tx1"/>
                </a:solidFill>
              </a:rPr>
              <a:t>coriolis</a:t>
            </a:r>
            <a:endParaRPr lang="es-PE" b="1" dirty="0" smtClean="0">
              <a:solidFill>
                <a:schemeClr val="tx1"/>
              </a:solidFill>
            </a:endParaRPr>
          </a:p>
          <a:p>
            <a:endParaRPr lang="es-PE" dirty="0" smtClean="0">
              <a:solidFill>
                <a:schemeClr val="accent6">
                  <a:lumMod val="75000"/>
                </a:schemeClr>
              </a:solidFill>
            </a:endParaRPr>
          </a:p>
          <a:p>
            <a:endParaRPr lang="es-PE" dirty="0" smtClean="0">
              <a:solidFill>
                <a:schemeClr val="accent6">
                  <a:lumMod val="75000"/>
                </a:schemeClr>
              </a:solidFill>
            </a:endParaRPr>
          </a:p>
          <a:p>
            <a:endParaRPr lang="es-PE" dirty="0" smtClean="0">
              <a:solidFill>
                <a:schemeClr val="accent6">
                  <a:lumMod val="75000"/>
                </a:schemeClr>
              </a:solidFill>
            </a:endParaRPr>
          </a:p>
          <a:p>
            <a:endParaRPr lang="es-PE" dirty="0" smtClean="0">
              <a:solidFill>
                <a:schemeClr val="accent6">
                  <a:lumMod val="75000"/>
                </a:schemeClr>
              </a:solidFill>
            </a:endParaRPr>
          </a:p>
          <a:p>
            <a:endParaRPr lang="es-PE" dirty="0" smtClean="0">
              <a:solidFill>
                <a:schemeClr val="accent6">
                  <a:lumMod val="75000"/>
                </a:schemeClr>
              </a:solidFill>
            </a:endParaRPr>
          </a:p>
          <a:p>
            <a:endParaRPr lang="es-PE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es-PE" dirty="0" smtClean="0">
              <a:solidFill>
                <a:schemeClr val="accent6">
                  <a:lumMod val="75000"/>
                </a:schemeClr>
              </a:solidFill>
            </a:endParaRPr>
          </a:p>
          <a:p>
            <a:endParaRPr lang="es-PE" dirty="0" smtClean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s-PE" b="1" dirty="0" err="1" smtClean="0">
                <a:solidFill>
                  <a:schemeClr val="tx1"/>
                </a:solidFill>
              </a:rPr>
              <a:t>Caudalímetro</a:t>
            </a:r>
            <a:r>
              <a:rPr lang="es-PE" b="1" dirty="0" smtClean="0">
                <a:solidFill>
                  <a:schemeClr val="tx1"/>
                </a:solidFill>
              </a:rPr>
              <a:t> másico para gases</a:t>
            </a:r>
            <a:endParaRPr lang="es-PE" b="1" dirty="0">
              <a:solidFill>
                <a:schemeClr val="tx1"/>
              </a:solidFill>
            </a:endParaRPr>
          </a:p>
        </p:txBody>
      </p:sp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8968" y="1981061"/>
            <a:ext cx="1634634" cy="2160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8968" y="4546192"/>
            <a:ext cx="2156812" cy="2181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15178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  <a:endParaRPr lang="es-PE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redondeado 5"/>
          <p:cNvSpPr/>
          <p:nvPr/>
        </p:nvSpPr>
        <p:spPr>
          <a:xfrm>
            <a:off x="1681828" y="733293"/>
            <a:ext cx="2479084" cy="844499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PE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EJERCICIOS</a:t>
            </a:r>
            <a:endParaRPr lang="es-PE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5 Marcador de contenido"/>
          <p:cNvSpPr txBox="1">
            <a:spLocks/>
          </p:cNvSpPr>
          <p:nvPr/>
        </p:nvSpPr>
        <p:spPr>
          <a:xfrm>
            <a:off x="776536" y="1689231"/>
            <a:ext cx="7632848" cy="5141425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itchFamily="34" charset="0"/>
              <a:buNone/>
            </a:pPr>
            <a:r>
              <a:rPr lang="es-MX" sz="1900" dirty="0" smtClean="0">
                <a:solidFill>
                  <a:schemeClr val="tx1"/>
                </a:solidFill>
              </a:rPr>
              <a:t>Entra aire de una manera estacionaria a una tobera a 2,21kg/m</a:t>
            </a:r>
            <a:r>
              <a:rPr lang="es-MX" sz="1900" baseline="30000" dirty="0" smtClean="0">
                <a:solidFill>
                  <a:schemeClr val="tx1"/>
                </a:solidFill>
              </a:rPr>
              <a:t>3</a:t>
            </a:r>
            <a:r>
              <a:rPr lang="es-MX" sz="1900" dirty="0" smtClean="0">
                <a:solidFill>
                  <a:schemeClr val="tx1"/>
                </a:solidFill>
              </a:rPr>
              <a:t> y 30 m/s, y sale a 0,762 kg/m</a:t>
            </a:r>
            <a:r>
              <a:rPr lang="es-MX" sz="1900" baseline="30000" dirty="0" smtClean="0">
                <a:solidFill>
                  <a:schemeClr val="tx1"/>
                </a:solidFill>
              </a:rPr>
              <a:t>3</a:t>
            </a:r>
            <a:r>
              <a:rPr lang="es-MX" sz="1900" dirty="0" smtClean="0">
                <a:solidFill>
                  <a:schemeClr val="tx1"/>
                </a:solidFill>
              </a:rPr>
              <a:t> y 180 m/s. si el área de la entrada de la tobera es de 80 cm</a:t>
            </a:r>
            <a:r>
              <a:rPr lang="es-MX" sz="1900" baseline="30000" dirty="0" smtClean="0">
                <a:solidFill>
                  <a:schemeClr val="tx1"/>
                </a:solidFill>
              </a:rPr>
              <a:t>2</a:t>
            </a:r>
            <a:r>
              <a:rPr lang="es-MX" sz="1900" dirty="0" smtClean="0">
                <a:solidFill>
                  <a:schemeClr val="tx1"/>
                </a:solidFill>
              </a:rPr>
              <a:t>, calcule a) el flujo de masa que pasa por la tobera y b) el área de salida de esta.</a:t>
            </a:r>
            <a:endParaRPr lang="es-PE" sz="1900" dirty="0" smtClean="0">
              <a:solidFill>
                <a:schemeClr val="tx1"/>
              </a:solidFill>
            </a:endParaRPr>
          </a:p>
          <a:p>
            <a:endParaRPr lang="es-PE" dirty="0"/>
          </a:p>
        </p:txBody>
      </p:sp>
      <p:pic>
        <p:nvPicPr>
          <p:cNvPr id="11" name="Picture 2" descr="http://www.clasicasdiaz.com/tienda/258-thickbox_default/tobera-filtro-de-aire-bultaco-alpina-mod-137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99" t="19739" r="3801" b="15260"/>
          <a:stretch/>
        </p:blipFill>
        <p:spPr bwMode="auto">
          <a:xfrm>
            <a:off x="992560" y="3356992"/>
            <a:ext cx="3168352" cy="2263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770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  <a:endParaRPr lang="es-PE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redondeado 5"/>
          <p:cNvSpPr/>
          <p:nvPr/>
        </p:nvSpPr>
        <p:spPr>
          <a:xfrm>
            <a:off x="1784648" y="954706"/>
            <a:ext cx="4032448" cy="530078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400" b="1" dirty="0" smtClean="0">
                <a:solidFill>
                  <a:schemeClr val="tx1"/>
                </a:solidFill>
              </a:rPr>
              <a:t>ECUACIÓN DE BERNOULLI</a:t>
            </a:r>
            <a:endParaRPr lang="es-PE" sz="2400" b="1" dirty="0">
              <a:solidFill>
                <a:schemeClr val="tx1"/>
              </a:solidFill>
            </a:endParaRPr>
          </a:p>
        </p:txBody>
      </p:sp>
      <p:sp>
        <p:nvSpPr>
          <p:cNvPr id="9" name="4 Marcador de contenido"/>
          <p:cNvSpPr txBox="1">
            <a:spLocks/>
          </p:cNvSpPr>
          <p:nvPr/>
        </p:nvSpPr>
        <p:spPr>
          <a:xfrm>
            <a:off x="992560" y="1707427"/>
            <a:ext cx="4038600" cy="5141425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PE" sz="18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La ecuación de Bernoulli relaciona la presión (MANOMÉTRICA) </a:t>
            </a:r>
            <a:r>
              <a:rPr lang="es-PE" sz="1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P</a:t>
            </a:r>
            <a:r>
              <a:rPr lang="es-PE" sz="18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, la rapidez de flujo </a:t>
            </a:r>
            <a:r>
              <a:rPr lang="es-PE" sz="1800" b="1" i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v</a:t>
            </a:r>
            <a:r>
              <a:rPr lang="es-PE" sz="18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y la altura </a:t>
            </a:r>
            <a:r>
              <a:rPr lang="es-PE" sz="1800" b="1" i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z</a:t>
            </a:r>
            <a:r>
              <a:rPr lang="es-PE" sz="18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de dos puntos 1 y 2 cualesquiera.</a:t>
            </a:r>
          </a:p>
          <a:p>
            <a:pPr algn="just"/>
            <a:endParaRPr lang="es-PE" sz="1800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algn="just"/>
            <a:endParaRPr lang="es-PE" dirty="0" smtClean="0">
              <a:latin typeface="Cambria" pitchFamily="18" charset="0"/>
            </a:endParaRPr>
          </a:p>
          <a:p>
            <a:pPr algn="just"/>
            <a:endParaRPr lang="es-PE" dirty="0" smtClean="0">
              <a:latin typeface="Cambria" pitchFamily="18" charset="0"/>
            </a:endParaRPr>
          </a:p>
          <a:p>
            <a:pPr algn="just"/>
            <a:endParaRPr lang="es-PE" dirty="0" smtClean="0">
              <a:latin typeface="Cambria" pitchFamily="18" charset="0"/>
            </a:endParaRPr>
          </a:p>
          <a:p>
            <a:pPr marL="0" indent="0" algn="just">
              <a:buNone/>
            </a:pPr>
            <a:r>
              <a:rPr lang="es-PE" sz="18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La cantidad E es siempre</a:t>
            </a:r>
            <a:endParaRPr lang="es-PE" sz="18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8 Rectángulo"/>
              <p:cNvSpPr/>
              <p:nvPr/>
            </p:nvSpPr>
            <p:spPr>
              <a:xfrm>
                <a:off x="1164596" y="2980464"/>
                <a:ext cx="4057136" cy="918328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PE" sz="2400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400" b="1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400" b="1" i="0">
                                  <a:solidFill>
                                    <a:schemeClr val="tx1"/>
                                  </a:solidFill>
                                  <a:effectLst/>
                                  <a:latin typeface="Cambria Math"/>
                                </a:rPr>
                                <m:t>𝐏</m:t>
                              </m:r>
                            </m:e>
                            <m:sub>
                              <m:r>
                                <a:rPr lang="es-PE" sz="2400" b="1" i="0">
                                  <a:solidFill>
                                    <a:schemeClr val="tx1"/>
                                  </a:solidFill>
                                  <a:effectLst/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num>
                        <m:den>
                          <m:r>
                            <a:rPr lang="es-PE" sz="2400" b="1" i="0"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</a:rPr>
                            <m:t>𝛄</m:t>
                          </m:r>
                        </m:den>
                      </m:f>
                      <m:r>
                        <a:rPr lang="es-PE" sz="2400" b="1" i="0">
                          <a:solidFill>
                            <a:schemeClr val="tx1"/>
                          </a:solidFill>
                          <a:effectLst/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s-PE" sz="2400" b="1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s-PE" sz="2400" b="1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PE" sz="2400" b="1" i="0">
                                  <a:solidFill>
                                    <a:schemeClr val="tx1"/>
                                  </a:solidFill>
                                  <a:effectLst/>
                                  <a:latin typeface="Cambria Math"/>
                                </a:rPr>
                                <m:t>𝐯</m:t>
                              </m:r>
                            </m:e>
                            <m:sub>
                              <m:r>
                                <a:rPr lang="es-PE" sz="2400" b="1" i="0">
                                  <a:solidFill>
                                    <a:schemeClr val="tx1"/>
                                  </a:solidFill>
                                  <a:effectLst/>
                                  <a:latin typeface="Cambria Math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s-PE" sz="2400" b="1" i="0">
                                  <a:solidFill>
                                    <a:schemeClr val="tx1"/>
                                  </a:solidFill>
                                  <a:effectLst/>
                                  <a:latin typeface="Cambria Math"/>
                                </a:rPr>
                                <m:t>𝟐</m:t>
                              </m:r>
                            </m:sup>
                          </m:sSubSup>
                        </m:num>
                        <m:den>
                          <m:r>
                            <a:rPr lang="es-PE" sz="2400" b="1" i="0"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</a:rPr>
                            <m:t>𝟐𝐠</m:t>
                          </m:r>
                        </m:den>
                      </m:f>
                      <m:r>
                        <a:rPr lang="es-PE" sz="2400" b="1" i="0">
                          <a:solidFill>
                            <a:schemeClr val="tx1"/>
                          </a:solidFill>
                          <a:effectLst/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s-PE" sz="2400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sz="2400" b="1" i="0" smtClean="0"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</a:rPr>
                            <m:t>𝐳</m:t>
                          </m:r>
                        </m:e>
                        <m:sub>
                          <m:r>
                            <a:rPr lang="es-PE" sz="2400" b="1" i="0"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</a:rPr>
                            <m:t>𝟏</m:t>
                          </m:r>
                        </m:sub>
                      </m:sSub>
                      <m:r>
                        <a:rPr lang="es-PE" sz="2400" b="1" i="0">
                          <a:solidFill>
                            <a:schemeClr val="tx1"/>
                          </a:solidFill>
                          <a:effectLst/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PE" sz="2400" b="1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400" b="1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400" b="1" i="0">
                                  <a:solidFill>
                                    <a:schemeClr val="tx1"/>
                                  </a:solidFill>
                                  <a:effectLst/>
                                  <a:latin typeface="Cambria Math"/>
                                </a:rPr>
                                <m:t>𝐏</m:t>
                              </m:r>
                            </m:e>
                            <m:sub>
                              <m:r>
                                <a:rPr lang="es-PE" sz="2400" b="1" i="0">
                                  <a:solidFill>
                                    <a:schemeClr val="tx1"/>
                                  </a:solidFill>
                                  <a:effectLst/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</m:num>
                        <m:den>
                          <m:r>
                            <a:rPr lang="es-PE" sz="2400" b="1" i="0"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</a:rPr>
                            <m:t>𝛄</m:t>
                          </m:r>
                        </m:den>
                      </m:f>
                      <m:r>
                        <a:rPr lang="es-PE" sz="2400" b="1" i="0">
                          <a:solidFill>
                            <a:schemeClr val="tx1"/>
                          </a:solidFill>
                          <a:effectLst/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s-PE" sz="2400" b="1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s-PE" sz="2400" b="1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PE" sz="2400" b="1" i="0">
                                  <a:solidFill>
                                    <a:schemeClr val="tx1"/>
                                  </a:solidFill>
                                  <a:effectLst/>
                                  <a:latin typeface="Cambria Math"/>
                                </a:rPr>
                                <m:t>𝐯</m:t>
                              </m:r>
                            </m:e>
                            <m:sub>
                              <m:r>
                                <a:rPr lang="es-PE" sz="2400" b="1" i="0">
                                  <a:solidFill>
                                    <a:schemeClr val="tx1"/>
                                  </a:solidFill>
                                  <a:effectLst/>
                                  <a:latin typeface="Cambria Math"/>
                                </a:rPr>
                                <m:t>𝟐</m:t>
                              </m:r>
                            </m:sub>
                            <m:sup>
                              <m:r>
                                <a:rPr lang="es-PE" sz="2400" b="1" i="0">
                                  <a:solidFill>
                                    <a:schemeClr val="tx1"/>
                                  </a:solidFill>
                                  <a:effectLst/>
                                  <a:latin typeface="Cambria Math"/>
                                </a:rPr>
                                <m:t>𝟐</m:t>
                              </m:r>
                            </m:sup>
                          </m:sSubSup>
                        </m:num>
                        <m:den>
                          <m:r>
                            <a:rPr lang="es-PE" sz="2400" b="1" i="0"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</a:rPr>
                            <m:t>𝟐𝐠</m:t>
                          </m:r>
                        </m:den>
                      </m:f>
                      <m:r>
                        <a:rPr lang="es-PE" sz="2400" b="1" i="0">
                          <a:solidFill>
                            <a:schemeClr val="tx1"/>
                          </a:solidFill>
                          <a:effectLst/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s-PE" sz="2400" b="1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sz="2400" b="1" i="0" smtClean="0"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</a:rPr>
                            <m:t>𝐳</m:t>
                          </m:r>
                        </m:e>
                        <m:sub>
                          <m:r>
                            <a:rPr lang="es-PE" sz="2400" b="1" i="0">
                              <a:solidFill>
                                <a:schemeClr val="tx1"/>
                              </a:solidFill>
                              <a:effectLst/>
                              <a:latin typeface="Cambria Math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s-PE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13" name="8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4596" y="2980464"/>
                <a:ext cx="4057136" cy="918328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17096" y="1707427"/>
            <a:ext cx="3260194" cy="4900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10 Rectángulo"/>
              <p:cNvSpPr/>
              <p:nvPr/>
            </p:nvSpPr>
            <p:spPr>
              <a:xfrm>
                <a:off x="1352600" y="4908374"/>
                <a:ext cx="2593339" cy="982833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s-PE" sz="3200" b="1" dirty="0" smtClean="0">
                    <a:solidFill>
                      <a:schemeClr val="tx1"/>
                    </a:solidFill>
                    <a:effectLst/>
                  </a:rPr>
                  <a:t>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PE" sz="32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PE" sz="3200" b="1" i="1" smtClean="0">
                            <a:solidFill>
                              <a:schemeClr val="tx1"/>
                            </a:solidFill>
                            <a:effectLst/>
                            <a:latin typeface="Cambria Math"/>
                          </a:rPr>
                          <m:t>𝑷</m:t>
                        </m:r>
                      </m:num>
                      <m:den>
                        <m:r>
                          <a:rPr lang="es-PE" sz="3200" b="1" i="1">
                            <a:solidFill>
                              <a:schemeClr val="tx1"/>
                            </a:solidFill>
                            <a:effectLst/>
                            <a:latin typeface="Cambria Math"/>
                          </a:rPr>
                          <m:t>𝜸</m:t>
                        </m:r>
                      </m:den>
                    </m:f>
                    <m:r>
                      <a:rPr lang="es-PE" sz="3200" b="1" i="1">
                        <a:solidFill>
                          <a:schemeClr val="tx1"/>
                        </a:solidFill>
                        <a:effectLst/>
                        <a:latin typeface="Cambria Math"/>
                      </a:rPr>
                      <m:t>+</m:t>
                    </m:r>
                    <m:f>
                      <m:fPr>
                        <m:ctrlPr>
                          <a:rPr lang="es-PE" sz="32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s-PE" sz="3200" b="1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PE" sz="3200" b="1" i="1">
                                <a:solidFill>
                                  <a:schemeClr val="tx1"/>
                                </a:solidFill>
                                <a:effectLst/>
                                <a:latin typeface="Cambria Math"/>
                              </a:rPr>
                              <m:t>𝒗</m:t>
                            </m:r>
                          </m:e>
                          <m:sub/>
                          <m:sup>
                            <m:r>
                              <a:rPr lang="es-PE" sz="3200" b="1" i="1">
                                <a:solidFill>
                                  <a:schemeClr val="tx1"/>
                                </a:solidFill>
                                <a:effectLst/>
                                <a:latin typeface="Cambria Math"/>
                              </a:rPr>
                              <m:t>𝟐</m:t>
                            </m:r>
                          </m:sup>
                        </m:sSubSup>
                      </m:num>
                      <m:den>
                        <m:r>
                          <a:rPr lang="es-PE" sz="3200" b="1" i="1">
                            <a:solidFill>
                              <a:schemeClr val="tx1"/>
                            </a:solidFill>
                            <a:effectLst/>
                            <a:latin typeface="Cambria Math"/>
                          </a:rPr>
                          <m:t>𝟐</m:t>
                        </m:r>
                        <m:r>
                          <a:rPr lang="es-PE" sz="3200" b="1" i="1">
                            <a:solidFill>
                              <a:schemeClr val="tx1"/>
                            </a:solidFill>
                            <a:effectLst/>
                            <a:latin typeface="Cambria Math"/>
                          </a:rPr>
                          <m:t>𝒈</m:t>
                        </m:r>
                      </m:den>
                    </m:f>
                    <m:r>
                      <a:rPr lang="es-PE" sz="3200" b="1" i="1" smtClean="0">
                        <a:solidFill>
                          <a:schemeClr val="tx1"/>
                        </a:solidFill>
                        <a:effectLst/>
                        <a:latin typeface="Cambria Math"/>
                      </a:rPr>
                      <m:t>+</m:t>
                    </m:r>
                    <m:r>
                      <a:rPr lang="es-PE" sz="3200" b="1" i="1" smtClean="0">
                        <a:solidFill>
                          <a:schemeClr val="tx1"/>
                        </a:solidFill>
                        <a:effectLst/>
                        <a:latin typeface="Cambria Math"/>
                      </a:rPr>
                      <m:t>𝒛</m:t>
                    </m:r>
                  </m:oMath>
                </a14:m>
                <a:endParaRPr lang="es-PE" sz="3200" b="1" dirty="0">
                  <a:solidFill>
                    <a:schemeClr val="tx1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15" name="10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2600" y="4908374"/>
                <a:ext cx="2593339" cy="982833"/>
              </a:xfrm>
              <a:prstGeom prst="rect">
                <a:avLst/>
              </a:prstGeom>
              <a:blipFill rotWithShape="0">
                <a:blip r:embed="rId5"/>
                <a:stretch>
                  <a:fillRect l="-5855" b="-3067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3907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  <a:endParaRPr lang="es-PE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ángulo redondeado 4"/>
          <p:cNvSpPr/>
          <p:nvPr/>
        </p:nvSpPr>
        <p:spPr>
          <a:xfrm>
            <a:off x="1546412" y="813699"/>
            <a:ext cx="3046548" cy="52706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400" b="1" dirty="0" smtClean="0">
                <a:solidFill>
                  <a:schemeClr val="tx1"/>
                </a:solidFill>
              </a:rPr>
              <a:t>EJERCICIOS</a:t>
            </a:r>
            <a:endParaRPr lang="es-PE" sz="2400" b="1" dirty="0">
              <a:solidFill>
                <a:schemeClr val="tx1"/>
              </a:solidFill>
            </a:endParaRPr>
          </a:p>
        </p:txBody>
      </p:sp>
      <p:sp>
        <p:nvSpPr>
          <p:cNvPr id="9" name="2 Marcador de contenido"/>
          <p:cNvSpPr txBox="1">
            <a:spLocks/>
          </p:cNvSpPr>
          <p:nvPr/>
        </p:nvSpPr>
        <p:spPr>
          <a:xfrm>
            <a:off x="848544" y="1722177"/>
            <a:ext cx="4038600" cy="4227104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itchFamily="34" charset="0"/>
              <a:buNone/>
            </a:pPr>
            <a:r>
              <a:rPr lang="es-PE" dirty="0" smtClean="0">
                <a:solidFill>
                  <a:schemeClr val="tx1"/>
                </a:solidFill>
              </a:rPr>
              <a:t>Desde un depósito de gran extensión fluye agua en régimen de Bernoulli como se indica en la figura. El depósito está abierto a la atmósfera y la presión es </a:t>
            </a:r>
            <a:r>
              <a:rPr lang="es-PE" i="1" dirty="0" smtClean="0">
                <a:solidFill>
                  <a:schemeClr val="tx1"/>
                </a:solidFill>
              </a:rPr>
              <a:t>H </a:t>
            </a:r>
            <a:r>
              <a:rPr lang="es-PE" dirty="0" smtClean="0">
                <a:solidFill>
                  <a:schemeClr val="tx1"/>
                </a:solidFill>
              </a:rPr>
              <a:t>= </a:t>
            </a:r>
            <a:r>
              <a:rPr lang="es-PE" i="1" dirty="0" smtClean="0">
                <a:solidFill>
                  <a:schemeClr val="tx1"/>
                </a:solidFill>
              </a:rPr>
              <a:t>740 </a:t>
            </a:r>
            <a:r>
              <a:rPr lang="es-PE" dirty="0" smtClean="0">
                <a:solidFill>
                  <a:schemeClr val="tx1"/>
                </a:solidFill>
              </a:rPr>
              <a:t>mm de Hg. La altura del punto </a:t>
            </a:r>
            <a:r>
              <a:rPr lang="es-PE" i="1" dirty="0" smtClean="0">
                <a:solidFill>
                  <a:schemeClr val="tx1"/>
                </a:solidFill>
              </a:rPr>
              <a:t>1 </a:t>
            </a:r>
            <a:r>
              <a:rPr lang="es-PE" dirty="0" smtClean="0">
                <a:solidFill>
                  <a:schemeClr val="tx1"/>
                </a:solidFill>
              </a:rPr>
              <a:t>es de </a:t>
            </a:r>
            <a:r>
              <a:rPr lang="es-PE" i="1" dirty="0" smtClean="0">
                <a:solidFill>
                  <a:schemeClr val="tx1"/>
                </a:solidFill>
              </a:rPr>
              <a:t>12,0 </a:t>
            </a:r>
            <a:r>
              <a:rPr lang="es-PE" dirty="0" smtClean="0">
                <a:solidFill>
                  <a:schemeClr val="tx1"/>
                </a:solidFill>
              </a:rPr>
              <a:t>m con respecto a los puntos </a:t>
            </a:r>
            <a:r>
              <a:rPr lang="es-PE" i="1" dirty="0" smtClean="0">
                <a:solidFill>
                  <a:schemeClr val="tx1"/>
                </a:solidFill>
              </a:rPr>
              <a:t>3 </a:t>
            </a:r>
            <a:r>
              <a:rPr lang="es-PE" dirty="0" smtClean="0">
                <a:solidFill>
                  <a:schemeClr val="tx1"/>
                </a:solidFill>
              </a:rPr>
              <a:t>y </a:t>
            </a:r>
            <a:r>
              <a:rPr lang="es-PE" i="1" dirty="0" smtClean="0">
                <a:solidFill>
                  <a:schemeClr val="tx1"/>
                </a:solidFill>
              </a:rPr>
              <a:t>4. </a:t>
            </a:r>
            <a:r>
              <a:rPr lang="es-PE" dirty="0" smtClean="0">
                <a:solidFill>
                  <a:schemeClr val="tx1"/>
                </a:solidFill>
              </a:rPr>
              <a:t>La sección transversal de la tubería en los puntos </a:t>
            </a:r>
            <a:r>
              <a:rPr lang="es-PE" i="1" dirty="0" smtClean="0">
                <a:solidFill>
                  <a:schemeClr val="tx1"/>
                </a:solidFill>
              </a:rPr>
              <a:t>2 </a:t>
            </a:r>
            <a:r>
              <a:rPr lang="es-PE" dirty="0" smtClean="0">
                <a:solidFill>
                  <a:schemeClr val="tx1"/>
                </a:solidFill>
              </a:rPr>
              <a:t>y </a:t>
            </a:r>
            <a:r>
              <a:rPr lang="es-PE" i="1" dirty="0" smtClean="0">
                <a:solidFill>
                  <a:schemeClr val="tx1"/>
                </a:solidFill>
              </a:rPr>
              <a:t>3 </a:t>
            </a:r>
            <a:r>
              <a:rPr lang="es-PE" dirty="0" smtClean="0">
                <a:solidFill>
                  <a:schemeClr val="tx1"/>
                </a:solidFill>
              </a:rPr>
              <a:t>es </a:t>
            </a:r>
            <a:r>
              <a:rPr lang="es-PE" i="1" dirty="0" smtClean="0">
                <a:solidFill>
                  <a:schemeClr val="tx1"/>
                </a:solidFill>
              </a:rPr>
              <a:t>300 </a:t>
            </a:r>
            <a:r>
              <a:rPr lang="es-PE" dirty="0" smtClean="0">
                <a:solidFill>
                  <a:schemeClr val="tx1"/>
                </a:solidFill>
              </a:rPr>
              <a:t>cm</a:t>
            </a:r>
            <a:r>
              <a:rPr lang="es-PE" i="1" baseline="30000" dirty="0" smtClean="0">
                <a:solidFill>
                  <a:schemeClr val="tx1"/>
                </a:solidFill>
              </a:rPr>
              <a:t>2</a:t>
            </a:r>
            <a:r>
              <a:rPr lang="es-PE" dirty="0" smtClean="0">
                <a:solidFill>
                  <a:schemeClr val="tx1"/>
                </a:solidFill>
              </a:rPr>
              <a:t>, y en el </a:t>
            </a:r>
            <a:r>
              <a:rPr lang="es-PE" i="1" dirty="0" smtClean="0">
                <a:solidFill>
                  <a:schemeClr val="tx1"/>
                </a:solidFill>
              </a:rPr>
              <a:t>4 </a:t>
            </a:r>
            <a:r>
              <a:rPr lang="es-PE" dirty="0" smtClean="0">
                <a:solidFill>
                  <a:schemeClr val="tx1"/>
                </a:solidFill>
              </a:rPr>
              <a:t>de </a:t>
            </a:r>
            <a:r>
              <a:rPr lang="es-PE" i="1" dirty="0" smtClean="0">
                <a:solidFill>
                  <a:schemeClr val="tx1"/>
                </a:solidFill>
              </a:rPr>
              <a:t>100 </a:t>
            </a:r>
            <a:r>
              <a:rPr lang="es-PE" dirty="0" smtClean="0">
                <a:solidFill>
                  <a:schemeClr val="tx1"/>
                </a:solidFill>
              </a:rPr>
              <a:t>cm</a:t>
            </a:r>
            <a:r>
              <a:rPr lang="es-PE" i="1" baseline="30000" dirty="0" smtClean="0">
                <a:solidFill>
                  <a:schemeClr val="tx1"/>
                </a:solidFill>
              </a:rPr>
              <a:t>2</a:t>
            </a:r>
            <a:r>
              <a:rPr lang="es-PE" i="1" dirty="0" smtClean="0">
                <a:solidFill>
                  <a:schemeClr val="tx1"/>
                </a:solidFill>
              </a:rPr>
              <a:t>. </a:t>
            </a:r>
            <a:r>
              <a:rPr lang="es-PE" dirty="0" smtClean="0">
                <a:solidFill>
                  <a:schemeClr val="tx1"/>
                </a:solidFill>
              </a:rPr>
              <a:t>Calcule:</a:t>
            </a:r>
          </a:p>
          <a:p>
            <a:pPr marL="0" indent="0">
              <a:buFont typeface="Arial" pitchFamily="34" charset="0"/>
              <a:buNone/>
            </a:pPr>
            <a:r>
              <a:rPr lang="es-PE" dirty="0" smtClean="0">
                <a:solidFill>
                  <a:schemeClr val="tx1"/>
                </a:solidFill>
              </a:rPr>
              <a:t> </a:t>
            </a:r>
          </a:p>
          <a:p>
            <a:pPr marL="457200" indent="-457200">
              <a:buFont typeface="+mj-lt"/>
              <a:buAutoNum type="alphaLcParenR"/>
            </a:pPr>
            <a:r>
              <a:rPr lang="es-PE" dirty="0" smtClean="0">
                <a:solidFill>
                  <a:schemeClr val="tx1"/>
                </a:solidFill>
              </a:rPr>
              <a:t>El caudal de agua que fluye por el punto </a:t>
            </a:r>
            <a:r>
              <a:rPr lang="es-PE" i="1" dirty="0" smtClean="0">
                <a:solidFill>
                  <a:schemeClr val="tx1"/>
                </a:solidFill>
              </a:rPr>
              <a:t>4</a:t>
            </a:r>
            <a:r>
              <a:rPr lang="es-PE" dirty="0" smtClean="0">
                <a:solidFill>
                  <a:schemeClr val="tx1"/>
                </a:solidFill>
              </a:rPr>
              <a:t>.</a:t>
            </a:r>
          </a:p>
          <a:p>
            <a:pPr marL="457200" indent="-457200">
              <a:buFont typeface="+mj-lt"/>
              <a:buAutoNum type="alphaLcParenR"/>
            </a:pPr>
            <a:r>
              <a:rPr lang="es-PE" dirty="0" smtClean="0">
                <a:solidFill>
                  <a:schemeClr val="tx1"/>
                </a:solidFill>
              </a:rPr>
              <a:t>La presión en el punto </a:t>
            </a:r>
            <a:r>
              <a:rPr lang="es-PE" i="1" dirty="0" smtClean="0">
                <a:solidFill>
                  <a:schemeClr val="tx1"/>
                </a:solidFill>
              </a:rPr>
              <a:t>3</a:t>
            </a:r>
            <a:r>
              <a:rPr lang="es-PE" dirty="0" smtClean="0">
                <a:solidFill>
                  <a:schemeClr val="tx1"/>
                </a:solidFill>
              </a:rPr>
              <a:t>.</a:t>
            </a:r>
          </a:p>
          <a:p>
            <a:pPr marL="457200" indent="-457200">
              <a:buFont typeface="+mj-lt"/>
              <a:buAutoNum type="alphaLcParenR"/>
            </a:pPr>
            <a:r>
              <a:rPr lang="es-PE" dirty="0" smtClean="0">
                <a:solidFill>
                  <a:schemeClr val="tx1"/>
                </a:solidFill>
              </a:rPr>
              <a:t>La altura del punto </a:t>
            </a:r>
            <a:r>
              <a:rPr lang="es-PE" i="1" dirty="0" smtClean="0">
                <a:solidFill>
                  <a:schemeClr val="tx1"/>
                </a:solidFill>
              </a:rPr>
              <a:t>2 </a:t>
            </a:r>
            <a:r>
              <a:rPr lang="es-PE" dirty="0" smtClean="0">
                <a:solidFill>
                  <a:schemeClr val="tx1"/>
                </a:solidFill>
              </a:rPr>
              <a:t>para que la presión en él sea de </a:t>
            </a:r>
            <a:r>
              <a:rPr lang="es-PE" i="1" dirty="0" smtClean="0">
                <a:solidFill>
                  <a:schemeClr val="tx1"/>
                </a:solidFill>
              </a:rPr>
              <a:t>1,2 </a:t>
            </a:r>
            <a:r>
              <a:rPr lang="es-PE" dirty="0" smtClean="0">
                <a:solidFill>
                  <a:schemeClr val="tx1"/>
                </a:solidFill>
              </a:rPr>
              <a:t>atm.</a:t>
            </a:r>
          </a:p>
          <a:p>
            <a:endParaRPr lang="es-PE" dirty="0">
              <a:solidFill>
                <a:schemeClr val="tx1"/>
              </a:solidFill>
            </a:endParaRPr>
          </a:p>
        </p:txBody>
      </p:sp>
      <p:pic>
        <p:nvPicPr>
          <p:cNvPr id="10" name="7 Marcador de contenido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9368" y="1984422"/>
            <a:ext cx="3888432" cy="25202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30523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  <a:endParaRPr lang="es-PE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redondeado 5"/>
          <p:cNvSpPr/>
          <p:nvPr/>
        </p:nvSpPr>
        <p:spPr>
          <a:xfrm>
            <a:off x="1681828" y="733293"/>
            <a:ext cx="1831012" cy="844499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PE" sz="2400" dirty="0" smtClean="0">
                <a:solidFill>
                  <a:schemeClr val="tx1"/>
                </a:solidFill>
              </a:rPr>
              <a:t>EJERCICIOS</a:t>
            </a:r>
            <a:endParaRPr lang="es-PE" sz="2400" b="1" dirty="0">
              <a:solidFill>
                <a:schemeClr val="tx1"/>
              </a:solidFill>
            </a:endParaRPr>
          </a:p>
        </p:txBody>
      </p:sp>
      <p:sp>
        <p:nvSpPr>
          <p:cNvPr id="39" name="2 Marcador de contenido"/>
          <p:cNvSpPr txBox="1">
            <a:spLocks/>
          </p:cNvSpPr>
          <p:nvPr/>
        </p:nvSpPr>
        <p:spPr>
          <a:xfrm>
            <a:off x="776536" y="1988840"/>
            <a:ext cx="4038600" cy="514142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itchFamily="34" charset="0"/>
              <a:buNone/>
            </a:pPr>
            <a:r>
              <a:rPr lang="es-PE" sz="1900" dirty="0" smtClean="0">
                <a:solidFill>
                  <a:schemeClr val="tx1"/>
                </a:solidFill>
              </a:rPr>
              <a:t>El gasto en una tubería por la que circula agua es 208 L/s. En la tubería hay instalado un medidor de Venturi (ver figura) con mercurio como líquido manométrico. Siendo 800 cm</a:t>
            </a:r>
            <a:r>
              <a:rPr lang="es-PE" sz="1900" baseline="30000" dirty="0" smtClean="0">
                <a:solidFill>
                  <a:schemeClr val="tx1"/>
                </a:solidFill>
              </a:rPr>
              <a:t>2</a:t>
            </a:r>
            <a:r>
              <a:rPr lang="es-PE" sz="1900" dirty="0" smtClean="0">
                <a:solidFill>
                  <a:schemeClr val="tx1"/>
                </a:solidFill>
              </a:rPr>
              <a:t> y 400 cm</a:t>
            </a:r>
            <a:r>
              <a:rPr lang="es-PE" sz="1900" baseline="30000" dirty="0" smtClean="0">
                <a:solidFill>
                  <a:schemeClr val="tx1"/>
                </a:solidFill>
              </a:rPr>
              <a:t>2</a:t>
            </a:r>
            <a:r>
              <a:rPr lang="es-PE" sz="1900" dirty="0" smtClean="0">
                <a:solidFill>
                  <a:schemeClr val="tx1"/>
                </a:solidFill>
              </a:rPr>
              <a:t> las secciones en la parte ancha y estrecha de la tubería, calcule el desnivel que se produce en el mercurio.</a:t>
            </a:r>
            <a:endParaRPr lang="es-PE" sz="1900" dirty="0">
              <a:solidFill>
                <a:schemeClr val="tx1"/>
              </a:solidFill>
            </a:endParaRPr>
          </a:p>
        </p:txBody>
      </p:sp>
      <p:pic>
        <p:nvPicPr>
          <p:cNvPr id="40" name="7 Marcador de contenido"/>
          <p:cNvPicPr>
            <a:picLocks/>
          </p:cNvPicPr>
          <p:nvPr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5395392" y="2179078"/>
            <a:ext cx="3384376" cy="30963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13271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  <a:endParaRPr lang="es-PE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redondeado 5"/>
          <p:cNvSpPr/>
          <p:nvPr/>
        </p:nvSpPr>
        <p:spPr>
          <a:xfrm>
            <a:off x="1712640" y="729560"/>
            <a:ext cx="6720160" cy="815960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APLICACIONES DE LA ECUACIÓN DE BERNOULLI</a:t>
            </a:r>
            <a:endParaRPr lang="es-PE" sz="2400" b="1" dirty="0">
              <a:solidFill>
                <a:schemeClr val="tx1"/>
              </a:solidFill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102" y="4653136"/>
            <a:ext cx="2592288" cy="1674708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504" y="1891161"/>
            <a:ext cx="3727516" cy="1922679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9024" y="1891161"/>
            <a:ext cx="4068820" cy="1858126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0952" y="4260083"/>
            <a:ext cx="5116993" cy="2067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410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  <a:endParaRPr lang="es-PE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ontent Placeholder 4"/>
          <p:cNvSpPr txBox="1">
            <a:spLocks/>
          </p:cNvSpPr>
          <p:nvPr/>
        </p:nvSpPr>
        <p:spPr>
          <a:xfrm>
            <a:off x="4730540" y="1567424"/>
            <a:ext cx="4896544" cy="4813904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PE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presión es una magnitud escalar que se considera energía por unidad de volumen.</a:t>
            </a:r>
          </a:p>
          <a:p>
            <a:pPr algn="just"/>
            <a:r>
              <a:rPr lang="es-MX" sz="2000" dirty="0" smtClean="0">
                <a:solidFill>
                  <a:schemeClr val="tx1"/>
                </a:solidFill>
              </a:rPr>
              <a:t>Los líquidos son fluidos incompresibles cuya densidad se considera constante.</a:t>
            </a:r>
          </a:p>
          <a:p>
            <a:pPr algn="just">
              <a:spcAft>
                <a:spcPts val="1200"/>
              </a:spcAft>
            </a:pPr>
            <a:r>
              <a:rPr lang="es-PE" sz="2000" dirty="0" smtClean="0">
                <a:solidFill>
                  <a:schemeClr val="tx1"/>
                </a:solidFill>
              </a:rPr>
              <a:t>Los líquidos o cuerpos flotan sobre otro fluido si su densidad promedio es menor que la densidad del fluido que los contiene.</a:t>
            </a:r>
          </a:p>
          <a:p>
            <a:pPr algn="just">
              <a:spcAft>
                <a:spcPts val="1200"/>
              </a:spcAft>
            </a:pPr>
            <a:r>
              <a:rPr lang="es-PE" sz="2000" dirty="0" smtClean="0">
                <a:solidFill>
                  <a:schemeClr val="tx1"/>
                </a:solidFill>
              </a:rPr>
              <a:t>Los fluidos ejercen una fuerza de presión sobre las superficies y el punto de aplicación de esa fuerza se conoce cono centro de presión.</a:t>
            </a:r>
          </a:p>
        </p:txBody>
      </p:sp>
      <p:sp>
        <p:nvSpPr>
          <p:cNvPr id="14" name="Rectángulo redondeado 13"/>
          <p:cNvSpPr/>
          <p:nvPr/>
        </p:nvSpPr>
        <p:spPr>
          <a:xfrm>
            <a:off x="1640633" y="980728"/>
            <a:ext cx="3096343" cy="504056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400" b="1" dirty="0" smtClean="0">
                <a:solidFill>
                  <a:schemeClr val="tx1"/>
                </a:solidFill>
              </a:rPr>
              <a:t>CONCLUSIONES</a:t>
            </a:r>
            <a:endParaRPr lang="es-PE" sz="2400" b="1" dirty="0">
              <a:solidFill>
                <a:schemeClr val="tx1"/>
              </a:solidFill>
            </a:endParaRPr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528" y="1988840"/>
            <a:ext cx="3739432" cy="391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421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  <a:endParaRPr lang="es-PE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redondeado 5"/>
          <p:cNvSpPr/>
          <p:nvPr/>
        </p:nvSpPr>
        <p:spPr>
          <a:xfrm>
            <a:off x="1640633" y="980728"/>
            <a:ext cx="3312367" cy="504056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400" b="1" dirty="0" smtClean="0">
                <a:solidFill>
                  <a:schemeClr val="tx1"/>
                </a:solidFill>
              </a:rPr>
              <a:t>METACOGNICIÓN</a:t>
            </a:r>
            <a:endParaRPr lang="es-PE" sz="2400" b="1" dirty="0">
              <a:solidFill>
                <a:schemeClr val="tx1"/>
              </a:solidFill>
            </a:endParaRPr>
          </a:p>
        </p:txBody>
      </p:sp>
      <p:sp>
        <p:nvSpPr>
          <p:cNvPr id="8" name="Bocadillo: rectángulo con esquinas redondeadas 1">
            <a:extLst>
              <a:ext uri="{FF2B5EF4-FFF2-40B4-BE49-F238E27FC236}">
                <a16:creationId xmlns:a16="http://schemas.microsoft.com/office/drawing/2014/main" xmlns="" id="{82BC446B-F639-467D-A250-25259F9EF4B8}"/>
              </a:ext>
            </a:extLst>
          </p:cNvPr>
          <p:cNvSpPr/>
          <p:nvPr/>
        </p:nvSpPr>
        <p:spPr>
          <a:xfrm>
            <a:off x="992560" y="2420888"/>
            <a:ext cx="7488832" cy="2664296"/>
          </a:xfrm>
          <a:prstGeom prst="wedgeRoundRectCallout">
            <a:avLst>
              <a:gd name="adj1" fmla="val -17962"/>
              <a:gd name="adj2" fmla="val 48532"/>
              <a:gd name="adj3" fmla="val 16667"/>
            </a:avLst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PE" sz="2400" dirty="0" smtClean="0">
                <a:solidFill>
                  <a:schemeClr val="tx1"/>
                </a:solidFill>
                <a:cs typeface="Arial" pitchFamily="34" charset="0"/>
              </a:rPr>
              <a:t>¿Por qué un fluido ejerce una fuerza sobre las superficies sumergidas?</a:t>
            </a:r>
            <a:endParaRPr lang="es-PE" sz="2400" dirty="0">
              <a:solidFill>
                <a:schemeClr val="tx1"/>
              </a:solidFill>
              <a:cs typeface="Arial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PE" sz="2400" dirty="0" smtClean="0">
                <a:solidFill>
                  <a:schemeClr val="tx1"/>
                </a:solidFill>
                <a:cs typeface="Arial" pitchFamily="34" charset="0"/>
              </a:rPr>
              <a:t>¿Cómo funciona un submarino?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PE" sz="2400" dirty="0" smtClean="0">
                <a:solidFill>
                  <a:schemeClr val="tx1"/>
                </a:solidFill>
                <a:cs typeface="Arial" pitchFamily="34" charset="0"/>
              </a:rPr>
              <a:t>¿El principio de Arquímedes funciona igual para fluidos acelerados?</a:t>
            </a:r>
            <a:endParaRPr lang="es-PE" sz="2400" dirty="0">
              <a:solidFill>
                <a:schemeClr val="tx1"/>
              </a:solidFill>
              <a:cs typeface="Arial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PE" sz="2400" dirty="0" smtClean="0">
                <a:solidFill>
                  <a:schemeClr val="tx1"/>
                </a:solidFill>
                <a:cs typeface="Arial" pitchFamily="34" charset="0"/>
              </a:rPr>
              <a:t>¿En qué campos de la Ingeniera podríamos apreciar la aplicación de la hidrostática?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458463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  <a:endParaRPr lang="es-PE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redondeado 5"/>
          <p:cNvSpPr/>
          <p:nvPr/>
        </p:nvSpPr>
        <p:spPr>
          <a:xfrm>
            <a:off x="1640633" y="980728"/>
            <a:ext cx="2448271" cy="504056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800" b="1" dirty="0" smtClean="0">
                <a:solidFill>
                  <a:schemeClr val="tx1"/>
                </a:solidFill>
              </a:rPr>
              <a:t>REFERENCIAS</a:t>
            </a:r>
            <a:endParaRPr lang="es-PE" sz="2800" b="1" dirty="0">
              <a:solidFill>
                <a:schemeClr val="tx1"/>
              </a:solidFill>
            </a:endParaRPr>
          </a:p>
        </p:txBody>
      </p:sp>
      <p:sp>
        <p:nvSpPr>
          <p:cNvPr id="7" name="Rectángulo 6"/>
          <p:cNvSpPr/>
          <p:nvPr/>
        </p:nvSpPr>
        <p:spPr>
          <a:xfrm>
            <a:off x="272480" y="1700808"/>
            <a:ext cx="9561512" cy="49398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b="1" u="sng" dirty="0" smtClean="0"/>
              <a:t>Bibliografía </a:t>
            </a:r>
            <a:r>
              <a:rPr lang="es-ES" sz="1600" b="1" u="sng" dirty="0"/>
              <a:t>Básica</a:t>
            </a:r>
            <a:r>
              <a:rPr lang="es-ES" sz="1600" b="1" u="sng" dirty="0" smtClean="0"/>
              <a:t>:</a:t>
            </a:r>
            <a:r>
              <a:rPr lang="es-ES" sz="1600" dirty="0"/>
              <a:t> </a:t>
            </a:r>
            <a:endParaRPr lang="es-PE" sz="1600" dirty="0"/>
          </a:p>
          <a:p>
            <a:r>
              <a:rPr lang="es-ES" sz="1600" dirty="0"/>
              <a:t>1. </a:t>
            </a:r>
            <a:r>
              <a:rPr lang="es-ES" sz="1600" b="1" dirty="0" err="1"/>
              <a:t>Serway</a:t>
            </a:r>
            <a:r>
              <a:rPr lang="es-ES" sz="1600" b="1" dirty="0"/>
              <a:t>, R. A. y </a:t>
            </a:r>
            <a:r>
              <a:rPr lang="es-ES" sz="1600" b="1" dirty="0" err="1"/>
              <a:t>Jewett</a:t>
            </a:r>
            <a:r>
              <a:rPr lang="es-ES" sz="1600" b="1" dirty="0"/>
              <a:t>, J. W.</a:t>
            </a:r>
            <a:r>
              <a:rPr lang="es-ES" sz="1600" dirty="0"/>
              <a:t> </a:t>
            </a:r>
            <a:r>
              <a:rPr lang="es-ES" sz="1600" i="1" dirty="0" err="1"/>
              <a:t>Fisica</a:t>
            </a:r>
            <a:r>
              <a:rPr lang="es-ES" sz="1600" i="1" dirty="0"/>
              <a:t> para Ciencias e </a:t>
            </a:r>
            <a:r>
              <a:rPr lang="es-ES" sz="1600" i="1" dirty="0" err="1"/>
              <a:t>Ingeneiría</a:t>
            </a:r>
            <a:r>
              <a:rPr lang="es-ES" sz="1600" i="1" dirty="0"/>
              <a:t>. </a:t>
            </a:r>
            <a:r>
              <a:rPr lang="es-ES" sz="1600" dirty="0"/>
              <a:t>México : </a:t>
            </a:r>
            <a:r>
              <a:rPr lang="es-ES" sz="1600" dirty="0" err="1"/>
              <a:t>Cengage</a:t>
            </a:r>
            <a:r>
              <a:rPr lang="es-ES" sz="1600" dirty="0"/>
              <a:t> </a:t>
            </a:r>
            <a:r>
              <a:rPr lang="es-ES" sz="1600" dirty="0" err="1"/>
              <a:t>Learning</a:t>
            </a:r>
            <a:r>
              <a:rPr lang="es-ES" sz="1600" dirty="0"/>
              <a:t>, 2015. Vol. I.</a:t>
            </a:r>
            <a:endParaRPr lang="es-PE" sz="1600" dirty="0"/>
          </a:p>
          <a:p>
            <a:r>
              <a:rPr lang="es-ES" sz="1600" dirty="0"/>
              <a:t>2. </a:t>
            </a:r>
            <a:r>
              <a:rPr lang="es-ES" sz="1600" b="1" dirty="0" err="1"/>
              <a:t>Resnick</a:t>
            </a:r>
            <a:r>
              <a:rPr lang="es-ES" sz="1600" b="1" dirty="0"/>
              <a:t>, R., </a:t>
            </a:r>
            <a:r>
              <a:rPr lang="es-ES" sz="1600" b="1" dirty="0" err="1"/>
              <a:t>Halliday</a:t>
            </a:r>
            <a:r>
              <a:rPr lang="es-ES" sz="1600" b="1" dirty="0"/>
              <a:t>, D. y </a:t>
            </a:r>
            <a:r>
              <a:rPr lang="es-ES" sz="1600" b="1" dirty="0" err="1"/>
              <a:t>Krane</a:t>
            </a:r>
            <a:r>
              <a:rPr lang="es-ES" sz="1600" b="1" dirty="0"/>
              <a:t>, K. S.</a:t>
            </a:r>
            <a:r>
              <a:rPr lang="es-ES" sz="1600" dirty="0"/>
              <a:t> </a:t>
            </a:r>
            <a:r>
              <a:rPr lang="es-ES" sz="1600" i="1" dirty="0"/>
              <a:t>Física. </a:t>
            </a:r>
            <a:r>
              <a:rPr lang="es-ES" sz="1600" dirty="0"/>
              <a:t>Quinta. México : </a:t>
            </a:r>
            <a:r>
              <a:rPr lang="es-ES" sz="1600" dirty="0" err="1"/>
              <a:t>Compañia</a:t>
            </a:r>
            <a:r>
              <a:rPr lang="es-ES" sz="1600" dirty="0"/>
              <a:t> editorial Continental, 2014. Vol. I.</a:t>
            </a:r>
            <a:endParaRPr lang="es-PE" sz="1600" dirty="0"/>
          </a:p>
          <a:p>
            <a:r>
              <a:rPr lang="es-ES" sz="1600" dirty="0"/>
              <a:t>3. </a:t>
            </a:r>
            <a:r>
              <a:rPr lang="es-ES" sz="1600" b="1" dirty="0" err="1"/>
              <a:t>Tipler</a:t>
            </a:r>
            <a:r>
              <a:rPr lang="es-ES" sz="1600" b="1" dirty="0"/>
              <a:t>, P. A. y Mosca, G.</a:t>
            </a:r>
            <a:r>
              <a:rPr lang="es-ES" sz="1600" dirty="0"/>
              <a:t> </a:t>
            </a:r>
            <a:r>
              <a:rPr lang="es-ES" sz="1600" i="1" dirty="0"/>
              <a:t>Física para la Ciencia y la Tecnología. </a:t>
            </a:r>
            <a:r>
              <a:rPr lang="es-ES" sz="1600" dirty="0"/>
              <a:t>Sexta. Barcelona : </a:t>
            </a:r>
            <a:r>
              <a:rPr lang="es-ES" sz="1600" dirty="0" err="1"/>
              <a:t>Reverté</a:t>
            </a:r>
            <a:r>
              <a:rPr lang="es-ES" sz="1600" dirty="0"/>
              <a:t> S.A., 2010. Vol. I.</a:t>
            </a:r>
            <a:endParaRPr lang="es-PE" sz="1600" dirty="0"/>
          </a:p>
          <a:p>
            <a:r>
              <a:rPr lang="es-ES" sz="1600" dirty="0"/>
              <a:t>4. </a:t>
            </a:r>
            <a:r>
              <a:rPr lang="es-ES" sz="1600" b="1" dirty="0" err="1"/>
              <a:t>Zemansky</a:t>
            </a:r>
            <a:r>
              <a:rPr lang="es-ES" sz="1600" b="1" dirty="0"/>
              <a:t>, M. W. y </a:t>
            </a:r>
            <a:r>
              <a:rPr lang="es-ES" sz="1600" b="1" dirty="0" err="1"/>
              <a:t>Freedman</a:t>
            </a:r>
            <a:r>
              <a:rPr lang="es-ES" sz="1600" b="1" dirty="0"/>
              <a:t>, R.A.</a:t>
            </a:r>
            <a:r>
              <a:rPr lang="es-ES" sz="1600" dirty="0"/>
              <a:t> </a:t>
            </a:r>
            <a:r>
              <a:rPr lang="es-ES" sz="1600" i="1" dirty="0"/>
              <a:t>Física Universitaria. </a:t>
            </a:r>
            <a:r>
              <a:rPr lang="es-ES" sz="1600" dirty="0"/>
              <a:t>México : Pearson </a:t>
            </a:r>
            <a:r>
              <a:rPr lang="es-ES" sz="1600" dirty="0" err="1"/>
              <a:t>Education</a:t>
            </a:r>
            <a:r>
              <a:rPr lang="es-ES" sz="1600" dirty="0"/>
              <a:t>, 2009. Vol. I.</a:t>
            </a:r>
            <a:endParaRPr lang="es-PE" sz="1600" dirty="0"/>
          </a:p>
          <a:p>
            <a:r>
              <a:rPr lang="es-ES" sz="1600" dirty="0"/>
              <a:t>5. </a:t>
            </a:r>
            <a:r>
              <a:rPr lang="es-ES" sz="1600" b="1" dirty="0" err="1"/>
              <a:t>Fishbane</a:t>
            </a:r>
            <a:r>
              <a:rPr lang="es-ES" sz="1600" b="1" dirty="0"/>
              <a:t>, P.M., </a:t>
            </a:r>
            <a:r>
              <a:rPr lang="es-ES" sz="1600" b="1" dirty="0" err="1"/>
              <a:t>Gasiorowicz</a:t>
            </a:r>
            <a:r>
              <a:rPr lang="es-ES" sz="1600" b="1" dirty="0"/>
              <a:t>, S. y </a:t>
            </a:r>
            <a:r>
              <a:rPr lang="es-ES" sz="1600" b="1" dirty="0" err="1"/>
              <a:t>Thornton</a:t>
            </a:r>
            <a:r>
              <a:rPr lang="es-ES" sz="1600" b="1" dirty="0"/>
              <a:t>, S.T.</a:t>
            </a:r>
            <a:r>
              <a:rPr lang="es-ES" sz="1600" dirty="0"/>
              <a:t> </a:t>
            </a:r>
            <a:r>
              <a:rPr lang="es-ES" sz="1600" i="1" dirty="0" smtClean="0"/>
              <a:t>Física </a:t>
            </a:r>
            <a:r>
              <a:rPr lang="es-ES" sz="1600" i="1" dirty="0"/>
              <a:t>para Ciencias e </a:t>
            </a:r>
            <a:r>
              <a:rPr lang="es-ES" sz="1600" i="1" dirty="0" err="1"/>
              <a:t>Ingeneiría</a:t>
            </a:r>
            <a:r>
              <a:rPr lang="es-ES" sz="1600" i="1" dirty="0"/>
              <a:t>. </a:t>
            </a:r>
            <a:r>
              <a:rPr lang="es-ES" sz="1600" dirty="0"/>
              <a:t>México : Prentice Hall Hispanoamericana, 1996. Vol. I.</a:t>
            </a:r>
            <a:endParaRPr lang="es-PE" sz="1600" dirty="0"/>
          </a:p>
          <a:p>
            <a:r>
              <a:rPr lang="es-ES" sz="1600" dirty="0"/>
              <a:t>6. </a:t>
            </a:r>
            <a:r>
              <a:rPr lang="es-ES" sz="1600" b="1" dirty="0"/>
              <a:t>Alonso, M. y </a:t>
            </a:r>
            <a:r>
              <a:rPr lang="es-ES" sz="1600" b="1" dirty="0" err="1"/>
              <a:t>Finn</a:t>
            </a:r>
            <a:r>
              <a:rPr lang="es-ES" sz="1600" b="1" dirty="0"/>
              <a:t>, E.J.</a:t>
            </a:r>
            <a:r>
              <a:rPr lang="es-ES" sz="1600" dirty="0"/>
              <a:t> </a:t>
            </a:r>
            <a:r>
              <a:rPr lang="es-ES" sz="1600" i="1" dirty="0"/>
              <a:t>Física: Mecánica. </a:t>
            </a:r>
            <a:r>
              <a:rPr lang="es-ES" sz="1600" dirty="0"/>
              <a:t>México : Fondo Educativo Interamericano S. A., 1971. Vol. I.</a:t>
            </a:r>
            <a:endParaRPr lang="es-PE" sz="1600" dirty="0"/>
          </a:p>
          <a:p>
            <a:r>
              <a:rPr lang="es-ES" sz="1600" b="1" u="sng" dirty="0" smtClean="0"/>
              <a:t>Bibliografía </a:t>
            </a:r>
            <a:r>
              <a:rPr lang="es-ES" sz="1600" b="1" u="sng" dirty="0"/>
              <a:t>Complementaria:</a:t>
            </a:r>
            <a:endParaRPr lang="es-PE" sz="1600" b="1" u="sng" dirty="0"/>
          </a:p>
          <a:p>
            <a:r>
              <a:rPr lang="es-ES" sz="1600" b="1" dirty="0"/>
              <a:t> </a:t>
            </a:r>
            <a:r>
              <a:rPr lang="es-ES" sz="1600" dirty="0" smtClean="0"/>
              <a:t>7</a:t>
            </a:r>
            <a:r>
              <a:rPr lang="es-ES" sz="1600" dirty="0"/>
              <a:t>. </a:t>
            </a:r>
            <a:r>
              <a:rPr lang="es-ES" sz="1600" b="1" dirty="0" err="1"/>
              <a:t>Beer</a:t>
            </a:r>
            <a:r>
              <a:rPr lang="es-ES" sz="1600" b="1" dirty="0"/>
              <a:t>, F. P., y otros.</a:t>
            </a:r>
            <a:r>
              <a:rPr lang="es-ES" sz="1600" dirty="0"/>
              <a:t> </a:t>
            </a:r>
            <a:r>
              <a:rPr lang="es-ES" sz="1600" i="1" dirty="0"/>
              <a:t>Mecánica vectorial para ingenieros</a:t>
            </a:r>
            <a:r>
              <a:rPr lang="es-ES" sz="1600" i="1" dirty="0" smtClean="0"/>
              <a:t>: Dinámica</a:t>
            </a:r>
            <a:r>
              <a:rPr lang="es-ES" sz="1600" i="1" dirty="0"/>
              <a:t>. </a:t>
            </a:r>
            <a:r>
              <a:rPr lang="es-ES" sz="1600" dirty="0"/>
              <a:t>México : Mc Graw Hill, 2010. Vol. Novena.</a:t>
            </a:r>
            <a:endParaRPr lang="es-PE" sz="1600" dirty="0"/>
          </a:p>
          <a:p>
            <a:r>
              <a:rPr lang="es-ES" sz="1600" dirty="0"/>
              <a:t>8. </a:t>
            </a:r>
            <a:r>
              <a:rPr lang="es-ES" sz="1600" b="1" dirty="0" err="1"/>
              <a:t>Beer</a:t>
            </a:r>
            <a:r>
              <a:rPr lang="es-ES" sz="1600" b="1" dirty="0"/>
              <a:t>, F.P., y otros.</a:t>
            </a:r>
            <a:r>
              <a:rPr lang="es-ES" sz="1600" dirty="0"/>
              <a:t> </a:t>
            </a:r>
            <a:r>
              <a:rPr lang="es-ES" sz="1600" i="1" dirty="0"/>
              <a:t>Mecánica Vectorial para Ingenieros: Estática. </a:t>
            </a:r>
            <a:r>
              <a:rPr lang="es-ES" sz="1600" dirty="0"/>
              <a:t>Novena. México : Mc Graw Hill, 2010.</a:t>
            </a:r>
            <a:endParaRPr lang="es-PE" sz="1600" dirty="0"/>
          </a:p>
          <a:p>
            <a:r>
              <a:rPr lang="es-ES" sz="1600" dirty="0"/>
              <a:t>9. </a:t>
            </a:r>
            <a:r>
              <a:rPr lang="es-ES" sz="1600" b="1" dirty="0"/>
              <a:t>Bedford, A. y </a:t>
            </a:r>
            <a:r>
              <a:rPr lang="es-ES" sz="1600" b="1" dirty="0" err="1"/>
              <a:t>Fowler</a:t>
            </a:r>
            <a:r>
              <a:rPr lang="es-ES" sz="1600" b="1" dirty="0"/>
              <a:t>, W.</a:t>
            </a:r>
            <a:r>
              <a:rPr lang="es-ES" sz="1600" dirty="0"/>
              <a:t> </a:t>
            </a:r>
            <a:r>
              <a:rPr lang="es-ES" sz="1600" i="1" dirty="0"/>
              <a:t>Mecánica para Ingeniería: Estática. </a:t>
            </a:r>
            <a:r>
              <a:rPr lang="es-ES" sz="1600" dirty="0"/>
              <a:t>Quinta. México : Pearson Educación, 2008.</a:t>
            </a:r>
            <a:endParaRPr lang="es-PE" sz="1600" dirty="0"/>
          </a:p>
          <a:p>
            <a:r>
              <a:rPr lang="es-ES" sz="1600" dirty="0"/>
              <a:t>10. —. </a:t>
            </a:r>
            <a:r>
              <a:rPr lang="es-ES" sz="1600" i="1" dirty="0"/>
              <a:t>Mecánica para Ingeniería: Dinámica. </a:t>
            </a:r>
            <a:r>
              <a:rPr lang="es-ES" sz="1600" dirty="0"/>
              <a:t>Quinta. México : Pearson Educación, 2008.</a:t>
            </a:r>
            <a:endParaRPr lang="es-PE" sz="1600" dirty="0"/>
          </a:p>
          <a:p>
            <a:r>
              <a:rPr lang="es-ES" sz="1600" dirty="0"/>
              <a:t>11. </a:t>
            </a:r>
            <a:r>
              <a:rPr lang="es-ES" sz="1600" b="1" dirty="0" err="1"/>
              <a:t>Hibbeler</a:t>
            </a:r>
            <a:r>
              <a:rPr lang="es-ES" sz="1600" b="1" dirty="0"/>
              <a:t>, R. C.</a:t>
            </a:r>
            <a:r>
              <a:rPr lang="es-ES" sz="1600" dirty="0"/>
              <a:t> </a:t>
            </a:r>
            <a:r>
              <a:rPr lang="es-ES" sz="1600" i="1" dirty="0"/>
              <a:t>Mecánica Vectorial para Ingenieros: Estática. </a:t>
            </a:r>
            <a:r>
              <a:rPr lang="es-ES" sz="1600" dirty="0"/>
              <a:t>Décima. México : Pearson Educación, 2004.</a:t>
            </a:r>
            <a:endParaRPr lang="es-PE" sz="1600" dirty="0"/>
          </a:p>
          <a:p>
            <a:r>
              <a:rPr lang="es-ES" sz="1600" dirty="0"/>
              <a:t>12. —. </a:t>
            </a:r>
            <a:r>
              <a:rPr lang="es-ES" sz="1600" i="1" dirty="0"/>
              <a:t>Mecánica Vectorial para Ingenieros: Dinámica. </a:t>
            </a:r>
            <a:r>
              <a:rPr lang="es-ES" sz="1600" dirty="0"/>
              <a:t>Décima. México : Pearson Educación, 2004.</a:t>
            </a:r>
            <a:r>
              <a:rPr lang="es-ES" sz="1500" dirty="0">
                <a:ea typeface="Symbol" panose="05050102010706020507" pitchFamily="18" charset="2"/>
                <a:cs typeface="Arial" panose="020B0604020202020204" pitchFamily="34" charset="0"/>
              </a:rPr>
              <a:t> </a:t>
            </a:r>
            <a:endParaRPr lang="es-ES" sz="1500" dirty="0" smtClean="0">
              <a:ea typeface="Symbol" panose="05050102010706020507" pitchFamily="18" charset="2"/>
              <a:cs typeface="Arial" panose="020B0604020202020204" pitchFamily="34" charset="0"/>
            </a:endParaRPr>
          </a:p>
          <a:p>
            <a:r>
              <a:rPr lang="es-ES" sz="1500" b="1" u="sng" dirty="0" smtClean="0">
                <a:ea typeface="Times New Roman" panose="02020603050405020304" pitchFamily="18" charset="0"/>
              </a:rPr>
              <a:t>Fuentes </a:t>
            </a:r>
            <a:r>
              <a:rPr lang="es-ES" sz="1500" b="1" u="sng" dirty="0" err="1" smtClean="0">
                <a:ea typeface="Times New Roman" panose="02020603050405020304" pitchFamily="18" charset="0"/>
              </a:rPr>
              <a:t>hemerográficas</a:t>
            </a:r>
            <a:endParaRPr lang="es-ES" sz="1500" b="1" u="sng" dirty="0">
              <a:ea typeface="Times New Roman" panose="02020603050405020304" pitchFamily="18" charset="0"/>
            </a:endParaRPr>
          </a:p>
          <a:p>
            <a:r>
              <a:rPr lang="es-ES" sz="1500" dirty="0" err="1" smtClean="0">
                <a:ea typeface="Times New Roman" panose="02020603050405020304" pitchFamily="18" charset="0"/>
              </a:rPr>
              <a:t>Physics</a:t>
            </a:r>
            <a:r>
              <a:rPr lang="es-ES" sz="1500" dirty="0" smtClean="0">
                <a:ea typeface="Times New Roman" panose="02020603050405020304" pitchFamily="18" charset="0"/>
              </a:rPr>
              <a:t> </a:t>
            </a:r>
            <a:r>
              <a:rPr lang="es-ES" sz="1500" dirty="0" err="1">
                <a:ea typeface="Times New Roman" panose="02020603050405020304" pitchFamily="18" charset="0"/>
              </a:rPr>
              <a:t>today</a:t>
            </a:r>
            <a:r>
              <a:rPr lang="es-ES" sz="1500" dirty="0">
                <a:ea typeface="Times New Roman" panose="02020603050405020304" pitchFamily="18" charset="0"/>
              </a:rPr>
              <a:t>, 68(11), 38(2015); </a:t>
            </a:r>
            <a:r>
              <a:rPr lang="es-ES" sz="1500" dirty="0" err="1">
                <a:ea typeface="Times New Roman" panose="02020603050405020304" pitchFamily="18" charset="0"/>
              </a:rPr>
              <a:t>doi</a:t>
            </a:r>
            <a:r>
              <a:rPr lang="es-ES" sz="1500" dirty="0">
                <a:ea typeface="Times New Roman" panose="02020603050405020304" pitchFamily="18" charset="0"/>
              </a:rPr>
              <a:t> 10.1063/PT </a:t>
            </a:r>
            <a:r>
              <a:rPr lang="es-ES" sz="1500" dirty="0" smtClean="0">
                <a:ea typeface="Times New Roman" panose="02020603050405020304" pitchFamily="18" charset="0"/>
              </a:rPr>
              <a:t>3.2980.</a:t>
            </a:r>
            <a:endParaRPr lang="es-PE" sz="1500" dirty="0">
              <a:ea typeface="Times New Roman" panose="02020603050405020304" pitchFamily="18" charset="0"/>
            </a:endParaRPr>
          </a:p>
          <a:p>
            <a:r>
              <a:rPr lang="es-ES" sz="1500" b="1" u="sng" dirty="0" err="1" smtClean="0">
                <a:ea typeface="Times New Roman" panose="02020603050405020304" pitchFamily="18" charset="0"/>
              </a:rPr>
              <a:t>Webgrafia</a:t>
            </a:r>
            <a:endParaRPr lang="es-ES" sz="1500" b="1" u="sng" dirty="0">
              <a:ea typeface="Times New Roman" panose="02020603050405020304" pitchFamily="18" charset="0"/>
            </a:endParaRPr>
          </a:p>
          <a:p>
            <a:r>
              <a:rPr lang="es-PE" sz="1500" u="sng" dirty="0" smtClean="0">
                <a:ea typeface="Calibri" panose="020F0502020204030204" pitchFamily="34" charset="0"/>
                <a:cs typeface="Arial" panose="020B0604020202020204" pitchFamily="34" charset="0"/>
                <a:hlinkClick r:id="rId2"/>
              </a:rPr>
              <a:t>http</a:t>
            </a:r>
            <a:r>
              <a:rPr lang="es-PE" sz="1500" u="sng" dirty="0">
                <a:ea typeface="Calibri" panose="020F0502020204030204" pitchFamily="34" charset="0"/>
                <a:cs typeface="Arial" panose="020B0604020202020204" pitchFamily="34" charset="0"/>
                <a:hlinkClick r:id="rId2"/>
              </a:rPr>
              <a:t>://</a:t>
            </a:r>
            <a:r>
              <a:rPr lang="es-PE" sz="1500" u="sng" dirty="0" smtClean="0">
                <a:ea typeface="Calibri" panose="020F0502020204030204" pitchFamily="34" charset="0"/>
                <a:cs typeface="Arial" panose="020B0604020202020204" pitchFamily="34" charset="0"/>
                <a:hlinkClick r:id="rId2"/>
              </a:rPr>
              <a:t>www.sc.ehu.es/sbweb/fisica/</a:t>
            </a:r>
            <a:endParaRPr lang="es-PE" sz="1500" u="sng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s-PE" sz="1500" u="sng" dirty="0" smtClean="0">
                <a:ea typeface="Calibri" panose="020F0502020204030204" pitchFamily="34" charset="0"/>
                <a:cs typeface="Arial" panose="020B0604020202020204" pitchFamily="34" charset="0"/>
                <a:hlinkClick r:id="rId3"/>
              </a:rPr>
              <a:t>http</a:t>
            </a:r>
            <a:r>
              <a:rPr lang="es-PE" sz="1500" u="sng" dirty="0">
                <a:ea typeface="Calibri" panose="020F0502020204030204" pitchFamily="34" charset="0"/>
                <a:cs typeface="Arial" panose="020B0604020202020204" pitchFamily="34" charset="0"/>
                <a:hlinkClick r:id="rId3"/>
              </a:rPr>
              <a:t>://www.fisicarecreativa.com/</a:t>
            </a:r>
            <a:endParaRPr lang="es-PE" sz="1500" dirty="0">
              <a:effectLst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5000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ATRO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PATRON</Template>
  <TotalTime>10434</TotalTime>
  <Words>856</Words>
  <Application>Microsoft Office PowerPoint</Application>
  <PresentationFormat>A4 (210 x 297 mm)</PresentationFormat>
  <Paragraphs>153</Paragraphs>
  <Slides>17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6" baseType="lpstr">
      <vt:lpstr>ＭＳ Ｐゴシック</vt:lpstr>
      <vt:lpstr>Arial</vt:lpstr>
      <vt:lpstr>Calibri</vt:lpstr>
      <vt:lpstr>Cambria</vt:lpstr>
      <vt:lpstr>Cambria Math</vt:lpstr>
      <vt:lpstr>Symbol</vt:lpstr>
      <vt:lpstr>Times New Roman</vt:lpstr>
      <vt:lpstr>PATRON</vt:lpstr>
      <vt:lpstr>Equation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Universidad Privada del Norte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Daniel Delfin Narciso</dc:creator>
  <cp:lastModifiedBy>Nelson Alberto</cp:lastModifiedBy>
  <cp:revision>502</cp:revision>
  <dcterms:created xsi:type="dcterms:W3CDTF">2012-09-19T03:34:19Z</dcterms:created>
  <dcterms:modified xsi:type="dcterms:W3CDTF">2019-11-05T22:28:37Z</dcterms:modified>
</cp:coreProperties>
</file>