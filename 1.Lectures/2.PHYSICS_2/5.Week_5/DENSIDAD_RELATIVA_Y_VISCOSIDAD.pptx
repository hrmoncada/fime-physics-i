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4" r:id="rId1"/>
  </p:sldMasterIdLst>
  <p:sldIdLst>
    <p:sldId id="275" r:id="rId2"/>
    <p:sldId id="256" r:id="rId3"/>
    <p:sldId id="257" r:id="rId4"/>
    <p:sldId id="258" r:id="rId5"/>
    <p:sldId id="259" r:id="rId6"/>
    <p:sldId id="263" r:id="rId7"/>
    <p:sldId id="272" r:id="rId8"/>
    <p:sldId id="273" r:id="rId9"/>
    <p:sldId id="274" r:id="rId10"/>
    <p:sldId id="261" r:id="rId11"/>
    <p:sldId id="264" r:id="rId12"/>
    <p:sldId id="265" r:id="rId13"/>
    <p:sldId id="266" r:id="rId14"/>
    <p:sldId id="267" r:id="rId15"/>
    <p:sldId id="262" r:id="rId16"/>
    <p:sldId id="268" r:id="rId17"/>
    <p:sldId id="269" r:id="rId18"/>
    <p:sldId id="270" r:id="rId19"/>
    <p:sldId id="271" r:id="rId2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291" autoAdjust="0"/>
  </p:normalViewPr>
  <p:slideViewPr>
    <p:cSldViewPr snapToGrid="0">
      <p:cViewPr varScale="1">
        <p:scale>
          <a:sx n="68" d="100"/>
          <a:sy n="68" d="100"/>
        </p:scale>
        <p:origin x="810" y="6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583AEF-F17C-4321-ABDF-5EFFBCCF8AF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627D8FA-561A-42FD-BE7C-95F8716270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C4F837BD-EE16-4A1A-902A-CE1DC8F3C558}"/>
              </a:ext>
            </a:extLst>
          </p:cNvPr>
          <p:cNvSpPr>
            <a:spLocks noGrp="1"/>
          </p:cNvSpPr>
          <p:nvPr>
            <p:ph type="dt" sz="half" idx="10"/>
          </p:nvPr>
        </p:nvSpPr>
        <p:spPr/>
        <p:txBody>
          <a:bodyPr/>
          <a:lstStyle/>
          <a:p>
            <a:fld id="{78ABE3C1-DBE1-495D-B57B-2849774B866A}" type="datetimeFigureOut">
              <a:rPr lang="en-US" smtClean="0"/>
              <a:t>4/12/2018</a:t>
            </a:fld>
            <a:endParaRPr lang="en-US" dirty="0"/>
          </a:p>
        </p:txBody>
      </p:sp>
      <p:sp>
        <p:nvSpPr>
          <p:cNvPr id="5" name="Marcador de pie de página 4">
            <a:extLst>
              <a:ext uri="{FF2B5EF4-FFF2-40B4-BE49-F238E27FC236}">
                <a16:creationId xmlns:a16="http://schemas.microsoft.com/office/drawing/2014/main" id="{4CE9CE4F-C072-4AC6-ABF1-878CFF19796B}"/>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4BA7B425-3FFE-4BAC-BF96-F33159CF981B}"/>
              </a:ext>
            </a:extLst>
          </p:cNvPr>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644079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50D771-A634-46FA-BD11-9F4E21D34685}"/>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A22CC42-7143-4782-8F35-1CF5BEA331E4}"/>
              </a:ext>
            </a:extLst>
          </p:cNvPr>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826A902-9479-40AB-B6C8-327D8640D0A7}"/>
              </a:ext>
            </a:extLst>
          </p:cNvPr>
          <p:cNvSpPr>
            <a:spLocks noGrp="1"/>
          </p:cNvSpPr>
          <p:nvPr>
            <p:ph type="dt" sz="half" idx="10"/>
          </p:nvPr>
        </p:nvSpPr>
        <p:spPr/>
        <p:txBody>
          <a:bodyPr/>
          <a:lstStyle/>
          <a:p>
            <a:fld id="{12DE42F4-6EEF-4EF7-8ED4-2208F0F89A08}" type="datetimeFigureOut">
              <a:rPr lang="en-US" smtClean="0"/>
              <a:t>4/12/2018</a:t>
            </a:fld>
            <a:endParaRPr lang="en-US" dirty="0"/>
          </a:p>
        </p:txBody>
      </p:sp>
      <p:sp>
        <p:nvSpPr>
          <p:cNvPr id="5" name="Marcador de pie de página 4">
            <a:extLst>
              <a:ext uri="{FF2B5EF4-FFF2-40B4-BE49-F238E27FC236}">
                <a16:creationId xmlns:a16="http://schemas.microsoft.com/office/drawing/2014/main" id="{73049CAE-648B-4B35-8F7D-83573C6B8BDF}"/>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A5FFA793-7EF0-42B7-83CE-8950FFA44079}"/>
              </a:ext>
            </a:extLst>
          </p:cNvPr>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4003175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970EC9-D9EA-4506-A544-EEF291B6CD6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FDAB3A65-D222-40C2-B42A-90A215C406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Marcador de fecha 3">
            <a:extLst>
              <a:ext uri="{FF2B5EF4-FFF2-40B4-BE49-F238E27FC236}">
                <a16:creationId xmlns:a16="http://schemas.microsoft.com/office/drawing/2014/main" id="{1BD7714E-7040-49A0-BA7B-3448230ED5A3}"/>
              </a:ext>
            </a:extLst>
          </p:cNvPr>
          <p:cNvSpPr>
            <a:spLocks noGrp="1"/>
          </p:cNvSpPr>
          <p:nvPr>
            <p:ph type="dt" sz="half" idx="10"/>
          </p:nvPr>
        </p:nvSpPr>
        <p:spPr/>
        <p:txBody>
          <a:bodyPr/>
          <a:lstStyle/>
          <a:p>
            <a:fld id="{30578ACC-22D6-47C1-A373-4FD133E34F3C}" type="datetimeFigureOut">
              <a:rPr lang="en-US" smtClean="0"/>
              <a:t>4/12/2018</a:t>
            </a:fld>
            <a:endParaRPr lang="en-US" dirty="0"/>
          </a:p>
        </p:txBody>
      </p:sp>
      <p:sp>
        <p:nvSpPr>
          <p:cNvPr id="5" name="Marcador de pie de página 4">
            <a:extLst>
              <a:ext uri="{FF2B5EF4-FFF2-40B4-BE49-F238E27FC236}">
                <a16:creationId xmlns:a16="http://schemas.microsoft.com/office/drawing/2014/main" id="{B50421B6-21B2-4F76-927E-C65D2CFD5D23}"/>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5E043462-B47D-4D23-983A-D6D6147AB65E}"/>
              </a:ext>
            </a:extLst>
          </p:cNvPr>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223101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FD6C38-5673-489B-8264-2BAE4CF8053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C4C0FA0-8261-4C76-8233-38FCD65E1B1B}"/>
              </a:ext>
            </a:extLst>
          </p:cNvPr>
          <p:cNvSpPr>
            <a:spLocks noGrp="1"/>
          </p:cNvSpPr>
          <p:nvPr>
            <p:ph sz="half" idx="1"/>
          </p:nvPr>
        </p:nvSpPr>
        <p:spPr>
          <a:xfrm>
            <a:off x="838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D4759DE6-7DDB-4155-925B-BA250365CA30}"/>
              </a:ext>
            </a:extLst>
          </p:cNvPr>
          <p:cNvSpPr>
            <a:spLocks noGrp="1"/>
          </p:cNvSpPr>
          <p:nvPr>
            <p:ph sz="half" idx="2"/>
          </p:nvPr>
        </p:nvSpPr>
        <p:spPr>
          <a:xfrm>
            <a:off x="6172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72A8A66A-4A98-4988-98C1-D5F335C6750D}"/>
              </a:ext>
            </a:extLst>
          </p:cNvPr>
          <p:cNvSpPr>
            <a:spLocks noGrp="1"/>
          </p:cNvSpPr>
          <p:nvPr>
            <p:ph type="dt" sz="half" idx="10"/>
          </p:nvPr>
        </p:nvSpPr>
        <p:spPr/>
        <p:txBody>
          <a:bodyPr/>
          <a:lstStyle/>
          <a:p>
            <a:fld id="{4E5A6C69-6797-4E8A-BF37-F2C3751466E9}" type="datetimeFigureOut">
              <a:rPr lang="en-US" smtClean="0"/>
              <a:t>4/12/2018</a:t>
            </a:fld>
            <a:endParaRPr lang="en-US" dirty="0"/>
          </a:p>
        </p:txBody>
      </p:sp>
      <p:sp>
        <p:nvSpPr>
          <p:cNvPr id="6" name="Marcador de pie de página 5">
            <a:extLst>
              <a:ext uri="{FF2B5EF4-FFF2-40B4-BE49-F238E27FC236}">
                <a16:creationId xmlns:a16="http://schemas.microsoft.com/office/drawing/2014/main" id="{DA21444B-880F-4CFB-B391-4F3B4AFA2F3D}"/>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810E2CBE-7D87-40C7-9EAC-8EABB8A387EA}"/>
              </a:ext>
            </a:extLst>
          </p:cNvPr>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309016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6070E5-2C8A-492A-9E59-1D26D2D4076A}"/>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FC1DE2E8-4B55-4AE7-B36C-6162E5D293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Marcador de contenido 3">
            <a:extLst>
              <a:ext uri="{FF2B5EF4-FFF2-40B4-BE49-F238E27FC236}">
                <a16:creationId xmlns:a16="http://schemas.microsoft.com/office/drawing/2014/main" id="{B3F9D87E-9FC5-4E29-A42B-6C9E238DADAD}"/>
              </a:ext>
            </a:extLst>
          </p:cNvPr>
          <p:cNvSpPr>
            <a:spLocks noGrp="1"/>
          </p:cNvSpPr>
          <p:nvPr>
            <p:ph sz="half" idx="2"/>
          </p:nvPr>
        </p:nvSpPr>
        <p:spPr>
          <a:xfrm>
            <a:off x="839788" y="2505075"/>
            <a:ext cx="5157787"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C23A015C-5DD4-47B3-8564-0F59C48933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Marcador de contenido 5">
            <a:extLst>
              <a:ext uri="{FF2B5EF4-FFF2-40B4-BE49-F238E27FC236}">
                <a16:creationId xmlns:a16="http://schemas.microsoft.com/office/drawing/2014/main" id="{CA489486-E2EC-4A75-87F7-9EDE4F4A0A07}"/>
              </a:ext>
            </a:extLst>
          </p:cNvPr>
          <p:cNvSpPr>
            <a:spLocks noGrp="1"/>
          </p:cNvSpPr>
          <p:nvPr>
            <p:ph sz="quarter" idx="4"/>
          </p:nvPr>
        </p:nvSpPr>
        <p:spPr>
          <a:xfrm>
            <a:off x="6172200" y="2505075"/>
            <a:ext cx="5183188"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E2D92737-8813-4840-AD54-DD0A8A6C53B2}"/>
              </a:ext>
            </a:extLst>
          </p:cNvPr>
          <p:cNvSpPr>
            <a:spLocks noGrp="1"/>
          </p:cNvSpPr>
          <p:nvPr>
            <p:ph type="dt" sz="half" idx="10"/>
          </p:nvPr>
        </p:nvSpPr>
        <p:spPr/>
        <p:txBody>
          <a:bodyPr/>
          <a:lstStyle/>
          <a:p>
            <a:fld id="{D82014A1-A632-4878-A0D3-F52BA7563730}" type="datetimeFigureOut">
              <a:rPr lang="en-US" smtClean="0"/>
              <a:t>4/12/2018</a:t>
            </a:fld>
            <a:endParaRPr lang="en-US" dirty="0"/>
          </a:p>
        </p:txBody>
      </p:sp>
      <p:sp>
        <p:nvSpPr>
          <p:cNvPr id="8" name="Marcador de pie de página 7">
            <a:extLst>
              <a:ext uri="{FF2B5EF4-FFF2-40B4-BE49-F238E27FC236}">
                <a16:creationId xmlns:a16="http://schemas.microsoft.com/office/drawing/2014/main" id="{1847260F-9102-496E-BC22-B6CE06C5FDEF}"/>
              </a:ext>
            </a:extLst>
          </p:cNvPr>
          <p:cNvSpPr>
            <a:spLocks noGrp="1"/>
          </p:cNvSpPr>
          <p:nvPr>
            <p:ph type="ftr" sz="quarter" idx="11"/>
          </p:nvPr>
        </p:nvSpPr>
        <p:spPr/>
        <p:txBody>
          <a:bodyPr/>
          <a:lstStyle/>
          <a:p>
            <a:endParaRPr lang="en-US" dirty="0"/>
          </a:p>
        </p:txBody>
      </p:sp>
      <p:sp>
        <p:nvSpPr>
          <p:cNvPr id="9" name="Marcador de número de diapositiva 8">
            <a:extLst>
              <a:ext uri="{FF2B5EF4-FFF2-40B4-BE49-F238E27FC236}">
                <a16:creationId xmlns:a16="http://schemas.microsoft.com/office/drawing/2014/main" id="{C65838CD-0A3C-4FE9-9C9D-52483DB1B167}"/>
              </a:ext>
            </a:extLst>
          </p:cNvPr>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122446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2BAA39-DE1A-493F-A15B-E4458C7E4BC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DFE3A86A-6C03-41A3-89F6-A85B47047C89}"/>
              </a:ext>
            </a:extLst>
          </p:cNvPr>
          <p:cNvSpPr>
            <a:spLocks noGrp="1"/>
          </p:cNvSpPr>
          <p:nvPr>
            <p:ph type="dt" sz="half" idx="10"/>
          </p:nvPr>
        </p:nvSpPr>
        <p:spPr/>
        <p:txBody>
          <a:bodyPr/>
          <a:lstStyle/>
          <a:p>
            <a:fld id="{CE99F462-093F-4566-844B-4C71F2739DA5}" type="datetimeFigureOut">
              <a:rPr lang="en-US" smtClean="0"/>
              <a:t>4/12/2018</a:t>
            </a:fld>
            <a:endParaRPr lang="en-US" dirty="0"/>
          </a:p>
        </p:txBody>
      </p:sp>
      <p:sp>
        <p:nvSpPr>
          <p:cNvPr id="4" name="Marcador de pie de página 3">
            <a:extLst>
              <a:ext uri="{FF2B5EF4-FFF2-40B4-BE49-F238E27FC236}">
                <a16:creationId xmlns:a16="http://schemas.microsoft.com/office/drawing/2014/main" id="{C1AA6B21-069E-4EB0-8F43-51766238F993}"/>
              </a:ext>
            </a:extLst>
          </p:cNvPr>
          <p:cNvSpPr>
            <a:spLocks noGrp="1"/>
          </p:cNvSpPr>
          <p:nvPr>
            <p:ph type="ftr" sz="quarter" idx="11"/>
          </p:nvPr>
        </p:nvSpPr>
        <p:spPr/>
        <p:txBody>
          <a:bodyPr/>
          <a:lstStyle/>
          <a:p>
            <a:endParaRPr lang="en-US" dirty="0"/>
          </a:p>
        </p:txBody>
      </p:sp>
      <p:sp>
        <p:nvSpPr>
          <p:cNvPr id="5" name="Marcador de número de diapositiva 4">
            <a:extLst>
              <a:ext uri="{FF2B5EF4-FFF2-40B4-BE49-F238E27FC236}">
                <a16:creationId xmlns:a16="http://schemas.microsoft.com/office/drawing/2014/main" id="{A60C5F8A-8ED8-484B-A94C-799892284F8F}"/>
              </a:ext>
            </a:extLst>
          </p:cNvPr>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331308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58C8FDC-741E-4BD6-9B48-EA28CC65F13F}"/>
              </a:ext>
            </a:extLst>
          </p:cNvPr>
          <p:cNvSpPr>
            <a:spLocks noGrp="1"/>
          </p:cNvSpPr>
          <p:nvPr>
            <p:ph type="dt" sz="half" idx="10"/>
          </p:nvPr>
        </p:nvSpPr>
        <p:spPr/>
        <p:txBody>
          <a:bodyPr/>
          <a:lstStyle/>
          <a:p>
            <a:fld id="{3D24A7AC-904D-4781-85BA-7D10C17ED021}" type="datetimeFigureOut">
              <a:rPr lang="en-US" smtClean="0"/>
              <a:t>4/12/2018</a:t>
            </a:fld>
            <a:endParaRPr lang="en-US" dirty="0"/>
          </a:p>
        </p:txBody>
      </p:sp>
      <p:sp>
        <p:nvSpPr>
          <p:cNvPr id="3" name="Marcador de pie de página 2">
            <a:extLst>
              <a:ext uri="{FF2B5EF4-FFF2-40B4-BE49-F238E27FC236}">
                <a16:creationId xmlns:a16="http://schemas.microsoft.com/office/drawing/2014/main" id="{72E146BF-D5D0-4CE8-B2C0-54F7C6CBAE2C}"/>
              </a:ext>
            </a:extLst>
          </p:cNvPr>
          <p:cNvSpPr>
            <a:spLocks noGrp="1"/>
          </p:cNvSpPr>
          <p:nvPr>
            <p:ph type="ftr" sz="quarter" idx="11"/>
          </p:nvPr>
        </p:nvSpPr>
        <p:spPr/>
        <p:txBody>
          <a:bodyPr/>
          <a:lstStyle/>
          <a:p>
            <a:endParaRPr lang="en-US" dirty="0"/>
          </a:p>
        </p:txBody>
      </p:sp>
      <p:sp>
        <p:nvSpPr>
          <p:cNvPr id="4" name="Marcador de número de diapositiva 3">
            <a:extLst>
              <a:ext uri="{FF2B5EF4-FFF2-40B4-BE49-F238E27FC236}">
                <a16:creationId xmlns:a16="http://schemas.microsoft.com/office/drawing/2014/main" id="{C4C51751-B104-40D3-B77C-ECBB50294C90}"/>
              </a:ext>
            </a:extLst>
          </p:cNvPr>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874926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5BE8C0-A88F-438B-9B35-63FAA324EAA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72BEE02-FA03-4F8D-B772-EB1BEEC19B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4B20A96B-C788-428A-90AD-9B9518BB9D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117E6279-033B-44CF-AD10-10F372F87754}"/>
              </a:ext>
            </a:extLst>
          </p:cNvPr>
          <p:cNvSpPr>
            <a:spLocks noGrp="1"/>
          </p:cNvSpPr>
          <p:nvPr>
            <p:ph type="dt" sz="half" idx="10"/>
          </p:nvPr>
        </p:nvSpPr>
        <p:spPr/>
        <p:txBody>
          <a:bodyPr/>
          <a:lstStyle/>
          <a:p>
            <a:fld id="{E331444B-B92B-4E27-8C94-BB93EAF5CB18}" type="datetimeFigureOut">
              <a:rPr lang="en-US" smtClean="0"/>
              <a:t>4/12/2018</a:t>
            </a:fld>
            <a:endParaRPr lang="en-US" dirty="0"/>
          </a:p>
        </p:txBody>
      </p:sp>
      <p:sp>
        <p:nvSpPr>
          <p:cNvPr id="6" name="Marcador de pie de página 5">
            <a:extLst>
              <a:ext uri="{FF2B5EF4-FFF2-40B4-BE49-F238E27FC236}">
                <a16:creationId xmlns:a16="http://schemas.microsoft.com/office/drawing/2014/main" id="{EB1E6E49-8837-45A5-A0F5-833FFA56F430}"/>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5D45B9CD-2297-439A-8C23-955F131E9DC5}"/>
              </a:ext>
            </a:extLst>
          </p:cNvPr>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70160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271EAE-37A3-44BF-A3D4-FBD17C69E21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4EEB0D5C-6E63-4964-A2E1-4D2A75DBE9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698DF44D-676B-4D50-8170-29538D7E66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4CAA0D25-F2FB-4921-BF0C-DAA04A3DC3DC}"/>
              </a:ext>
            </a:extLst>
          </p:cNvPr>
          <p:cNvSpPr>
            <a:spLocks noGrp="1"/>
          </p:cNvSpPr>
          <p:nvPr>
            <p:ph type="dt" sz="half" idx="10"/>
          </p:nvPr>
        </p:nvSpPr>
        <p:spPr/>
        <p:txBody>
          <a:bodyPr/>
          <a:lstStyle/>
          <a:p>
            <a:fld id="{363EFA5E-FA76-400D-B3DC-F0BA90E6D107}" type="datetimeFigureOut">
              <a:rPr lang="en-US" smtClean="0"/>
              <a:t>4/12/2018</a:t>
            </a:fld>
            <a:endParaRPr lang="en-US" dirty="0"/>
          </a:p>
        </p:txBody>
      </p:sp>
      <p:sp>
        <p:nvSpPr>
          <p:cNvPr id="6" name="Marcador de pie de página 5">
            <a:extLst>
              <a:ext uri="{FF2B5EF4-FFF2-40B4-BE49-F238E27FC236}">
                <a16:creationId xmlns:a16="http://schemas.microsoft.com/office/drawing/2014/main" id="{15722AA9-E67D-45A6-9EAB-7656077492EB}"/>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59CAC8CC-07B2-445A-ACE4-27D0240265EA}"/>
              </a:ext>
            </a:extLst>
          </p:cNvPr>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1261140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3FFAD5-F046-459E-9147-16B56BE1C9B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543F6893-D33F-4A73-AC5B-4373B2CA7BFC}"/>
              </a:ext>
            </a:extLst>
          </p:cNvPr>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5D84F0E-804E-4FDA-B8B1-7927297081AD}"/>
              </a:ext>
            </a:extLst>
          </p:cNvPr>
          <p:cNvSpPr>
            <a:spLocks noGrp="1"/>
          </p:cNvSpPr>
          <p:nvPr>
            <p:ph type="dt" sz="half" idx="10"/>
          </p:nvPr>
        </p:nvSpPr>
        <p:spPr/>
        <p:txBody>
          <a:bodyPr/>
          <a:lstStyle/>
          <a:p>
            <a:fld id="{1FA3F48C-C7C6-4055-9F49-3777875E72AE}" type="datetimeFigureOut">
              <a:rPr lang="en-US" smtClean="0"/>
              <a:t>4/12/2018</a:t>
            </a:fld>
            <a:endParaRPr lang="en-US" dirty="0"/>
          </a:p>
        </p:txBody>
      </p:sp>
      <p:sp>
        <p:nvSpPr>
          <p:cNvPr id="5" name="Marcador de pie de página 4">
            <a:extLst>
              <a:ext uri="{FF2B5EF4-FFF2-40B4-BE49-F238E27FC236}">
                <a16:creationId xmlns:a16="http://schemas.microsoft.com/office/drawing/2014/main" id="{5E0F0A57-B087-428F-92D6-E4AFE22EBBA5}"/>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4C3ADC42-E4C1-4548-AD15-E20E2BE86B9F}"/>
              </a:ext>
            </a:extLst>
          </p:cNvPr>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012488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A923F97-0C15-4579-B202-960890E1DE0C}"/>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6EAEAEDA-F475-4DF9-8C20-6AA03C4DB651}"/>
              </a:ext>
            </a:extLst>
          </p:cNvPr>
          <p:cNvSpPr>
            <a:spLocks noGrp="1"/>
          </p:cNvSpPr>
          <p:nvPr>
            <p:ph type="body" orient="vert" idx="1"/>
          </p:nvPr>
        </p:nvSpPr>
        <p:spPr>
          <a:xfrm>
            <a:off x="838200" y="365125"/>
            <a:ext cx="7734300" cy="5811838"/>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03FA28D-6B94-42A6-A91C-2002D321CC5F}"/>
              </a:ext>
            </a:extLst>
          </p:cNvPr>
          <p:cNvSpPr>
            <a:spLocks noGrp="1"/>
          </p:cNvSpPr>
          <p:nvPr>
            <p:ph type="dt" sz="half" idx="10"/>
          </p:nvPr>
        </p:nvSpPr>
        <p:spPr/>
        <p:txBody>
          <a:bodyPr/>
          <a:lstStyle/>
          <a:p>
            <a:fld id="{6178E61D-D431-422C-9764-11DAFE33AB63}" type="datetimeFigureOut">
              <a:rPr lang="en-US" smtClean="0"/>
              <a:t>4/12/2018</a:t>
            </a:fld>
            <a:endParaRPr lang="en-US" dirty="0"/>
          </a:p>
        </p:txBody>
      </p:sp>
      <p:sp>
        <p:nvSpPr>
          <p:cNvPr id="5" name="Marcador de pie de página 4">
            <a:extLst>
              <a:ext uri="{FF2B5EF4-FFF2-40B4-BE49-F238E27FC236}">
                <a16:creationId xmlns:a16="http://schemas.microsoft.com/office/drawing/2014/main" id="{6C11CB56-65F7-48D8-B112-3FF793BAAC3E}"/>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3A1A6FCB-D0F8-4AF4-9B22-376995D425A2}"/>
              </a:ext>
            </a:extLst>
          </p:cNvPr>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638160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6C18ECA-58D2-430E-99EB-3142B51597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5BFCCA9-8863-4DB6-9168-DB58996C78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F4B6D21B-57B5-465A-BCF8-F917BEBBFE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6E9DEC-419B-4CC5-A080-3B06BD5A8291}" type="datetimeFigureOut">
              <a:rPr lang="en-US" smtClean="0"/>
              <a:t>4/12/2018</a:t>
            </a:fld>
            <a:endParaRPr lang="en-US" dirty="0"/>
          </a:p>
        </p:txBody>
      </p:sp>
      <p:sp>
        <p:nvSpPr>
          <p:cNvPr id="5" name="Marcador de pie de página 4">
            <a:extLst>
              <a:ext uri="{FF2B5EF4-FFF2-40B4-BE49-F238E27FC236}">
                <a16:creationId xmlns:a16="http://schemas.microsoft.com/office/drawing/2014/main" id="{8BC920BA-D64F-4BAF-8264-D4219BE286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Marcador de número de diapositiva 5">
            <a:extLst>
              <a:ext uri="{FF2B5EF4-FFF2-40B4-BE49-F238E27FC236}">
                <a16:creationId xmlns:a16="http://schemas.microsoft.com/office/drawing/2014/main" id="{2321AE3A-0131-45F9-8F3A-DE80CAFE29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920617169"/>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0B1E12-B115-40EA-9D06-7A94084BB9D2}"/>
              </a:ext>
            </a:extLst>
          </p:cNvPr>
          <p:cNvSpPr>
            <a:spLocks noGrp="1"/>
          </p:cNvSpPr>
          <p:nvPr>
            <p:ph type="title"/>
          </p:nvPr>
        </p:nvSpPr>
        <p:spPr>
          <a:xfrm>
            <a:off x="1077351" y="393260"/>
            <a:ext cx="10515600" cy="1325563"/>
          </a:xfrm>
        </p:spPr>
        <p:txBody>
          <a:bodyPr>
            <a:normAutofit fontScale="90000"/>
          </a:bodyPr>
          <a:lstStyle/>
          <a:p>
            <a:pPr algn="ctr"/>
            <a:r>
              <a:rPr lang="es-MX" dirty="0"/>
              <a:t>UNIVERSIDAD AUTÓNOMA DE NAYARIT</a:t>
            </a:r>
            <a:br>
              <a:rPr lang="es-MX" dirty="0"/>
            </a:br>
            <a:r>
              <a:rPr lang="es-MX" sz="3200" dirty="0"/>
              <a:t>UNIDAD ACADÉMICA DE QFB</a:t>
            </a:r>
            <a:br>
              <a:rPr lang="es-MX" sz="3200" dirty="0"/>
            </a:br>
            <a:endParaRPr lang="es-MX" dirty="0"/>
          </a:p>
        </p:txBody>
      </p:sp>
      <p:sp>
        <p:nvSpPr>
          <p:cNvPr id="3" name="Marcador de contenido 2">
            <a:extLst>
              <a:ext uri="{FF2B5EF4-FFF2-40B4-BE49-F238E27FC236}">
                <a16:creationId xmlns:a16="http://schemas.microsoft.com/office/drawing/2014/main" id="{0A365A3F-DD0A-4E78-8CFB-4E7D1CACF133}"/>
              </a:ext>
            </a:extLst>
          </p:cNvPr>
          <p:cNvSpPr>
            <a:spLocks noGrp="1"/>
          </p:cNvSpPr>
          <p:nvPr>
            <p:ph idx="1"/>
          </p:nvPr>
        </p:nvSpPr>
        <p:spPr>
          <a:xfrm>
            <a:off x="3717974" y="2596984"/>
            <a:ext cx="5234354" cy="591380"/>
          </a:xfrm>
        </p:spPr>
        <p:style>
          <a:lnRef idx="3">
            <a:schemeClr val="lt1"/>
          </a:lnRef>
          <a:fillRef idx="1">
            <a:schemeClr val="accent1"/>
          </a:fillRef>
          <a:effectRef idx="1">
            <a:schemeClr val="accent1"/>
          </a:effectRef>
          <a:fontRef idx="minor">
            <a:schemeClr val="lt1"/>
          </a:fontRef>
        </p:style>
        <p:txBody>
          <a:bodyPr/>
          <a:lstStyle/>
          <a:p>
            <a:pPr marL="0" indent="0" algn="ctr">
              <a:buNone/>
            </a:pPr>
            <a:r>
              <a:rPr lang="es-MX" dirty="0"/>
              <a:t>DENSIDAD RELATIVA Y VISCOSIDAD</a:t>
            </a:r>
          </a:p>
        </p:txBody>
      </p:sp>
      <p:pic>
        <p:nvPicPr>
          <p:cNvPr id="4" name="Imagen 3">
            <a:extLst>
              <a:ext uri="{FF2B5EF4-FFF2-40B4-BE49-F238E27FC236}">
                <a16:creationId xmlns:a16="http://schemas.microsoft.com/office/drawing/2014/main" id="{F5EBBDAC-E165-44FA-AB3A-7DBF8A15664C}"/>
              </a:ext>
            </a:extLst>
          </p:cNvPr>
          <p:cNvPicPr>
            <a:picLocks noChangeAspect="1"/>
          </p:cNvPicPr>
          <p:nvPr/>
        </p:nvPicPr>
        <p:blipFill>
          <a:blip r:embed="rId2"/>
          <a:stretch>
            <a:fillRect/>
          </a:stretch>
        </p:blipFill>
        <p:spPr>
          <a:xfrm>
            <a:off x="142948" y="-198120"/>
            <a:ext cx="2143125" cy="2133600"/>
          </a:xfrm>
          <a:prstGeom prst="rect">
            <a:avLst/>
          </a:prstGeom>
        </p:spPr>
      </p:pic>
      <p:sp>
        <p:nvSpPr>
          <p:cNvPr id="5" name="CuadroTexto 4">
            <a:extLst>
              <a:ext uri="{FF2B5EF4-FFF2-40B4-BE49-F238E27FC236}">
                <a16:creationId xmlns:a16="http://schemas.microsoft.com/office/drawing/2014/main" id="{849FB749-BCBB-4071-8156-7C114E0027D9}"/>
              </a:ext>
            </a:extLst>
          </p:cNvPr>
          <p:cNvSpPr txBox="1"/>
          <p:nvPr/>
        </p:nvSpPr>
        <p:spPr>
          <a:xfrm>
            <a:off x="1077351" y="4066525"/>
            <a:ext cx="5486400" cy="461665"/>
          </a:xfrm>
          <a:prstGeom prst="rect">
            <a:avLst/>
          </a:prstGeom>
          <a:noFill/>
        </p:spPr>
        <p:txBody>
          <a:bodyPr wrap="square" rtlCol="0">
            <a:spAutoFit/>
          </a:bodyPr>
          <a:lstStyle/>
          <a:p>
            <a:r>
              <a:rPr lang="es-MX" sz="2400" dirty="0"/>
              <a:t>Sergio Humberto Chávez Ocegueda</a:t>
            </a:r>
          </a:p>
        </p:txBody>
      </p:sp>
      <p:sp>
        <p:nvSpPr>
          <p:cNvPr id="6" name="CuadroTexto 5">
            <a:extLst>
              <a:ext uri="{FF2B5EF4-FFF2-40B4-BE49-F238E27FC236}">
                <a16:creationId xmlns:a16="http://schemas.microsoft.com/office/drawing/2014/main" id="{C17C1497-FC92-42DD-922F-6B74737637EE}"/>
              </a:ext>
            </a:extLst>
          </p:cNvPr>
          <p:cNvSpPr txBox="1"/>
          <p:nvPr/>
        </p:nvSpPr>
        <p:spPr>
          <a:xfrm>
            <a:off x="3958298" y="1938045"/>
            <a:ext cx="4994030" cy="369332"/>
          </a:xfrm>
          <a:prstGeom prst="rect">
            <a:avLst/>
          </a:prstGeom>
          <a:noFill/>
        </p:spPr>
        <p:txBody>
          <a:bodyPr wrap="square" rtlCol="0">
            <a:spAutoFit/>
          </a:bodyPr>
          <a:lstStyle/>
          <a:p>
            <a:r>
              <a:rPr lang="es-MX" dirty="0"/>
              <a:t>INTRODUCCIÓN AL ANALISIS FARMACÉUTICO</a:t>
            </a:r>
          </a:p>
        </p:txBody>
      </p:sp>
      <p:sp>
        <p:nvSpPr>
          <p:cNvPr id="7" name="CuadroTexto 6">
            <a:extLst>
              <a:ext uri="{FF2B5EF4-FFF2-40B4-BE49-F238E27FC236}">
                <a16:creationId xmlns:a16="http://schemas.microsoft.com/office/drawing/2014/main" id="{FBDFBC1E-F3F4-4614-830D-3B48855E9DF9}"/>
              </a:ext>
            </a:extLst>
          </p:cNvPr>
          <p:cNvSpPr txBox="1"/>
          <p:nvPr/>
        </p:nvSpPr>
        <p:spPr>
          <a:xfrm>
            <a:off x="7371471" y="5795889"/>
            <a:ext cx="4221480" cy="646331"/>
          </a:xfrm>
          <a:prstGeom prst="rect">
            <a:avLst/>
          </a:prstGeom>
          <a:noFill/>
        </p:spPr>
        <p:txBody>
          <a:bodyPr wrap="square" rtlCol="0">
            <a:spAutoFit/>
          </a:bodyPr>
          <a:lstStyle/>
          <a:p>
            <a:r>
              <a:rPr lang="es-MX" dirty="0"/>
              <a:t>TEPIC, NAYARIT A 12 DE ABRIL DEL 2018</a:t>
            </a:r>
          </a:p>
          <a:p>
            <a:r>
              <a:rPr lang="es-MX" dirty="0"/>
              <a:t>6to D</a:t>
            </a:r>
          </a:p>
        </p:txBody>
      </p:sp>
      <p:sp>
        <p:nvSpPr>
          <p:cNvPr id="8" name="CuadroTexto 7">
            <a:extLst>
              <a:ext uri="{FF2B5EF4-FFF2-40B4-BE49-F238E27FC236}">
                <a16:creationId xmlns:a16="http://schemas.microsoft.com/office/drawing/2014/main" id="{982B8C21-0A5A-4E8E-B342-77CABE1AA4FA}"/>
              </a:ext>
            </a:extLst>
          </p:cNvPr>
          <p:cNvSpPr txBox="1"/>
          <p:nvPr/>
        </p:nvSpPr>
        <p:spPr>
          <a:xfrm>
            <a:off x="1077351" y="5291274"/>
            <a:ext cx="5486400" cy="461665"/>
          </a:xfrm>
          <a:prstGeom prst="rect">
            <a:avLst/>
          </a:prstGeom>
          <a:noFill/>
        </p:spPr>
        <p:txBody>
          <a:bodyPr wrap="square" rtlCol="0">
            <a:spAutoFit/>
          </a:bodyPr>
          <a:lstStyle/>
          <a:p>
            <a:r>
              <a:rPr lang="es-MX" sz="2400" dirty="0"/>
              <a:t>Profesor: Francisco Javier Andrés López</a:t>
            </a:r>
          </a:p>
        </p:txBody>
      </p:sp>
    </p:spTree>
    <p:extLst>
      <p:ext uri="{BB962C8B-B14F-4D97-AF65-F5344CB8AC3E}">
        <p14:creationId xmlns:p14="http://schemas.microsoft.com/office/powerpoint/2010/main" val="1188508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A73B9D-E841-46EF-84DF-40F7967FB89B}"/>
              </a:ext>
            </a:extLst>
          </p:cNvPr>
          <p:cNvSpPr>
            <a:spLocks noGrp="1"/>
          </p:cNvSpPr>
          <p:nvPr>
            <p:ph type="ctrTitle"/>
          </p:nvPr>
        </p:nvSpPr>
        <p:spPr>
          <a:xfrm>
            <a:off x="665794" y="347619"/>
            <a:ext cx="10136358" cy="2262781"/>
          </a:xfrm>
        </p:spPr>
        <p:txBody>
          <a:bodyPr/>
          <a:lstStyle/>
          <a:p>
            <a:r>
              <a:rPr lang="es-MX" dirty="0"/>
              <a:t>DENSIDAD RELATIVA Y VISCOSIDAD</a:t>
            </a:r>
          </a:p>
        </p:txBody>
      </p:sp>
      <p:pic>
        <p:nvPicPr>
          <p:cNvPr id="4" name="Imagen 3">
            <a:extLst>
              <a:ext uri="{FF2B5EF4-FFF2-40B4-BE49-F238E27FC236}">
                <a16:creationId xmlns:a16="http://schemas.microsoft.com/office/drawing/2014/main" id="{DBFA6860-D00A-45F0-B740-F213C192F56F}"/>
              </a:ext>
            </a:extLst>
          </p:cNvPr>
          <p:cNvPicPr>
            <a:picLocks noChangeAspect="1"/>
          </p:cNvPicPr>
          <p:nvPr/>
        </p:nvPicPr>
        <p:blipFill>
          <a:blip r:embed="rId2"/>
          <a:stretch>
            <a:fillRect/>
          </a:stretch>
        </p:blipFill>
        <p:spPr>
          <a:xfrm>
            <a:off x="2976658" y="3198029"/>
            <a:ext cx="5514629" cy="2840831"/>
          </a:xfrm>
          <a:prstGeom prst="rect">
            <a:avLst/>
          </a:prstGeom>
        </p:spPr>
      </p:pic>
    </p:spTree>
    <p:extLst>
      <p:ext uri="{BB962C8B-B14F-4D97-AF65-F5344CB8AC3E}">
        <p14:creationId xmlns:p14="http://schemas.microsoft.com/office/powerpoint/2010/main" val="4053082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1EC696-FF13-45CF-A6CD-789E1D17F7E0}"/>
              </a:ext>
            </a:extLst>
          </p:cNvPr>
          <p:cNvSpPr>
            <a:spLocks noGrp="1"/>
          </p:cNvSpPr>
          <p:nvPr>
            <p:ph type="title"/>
          </p:nvPr>
        </p:nvSpPr>
        <p:spPr/>
        <p:txBody>
          <a:bodyPr/>
          <a:lstStyle/>
          <a:p>
            <a:r>
              <a:rPr lang="es-MX" dirty="0"/>
              <a:t>DENSIDAD</a:t>
            </a:r>
          </a:p>
        </p:txBody>
      </p:sp>
      <p:sp>
        <p:nvSpPr>
          <p:cNvPr id="3" name="Marcador de contenido 2">
            <a:extLst>
              <a:ext uri="{FF2B5EF4-FFF2-40B4-BE49-F238E27FC236}">
                <a16:creationId xmlns:a16="http://schemas.microsoft.com/office/drawing/2014/main" id="{C48FEEEF-1DC7-44BF-BC77-6C217573756F}"/>
              </a:ext>
            </a:extLst>
          </p:cNvPr>
          <p:cNvSpPr>
            <a:spLocks noGrp="1"/>
          </p:cNvSpPr>
          <p:nvPr>
            <p:ph idx="1"/>
          </p:nvPr>
        </p:nvSpPr>
        <p:spPr>
          <a:xfrm>
            <a:off x="1004839" y="1518346"/>
            <a:ext cx="8946541" cy="4195481"/>
          </a:xfrm>
        </p:spPr>
        <p:txBody>
          <a:bodyPr>
            <a:normAutofit/>
          </a:bodyPr>
          <a:lstStyle/>
          <a:p>
            <a:pPr algn="just"/>
            <a:r>
              <a:rPr lang="es-MX" sz="2400" dirty="0"/>
              <a:t>La densidad de una sustancia homogénea es una propiedad física que la caracteriza y está definida como el cociente entre la masa y el volumen de la sustancia que se trate. </a:t>
            </a:r>
          </a:p>
          <a:p>
            <a:pPr algn="just"/>
            <a:r>
              <a:rPr lang="es-MX" sz="2400" dirty="0">
                <a:solidFill>
                  <a:srgbClr val="00B050"/>
                </a:solidFill>
              </a:rPr>
              <a:t>Esta propiedad depende de la temperatura, </a:t>
            </a:r>
            <a:r>
              <a:rPr lang="es-MX" sz="2400" dirty="0"/>
              <a:t>por lo que al medir la densidad de una sustancia se debe considerar la temperatura a la cual se realiza la medición. En el caso de sustancias no homogéneas lo que obtenemos al dividir la masa y el volumen es la densidad promedio. </a:t>
            </a:r>
            <a:endParaRPr lang="es-MX" sz="2400" dirty="0">
              <a:latin typeface="Arial" panose="020B06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30308D2E-BE8B-45A2-8492-964EED397D46}"/>
              </a:ext>
            </a:extLst>
          </p:cNvPr>
          <p:cNvPicPr>
            <a:picLocks noChangeAspect="1"/>
          </p:cNvPicPr>
          <p:nvPr/>
        </p:nvPicPr>
        <p:blipFill>
          <a:blip r:embed="rId2"/>
          <a:stretch>
            <a:fillRect/>
          </a:stretch>
        </p:blipFill>
        <p:spPr>
          <a:xfrm>
            <a:off x="7498080" y="4586066"/>
            <a:ext cx="3322685" cy="2053883"/>
          </a:xfrm>
          <a:prstGeom prst="rect">
            <a:avLst/>
          </a:prstGeom>
        </p:spPr>
      </p:pic>
    </p:spTree>
    <p:extLst>
      <p:ext uri="{BB962C8B-B14F-4D97-AF65-F5344CB8AC3E}">
        <p14:creationId xmlns:p14="http://schemas.microsoft.com/office/powerpoint/2010/main" val="1438079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A5AC27-32AC-4C7B-AFB4-CF1F391DC0D8}"/>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59669E3D-A1E1-4A07-A383-E7534460245A}"/>
              </a:ext>
            </a:extLst>
          </p:cNvPr>
          <p:cNvPicPr>
            <a:picLocks noGrp="1" noChangeAspect="1"/>
          </p:cNvPicPr>
          <p:nvPr>
            <p:ph idx="1"/>
          </p:nvPr>
        </p:nvPicPr>
        <p:blipFill>
          <a:blip r:embed="rId2"/>
          <a:stretch>
            <a:fillRect/>
          </a:stretch>
        </p:blipFill>
        <p:spPr>
          <a:xfrm>
            <a:off x="6096000" y="1060174"/>
            <a:ext cx="5653691" cy="4244699"/>
          </a:xfrm>
          <a:prstGeom prst="rect">
            <a:avLst/>
          </a:prstGeom>
        </p:spPr>
      </p:pic>
      <p:pic>
        <p:nvPicPr>
          <p:cNvPr id="5" name="Imagen 4">
            <a:extLst>
              <a:ext uri="{FF2B5EF4-FFF2-40B4-BE49-F238E27FC236}">
                <a16:creationId xmlns:a16="http://schemas.microsoft.com/office/drawing/2014/main" id="{AB80A5B0-B386-462E-8A24-E0FA200C4529}"/>
              </a:ext>
            </a:extLst>
          </p:cNvPr>
          <p:cNvPicPr>
            <a:picLocks noChangeAspect="1"/>
          </p:cNvPicPr>
          <p:nvPr/>
        </p:nvPicPr>
        <p:blipFill>
          <a:blip r:embed="rId3"/>
          <a:stretch>
            <a:fillRect/>
          </a:stretch>
        </p:blipFill>
        <p:spPr>
          <a:xfrm>
            <a:off x="149708" y="1905000"/>
            <a:ext cx="5743575" cy="2819400"/>
          </a:xfrm>
          <a:prstGeom prst="rect">
            <a:avLst/>
          </a:prstGeom>
        </p:spPr>
      </p:pic>
    </p:spTree>
    <p:extLst>
      <p:ext uri="{BB962C8B-B14F-4D97-AF65-F5344CB8AC3E}">
        <p14:creationId xmlns:p14="http://schemas.microsoft.com/office/powerpoint/2010/main" val="3901370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99AB0A-7C8B-4354-A467-599771E4D3D2}"/>
              </a:ext>
            </a:extLst>
          </p:cNvPr>
          <p:cNvSpPr>
            <a:spLocks noGrp="1"/>
          </p:cNvSpPr>
          <p:nvPr>
            <p:ph type="title"/>
          </p:nvPr>
        </p:nvSpPr>
        <p:spPr>
          <a:xfrm>
            <a:off x="599049" y="72706"/>
            <a:ext cx="10515600" cy="1080277"/>
          </a:xfrm>
        </p:spPr>
        <p:style>
          <a:lnRef idx="1">
            <a:schemeClr val="dk1"/>
          </a:lnRef>
          <a:fillRef idx="2">
            <a:schemeClr val="dk1"/>
          </a:fillRef>
          <a:effectRef idx="1">
            <a:schemeClr val="dk1"/>
          </a:effectRef>
          <a:fontRef idx="minor">
            <a:schemeClr val="dk1"/>
          </a:fontRef>
        </p:style>
        <p:txBody>
          <a:bodyPr/>
          <a:lstStyle/>
          <a:p>
            <a:r>
              <a:rPr lang="es-MX" dirty="0"/>
              <a:t>DENSIDAD RELATIVA</a:t>
            </a:r>
          </a:p>
        </p:txBody>
      </p:sp>
      <p:sp>
        <p:nvSpPr>
          <p:cNvPr id="9" name="Rectángulo 8">
            <a:extLst>
              <a:ext uri="{FF2B5EF4-FFF2-40B4-BE49-F238E27FC236}">
                <a16:creationId xmlns:a16="http://schemas.microsoft.com/office/drawing/2014/main" id="{84EF9972-549A-4743-AB28-F419540FB5D6}"/>
              </a:ext>
            </a:extLst>
          </p:cNvPr>
          <p:cNvSpPr/>
          <p:nvPr/>
        </p:nvSpPr>
        <p:spPr>
          <a:xfrm>
            <a:off x="463442" y="1349931"/>
            <a:ext cx="8652634" cy="4524315"/>
          </a:xfrm>
          <a:prstGeom prst="rect">
            <a:avLst/>
          </a:prstGeom>
        </p:spPr>
        <p:txBody>
          <a:bodyPr wrap="square">
            <a:spAutoFit/>
          </a:bodyPr>
          <a:lstStyle/>
          <a:p>
            <a:r>
              <a:rPr lang="es-MX" sz="2400" dirty="0"/>
              <a:t>En la práctica cotidiana de la industria, la medición de densidad de una sustancia se suele establecer, no de manera absoluta, esto es midiendo la masa y el volumen de una muestra de la sustancia considerada sino de modo relativo, esto es, </a:t>
            </a:r>
            <a:r>
              <a:rPr lang="es-MX" sz="2400" dirty="0">
                <a:solidFill>
                  <a:schemeClr val="accent4">
                    <a:lumMod val="75000"/>
                  </a:schemeClr>
                </a:solidFill>
              </a:rPr>
              <a:t>comparando la densidad de la muestra con la densidad de otra sustancia, y a ese valor obtenido se le llama densidad relativa. </a:t>
            </a:r>
          </a:p>
          <a:p>
            <a:endParaRPr lang="es-MX" sz="2400" dirty="0"/>
          </a:p>
          <a:p>
            <a:endParaRPr lang="es-MX" sz="2400" dirty="0"/>
          </a:p>
          <a:p>
            <a:endParaRPr lang="es-MX" sz="2400" dirty="0"/>
          </a:p>
          <a:p>
            <a:r>
              <a:rPr lang="es-MX" sz="2400" dirty="0"/>
              <a:t>Utilizada con frecuencia en la práctica por: </a:t>
            </a:r>
          </a:p>
          <a:p>
            <a:pPr marL="342900" indent="-342900">
              <a:buFont typeface="Arial" panose="020B0604020202020204" pitchFamily="34" charset="0"/>
              <a:buChar char="•"/>
            </a:pPr>
            <a:r>
              <a:rPr lang="es-MX" sz="2400" dirty="0"/>
              <a:t>carencia de elementos de laboratorio adecuados</a:t>
            </a:r>
          </a:p>
          <a:p>
            <a:pPr marL="342900" indent="-342900">
              <a:buFont typeface="Arial" panose="020B0604020202020204" pitchFamily="34" charset="0"/>
              <a:buChar char="•"/>
            </a:pPr>
            <a:r>
              <a:rPr lang="es-MX" sz="2400" dirty="0"/>
              <a:t>porque el proceso de medición es más rápido. </a:t>
            </a:r>
          </a:p>
        </p:txBody>
      </p:sp>
      <p:pic>
        <p:nvPicPr>
          <p:cNvPr id="11" name="Imagen 10">
            <a:extLst>
              <a:ext uri="{FF2B5EF4-FFF2-40B4-BE49-F238E27FC236}">
                <a16:creationId xmlns:a16="http://schemas.microsoft.com/office/drawing/2014/main" id="{CE84E057-13DA-4500-9E63-5DDCAA7533F5}"/>
              </a:ext>
            </a:extLst>
          </p:cNvPr>
          <p:cNvPicPr>
            <a:picLocks noChangeAspect="1"/>
          </p:cNvPicPr>
          <p:nvPr/>
        </p:nvPicPr>
        <p:blipFill>
          <a:blip r:embed="rId2"/>
          <a:stretch>
            <a:fillRect/>
          </a:stretch>
        </p:blipFill>
        <p:spPr>
          <a:xfrm>
            <a:off x="9116076" y="1625258"/>
            <a:ext cx="2857500" cy="2714625"/>
          </a:xfrm>
          <a:prstGeom prst="rect">
            <a:avLst/>
          </a:prstGeom>
        </p:spPr>
      </p:pic>
    </p:spTree>
    <p:extLst>
      <p:ext uri="{BB962C8B-B14F-4D97-AF65-F5344CB8AC3E}">
        <p14:creationId xmlns:p14="http://schemas.microsoft.com/office/powerpoint/2010/main" val="2624877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933B8231-7412-4853-8B95-735C924E601B}"/>
              </a:ext>
            </a:extLst>
          </p:cNvPr>
          <p:cNvPicPr>
            <a:picLocks noChangeAspect="1"/>
          </p:cNvPicPr>
          <p:nvPr/>
        </p:nvPicPr>
        <p:blipFill>
          <a:blip r:embed="rId2"/>
          <a:stretch>
            <a:fillRect/>
          </a:stretch>
        </p:blipFill>
        <p:spPr>
          <a:xfrm>
            <a:off x="3940877" y="2048136"/>
            <a:ext cx="4310246" cy="2761727"/>
          </a:xfrm>
          <a:prstGeom prst="rect">
            <a:avLst/>
          </a:prstGeom>
        </p:spPr>
      </p:pic>
      <p:sp>
        <p:nvSpPr>
          <p:cNvPr id="4" name="Rectángulo 3">
            <a:extLst>
              <a:ext uri="{FF2B5EF4-FFF2-40B4-BE49-F238E27FC236}">
                <a16:creationId xmlns:a16="http://schemas.microsoft.com/office/drawing/2014/main" id="{8311B3B1-CA12-4EA4-AF67-EA2FDB7BF49D}"/>
              </a:ext>
            </a:extLst>
          </p:cNvPr>
          <p:cNvSpPr/>
          <p:nvPr/>
        </p:nvSpPr>
        <p:spPr>
          <a:xfrm>
            <a:off x="1036319" y="1621191"/>
            <a:ext cx="9683262" cy="4154984"/>
          </a:xfrm>
          <a:prstGeom prst="rect">
            <a:avLst/>
          </a:prstGeom>
        </p:spPr>
        <p:txBody>
          <a:bodyPr wrap="square">
            <a:spAutoFit/>
          </a:bodyPr>
          <a:lstStyle/>
          <a:p>
            <a:r>
              <a:rPr lang="es-MX" sz="2400" b="1" dirty="0">
                <a:solidFill>
                  <a:schemeClr val="accent1"/>
                </a:solidFill>
                <a:latin typeface="Arial" panose="020B0604020202020204" pitchFamily="34" charset="0"/>
                <a:cs typeface="Arial" panose="020B0604020202020204" pitchFamily="34" charset="0"/>
              </a:rPr>
              <a:t>La densidad relativa </a:t>
            </a:r>
            <a:r>
              <a:rPr lang="es-MX" sz="2400" b="1" dirty="0">
                <a:latin typeface="Arial" panose="020B0604020202020204" pitchFamily="34" charset="0"/>
                <a:cs typeface="Arial" panose="020B0604020202020204" pitchFamily="34" charset="0"/>
              </a:rPr>
              <a:t>se define como el cociente entre la densidad de una sustancia y la de otra tomada como referencia. </a:t>
            </a:r>
          </a:p>
          <a:p>
            <a:endParaRPr lang="es-MX" sz="2400" b="1" dirty="0">
              <a:latin typeface="Arial" panose="020B0604020202020204" pitchFamily="34" charset="0"/>
              <a:cs typeface="Arial" panose="020B0604020202020204" pitchFamily="34" charset="0"/>
            </a:endParaRPr>
          </a:p>
          <a:p>
            <a:endParaRPr lang="es-MX" sz="2400" b="1" dirty="0">
              <a:latin typeface="Arial" panose="020B0604020202020204" pitchFamily="34" charset="0"/>
              <a:cs typeface="Arial" panose="020B0604020202020204" pitchFamily="34" charset="0"/>
            </a:endParaRPr>
          </a:p>
          <a:p>
            <a:endParaRPr lang="es-MX" sz="2400" b="1" dirty="0">
              <a:latin typeface="Arial" panose="020B0604020202020204" pitchFamily="34" charset="0"/>
              <a:cs typeface="Arial" panose="020B0604020202020204" pitchFamily="34" charset="0"/>
            </a:endParaRPr>
          </a:p>
          <a:p>
            <a:endParaRPr lang="es-MX" sz="2400" b="1" dirty="0">
              <a:latin typeface="Arial" panose="020B0604020202020204" pitchFamily="34" charset="0"/>
              <a:cs typeface="Arial" panose="020B0604020202020204" pitchFamily="34" charset="0"/>
            </a:endParaRPr>
          </a:p>
          <a:p>
            <a:endParaRPr lang="es-MX" sz="2400" b="1" dirty="0">
              <a:latin typeface="Arial" panose="020B0604020202020204" pitchFamily="34" charset="0"/>
              <a:cs typeface="Arial" panose="020B0604020202020204" pitchFamily="34" charset="0"/>
            </a:endParaRPr>
          </a:p>
          <a:p>
            <a:endParaRPr lang="es-MX" sz="2400" b="1" dirty="0">
              <a:latin typeface="Arial" panose="020B0604020202020204" pitchFamily="34" charset="0"/>
              <a:cs typeface="Arial" panose="020B0604020202020204" pitchFamily="34" charset="0"/>
            </a:endParaRPr>
          </a:p>
          <a:p>
            <a:endParaRPr lang="es-MX" sz="2400" b="1" dirty="0">
              <a:latin typeface="Arial" panose="020B0604020202020204" pitchFamily="34" charset="0"/>
              <a:cs typeface="Arial" panose="020B0604020202020204" pitchFamily="34" charset="0"/>
            </a:endParaRPr>
          </a:p>
          <a:p>
            <a:r>
              <a:rPr lang="es-MX" sz="2400" b="1" dirty="0">
                <a:latin typeface="Arial" panose="020B0604020202020204" pitchFamily="34" charset="0"/>
                <a:cs typeface="Arial" panose="020B0604020202020204" pitchFamily="34" charset="0"/>
              </a:rPr>
              <a:t>Generalmente se toma la densidad del agua destilada a 4 °C como referencia. </a:t>
            </a:r>
          </a:p>
        </p:txBody>
      </p:sp>
    </p:spTree>
    <p:extLst>
      <p:ext uri="{BB962C8B-B14F-4D97-AF65-F5344CB8AC3E}">
        <p14:creationId xmlns:p14="http://schemas.microsoft.com/office/powerpoint/2010/main" val="1985823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0A119C-5A32-41A0-98F7-3CD9DBCD3E58}"/>
              </a:ext>
            </a:extLst>
          </p:cNvPr>
          <p:cNvSpPr>
            <a:spLocks noGrp="1"/>
          </p:cNvSpPr>
          <p:nvPr>
            <p:ph type="title"/>
          </p:nvPr>
        </p:nvSpPr>
        <p:spPr/>
        <p:txBody>
          <a:bodyPr/>
          <a:lstStyle/>
          <a:p>
            <a:r>
              <a:rPr lang="es-MX" dirty="0"/>
              <a:t>PICNOMETRÍA</a:t>
            </a:r>
          </a:p>
        </p:txBody>
      </p:sp>
      <p:sp>
        <p:nvSpPr>
          <p:cNvPr id="3" name="Marcador de contenido 2">
            <a:extLst>
              <a:ext uri="{FF2B5EF4-FFF2-40B4-BE49-F238E27FC236}">
                <a16:creationId xmlns:a16="http://schemas.microsoft.com/office/drawing/2014/main" id="{83FA2132-EC46-4CCF-9B97-83FFC2F08BA0}"/>
              </a:ext>
            </a:extLst>
          </p:cNvPr>
          <p:cNvSpPr>
            <a:spLocks noGrp="1"/>
          </p:cNvSpPr>
          <p:nvPr>
            <p:ph idx="1"/>
          </p:nvPr>
        </p:nvSpPr>
        <p:spPr>
          <a:xfrm>
            <a:off x="5056419" y="1448972"/>
            <a:ext cx="6489470" cy="4799427"/>
          </a:xfrm>
        </p:spPr>
        <p:txBody>
          <a:bodyPr>
            <a:normAutofit lnSpcReduction="10000"/>
          </a:bodyPr>
          <a:lstStyle/>
          <a:p>
            <a:pPr>
              <a:lnSpc>
                <a:spcPct val="100000"/>
              </a:lnSpc>
            </a:pPr>
            <a:r>
              <a:rPr lang="es-MX" sz="2400" dirty="0">
                <a:latin typeface="Arial" panose="020B0604020202020204" pitchFamily="34" charset="0"/>
                <a:cs typeface="Arial" panose="020B0604020202020204" pitchFamily="34" charset="0"/>
              </a:rPr>
              <a:t>La picnometría es un método para determinar la densidad relativa de una muestra respecto de un material de referencia.</a:t>
            </a:r>
          </a:p>
          <a:p>
            <a:pPr>
              <a:lnSpc>
                <a:spcPct val="100000"/>
              </a:lnSpc>
            </a:pPr>
            <a:r>
              <a:rPr lang="es-MX" sz="2400" dirty="0">
                <a:latin typeface="Arial" panose="020B0604020202020204" pitchFamily="34" charset="0"/>
                <a:cs typeface="Arial" panose="020B0604020202020204" pitchFamily="34" charset="0"/>
              </a:rPr>
              <a:t> </a:t>
            </a:r>
            <a:r>
              <a:rPr lang="es-MX" sz="2400" dirty="0">
                <a:solidFill>
                  <a:schemeClr val="accent1">
                    <a:lumMod val="75000"/>
                  </a:schemeClr>
                </a:solidFill>
                <a:latin typeface="Arial" panose="020B0604020202020204" pitchFamily="34" charset="0"/>
                <a:cs typeface="Arial" panose="020B0604020202020204" pitchFamily="34" charset="0"/>
              </a:rPr>
              <a:t>Esto se logra comparando la masa de un volumen de muestra, con la masa del mismo volumen de material de referencia. </a:t>
            </a:r>
            <a:r>
              <a:rPr lang="es-MX" sz="2400" dirty="0">
                <a:latin typeface="Arial" panose="020B0604020202020204" pitchFamily="34" charset="0"/>
                <a:cs typeface="Arial" panose="020B0604020202020204" pitchFamily="34" charset="0"/>
              </a:rPr>
              <a:t>Para lograrlo, se utiliza el picnómetro, un instrumento que permite, en comparación con otros materiales volumétricos, cargar un cierto volumen de muestra con gran precisión, ya que posee un cuello capilar para enrasar</a:t>
            </a:r>
          </a:p>
        </p:txBody>
      </p:sp>
      <p:pic>
        <p:nvPicPr>
          <p:cNvPr id="4" name="Imagen 3">
            <a:extLst>
              <a:ext uri="{FF2B5EF4-FFF2-40B4-BE49-F238E27FC236}">
                <a16:creationId xmlns:a16="http://schemas.microsoft.com/office/drawing/2014/main" id="{A176F7B8-8FE9-434A-8400-91D49351EDCA}"/>
              </a:ext>
            </a:extLst>
          </p:cNvPr>
          <p:cNvPicPr>
            <a:picLocks noChangeAspect="1"/>
          </p:cNvPicPr>
          <p:nvPr/>
        </p:nvPicPr>
        <p:blipFill>
          <a:blip r:embed="rId2"/>
          <a:stretch>
            <a:fillRect/>
          </a:stretch>
        </p:blipFill>
        <p:spPr>
          <a:xfrm>
            <a:off x="298681" y="1463040"/>
            <a:ext cx="4757738" cy="4649372"/>
          </a:xfrm>
          <a:prstGeom prst="rect">
            <a:avLst/>
          </a:prstGeom>
        </p:spPr>
      </p:pic>
    </p:spTree>
    <p:extLst>
      <p:ext uri="{BB962C8B-B14F-4D97-AF65-F5344CB8AC3E}">
        <p14:creationId xmlns:p14="http://schemas.microsoft.com/office/powerpoint/2010/main" val="1359107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a:extLst>
              <a:ext uri="{FF2B5EF4-FFF2-40B4-BE49-F238E27FC236}">
                <a16:creationId xmlns:a16="http://schemas.microsoft.com/office/drawing/2014/main" id="{ECE6F73E-DEC3-4FE0-AFB7-CF0D90CA439E}"/>
              </a:ext>
            </a:extLst>
          </p:cNvPr>
          <p:cNvPicPr>
            <a:picLocks noGrp="1" noChangeAspect="1"/>
          </p:cNvPicPr>
          <p:nvPr>
            <p:ph idx="1"/>
          </p:nvPr>
        </p:nvPicPr>
        <p:blipFill rotWithShape="1">
          <a:blip r:embed="rId2"/>
          <a:srcRect l="38608" t="25511" r="36698" b="36267"/>
          <a:stretch/>
        </p:blipFill>
        <p:spPr>
          <a:xfrm>
            <a:off x="1645920" y="126919"/>
            <a:ext cx="8404914" cy="6604161"/>
          </a:xfrm>
          <a:prstGeom prst="rect">
            <a:avLst/>
          </a:prstGeom>
        </p:spPr>
      </p:pic>
    </p:spTree>
    <p:extLst>
      <p:ext uri="{BB962C8B-B14F-4D97-AF65-F5344CB8AC3E}">
        <p14:creationId xmlns:p14="http://schemas.microsoft.com/office/powerpoint/2010/main" val="189277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15B88DE-261E-4001-9D95-7F7C6992584F}"/>
              </a:ext>
            </a:extLst>
          </p:cNvPr>
          <p:cNvPicPr>
            <a:picLocks noChangeAspect="1"/>
          </p:cNvPicPr>
          <p:nvPr/>
        </p:nvPicPr>
        <p:blipFill>
          <a:blip r:embed="rId2"/>
          <a:stretch>
            <a:fillRect/>
          </a:stretch>
        </p:blipFill>
        <p:spPr>
          <a:xfrm>
            <a:off x="3917374" y="2928983"/>
            <a:ext cx="5170353" cy="1417935"/>
          </a:xfrm>
          <a:prstGeom prst="rect">
            <a:avLst/>
          </a:prstGeom>
        </p:spPr>
      </p:pic>
      <p:sp>
        <p:nvSpPr>
          <p:cNvPr id="2" name="Título 1">
            <a:extLst>
              <a:ext uri="{FF2B5EF4-FFF2-40B4-BE49-F238E27FC236}">
                <a16:creationId xmlns:a16="http://schemas.microsoft.com/office/drawing/2014/main" id="{287FF1D9-467E-4C89-9E93-38147A2C78FA}"/>
              </a:ext>
            </a:extLst>
          </p:cNvPr>
          <p:cNvSpPr>
            <a:spLocks noGrp="1"/>
          </p:cNvSpPr>
          <p:nvPr>
            <p:ph type="title"/>
          </p:nvPr>
        </p:nvSpPr>
        <p:spPr>
          <a:xfrm>
            <a:off x="1971236" y="327128"/>
            <a:ext cx="8249527" cy="871718"/>
          </a:xfrm>
        </p:spPr>
        <p:style>
          <a:lnRef idx="0">
            <a:schemeClr val="accent3"/>
          </a:lnRef>
          <a:fillRef idx="3">
            <a:schemeClr val="accent3"/>
          </a:fillRef>
          <a:effectRef idx="3">
            <a:schemeClr val="accent3"/>
          </a:effectRef>
          <a:fontRef idx="minor">
            <a:schemeClr val="lt1"/>
          </a:fontRef>
        </p:style>
        <p:txBody>
          <a:bodyPr/>
          <a:lstStyle/>
          <a:p>
            <a:pPr algn="ctr"/>
            <a:r>
              <a:rPr lang="es-MX" dirty="0"/>
              <a:t>Densidad relativa de líquidos</a:t>
            </a:r>
          </a:p>
        </p:txBody>
      </p:sp>
      <p:sp>
        <p:nvSpPr>
          <p:cNvPr id="3" name="Marcador de contenido 2">
            <a:extLst>
              <a:ext uri="{FF2B5EF4-FFF2-40B4-BE49-F238E27FC236}">
                <a16:creationId xmlns:a16="http://schemas.microsoft.com/office/drawing/2014/main" id="{4C7D43E0-A79A-4608-BA56-B9FC5E61C777}"/>
              </a:ext>
            </a:extLst>
          </p:cNvPr>
          <p:cNvSpPr>
            <a:spLocks noGrp="1"/>
          </p:cNvSpPr>
          <p:nvPr>
            <p:ph idx="1"/>
          </p:nvPr>
        </p:nvSpPr>
        <p:spPr>
          <a:xfrm>
            <a:off x="838200" y="1307816"/>
            <a:ext cx="10515600" cy="4351338"/>
          </a:xfrm>
        </p:spPr>
        <p:txBody>
          <a:bodyPr/>
          <a:lstStyle/>
          <a:p>
            <a:r>
              <a:rPr lang="es-MX" dirty="0"/>
              <a:t>Si se utiliza agua como material de referencia, y si se considera que la relación de masas es igual a la relación de pesos (la aceleración de la gravedad es la misma en ambos casos), puede expresarse de la siguiente manera: </a:t>
            </a:r>
          </a:p>
        </p:txBody>
      </p:sp>
      <p:pic>
        <p:nvPicPr>
          <p:cNvPr id="5" name="Imagen 4">
            <a:extLst>
              <a:ext uri="{FF2B5EF4-FFF2-40B4-BE49-F238E27FC236}">
                <a16:creationId xmlns:a16="http://schemas.microsoft.com/office/drawing/2014/main" id="{9B6AD461-9DA2-47EB-B0B4-2EFEAC5728A1}"/>
              </a:ext>
            </a:extLst>
          </p:cNvPr>
          <p:cNvPicPr>
            <a:picLocks noChangeAspect="1"/>
          </p:cNvPicPr>
          <p:nvPr/>
        </p:nvPicPr>
        <p:blipFill>
          <a:blip r:embed="rId3"/>
          <a:stretch>
            <a:fillRect/>
          </a:stretch>
        </p:blipFill>
        <p:spPr>
          <a:xfrm>
            <a:off x="655318" y="4204152"/>
            <a:ext cx="8432409" cy="2653847"/>
          </a:xfrm>
          <a:prstGeom prst="rect">
            <a:avLst/>
          </a:prstGeom>
        </p:spPr>
      </p:pic>
    </p:spTree>
    <p:extLst>
      <p:ext uri="{BB962C8B-B14F-4D97-AF65-F5344CB8AC3E}">
        <p14:creationId xmlns:p14="http://schemas.microsoft.com/office/powerpoint/2010/main" val="2121042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50B7EE-EE01-428A-96BA-70F62AAF34C2}"/>
              </a:ext>
            </a:extLst>
          </p:cNvPr>
          <p:cNvSpPr>
            <a:spLocks noGrp="1"/>
          </p:cNvSpPr>
          <p:nvPr>
            <p:ph type="title"/>
          </p:nvPr>
        </p:nvSpPr>
        <p:spPr/>
        <p:txBody>
          <a:bodyPr/>
          <a:lstStyle/>
          <a:p>
            <a:r>
              <a:rPr lang="es-MX" dirty="0"/>
              <a:t>VISCOCIDAD</a:t>
            </a:r>
          </a:p>
        </p:txBody>
      </p:sp>
      <p:sp>
        <p:nvSpPr>
          <p:cNvPr id="3" name="Marcador de contenido 2">
            <a:extLst>
              <a:ext uri="{FF2B5EF4-FFF2-40B4-BE49-F238E27FC236}">
                <a16:creationId xmlns:a16="http://schemas.microsoft.com/office/drawing/2014/main" id="{76CB68A5-737A-42B9-B27B-FABA09C4FC9D}"/>
              </a:ext>
            </a:extLst>
          </p:cNvPr>
          <p:cNvSpPr>
            <a:spLocks noGrp="1"/>
          </p:cNvSpPr>
          <p:nvPr>
            <p:ph idx="1"/>
          </p:nvPr>
        </p:nvSpPr>
        <p:spPr>
          <a:xfrm>
            <a:off x="1104293" y="1352256"/>
            <a:ext cx="8946541" cy="4195481"/>
          </a:xfrm>
        </p:spPr>
        <p:txBody>
          <a:bodyPr/>
          <a:lstStyle/>
          <a:p>
            <a:r>
              <a:rPr lang="es-MX" dirty="0"/>
              <a:t>Propiedad termofísica de los fluidos ocasionada por sus fuerzas de cohesión molecular y resulta en la oposición que oponen a escurrir, por lo que requieren la aplicación de un esfuerzo o presión.</a:t>
            </a:r>
          </a:p>
          <a:p>
            <a:r>
              <a:rPr lang="es-MX" dirty="0"/>
              <a:t>Todos los fluidos conocidos presentan algo de viscosidad, siendo el modelo de viscosidad nula una aproximación bastante buena para ciertas aplicaciones. Un fluido que no tiene viscosidad se llama fluido ideal. </a:t>
            </a:r>
          </a:p>
        </p:txBody>
      </p:sp>
      <p:pic>
        <p:nvPicPr>
          <p:cNvPr id="4" name="Imagen 3">
            <a:extLst>
              <a:ext uri="{FF2B5EF4-FFF2-40B4-BE49-F238E27FC236}">
                <a16:creationId xmlns:a16="http://schemas.microsoft.com/office/drawing/2014/main" id="{95B00920-9BAF-4D44-88C9-204BC42E00C8}"/>
              </a:ext>
            </a:extLst>
          </p:cNvPr>
          <p:cNvPicPr>
            <a:picLocks noChangeAspect="1"/>
          </p:cNvPicPr>
          <p:nvPr/>
        </p:nvPicPr>
        <p:blipFill rotWithShape="1">
          <a:blip r:embed="rId2"/>
          <a:srcRect l="39693" t="31581" r="40807" b="42150"/>
          <a:stretch/>
        </p:blipFill>
        <p:spPr>
          <a:xfrm>
            <a:off x="6966962" y="4320749"/>
            <a:ext cx="3349965" cy="2537251"/>
          </a:xfrm>
          <a:prstGeom prst="rect">
            <a:avLst/>
          </a:prstGeom>
        </p:spPr>
      </p:pic>
    </p:spTree>
    <p:extLst>
      <p:ext uri="{BB962C8B-B14F-4D97-AF65-F5344CB8AC3E}">
        <p14:creationId xmlns:p14="http://schemas.microsoft.com/office/powerpoint/2010/main" val="1052358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09FB9C9-DB4C-47DA-A021-F75F3199525A}"/>
              </a:ext>
            </a:extLst>
          </p:cNvPr>
          <p:cNvSpPr>
            <a:spLocks noGrp="1"/>
          </p:cNvSpPr>
          <p:nvPr>
            <p:ph idx="1"/>
          </p:nvPr>
        </p:nvSpPr>
        <p:spPr/>
        <p:txBody>
          <a:bodyPr/>
          <a:lstStyle/>
          <a:p>
            <a:r>
              <a:rPr lang="es-MX" dirty="0"/>
              <a:t>Los métodos están basados en la medición de la resistencia que ofrece un fluido, cuando se le aplica una fuerza que lo induce al movimiento, bajo condiciones establecidas.</a:t>
            </a:r>
          </a:p>
          <a:p>
            <a:endParaRPr lang="es-MX" dirty="0"/>
          </a:p>
        </p:txBody>
      </p:sp>
      <p:pic>
        <p:nvPicPr>
          <p:cNvPr id="4" name="Imagen 3">
            <a:extLst>
              <a:ext uri="{FF2B5EF4-FFF2-40B4-BE49-F238E27FC236}">
                <a16:creationId xmlns:a16="http://schemas.microsoft.com/office/drawing/2014/main" id="{5070AA28-E675-43FC-97DA-38042D99E8A6}"/>
              </a:ext>
            </a:extLst>
          </p:cNvPr>
          <p:cNvPicPr>
            <a:picLocks noChangeAspect="1"/>
          </p:cNvPicPr>
          <p:nvPr/>
        </p:nvPicPr>
        <p:blipFill>
          <a:blip r:embed="rId2"/>
          <a:stretch>
            <a:fillRect/>
          </a:stretch>
        </p:blipFill>
        <p:spPr>
          <a:xfrm>
            <a:off x="1760155" y="3338840"/>
            <a:ext cx="7632854" cy="3109229"/>
          </a:xfrm>
          <a:prstGeom prst="rect">
            <a:avLst/>
          </a:prstGeom>
        </p:spPr>
      </p:pic>
    </p:spTree>
    <p:extLst>
      <p:ext uri="{BB962C8B-B14F-4D97-AF65-F5344CB8AC3E}">
        <p14:creationId xmlns:p14="http://schemas.microsoft.com/office/powerpoint/2010/main" val="4226527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B6D3CF-84C1-4C77-9DAB-F90F4263A3BA}"/>
              </a:ext>
            </a:extLst>
          </p:cNvPr>
          <p:cNvSpPr>
            <a:spLocks noGrp="1"/>
          </p:cNvSpPr>
          <p:nvPr>
            <p:ph type="title"/>
          </p:nvPr>
        </p:nvSpPr>
        <p:spPr/>
        <p:txBody>
          <a:bodyPr/>
          <a:lstStyle/>
          <a:p>
            <a:r>
              <a:rPr lang="es-MX" dirty="0"/>
              <a:t>DETERMINACION DE VISCOCIDAD:</a:t>
            </a:r>
          </a:p>
        </p:txBody>
      </p:sp>
      <p:sp>
        <p:nvSpPr>
          <p:cNvPr id="3" name="Marcador de contenido 2">
            <a:extLst>
              <a:ext uri="{FF2B5EF4-FFF2-40B4-BE49-F238E27FC236}">
                <a16:creationId xmlns:a16="http://schemas.microsoft.com/office/drawing/2014/main" id="{6A52765D-7E04-40D7-887C-86F424C668D8}"/>
              </a:ext>
            </a:extLst>
          </p:cNvPr>
          <p:cNvSpPr>
            <a:spLocks noGrp="1"/>
          </p:cNvSpPr>
          <p:nvPr>
            <p:ph idx="1"/>
          </p:nvPr>
        </p:nvSpPr>
        <p:spPr/>
        <p:txBody>
          <a:bodyPr/>
          <a:lstStyle/>
          <a:p>
            <a:r>
              <a:rPr lang="es-MX" dirty="0"/>
              <a:t>Viscosidad absoluta: Es la fuerza por unidad de área, necesaria para mantener una unidad de velocidad gradiente. En la escala de viscosidad absoluta, la unidad básica es el poise. Sin embargo, la viscosidad comúnmente se encuentra expresada en centipoises (cPs) que es una unidad mas adecuada (1 poise = 100 cPs).</a:t>
            </a:r>
          </a:p>
          <a:p>
            <a:endParaRPr lang="es-MX" b="1" dirty="0">
              <a:solidFill>
                <a:schemeClr val="bg1"/>
              </a:solidFill>
            </a:endParaRPr>
          </a:p>
          <a:p>
            <a:endParaRPr lang="es-MX" b="1" dirty="0">
              <a:solidFill>
                <a:schemeClr val="bg1"/>
              </a:solidFill>
            </a:endParaRPr>
          </a:p>
          <a:p>
            <a:r>
              <a:rPr lang="es-MX" dirty="0"/>
              <a:t>Viscosidad </a:t>
            </a:r>
            <a:r>
              <a:rPr lang="es-MX" dirty="0" err="1"/>
              <a:t>cinematica</a:t>
            </a:r>
            <a:r>
              <a:rPr lang="es-MX" dirty="0"/>
              <a:t>: Es el cociente de la viscosidad absoluta y la densidad de un fluido. En la escala de viscosidad cinemática las unidades empleadas son el </a:t>
            </a:r>
            <a:r>
              <a:rPr lang="es-MX" dirty="0" err="1"/>
              <a:t>stoke</a:t>
            </a:r>
            <a:r>
              <a:rPr lang="es-MX" dirty="0"/>
              <a:t> y el </a:t>
            </a:r>
            <a:r>
              <a:rPr lang="es-MX" dirty="0" err="1"/>
              <a:t>centistoke</a:t>
            </a:r>
            <a:r>
              <a:rPr lang="es-MX" dirty="0"/>
              <a:t> (l </a:t>
            </a:r>
            <a:r>
              <a:rPr lang="es-MX" dirty="0" err="1"/>
              <a:t>stoke</a:t>
            </a:r>
            <a:r>
              <a:rPr lang="es-MX" dirty="0"/>
              <a:t> = 100 cPs).</a:t>
            </a:r>
          </a:p>
        </p:txBody>
      </p:sp>
    </p:spTree>
    <p:extLst>
      <p:ext uri="{BB962C8B-B14F-4D97-AF65-F5344CB8AC3E}">
        <p14:creationId xmlns:p14="http://schemas.microsoft.com/office/powerpoint/2010/main" val="2877076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AD8CDC3-ED2D-4570-9DCD-237692BED00E}"/>
              </a:ext>
            </a:extLst>
          </p:cNvPr>
          <p:cNvSpPr>
            <a:spLocks noGrp="1"/>
          </p:cNvSpPr>
          <p:nvPr>
            <p:ph idx="1"/>
          </p:nvPr>
        </p:nvSpPr>
        <p:spPr>
          <a:xfrm>
            <a:off x="412908" y="2105482"/>
            <a:ext cx="8946541" cy="4195481"/>
          </a:xfrm>
        </p:spPr>
        <p:txBody>
          <a:bodyPr>
            <a:normAutofit fontScale="92500" lnSpcReduction="20000"/>
          </a:bodyPr>
          <a:lstStyle/>
          <a:p>
            <a:r>
              <a:rPr lang="es-MX" dirty="0"/>
              <a:t>a) El aparato empleado, debe ser adecuado al grado de fluidez de la muestra y el indicado en la monografía del producto correspondiente.</a:t>
            </a:r>
          </a:p>
          <a:p>
            <a:r>
              <a:rPr lang="es-MX" dirty="0"/>
              <a:t>b) La especificación de temperatura es importante, debido a que la viscosidad cambia con la temperatura,</a:t>
            </a:r>
          </a:p>
          <a:p>
            <a:r>
              <a:rPr lang="es-MX" dirty="0"/>
              <a:t>c) Los fluidos de referencia empleados deben ser certificados y tener un intervalo de viscosidad similar al de la muestra.</a:t>
            </a:r>
          </a:p>
          <a:p>
            <a:r>
              <a:rPr lang="es-MX" dirty="0"/>
              <a:t>d) Para las determinaciones a una temperatura menor que 80°C, utilizar agua en el baño de calentamiento.</a:t>
            </a:r>
          </a:p>
          <a:p>
            <a:r>
              <a:rPr lang="es-MX" dirty="0"/>
              <a:t>e) Para las determinaciones a una temperatura mayor que 80 DC, utilizar aceite U otro fluido con punto de ebullición mas elevado, en el baño de calentamiento.</a:t>
            </a:r>
          </a:p>
        </p:txBody>
      </p:sp>
      <p:pic>
        <p:nvPicPr>
          <p:cNvPr id="1026" name="Picture 2" descr="Resultado de imagen para recomendaciones">
            <a:extLst>
              <a:ext uri="{FF2B5EF4-FFF2-40B4-BE49-F238E27FC236}">
                <a16:creationId xmlns:a16="http://schemas.microsoft.com/office/drawing/2014/main" id="{D0BC1741-77D3-419A-A435-41F0520EE1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0441" y="246220"/>
            <a:ext cx="6486525" cy="1905000"/>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3F8534EE-5AAB-4410-8E30-67CD44A681B5}"/>
              </a:ext>
            </a:extLst>
          </p:cNvPr>
          <p:cNvPicPr>
            <a:picLocks noChangeAspect="1"/>
          </p:cNvPicPr>
          <p:nvPr/>
        </p:nvPicPr>
        <p:blipFill>
          <a:blip r:embed="rId3"/>
          <a:stretch>
            <a:fillRect/>
          </a:stretch>
        </p:blipFill>
        <p:spPr>
          <a:xfrm>
            <a:off x="9093410" y="200483"/>
            <a:ext cx="2381250" cy="1647825"/>
          </a:xfrm>
          <a:prstGeom prst="rect">
            <a:avLst/>
          </a:prstGeom>
        </p:spPr>
      </p:pic>
      <p:pic>
        <p:nvPicPr>
          <p:cNvPr id="6" name="Imagen 5">
            <a:extLst>
              <a:ext uri="{FF2B5EF4-FFF2-40B4-BE49-F238E27FC236}">
                <a16:creationId xmlns:a16="http://schemas.microsoft.com/office/drawing/2014/main" id="{A5F6F999-6132-4BE0-8416-6DDC344016A4}"/>
              </a:ext>
            </a:extLst>
          </p:cNvPr>
          <p:cNvPicPr>
            <a:picLocks noChangeAspect="1"/>
          </p:cNvPicPr>
          <p:nvPr/>
        </p:nvPicPr>
        <p:blipFill>
          <a:blip r:embed="rId4"/>
          <a:stretch>
            <a:fillRect/>
          </a:stretch>
        </p:blipFill>
        <p:spPr>
          <a:xfrm>
            <a:off x="16816" y="14745"/>
            <a:ext cx="2333625" cy="1962150"/>
          </a:xfrm>
          <a:prstGeom prst="rect">
            <a:avLst/>
          </a:prstGeom>
        </p:spPr>
      </p:pic>
    </p:spTree>
    <p:extLst>
      <p:ext uri="{BB962C8B-B14F-4D97-AF65-F5344CB8AC3E}">
        <p14:creationId xmlns:p14="http://schemas.microsoft.com/office/powerpoint/2010/main" val="982503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A4E4C1-9F59-46CF-97F4-D7FB86EAF1EC}"/>
              </a:ext>
            </a:extLst>
          </p:cNvPr>
          <p:cNvSpPr>
            <a:spLocks noGrp="1"/>
          </p:cNvSpPr>
          <p:nvPr>
            <p:ph type="title"/>
          </p:nvPr>
        </p:nvSpPr>
        <p:spPr/>
        <p:txBody>
          <a:bodyPr/>
          <a:lstStyle/>
          <a:p>
            <a:r>
              <a:rPr lang="es-MX" dirty="0"/>
              <a:t>MÉTODOS</a:t>
            </a:r>
          </a:p>
        </p:txBody>
      </p:sp>
      <p:sp>
        <p:nvSpPr>
          <p:cNvPr id="3" name="Marcador de contenido 2">
            <a:extLst>
              <a:ext uri="{FF2B5EF4-FFF2-40B4-BE49-F238E27FC236}">
                <a16:creationId xmlns:a16="http://schemas.microsoft.com/office/drawing/2014/main" id="{B54266DF-6569-408D-94A1-5647ABC75512}"/>
              </a:ext>
            </a:extLst>
          </p:cNvPr>
          <p:cNvSpPr>
            <a:spLocks noGrp="1"/>
          </p:cNvSpPr>
          <p:nvPr>
            <p:ph idx="1"/>
          </p:nvPr>
        </p:nvSpPr>
        <p:spPr/>
        <p:txBody>
          <a:bodyPr>
            <a:normAutofit lnSpcReduction="10000"/>
          </a:bodyPr>
          <a:lstStyle/>
          <a:p>
            <a:r>
              <a:rPr lang="es-MX" dirty="0"/>
              <a:t>METODO I. Este método consiste en medir el tiempo en segundos, que requiere un volumen dado de un liquido para fluir a través de un orificio y llenar un envase hasta una marca determinada.</a:t>
            </a:r>
          </a:p>
          <a:p>
            <a:r>
              <a:rPr lang="es-MX" dirty="0"/>
              <a:t>METODO II. Este método consiste en medir el tiempo en segundos que requiere un volumen especifico de un liquido para recorrer una determinada distancia, fluyendo a través de un capilar.</a:t>
            </a:r>
          </a:p>
          <a:p>
            <a:r>
              <a:rPr lang="es-MX" dirty="0"/>
              <a:t>METODO III. Este método consiste en medir la resistencia que ofrece un fluido al movimiento rotatorio y es aplicable a fluidos no newtonianos.</a:t>
            </a:r>
          </a:p>
          <a:p>
            <a:r>
              <a:rPr lang="es-MX" dirty="0"/>
              <a:t>METODO IV. Este método consiste en medir la resistencia que ofrece una muestra semisólida al movimiento rotatorio.</a:t>
            </a:r>
          </a:p>
        </p:txBody>
      </p:sp>
    </p:spTree>
    <p:extLst>
      <p:ext uri="{BB962C8B-B14F-4D97-AF65-F5344CB8AC3E}">
        <p14:creationId xmlns:p14="http://schemas.microsoft.com/office/powerpoint/2010/main" val="2204515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2E8980-1FAF-4576-9699-3D5D78CE45B1}"/>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92223C47-97E5-4156-B875-0097070E3A67}"/>
              </a:ext>
            </a:extLst>
          </p:cNvPr>
          <p:cNvPicPr>
            <a:picLocks noGrp="1" noChangeAspect="1"/>
          </p:cNvPicPr>
          <p:nvPr>
            <p:ph idx="1"/>
          </p:nvPr>
        </p:nvPicPr>
        <p:blipFill rotWithShape="1">
          <a:blip r:embed="rId2"/>
          <a:srcRect l="33918" t="21815" r="35178" b="52042"/>
          <a:stretch/>
        </p:blipFill>
        <p:spPr>
          <a:xfrm>
            <a:off x="94459" y="235697"/>
            <a:ext cx="7631801" cy="3113101"/>
          </a:xfrm>
          <a:prstGeom prst="rect">
            <a:avLst/>
          </a:prstGeom>
        </p:spPr>
      </p:pic>
      <p:pic>
        <p:nvPicPr>
          <p:cNvPr id="5" name="Imagen 4">
            <a:extLst>
              <a:ext uri="{FF2B5EF4-FFF2-40B4-BE49-F238E27FC236}">
                <a16:creationId xmlns:a16="http://schemas.microsoft.com/office/drawing/2014/main" id="{169CED36-CBA9-4281-AA7C-FF30F6F578B6}"/>
              </a:ext>
            </a:extLst>
          </p:cNvPr>
          <p:cNvPicPr>
            <a:picLocks noChangeAspect="1"/>
          </p:cNvPicPr>
          <p:nvPr/>
        </p:nvPicPr>
        <p:blipFill rotWithShape="1">
          <a:blip r:embed="rId2"/>
          <a:srcRect l="31269" t="47375" r="33077" b="15060"/>
          <a:stretch/>
        </p:blipFill>
        <p:spPr>
          <a:xfrm>
            <a:off x="4445391" y="3348798"/>
            <a:ext cx="7631801" cy="3220815"/>
          </a:xfrm>
          <a:prstGeom prst="rect">
            <a:avLst/>
          </a:prstGeom>
        </p:spPr>
      </p:pic>
    </p:spTree>
    <p:extLst>
      <p:ext uri="{BB962C8B-B14F-4D97-AF65-F5344CB8AC3E}">
        <p14:creationId xmlns:p14="http://schemas.microsoft.com/office/powerpoint/2010/main" val="1032191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70204C-8105-4B0A-84E7-86CE7631AAD3}"/>
              </a:ext>
            </a:extLst>
          </p:cNvPr>
          <p:cNvSpPr>
            <a:spLocks noGrp="1"/>
          </p:cNvSpPr>
          <p:nvPr>
            <p:ph type="title"/>
          </p:nvPr>
        </p:nvSpPr>
        <p:spPr/>
        <p:txBody>
          <a:bodyPr/>
          <a:lstStyle/>
          <a:p>
            <a:r>
              <a:rPr lang="es-MX" dirty="0"/>
              <a:t>#1 Viscosímetro tipo Saybolt</a:t>
            </a:r>
          </a:p>
        </p:txBody>
      </p:sp>
      <p:pic>
        <p:nvPicPr>
          <p:cNvPr id="7" name="Imagen 6">
            <a:extLst>
              <a:ext uri="{FF2B5EF4-FFF2-40B4-BE49-F238E27FC236}">
                <a16:creationId xmlns:a16="http://schemas.microsoft.com/office/drawing/2014/main" id="{FB35D0CA-2E83-464E-8EBF-F4AAC086B24C}"/>
              </a:ext>
            </a:extLst>
          </p:cNvPr>
          <p:cNvPicPr>
            <a:picLocks noChangeAspect="1"/>
          </p:cNvPicPr>
          <p:nvPr/>
        </p:nvPicPr>
        <p:blipFill>
          <a:blip r:embed="rId2"/>
          <a:stretch>
            <a:fillRect/>
          </a:stretch>
        </p:blipFill>
        <p:spPr>
          <a:xfrm>
            <a:off x="2777160" y="1252025"/>
            <a:ext cx="6637680" cy="5443098"/>
          </a:xfrm>
          <a:prstGeom prst="rect">
            <a:avLst/>
          </a:prstGeom>
        </p:spPr>
      </p:pic>
    </p:spTree>
    <p:extLst>
      <p:ext uri="{BB962C8B-B14F-4D97-AF65-F5344CB8AC3E}">
        <p14:creationId xmlns:p14="http://schemas.microsoft.com/office/powerpoint/2010/main" val="8338384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2DAAE2-1B8E-41B2-B334-9994F3994601}"/>
              </a:ext>
            </a:extLst>
          </p:cNvPr>
          <p:cNvSpPr>
            <a:spLocks noGrp="1"/>
          </p:cNvSpPr>
          <p:nvPr>
            <p:ph type="title"/>
          </p:nvPr>
        </p:nvSpPr>
        <p:spPr/>
        <p:txBody>
          <a:bodyPr/>
          <a:lstStyle/>
          <a:p>
            <a:r>
              <a:rPr lang="es-MX" dirty="0"/>
              <a:t>#2 Viscosímetro tipo Ostwald</a:t>
            </a:r>
          </a:p>
        </p:txBody>
      </p:sp>
      <p:pic>
        <p:nvPicPr>
          <p:cNvPr id="4" name="Marcador de contenido 3">
            <a:extLst>
              <a:ext uri="{FF2B5EF4-FFF2-40B4-BE49-F238E27FC236}">
                <a16:creationId xmlns:a16="http://schemas.microsoft.com/office/drawing/2014/main" id="{A12E27AB-8A17-4D1E-AF76-FFA5C2AEE50B}"/>
              </a:ext>
            </a:extLst>
          </p:cNvPr>
          <p:cNvPicPr>
            <a:picLocks noGrp="1" noChangeAspect="1"/>
          </p:cNvPicPr>
          <p:nvPr>
            <p:ph idx="1"/>
          </p:nvPr>
        </p:nvPicPr>
        <p:blipFill>
          <a:blip r:embed="rId2"/>
          <a:stretch>
            <a:fillRect/>
          </a:stretch>
        </p:blipFill>
        <p:spPr>
          <a:xfrm>
            <a:off x="2771335" y="1317414"/>
            <a:ext cx="5866228" cy="5175461"/>
          </a:xfrm>
          <a:prstGeom prst="rect">
            <a:avLst/>
          </a:prstGeom>
        </p:spPr>
      </p:pic>
    </p:spTree>
    <p:extLst>
      <p:ext uri="{BB962C8B-B14F-4D97-AF65-F5344CB8AC3E}">
        <p14:creationId xmlns:p14="http://schemas.microsoft.com/office/powerpoint/2010/main" val="799573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9D7E63-5617-4D43-9799-EE675D7DB11E}"/>
              </a:ext>
            </a:extLst>
          </p:cNvPr>
          <p:cNvSpPr>
            <a:spLocks noGrp="1"/>
          </p:cNvSpPr>
          <p:nvPr>
            <p:ph type="title"/>
          </p:nvPr>
        </p:nvSpPr>
        <p:spPr/>
        <p:txBody>
          <a:bodyPr/>
          <a:lstStyle/>
          <a:p>
            <a:r>
              <a:rPr lang="es-MX" dirty="0"/>
              <a:t>#3 Viscosímetro tipo </a:t>
            </a:r>
            <a:r>
              <a:rPr lang="es-MX" dirty="0" err="1"/>
              <a:t>Broockfield</a:t>
            </a:r>
            <a:endParaRPr lang="es-MX" dirty="0"/>
          </a:p>
        </p:txBody>
      </p:sp>
      <p:pic>
        <p:nvPicPr>
          <p:cNvPr id="3" name="Imagen 2">
            <a:extLst>
              <a:ext uri="{FF2B5EF4-FFF2-40B4-BE49-F238E27FC236}">
                <a16:creationId xmlns:a16="http://schemas.microsoft.com/office/drawing/2014/main" id="{0FD66E73-563F-49A2-8B32-5074E0CCA953}"/>
              </a:ext>
            </a:extLst>
          </p:cNvPr>
          <p:cNvPicPr>
            <a:picLocks noChangeAspect="1"/>
          </p:cNvPicPr>
          <p:nvPr/>
        </p:nvPicPr>
        <p:blipFill rotWithShape="1">
          <a:blip r:embed="rId2"/>
          <a:srcRect l="19038" t="27012" r="48077" b="18959"/>
          <a:stretch/>
        </p:blipFill>
        <p:spPr>
          <a:xfrm>
            <a:off x="3071445" y="1270279"/>
            <a:ext cx="6049109" cy="5587721"/>
          </a:xfrm>
          <a:prstGeom prst="rect">
            <a:avLst/>
          </a:prstGeom>
        </p:spPr>
      </p:pic>
    </p:spTree>
    <p:extLst>
      <p:ext uri="{BB962C8B-B14F-4D97-AF65-F5344CB8AC3E}">
        <p14:creationId xmlns:p14="http://schemas.microsoft.com/office/powerpoint/2010/main" val="4165740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3DA17F-3410-4CD4-9B75-DA4F34FD2362}"/>
              </a:ext>
            </a:extLst>
          </p:cNvPr>
          <p:cNvSpPr>
            <a:spLocks noGrp="1"/>
          </p:cNvSpPr>
          <p:nvPr>
            <p:ph type="title"/>
          </p:nvPr>
        </p:nvSpPr>
        <p:spPr/>
        <p:txBody>
          <a:bodyPr/>
          <a:lstStyle/>
          <a:p>
            <a:r>
              <a:rPr lang="es-MX" dirty="0"/>
              <a:t>#4 viscosímetro tipo  </a:t>
            </a:r>
            <a:r>
              <a:rPr lang="es-MX" dirty="0" err="1"/>
              <a:t>Broockfield</a:t>
            </a:r>
            <a:r>
              <a:rPr lang="es-MX" dirty="0"/>
              <a:t> </a:t>
            </a:r>
            <a:r>
              <a:rPr lang="es-MX" dirty="0" err="1"/>
              <a:t>Helipath</a:t>
            </a:r>
            <a:endParaRPr lang="es-MX" dirty="0"/>
          </a:p>
        </p:txBody>
      </p:sp>
      <p:pic>
        <p:nvPicPr>
          <p:cNvPr id="4" name="Marcador de contenido 3">
            <a:extLst>
              <a:ext uri="{FF2B5EF4-FFF2-40B4-BE49-F238E27FC236}">
                <a16:creationId xmlns:a16="http://schemas.microsoft.com/office/drawing/2014/main" id="{15C034B6-E7AA-4FEF-B6D4-374B6834BFDB}"/>
              </a:ext>
            </a:extLst>
          </p:cNvPr>
          <p:cNvPicPr>
            <a:picLocks noGrp="1" noChangeAspect="1"/>
          </p:cNvPicPr>
          <p:nvPr>
            <p:ph idx="1"/>
          </p:nvPr>
        </p:nvPicPr>
        <p:blipFill rotWithShape="1">
          <a:blip r:embed="rId2"/>
          <a:srcRect l="52181" t="21823" r="16716" b="8438"/>
          <a:stretch/>
        </p:blipFill>
        <p:spPr>
          <a:xfrm>
            <a:off x="2987040" y="1265525"/>
            <a:ext cx="6217920" cy="5434742"/>
          </a:xfrm>
          <a:prstGeom prst="rect">
            <a:avLst/>
          </a:prstGeom>
        </p:spPr>
      </p:pic>
    </p:spTree>
    <p:extLst>
      <p:ext uri="{BB962C8B-B14F-4D97-AF65-F5344CB8AC3E}">
        <p14:creationId xmlns:p14="http://schemas.microsoft.com/office/powerpoint/2010/main" val="15529883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479</TotalTime>
  <Words>847</Words>
  <Application>Microsoft Office PowerPoint</Application>
  <PresentationFormat>Panorámica</PresentationFormat>
  <Paragraphs>56</Paragraphs>
  <Slides>19</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19</vt:i4>
      </vt:variant>
    </vt:vector>
  </HeadingPairs>
  <TitlesOfParts>
    <vt:vector size="23" baseType="lpstr">
      <vt:lpstr>Arial</vt:lpstr>
      <vt:lpstr>Calibri</vt:lpstr>
      <vt:lpstr>Calibri Light</vt:lpstr>
      <vt:lpstr>Tema de Office</vt:lpstr>
      <vt:lpstr>UNIVERSIDAD AUTÓNOMA DE NAYARIT UNIDAD ACADÉMICA DE QFB </vt:lpstr>
      <vt:lpstr>DENSIDAD RELATIVA Y VISCOSIDAD</vt:lpstr>
      <vt:lpstr>DENSIDAD</vt:lpstr>
      <vt:lpstr>Presentación de PowerPoint</vt:lpstr>
      <vt:lpstr>DENSIDAD RELATIVA</vt:lpstr>
      <vt:lpstr>Presentación de PowerPoint</vt:lpstr>
      <vt:lpstr>PICNOMETRÍA</vt:lpstr>
      <vt:lpstr>Presentación de PowerPoint</vt:lpstr>
      <vt:lpstr>Densidad relativa de líquidos</vt:lpstr>
      <vt:lpstr>VISCOCIDAD</vt:lpstr>
      <vt:lpstr>Presentación de PowerPoint</vt:lpstr>
      <vt:lpstr>DETERMINACION DE VISCOCIDAD:</vt:lpstr>
      <vt:lpstr>Presentación de PowerPoint</vt:lpstr>
      <vt:lpstr>MÉTODOS</vt:lpstr>
      <vt:lpstr>Presentación de PowerPoint</vt:lpstr>
      <vt:lpstr>#1 Viscosímetro tipo Saybolt</vt:lpstr>
      <vt:lpstr>#2 Viscosímetro tipo Ostwald</vt:lpstr>
      <vt:lpstr>#3 Viscosímetro tipo Broockfield</vt:lpstr>
      <vt:lpstr>#4 viscosímetro tipo  Broockfield Helipath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DENSIDAD RELATIVA Y VISCOSIDAD</dc:title>
  <dc:creator>Sergio Humberto Chavez Ocegueda</dc:creator>
  <cp:lastModifiedBy>Sergio Humberto Chavez Ocegueda</cp:lastModifiedBy>
  <cp:revision>36</cp:revision>
  <dcterms:created xsi:type="dcterms:W3CDTF">2018-04-05T05:49:34Z</dcterms:created>
  <dcterms:modified xsi:type="dcterms:W3CDTF">2018-04-13T01:57:32Z</dcterms:modified>
</cp:coreProperties>
</file>