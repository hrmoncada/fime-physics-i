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2"/>
    <p:sldMasterId id="2147483674" r:id="rId3"/>
  </p:sldMasterIdLst>
  <p:notesMasterIdLst>
    <p:notesMasterId r:id="rId40"/>
  </p:notesMasterIdLst>
  <p:sldIdLst>
    <p:sldId id="257" r:id="rId4"/>
    <p:sldId id="258" r:id="rId5"/>
    <p:sldId id="259" r:id="rId6"/>
    <p:sldId id="260" r:id="rId7"/>
    <p:sldId id="261" r:id="rId8"/>
    <p:sldId id="262" r:id="rId9"/>
    <p:sldId id="263" r:id="rId10"/>
    <p:sldId id="264" r:id="rId11"/>
    <p:sldId id="265" r:id="rId12"/>
    <p:sldId id="266" r:id="rId13"/>
    <p:sldId id="267"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90" r:id="rId34"/>
    <p:sldId id="291" r:id="rId35"/>
    <p:sldId id="292" r:id="rId36"/>
    <p:sldId id="293" r:id="rId37"/>
    <p:sldId id="289" r:id="rId38"/>
    <p:sldId id="268"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p:cViewPr varScale="1">
        <p:scale>
          <a:sx n="116" d="100"/>
          <a:sy n="116" d="100"/>
        </p:scale>
        <p:origin x="1446"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1.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5808CB-A555-41AE-A369-0D7698FF9310}" type="datetimeFigureOut">
              <a:rPr lang="en-US" smtClean="0"/>
              <a:t>5/13/2015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9BD964-ADA3-4B54-B88C-EE740755B830}" type="slidenum">
              <a:rPr lang="en-US" smtClean="0"/>
              <a:t>‹Nº›</a:t>
            </a:fld>
            <a:endParaRPr lang="en-US"/>
          </a:p>
        </p:txBody>
      </p:sp>
    </p:spTree>
    <p:extLst>
      <p:ext uri="{BB962C8B-B14F-4D97-AF65-F5344CB8AC3E}">
        <p14:creationId xmlns:p14="http://schemas.microsoft.com/office/powerpoint/2010/main" val="831075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5/13/2015 10:32 PM</a:t>
            </a:fld>
            <a:endParaRPr lang="en-US" sz="1200" b="0" i="0">
              <a:latin typeface="Calibri"/>
              <a:ea typeface="+mn-ea"/>
              <a:cs typeface="+mn-cs"/>
            </a:endParaRPr>
          </a:p>
        </p:txBody>
      </p:sp>
      <p:sp>
        <p:nvSpPr>
          <p:cNvPr id="6" name="Footer Placeholder 5"/>
          <p:cNvSpPr>
            <a:spLocks noGrp="1"/>
          </p:cNvSpPr>
          <p:nvPr>
            <p:ph type="ftr" sz="quarter" idx="12"/>
          </p:nvPr>
        </p:nvSpPr>
        <p:spPr>
          <a:xfrm>
            <a:off x="0" y="8685213"/>
            <a:ext cx="6172200" cy="457200"/>
          </a:xfrm>
        </p:spPr>
        <p:txBody>
          <a:bodyPr/>
          <a:lstStyle/>
          <a:p>
            <a:pPr algn="l" defTabSz="914400">
              <a:buNone/>
            </a:pPr>
            <a:r>
              <a:rPr lang="en-US" sz="500" b="0" i="0">
                <a:solidFill>
                  <a:srgbClr val="000000"/>
                </a:solidFill>
                <a:latin typeface="Calibri"/>
                <a:ea typeface="+mn-ea"/>
                <a:cs typeface="+mn-cs"/>
              </a:rPr>
              <a:t>© 2007 Microsoft Corporation. Todos los derechos reservados. Microsoft, Windows, Windows Vista y otros nombres de productos son o podrían ser marcas registradas o marcas comerciales en los EE.UU. u otros países.</a:t>
            </a:r>
          </a:p>
          <a:p>
            <a:pPr algn="l" defTabSz="914400">
              <a:buNone/>
            </a:pPr>
            <a:r>
              <a:rPr lang="en-US" sz="500" b="0" i="0">
                <a:solidFill>
                  <a:srgbClr val="000000"/>
                </a:solidFill>
                <a:latin typeface="Calibri"/>
                <a:ea typeface="+mn-ea"/>
                <a:cs typeface="+mn-cs"/>
              </a:rPr>
              <a:t>La información incluida aquí solo tiene fines informativos y representa la vista actual de Microsoft Corporation a fecha de esta presentación.  Ya que Microsoft debe responder ante los cambios en el mercado, no debe considerarse responsabilidad suya el hecho de garantizar la precisión de la información facilitada después de la fecha de esta presentación.  </a:t>
            </a:r>
            <a:br>
              <a:rPr lang="en-US" sz="500" b="0" i="0">
                <a:solidFill>
                  <a:srgbClr val="000000"/>
                </a:solidFill>
                <a:latin typeface="Calibri"/>
                <a:ea typeface="+mn-ea"/>
                <a:cs typeface="+mn-cs"/>
              </a:rPr>
            </a:br>
            <a:r>
              <a:rPr lang="en-US" sz="500" b="0" i="0">
                <a:solidFill>
                  <a:srgbClr val="000000"/>
                </a:solidFill>
                <a:latin typeface="Calibri"/>
                <a:ea typeface="+mn-ea"/>
                <a:cs typeface="+mn-cs"/>
              </a:rPr>
              <a:t>MICROSOFT NO FACILITA GARANTÍAS EXPRESAS, IMPLÍCITAS O ESTATUTORIAS EN RELACIÓN A LA INFORMACIÓN CONTENIDA EN ESTA PRESENTACIÓN.</a:t>
            </a:r>
          </a:p>
          <a:p>
            <a:pPr algn="l" defTabSz="914400">
              <a:buNone/>
            </a:pPr>
            <a:endParaRPr lang="en-US" sz="500" dirty="0" smtClean="0"/>
          </a:p>
        </p:txBody>
      </p:sp>
      <p:sp>
        <p:nvSpPr>
          <p:cNvPr id="7" name="Slide Number Placeholder 6"/>
          <p:cNvSpPr>
            <a:spLocks noGrp="1"/>
          </p:cNvSpPr>
          <p:nvPr>
            <p:ph type="sldNum" sz="quarter" idx="13"/>
          </p:nvPr>
        </p:nvSpPr>
        <p:spPr>
          <a:xfrm>
            <a:off x="6172199" y="8685213"/>
            <a:ext cx="684213" cy="457200"/>
          </a:xfrm>
        </p:spPr>
        <p:txBody>
          <a:bodyPr/>
          <a:lstStyle/>
          <a:p>
            <a:pPr algn="r" defTabSz="914400">
              <a:buNone/>
            </a:pPr>
            <a:fld id="{EC87E0CF-87F6-4B58-B8B8-DCAB2DAAF3CA}" type="slidenum">
              <a:rPr lang="en-US" sz="1200" b="0" i="0">
                <a:latin typeface="Calibri"/>
                <a:ea typeface="+mn-ea"/>
                <a:cs typeface="+mn-cs"/>
              </a:rPr>
              <a:t>1</a:t>
            </a:fld>
            <a:endParaRPr lang="en-US" sz="1200" b="0" i="0">
              <a:latin typeface="Calibri"/>
              <a:ea typeface="+mn-ea"/>
              <a:cs typeface="+mn-cs"/>
            </a:endParaRPr>
          </a:p>
        </p:txBody>
      </p:sp>
    </p:spTree>
    <p:extLst>
      <p:ext uri="{BB962C8B-B14F-4D97-AF65-F5344CB8AC3E}">
        <p14:creationId xmlns:p14="http://schemas.microsoft.com/office/powerpoint/2010/main" val="2344468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5/13/2015 11:02 PM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Todos los derechos reservados. Microsoft, Windows, Windows Vista y otros nombres de productos son o podrían ser marcas registradas o marcas comerciales en los EE.UU. u otros países.</a:t>
            </a:r>
          </a:p>
          <a:p>
            <a:pPr algn="l" defTabSz="914400">
              <a:buNone/>
            </a:pPr>
            <a:r>
              <a:rPr lang="en-US" sz="1200" b="0" i="0">
                <a:solidFill>
                  <a:srgbClr val="000000"/>
                </a:solidFill>
                <a:latin typeface="Calibri"/>
                <a:ea typeface="+mn-ea"/>
                <a:cs typeface="+mn-cs"/>
              </a:rPr>
              <a:t>La información incluida aquí solo tiene fines informativos y representa la vista actual de Microsoft Corporation a fecha de esta presentación.  Ya que Microsoft debe responder ante los cambios en el mercado, no debe considerarse responsabilidad suya el hecho de garantizar la precisión de la información facilitada después de la fecha de esta presentación.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NO FACILITA GARANTÍAS EXPRESAS, IMPLÍCITAS O ESTATUTORIAS EN RELACIÓN A LA INFORMACIÓN CONTENIDA EN ESTA PRESENTACIÓN.</a:t>
            </a:r>
          </a:p>
          <a:p>
            <a:pPr algn="l" defTabSz="914400">
              <a:buNone/>
            </a:pPr>
            <a:endParaRPr lang="en-US" dirty="0" smtClean="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2</a:t>
            </a:fld>
            <a:endParaRPr lang="en-US" sz="1200" b="0" i="0">
              <a:latin typeface="Calibri"/>
              <a:ea typeface="+mn-ea"/>
              <a:cs typeface="+mn-cs"/>
            </a:endParaRPr>
          </a:p>
        </p:txBody>
      </p:sp>
    </p:spTree>
    <p:extLst>
      <p:ext uri="{BB962C8B-B14F-4D97-AF65-F5344CB8AC3E}">
        <p14:creationId xmlns:p14="http://schemas.microsoft.com/office/powerpoint/2010/main" val="3889316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5/13/2015 11:08 PM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Todos los derechos reservados. Microsoft, Windows, Windows Vista y otros nombres de productos son o podrían ser marcas registradas o marcas comerciales en los EE.UU. u otros países.</a:t>
            </a:r>
          </a:p>
          <a:p>
            <a:pPr algn="l" defTabSz="914400">
              <a:buNone/>
            </a:pPr>
            <a:r>
              <a:rPr lang="en-US" sz="1200" b="0" i="0">
                <a:solidFill>
                  <a:srgbClr val="000000"/>
                </a:solidFill>
                <a:latin typeface="Calibri"/>
                <a:ea typeface="+mn-ea"/>
                <a:cs typeface="+mn-cs"/>
              </a:rPr>
              <a:t>La información incluida aquí solo tiene fines informativos y representa la vista actual de Microsoft Corporation a fecha de esta presentación.  Ya que Microsoft debe responder ante los cambios en el mercado, no debe considerarse responsabilidad suya el hecho de garantizar la precisión de la información facilitada después de la fecha de esta presentación.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NO FACILITA GARANTÍAS EXPRESAS, IMPLÍCITAS O ESTATUTORIAS EN RELACIÓN A LA INFORMACIÓN CONTENIDA EN ESTA PRESENTACIÓN.</a:t>
            </a:r>
          </a:p>
          <a:p>
            <a:pPr algn="l" defTabSz="914400">
              <a:buNone/>
            </a:pPr>
            <a:endParaRPr lang="en-US" dirty="0" smtClean="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3</a:t>
            </a:fld>
            <a:endParaRPr lang="en-US" sz="1200" b="0" i="0">
              <a:latin typeface="Calibri"/>
              <a:ea typeface="+mn-ea"/>
              <a:cs typeface="+mn-cs"/>
            </a:endParaRPr>
          </a:p>
        </p:txBody>
      </p:sp>
    </p:spTree>
    <p:extLst>
      <p:ext uri="{BB962C8B-B14F-4D97-AF65-F5344CB8AC3E}">
        <p14:creationId xmlns:p14="http://schemas.microsoft.com/office/powerpoint/2010/main" val="4231902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lgn="r" defTabSz="914400">
              <a:buNone/>
            </a:pPr>
            <a:fld id="{8B263312-38AA-4E1E-B2B5-0F8F122B24FE}" type="slidenum">
              <a:rPr lang="en-US" sz="1200" b="0" i="0">
                <a:latin typeface="Calibri"/>
                <a:ea typeface="+mn-ea"/>
                <a:cs typeface="+mn-cs"/>
              </a:rPr>
              <a:t>4</a:t>
            </a:fld>
            <a:endParaRPr lang="en-US" sz="1200" b="0" i="0">
              <a:latin typeface="Calibri"/>
              <a:ea typeface="+mn-ea"/>
              <a:cs typeface="+mn-cs"/>
            </a:endParaRPr>
          </a:p>
        </p:txBody>
      </p:sp>
    </p:spTree>
    <p:extLst>
      <p:ext uri="{BB962C8B-B14F-4D97-AF65-F5344CB8AC3E}">
        <p14:creationId xmlns:p14="http://schemas.microsoft.com/office/powerpoint/2010/main" val="2881964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pPr algn="r" defTabSz="914400">
              <a:buNone/>
            </a:pPr>
            <a:fld id="{81331B57-0BE5-4F82-AA58-76F53EFF3ADA}" type="datetime8">
              <a:rPr lang="en-US" sz="1200" b="0" i="0">
                <a:latin typeface="Calibri"/>
                <a:ea typeface="+mn-ea"/>
                <a:cs typeface="+mn-cs"/>
              </a:rPr>
              <a:t>5/13/2015 11:40 PM</a:t>
            </a:fld>
            <a:endParaRPr lang="en-US" sz="1200" b="0" i="0">
              <a:latin typeface="Calibri"/>
              <a:ea typeface="+mn-ea"/>
              <a:cs typeface="+mn-cs"/>
            </a:endParaRPr>
          </a:p>
        </p:txBody>
      </p:sp>
      <p:sp>
        <p:nvSpPr>
          <p:cNvPr id="6" name="Footer Placeholder 5"/>
          <p:cNvSpPr>
            <a:spLocks noGrp="1"/>
          </p:cNvSpPr>
          <p:nvPr>
            <p:ph type="ftr" sz="quarter" idx="12"/>
          </p:nvPr>
        </p:nvSpPr>
        <p:spPr/>
        <p:txBody>
          <a:bodyPr/>
          <a:lstStyle/>
          <a:p>
            <a:pPr algn="l" defTabSz="914400">
              <a:buNone/>
            </a:pPr>
            <a:r>
              <a:rPr lang="en-US" sz="1200" b="0" i="0">
                <a:solidFill>
                  <a:srgbClr val="000000"/>
                </a:solidFill>
                <a:latin typeface="Calibri"/>
                <a:ea typeface="+mn-ea"/>
                <a:cs typeface="+mn-cs"/>
              </a:rPr>
              <a:t>© 2007 Microsoft Corporation. Todos los derechos reservados. Microsoft, Windows, Windows Vista y otros nombres de productos son o podrían ser marcas registradas o marcas comerciales en los EE.UU. u otros países.</a:t>
            </a:r>
          </a:p>
          <a:p>
            <a:pPr algn="l" defTabSz="914400">
              <a:buNone/>
            </a:pPr>
            <a:r>
              <a:rPr lang="en-US" sz="1200" b="0" i="0">
                <a:solidFill>
                  <a:srgbClr val="000000"/>
                </a:solidFill>
                <a:latin typeface="Calibri"/>
                <a:ea typeface="+mn-ea"/>
                <a:cs typeface="+mn-cs"/>
              </a:rPr>
              <a:t>La información incluida aquí solo tiene fines informativos y representa la vista actual de Microsoft Corporation a fecha de esta presentación.  Ya que Microsoft debe responder ante los cambios en el mercado, no debe considerarse responsabilidad suya el hecho de garantizar la precisión de la información facilitada después de la fecha de esta presentación.  </a:t>
            </a:r>
            <a:br>
              <a:rPr lang="en-US" sz="1200" b="0" i="0">
                <a:solidFill>
                  <a:srgbClr val="000000"/>
                </a:solidFill>
                <a:latin typeface="Calibri"/>
                <a:ea typeface="+mn-ea"/>
                <a:cs typeface="+mn-cs"/>
              </a:rPr>
            </a:br>
            <a:r>
              <a:rPr lang="en-US" sz="1200" b="0" i="0">
                <a:solidFill>
                  <a:srgbClr val="000000"/>
                </a:solidFill>
                <a:latin typeface="Calibri"/>
                <a:ea typeface="+mn-ea"/>
                <a:cs typeface="+mn-cs"/>
              </a:rPr>
              <a:t>MICROSOFT NO FACILITA GARANTÍAS EXPRESAS, IMPLÍCITAS O ESTATUTORIAS EN RELACIÓN A LA INFORMACIÓN CONTENIDA EN ESTA PRESENTACIÓN.</a:t>
            </a:r>
          </a:p>
          <a:p>
            <a:pPr algn="l" defTabSz="914400">
              <a:buNone/>
            </a:pPr>
            <a:endParaRPr lang="en-US" dirty="0" smtClean="0"/>
          </a:p>
        </p:txBody>
      </p:sp>
      <p:sp>
        <p:nvSpPr>
          <p:cNvPr id="7" name="Slide Number Placeholder 6"/>
          <p:cNvSpPr>
            <a:spLocks noGrp="1"/>
          </p:cNvSpPr>
          <p:nvPr>
            <p:ph type="sldNum" sz="quarter" idx="13"/>
          </p:nvPr>
        </p:nvSpPr>
        <p:spPr/>
        <p:txBody>
          <a:bodyPr/>
          <a:lstStyle/>
          <a:p>
            <a:pPr algn="r" defTabSz="914400">
              <a:buNone/>
            </a:pPr>
            <a:fld id="{EC87E0CF-87F6-4B58-B8B8-DCAB2DAAF3CA}" type="slidenum">
              <a:rPr lang="en-US" sz="1200" b="0" i="0">
                <a:latin typeface="Calibri"/>
                <a:ea typeface="+mn-ea"/>
                <a:cs typeface="+mn-cs"/>
              </a:rPr>
              <a:t>5</a:t>
            </a:fld>
            <a:endParaRPr lang="en-US" sz="1200" b="0" i="0">
              <a:latin typeface="Calibri"/>
              <a:ea typeface="+mn-ea"/>
              <a:cs typeface="+mn-cs"/>
            </a:endParaRPr>
          </a:p>
        </p:txBody>
      </p:sp>
    </p:spTree>
    <p:extLst>
      <p:ext uri="{BB962C8B-B14F-4D97-AF65-F5344CB8AC3E}">
        <p14:creationId xmlns:p14="http://schemas.microsoft.com/office/powerpoint/2010/main" val="3235672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lgn="r" defTabSz="914400">
              <a:buNone/>
            </a:pPr>
            <a:fld id="{8B263312-38AA-4E1E-B2B5-0F8F122B24FE}" type="slidenum">
              <a:rPr lang="en-US" sz="1200" b="0" i="0">
                <a:latin typeface="Calibri"/>
                <a:ea typeface="+mn-ea"/>
                <a:cs typeface="+mn-cs"/>
              </a:rPr>
              <a:t>6</a:t>
            </a:fld>
            <a:endParaRPr lang="en-US" sz="1200" b="0" i="0">
              <a:latin typeface="Calibri"/>
              <a:ea typeface="+mn-ea"/>
              <a:cs typeface="+mn-cs"/>
            </a:endParaRPr>
          </a:p>
        </p:txBody>
      </p:sp>
    </p:spTree>
    <p:extLst>
      <p:ext uri="{BB962C8B-B14F-4D97-AF65-F5344CB8AC3E}">
        <p14:creationId xmlns:p14="http://schemas.microsoft.com/office/powerpoint/2010/main" val="7570206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s-ES" smtClean="0"/>
              <a:t>Haga clic para modificar el estilo de subtítulo del patrón</a:t>
            </a:r>
            <a:endParaRPr lang="en-US" dirty="0"/>
          </a:p>
        </p:txBody>
      </p:sp>
      <p:pic>
        <p:nvPicPr>
          <p:cNvPr id="4" name="Picture 3" descr="Swirl.png"/>
          <p:cNvPicPr>
            <a:picLocks noChangeAspect="1"/>
          </p:cNvPicPr>
          <p:nvPr userDrawn="1"/>
        </p:nvPicPr>
        <p:blipFill>
          <a:blip r:embed="rId3"/>
          <a:stretch>
            <a:fillRect/>
          </a:stretch>
        </p:blipFill>
        <p:spPr>
          <a:xfrm>
            <a:off x="0" y="912118"/>
            <a:ext cx="9144000" cy="3202682"/>
          </a:xfrm>
          <a:prstGeom prst="rect">
            <a:avLst/>
          </a:prstGeom>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pic>
        <p:nvPicPr>
          <p:cNvPr id="5" name="Picture 4" descr="Swirl.png"/>
          <p:cNvPicPr>
            <a:picLocks noChangeAspect="1"/>
          </p:cNvPicPr>
          <p:nvPr userDrawn="1"/>
        </p:nvPicPr>
        <p:blipFill>
          <a:blip r:embed="rId3"/>
          <a:stretch>
            <a:fillRect/>
          </a:stretch>
        </p:blipFill>
        <p:spPr>
          <a:xfrm>
            <a:off x="0" y="1143000"/>
            <a:ext cx="9144000" cy="3202682"/>
          </a:xfrm>
          <a:prstGeom prst="rect">
            <a:avLst/>
          </a:prstGeom>
        </p:spPr>
      </p:pic>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smtClean="0"/>
              <a:t>click to…</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s-ES" smtClean="0"/>
              <a:t>Haga clic para modificar el estilo de título del patrón</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s-ES" smtClean="0"/>
              <a:t>Haga clic para modificar el estilo de título del patrón</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s-ES" smtClean="0"/>
              <a:t>Haga clic para modificar el estilo de texto del patrón</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Demo, Video etc. &quot;special&quot; slides">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pic>
        <p:nvPicPr>
          <p:cNvPr id="5" name="Picture 4" descr="Swirl.png"/>
          <p:cNvPicPr>
            <a:picLocks noChangeAspect="1"/>
          </p:cNvPicPr>
          <p:nvPr userDrawn="1"/>
        </p:nvPicPr>
        <p:blipFill>
          <a:blip r:embed="rId3"/>
          <a:stretch>
            <a:fillRect/>
          </a:stretch>
        </p:blipFill>
        <p:spPr>
          <a:xfrm>
            <a:off x="0" y="1143000"/>
            <a:ext cx="9144000" cy="3202682"/>
          </a:xfrm>
          <a:prstGeom prst="rect">
            <a:avLst/>
          </a:prstGeom>
        </p:spPr>
      </p:pic>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smtClean="0"/>
              <a:t>click to…</a:t>
            </a: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722313" y="1905000"/>
            <a:ext cx="8040688" cy="21336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2.xml"/><Relationship Id="rId1" Type="http://schemas.openxmlformats.org/officeDocument/2006/relationships/slideLayout" Target="../slideLayouts/slideLayout13.xml"/><Relationship Id="rId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l="-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 bg1="dk1" tx1="lt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61" r:id="rId12"/>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5"/>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6"/>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pic>
        <p:nvPicPr>
          <p:cNvPr id="4" name="Picture 3" descr="white rectangle.png"/>
          <p:cNvPicPr>
            <a:picLocks noChangeAspect="1"/>
          </p:cNvPicPr>
          <p:nvPr/>
        </p:nvPicPr>
        <p:blipFill>
          <a:blip r:embed="rId4"/>
          <a:srcRect b="10453"/>
          <a:stretch>
            <a:fillRect/>
          </a:stretch>
        </p:blipFill>
        <p:spPr>
          <a:xfrm>
            <a:off x="0" y="1299706"/>
            <a:ext cx="9144000" cy="5558294"/>
          </a:xfrm>
          <a:prstGeom prst="rect">
            <a:avLst/>
          </a:prstGeom>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722312" y="1905000"/>
            <a:ext cx="8040688" cy="2108269"/>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75" r:id="rId1"/>
  </p:sldLayoutIdLst>
  <p:transition>
    <p:fade/>
  </p:transition>
  <p:txStyles>
    <p:titleStyle>
      <a:lvl1pPr algn="l" defTabSz="914363" rtl="0" eaLnBrk="1" latinLnBrk="0" hangingPunct="1">
        <a:lnSpc>
          <a:spcPct val="90000"/>
        </a:lnSpc>
        <a:spcBef>
          <a:spcPct val="0"/>
        </a:spcBef>
        <a:buNone/>
        <a:defRPr lang="en-US" sz="4800" b="0" kern="1200" cap="none" spc="-125"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3000" b="1" kern="1200">
          <a:solidFill>
            <a:schemeClr val="tx1"/>
          </a:solidFill>
          <a:latin typeface="Courier New" pitchFamily="49" charset="0"/>
          <a:ea typeface="+mn-ea"/>
          <a:cs typeface="Courier New" pitchFamily="49" charset="0"/>
        </a:defRPr>
      </a:lvl1pPr>
      <a:lvl2pPr marL="384954" indent="-7937" algn="l" defTabSz="914363" rtl="0" eaLnBrk="1" latinLnBrk="0" hangingPunct="1">
        <a:lnSpc>
          <a:spcPct val="90000"/>
        </a:lnSpc>
        <a:spcBef>
          <a:spcPct val="20000"/>
        </a:spcBef>
        <a:buFont typeface="Arial" pitchFamily="34" charset="0"/>
        <a:buNone/>
        <a:defRPr sz="2800" b="1" kern="1200">
          <a:solidFill>
            <a:schemeClr val="tx1"/>
          </a:solidFill>
          <a:latin typeface="Courier New" pitchFamily="49" charset="0"/>
          <a:ea typeface="+mn-ea"/>
          <a:cs typeface="Courier New" pitchFamily="49" charset="0"/>
        </a:defRPr>
      </a:lvl2pPr>
      <a:lvl3pPr marL="761970"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3pPr>
      <a:lvl4pPr marL="1094009"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4pPr>
      <a:lvl5pPr marL="1426047" indent="0"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2.jp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hyperlink" Target="http://www.academia.edu/7969989/LABORATORIO_DE_MEDIDAS_Viscosidad_M%C3%A9todos_de_Medici%C3%B3n" TargetMode="External"/><Relationship Id="rId2" Type="http://schemas.openxmlformats.org/officeDocument/2006/relationships/hyperlink" Target="http://www.ing.unlp.edu.ar/aeron/laclyfa/Carpetas/Catedra/Archivos/Fluidodin/Viscosimetro%20Stokes.pdf" TargetMode="External"/><Relationship Id="rId1" Type="http://schemas.openxmlformats.org/officeDocument/2006/relationships/slideLayout" Target="../slideLayouts/slideLayout4.xml"/><Relationship Id="rId4" Type="http://schemas.openxmlformats.org/officeDocument/2006/relationships/hyperlink" Target="http://fcm.ens.uabc.mx/~fisica/FISICA_II/APUNTES/VISCOSIDAD.ht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 y="17778"/>
            <a:ext cx="8856984" cy="6408712"/>
          </a:xfrm>
        </p:spPr>
        <p:txBody>
          <a:bodyPr/>
          <a:lstStyle/>
          <a:p>
            <a:pPr algn="ctr" defTabSz="914400">
              <a:lnSpc>
                <a:spcPct val="90000"/>
              </a:lnSpc>
              <a:spcBef>
                <a:spcPts val="0"/>
              </a:spcBef>
              <a:buNone/>
            </a:pPr>
            <a:r>
              <a:rPr lang="es-ES_tradnl" sz="5400" b="0" i="0" spc="-150" dirty="0" smtClean="0">
                <a:effectLst>
                  <a:outerShdw blurRad="50800" dist="38100" dir="2700000" algn="tl">
                    <a:prstClr val="black">
                      <a:alpha val="40000"/>
                    </a:prstClr>
                  </a:outerShdw>
                </a:effectLst>
                <a:latin typeface="Calibri"/>
                <a:ea typeface="+mn-ea"/>
                <a:cs typeface="Arial"/>
              </a:rPr>
              <a:t/>
            </a:r>
            <a:br>
              <a:rPr lang="es-ES_tradnl" sz="5400" b="0" i="0" spc="-150" dirty="0" smtClean="0">
                <a:effectLst>
                  <a:outerShdw blurRad="50800" dist="38100" dir="2700000" algn="tl">
                    <a:prstClr val="black">
                      <a:alpha val="40000"/>
                    </a:prstClr>
                  </a:outerShdw>
                </a:effectLst>
                <a:latin typeface="Calibri"/>
                <a:ea typeface="+mn-ea"/>
                <a:cs typeface="Arial"/>
              </a:rPr>
            </a:br>
            <a:r>
              <a:rPr lang="es-ES_tradnl" dirty="0">
                <a:effectLst>
                  <a:outerShdw blurRad="50800" dist="38100" dir="2700000" algn="tl">
                    <a:prstClr val="black">
                      <a:alpha val="40000"/>
                    </a:prstClr>
                  </a:outerShdw>
                </a:effectLst>
                <a:latin typeface="Calibri"/>
                <a:cs typeface="Arial"/>
              </a:rPr>
              <a:t/>
            </a:r>
            <a:br>
              <a:rPr lang="es-ES_tradnl" dirty="0">
                <a:effectLst>
                  <a:outerShdw blurRad="50800" dist="38100" dir="2700000" algn="tl">
                    <a:prstClr val="black">
                      <a:alpha val="40000"/>
                    </a:prstClr>
                  </a:outerShdw>
                </a:effectLst>
                <a:latin typeface="Calibri"/>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Universidad Politécnica de Zacatecas</a:t>
            </a:r>
            <a:b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
            </a:r>
            <a:b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Docente:</a:t>
            </a:r>
            <a:b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M  en  C.  Cristóbal </a:t>
            </a:r>
            <a:r>
              <a:rPr lang="es-ES_tradnl" sz="2400" dirty="0" err="1" smtClean="0">
                <a:effectLst>
                  <a:outerShdw blurRad="50800" dist="38100" dir="2700000" algn="tl">
                    <a:prstClr val="black">
                      <a:alpha val="40000"/>
                    </a:prstClr>
                  </a:outerShdw>
                </a:effectLst>
                <a:latin typeface="Bookman Old Style" panose="02050604050505020204" pitchFamily="18" charset="0"/>
                <a:cs typeface="Arial"/>
              </a:rPr>
              <a:t>Solis</a:t>
            </a: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 Ramírez</a:t>
            </a:r>
            <a:b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br>
            <a:r>
              <a:rPr lang="es-ES_tradnl" sz="2400" dirty="0">
                <a:effectLst>
                  <a:outerShdw blurRad="50800" dist="38100" dir="2700000" algn="tl">
                    <a:prstClr val="black">
                      <a:alpha val="40000"/>
                    </a:prstClr>
                  </a:outerShdw>
                </a:effectLst>
                <a:latin typeface="Bookman Old Style" panose="02050604050505020204" pitchFamily="18" charset="0"/>
                <a:cs typeface="Arial"/>
              </a:rPr>
              <a:t/>
            </a:r>
            <a:br>
              <a:rPr lang="es-ES_tradnl" sz="2400" dirty="0">
                <a:effectLst>
                  <a:outerShdw blurRad="50800" dist="38100" dir="2700000" algn="tl">
                    <a:prstClr val="black">
                      <a:alpha val="40000"/>
                    </a:prstClr>
                  </a:outerShdw>
                </a:effectLst>
                <a:latin typeface="Bookman Old Style" panose="02050604050505020204" pitchFamily="18" charset="0"/>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Alumnos:</a:t>
            </a:r>
            <a:b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José Francisco Pinedo García</a:t>
            </a:r>
            <a:b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br>
            <a:r>
              <a:rPr lang="es-ES_tradnl" sz="2400" dirty="0" err="1" smtClean="0">
                <a:effectLst>
                  <a:outerShdw blurRad="50800" dist="38100" dir="2700000" algn="tl">
                    <a:prstClr val="black">
                      <a:alpha val="40000"/>
                    </a:prstClr>
                  </a:outerShdw>
                </a:effectLst>
                <a:latin typeface="Bookman Old Style" panose="02050604050505020204" pitchFamily="18" charset="0"/>
                <a:cs typeface="Arial"/>
              </a:rPr>
              <a:t>Yetzi</a:t>
            </a: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 Itzel Valtierra Medina</a:t>
            </a:r>
            <a:b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Gladys Alejandra Lozano Gutiérrez</a:t>
            </a:r>
            <a:b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br>
            <a:r>
              <a:rPr lang="es-ES_tradnl" sz="2400" dirty="0">
                <a:effectLst>
                  <a:outerShdw blurRad="50800" dist="38100" dir="2700000" algn="tl">
                    <a:prstClr val="black">
                      <a:alpha val="40000"/>
                    </a:prstClr>
                  </a:outerShdw>
                </a:effectLst>
                <a:latin typeface="Bookman Old Style" panose="02050604050505020204" pitchFamily="18" charset="0"/>
                <a:cs typeface="Arial"/>
              </a:rPr>
              <a:t/>
            </a:r>
            <a:br>
              <a:rPr lang="es-ES_tradnl" sz="2400" dirty="0">
                <a:effectLst>
                  <a:outerShdw blurRad="50800" dist="38100" dir="2700000" algn="tl">
                    <a:prstClr val="black">
                      <a:alpha val="40000"/>
                    </a:prstClr>
                  </a:outerShdw>
                </a:effectLst>
                <a:latin typeface="Bookman Old Style" panose="02050604050505020204" pitchFamily="18" charset="0"/>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Viscosidad</a:t>
            </a:r>
            <a:r>
              <a:rPr lang="es-ES_tradnl" sz="2400" dirty="0">
                <a:effectLst>
                  <a:outerShdw blurRad="50800" dist="38100" dir="2700000" algn="tl">
                    <a:prstClr val="black">
                      <a:alpha val="40000"/>
                    </a:prstClr>
                  </a:outerShdw>
                </a:effectLst>
                <a:latin typeface="Bookman Old Style" panose="02050604050505020204" pitchFamily="18" charset="0"/>
                <a:cs typeface="Arial"/>
              </a:rPr>
              <a:t/>
            </a:r>
            <a:br>
              <a:rPr lang="es-ES_tradnl" sz="2400" dirty="0">
                <a:effectLst>
                  <a:outerShdw blurRad="50800" dist="38100" dir="2700000" algn="tl">
                    <a:prstClr val="black">
                      <a:alpha val="40000"/>
                    </a:prstClr>
                  </a:outerShdw>
                </a:effectLst>
                <a:latin typeface="Bookman Old Style" panose="02050604050505020204" pitchFamily="18" charset="0"/>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
            </a:r>
            <a:b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Ing. En Biotecnología</a:t>
            </a:r>
            <a:b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br>
            <a:r>
              <a:rPr lang="es-ES_tradnl" sz="2400" dirty="0">
                <a:effectLst>
                  <a:outerShdw blurRad="50800" dist="38100" dir="2700000" algn="tl">
                    <a:prstClr val="black">
                      <a:alpha val="40000"/>
                    </a:prstClr>
                  </a:outerShdw>
                </a:effectLst>
                <a:latin typeface="Bookman Old Style" panose="02050604050505020204" pitchFamily="18" charset="0"/>
                <a:cs typeface="Arial"/>
              </a:rPr>
              <a:t/>
            </a:r>
            <a:br>
              <a:rPr lang="es-ES_tradnl" sz="2400" dirty="0">
                <a:effectLst>
                  <a:outerShdw blurRad="50800" dist="38100" dir="2700000" algn="tl">
                    <a:prstClr val="black">
                      <a:alpha val="40000"/>
                    </a:prstClr>
                  </a:outerShdw>
                </a:effectLst>
                <a:latin typeface="Bookman Old Style" panose="02050604050505020204" pitchFamily="18" charset="0"/>
                <a:cs typeface="Arial"/>
              </a:rPr>
            </a:br>
            <a:r>
              <a:rPr lang="es-ES_tradnl" sz="2400" dirty="0">
                <a:effectLst>
                  <a:outerShdw blurRad="50800" dist="38100" dir="2700000" algn="tl">
                    <a:prstClr val="black">
                      <a:alpha val="40000"/>
                    </a:prstClr>
                  </a:outerShdw>
                </a:effectLst>
                <a:latin typeface="Bookman Old Style" panose="02050604050505020204" pitchFamily="18" charset="0"/>
                <a:cs typeface="Arial"/>
              </a:rPr>
              <a:t/>
            </a:r>
            <a:br>
              <a:rPr lang="es-ES_tradnl" sz="2400" dirty="0">
                <a:effectLst>
                  <a:outerShdw blurRad="50800" dist="38100" dir="2700000" algn="tl">
                    <a:prstClr val="black">
                      <a:alpha val="40000"/>
                    </a:prstClr>
                  </a:outerShdw>
                </a:effectLst>
                <a:latin typeface="Bookman Old Style" panose="02050604050505020204" pitchFamily="18" charset="0"/>
                <a:cs typeface="Arial"/>
              </a:rPr>
            </a:br>
            <a:r>
              <a:rPr lang="es-ES_tradnl" sz="2400" dirty="0" smtClean="0">
                <a:effectLst>
                  <a:outerShdw blurRad="50800" dist="38100" dir="2700000" algn="tl">
                    <a:prstClr val="black">
                      <a:alpha val="40000"/>
                    </a:prstClr>
                  </a:outerShdw>
                </a:effectLst>
                <a:latin typeface="Bookman Old Style" panose="02050604050505020204" pitchFamily="18" charset="0"/>
                <a:cs typeface="Arial"/>
              </a:rPr>
              <a:t>Fresnillo, Zac  a 14 de mayo de 2015</a:t>
            </a:r>
            <a:endParaRPr lang="es-ES_tradnl" sz="6600" b="0" i="0" spc="-150" dirty="0">
              <a:effectLst>
                <a:outerShdw blurRad="50800" dist="38100" dir="2700000" algn="tl">
                  <a:prstClr val="black">
                    <a:alpha val="40000"/>
                  </a:prstClr>
                </a:outerShdw>
              </a:effectLst>
              <a:latin typeface="Bookman Old Style" panose="02050604050505020204" pitchFamily="18" charset="0"/>
              <a:cs typeface="Arial"/>
            </a:endParaRPr>
          </a:p>
        </p:txBody>
      </p:sp>
      <p:pic>
        <p:nvPicPr>
          <p:cNvPr id="5" name="Imagen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12" y="236135"/>
            <a:ext cx="1944216" cy="1328957"/>
          </a:xfrm>
          <a:prstGeom prst="rect">
            <a:avLst/>
          </a:prstGeom>
          <a:ln>
            <a:noFill/>
          </a:ln>
          <a:effectLst>
            <a:softEdge rad="112500"/>
          </a:effectLst>
        </p:spPr>
      </p:pic>
      <p:pic>
        <p:nvPicPr>
          <p:cNvPr id="6" name="Imagen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8264" y="324548"/>
            <a:ext cx="1827923" cy="1240543"/>
          </a:xfrm>
          <a:prstGeom prst="rect">
            <a:avLst/>
          </a:prstGeom>
          <a:ln>
            <a:noFill/>
          </a:ln>
          <a:effectLst>
            <a:softEdge rad="112500"/>
          </a:effectLst>
        </p:spPr>
      </p:pic>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76672"/>
            <a:ext cx="8763000" cy="623248"/>
          </a:xfrm>
        </p:spPr>
        <p:txBody>
          <a:bodyPr/>
          <a:lstStyle/>
          <a:p>
            <a:pPr algn="l" defTabSz="914400">
              <a:lnSpc>
                <a:spcPct val="90000"/>
              </a:lnSpc>
              <a:spcBef>
                <a:spcPts val="0"/>
              </a:spcBef>
              <a:buNone/>
            </a:pPr>
            <a:r>
              <a:rPr lang="es-ES_tradnl" sz="4500" b="0" i="0" spc="-150" dirty="0" smtClean="0">
                <a:effectLst>
                  <a:outerShdw blurRad="50800" dist="38100" dir="2700000" algn="tl">
                    <a:prstClr val="black">
                      <a:alpha val="40000"/>
                    </a:prstClr>
                  </a:outerShdw>
                </a:effectLst>
                <a:latin typeface="Calibri"/>
                <a:ea typeface="+mn-ea"/>
                <a:cs typeface="Arial"/>
              </a:rPr>
              <a:t>Introducción</a:t>
            </a:r>
            <a:endParaRPr lang="es-ES_tradnl" sz="4500" b="0" i="0" spc="-150" dirty="0">
              <a:effectLst>
                <a:outerShdw blurRad="50800" dist="38100" dir="2700000" algn="tl">
                  <a:prstClr val="black">
                    <a:alpha val="40000"/>
                  </a:prstClr>
                </a:outerShdw>
              </a:effectLst>
              <a:latin typeface="Calibri"/>
              <a:ea typeface="+mn-ea"/>
              <a:cs typeface="Arial"/>
            </a:endParaRPr>
          </a:p>
        </p:txBody>
      </p:sp>
      <p:sp>
        <p:nvSpPr>
          <p:cNvPr id="10" name="Marcador de texto 9"/>
          <p:cNvSpPr>
            <a:spLocks noGrp="1"/>
          </p:cNvSpPr>
          <p:nvPr>
            <p:ph type="body" sz="quarter" idx="10"/>
          </p:nvPr>
        </p:nvSpPr>
        <p:spPr>
          <a:xfrm>
            <a:off x="381000" y="1411552"/>
            <a:ext cx="8382000" cy="2554545"/>
          </a:xfrm>
        </p:spPr>
        <p:txBody>
          <a:bodyPr/>
          <a:lstStyle/>
          <a:p>
            <a:pPr marL="0" indent="0" algn="just">
              <a:buNone/>
            </a:pPr>
            <a:r>
              <a:rPr lang="es-MX" sz="2000" dirty="0">
                <a:latin typeface="Century Gothic" panose="020B0502020202020204" pitchFamily="34" charset="0"/>
              </a:rPr>
              <a:t>Propiedad de un fluido que tiende a oponerse a su flujo cuando se le aplica una fuerza. Los fluidos de alta viscosidad presentan una cierta resistencia a fluir; los fluidos de baja viscosidad fluyen con facilidad. La fuerza con la que una capa de fluido en movimiento arrastra consigo a las capas adyacentes de fluido determina su viscosidad, que se mide con un recipiente (viscosímetro) que tiene un orificio de tamaño conocido en el fondo. La velocidad con la que el fluido sale por el orificio es una medida de su viscosidad</a:t>
            </a:r>
            <a:r>
              <a:rPr lang="es-MX" sz="2000" dirty="0" smtClean="0">
                <a:latin typeface="Century Gothic" panose="020B0502020202020204" pitchFamily="34" charset="0"/>
              </a:rPr>
              <a:t>.</a:t>
            </a:r>
          </a:p>
          <a:p>
            <a:pPr marL="0" indent="0" algn="just">
              <a:buNone/>
            </a:pPr>
            <a:endParaRPr lang="es-MX" sz="2000" dirty="0">
              <a:latin typeface="Century Gothic" panose="020B0502020202020204" pitchFamily="34" charset="0"/>
            </a:endParaRPr>
          </a:p>
        </p:txBody>
      </p:sp>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08" y="3844691"/>
            <a:ext cx="3311247" cy="2717534"/>
          </a:xfrm>
          <a:prstGeom prst="rect">
            <a:avLst/>
          </a:prstGeom>
          <a:ln>
            <a:noFill/>
          </a:ln>
          <a:effectLst>
            <a:softEdge rad="112500"/>
          </a:effectLst>
        </p:spPr>
      </p:pic>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67544" y="1124744"/>
            <a:ext cx="8382000" cy="3502497"/>
          </a:xfrm>
        </p:spPr>
        <p:txBody>
          <a:bodyPr>
            <a:normAutofit/>
          </a:bodyPr>
          <a:lstStyle/>
          <a:p>
            <a:pPr marL="0" indent="0" algn="just" defTabSz="914400">
              <a:spcBef>
                <a:spcPts val="768"/>
              </a:spcBef>
              <a:buClr>
                <a:srgbClr val="FFFFFF"/>
              </a:buClr>
              <a:buNone/>
            </a:pPr>
            <a:r>
              <a:rPr lang="es-MX" sz="2000" dirty="0">
                <a:latin typeface="Century Gothic" panose="020B0502020202020204" pitchFamily="34" charset="0"/>
              </a:rPr>
              <a:t>Los primeros que estudiaron la viscosidad fueron un ingeniero y un médico (Hagen y </a:t>
            </a:r>
            <a:r>
              <a:rPr lang="es-MX" sz="2000" dirty="0" err="1">
                <a:latin typeface="Century Gothic" panose="020B0502020202020204" pitchFamily="34" charset="0"/>
              </a:rPr>
              <a:t>Poiseullie</a:t>
            </a:r>
            <a:r>
              <a:rPr lang="es-MX" sz="2000" dirty="0">
                <a:latin typeface="Century Gothic" panose="020B0502020202020204" pitchFamily="34" charset="0"/>
              </a:rPr>
              <a:t>) correspondiéndoles el mérito de deducir empíricamente sus leyes, las que más larde fueron confirmadas teóricamente por Stokes.</a:t>
            </a:r>
            <a:endParaRPr lang="es-ES_tradnl" sz="2000" b="0" i="0" dirty="0" smtClean="0">
              <a:solidFill>
                <a:srgbClr val="FFFFFF"/>
              </a:solidFill>
              <a:latin typeface="Century Gothic" panose="020B0502020202020204" pitchFamily="34" charset="0"/>
            </a:endParaRP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2636912"/>
            <a:ext cx="1950720" cy="23408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Imagen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7904" y="3212976"/>
            <a:ext cx="1665154" cy="24296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Imagen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2240" y="4077072"/>
            <a:ext cx="1895475" cy="24193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76672"/>
            <a:ext cx="8382000" cy="4653582"/>
          </a:xfrm>
        </p:spPr>
        <p:txBody>
          <a:bodyPr/>
          <a:lstStyle/>
          <a:p>
            <a:pPr defTabSz="914400">
              <a:spcBef>
                <a:spcPts val="0"/>
              </a:spcBef>
            </a:pPr>
            <a:r>
              <a:rPr lang="es-ES_tradnl" sz="4800" b="0" i="0" spc="-150" dirty="0" smtClean="0">
                <a:effectLst>
                  <a:outerShdw blurRad="50800" dist="38100" dir="2700000" algn="tl">
                    <a:prstClr val="black">
                      <a:alpha val="40000"/>
                    </a:prstClr>
                  </a:outerShdw>
                </a:effectLst>
                <a:latin typeface="Calibri"/>
                <a:ea typeface="+mn-ea"/>
                <a:cs typeface="Arial"/>
              </a:rPr>
              <a:t>Unidades</a:t>
            </a:r>
            <a:br>
              <a:rPr lang="es-ES_tradnl" sz="4800" b="0" i="0" spc="-150" dirty="0" smtClean="0">
                <a:effectLst>
                  <a:outerShdw blurRad="50800" dist="38100" dir="2700000" algn="tl">
                    <a:prstClr val="black">
                      <a:alpha val="40000"/>
                    </a:prstClr>
                  </a:outerShdw>
                </a:effectLst>
                <a:latin typeface="Calibri"/>
                <a:ea typeface="+mn-ea"/>
                <a:cs typeface="Arial"/>
              </a:rPr>
            </a:br>
            <a:r>
              <a:rPr lang="es-ES_tradnl" dirty="0">
                <a:effectLst>
                  <a:outerShdw blurRad="50800" dist="38100" dir="2700000" algn="tl">
                    <a:prstClr val="black">
                      <a:alpha val="40000"/>
                    </a:prstClr>
                  </a:outerShdw>
                </a:effectLst>
                <a:latin typeface="Calibri"/>
                <a:cs typeface="Arial"/>
              </a:rPr>
              <a:t/>
            </a:r>
            <a:br>
              <a:rPr lang="es-ES_tradnl" dirty="0">
                <a:effectLst>
                  <a:outerShdw blurRad="50800" dist="38100" dir="2700000" algn="tl">
                    <a:prstClr val="black">
                      <a:alpha val="40000"/>
                    </a:prstClr>
                  </a:outerShdw>
                </a:effectLst>
                <a:latin typeface="Calibri"/>
                <a:cs typeface="Arial"/>
              </a:rPr>
            </a:br>
            <a:r>
              <a:rPr lang="es-MX" sz="2000" dirty="0">
                <a:effectLst>
                  <a:outerShdw blurRad="50800" dist="38100" dir="2700000" algn="tl">
                    <a:prstClr val="black">
                      <a:alpha val="40000"/>
                    </a:prstClr>
                  </a:outerShdw>
                </a:effectLst>
                <a:latin typeface="Century Gothic" panose="020B0502020202020204" pitchFamily="34" charset="0"/>
                <a:cs typeface="Arial"/>
              </a:rPr>
              <a:t/>
            </a:r>
            <a:br>
              <a:rPr lang="es-MX" sz="2000" dirty="0">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La viscosidad de un fluido puede medirse por un parámetro dependiente de la temperatura llamado coeficiente de viscosidad o simplemente viscosidad:</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Coeficiente de viscosidad dinámico, designado como η o μ. </a:t>
            </a: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En </a:t>
            </a: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unidades en el SI: [µ] = [</a:t>
            </a:r>
            <a:r>
              <a:rPr lang="es-MX" sz="2000" dirty="0" err="1">
                <a:solidFill>
                  <a:schemeClr val="tx1"/>
                </a:solidFill>
                <a:effectLst>
                  <a:outerShdw blurRad="50800" dist="38100" dir="2700000" algn="tl">
                    <a:prstClr val="black">
                      <a:alpha val="40000"/>
                    </a:prstClr>
                  </a:outerShdw>
                </a:effectLst>
                <a:latin typeface="Century Gothic" panose="020B0502020202020204" pitchFamily="34" charset="0"/>
                <a:cs typeface="Arial"/>
              </a:rPr>
              <a:t>Pa·s</a:t>
            </a: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 [kg·m−1·s−1] ; otras unidades:</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1 poise = 1 [P] = 10-1 [</a:t>
            </a:r>
            <a:r>
              <a:rPr lang="es-MX" sz="2000" dirty="0" err="1">
                <a:solidFill>
                  <a:schemeClr val="tx1"/>
                </a:solidFill>
                <a:effectLst>
                  <a:outerShdw blurRad="50800" dist="38100" dir="2700000" algn="tl">
                    <a:prstClr val="black">
                      <a:alpha val="40000"/>
                    </a:prstClr>
                  </a:outerShdw>
                </a:effectLst>
                <a:latin typeface="Century Gothic" panose="020B0502020202020204" pitchFamily="34" charset="0"/>
                <a:cs typeface="Arial"/>
              </a:rPr>
              <a:t>Pa·s</a:t>
            </a: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 [10-1 kg·s-1·m-1]</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Coeficiente </a:t>
            </a: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de viscosidad cinemático, designado como ν, y que resulta ser igual al cociente entre el coeficiente de viscosidad dinámica y la densidad del fluido. ν = μ/ρ. (En unidades en el SI: [ν] = [m².s−1]. </a:t>
            </a: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En </a:t>
            </a: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el sistema cegesimal es el </a:t>
            </a:r>
            <a:r>
              <a:rPr lang="es-MX" sz="2000" dirty="0" err="1">
                <a:solidFill>
                  <a:schemeClr val="tx1"/>
                </a:solidFill>
                <a:effectLst>
                  <a:outerShdw blurRad="50800" dist="38100" dir="2700000" algn="tl">
                    <a:prstClr val="black">
                      <a:alpha val="40000"/>
                    </a:prstClr>
                  </a:outerShdw>
                </a:effectLst>
                <a:latin typeface="Century Gothic" panose="020B0502020202020204" pitchFamily="34" charset="0"/>
                <a:cs typeface="Arial"/>
              </a:rPr>
              <a:t>stokes</a:t>
            </a: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a:t>
            </a:r>
            <a:r>
              <a:rPr lang="es-MX" sz="2000" dirty="0" err="1">
                <a:solidFill>
                  <a:schemeClr val="tx1"/>
                </a:solidFill>
                <a:effectLst>
                  <a:outerShdw blurRad="50800" dist="38100" dir="2700000" algn="tl">
                    <a:prstClr val="black">
                      <a:alpha val="40000"/>
                    </a:prstClr>
                  </a:outerShdw>
                </a:effectLst>
                <a:latin typeface="Century Gothic" panose="020B0502020202020204" pitchFamily="34" charset="0"/>
                <a:cs typeface="Arial"/>
              </a:rPr>
              <a:t>St</a:t>
            </a: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a:t>
            </a:r>
            <a:endParaRPr lang="es-ES_tradnl" sz="4800" b="0" i="0" spc="-150" dirty="0">
              <a:solidFill>
                <a:schemeClr val="tx1"/>
              </a:solidFill>
              <a:effectLst>
                <a:outerShdw blurRad="50800" dist="38100" dir="2700000" algn="tl">
                  <a:prstClr val="black">
                    <a:alpha val="40000"/>
                  </a:prstClr>
                </a:outerShdw>
              </a:effectLst>
              <a:latin typeface="Century Gothic" panose="020B0502020202020204" pitchFamily="34" charset="0"/>
              <a:cs typeface="Arial"/>
            </a:endParaRP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536" y="332656"/>
            <a:ext cx="8382000" cy="1994392"/>
          </a:xfrm>
        </p:spPr>
        <p:txBody>
          <a:bodyPr/>
          <a:lstStyle/>
          <a:p>
            <a:pPr defTabSz="914400">
              <a:spcBef>
                <a:spcPts val="0"/>
              </a:spcBef>
            </a:pPr>
            <a:r>
              <a:rPr lang="es-MX" dirty="0" smtClean="0">
                <a:effectLst/>
              </a:rPr>
              <a:t>Viscosímetros</a:t>
            </a:r>
            <a:br>
              <a:rPr lang="es-MX" dirty="0" smtClean="0">
                <a:effectLst/>
              </a:rPr>
            </a:br>
            <a:r>
              <a:rPr lang="es-MX" dirty="0">
                <a:effectLst/>
              </a:rPr>
              <a:t/>
            </a:r>
            <a:br>
              <a:rPr lang="es-MX" dirty="0">
                <a:effectLst/>
              </a:rPr>
            </a:br>
            <a:endParaRPr lang="es-ES_tradnl" sz="4800" b="0" i="0" spc="-150" dirty="0">
              <a:effectLst>
                <a:outerShdw blurRad="50800" dist="38100" dir="2700000" algn="tl">
                  <a:prstClr val="black">
                    <a:alpha val="40000"/>
                  </a:prstClr>
                </a:outerShdw>
              </a:effectLst>
              <a:latin typeface="Calibri"/>
              <a:ea typeface="+mn-ea"/>
              <a:cs typeface="Arial"/>
            </a:endParaRPr>
          </a:p>
        </p:txBody>
      </p:sp>
      <p:sp>
        <p:nvSpPr>
          <p:cNvPr id="2" name="CuadroTexto 1"/>
          <p:cNvSpPr txBox="1"/>
          <p:nvPr/>
        </p:nvSpPr>
        <p:spPr>
          <a:xfrm>
            <a:off x="395536" y="1124744"/>
            <a:ext cx="8568952" cy="2585323"/>
          </a:xfrm>
          <a:prstGeom prst="rect">
            <a:avLst/>
          </a:prstGeom>
          <a:noFill/>
        </p:spPr>
        <p:txBody>
          <a:bodyPr wrap="square" rtlCol="0">
            <a:spAutoFit/>
          </a:bodyPr>
          <a:lstStyle/>
          <a:p>
            <a:pPr algn="just"/>
            <a:r>
              <a:rPr lang="es-MX" sz="1600" dirty="0">
                <a:latin typeface="Century Gothic" panose="020B0502020202020204" pitchFamily="34" charset="0"/>
              </a:rPr>
              <a:t>Viscosímetros </a:t>
            </a:r>
            <a:r>
              <a:rPr lang="es-MX" sz="1600" i="1" dirty="0">
                <a:latin typeface="Century Gothic" panose="020B0502020202020204" pitchFamily="34" charset="0"/>
              </a:rPr>
              <a:t>discontinuos</a:t>
            </a:r>
            <a:r>
              <a:rPr lang="es-MX" sz="1600" dirty="0">
                <a:latin typeface="Century Gothic" panose="020B0502020202020204" pitchFamily="34" charset="0"/>
              </a:rPr>
              <a:t> que se basan en:</a:t>
            </a:r>
          </a:p>
          <a:p>
            <a:pPr lvl="0" algn="just" fontAlgn="base"/>
            <a:r>
              <a:rPr lang="es-MX" sz="1600" dirty="0">
                <a:latin typeface="Century Gothic" panose="020B0502020202020204" pitchFamily="34" charset="0"/>
              </a:rPr>
              <a:t>Medir el </a:t>
            </a:r>
            <a:r>
              <a:rPr lang="es-MX" sz="1600" i="1" dirty="0">
                <a:latin typeface="Century Gothic" panose="020B0502020202020204" pitchFamily="34" charset="0"/>
              </a:rPr>
              <a:t> tiempo que emplea un volumen dado del  fluido para descargar a través de un orificio </a:t>
            </a:r>
            <a:r>
              <a:rPr lang="es-MX" sz="1600" dirty="0">
                <a:latin typeface="Century Gothic" panose="020B0502020202020204" pitchFamily="34" charset="0"/>
              </a:rPr>
              <a:t>(figura 7.37a). El orificio puede sustituirse por un tubo capilar.</a:t>
            </a:r>
          </a:p>
          <a:p>
            <a:pPr lvl="0" algn="just" fontAlgn="base"/>
            <a:r>
              <a:rPr lang="es-MX" sz="1600" i="1" dirty="0">
                <a:latin typeface="Century Gothic" panose="020B0502020202020204" pitchFamily="34" charset="0"/>
              </a:rPr>
              <a:t>Tiempo de caída de una bola </a:t>
            </a:r>
            <a:r>
              <a:rPr lang="es-MX" sz="1600" dirty="0">
                <a:latin typeface="Century Gothic" panose="020B0502020202020204" pitchFamily="34" charset="0"/>
              </a:rPr>
              <a:t>metálica o de ascensión de una burbuja de aire en el seno del  fluido contenido en un tubo o bien de caída de un pistón en un cilindro (figura 7.37b).</a:t>
            </a:r>
          </a:p>
          <a:p>
            <a:pPr lvl="0" algn="just" fontAlgn="base"/>
            <a:r>
              <a:rPr lang="es-MX" sz="1600" i="1" dirty="0">
                <a:latin typeface="Century Gothic" panose="020B0502020202020204" pitchFamily="34" charset="0"/>
              </a:rPr>
              <a:t>Par de resistencia </a:t>
            </a:r>
            <a:r>
              <a:rPr lang="es-MX" sz="1600" dirty="0">
                <a:latin typeface="Century Gothic" panose="020B0502020202020204" pitchFamily="34" charset="0"/>
              </a:rPr>
              <a:t>de un elemento estacionario en una taza rota va que gira a velocidad constante. El par se mide por el desplazamiento angular de un resorte calibrado unido al elemento  (figura 7.37c).</a:t>
            </a:r>
          </a:p>
          <a:p>
            <a:pPr algn="just"/>
            <a:endParaRPr lang="es-MX" sz="1600" dirty="0">
              <a:latin typeface="Century Gothic" panose="020B0502020202020204" pitchFamily="34" charset="0"/>
            </a:endParaRPr>
          </a:p>
        </p:txBody>
      </p:sp>
      <p:grpSp>
        <p:nvGrpSpPr>
          <p:cNvPr id="6" name="Group 4568"/>
          <p:cNvGrpSpPr/>
          <p:nvPr/>
        </p:nvGrpSpPr>
        <p:grpSpPr>
          <a:xfrm>
            <a:off x="467544" y="4005064"/>
            <a:ext cx="5893832" cy="2520280"/>
            <a:chOff x="0" y="0"/>
            <a:chExt cx="4040150" cy="1539253"/>
          </a:xfrm>
        </p:grpSpPr>
        <p:pic>
          <p:nvPicPr>
            <p:cNvPr id="7" name="Picture 4908"/>
            <p:cNvPicPr/>
            <p:nvPr/>
          </p:nvPicPr>
          <p:blipFill>
            <a:blip r:embed="rId3"/>
            <a:stretch>
              <a:fillRect/>
            </a:stretch>
          </p:blipFill>
          <p:spPr>
            <a:xfrm>
              <a:off x="2781" y="4470"/>
              <a:ext cx="4032504" cy="1530096"/>
            </a:xfrm>
            <a:prstGeom prst="rect">
              <a:avLst/>
            </a:prstGeom>
          </p:spPr>
        </p:pic>
        <p:sp>
          <p:nvSpPr>
            <p:cNvPr id="8" name="Shape 276"/>
            <p:cNvSpPr/>
            <p:nvPr/>
          </p:nvSpPr>
          <p:spPr>
            <a:xfrm>
              <a:off x="0" y="0"/>
              <a:ext cx="2020075" cy="1539253"/>
            </a:xfrm>
            <a:custGeom>
              <a:avLst/>
              <a:gdLst/>
              <a:ahLst/>
              <a:cxnLst/>
              <a:rect l="0" t="0" r="0" b="0"/>
              <a:pathLst>
                <a:path w="2020075" h="1539253">
                  <a:moveTo>
                    <a:pt x="0" y="0"/>
                  </a:moveTo>
                  <a:lnTo>
                    <a:pt x="2020075" y="0"/>
                  </a:lnTo>
                  <a:lnTo>
                    <a:pt x="2020075" y="12408"/>
                  </a:lnTo>
                  <a:lnTo>
                    <a:pt x="12382" y="12408"/>
                  </a:lnTo>
                  <a:lnTo>
                    <a:pt x="12382" y="1526819"/>
                  </a:lnTo>
                  <a:lnTo>
                    <a:pt x="2020075" y="1526819"/>
                  </a:lnTo>
                  <a:lnTo>
                    <a:pt x="2020075" y="1539253"/>
                  </a:lnTo>
                  <a:lnTo>
                    <a:pt x="0" y="1539253"/>
                  </a:lnTo>
                  <a:lnTo>
                    <a:pt x="0" y="6223"/>
                  </a:lnTo>
                  <a:lnTo>
                    <a:pt x="0" y="0"/>
                  </a:lnTo>
                  <a:close/>
                </a:path>
              </a:pathLst>
            </a:custGeom>
            <a:ln w="0" cap="flat">
              <a:miter lim="127000"/>
            </a:ln>
          </p:spPr>
          <p:style>
            <a:lnRef idx="0">
              <a:srgbClr val="000000">
                <a:alpha val="0"/>
              </a:srgbClr>
            </a:lnRef>
            <a:fillRef idx="1">
              <a:srgbClr val="221F1F"/>
            </a:fillRef>
            <a:effectRef idx="0">
              <a:scrgbClr r="0" g="0" b="0"/>
            </a:effectRef>
            <a:fontRef idx="none"/>
          </p:style>
          <p:txBody>
            <a:bodyPr/>
            <a:lstStyle/>
            <a:p>
              <a:endParaRPr lang="es-MX"/>
            </a:p>
          </p:txBody>
        </p:sp>
        <p:sp>
          <p:nvSpPr>
            <p:cNvPr id="9" name="Shape 277"/>
            <p:cNvSpPr/>
            <p:nvPr/>
          </p:nvSpPr>
          <p:spPr>
            <a:xfrm>
              <a:off x="2020075" y="0"/>
              <a:ext cx="2020075" cy="1539253"/>
            </a:xfrm>
            <a:custGeom>
              <a:avLst/>
              <a:gdLst/>
              <a:ahLst/>
              <a:cxnLst/>
              <a:rect l="0" t="0" r="0" b="0"/>
              <a:pathLst>
                <a:path w="2020075" h="1539253">
                  <a:moveTo>
                    <a:pt x="0" y="0"/>
                  </a:moveTo>
                  <a:lnTo>
                    <a:pt x="2020075" y="0"/>
                  </a:lnTo>
                  <a:lnTo>
                    <a:pt x="2020075" y="1539253"/>
                  </a:lnTo>
                  <a:lnTo>
                    <a:pt x="0" y="1539253"/>
                  </a:lnTo>
                  <a:lnTo>
                    <a:pt x="0" y="1526819"/>
                  </a:lnTo>
                  <a:lnTo>
                    <a:pt x="2007692" y="1526819"/>
                  </a:lnTo>
                  <a:lnTo>
                    <a:pt x="2007692" y="12408"/>
                  </a:lnTo>
                  <a:lnTo>
                    <a:pt x="0" y="12408"/>
                  </a:lnTo>
                  <a:lnTo>
                    <a:pt x="0" y="0"/>
                  </a:lnTo>
                  <a:close/>
                </a:path>
              </a:pathLst>
            </a:custGeom>
            <a:ln w="0" cap="flat">
              <a:miter lim="127000"/>
            </a:ln>
          </p:spPr>
          <p:style>
            <a:lnRef idx="0">
              <a:srgbClr val="000000">
                <a:alpha val="0"/>
              </a:srgbClr>
            </a:lnRef>
            <a:fillRef idx="1">
              <a:srgbClr val="221F1F"/>
            </a:fillRef>
            <a:effectRef idx="0">
              <a:scrgbClr r="0" g="0" b="0"/>
            </a:effectRef>
            <a:fontRef idx="none"/>
          </p:style>
          <p:txBody>
            <a:bodyPr/>
            <a:lstStyle/>
            <a:p>
              <a:endParaRPr lang="es-MX"/>
            </a:p>
          </p:txBody>
        </p:sp>
      </p:gr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476672"/>
            <a:ext cx="8382000" cy="6093976"/>
          </a:xfrm>
        </p:spPr>
        <p:txBody>
          <a:bodyPr/>
          <a:lstStyle/>
          <a:p>
            <a:pPr algn="just" defTabSz="914400">
              <a:spcBef>
                <a:spcPts val="0"/>
              </a:spcBef>
            </a:pP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1.Caída </a:t>
            </a: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de presión producida por un tubo capilar al paso del  fluido que se bombea a caudal constante (figura 7.38a). Dos tomas, situadas antes y después del tubo capilar, se conectan a un transmisor de presión diferencial neumático o electrónico o digital.</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2.Rotámetro </a:t>
            </a: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con rotador sensible a la viscosidad (figura 7.38b). Se mantiene un caudal constante del  fluido, con lo que la posición del  rotador depende de la viscosidad. Al rotámetro se le puede acoplar un transmisor neumático, electrónico o digital.</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smtClean="0">
                <a:solidFill>
                  <a:schemeClr val="tx1"/>
                </a:solidFill>
                <a:effectLst>
                  <a:outerShdw blurRad="50800" dist="38100" dir="2700000" algn="tl">
                    <a:prstClr val="black">
                      <a:alpha val="40000"/>
                    </a:prstClr>
                  </a:outerShdw>
                </a:effectLst>
                <a:latin typeface="Century Gothic" panose="020B0502020202020204" pitchFamily="34" charset="0"/>
                <a:cs typeface="Arial"/>
              </a:rPr>
              <a:t> </a:t>
            </a: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
            </a:r>
            <a:b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br>
            <a:r>
              <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rPr>
              <a:t>Figura 7.38 Viscosímetros continuos de caída de presión y rotámetro</a:t>
            </a:r>
            <a:endParaRPr lang="es-MX" sz="2000" dirty="0">
              <a:solidFill>
                <a:schemeClr val="tx1"/>
              </a:solidFill>
              <a:effectLst>
                <a:outerShdw blurRad="50800" dist="38100" dir="2700000" algn="tl">
                  <a:prstClr val="black">
                    <a:alpha val="40000"/>
                  </a:prstClr>
                </a:outerShdw>
              </a:effectLst>
              <a:latin typeface="Century Gothic" panose="020B0502020202020204" pitchFamily="34" charset="0"/>
              <a:cs typeface="Arial"/>
            </a:endParaRPr>
          </a:p>
        </p:txBody>
      </p:sp>
      <p:grpSp>
        <p:nvGrpSpPr>
          <p:cNvPr id="10" name="Group 3496"/>
          <p:cNvGrpSpPr/>
          <p:nvPr/>
        </p:nvGrpSpPr>
        <p:grpSpPr>
          <a:xfrm>
            <a:off x="389431" y="2751012"/>
            <a:ext cx="8287025" cy="3054252"/>
            <a:chOff x="-2489279" y="0"/>
            <a:chExt cx="8287058" cy="3054497"/>
          </a:xfrm>
        </p:grpSpPr>
        <p:pic>
          <p:nvPicPr>
            <p:cNvPr id="11" name="Picture 4909"/>
            <p:cNvPicPr/>
            <p:nvPr/>
          </p:nvPicPr>
          <p:blipFill>
            <a:blip r:embed="rId3"/>
            <a:stretch>
              <a:fillRect/>
            </a:stretch>
          </p:blipFill>
          <p:spPr>
            <a:xfrm>
              <a:off x="-2489279" y="134195"/>
              <a:ext cx="8287058" cy="2920302"/>
            </a:xfrm>
            <a:prstGeom prst="rect">
              <a:avLst/>
            </a:prstGeom>
          </p:spPr>
        </p:pic>
        <p:sp>
          <p:nvSpPr>
            <p:cNvPr id="12" name="Shape 338"/>
            <p:cNvSpPr/>
            <p:nvPr/>
          </p:nvSpPr>
          <p:spPr>
            <a:xfrm>
              <a:off x="0" y="0"/>
              <a:ext cx="1687195" cy="1420609"/>
            </a:xfrm>
            <a:custGeom>
              <a:avLst/>
              <a:gdLst/>
              <a:ahLst/>
              <a:cxnLst/>
              <a:rect l="0" t="0" r="0" b="0"/>
              <a:pathLst>
                <a:path w="1687195" h="1420609">
                  <a:moveTo>
                    <a:pt x="0" y="0"/>
                  </a:moveTo>
                  <a:lnTo>
                    <a:pt x="1687195" y="0"/>
                  </a:lnTo>
                  <a:lnTo>
                    <a:pt x="1687195" y="12408"/>
                  </a:lnTo>
                  <a:lnTo>
                    <a:pt x="12382" y="12408"/>
                  </a:lnTo>
                  <a:lnTo>
                    <a:pt x="12382" y="1408176"/>
                  </a:lnTo>
                  <a:lnTo>
                    <a:pt x="1687195" y="1408176"/>
                  </a:lnTo>
                  <a:lnTo>
                    <a:pt x="1687195" y="1420609"/>
                  </a:lnTo>
                  <a:lnTo>
                    <a:pt x="0" y="1420609"/>
                  </a:lnTo>
                  <a:lnTo>
                    <a:pt x="0" y="6210"/>
                  </a:lnTo>
                  <a:lnTo>
                    <a:pt x="0" y="0"/>
                  </a:lnTo>
                  <a:close/>
                </a:path>
              </a:pathLst>
            </a:custGeom>
            <a:ln w="0" cap="flat">
              <a:miter lim="127000"/>
            </a:ln>
          </p:spPr>
          <p:style>
            <a:lnRef idx="0">
              <a:srgbClr val="000000">
                <a:alpha val="0"/>
              </a:srgbClr>
            </a:lnRef>
            <a:fillRef idx="1">
              <a:srgbClr val="221F1F"/>
            </a:fillRef>
            <a:effectRef idx="0">
              <a:scrgbClr r="0" g="0" b="0"/>
            </a:effectRef>
            <a:fontRef idx="none"/>
          </p:style>
          <p:txBody>
            <a:bodyPr/>
            <a:lstStyle/>
            <a:p>
              <a:endParaRPr lang="es-MX"/>
            </a:p>
          </p:txBody>
        </p:sp>
        <p:sp>
          <p:nvSpPr>
            <p:cNvPr id="13" name="Shape 339"/>
            <p:cNvSpPr/>
            <p:nvPr/>
          </p:nvSpPr>
          <p:spPr>
            <a:xfrm>
              <a:off x="1687195" y="0"/>
              <a:ext cx="1687208" cy="1420609"/>
            </a:xfrm>
            <a:custGeom>
              <a:avLst/>
              <a:gdLst/>
              <a:ahLst/>
              <a:cxnLst/>
              <a:rect l="0" t="0" r="0" b="0"/>
              <a:pathLst>
                <a:path w="1687208" h="1420609">
                  <a:moveTo>
                    <a:pt x="0" y="0"/>
                  </a:moveTo>
                  <a:lnTo>
                    <a:pt x="1687208" y="0"/>
                  </a:lnTo>
                  <a:lnTo>
                    <a:pt x="1687208" y="1420609"/>
                  </a:lnTo>
                  <a:lnTo>
                    <a:pt x="0" y="1420609"/>
                  </a:lnTo>
                  <a:lnTo>
                    <a:pt x="0" y="1408176"/>
                  </a:lnTo>
                  <a:lnTo>
                    <a:pt x="1674813" y="1408176"/>
                  </a:lnTo>
                  <a:lnTo>
                    <a:pt x="1674813" y="12408"/>
                  </a:lnTo>
                  <a:lnTo>
                    <a:pt x="0" y="12408"/>
                  </a:lnTo>
                  <a:lnTo>
                    <a:pt x="0" y="0"/>
                  </a:lnTo>
                  <a:close/>
                </a:path>
              </a:pathLst>
            </a:custGeom>
            <a:ln w="0" cap="flat">
              <a:miter lim="127000"/>
            </a:ln>
          </p:spPr>
          <p:style>
            <a:lnRef idx="0">
              <a:srgbClr val="000000">
                <a:alpha val="0"/>
              </a:srgbClr>
            </a:lnRef>
            <a:fillRef idx="1">
              <a:srgbClr val="221F1F"/>
            </a:fillRef>
            <a:effectRef idx="0">
              <a:scrgbClr r="0" g="0" b="0"/>
            </a:effectRef>
            <a:fontRef idx="none"/>
          </p:style>
          <p:txBody>
            <a:bodyPr/>
            <a:lstStyle/>
            <a:p>
              <a:endParaRPr lang="es-MX"/>
            </a:p>
          </p:txBody>
        </p:sp>
      </p:gr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79512" y="572345"/>
            <a:ext cx="8784976" cy="2215991"/>
          </a:xfrm>
          <a:prstGeom prst="rect">
            <a:avLst/>
          </a:prstGeom>
          <a:noFill/>
        </p:spPr>
        <p:txBody>
          <a:bodyPr wrap="square" rtlCol="0">
            <a:spAutoFit/>
          </a:bodyPr>
          <a:lstStyle/>
          <a:p>
            <a:pPr lvl="0" algn="just"/>
            <a:r>
              <a:rPr lang="es-MX" sz="2000" i="1" dirty="0" smtClean="0">
                <a:latin typeface="Century Gothic" panose="020B0502020202020204" pitchFamily="34" charset="0"/>
              </a:rPr>
              <a:t>3. Rotacionales</a:t>
            </a:r>
            <a:r>
              <a:rPr lang="es-MX" sz="2000" dirty="0">
                <a:latin typeface="Century Gothic" panose="020B0502020202020204" pitchFamily="34" charset="0"/>
              </a:rPr>
              <a:t>. Miden el par de torsión necesario para hacer girar un elemento en el  fluido. El  fluido está contenido entre dos cilindros, uno </a:t>
            </a:r>
            <a:r>
              <a:rPr lang="es-MX" sz="2000" dirty="0" smtClean="0">
                <a:latin typeface="Century Gothic" panose="020B0502020202020204" pitchFamily="34" charset="0"/>
              </a:rPr>
              <a:t>(</a:t>
            </a:r>
            <a:r>
              <a:rPr lang="es-MX" sz="2000" dirty="0">
                <a:latin typeface="Century Gothic" panose="020B0502020202020204" pitchFamily="34" charset="0"/>
              </a:rPr>
              <a:t>radio </a:t>
            </a:r>
            <a:r>
              <a:rPr lang="es-MX" sz="2000" i="1" dirty="0">
                <a:latin typeface="Century Gothic" panose="020B0502020202020204" pitchFamily="34" charset="0"/>
              </a:rPr>
              <a:t>R</a:t>
            </a:r>
            <a:r>
              <a:rPr lang="es-MX" sz="2000" i="1" baseline="-25000" dirty="0">
                <a:latin typeface="Century Gothic" panose="020B0502020202020204" pitchFamily="34" charset="0"/>
              </a:rPr>
              <a:t>a</a:t>
            </a:r>
            <a:r>
              <a:rPr lang="es-MX" sz="2000" dirty="0">
                <a:latin typeface="Century Gothic" panose="020B0502020202020204" pitchFamily="34" charset="0"/>
              </a:rPr>
              <a:t>) y otro giratorio (radio </a:t>
            </a:r>
            <a:r>
              <a:rPr lang="es-MX" sz="2000" i="1" dirty="0" err="1">
                <a:latin typeface="Century Gothic" panose="020B0502020202020204" pitchFamily="34" charset="0"/>
              </a:rPr>
              <a:t>R</a:t>
            </a:r>
            <a:r>
              <a:rPr lang="es-MX" sz="2000" i="1" baseline="-25000" dirty="0" err="1">
                <a:latin typeface="Century Gothic" panose="020B0502020202020204" pitchFamily="34" charset="0"/>
              </a:rPr>
              <a:t>i</a:t>
            </a:r>
            <a:r>
              <a:rPr lang="es-MX" sz="2000" dirty="0">
                <a:latin typeface="Century Gothic" panose="020B0502020202020204" pitchFamily="34" charset="0"/>
              </a:rPr>
              <a:t>) de longitud</a:t>
            </a:r>
            <a:r>
              <a:rPr lang="es-MX" sz="2000" i="1" dirty="0">
                <a:latin typeface="Century Gothic" panose="020B0502020202020204" pitchFamily="34" charset="0"/>
              </a:rPr>
              <a:t> L</a:t>
            </a:r>
            <a:r>
              <a:rPr lang="es-MX" sz="2000" dirty="0">
                <a:latin typeface="Century Gothic" panose="020B0502020202020204" pitchFamily="34" charset="0"/>
              </a:rPr>
              <a:t>, de modo que es dividido en múltiples capas con velocidad angular diferente, desde </a:t>
            </a:r>
            <a:r>
              <a:rPr lang="es-MX" sz="2000" dirty="0" smtClean="0">
                <a:latin typeface="Century Gothic" panose="020B0502020202020204" pitchFamily="34" charset="0"/>
              </a:rPr>
              <a:t>0. </a:t>
            </a:r>
            <a:r>
              <a:rPr lang="es-MX" sz="2000" dirty="0">
                <a:latin typeface="Century Gothic" panose="020B0502020202020204" pitchFamily="34" charset="0"/>
              </a:rPr>
              <a:t>El movimiento relativo de las capas indica la Tasa cortante (</a:t>
            </a:r>
            <a:r>
              <a:rPr lang="es-MX" sz="2000" i="1" dirty="0" err="1">
                <a:latin typeface="Century Gothic" panose="020B0502020202020204" pitchFamily="34" charset="0"/>
              </a:rPr>
              <a:t>Shear</a:t>
            </a:r>
            <a:r>
              <a:rPr lang="es-MX" sz="2000" i="1" dirty="0">
                <a:latin typeface="Century Gothic" panose="020B0502020202020204" pitchFamily="34" charset="0"/>
              </a:rPr>
              <a:t> </a:t>
            </a:r>
            <a:r>
              <a:rPr lang="es-MX" sz="2000" i="1" dirty="0" err="1">
                <a:latin typeface="Century Gothic" panose="020B0502020202020204" pitchFamily="34" charset="0"/>
              </a:rPr>
              <a:t>rate</a:t>
            </a:r>
            <a:r>
              <a:rPr lang="es-MX" sz="2000" dirty="0">
                <a:latin typeface="Century Gothic" panose="020B0502020202020204" pitchFamily="34" charset="0"/>
              </a:rPr>
              <a:t> </a:t>
            </a:r>
            <a:r>
              <a:rPr lang="es-MX" sz="2000" i="1" dirty="0">
                <a:latin typeface="Century Gothic" panose="020B0502020202020204" pitchFamily="34" charset="0"/>
              </a:rPr>
              <a:t>D</a:t>
            </a:r>
            <a:r>
              <a:rPr lang="es-MX" sz="2000" dirty="0">
                <a:latin typeface="Century Gothic" panose="020B0502020202020204" pitchFamily="34" charset="0"/>
              </a:rPr>
              <a:t>) y la Tensión cortante (</a:t>
            </a:r>
            <a:r>
              <a:rPr lang="es-MX" sz="2000" i="1" dirty="0" err="1">
                <a:latin typeface="Century Gothic" panose="020B0502020202020204" pitchFamily="34" charset="0"/>
              </a:rPr>
              <a:t>Shear</a:t>
            </a:r>
            <a:r>
              <a:rPr lang="es-MX" sz="2000" i="1" dirty="0">
                <a:latin typeface="Century Gothic" panose="020B0502020202020204" pitchFamily="34" charset="0"/>
              </a:rPr>
              <a:t> stress</a:t>
            </a:r>
            <a:r>
              <a:rPr lang="es-MX" sz="2000" dirty="0">
                <a:latin typeface="Century Gothic" panose="020B0502020202020204" pitchFamily="34" charset="0"/>
              </a:rPr>
              <a:t> </a:t>
            </a:r>
            <a:r>
              <a:rPr lang="es-MX" sz="2000" i="1" dirty="0">
                <a:latin typeface="Century Gothic" panose="020B0502020202020204" pitchFamily="34" charset="0"/>
              </a:rPr>
              <a:t> </a:t>
            </a:r>
            <a:r>
              <a:rPr lang="es-MX" sz="2000" dirty="0">
                <a:latin typeface="Century Gothic" panose="020B0502020202020204" pitchFamily="34" charset="0"/>
              </a:rPr>
              <a:t>). </a:t>
            </a:r>
          </a:p>
          <a:p>
            <a:pPr algn="just"/>
            <a:endParaRPr lang="es-MX" dirty="0">
              <a:latin typeface="Century Gothic" panose="020B0502020202020204" pitchFamily="34" charset="0"/>
            </a:endParaRPr>
          </a:p>
        </p:txBody>
      </p:sp>
      <p:pic>
        <p:nvPicPr>
          <p:cNvPr id="4" name="Picture 4910"/>
          <p:cNvPicPr/>
          <p:nvPr/>
        </p:nvPicPr>
        <p:blipFill>
          <a:blip r:embed="rId2"/>
          <a:stretch>
            <a:fillRect/>
          </a:stretch>
        </p:blipFill>
        <p:spPr>
          <a:xfrm>
            <a:off x="2771800" y="2924944"/>
            <a:ext cx="5557406" cy="31683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36568991"/>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81000" y="230188"/>
            <a:ext cx="8382000" cy="3268587"/>
          </a:xfrm>
        </p:spPr>
        <p:txBody>
          <a:bodyPr/>
          <a:lstStyle/>
          <a:p>
            <a:r>
              <a:rPr lang="es-MX" sz="2000" dirty="0" smtClean="0">
                <a:solidFill>
                  <a:schemeClr val="tx1"/>
                </a:solidFill>
                <a:effectLst/>
                <a:latin typeface="Century Gothic" panose="020B0502020202020204" pitchFamily="34" charset="0"/>
              </a:rPr>
              <a:t/>
            </a:r>
            <a:br>
              <a:rPr lang="es-MX" sz="2000" dirty="0" smtClean="0">
                <a:solidFill>
                  <a:schemeClr val="tx1"/>
                </a:solidFill>
                <a:effectLst/>
                <a:latin typeface="Century Gothic" panose="020B0502020202020204" pitchFamily="34" charset="0"/>
              </a:rPr>
            </a:br>
            <a:r>
              <a:rPr lang="es-MX" sz="2000" dirty="0">
                <a:solidFill>
                  <a:schemeClr val="tx1"/>
                </a:solidFill>
                <a:effectLst/>
                <a:latin typeface="Century Gothic" panose="020B0502020202020204" pitchFamily="34" charset="0"/>
              </a:rPr>
              <a:t/>
            </a:r>
            <a:br>
              <a:rPr lang="es-MX" sz="2000" dirty="0">
                <a:solidFill>
                  <a:schemeClr val="tx1"/>
                </a:solidFill>
                <a:effectLst/>
                <a:latin typeface="Century Gothic" panose="020B0502020202020204" pitchFamily="34" charset="0"/>
              </a:rPr>
            </a:br>
            <a:r>
              <a:rPr lang="es-MX" sz="2000" dirty="0" smtClean="0">
                <a:solidFill>
                  <a:schemeClr val="tx1"/>
                </a:solidFill>
                <a:effectLst/>
                <a:latin typeface="Century Gothic" panose="020B0502020202020204" pitchFamily="34" charset="0"/>
              </a:rPr>
              <a:t>4</a:t>
            </a:r>
            <a:r>
              <a:rPr lang="es-MX" sz="2000" dirty="0">
                <a:solidFill>
                  <a:schemeClr val="tx1"/>
                </a:solidFill>
                <a:effectLst/>
                <a:latin typeface="Century Gothic" panose="020B0502020202020204" pitchFamily="34" charset="0"/>
              </a:rPr>
              <a:t>.</a:t>
            </a:r>
            <a:r>
              <a:rPr lang="es-MX" sz="2000" i="1" dirty="0">
                <a:solidFill>
                  <a:schemeClr val="tx1"/>
                </a:solidFill>
                <a:effectLst/>
                <a:latin typeface="Century Gothic" panose="020B0502020202020204" pitchFamily="34" charset="0"/>
              </a:rPr>
              <a:t> </a:t>
            </a:r>
            <a:r>
              <a:rPr lang="es-MX" sz="2000" i="1" dirty="0">
                <a:solidFill>
                  <a:schemeClr val="tx1"/>
                </a:solidFill>
                <a:effectLst/>
                <a:latin typeface="Century Gothic" panose="020B0502020202020204" pitchFamily="34" charset="0"/>
              </a:rPr>
              <a:t>Vibraciones</a:t>
            </a:r>
            <a:r>
              <a:rPr lang="es-MX" sz="2000" dirty="0">
                <a:solidFill>
                  <a:schemeClr val="tx1"/>
                </a:solidFill>
                <a:effectLst/>
                <a:latin typeface="Century Gothic" panose="020B0502020202020204" pitchFamily="34" charset="0"/>
              </a:rPr>
              <a:t>. La frecuencia de resonancia de una horquilla o de un cilindro en el seno del  fluido indica la densidad, mientras que la amplitud de la vibración es inversamente proporcional a la viscosidad. El sistema electrónico asociado mantiene la vibración en la frecuencia de resonancia. </a:t>
            </a:r>
            <a:r>
              <a:rPr lang="es-MX" sz="2000" dirty="0">
                <a:solidFill>
                  <a:schemeClr val="tx1"/>
                </a:solidFill>
                <a:effectLst/>
                <a:latin typeface="Century Gothic" panose="020B0502020202020204" pitchFamily="34" charset="0"/>
              </a:rPr>
              <a:t>La temperatura del  fluido abarca desde -40 °C a +150 °C.</a:t>
            </a:r>
            <a:r>
              <a:rPr lang="es-MX" dirty="0">
                <a:effectLst/>
              </a:rPr>
              <a:t/>
            </a:r>
            <a:br>
              <a:rPr lang="es-MX" dirty="0">
                <a:effectLst/>
              </a:rPr>
            </a:br>
            <a:r>
              <a:rPr lang="es-MX" dirty="0" smtClean="0">
                <a:effectLst/>
              </a:rPr>
              <a:t/>
            </a:r>
            <a:br>
              <a:rPr lang="es-MX" dirty="0" smtClean="0">
                <a:effectLst/>
              </a:rPr>
            </a:br>
            <a:endParaRPr lang="es-MX" dirty="0"/>
          </a:p>
        </p:txBody>
      </p:sp>
      <p:grpSp>
        <p:nvGrpSpPr>
          <p:cNvPr id="3" name="Group 4186"/>
          <p:cNvGrpSpPr/>
          <p:nvPr/>
        </p:nvGrpSpPr>
        <p:grpSpPr>
          <a:xfrm>
            <a:off x="2447764" y="1988840"/>
            <a:ext cx="4248472" cy="4176464"/>
            <a:chOff x="0" y="526"/>
            <a:chExt cx="2427095" cy="3093906"/>
          </a:xfrm>
        </p:grpSpPr>
        <p:sp>
          <p:nvSpPr>
            <p:cNvPr id="5" name="Rectangle 437"/>
            <p:cNvSpPr/>
            <p:nvPr/>
          </p:nvSpPr>
          <p:spPr>
            <a:xfrm>
              <a:off x="969440" y="526"/>
              <a:ext cx="1457655" cy="123886"/>
            </a:xfrm>
            <a:prstGeom prst="rect">
              <a:avLst/>
            </a:prstGeom>
            <a:ln>
              <a:noFill/>
            </a:ln>
          </p:spPr>
          <p:txBody>
            <a:bodyPr vert="horz" lIns="0" tIns="0" rIns="0" bIns="0" rtlCol="0">
              <a:noAutofit/>
            </a:bodyPr>
            <a:lstStyle/>
            <a:p>
              <a:pPr marL="6350" marR="1905" indent="-6350" algn="l">
                <a:lnSpc>
                  <a:spcPct val="107000"/>
                </a:lnSpc>
                <a:spcAft>
                  <a:spcPts val="800"/>
                </a:spcAft>
              </a:pPr>
              <a:endParaRPr lang="es-MX" sz="1000" dirty="0">
                <a:solidFill>
                  <a:srgbClr val="221F1F"/>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6" name="Picture 4912"/>
            <p:cNvPicPr/>
            <p:nvPr/>
          </p:nvPicPr>
          <p:blipFill>
            <a:blip r:embed="rId2"/>
            <a:stretch>
              <a:fillRect/>
            </a:stretch>
          </p:blipFill>
          <p:spPr>
            <a:xfrm>
              <a:off x="0" y="781000"/>
              <a:ext cx="2392680" cy="23134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Shape 441"/>
            <p:cNvSpPr/>
            <p:nvPr/>
          </p:nvSpPr>
          <p:spPr>
            <a:xfrm>
              <a:off x="0" y="103615"/>
              <a:ext cx="1200341" cy="2322703"/>
            </a:xfrm>
            <a:custGeom>
              <a:avLst/>
              <a:gdLst/>
              <a:ahLst/>
              <a:cxnLst/>
              <a:rect l="0" t="0" r="0" b="0"/>
              <a:pathLst>
                <a:path w="1200341" h="2322703">
                  <a:moveTo>
                    <a:pt x="0" y="0"/>
                  </a:moveTo>
                  <a:lnTo>
                    <a:pt x="1200341" y="0"/>
                  </a:lnTo>
                  <a:lnTo>
                    <a:pt x="1200341" y="12408"/>
                  </a:lnTo>
                  <a:lnTo>
                    <a:pt x="12383" y="12408"/>
                  </a:lnTo>
                  <a:lnTo>
                    <a:pt x="12383" y="2310296"/>
                  </a:lnTo>
                  <a:lnTo>
                    <a:pt x="1200341" y="2310296"/>
                  </a:lnTo>
                  <a:lnTo>
                    <a:pt x="1200341" y="2322703"/>
                  </a:lnTo>
                  <a:lnTo>
                    <a:pt x="0" y="2322703"/>
                  </a:lnTo>
                  <a:lnTo>
                    <a:pt x="0" y="6210"/>
                  </a:lnTo>
                  <a:lnTo>
                    <a:pt x="0" y="0"/>
                  </a:lnTo>
                  <a:close/>
                </a:path>
              </a:pathLst>
            </a:custGeom>
            <a:ln w="0" cap="flat">
              <a:noFill/>
              <a:miter lim="127000"/>
            </a:ln>
          </p:spPr>
          <p:style>
            <a:lnRef idx="0">
              <a:srgbClr val="000000">
                <a:alpha val="0"/>
              </a:srgbClr>
            </a:lnRef>
            <a:fillRef idx="1">
              <a:srgbClr val="221F1F"/>
            </a:fillRef>
            <a:effectRef idx="0">
              <a:scrgbClr r="0" g="0" b="0"/>
            </a:effectRef>
            <a:fontRef idx="none"/>
          </p:style>
          <p:txBody>
            <a:bodyPr/>
            <a:lstStyle/>
            <a:p>
              <a:endParaRPr lang="es-MX"/>
            </a:p>
          </p:txBody>
        </p:sp>
        <p:sp>
          <p:nvSpPr>
            <p:cNvPr id="8" name="Shape 442"/>
            <p:cNvSpPr/>
            <p:nvPr/>
          </p:nvSpPr>
          <p:spPr>
            <a:xfrm>
              <a:off x="1200341" y="103615"/>
              <a:ext cx="1200341" cy="2322703"/>
            </a:xfrm>
            <a:custGeom>
              <a:avLst/>
              <a:gdLst/>
              <a:ahLst/>
              <a:cxnLst/>
              <a:rect l="0" t="0" r="0" b="0"/>
              <a:pathLst>
                <a:path w="1200341" h="2322703">
                  <a:moveTo>
                    <a:pt x="0" y="0"/>
                  </a:moveTo>
                  <a:lnTo>
                    <a:pt x="1200341" y="0"/>
                  </a:lnTo>
                  <a:lnTo>
                    <a:pt x="1200341" y="2322703"/>
                  </a:lnTo>
                  <a:lnTo>
                    <a:pt x="0" y="2322703"/>
                  </a:lnTo>
                  <a:lnTo>
                    <a:pt x="0" y="2310296"/>
                  </a:lnTo>
                  <a:lnTo>
                    <a:pt x="1187958" y="2310296"/>
                  </a:lnTo>
                  <a:lnTo>
                    <a:pt x="1187958" y="12408"/>
                  </a:lnTo>
                  <a:lnTo>
                    <a:pt x="0" y="12408"/>
                  </a:lnTo>
                  <a:lnTo>
                    <a:pt x="0" y="0"/>
                  </a:lnTo>
                  <a:close/>
                </a:path>
              </a:pathLst>
            </a:custGeom>
            <a:ln w="0" cap="flat">
              <a:noFill/>
              <a:miter lim="127000"/>
            </a:ln>
          </p:spPr>
          <p:style>
            <a:lnRef idx="0">
              <a:srgbClr val="000000">
                <a:alpha val="0"/>
              </a:srgbClr>
            </a:lnRef>
            <a:fillRef idx="1">
              <a:srgbClr val="221F1F"/>
            </a:fillRef>
            <a:effectRef idx="0">
              <a:scrgbClr r="0" g="0" b="0"/>
            </a:effectRef>
            <a:fontRef idx="none"/>
          </p:style>
          <p:txBody>
            <a:bodyPr/>
            <a:lstStyle/>
            <a:p>
              <a:endParaRPr lang="es-MX"/>
            </a:p>
          </p:txBody>
        </p:sp>
      </p:grpSp>
    </p:spTree>
    <p:extLst>
      <p:ext uri="{BB962C8B-B14F-4D97-AF65-F5344CB8AC3E}">
        <p14:creationId xmlns:p14="http://schemas.microsoft.com/office/powerpoint/2010/main" val="85370332"/>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7375" y="332656"/>
            <a:ext cx="8382000" cy="664797"/>
          </a:xfrm>
        </p:spPr>
        <p:txBody>
          <a:bodyPr/>
          <a:lstStyle/>
          <a:p>
            <a:r>
              <a:rPr lang="es-MX" dirty="0" smtClean="0"/>
              <a:t>Métodos de medición</a:t>
            </a:r>
            <a:endParaRPr lang="es-MX" dirty="0"/>
          </a:p>
        </p:txBody>
      </p:sp>
      <p:sp>
        <p:nvSpPr>
          <p:cNvPr id="3" name="CuadroTexto 2"/>
          <p:cNvSpPr txBox="1"/>
          <p:nvPr/>
        </p:nvSpPr>
        <p:spPr>
          <a:xfrm>
            <a:off x="257573" y="993613"/>
            <a:ext cx="8712968" cy="5693866"/>
          </a:xfrm>
          <a:prstGeom prst="rect">
            <a:avLst/>
          </a:prstGeom>
          <a:noFill/>
        </p:spPr>
        <p:txBody>
          <a:bodyPr wrap="square" rtlCol="0">
            <a:spAutoFit/>
          </a:bodyPr>
          <a:lstStyle/>
          <a:p>
            <a:pPr marL="285750" indent="-285750">
              <a:buFont typeface="Wingdings" panose="05000000000000000000" pitchFamily="2" charset="2"/>
              <a:buChar char="v"/>
            </a:pPr>
            <a:r>
              <a:rPr lang="es-MX" sz="2400" b="1" dirty="0">
                <a:latin typeface="Century Gothic" panose="020B0502020202020204" pitchFamily="34" charset="0"/>
              </a:rPr>
              <a:t>Viscosímetro de tubo </a:t>
            </a:r>
            <a:r>
              <a:rPr lang="es-MX" sz="2400" b="1" dirty="0" smtClean="0">
                <a:latin typeface="Century Gothic" panose="020B0502020202020204" pitchFamily="34" charset="0"/>
              </a:rPr>
              <a:t>capilar</a:t>
            </a:r>
          </a:p>
          <a:p>
            <a:endParaRPr lang="es-MX" sz="2000" dirty="0" smtClean="0">
              <a:latin typeface="Century Gothic" panose="020B0502020202020204" pitchFamily="34" charset="0"/>
            </a:endParaRPr>
          </a:p>
          <a:p>
            <a:pPr algn="just"/>
            <a:r>
              <a:rPr lang="es-MX" sz="2000" dirty="0">
                <a:latin typeface="Century Gothic" panose="020B0502020202020204" pitchFamily="34" charset="0"/>
              </a:rPr>
              <a:t>En este método se hace una medición del tiempo necesario para que cierta cantidad de fluido pase </a:t>
            </a:r>
            <a:r>
              <a:rPr lang="es-MX" sz="2000" dirty="0" smtClean="0">
                <a:latin typeface="Century Gothic" panose="020B0502020202020204" pitchFamily="34" charset="0"/>
              </a:rPr>
              <a:t>por un </a:t>
            </a:r>
            <a:r>
              <a:rPr lang="es-MX" sz="2000" dirty="0">
                <a:latin typeface="Century Gothic" panose="020B0502020202020204" pitchFamily="34" charset="0"/>
              </a:rPr>
              <a:t>tubo capilar (o de calibre pequeño) de longitud y diámetros conocidos, bajo una diferencia medida </a:t>
            </a:r>
            <a:r>
              <a:rPr lang="es-MX" sz="2000" dirty="0" smtClean="0">
                <a:latin typeface="Century Gothic" panose="020B0502020202020204" pitchFamily="34" charset="0"/>
              </a:rPr>
              <a:t>y constante </a:t>
            </a:r>
            <a:r>
              <a:rPr lang="es-MX" sz="2000" dirty="0">
                <a:latin typeface="Century Gothic" panose="020B0502020202020204" pitchFamily="34" charset="0"/>
              </a:rPr>
              <a:t>de presiones. Se puede aplicar la ley de </a:t>
            </a:r>
            <a:r>
              <a:rPr lang="es-MX" sz="2000" dirty="0" smtClean="0">
                <a:latin typeface="Century Gothic" panose="020B0502020202020204" pitchFamily="34" charset="0"/>
              </a:rPr>
              <a:t>Hagen-</a:t>
            </a:r>
            <a:r>
              <a:rPr lang="es-MX" sz="2000" dirty="0" err="1" smtClean="0">
                <a:latin typeface="Century Gothic" panose="020B0502020202020204" pitchFamily="34" charset="0"/>
              </a:rPr>
              <a:t>Poiseuille</a:t>
            </a:r>
            <a:r>
              <a:rPr lang="es-MX" sz="2000" dirty="0">
                <a:latin typeface="Century Gothic" panose="020B0502020202020204" pitchFamily="34" charset="0"/>
              </a:rPr>
              <a:t>, en el caso de que el flujo sea</a:t>
            </a:r>
          </a:p>
          <a:p>
            <a:pPr algn="just"/>
            <a:r>
              <a:rPr lang="es-MX" sz="2000" dirty="0" smtClean="0">
                <a:latin typeface="Century Gothic" panose="020B0502020202020204" pitchFamily="34" charset="0"/>
              </a:rPr>
              <a:t>laminar,</a:t>
            </a:r>
            <a:r>
              <a:rPr lang="es-MX" sz="2000" dirty="0">
                <a:latin typeface="Century Gothic" panose="020B0502020202020204" pitchFamily="34" charset="0"/>
              </a:rPr>
              <a:t> para calcular la viscosidad</a:t>
            </a:r>
            <a:r>
              <a:rPr lang="es-MX" sz="2000" dirty="0" smtClean="0">
                <a:latin typeface="Century Gothic" panose="020B0502020202020204" pitchFamily="34" charset="0"/>
              </a:rPr>
              <a:t>, µ</a:t>
            </a:r>
            <a:r>
              <a:rPr lang="es-MX" sz="2000" dirty="0">
                <a:latin typeface="Century Gothic" panose="020B0502020202020204" pitchFamily="34" charset="0"/>
              </a:rPr>
              <a:t> </a:t>
            </a:r>
            <a:r>
              <a:rPr lang="es-MX" sz="2000" dirty="0" smtClean="0">
                <a:latin typeface="Century Gothic" panose="020B0502020202020204" pitchFamily="34" charset="0"/>
              </a:rPr>
              <a:t>. </a:t>
            </a:r>
          </a:p>
          <a:p>
            <a:pPr algn="just"/>
            <a:endParaRPr lang="es-MX" sz="2000" dirty="0"/>
          </a:p>
          <a:p>
            <a:endParaRPr lang="es-MX" sz="2000" dirty="0" smtClean="0">
              <a:latin typeface="Century Gothic" panose="020B0502020202020204" pitchFamily="34" charset="0"/>
            </a:endParaRPr>
          </a:p>
          <a:p>
            <a:endParaRPr lang="es-MX" sz="2000" dirty="0">
              <a:latin typeface="Century Gothic" panose="020B0502020202020204" pitchFamily="34" charset="0"/>
            </a:endParaRPr>
          </a:p>
          <a:p>
            <a:endParaRPr lang="es-MX" sz="2000" dirty="0" smtClean="0">
              <a:latin typeface="Century Gothic" panose="020B0502020202020204" pitchFamily="34" charset="0"/>
            </a:endParaRPr>
          </a:p>
          <a:p>
            <a:endParaRPr lang="es-MX" sz="2000" dirty="0">
              <a:latin typeface="Century Gothic" panose="020B0502020202020204" pitchFamily="34" charset="0"/>
            </a:endParaRPr>
          </a:p>
          <a:p>
            <a:endParaRPr lang="es-MX" sz="2000" dirty="0" smtClean="0">
              <a:latin typeface="Century Gothic" panose="020B0502020202020204" pitchFamily="34" charset="0"/>
            </a:endParaRPr>
          </a:p>
          <a:p>
            <a:endParaRPr lang="es-MX" sz="2000" dirty="0">
              <a:latin typeface="Century Gothic" panose="020B0502020202020204" pitchFamily="34" charset="0"/>
            </a:endParaRPr>
          </a:p>
          <a:p>
            <a:endParaRPr lang="es-MX" sz="2000" dirty="0" smtClean="0">
              <a:latin typeface="Century Gothic" panose="020B0502020202020204" pitchFamily="34" charset="0"/>
            </a:endParaRPr>
          </a:p>
          <a:p>
            <a:endParaRPr lang="es-MX" sz="2000" dirty="0">
              <a:latin typeface="Century Gothic" panose="020B0502020202020204" pitchFamily="34" charset="0"/>
            </a:endParaRPr>
          </a:p>
          <a:p>
            <a:endParaRPr lang="es-MX" sz="2000" dirty="0" smtClean="0">
              <a:latin typeface="Century Gothic" panose="020B0502020202020204" pitchFamily="34" charset="0"/>
            </a:endParaRPr>
          </a:p>
        </p:txBody>
      </p:sp>
      <p:pic>
        <p:nvPicPr>
          <p:cNvPr id="4" name="Imagen 3"/>
          <p:cNvPicPr>
            <a:picLocks noChangeAspect="1"/>
          </p:cNvPicPr>
          <p:nvPr/>
        </p:nvPicPr>
        <p:blipFill rotWithShape="1">
          <a:blip r:embed="rId2"/>
          <a:srcRect l="44487" t="36000" r="44488" b="59800"/>
          <a:stretch/>
        </p:blipFill>
        <p:spPr>
          <a:xfrm>
            <a:off x="467544" y="3953666"/>
            <a:ext cx="2016224" cy="432048"/>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024" y="4204495"/>
            <a:ext cx="4058216" cy="23053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673798947"/>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79512" y="404664"/>
            <a:ext cx="8856984" cy="2739211"/>
          </a:xfrm>
          <a:prstGeom prst="rect">
            <a:avLst/>
          </a:prstGeom>
          <a:noFill/>
        </p:spPr>
        <p:txBody>
          <a:bodyPr wrap="square" rtlCol="0">
            <a:spAutoFit/>
          </a:bodyPr>
          <a:lstStyle/>
          <a:p>
            <a:pPr marL="342900" indent="-342900">
              <a:buFont typeface="Wingdings" panose="05000000000000000000" pitchFamily="2" charset="2"/>
              <a:buChar char="v"/>
            </a:pPr>
            <a:r>
              <a:rPr lang="es-MX" sz="2400" b="1" dirty="0"/>
              <a:t>Viscosímetro giratorio de </a:t>
            </a:r>
            <a:r>
              <a:rPr lang="es-MX" sz="2400" b="1" dirty="0" err="1" smtClean="0"/>
              <a:t>Couette</a:t>
            </a:r>
            <a:endParaRPr lang="es-MX" sz="2400" b="1" dirty="0" smtClean="0"/>
          </a:p>
          <a:p>
            <a:pPr marL="342900" indent="-342900" algn="just">
              <a:buFont typeface="Wingdings" panose="05000000000000000000" pitchFamily="2" charset="2"/>
              <a:buChar char="v"/>
            </a:pPr>
            <a:endParaRPr lang="es-MX" sz="2000" b="1" dirty="0">
              <a:latin typeface="Century Gothic" panose="020B0502020202020204" pitchFamily="34" charset="0"/>
            </a:endParaRPr>
          </a:p>
          <a:p>
            <a:pPr algn="just"/>
            <a:r>
              <a:rPr lang="es-MX" sz="2000" dirty="0" smtClean="0">
                <a:latin typeface="Century Gothic" panose="020B0502020202020204" pitchFamily="34" charset="0"/>
              </a:rPr>
              <a:t>El </a:t>
            </a:r>
            <a:r>
              <a:rPr lang="es-MX" sz="2000" dirty="0">
                <a:latin typeface="Century Gothic" panose="020B0502020202020204" pitchFamily="34" charset="0"/>
              </a:rPr>
              <a:t>fluido que se debe comprobar se pone en </a:t>
            </a:r>
            <a:r>
              <a:rPr lang="es-MX" sz="2000" dirty="0" smtClean="0">
                <a:latin typeface="Century Gothic" panose="020B0502020202020204" pitchFamily="34" charset="0"/>
              </a:rPr>
              <a:t>el espacio </a:t>
            </a:r>
            <a:r>
              <a:rPr lang="es-MX" sz="2000" dirty="0">
                <a:latin typeface="Century Gothic" panose="020B0502020202020204" pitchFamily="34" charset="0"/>
              </a:rPr>
              <a:t>anular entre dos </a:t>
            </a:r>
            <a:r>
              <a:rPr lang="es-MX" sz="2000" dirty="0" smtClean="0">
                <a:latin typeface="Century Gothic" panose="020B0502020202020204" pitchFamily="34" charset="0"/>
              </a:rPr>
              <a:t>cilindros</a:t>
            </a:r>
            <a:r>
              <a:rPr lang="es-MX" sz="2000" dirty="0">
                <a:latin typeface="Century Gothic" panose="020B0502020202020204" pitchFamily="34" charset="0"/>
              </a:rPr>
              <a:t> </a:t>
            </a:r>
            <a:r>
              <a:rPr lang="es-MX" sz="2000" dirty="0" smtClean="0">
                <a:latin typeface="Century Gothic" panose="020B0502020202020204" pitchFamily="34" charset="0"/>
              </a:rPr>
              <a:t>circulares concéntricos</a:t>
            </a:r>
            <a:r>
              <a:rPr lang="es-MX" sz="2000" dirty="0">
                <a:latin typeface="Century Gothic" panose="020B0502020202020204" pitchFamily="34" charset="0"/>
              </a:rPr>
              <a:t>. Se hace girar </a:t>
            </a:r>
            <a:r>
              <a:rPr lang="es-MX" sz="2000" dirty="0" smtClean="0">
                <a:latin typeface="Century Gothic" panose="020B0502020202020204" pitchFamily="34" charset="0"/>
              </a:rPr>
              <a:t>un</a:t>
            </a:r>
            <a:r>
              <a:rPr lang="es-MX" sz="2000" dirty="0">
                <a:latin typeface="Century Gothic" panose="020B0502020202020204" pitchFamily="34" charset="0"/>
              </a:rPr>
              <a:t> cilindro con </a:t>
            </a:r>
            <a:r>
              <a:rPr lang="es-MX" sz="2000" dirty="0" smtClean="0">
                <a:latin typeface="Century Gothic" panose="020B0502020202020204" pitchFamily="34" charset="0"/>
              </a:rPr>
              <a:t>respecto al </a:t>
            </a:r>
            <a:r>
              <a:rPr lang="es-MX" sz="2000" dirty="0">
                <a:latin typeface="Century Gothic" panose="020B0502020202020204" pitchFamily="34" charset="0"/>
              </a:rPr>
              <a:t>otro. Las mediciones </a:t>
            </a:r>
            <a:r>
              <a:rPr lang="es-MX" sz="2000" dirty="0" smtClean="0">
                <a:latin typeface="Century Gothic" panose="020B0502020202020204" pitchFamily="34" charset="0"/>
              </a:rPr>
              <a:t>de </a:t>
            </a:r>
            <a:r>
              <a:rPr lang="es-MX" sz="2000" dirty="0">
                <a:latin typeface="Century Gothic" panose="020B0502020202020204" pitchFamily="34" charset="0"/>
              </a:rPr>
              <a:t>momento de torsión </a:t>
            </a:r>
            <a:r>
              <a:rPr lang="es-MX" sz="2000" dirty="0" smtClean="0">
                <a:latin typeface="Century Gothic" panose="020B0502020202020204" pitchFamily="34" charset="0"/>
              </a:rPr>
              <a:t>y gradiente </a:t>
            </a:r>
            <a:r>
              <a:rPr lang="es-MX" sz="2000" dirty="0">
                <a:latin typeface="Century Gothic" panose="020B0502020202020204" pitchFamily="34" charset="0"/>
              </a:rPr>
              <a:t>de </a:t>
            </a:r>
            <a:r>
              <a:rPr lang="es-MX" sz="2000" dirty="0" smtClean="0">
                <a:latin typeface="Century Gothic" panose="020B0502020202020204" pitchFamily="34" charset="0"/>
              </a:rPr>
              <a:t>velocidades </a:t>
            </a:r>
            <a:r>
              <a:rPr lang="es-MX" sz="2000" dirty="0">
                <a:latin typeface="Century Gothic" panose="020B0502020202020204" pitchFamily="34" charset="0"/>
              </a:rPr>
              <a:t>se pueden </a:t>
            </a:r>
            <a:r>
              <a:rPr lang="es-MX" sz="2000" dirty="0" smtClean="0">
                <a:latin typeface="Century Gothic" panose="020B0502020202020204" pitchFamily="34" charset="0"/>
              </a:rPr>
              <a:t>correlacionar con </a:t>
            </a:r>
            <a:r>
              <a:rPr lang="es-MX" sz="2000" dirty="0">
                <a:latin typeface="Century Gothic" panose="020B0502020202020204" pitchFamily="34" charset="0"/>
              </a:rPr>
              <a:t>la </a:t>
            </a:r>
            <a:r>
              <a:rPr lang="es-MX" sz="2000" dirty="0" smtClean="0">
                <a:latin typeface="Century Gothic" panose="020B0502020202020204" pitchFamily="34" charset="0"/>
              </a:rPr>
              <a:t>viscosidad</a:t>
            </a:r>
            <a:r>
              <a:rPr lang="es-MX" sz="2000" dirty="0">
                <a:latin typeface="Century Gothic" panose="020B0502020202020204" pitchFamily="34" charset="0"/>
              </a:rPr>
              <a:t>, como se hace mediante </a:t>
            </a:r>
            <a:r>
              <a:rPr lang="es-MX" sz="2000" dirty="0" smtClean="0">
                <a:latin typeface="Century Gothic" panose="020B0502020202020204" pitchFamily="34" charset="0"/>
              </a:rPr>
              <a:t>una calibración </a:t>
            </a:r>
            <a:r>
              <a:rPr lang="es-MX" sz="2000" dirty="0">
                <a:latin typeface="Century Gothic" panose="020B0502020202020204" pitchFamily="34" charset="0"/>
              </a:rPr>
              <a:t>con líquidos de viscosidad </a:t>
            </a:r>
            <a:r>
              <a:rPr lang="es-MX" sz="2000" dirty="0" smtClean="0">
                <a:latin typeface="Century Gothic" panose="020B0502020202020204" pitchFamily="34" charset="0"/>
              </a:rPr>
              <a:t>conocida</a:t>
            </a:r>
            <a:r>
              <a:rPr lang="es-MX" sz="2400" dirty="0"/>
              <a:t>.</a:t>
            </a:r>
            <a:endParaRPr lang="es-MX" sz="2400" b="1" dirty="0" smtClean="0"/>
          </a:p>
          <a:p>
            <a:pPr marL="342900" indent="-342900">
              <a:buFont typeface="Wingdings" panose="05000000000000000000" pitchFamily="2" charset="2"/>
              <a:buChar char="v"/>
            </a:pPr>
            <a:endParaRPr lang="es-MX" sz="2400" b="1" dirty="0">
              <a:latin typeface="Century Gothic" panose="020B0502020202020204" pitchFamily="34" charset="0"/>
            </a:endParaRPr>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4029" y="3068960"/>
            <a:ext cx="2647950" cy="3048000"/>
          </a:xfrm>
          <a:prstGeom prst="rect">
            <a:avLst/>
          </a:prstGeom>
          <a:ln>
            <a:noFill/>
          </a:ln>
          <a:effectLst>
            <a:softEdge rad="112500"/>
          </a:effectLst>
        </p:spPr>
      </p:pic>
    </p:spTree>
    <p:extLst>
      <p:ext uri="{BB962C8B-B14F-4D97-AF65-F5344CB8AC3E}">
        <p14:creationId xmlns:p14="http://schemas.microsoft.com/office/powerpoint/2010/main" val="2079878642"/>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l="31495" t="31800" r="28344" b="19201"/>
          <a:stretch/>
        </p:blipFill>
        <p:spPr>
          <a:xfrm>
            <a:off x="107504" y="116632"/>
            <a:ext cx="4511816" cy="3096344"/>
          </a:xfrm>
          <a:prstGeom prst="rect">
            <a:avLst/>
          </a:prstGeom>
        </p:spPr>
      </p:pic>
      <p:pic>
        <p:nvPicPr>
          <p:cNvPr id="5" name="Imagen 4"/>
          <p:cNvPicPr>
            <a:picLocks noChangeAspect="1"/>
          </p:cNvPicPr>
          <p:nvPr/>
        </p:nvPicPr>
        <p:blipFill rotWithShape="1">
          <a:blip r:embed="rId3"/>
          <a:srcRect l="25982" t="27600" r="29131" b="22001"/>
          <a:stretch/>
        </p:blipFill>
        <p:spPr>
          <a:xfrm>
            <a:off x="3923928" y="3356992"/>
            <a:ext cx="5130570" cy="3240360"/>
          </a:xfrm>
          <a:prstGeom prst="rect">
            <a:avLst/>
          </a:prstGeom>
        </p:spPr>
      </p:pic>
    </p:spTree>
    <p:extLst>
      <p:ext uri="{BB962C8B-B14F-4D97-AF65-F5344CB8AC3E}">
        <p14:creationId xmlns:p14="http://schemas.microsoft.com/office/powerpoint/2010/main" val="734903805"/>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MX" dirty="0" smtClean="0"/>
              <a:t>Ley de Stokes</a:t>
            </a:r>
            <a:endParaRPr lang="es-MX" dirty="0"/>
          </a:p>
        </p:txBody>
      </p:sp>
      <p:sp>
        <p:nvSpPr>
          <p:cNvPr id="3" name="Subtítulo 2"/>
          <p:cNvSpPr>
            <a:spLocks noGrp="1"/>
          </p:cNvSpPr>
          <p:nvPr>
            <p:ph type="subTitle" idx="1"/>
          </p:nvPr>
        </p:nvSpPr>
        <p:spPr/>
        <p:txBody>
          <a:bodyPr/>
          <a:lstStyle/>
          <a:p>
            <a:endParaRPr lang="es-MX"/>
          </a:p>
        </p:txBody>
      </p:sp>
    </p:spTree>
    <p:extLst>
      <p:ext uri="{BB962C8B-B14F-4D97-AF65-F5344CB8AC3E}">
        <p14:creationId xmlns:p14="http://schemas.microsoft.com/office/powerpoint/2010/main" val="239357106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MX"/>
          </a:p>
        </p:txBody>
      </p:sp>
      <p:sp>
        <p:nvSpPr>
          <p:cNvPr id="3" name="Marcador de contenido 2"/>
          <p:cNvSpPr>
            <a:spLocks noGrp="1"/>
          </p:cNvSpPr>
          <p:nvPr>
            <p:ph idx="1"/>
          </p:nvPr>
        </p:nvSpPr>
        <p:spPr>
          <a:xfrm>
            <a:off x="323528" y="1772816"/>
            <a:ext cx="8382000" cy="2210862"/>
          </a:xfrm>
        </p:spPr>
        <p:txBody>
          <a:bodyPr>
            <a:noAutofit/>
          </a:bodyPr>
          <a:lstStyle/>
          <a:p>
            <a:pPr marL="0" indent="0" algn="just">
              <a:buNone/>
            </a:pPr>
            <a:r>
              <a:rPr lang="es-MX" sz="2000" dirty="0">
                <a:latin typeface="Century Gothic" panose="020B0502020202020204" pitchFamily="34" charset="0"/>
              </a:rPr>
              <a:t>Expresión que se conoce como la ley de Stokes, en honor al físico irlandés Sir George Stokes(1819-1903), que la dedujo por primera vez en 1845. </a:t>
            </a:r>
          </a:p>
          <a:p>
            <a:pPr marL="0" indent="0" algn="just">
              <a:buNone/>
            </a:pPr>
            <a:endParaRPr lang="es-MX" sz="2000" dirty="0" smtClean="0">
              <a:latin typeface="Century Gothic" panose="020B0502020202020204" pitchFamily="34" charset="0"/>
            </a:endParaRPr>
          </a:p>
          <a:p>
            <a:pPr marL="0" indent="0" algn="just">
              <a:buNone/>
            </a:pPr>
            <a:r>
              <a:rPr lang="es-MX" sz="2000" dirty="0" smtClean="0">
                <a:latin typeface="Century Gothic" panose="020B0502020202020204" pitchFamily="34" charset="0"/>
              </a:rPr>
              <a:t>Esta </a:t>
            </a:r>
            <a:r>
              <a:rPr lang="es-MX" sz="2000" dirty="0">
                <a:latin typeface="Century Gothic" panose="020B0502020202020204" pitchFamily="34" charset="0"/>
              </a:rPr>
              <a:t>ley establece que la fuerza de rozamiento que se opone al movimiento de una esfera a través de un fluido, cuando Re&lt;1, es proporcional a la viscosidad del fluido, al diámetro de la esfera y a la velocidad de la misma en el seno del fluido.</a:t>
            </a:r>
            <a:endParaRPr lang="es-MX" sz="2000" dirty="0">
              <a:latin typeface="Century Gothic" panose="020B0502020202020204" pitchFamily="34" charset="0"/>
            </a:endParaRPr>
          </a:p>
        </p:txBody>
      </p:sp>
    </p:spTree>
    <p:extLst>
      <p:ext uri="{BB962C8B-B14F-4D97-AF65-F5344CB8AC3E}">
        <p14:creationId xmlns:p14="http://schemas.microsoft.com/office/powerpoint/2010/main" val="225904772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MX"/>
          </a:p>
        </p:txBody>
      </p:sp>
      <p:sp>
        <p:nvSpPr>
          <p:cNvPr id="3" name="Marcador de contenido 2"/>
          <p:cNvSpPr>
            <a:spLocks noGrp="1"/>
          </p:cNvSpPr>
          <p:nvPr>
            <p:ph idx="1"/>
          </p:nvPr>
        </p:nvSpPr>
        <p:spPr>
          <a:xfrm>
            <a:off x="285750" y="1916906"/>
            <a:ext cx="8606730" cy="1926681"/>
          </a:xfrm>
        </p:spPr>
        <p:txBody>
          <a:bodyPr/>
          <a:lstStyle/>
          <a:p>
            <a:pPr marL="0" indent="0" algn="just">
              <a:buNone/>
            </a:pPr>
            <a:r>
              <a:rPr lang="es-MX" sz="2000" dirty="0">
                <a:latin typeface="Century Gothic" panose="020B0502020202020204" pitchFamily="34" charset="0"/>
              </a:rPr>
              <a:t>Stokes estudió el flujo de un fluido de una esfera para valores del número de Reynolds (Re = VD</a:t>
            </a:r>
            <a:r>
              <a:rPr lang="el-GR" sz="2000" dirty="0">
                <a:latin typeface="Century Gothic" panose="020B0502020202020204" pitchFamily="34" charset="0"/>
              </a:rPr>
              <a:t>ρ</a:t>
            </a:r>
            <a:r>
              <a:rPr lang="es-MX" sz="2000" dirty="0">
                <a:latin typeface="Century Gothic" panose="020B0502020202020204" pitchFamily="34" charset="0"/>
              </a:rPr>
              <a:t> /</a:t>
            </a:r>
            <a:r>
              <a:rPr lang="el-GR" sz="2000" dirty="0">
                <a:latin typeface="Century Gothic" panose="020B0502020202020204" pitchFamily="34" charset="0"/>
              </a:rPr>
              <a:t> µ )</a:t>
            </a:r>
            <a:r>
              <a:rPr lang="es-MX" sz="2000" dirty="0">
                <a:latin typeface="Century Gothic" panose="020B0502020202020204" pitchFamily="34" charset="0"/>
              </a:rPr>
              <a:t> muy pequeños (de orden 1 o menores) y encontró que la fuera de arrastre ejercida sobre la esfera por el flujo del fluido alrededor de ella vale:</a:t>
            </a:r>
          </a:p>
          <a:p>
            <a:pPr marL="0" indent="0">
              <a:buNone/>
            </a:pPr>
            <a:endParaRPr lang="es-MX" dirty="0"/>
          </a:p>
        </p:txBody>
      </p:sp>
      <p:pic>
        <p:nvPicPr>
          <p:cNvPr id="5" name="Imagen 4"/>
          <p:cNvPicPr>
            <a:picLocks noChangeAspect="1"/>
          </p:cNvPicPr>
          <p:nvPr/>
        </p:nvPicPr>
        <p:blipFill rotWithShape="1">
          <a:blip r:embed="rId2"/>
          <a:srcRect l="12403" t="49162" r="49683" b="25239"/>
          <a:stretch/>
        </p:blipFill>
        <p:spPr>
          <a:xfrm>
            <a:off x="1763688" y="3501008"/>
            <a:ext cx="6197916" cy="2352830"/>
          </a:xfrm>
          <a:prstGeom prst="rect">
            <a:avLst/>
          </a:prstGeom>
        </p:spPr>
      </p:pic>
    </p:spTree>
    <p:extLst>
      <p:ext uri="{BB962C8B-B14F-4D97-AF65-F5344CB8AC3E}">
        <p14:creationId xmlns:p14="http://schemas.microsoft.com/office/powerpoint/2010/main" val="338408563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95536" y="1916832"/>
            <a:ext cx="8382000" cy="3096344"/>
          </a:xfrm>
        </p:spPr>
        <p:txBody>
          <a:bodyPr>
            <a:noAutofit/>
          </a:bodyPr>
          <a:lstStyle/>
          <a:p>
            <a:pPr marL="0" indent="0" algn="just">
              <a:buNone/>
            </a:pPr>
            <a:r>
              <a:rPr lang="es-MX" sz="2000" dirty="0">
                <a:latin typeface="Century Gothic" panose="020B0502020202020204" pitchFamily="34" charset="0"/>
              </a:rPr>
              <a:t>Al caer una esfera de un fluido en reposo, debe tenerse en cuenta que al alcanzar una velocidad de caída constante, la fuerza de empuje hidrostática más la fuerza de arrastre o resistencia debe ser igual al peso, es decir:</a:t>
            </a:r>
          </a:p>
          <a:p>
            <a:pPr marL="0" indent="0" algn="just">
              <a:buNone/>
            </a:pPr>
            <a:r>
              <a:rPr lang="es-MX" sz="2000" dirty="0">
                <a:latin typeface="Century Gothic" panose="020B0502020202020204" pitchFamily="34" charset="0"/>
              </a:rPr>
              <a:t> </a:t>
            </a:r>
            <a:r>
              <a:rPr lang="es-MX" sz="2000" dirty="0">
                <a:latin typeface="Century Gothic" panose="020B0502020202020204" pitchFamily="34" charset="0"/>
              </a:rPr>
              <a:t>                                 W= R + E</a:t>
            </a:r>
          </a:p>
          <a:p>
            <a:pPr marL="0" indent="0" algn="just">
              <a:buNone/>
            </a:pPr>
            <a:endParaRPr lang="es-MX" sz="2000" dirty="0" smtClean="0">
              <a:latin typeface="Century Gothic" panose="020B0502020202020204" pitchFamily="34" charset="0"/>
            </a:endParaRPr>
          </a:p>
          <a:p>
            <a:pPr marL="0" indent="0" algn="just">
              <a:buNone/>
            </a:pPr>
            <a:endParaRPr lang="es-MX" sz="2000" dirty="0" smtClean="0">
              <a:latin typeface="Century Gothic" panose="020B0502020202020204" pitchFamily="34" charset="0"/>
            </a:endParaRPr>
          </a:p>
          <a:p>
            <a:pPr marL="0" indent="0" algn="just">
              <a:buNone/>
            </a:pPr>
            <a:r>
              <a:rPr lang="es-MX" sz="2000" dirty="0" smtClean="0">
                <a:latin typeface="Century Gothic" panose="020B0502020202020204" pitchFamily="34" charset="0"/>
              </a:rPr>
              <a:t>Donde</a:t>
            </a:r>
            <a:r>
              <a:rPr lang="es-MX" sz="2000" dirty="0">
                <a:latin typeface="Century Gothic" panose="020B0502020202020204" pitchFamily="34" charset="0"/>
              </a:rPr>
              <a:t>:</a:t>
            </a:r>
          </a:p>
          <a:p>
            <a:pPr marL="0" indent="0" algn="just">
              <a:buNone/>
            </a:pPr>
            <a:r>
              <a:rPr lang="es-MX" sz="2000" dirty="0">
                <a:latin typeface="Century Gothic" panose="020B0502020202020204" pitchFamily="34" charset="0"/>
              </a:rPr>
              <a:t> </a:t>
            </a:r>
            <a:r>
              <a:rPr lang="es-MX" sz="2000" dirty="0">
                <a:latin typeface="Century Gothic" panose="020B0502020202020204" pitchFamily="34" charset="0"/>
              </a:rPr>
              <a:t>W: Peso del cuerpo</a:t>
            </a:r>
          </a:p>
          <a:p>
            <a:pPr marL="0" indent="0" algn="just">
              <a:buNone/>
            </a:pPr>
            <a:r>
              <a:rPr lang="es-MX" sz="2000" dirty="0">
                <a:latin typeface="Century Gothic" panose="020B0502020202020204" pitchFamily="34" charset="0"/>
              </a:rPr>
              <a:t> R: Fuerza viscosa resistente</a:t>
            </a:r>
          </a:p>
          <a:p>
            <a:pPr marL="0" indent="0" algn="just">
              <a:buNone/>
            </a:pPr>
            <a:r>
              <a:rPr lang="es-MX" sz="2000" dirty="0">
                <a:latin typeface="Century Gothic" panose="020B0502020202020204" pitchFamily="34" charset="0"/>
              </a:rPr>
              <a:t> </a:t>
            </a:r>
            <a:r>
              <a:rPr lang="es-MX" sz="2000" dirty="0">
                <a:latin typeface="Century Gothic" panose="020B0502020202020204" pitchFamily="34" charset="0"/>
              </a:rPr>
              <a:t>E: Empuje de </a:t>
            </a:r>
            <a:r>
              <a:rPr lang="es-MX" sz="2000" dirty="0" err="1">
                <a:latin typeface="Century Gothic" panose="020B0502020202020204" pitchFamily="34" charset="0"/>
              </a:rPr>
              <a:t>arquimedes</a:t>
            </a:r>
            <a:r>
              <a:rPr lang="es-MX" sz="2000" dirty="0">
                <a:latin typeface="Century Gothic" panose="020B0502020202020204" pitchFamily="34" charset="0"/>
              </a:rPr>
              <a:t>  </a:t>
            </a:r>
            <a:endParaRPr lang="es-MX" sz="2000" dirty="0">
              <a:latin typeface="Century Gothic" panose="020B0502020202020204" pitchFamily="34" charset="0"/>
            </a:endParaRPr>
          </a:p>
        </p:txBody>
      </p:sp>
    </p:spTree>
    <p:extLst>
      <p:ext uri="{BB962C8B-B14F-4D97-AF65-F5344CB8AC3E}">
        <p14:creationId xmlns:p14="http://schemas.microsoft.com/office/powerpoint/2010/main" val="256432340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MX"/>
          </a:p>
        </p:txBody>
      </p:sp>
      <p:pic>
        <p:nvPicPr>
          <p:cNvPr id="4" name="Marcador de contenido 3"/>
          <p:cNvPicPr>
            <a:picLocks noGrp="1" noChangeAspect="1"/>
          </p:cNvPicPr>
          <p:nvPr>
            <p:ph idx="1"/>
          </p:nvPr>
        </p:nvPicPr>
        <p:blipFill rotWithShape="1">
          <a:blip r:embed="rId2"/>
          <a:srcRect l="8408" t="20062" r="47503" b="54824"/>
          <a:stretch/>
        </p:blipFill>
        <p:spPr>
          <a:xfrm>
            <a:off x="300016" y="1772816"/>
            <a:ext cx="8543967" cy="2736304"/>
          </a:xfrm>
          <a:prstGeom prst="rect">
            <a:avLst/>
          </a:prstGeom>
        </p:spPr>
      </p:pic>
    </p:spTree>
    <p:extLst>
      <p:ext uri="{BB962C8B-B14F-4D97-AF65-F5344CB8AC3E}">
        <p14:creationId xmlns:p14="http://schemas.microsoft.com/office/powerpoint/2010/main" val="180004987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MX"/>
          </a:p>
        </p:txBody>
      </p:sp>
      <p:sp>
        <p:nvSpPr>
          <p:cNvPr id="3" name="Marcador de contenido 2"/>
          <p:cNvSpPr>
            <a:spLocks noGrp="1"/>
          </p:cNvSpPr>
          <p:nvPr>
            <p:ph idx="1"/>
          </p:nvPr>
        </p:nvSpPr>
        <p:spPr>
          <a:xfrm>
            <a:off x="285750" y="1916906"/>
            <a:ext cx="6286500" cy="818686"/>
          </a:xfrm>
        </p:spPr>
        <p:txBody>
          <a:bodyPr/>
          <a:lstStyle/>
          <a:p>
            <a:pPr marL="0" indent="0">
              <a:buNone/>
            </a:pPr>
            <a:r>
              <a:rPr lang="es-MX" sz="2000" dirty="0">
                <a:latin typeface="Century Gothic" panose="020B0502020202020204" pitchFamily="34" charset="0"/>
              </a:rPr>
              <a:t>Sustituyendo</a:t>
            </a:r>
          </a:p>
          <a:p>
            <a:pPr marL="0" indent="0">
              <a:buNone/>
            </a:pPr>
            <a:r>
              <a:rPr lang="es-MX" dirty="0"/>
              <a:t> </a:t>
            </a:r>
          </a:p>
        </p:txBody>
      </p:sp>
      <p:pic>
        <p:nvPicPr>
          <p:cNvPr id="4" name="Imagen 3"/>
          <p:cNvPicPr>
            <a:picLocks noChangeAspect="1"/>
          </p:cNvPicPr>
          <p:nvPr/>
        </p:nvPicPr>
        <p:blipFill rotWithShape="1">
          <a:blip r:embed="rId2"/>
          <a:srcRect l="8571" t="13110" r="49433" b="23018"/>
          <a:stretch/>
        </p:blipFill>
        <p:spPr>
          <a:xfrm>
            <a:off x="2915816" y="1340768"/>
            <a:ext cx="5305220" cy="4536504"/>
          </a:xfrm>
          <a:prstGeom prst="rect">
            <a:avLst/>
          </a:prstGeom>
        </p:spPr>
      </p:pic>
    </p:spTree>
    <p:extLst>
      <p:ext uri="{BB962C8B-B14F-4D97-AF65-F5344CB8AC3E}">
        <p14:creationId xmlns:p14="http://schemas.microsoft.com/office/powerpoint/2010/main" val="205654905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Viscosímetro de caída bola</a:t>
            </a:r>
            <a:endParaRPr lang="es-MX" dirty="0"/>
          </a:p>
        </p:txBody>
      </p:sp>
      <p:pic>
        <p:nvPicPr>
          <p:cNvPr id="1026" name="Picture 2" descr="U14260: Viscosímetro de caída de bol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56176" y="3212976"/>
            <a:ext cx="2857500" cy="2857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
        <p:nvSpPr>
          <p:cNvPr id="4" name="CuadroTexto 3"/>
          <p:cNvSpPr txBox="1"/>
          <p:nvPr/>
        </p:nvSpPr>
        <p:spPr>
          <a:xfrm>
            <a:off x="381000" y="1340768"/>
            <a:ext cx="5475249" cy="3785652"/>
          </a:xfrm>
          <a:prstGeom prst="rect">
            <a:avLst/>
          </a:prstGeom>
          <a:noFill/>
        </p:spPr>
        <p:txBody>
          <a:bodyPr wrap="square" rtlCol="0">
            <a:spAutoFit/>
          </a:bodyPr>
          <a:lstStyle/>
          <a:p>
            <a:pPr algn="just"/>
            <a:r>
              <a:rPr lang="es-MX" sz="1600" dirty="0">
                <a:latin typeface="Century Gothic" panose="020B0502020202020204" pitchFamily="34" charset="0"/>
              </a:rPr>
              <a:t>Viscosímetro de caída de bola según </a:t>
            </a:r>
            <a:r>
              <a:rPr lang="es-MX" sz="1600" dirty="0" err="1">
                <a:latin typeface="Century Gothic" panose="020B0502020202020204" pitchFamily="34" charset="0"/>
              </a:rPr>
              <a:t>Höppler</a:t>
            </a:r>
            <a:r>
              <a:rPr lang="es-MX" sz="1600" dirty="0">
                <a:latin typeface="Century Gothic" panose="020B0502020202020204" pitchFamily="34" charset="0"/>
              </a:rPr>
              <a:t> para la medición sencilla y precisa de la viscosidad dinámica de líquidos newtonianos transparentes.</a:t>
            </a:r>
            <a:r>
              <a:rPr lang="es-MX" sz="1600" dirty="0">
                <a:latin typeface="Century Gothic" panose="020B0502020202020204" pitchFamily="34" charset="0"/>
              </a:rPr>
              <a:t/>
            </a:r>
            <a:br>
              <a:rPr lang="es-MX" sz="1600" dirty="0">
                <a:latin typeface="Century Gothic" panose="020B0502020202020204" pitchFamily="34" charset="0"/>
              </a:rPr>
            </a:br>
            <a:r>
              <a:rPr lang="es-MX" sz="1600" dirty="0">
                <a:latin typeface="Century Gothic" panose="020B0502020202020204" pitchFamily="34" charset="0"/>
              </a:rPr>
              <a:t>La bola rueda y se desliza en un tubo de medida cilíndrico inclinado el cual se encuentra lleno del líquido a estudiar. La viscosidad buscada, medida en </a:t>
            </a:r>
            <a:r>
              <a:rPr lang="es-MX" sz="1600" dirty="0" err="1">
                <a:latin typeface="Century Gothic" panose="020B0502020202020204" pitchFamily="34" charset="0"/>
              </a:rPr>
              <a:t>mPa</a:t>
            </a:r>
            <a:r>
              <a:rPr lang="es-MX" sz="1600" dirty="0">
                <a:latin typeface="Century Gothic" panose="020B0502020202020204" pitchFamily="34" charset="0"/>
              </a:rPr>
              <a:t> s, se obtiene directamente del tiempo que necesita la bola para recorrer una distancia bien definida en el tubo de medida. A continuación el tubo se puede ‟poner de cabeza” para medir el tiempo necesario para el retorno de la bola.</a:t>
            </a:r>
            <a:r>
              <a:rPr lang="es-MX" sz="1600" dirty="0">
                <a:latin typeface="Century Gothic" panose="020B0502020202020204" pitchFamily="34" charset="0"/>
              </a:rPr>
              <a:t/>
            </a:r>
            <a:br>
              <a:rPr lang="es-MX" sz="1600" dirty="0">
                <a:latin typeface="Century Gothic" panose="020B0502020202020204" pitchFamily="34" charset="0"/>
              </a:rPr>
            </a:br>
            <a:r>
              <a:rPr lang="es-MX" sz="1600" dirty="0">
                <a:latin typeface="Century Gothic" panose="020B0502020202020204" pitchFamily="34" charset="0"/>
              </a:rPr>
              <a:t>El tubo de medida se encuentra en un baño María, el cual se puede llenar con agua temperada a fin de medir la dependencia de la viscosidad con la temperatura.</a:t>
            </a:r>
          </a:p>
        </p:txBody>
      </p:sp>
    </p:spTree>
    <p:extLst>
      <p:ext uri="{BB962C8B-B14F-4D97-AF65-F5344CB8AC3E}">
        <p14:creationId xmlns:p14="http://schemas.microsoft.com/office/powerpoint/2010/main" val="294200714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85079" y="1141606"/>
            <a:ext cx="8030272" cy="4348367"/>
          </a:xfrm>
        </p:spPr>
        <p:txBody>
          <a:bodyPr>
            <a:normAutofit fontScale="92500" lnSpcReduction="10000"/>
          </a:bodyPr>
          <a:lstStyle/>
          <a:p>
            <a:pPr marL="0" indent="0">
              <a:buNone/>
            </a:pPr>
            <a:r>
              <a:rPr lang="es-MX" sz="2000" b="1" dirty="0">
                <a:latin typeface="Century Gothic" panose="020B0502020202020204" pitchFamily="34" charset="0"/>
              </a:rPr>
              <a:t>DATOS TÉCNICOS</a:t>
            </a:r>
          </a:p>
          <a:p>
            <a:pPr marL="0" indent="0">
              <a:buNone/>
            </a:pPr>
            <a:endParaRPr lang="es-MX" sz="1500" dirty="0">
              <a:latin typeface="Century Gothic" panose="020B0502020202020204" pitchFamily="34" charset="0"/>
            </a:endParaRPr>
          </a:p>
          <a:p>
            <a:pPr marL="0" indent="0">
              <a:buNone/>
            </a:pPr>
            <a:r>
              <a:rPr lang="es-MX" sz="1500" dirty="0">
                <a:latin typeface="Century Gothic" panose="020B0502020202020204" pitchFamily="34" charset="0"/>
              </a:rPr>
              <a:t/>
            </a:r>
            <a:br>
              <a:rPr lang="es-MX" sz="1500" dirty="0">
                <a:latin typeface="Century Gothic" panose="020B0502020202020204" pitchFamily="34" charset="0"/>
              </a:rPr>
            </a:br>
            <a:r>
              <a:rPr lang="es-MX" sz="1800" dirty="0">
                <a:latin typeface="Century Gothic" panose="020B0502020202020204" pitchFamily="34" charset="0"/>
              </a:rPr>
              <a:t>Alcance de medida de 0,5 </a:t>
            </a:r>
            <a:r>
              <a:rPr lang="es-MX" sz="1800" dirty="0" err="1">
                <a:latin typeface="Century Gothic" panose="020B0502020202020204" pitchFamily="34" charset="0"/>
              </a:rPr>
              <a:t>mPa</a:t>
            </a:r>
            <a:r>
              <a:rPr lang="es-MX" sz="1800" dirty="0">
                <a:latin typeface="Century Gothic" panose="020B0502020202020204" pitchFamily="34" charset="0"/>
              </a:rPr>
              <a:t> s hasta 7*104 </a:t>
            </a:r>
            <a:r>
              <a:rPr lang="es-MX" sz="1800" dirty="0" err="1">
                <a:latin typeface="Century Gothic" panose="020B0502020202020204" pitchFamily="34" charset="0"/>
              </a:rPr>
              <a:t>mPa</a:t>
            </a:r>
            <a:r>
              <a:rPr lang="es-MX" sz="1800" dirty="0">
                <a:latin typeface="Century Gothic" panose="020B0502020202020204" pitchFamily="34" charset="0"/>
              </a:rPr>
              <a:t> s (según DIN 53015)</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&gt;7*104 </a:t>
            </a:r>
            <a:r>
              <a:rPr lang="es-MX" sz="1800" dirty="0" err="1">
                <a:latin typeface="Century Gothic" panose="020B0502020202020204" pitchFamily="34" charset="0"/>
              </a:rPr>
              <a:t>mPa</a:t>
            </a:r>
            <a:r>
              <a:rPr lang="es-MX" sz="1800" dirty="0">
                <a:latin typeface="Century Gothic" panose="020B0502020202020204" pitchFamily="34" charset="0"/>
              </a:rPr>
              <a:t> s (para tiempos de recorrido de la bola &gt; 300 s)</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Exactitud de medida de 0,5 hasta 2% (según la bola aplicada)</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Bolas: #1, #2: Vidrio de boro silicato</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#3, #4: Hierro al níquel</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#5, #6: Acero</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Diámetros de las bolas: de 11,00 hasta 15,81 mm</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Diámetro del tubo de medida 15,95 mm</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Tiempo de recorrido de la bola de 30 hasta 450 s</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Longitud del espacio de medida: 100 mm en ambas direcciones de recorrido</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Ángulo de trabajo: 10° respecto a la vertical</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Ángulos de trabajo adicionales 70°, 60°, 50° con respecto a la horizontal</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Volumen de llenado: 40 ml</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Alcance de temperatura permitido: de -60°C hasta +150°C</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Dimensiones: 180x220x330 mm³</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Masa: 3,1 kg</a:t>
            </a:r>
            <a:endParaRPr lang="es-MX" sz="1500" dirty="0">
              <a:latin typeface="Century Gothic" panose="020B0502020202020204" pitchFamily="34" charset="0"/>
            </a:endParaRPr>
          </a:p>
        </p:txBody>
      </p:sp>
    </p:spTree>
    <p:extLst>
      <p:ext uri="{BB962C8B-B14F-4D97-AF65-F5344CB8AC3E}">
        <p14:creationId xmlns:p14="http://schemas.microsoft.com/office/powerpoint/2010/main" val="217919461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Viscosímetro de </a:t>
            </a:r>
            <a:r>
              <a:rPr lang="es-MX" dirty="0" err="1" smtClean="0"/>
              <a:t>Ostwald</a:t>
            </a:r>
            <a:endParaRPr lang="es-MX" dirty="0"/>
          </a:p>
        </p:txBody>
      </p:sp>
      <p:sp>
        <p:nvSpPr>
          <p:cNvPr id="3" name="Marcador de contenido 2"/>
          <p:cNvSpPr>
            <a:spLocks noGrp="1"/>
          </p:cNvSpPr>
          <p:nvPr>
            <p:ph idx="1"/>
          </p:nvPr>
        </p:nvSpPr>
        <p:spPr>
          <a:xfrm>
            <a:off x="755576" y="1772816"/>
            <a:ext cx="7886700" cy="2757678"/>
          </a:xfrm>
        </p:spPr>
        <p:txBody>
          <a:bodyPr/>
          <a:lstStyle/>
          <a:p>
            <a:pPr marL="0" indent="0" algn="just">
              <a:buNone/>
            </a:pPr>
            <a:r>
              <a:rPr lang="es-MX" sz="2000" dirty="0">
                <a:latin typeface="Century Gothic" panose="020B0502020202020204" pitchFamily="34" charset="0"/>
              </a:rPr>
              <a:t>El viscosímetro de </a:t>
            </a:r>
            <a:r>
              <a:rPr lang="es-MX" sz="2000" dirty="0" err="1">
                <a:latin typeface="Century Gothic" panose="020B0502020202020204" pitchFamily="34" charset="0"/>
              </a:rPr>
              <a:t>Ostwald</a:t>
            </a:r>
            <a:r>
              <a:rPr lang="es-MX" sz="2000" dirty="0">
                <a:latin typeface="Century Gothic" panose="020B0502020202020204" pitchFamily="34" charset="0"/>
              </a:rPr>
              <a:t> es un método muy utilizado para la medida de viscosidades relativas en líquidos puros, biológicos y especialmente para fluidos newtonianos, en los cuales la viscosidad permanece constante pese a cambiar la tensión tangencial ejercida. </a:t>
            </a:r>
            <a:r>
              <a:rPr lang="es-MX" sz="2000" dirty="0">
                <a:latin typeface="Century Gothic" panose="020B0502020202020204" pitchFamily="34" charset="0"/>
              </a:rPr>
              <a:t>Se usa para líquidos transparentes y de baja </a:t>
            </a:r>
            <a:r>
              <a:rPr lang="es-MX" sz="2000" dirty="0" smtClean="0">
                <a:latin typeface="Century Gothic" panose="020B0502020202020204" pitchFamily="34" charset="0"/>
              </a:rPr>
              <a:t>viscosidad.</a:t>
            </a:r>
            <a:r>
              <a:rPr lang="es-MX" sz="2000" dirty="0">
                <a:latin typeface="Century Gothic" panose="020B0502020202020204" pitchFamily="34" charset="0"/>
              </a:rPr>
              <a:t/>
            </a:r>
            <a:br>
              <a:rPr lang="es-MX" sz="2000" dirty="0">
                <a:latin typeface="Century Gothic" panose="020B0502020202020204" pitchFamily="34" charset="0"/>
              </a:rPr>
            </a:br>
            <a:r>
              <a:rPr lang="es-MX" sz="2000" dirty="0">
                <a:latin typeface="Century Gothic" panose="020B0502020202020204" pitchFamily="34" charset="0"/>
              </a:rPr>
              <a:t>Este viscosímetro se basa fundamentalmente en una fórmula conocida como Ley de </a:t>
            </a:r>
            <a:r>
              <a:rPr lang="es-MX" sz="2000" dirty="0" err="1">
                <a:latin typeface="Century Gothic" panose="020B0502020202020204" pitchFamily="34" charset="0"/>
              </a:rPr>
              <a:t>Poisseuille</a:t>
            </a:r>
            <a:r>
              <a:rPr lang="es-MX" sz="2000" dirty="0">
                <a:latin typeface="Century Gothic" panose="020B0502020202020204" pitchFamily="34" charset="0"/>
              </a:rPr>
              <a:t>:</a:t>
            </a:r>
          </a:p>
          <a:p>
            <a:pPr marL="0" indent="0">
              <a:buNone/>
            </a:pPr>
            <a:endParaRPr lang="es-MX" dirty="0"/>
          </a:p>
        </p:txBody>
      </p:sp>
      <p:pic>
        <p:nvPicPr>
          <p:cNvPr id="2050" name="Picture 2" descr="formula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4543010"/>
            <a:ext cx="2722528" cy="1311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64372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11560" y="836712"/>
            <a:ext cx="7913184" cy="4482181"/>
          </a:xfrm>
        </p:spPr>
        <p:txBody>
          <a:bodyPr>
            <a:normAutofit/>
          </a:bodyPr>
          <a:lstStyle/>
          <a:p>
            <a:pPr marL="0" indent="0">
              <a:buNone/>
            </a:pPr>
            <a:r>
              <a:rPr lang="es-MX" sz="1600" i="1" dirty="0" smtClean="0">
                <a:latin typeface="Century Gothic" panose="020B0502020202020204" pitchFamily="34" charset="0"/>
              </a:rPr>
              <a:t>Donde:</a:t>
            </a:r>
          </a:p>
          <a:p>
            <a:pPr marL="0" indent="0">
              <a:buNone/>
            </a:pPr>
            <a:r>
              <a:rPr lang="es-MX" sz="1600" dirty="0">
                <a:latin typeface="Century Gothic" panose="020B0502020202020204" pitchFamily="34" charset="0"/>
              </a:rPr>
              <a:t/>
            </a:r>
            <a:br>
              <a:rPr lang="es-MX" sz="1600" dirty="0">
                <a:latin typeface="Century Gothic" panose="020B0502020202020204" pitchFamily="34" charset="0"/>
              </a:rPr>
            </a:br>
            <a:r>
              <a:rPr lang="es-MX" sz="1600" b="1" i="1" dirty="0">
                <a:latin typeface="Century Gothic" panose="020B0502020202020204" pitchFamily="34" charset="0"/>
              </a:rPr>
              <a:t>πR</a:t>
            </a:r>
            <a:r>
              <a:rPr lang="es-MX" sz="1600" b="1" i="1" baseline="30000" dirty="0">
                <a:latin typeface="Century Gothic" panose="020B0502020202020204" pitchFamily="34" charset="0"/>
              </a:rPr>
              <a:t>4</a:t>
            </a:r>
            <a:r>
              <a:rPr lang="es-MX" sz="1600" i="1" dirty="0">
                <a:latin typeface="Century Gothic" panose="020B0502020202020204" pitchFamily="34" charset="0"/>
              </a:rPr>
              <a:t> es el área transversal A de un tubo de longitud L </a:t>
            </a:r>
            <a:endParaRPr lang="es-MX" sz="1600" i="1" dirty="0" smtClean="0">
              <a:latin typeface="Century Gothic" panose="020B0502020202020204" pitchFamily="34" charset="0"/>
            </a:endParaRPr>
          </a:p>
          <a:p>
            <a:pPr marL="0" indent="0">
              <a:buNone/>
            </a:pPr>
            <a:endParaRPr lang="es-MX" sz="1600" dirty="0">
              <a:latin typeface="Century Gothic" panose="020B0502020202020204" pitchFamily="34" charset="0"/>
            </a:endParaRPr>
          </a:p>
          <a:p>
            <a:pPr marL="0" indent="0">
              <a:buNone/>
            </a:pPr>
            <a:r>
              <a:rPr lang="es-MX" sz="1600" b="1" i="1" dirty="0">
                <a:latin typeface="Century Gothic" panose="020B0502020202020204" pitchFamily="34" charset="0"/>
              </a:rPr>
              <a:t>n</a:t>
            </a:r>
            <a:r>
              <a:rPr lang="es-MX" sz="1600" i="1" dirty="0">
                <a:latin typeface="Century Gothic" panose="020B0502020202020204" pitchFamily="34" charset="0"/>
              </a:rPr>
              <a:t> es la viscosidad dinámica </a:t>
            </a:r>
            <a:endParaRPr lang="es-MX" sz="1600" i="1" dirty="0" smtClean="0">
              <a:latin typeface="Century Gothic" panose="020B0502020202020204" pitchFamily="34" charset="0"/>
            </a:endParaRPr>
          </a:p>
          <a:p>
            <a:pPr marL="0" indent="0">
              <a:buNone/>
            </a:pPr>
            <a:r>
              <a:rPr lang="es-MX" sz="1600" dirty="0">
                <a:latin typeface="Century Gothic" panose="020B0502020202020204" pitchFamily="34" charset="0"/>
              </a:rPr>
              <a:t/>
            </a:r>
            <a:br>
              <a:rPr lang="es-MX" sz="1600" dirty="0">
                <a:latin typeface="Century Gothic" panose="020B0502020202020204" pitchFamily="34" charset="0"/>
              </a:rPr>
            </a:br>
            <a:r>
              <a:rPr lang="es-MX" sz="1600" b="1" i="1" dirty="0">
                <a:latin typeface="Century Gothic" panose="020B0502020202020204" pitchFamily="34" charset="0"/>
              </a:rPr>
              <a:t>AP</a:t>
            </a:r>
            <a:r>
              <a:rPr lang="es-MX" sz="1600" i="1" dirty="0">
                <a:latin typeface="Century Gothic" panose="020B0502020202020204" pitchFamily="34" charset="0"/>
              </a:rPr>
              <a:t> la caída de presión</a:t>
            </a:r>
            <a:r>
              <a:rPr lang="es-MX" sz="1600" i="1" dirty="0">
                <a:latin typeface="Century Gothic" panose="020B0502020202020204" pitchFamily="34" charset="0"/>
              </a:rPr>
              <a:t>.</a:t>
            </a:r>
          </a:p>
          <a:p>
            <a:endParaRPr lang="es-MX" sz="1600" i="1" dirty="0">
              <a:latin typeface="Century Gothic" panose="020B0502020202020204" pitchFamily="34" charset="0"/>
            </a:endParaRPr>
          </a:p>
          <a:p>
            <a:pPr marL="0" indent="0">
              <a:buNone/>
            </a:pPr>
            <a:r>
              <a:rPr lang="es-MX" sz="1600" dirty="0">
                <a:latin typeface="Century Gothic" panose="020B0502020202020204" pitchFamily="34" charset="0"/>
              </a:rPr>
              <a:t>Así pues, si se mantiene una diferencia de presión </a:t>
            </a:r>
            <a:r>
              <a:rPr lang="es-MX" sz="1600" i="1" dirty="0">
                <a:latin typeface="Century Gothic" panose="020B0502020202020204" pitchFamily="34" charset="0"/>
              </a:rPr>
              <a:t>P</a:t>
            </a:r>
            <a:r>
              <a:rPr lang="es-MX" sz="1600" i="1" baseline="-25000" dirty="0">
                <a:latin typeface="Century Gothic" panose="020B0502020202020204" pitchFamily="34" charset="0"/>
              </a:rPr>
              <a:t>1</a:t>
            </a:r>
            <a:r>
              <a:rPr lang="es-MX" sz="1600" dirty="0">
                <a:latin typeface="Century Gothic" panose="020B0502020202020204" pitchFamily="34" charset="0"/>
              </a:rPr>
              <a:t> - </a:t>
            </a:r>
            <a:r>
              <a:rPr lang="es-MX" sz="1600" i="1" dirty="0">
                <a:latin typeface="Century Gothic" panose="020B0502020202020204" pitchFamily="34" charset="0"/>
              </a:rPr>
              <a:t>P</a:t>
            </a:r>
            <a:r>
              <a:rPr lang="es-MX" sz="1600" i="1" baseline="-25000" dirty="0">
                <a:latin typeface="Century Gothic" panose="020B0502020202020204" pitchFamily="34" charset="0"/>
              </a:rPr>
              <a:t>2</a:t>
            </a:r>
            <a:r>
              <a:rPr lang="es-MX" sz="1600" dirty="0">
                <a:latin typeface="Century Gothic" panose="020B0502020202020204" pitchFamily="34" charset="0"/>
              </a:rPr>
              <a:t> constante a lo largo de todo el tubo y se conocen las variables y el tiempo </a:t>
            </a:r>
            <a:r>
              <a:rPr lang="es-MX" sz="1600" i="1" dirty="0">
                <a:latin typeface="Century Gothic" panose="020B0502020202020204" pitchFamily="34" charset="0"/>
              </a:rPr>
              <a:t>t</a:t>
            </a:r>
            <a:r>
              <a:rPr lang="es-MX" sz="1600" dirty="0">
                <a:latin typeface="Century Gothic" panose="020B0502020202020204" pitchFamily="34" charset="0"/>
              </a:rPr>
              <a:t> que tarda el líquido problema en desplazarse por el interior del tubo, podemos conocer la viscosidad del líquido. Si el tubo es vertical, el fluido es acelerado por la acción de la gravedad </a:t>
            </a:r>
            <a:r>
              <a:rPr lang="es-MX" sz="1600" i="1" dirty="0">
                <a:latin typeface="Century Gothic" panose="020B0502020202020204" pitchFamily="34" charset="0"/>
              </a:rPr>
              <a:t>g</a:t>
            </a:r>
            <a:r>
              <a:rPr lang="es-MX" sz="1600" dirty="0">
                <a:latin typeface="Century Gothic" panose="020B0502020202020204" pitchFamily="34" charset="0"/>
              </a:rPr>
              <a:t> , así pues la expresión anterior nos queda de la forma:</a:t>
            </a:r>
          </a:p>
        </p:txBody>
      </p:sp>
      <p:pic>
        <p:nvPicPr>
          <p:cNvPr id="3074" name="Picture 2" descr="formula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4539472"/>
            <a:ext cx="3089849" cy="1558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51462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67544" y="1196752"/>
            <a:ext cx="7946638" cy="4281459"/>
          </a:xfrm>
        </p:spPr>
        <p:txBody>
          <a:bodyPr>
            <a:normAutofit/>
          </a:bodyPr>
          <a:lstStyle/>
          <a:p>
            <a:pPr marL="0" indent="0">
              <a:buNone/>
            </a:pPr>
            <a:r>
              <a:rPr lang="es-MX" sz="1800" dirty="0">
                <a:latin typeface="Century Gothic" panose="020B0502020202020204" pitchFamily="34" charset="0"/>
              </a:rPr>
              <a:t>Sin embargo, es complicado medir el radio del tubo capilar, así como la longitud exacta del mismo y la diferencia de presión. Además, el radio debería medirse con gran precisión pues está elevado a cuatro, con lo que su contribución al error final es muy grande. </a:t>
            </a:r>
            <a:r>
              <a:rPr lang="es-MX" sz="1800" dirty="0">
                <a:latin typeface="Century Gothic" panose="020B0502020202020204" pitchFamily="34" charset="0"/>
              </a:rPr>
              <a:t>Por ello se opta por el método de calcular la viscosidad relativa respecto de una </a:t>
            </a:r>
            <a:r>
              <a:rPr lang="es-MX" sz="1800" dirty="0" smtClean="0">
                <a:latin typeface="Century Gothic" panose="020B0502020202020204" pitchFamily="34" charset="0"/>
              </a:rPr>
              <a:t>ya conocida</a:t>
            </a:r>
            <a:r>
              <a:rPr lang="es-MX" sz="1800" dirty="0">
                <a:latin typeface="Century Gothic" panose="020B0502020202020204" pitchFamily="34" charset="0"/>
              </a:rPr>
              <a:t>.</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Usando el mismo viscosímetro concreto, se puede medir el tiempo </a:t>
            </a:r>
            <a:r>
              <a:rPr lang="es-MX" sz="1800" i="1" dirty="0">
                <a:latin typeface="Century Gothic" panose="020B0502020202020204" pitchFamily="34" charset="0"/>
              </a:rPr>
              <a:t>t</a:t>
            </a:r>
            <a:r>
              <a:rPr lang="es-MX" sz="1800" dirty="0">
                <a:latin typeface="Century Gothic" panose="020B0502020202020204" pitchFamily="34" charset="0"/>
              </a:rPr>
              <a:t> que emplea un líquido de </a:t>
            </a:r>
            <a:r>
              <a:rPr lang="es-MX" sz="1800" i="1" dirty="0">
                <a:latin typeface="Century Gothic" panose="020B0502020202020204" pitchFamily="34" charset="0"/>
              </a:rPr>
              <a:t>ρ</a:t>
            </a:r>
            <a:r>
              <a:rPr lang="es-MX" sz="1800" dirty="0">
                <a:latin typeface="Century Gothic" panose="020B0502020202020204" pitchFamily="34" charset="0"/>
              </a:rPr>
              <a:t> y </a:t>
            </a:r>
            <a:r>
              <a:rPr lang="es-MX" sz="1800" i="1" dirty="0">
                <a:latin typeface="Century Gothic" panose="020B0502020202020204" pitchFamily="34" charset="0"/>
              </a:rPr>
              <a:t>h</a:t>
            </a:r>
            <a:r>
              <a:rPr lang="es-MX" sz="1800" dirty="0">
                <a:latin typeface="Century Gothic" panose="020B0502020202020204" pitchFamily="34" charset="0"/>
              </a:rPr>
              <a:t> conocidas, es decir un líquido de referencia (en este caso el agua), en desalojar un volumen V del tubo (descender una altura), el cual es el mismo que tiene que desalojar el líquido problema con </a:t>
            </a:r>
            <a:r>
              <a:rPr lang="es-MX" sz="1800" i="1" dirty="0">
                <a:latin typeface="Century Gothic" panose="020B0502020202020204" pitchFamily="34" charset="0"/>
              </a:rPr>
              <a:t>ρ¢</a:t>
            </a:r>
            <a:r>
              <a:rPr lang="es-MX" sz="1800" dirty="0">
                <a:latin typeface="Century Gothic" panose="020B0502020202020204" pitchFamily="34" charset="0"/>
              </a:rPr>
              <a:t> y </a:t>
            </a:r>
            <a:r>
              <a:rPr lang="es-MX" sz="1800" i="1" dirty="0">
                <a:latin typeface="Century Gothic" panose="020B0502020202020204" pitchFamily="34" charset="0"/>
              </a:rPr>
              <a:t>h¢</a:t>
            </a:r>
            <a:r>
              <a:rPr lang="es-MX" sz="1800" dirty="0">
                <a:latin typeface="Century Gothic" panose="020B0502020202020204" pitchFamily="34" charset="0"/>
              </a:rPr>
              <a:t>.</a:t>
            </a:r>
            <a:r>
              <a:rPr lang="es-MX" sz="1800" dirty="0">
                <a:latin typeface="Century Gothic" panose="020B0502020202020204" pitchFamily="34" charset="0"/>
              </a:rPr>
              <a:t/>
            </a:r>
            <a:br>
              <a:rPr lang="es-MX" sz="1800" dirty="0">
                <a:latin typeface="Century Gothic" panose="020B0502020202020204" pitchFamily="34" charset="0"/>
              </a:rPr>
            </a:br>
            <a:r>
              <a:rPr lang="es-MX" sz="1800" dirty="0">
                <a:latin typeface="Century Gothic" panose="020B0502020202020204" pitchFamily="34" charset="0"/>
              </a:rPr>
              <a:t>Por tanto, podemos aplicar la expresión para los dos líquidos, el de referencia y el problema, obteniendo:</a:t>
            </a:r>
            <a:r>
              <a:rPr lang="es-MX" sz="1800" dirty="0" smtClean="0">
                <a:latin typeface="Century Gothic" panose="020B0502020202020204" pitchFamily="34" charset="0"/>
              </a:rPr>
              <a:t/>
            </a:r>
            <a:br>
              <a:rPr lang="es-MX" sz="1800" dirty="0" smtClean="0">
                <a:latin typeface="Century Gothic" panose="020B0502020202020204" pitchFamily="34" charset="0"/>
              </a:rPr>
            </a:br>
            <a:endParaRPr lang="es-MX" sz="1800" dirty="0">
              <a:latin typeface="Century Gothic" panose="020B0502020202020204" pitchFamily="34" charset="0"/>
            </a:endParaRPr>
          </a:p>
        </p:txBody>
      </p:sp>
    </p:spTree>
    <p:extLst>
      <p:ext uri="{BB962C8B-B14F-4D97-AF65-F5344CB8AC3E}">
        <p14:creationId xmlns:p14="http://schemas.microsoft.com/office/powerpoint/2010/main" val="165367480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9552" y="3717032"/>
            <a:ext cx="8382000" cy="2210862"/>
          </a:xfrm>
        </p:spPr>
        <p:txBody>
          <a:bodyPr>
            <a:normAutofit/>
          </a:bodyPr>
          <a:lstStyle/>
          <a:p>
            <a:pPr marL="0" indent="0" algn="just">
              <a:buNone/>
            </a:pPr>
            <a:r>
              <a:rPr lang="es-MX" sz="1500" dirty="0">
                <a:latin typeface="Century Gothic" panose="020B0502020202020204" pitchFamily="34" charset="0"/>
              </a:rPr>
              <a:t>Por lo tanto, a partir de la expresión [6] que acabamos de obtener, basta con conocer la viscosidad de uno de los líquidos y la densidad de ambos así como el tiempo que tardan ambos líquidos en desalojar un volumen </a:t>
            </a:r>
            <a:r>
              <a:rPr lang="es-MX" sz="1500" i="1" dirty="0">
                <a:latin typeface="Century Gothic" panose="020B0502020202020204" pitchFamily="34" charset="0"/>
              </a:rPr>
              <a:t>V</a:t>
            </a:r>
            <a:r>
              <a:rPr lang="es-MX" sz="1500" dirty="0">
                <a:latin typeface="Century Gothic" panose="020B0502020202020204" pitchFamily="34" charset="0"/>
              </a:rPr>
              <a:t> igual para ambos y constante, para poder hallar la viscosidad del otro.</a:t>
            </a:r>
            <a:r>
              <a:rPr lang="es-MX" sz="1500" dirty="0">
                <a:latin typeface="Century Gothic" panose="020B0502020202020204" pitchFamily="34" charset="0"/>
              </a:rPr>
              <a:t/>
            </a:r>
            <a:br>
              <a:rPr lang="es-MX" sz="1500" dirty="0">
                <a:latin typeface="Century Gothic" panose="020B0502020202020204" pitchFamily="34" charset="0"/>
              </a:rPr>
            </a:br>
            <a:endParaRPr lang="es-MX" sz="1500" dirty="0">
              <a:latin typeface="Century Gothic" panose="020B0502020202020204" pitchFamily="34" charset="0"/>
            </a:endParaRPr>
          </a:p>
        </p:txBody>
      </p:sp>
      <p:pic>
        <p:nvPicPr>
          <p:cNvPr id="4100" name="Picture 4" descr="formula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836712"/>
            <a:ext cx="4619702" cy="149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5755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18892" y="1158333"/>
            <a:ext cx="7896458" cy="2422202"/>
          </a:xfrm>
        </p:spPr>
        <p:txBody>
          <a:bodyPr/>
          <a:lstStyle/>
          <a:p>
            <a:pPr marL="0" indent="0" algn="just">
              <a:buNone/>
            </a:pPr>
            <a:r>
              <a:rPr lang="es-MX" sz="1800" dirty="0">
                <a:latin typeface="Century Gothic" panose="020B0502020202020204" pitchFamily="34" charset="0"/>
              </a:rPr>
              <a:t>El método más preciso para la determinación de la viscosidad de fluidos en su medición en un viscosímetro capilar. El </a:t>
            </a:r>
            <a:r>
              <a:rPr lang="es-MX" sz="1800" dirty="0" err="1">
                <a:latin typeface="Century Gothic" panose="020B0502020202020204" pitchFamily="34" charset="0"/>
              </a:rPr>
              <a:t>viscosimetro</a:t>
            </a:r>
            <a:r>
              <a:rPr lang="es-MX" sz="1800" dirty="0">
                <a:latin typeface="Century Gothic" panose="020B0502020202020204" pitchFamily="34" charset="0"/>
              </a:rPr>
              <a:t> </a:t>
            </a:r>
            <a:r>
              <a:rPr lang="es-MX" sz="1800" dirty="0" err="1">
                <a:latin typeface="Century Gothic" panose="020B0502020202020204" pitchFamily="34" charset="0"/>
              </a:rPr>
              <a:t>ViscoClock</a:t>
            </a:r>
            <a:r>
              <a:rPr lang="es-MX" sz="1800" dirty="0">
                <a:latin typeface="Century Gothic" panose="020B0502020202020204" pitchFamily="34" charset="0"/>
              </a:rPr>
              <a:t> trabaja según este método. Con una precisión como la del cuarzo, el tiempo de ejecución se muestra con una precisión de 1/100 s. La precisión de 0,01 % del tiempo medido para el cálculo de la viscosidad absoluta y relativa se indica como incertidumbre con un nivel de fiabilidad del 95 </a:t>
            </a:r>
            <a:r>
              <a:rPr lang="es-MX" sz="1800" dirty="0">
                <a:latin typeface="Century Gothic" panose="020B0502020202020204" pitchFamily="34" charset="0"/>
              </a:rPr>
              <a:t>%.</a:t>
            </a:r>
          </a:p>
          <a:p>
            <a:endParaRPr lang="es-MX" sz="4000" dirty="0"/>
          </a:p>
        </p:txBody>
      </p:sp>
      <p:pic>
        <p:nvPicPr>
          <p:cNvPr id="5122" name="Picture 2" descr="https://www.pce-instruments.com/espanol/slot/4/artimg/large/si-analytics-viscos_metro-viscoclock-404640_70176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4" y="3429000"/>
            <a:ext cx="2194560" cy="2743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817640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Viscosímetro de </a:t>
            </a:r>
            <a:r>
              <a:rPr lang="es-MX" dirty="0" err="1" smtClean="0"/>
              <a:t>Saybolt</a:t>
            </a:r>
            <a:endParaRPr lang="es-MX" dirty="0"/>
          </a:p>
        </p:txBody>
      </p:sp>
      <p:sp>
        <p:nvSpPr>
          <p:cNvPr id="3" name="Marcador de contenido 2"/>
          <p:cNvSpPr>
            <a:spLocks noGrp="1"/>
          </p:cNvSpPr>
          <p:nvPr>
            <p:ph idx="1"/>
          </p:nvPr>
        </p:nvSpPr>
        <p:spPr>
          <a:xfrm>
            <a:off x="381000" y="2060848"/>
            <a:ext cx="8382000" cy="2210862"/>
          </a:xfrm>
        </p:spPr>
        <p:txBody>
          <a:bodyPr>
            <a:normAutofit/>
          </a:bodyPr>
          <a:lstStyle/>
          <a:p>
            <a:pPr marL="0" indent="0" algn="just">
              <a:buNone/>
            </a:pPr>
            <a:r>
              <a:rPr lang="es-VE" sz="1800" dirty="0">
                <a:latin typeface="Century Gothic" panose="020B0502020202020204" pitchFamily="34" charset="0"/>
              </a:rPr>
              <a:t>El viscosímetro </a:t>
            </a:r>
            <a:r>
              <a:rPr lang="es-VE" sz="1800" dirty="0" err="1">
                <a:latin typeface="Century Gothic" panose="020B0502020202020204" pitchFamily="34" charset="0"/>
              </a:rPr>
              <a:t>Saybolt</a:t>
            </a:r>
            <a:r>
              <a:rPr lang="es-VE" sz="1800" dirty="0">
                <a:latin typeface="Century Gothic" panose="020B0502020202020204" pitchFamily="34" charset="0"/>
              </a:rPr>
              <a:t> es un instrumento que permite conocer el valor de la viscosidad cinemática de fluidos a diferentes temperaturas, de esta manera, permite hallar el Índice de Viscosidad de un lubricante</a:t>
            </a:r>
            <a:r>
              <a:rPr lang="es-VE" sz="1800" dirty="0">
                <a:latin typeface="Century Gothic" panose="020B0502020202020204" pitchFamily="34" charset="0"/>
              </a:rPr>
              <a:t>.</a:t>
            </a:r>
          </a:p>
          <a:p>
            <a:pPr algn="just"/>
            <a:endParaRPr lang="es-VE" sz="1800" dirty="0">
              <a:latin typeface="Century Gothic" panose="020B0502020202020204" pitchFamily="34" charset="0"/>
            </a:endParaRPr>
          </a:p>
          <a:p>
            <a:pPr marL="0" indent="0" algn="just">
              <a:buNone/>
            </a:pPr>
            <a:r>
              <a:rPr lang="es-MX" sz="1800" dirty="0">
                <a:latin typeface="Century Gothic" panose="020B0502020202020204" pitchFamily="34" charset="0"/>
              </a:rPr>
              <a:t>La facilidad con que un fluido fluye a través de un orificio de diámetro pequeño es una indicación de su viscosidad. Éste es el principio sobre el cual está basado el viscosímetro de </a:t>
            </a:r>
            <a:r>
              <a:rPr lang="es-MX" sz="1800" dirty="0" err="1">
                <a:latin typeface="Century Gothic" panose="020B0502020202020204" pitchFamily="34" charset="0"/>
              </a:rPr>
              <a:t>Saybolt</a:t>
            </a:r>
            <a:r>
              <a:rPr lang="es-MX" sz="1800" dirty="0">
                <a:latin typeface="Century Gothic" panose="020B0502020202020204" pitchFamily="34" charset="0"/>
              </a:rPr>
              <a:t>. La muestra de fluido se coloca en un aparato parecido al que se muestra en la figura.</a:t>
            </a:r>
          </a:p>
        </p:txBody>
      </p:sp>
    </p:spTree>
    <p:extLst>
      <p:ext uri="{BB962C8B-B14F-4D97-AF65-F5344CB8AC3E}">
        <p14:creationId xmlns:p14="http://schemas.microsoft.com/office/powerpoint/2010/main" val="113727589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MX"/>
          </a:p>
        </p:txBody>
      </p:sp>
      <p:sp>
        <p:nvSpPr>
          <p:cNvPr id="3" name="Marcador de contenido 2"/>
          <p:cNvSpPr>
            <a:spLocks noGrp="1"/>
          </p:cNvSpPr>
          <p:nvPr>
            <p:ph idx="1"/>
          </p:nvPr>
        </p:nvSpPr>
        <p:spPr>
          <a:xfrm>
            <a:off x="381000" y="1412875"/>
            <a:ext cx="8382000" cy="443198"/>
          </a:xfrm>
        </p:spPr>
        <p:txBody>
          <a:bodyPr/>
          <a:lstStyle/>
          <a:p>
            <a:endParaRPr lang="es-MX"/>
          </a:p>
        </p:txBody>
      </p:sp>
      <p:pic>
        <p:nvPicPr>
          <p:cNvPr id="6146" name="Picture 2" descr="'Viscosímetro Saybol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3398" y="1435675"/>
            <a:ext cx="3157203" cy="37857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448842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35620" y="1225241"/>
            <a:ext cx="7879730" cy="4264732"/>
          </a:xfrm>
        </p:spPr>
        <p:txBody>
          <a:bodyPr>
            <a:normAutofit/>
          </a:bodyPr>
          <a:lstStyle/>
          <a:p>
            <a:pPr marL="0" indent="0" algn="just" fontAlgn="base">
              <a:buNone/>
            </a:pPr>
            <a:r>
              <a:rPr lang="es-MX" sz="1800" dirty="0">
                <a:latin typeface="Century Gothic" panose="020B0502020202020204" pitchFamily="34" charset="0"/>
              </a:rPr>
              <a:t>Después de que se establece el flujo, se mide el tiempo requerido para colectar 60 </a:t>
            </a:r>
            <a:r>
              <a:rPr lang="es-MX" sz="1800" dirty="0" err="1">
                <a:latin typeface="Century Gothic" panose="020B0502020202020204" pitchFamily="34" charset="0"/>
              </a:rPr>
              <a:t>mL</a:t>
            </a:r>
            <a:r>
              <a:rPr lang="es-MX" sz="1800" dirty="0">
                <a:latin typeface="Century Gothic" panose="020B0502020202020204" pitchFamily="34" charset="0"/>
              </a:rPr>
              <a:t> del fluido. El tiempo resultante se reporta como la viscosidad del fluido en Segundos Universales </a:t>
            </a:r>
            <a:r>
              <a:rPr lang="es-MX" sz="1800" dirty="0" err="1">
                <a:latin typeface="Century Gothic" panose="020B0502020202020204" pitchFamily="34" charset="0"/>
              </a:rPr>
              <a:t>Saybolt</a:t>
            </a:r>
            <a:r>
              <a:rPr lang="es-MX" sz="1800" dirty="0">
                <a:latin typeface="Century Gothic" panose="020B0502020202020204" pitchFamily="34" charset="0"/>
              </a:rPr>
              <a:t> (SSU o. en ocasiones, SUS</a:t>
            </a:r>
            <a:r>
              <a:rPr lang="es-MX" sz="1800" dirty="0">
                <a:latin typeface="Century Gothic" panose="020B0502020202020204" pitchFamily="34" charset="0"/>
              </a:rPr>
              <a:t>).</a:t>
            </a:r>
          </a:p>
          <a:p>
            <a:pPr algn="just" fontAlgn="base"/>
            <a:endParaRPr lang="es-MX" sz="1800" dirty="0">
              <a:latin typeface="Century Gothic" panose="020B0502020202020204" pitchFamily="34" charset="0"/>
            </a:endParaRPr>
          </a:p>
          <a:p>
            <a:pPr marL="0" indent="0" algn="just" fontAlgn="base">
              <a:buNone/>
            </a:pPr>
            <a:r>
              <a:rPr lang="es-MX" sz="1800" dirty="0">
                <a:latin typeface="Century Gothic" panose="020B0502020202020204" pitchFamily="34" charset="0"/>
              </a:rPr>
              <a:t>Puesto que la medición no está basada en la definición fundamental de viscosidad, los resultados son solamente relativos. Sin embargo, sirven para comparar las viscosidades de diferentes fluidos</a:t>
            </a:r>
            <a:r>
              <a:rPr lang="es-MX" sz="1800" dirty="0">
                <a:latin typeface="Century Gothic" panose="020B0502020202020204" pitchFamily="34" charset="0"/>
              </a:rPr>
              <a:t>.</a:t>
            </a:r>
          </a:p>
          <a:p>
            <a:pPr algn="just" fontAlgn="base"/>
            <a:endParaRPr lang="es-MX" sz="1800" dirty="0">
              <a:latin typeface="Century Gothic" panose="020B0502020202020204" pitchFamily="34" charset="0"/>
            </a:endParaRPr>
          </a:p>
          <a:p>
            <a:pPr marL="0" indent="0" algn="just" fontAlgn="base">
              <a:buNone/>
            </a:pPr>
            <a:r>
              <a:rPr lang="es-MX" sz="1800" dirty="0">
                <a:latin typeface="Century Gothic" panose="020B0502020202020204" pitchFamily="34" charset="0"/>
              </a:rPr>
              <a:t>La ventaja de este procedimiento es que es sencillo y requiere un equipo relativamente simple. Se puede hacer una conversión aproximada de SSU a viscosidad cinemática. En las figuras siguientes se muestran el viscosímetro de </a:t>
            </a:r>
            <a:r>
              <a:rPr lang="es-MX" sz="1800" dirty="0" err="1">
                <a:latin typeface="Century Gothic" panose="020B0502020202020204" pitchFamily="34" charset="0"/>
              </a:rPr>
              <a:t>Saybolt</a:t>
            </a:r>
            <a:r>
              <a:rPr lang="es-MX" sz="1800" dirty="0">
                <a:latin typeface="Century Gothic" panose="020B0502020202020204" pitchFamily="34" charset="0"/>
              </a:rPr>
              <a:t> disponible comercialmente y la botella de 60 </a:t>
            </a:r>
            <a:r>
              <a:rPr lang="es-MX" sz="1800" dirty="0" err="1">
                <a:latin typeface="Century Gothic" panose="020B0502020202020204" pitchFamily="34" charset="0"/>
              </a:rPr>
              <a:t>mL</a:t>
            </a:r>
            <a:r>
              <a:rPr lang="es-MX" sz="1800" dirty="0">
                <a:latin typeface="Century Gothic" panose="020B0502020202020204" pitchFamily="34" charset="0"/>
              </a:rPr>
              <a:t> que se utiliza para colectar la muestra.</a:t>
            </a:r>
          </a:p>
          <a:p>
            <a:endParaRPr lang="es-MX" dirty="0"/>
          </a:p>
        </p:txBody>
      </p:sp>
    </p:spTree>
    <p:extLst>
      <p:ext uri="{BB962C8B-B14F-4D97-AF65-F5344CB8AC3E}">
        <p14:creationId xmlns:p14="http://schemas.microsoft.com/office/powerpoint/2010/main" val="7901108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MX" dirty="0"/>
          </a:p>
        </p:txBody>
      </p:sp>
      <p:sp>
        <p:nvSpPr>
          <p:cNvPr id="3" name="Marcador de contenido 2"/>
          <p:cNvSpPr>
            <a:spLocks noGrp="1"/>
          </p:cNvSpPr>
          <p:nvPr>
            <p:ph idx="1"/>
          </p:nvPr>
        </p:nvSpPr>
        <p:spPr>
          <a:xfrm>
            <a:off x="381000" y="1412875"/>
            <a:ext cx="8382000" cy="443198"/>
          </a:xfrm>
        </p:spPr>
        <p:txBody>
          <a:bodyPr/>
          <a:lstStyle/>
          <a:p>
            <a:pPr marL="0" indent="0">
              <a:buNone/>
            </a:pPr>
            <a:endParaRPr lang="es-MX" dirty="0"/>
          </a:p>
        </p:txBody>
      </p:sp>
      <p:pic>
        <p:nvPicPr>
          <p:cNvPr id="7170" name="Picture 2" descr="http://html.rincondelvago.com/0005434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1268760"/>
            <a:ext cx="3397408" cy="464908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755920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Viscosímetro de </a:t>
            </a:r>
            <a:r>
              <a:rPr lang="es-MX" dirty="0" err="1" smtClean="0"/>
              <a:t>Searle</a:t>
            </a:r>
            <a:endParaRPr lang="es-MX" dirty="0"/>
          </a:p>
        </p:txBody>
      </p:sp>
      <p:sp>
        <p:nvSpPr>
          <p:cNvPr id="3" name="Marcador de contenido 2"/>
          <p:cNvSpPr>
            <a:spLocks noGrp="1"/>
          </p:cNvSpPr>
          <p:nvPr>
            <p:ph idx="1"/>
          </p:nvPr>
        </p:nvSpPr>
        <p:spPr>
          <a:xfrm>
            <a:off x="381000" y="1700808"/>
            <a:ext cx="8382000" cy="2210862"/>
          </a:xfrm>
        </p:spPr>
        <p:txBody>
          <a:bodyPr>
            <a:normAutofit/>
          </a:bodyPr>
          <a:lstStyle/>
          <a:p>
            <a:pPr marL="0" indent="0" algn="just">
              <a:buNone/>
            </a:pPr>
            <a:r>
              <a:rPr lang="es-MX" sz="2000" dirty="0">
                <a:latin typeface="Century Gothic" panose="020B0502020202020204" pitchFamily="34" charset="0"/>
              </a:rPr>
              <a:t>El cilindro exterior es fijo y el cilindro interior gira, mediante poleas, por la acción de dos pesos que caen. El cilindro interior esta sometido a un par de arrastre, constante y conocido. La velocidad límite se alcanza cuando el par de viscosidad equilibra el par arrastre.</a:t>
            </a:r>
          </a:p>
        </p:txBody>
      </p:sp>
      <p:pic>
        <p:nvPicPr>
          <p:cNvPr id="5" name="Picture 2" descr="http://images.treccani.it/enc/media/share/images/orig/system/galleries/NPT/VOL_X/IMMAGINI/viscosita_0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3573016"/>
            <a:ext cx="2219869" cy="3006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48752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83568" y="1556792"/>
            <a:ext cx="7812824" cy="3712747"/>
          </a:xfrm>
        </p:spPr>
        <p:txBody>
          <a:bodyPr>
            <a:normAutofit/>
          </a:bodyPr>
          <a:lstStyle/>
          <a:p>
            <a:pPr marL="0" indent="0" algn="just">
              <a:buNone/>
            </a:pPr>
            <a:r>
              <a:rPr lang="es-MX" sz="1800" dirty="0">
                <a:latin typeface="Century Gothic" panose="020B0502020202020204" pitchFamily="34" charset="0"/>
              </a:rPr>
              <a:t>Permite hacer una medida absoluta de la viscosidad, por ejemplo las mejores medidas absolutas de la viscosidad del aire se han hecho con un aparato de este tipo, alcanzándose una gran precisión. Sin embargo un viscosímetro como el de </a:t>
            </a:r>
            <a:r>
              <a:rPr lang="es-MX" sz="1800" dirty="0" err="1">
                <a:latin typeface="Century Gothic" panose="020B0502020202020204" pitchFamily="34" charset="0"/>
              </a:rPr>
              <a:t>Searle</a:t>
            </a:r>
            <a:r>
              <a:rPr lang="es-MX" sz="1800" dirty="0">
                <a:latin typeface="Century Gothic" panose="020B0502020202020204" pitchFamily="34" charset="0"/>
              </a:rPr>
              <a:t>, para ciertas velocidades de rotación, el flujo puede llegar a ser inestable ya que se forma un torbellino en forma de toros coaxiales a los dos cilindros ( torbellinos de Taylor) que pueden dar resultados erróneos, por esto es preferible usa el </a:t>
            </a:r>
            <a:r>
              <a:rPr lang="es-MX" sz="1800" dirty="0" err="1">
                <a:latin typeface="Century Gothic" panose="020B0502020202020204" pitchFamily="34" charset="0"/>
              </a:rPr>
              <a:t>Couette</a:t>
            </a:r>
            <a:r>
              <a:rPr lang="es-MX" sz="1800" dirty="0">
                <a:latin typeface="Century Gothic" panose="020B0502020202020204" pitchFamily="34" charset="0"/>
              </a:rPr>
              <a:t>.</a:t>
            </a:r>
          </a:p>
          <a:p>
            <a:pPr algn="just"/>
            <a:endParaRPr lang="es-MX" sz="1800" dirty="0">
              <a:latin typeface="Century Gothic" panose="020B0502020202020204" pitchFamily="34" charset="0"/>
            </a:endParaRPr>
          </a:p>
          <a:p>
            <a:pPr marL="0" indent="0" algn="just">
              <a:buNone/>
            </a:pPr>
            <a:r>
              <a:rPr lang="es-MX" sz="1800" dirty="0">
                <a:latin typeface="Century Gothic" panose="020B0502020202020204" pitchFamily="34" charset="0"/>
              </a:rPr>
              <a:t>Se utiliza con frecuencia para las medidas relativas de líquidos muy viscosos, </a:t>
            </a:r>
            <a:r>
              <a:rPr lang="es-MX" sz="1800" dirty="0" smtClean="0">
                <a:latin typeface="Century Gothic" panose="020B0502020202020204" pitchFamily="34" charset="0"/>
              </a:rPr>
              <a:t>de suspensiones</a:t>
            </a:r>
            <a:r>
              <a:rPr lang="es-MX" sz="1800" dirty="0">
                <a:latin typeface="Century Gothic" panose="020B0502020202020204" pitchFamily="34" charset="0"/>
              </a:rPr>
              <a:t>, de pinturas, de productos alimenticios, </a:t>
            </a:r>
            <a:r>
              <a:rPr lang="es-MX" sz="1800" dirty="0" err="1">
                <a:latin typeface="Century Gothic" panose="020B0502020202020204" pitchFamily="34" charset="0"/>
              </a:rPr>
              <a:t>etc</a:t>
            </a:r>
            <a:endParaRPr lang="es-MX" sz="1800" dirty="0">
              <a:latin typeface="Century Gothic" panose="020B0502020202020204" pitchFamily="34" charset="0"/>
            </a:endParaRPr>
          </a:p>
        </p:txBody>
      </p:sp>
    </p:spTree>
    <p:extLst>
      <p:ext uri="{BB962C8B-B14F-4D97-AF65-F5344CB8AC3E}">
        <p14:creationId xmlns:p14="http://schemas.microsoft.com/office/powerpoint/2010/main" val="335182747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MX" b="1" dirty="0" smtClean="0"/>
              <a:t>Viscosímetros rotacionales</a:t>
            </a:r>
            <a:endParaRPr lang="es-MX" b="1" dirty="0"/>
          </a:p>
        </p:txBody>
      </p:sp>
      <p:pic>
        <p:nvPicPr>
          <p:cNvPr id="6" name="Marcador de contenido 5"/>
          <p:cNvPicPr>
            <a:picLocks noGrp="1" noChangeAspect="1"/>
          </p:cNvPicPr>
          <p:nvPr>
            <p:ph idx="1"/>
          </p:nvPr>
        </p:nvPicPr>
        <p:blipFill>
          <a:blip r:embed="rId2"/>
          <a:stretch>
            <a:fillRect/>
          </a:stretch>
        </p:blipFill>
        <p:spPr>
          <a:xfrm>
            <a:off x="5796136" y="1268760"/>
            <a:ext cx="3257037" cy="4885556"/>
          </a:xfrm>
          <a:prstGeom prst="rect">
            <a:avLst/>
          </a:prstGeom>
        </p:spPr>
      </p:pic>
      <p:sp>
        <p:nvSpPr>
          <p:cNvPr id="7" name="CuadroTexto 6"/>
          <p:cNvSpPr txBox="1"/>
          <p:nvPr/>
        </p:nvSpPr>
        <p:spPr>
          <a:xfrm>
            <a:off x="179512" y="1634046"/>
            <a:ext cx="5493445" cy="4154984"/>
          </a:xfrm>
          <a:prstGeom prst="rect">
            <a:avLst/>
          </a:prstGeom>
          <a:noFill/>
        </p:spPr>
        <p:txBody>
          <a:bodyPr wrap="square" rtlCol="0">
            <a:spAutoFit/>
          </a:bodyPr>
          <a:lstStyle/>
          <a:p>
            <a:pPr algn="just"/>
            <a:r>
              <a:rPr lang="es-ES" sz="1650" dirty="0">
                <a:latin typeface="Century Gothic" panose="020B0502020202020204" pitchFamily="34" charset="0"/>
              </a:rPr>
              <a:t>E</a:t>
            </a:r>
            <a:r>
              <a:rPr lang="es-ES" sz="1650" dirty="0">
                <a:latin typeface="Century Gothic" panose="020B0502020202020204" pitchFamily="34" charset="0"/>
              </a:rPr>
              <a:t>mplean la idea de que la fuerza requerida para rotar un objeto inmerso en un fluido puede indicar la viscosidad del fluido.</a:t>
            </a:r>
          </a:p>
          <a:p>
            <a:pPr algn="just"/>
            <a:r>
              <a:rPr lang="es-MX" sz="1650" b="1" dirty="0">
                <a:latin typeface="Century Gothic" panose="020B0502020202020204" pitchFamily="34" charset="0"/>
              </a:rPr>
              <a:t>Algunos de ellos son:</a:t>
            </a:r>
          </a:p>
          <a:p>
            <a:pPr marL="600075" lvl="1" indent="-257175" algn="just">
              <a:buFont typeface="Arial" panose="020B0604020202020204" pitchFamily="34" charset="0"/>
              <a:buChar char="•"/>
            </a:pPr>
            <a:r>
              <a:rPr lang="es-ES" sz="1650" dirty="0">
                <a:latin typeface="Century Gothic" panose="020B0502020202020204" pitchFamily="34" charset="0"/>
              </a:rPr>
              <a:t>L</a:t>
            </a:r>
            <a:r>
              <a:rPr lang="es-ES" sz="1650" dirty="0">
                <a:latin typeface="Century Gothic" panose="020B0502020202020204" pitchFamily="34" charset="0"/>
              </a:rPr>
              <a:t>os del tipo </a:t>
            </a:r>
            <a:r>
              <a:rPr lang="es-ES" sz="1650" dirty="0" err="1">
                <a:latin typeface="Century Gothic" panose="020B0502020202020204" pitchFamily="34" charset="0"/>
              </a:rPr>
              <a:t>Brookfield</a:t>
            </a:r>
            <a:r>
              <a:rPr lang="es-ES" sz="1650" dirty="0">
                <a:latin typeface="Century Gothic" panose="020B0502020202020204" pitchFamily="34" charset="0"/>
              </a:rPr>
              <a:t>, que determinan la fuerza requerida para rotar un disco o lentejuela en un fluido a una velocidad conocida.</a:t>
            </a:r>
          </a:p>
          <a:p>
            <a:pPr marL="600075" lvl="1" indent="-257175" algn="just">
              <a:buFont typeface="Arial" panose="020B0604020202020204" pitchFamily="34" charset="0"/>
              <a:buChar char="•"/>
            </a:pPr>
            <a:r>
              <a:rPr lang="es-ES" sz="1650" dirty="0">
                <a:latin typeface="Century Gothic" panose="020B0502020202020204" pitchFamily="34" charset="0"/>
              </a:rPr>
              <a:t>El viscosímetro de 'Cup and </a:t>
            </a:r>
            <a:r>
              <a:rPr lang="es-ES" sz="1650" dirty="0" err="1">
                <a:latin typeface="Century Gothic" panose="020B0502020202020204" pitchFamily="34" charset="0"/>
              </a:rPr>
              <a:t>bob</a:t>
            </a:r>
            <a:r>
              <a:rPr lang="es-ES" sz="1650" dirty="0">
                <a:latin typeface="Century Gothic" panose="020B0502020202020204" pitchFamily="34" charset="0"/>
              </a:rPr>
              <a:t>' que funcionan determinando el torque requerido para lograr una cierta rotación.</a:t>
            </a:r>
          </a:p>
          <a:p>
            <a:pPr algn="just"/>
            <a:r>
              <a:rPr lang="es-ES" sz="1650" dirty="0">
                <a:latin typeface="Century Gothic" panose="020B0502020202020204" pitchFamily="34" charset="0"/>
              </a:rPr>
              <a:t>Se pone a girar a 200 revoluciones por minuto, se mide la carga del motor para hacer esta operación la viscosidad se encuentra en unas tablas ASTM D 562, que  determinan la viscosidad en unidades Krebs</a:t>
            </a:r>
            <a:endParaRPr lang="es-MX" sz="1650" dirty="0">
              <a:latin typeface="Century Gothic" panose="020B0502020202020204" pitchFamily="34" charset="0"/>
            </a:endParaRPr>
          </a:p>
        </p:txBody>
      </p:sp>
    </p:spTree>
    <p:extLst>
      <p:ext uri="{BB962C8B-B14F-4D97-AF65-F5344CB8AC3E}">
        <p14:creationId xmlns:p14="http://schemas.microsoft.com/office/powerpoint/2010/main" val="361635010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smtClean="0"/>
              <a:t>Viscosímetro </a:t>
            </a:r>
            <a:r>
              <a:rPr lang="es-MX" b="1" dirty="0" err="1" smtClean="0"/>
              <a:t>Engler</a:t>
            </a:r>
            <a:endParaRPr lang="es-MX" b="1" dirty="0"/>
          </a:p>
        </p:txBody>
      </p:sp>
      <p:pic>
        <p:nvPicPr>
          <p:cNvPr id="4" name="Marcador de contenido 3"/>
          <p:cNvPicPr>
            <a:picLocks noGrp="1" noChangeAspect="1"/>
          </p:cNvPicPr>
          <p:nvPr>
            <p:ph idx="1"/>
          </p:nvPr>
        </p:nvPicPr>
        <p:blipFill>
          <a:blip r:embed="rId2"/>
          <a:stretch>
            <a:fillRect/>
          </a:stretch>
        </p:blipFill>
        <p:spPr>
          <a:xfrm>
            <a:off x="5729287" y="857250"/>
            <a:ext cx="3414713" cy="2857500"/>
          </a:xfrm>
          <a:prstGeom prst="rect">
            <a:avLst/>
          </a:prstGeom>
        </p:spPr>
      </p:pic>
      <p:pic>
        <p:nvPicPr>
          <p:cNvPr id="5" name="Imagen 4"/>
          <p:cNvPicPr>
            <a:picLocks noChangeAspect="1"/>
          </p:cNvPicPr>
          <p:nvPr/>
        </p:nvPicPr>
        <p:blipFill>
          <a:blip r:embed="rId3"/>
          <a:stretch>
            <a:fillRect/>
          </a:stretch>
        </p:blipFill>
        <p:spPr>
          <a:xfrm>
            <a:off x="6086475" y="3714750"/>
            <a:ext cx="2700338" cy="2286000"/>
          </a:xfrm>
          <a:prstGeom prst="rect">
            <a:avLst/>
          </a:prstGeom>
        </p:spPr>
      </p:pic>
      <p:sp>
        <p:nvSpPr>
          <p:cNvPr id="6" name="CuadroTexto 5"/>
          <p:cNvSpPr txBox="1"/>
          <p:nvPr/>
        </p:nvSpPr>
        <p:spPr>
          <a:xfrm>
            <a:off x="251520" y="1700808"/>
            <a:ext cx="5234940" cy="4420441"/>
          </a:xfrm>
          <a:prstGeom prst="rect">
            <a:avLst/>
          </a:prstGeom>
          <a:noFill/>
        </p:spPr>
        <p:txBody>
          <a:bodyPr wrap="square" rtlCol="0">
            <a:spAutoFit/>
          </a:bodyPr>
          <a:lstStyle/>
          <a:p>
            <a:pPr algn="just"/>
            <a:r>
              <a:rPr lang="es-MX" sz="1875" dirty="0">
                <a:latin typeface="Century Gothic" panose="020B0502020202020204" pitchFamily="34" charset="0"/>
              </a:rPr>
              <a:t>Es un dispositivo que se emplea para medir la viscosidad cinemática aproximada de aceites hasta un grado SAE60 con buena eficiencia.</a:t>
            </a:r>
          </a:p>
          <a:p>
            <a:pPr algn="just"/>
            <a:r>
              <a:rPr lang="es-MX" sz="1875" dirty="0">
                <a:latin typeface="Century Gothic" panose="020B0502020202020204" pitchFamily="34" charset="0"/>
              </a:rPr>
              <a:t>Esta conformado por una taza metálica central, con tapa, revestida de bronce, cuyo fondo tiene un agujero central de 2.8 mm de diámetro por donde fluirá el aceite. Este agujero se mantiene cerrado mediante un pin obturador de metal, que puede ser levantado sin necesidad de abrir la tapa. En recipiente para circunda a la taza y sirve para calentar el agua que mantendrá el aceite a una temperatura uniforme</a:t>
            </a:r>
            <a:endParaRPr lang="es-MX" sz="1875" dirty="0">
              <a:latin typeface="Century Gothic" panose="020B0502020202020204" pitchFamily="34" charset="0"/>
            </a:endParaRPr>
          </a:p>
        </p:txBody>
      </p:sp>
    </p:spTree>
    <p:extLst>
      <p:ext uri="{BB962C8B-B14F-4D97-AF65-F5344CB8AC3E}">
        <p14:creationId xmlns:p14="http://schemas.microsoft.com/office/powerpoint/2010/main" val="86994493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smtClean="0"/>
              <a:t>Viscosímetro de tambor giratorio</a:t>
            </a:r>
            <a:endParaRPr lang="es-MX" b="1" dirty="0"/>
          </a:p>
        </p:txBody>
      </p:sp>
      <p:pic>
        <p:nvPicPr>
          <p:cNvPr id="4" name="Marcador de contenido 3"/>
          <p:cNvPicPr>
            <a:picLocks noGrp="1" noChangeAspect="1"/>
          </p:cNvPicPr>
          <p:nvPr>
            <p:ph idx="1"/>
          </p:nvPr>
        </p:nvPicPr>
        <p:blipFill rotWithShape="1">
          <a:blip r:embed="rId2"/>
          <a:srcRect r="45849"/>
          <a:stretch/>
        </p:blipFill>
        <p:spPr>
          <a:xfrm>
            <a:off x="6501906" y="3456385"/>
            <a:ext cx="2642094" cy="2521556"/>
          </a:xfrm>
          <a:prstGeom prst="rect">
            <a:avLst/>
          </a:prstGeom>
        </p:spPr>
      </p:pic>
      <p:sp>
        <p:nvSpPr>
          <p:cNvPr id="5" name="CuadroTexto 4"/>
          <p:cNvSpPr txBox="1"/>
          <p:nvPr/>
        </p:nvSpPr>
        <p:spPr>
          <a:xfrm>
            <a:off x="381000" y="1628800"/>
            <a:ext cx="5114109" cy="4832092"/>
          </a:xfrm>
          <a:prstGeom prst="rect">
            <a:avLst/>
          </a:prstGeom>
          <a:noFill/>
        </p:spPr>
        <p:txBody>
          <a:bodyPr wrap="square" rtlCol="0">
            <a:spAutoFit/>
          </a:bodyPr>
          <a:lstStyle/>
          <a:p>
            <a:pPr algn="just"/>
            <a:r>
              <a:rPr lang="es-ES" sz="1600" dirty="0">
                <a:latin typeface="Century Gothic" panose="020B0502020202020204" pitchFamily="34" charset="0"/>
              </a:rPr>
              <a:t>Mide la viscosidad dinámica que se da en la siguiente ecuación:</a:t>
            </a:r>
          </a:p>
          <a:p>
            <a:pPr algn="ctr"/>
            <a:r>
              <a:rPr lang="es-ES" sz="1600" b="1" dirty="0">
                <a:latin typeface="Century Gothic" panose="020B0502020202020204" pitchFamily="34" charset="0"/>
              </a:rPr>
              <a:t>η=T/(</a:t>
            </a:r>
            <a:r>
              <a:rPr lang="es-ES" sz="1600" b="1" dirty="0" err="1">
                <a:latin typeface="Century Gothic" panose="020B0502020202020204" pitchFamily="34" charset="0"/>
              </a:rPr>
              <a:t>Δν</a:t>
            </a:r>
            <a:r>
              <a:rPr lang="es-ES" sz="1600" b="1" dirty="0">
                <a:latin typeface="Century Gothic" panose="020B0502020202020204" pitchFamily="34" charset="0"/>
              </a:rPr>
              <a:t>/</a:t>
            </a:r>
            <a:r>
              <a:rPr lang="es-ES" sz="1600" b="1" dirty="0" err="1">
                <a:latin typeface="Century Gothic" panose="020B0502020202020204" pitchFamily="34" charset="0"/>
              </a:rPr>
              <a:t>Δy</a:t>
            </a:r>
            <a:r>
              <a:rPr lang="es-ES" sz="1600" b="1" dirty="0" smtClean="0">
                <a:latin typeface="Century Gothic" panose="020B0502020202020204" pitchFamily="34" charset="0"/>
              </a:rPr>
              <a:t>)</a:t>
            </a:r>
          </a:p>
          <a:p>
            <a:pPr algn="ctr"/>
            <a:endParaRPr lang="es-ES" sz="1600" b="1" dirty="0">
              <a:latin typeface="Century Gothic" panose="020B0502020202020204" pitchFamily="34" charset="0"/>
            </a:endParaRPr>
          </a:p>
          <a:p>
            <a:pPr algn="just"/>
            <a:r>
              <a:rPr lang="es-ES" sz="1600" dirty="0">
                <a:latin typeface="Century Gothic" panose="020B0502020202020204" pitchFamily="34" charset="0"/>
              </a:rPr>
              <a:t>El recipiente exterior se mantiene estático mientras que el motor acoplado al medidor  hace girar el tambor rotatorio. El espacio </a:t>
            </a:r>
            <a:r>
              <a:rPr lang="es-ES" sz="1600" dirty="0" err="1">
                <a:latin typeface="Century Gothic" panose="020B0502020202020204" pitchFamily="34" charset="0"/>
              </a:rPr>
              <a:t>Δy</a:t>
            </a:r>
            <a:r>
              <a:rPr lang="es-ES" sz="1600" dirty="0">
                <a:latin typeface="Century Gothic" panose="020B0502020202020204" pitchFamily="34" charset="0"/>
              </a:rPr>
              <a:t> entre el tambor rotatorio y el recipiente es pequeño. La parte del fluido que está en contacto con éste es estacionaria, mientras que el fluido en contacto con la superficie del tambor inferior se mueve a una velocidad similar a dicha superficie. Por tanto, en el fluido se establece un gradiente de velocidad conocido </a:t>
            </a:r>
            <a:r>
              <a:rPr lang="es-ES" sz="1600" dirty="0" err="1">
                <a:latin typeface="Century Gothic" panose="020B0502020202020204" pitchFamily="34" charset="0"/>
              </a:rPr>
              <a:t>Δv</a:t>
            </a:r>
            <a:r>
              <a:rPr lang="es-ES" sz="1600" dirty="0">
                <a:latin typeface="Century Gothic" panose="020B0502020202020204" pitchFamily="34" charset="0"/>
              </a:rPr>
              <a:t>/</a:t>
            </a:r>
            <a:r>
              <a:rPr lang="es-ES" sz="1600" dirty="0" err="1">
                <a:latin typeface="Century Gothic" panose="020B0502020202020204" pitchFamily="34" charset="0"/>
              </a:rPr>
              <a:t>Δy</a:t>
            </a:r>
            <a:r>
              <a:rPr lang="es-ES" sz="1600" dirty="0">
                <a:latin typeface="Century Gothic" panose="020B0502020202020204" pitchFamily="34" charset="0"/>
              </a:rPr>
              <a:t>. La viscosidad el fluido ocasiona en él un esfuerzo cortante </a:t>
            </a:r>
            <a:r>
              <a:rPr lang="es-AR" sz="2000" dirty="0">
                <a:latin typeface="Century Gothic" panose="020B0502020202020204" pitchFamily="34" charset="0"/>
                <a:ea typeface="Calibri" panose="020F0502020204030204" pitchFamily="34" charset="0"/>
                <a:cs typeface="Times New Roman" panose="02020603050405020304" pitchFamily="18" charset="0"/>
              </a:rPr>
              <a:t>T</a:t>
            </a:r>
            <a:r>
              <a:rPr lang="es-ES" sz="1600" dirty="0">
                <a:latin typeface="Century Gothic" panose="020B0502020202020204" pitchFamily="34" charset="0"/>
              </a:rPr>
              <a:t>  que ejerce un torque de arrastre sobre el tambor rotatorio. El medidor detecta el arrastre e indica la viscosidad directamente en la pantalla analógica. </a:t>
            </a:r>
            <a:endParaRPr lang="es-ES" sz="1600" dirty="0">
              <a:latin typeface="Century Gothic" panose="020B0502020202020204" pitchFamily="34" charset="0"/>
            </a:endParaRPr>
          </a:p>
        </p:txBody>
      </p:sp>
      <p:pic>
        <p:nvPicPr>
          <p:cNvPr id="6" name="Marcador de contenido 3"/>
          <p:cNvPicPr>
            <a:picLocks noChangeAspect="1"/>
          </p:cNvPicPr>
          <p:nvPr/>
        </p:nvPicPr>
        <p:blipFill rotWithShape="1">
          <a:blip r:embed="rId2"/>
          <a:srcRect l="55557"/>
          <a:stretch/>
        </p:blipFill>
        <p:spPr>
          <a:xfrm>
            <a:off x="6975565" y="857251"/>
            <a:ext cx="2168435" cy="2521556"/>
          </a:xfrm>
          <a:prstGeom prst="rect">
            <a:avLst/>
          </a:prstGeom>
        </p:spPr>
      </p:pic>
    </p:spTree>
    <p:extLst>
      <p:ext uri="{BB962C8B-B14F-4D97-AF65-F5344CB8AC3E}">
        <p14:creationId xmlns:p14="http://schemas.microsoft.com/office/powerpoint/2010/main" val="388776785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smtClean="0"/>
              <a:t>Viscosímetros que vibran</a:t>
            </a:r>
            <a:endParaRPr lang="es-MX" b="1" dirty="0"/>
          </a:p>
        </p:txBody>
      </p:sp>
      <p:pic>
        <p:nvPicPr>
          <p:cNvPr id="4" name="Marcador de contenido 3"/>
          <p:cNvPicPr>
            <a:picLocks noGrp="1" noChangeAspect="1"/>
          </p:cNvPicPr>
          <p:nvPr>
            <p:ph idx="1"/>
          </p:nvPr>
        </p:nvPicPr>
        <p:blipFill>
          <a:blip r:embed="rId2"/>
          <a:stretch>
            <a:fillRect/>
          </a:stretch>
        </p:blipFill>
        <p:spPr>
          <a:xfrm>
            <a:off x="5025935" y="2169279"/>
            <a:ext cx="3987443" cy="3831472"/>
          </a:xfrm>
          <a:prstGeom prst="rect">
            <a:avLst/>
          </a:prstGeom>
        </p:spPr>
      </p:pic>
      <p:sp>
        <p:nvSpPr>
          <p:cNvPr id="5" name="CuadroTexto 4"/>
          <p:cNvSpPr txBox="1"/>
          <p:nvPr/>
        </p:nvSpPr>
        <p:spPr>
          <a:xfrm>
            <a:off x="107504" y="1628800"/>
            <a:ext cx="4839789" cy="4154984"/>
          </a:xfrm>
          <a:prstGeom prst="rect">
            <a:avLst/>
          </a:prstGeom>
          <a:noFill/>
        </p:spPr>
        <p:txBody>
          <a:bodyPr wrap="square" rtlCol="0">
            <a:spAutoFit/>
          </a:bodyPr>
          <a:lstStyle/>
          <a:p>
            <a:pPr algn="just"/>
            <a:r>
              <a:rPr lang="es-ES" sz="1650" dirty="0">
                <a:latin typeface="Century Gothic" panose="020B0502020202020204" pitchFamily="34" charset="0"/>
              </a:rPr>
              <a:t>Los Viscosímetros que vibran son sistemas rugosos usados para medir viscosidad en las condiciones de proceso.</a:t>
            </a:r>
          </a:p>
          <a:p>
            <a:pPr algn="just"/>
            <a:r>
              <a:rPr lang="es-ES" sz="1650" dirty="0">
                <a:latin typeface="Century Gothic" panose="020B0502020202020204" pitchFamily="34" charset="0"/>
              </a:rPr>
              <a:t>El viscosímetro de vibración de onda sinusoidal, mide la viscosidad detectando la corriente eléctrica excitadora necesaria, para resonar lados placas del sensor a una frecuencia y amplitud de onda constantes</a:t>
            </a:r>
          </a:p>
          <a:p>
            <a:pPr algn="just"/>
            <a:r>
              <a:rPr lang="es-ES" sz="1650" dirty="0">
                <a:latin typeface="Century Gothic" panose="020B0502020202020204" pitchFamily="34" charset="0"/>
              </a:rPr>
              <a:t>La corriente de conducción eléctrica, que es la fuerza excitante, es proporcional a la magnitud de la viscosidad del líquido de la muestra.</a:t>
            </a:r>
          </a:p>
          <a:p>
            <a:pPr algn="just"/>
            <a:r>
              <a:rPr lang="es-ES" sz="1650" dirty="0">
                <a:latin typeface="Century Gothic" panose="020B0502020202020204" pitchFamily="34" charset="0"/>
              </a:rPr>
              <a:t>Actualmente, muchas industrias alrededor del mundo consideran estos viscosímetros como el sistema más </a:t>
            </a:r>
            <a:r>
              <a:rPr lang="es-ES" sz="1650" dirty="0" smtClean="0">
                <a:latin typeface="Century Gothic" panose="020B0502020202020204" pitchFamily="34" charset="0"/>
              </a:rPr>
              <a:t>eficiente para </a:t>
            </a:r>
            <a:r>
              <a:rPr lang="es-ES" sz="1650" dirty="0">
                <a:latin typeface="Century Gothic" panose="020B0502020202020204" pitchFamily="34" charset="0"/>
              </a:rPr>
              <a:t>medir la viscosidad</a:t>
            </a:r>
            <a:endParaRPr lang="es-MX" sz="1650" dirty="0">
              <a:latin typeface="Century Gothic" panose="020B0502020202020204" pitchFamily="34" charset="0"/>
            </a:endParaRPr>
          </a:p>
        </p:txBody>
      </p:sp>
    </p:spTree>
    <p:extLst>
      <p:ext uri="{BB962C8B-B14F-4D97-AF65-F5344CB8AC3E}">
        <p14:creationId xmlns:p14="http://schemas.microsoft.com/office/powerpoint/2010/main" val="4192221233"/>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MX"/>
          </a:p>
        </p:txBody>
      </p:sp>
      <p:sp>
        <p:nvSpPr>
          <p:cNvPr id="3" name="Marcador de contenido 2"/>
          <p:cNvSpPr>
            <a:spLocks noGrp="1"/>
          </p:cNvSpPr>
          <p:nvPr>
            <p:ph idx="1"/>
          </p:nvPr>
        </p:nvSpPr>
        <p:spPr>
          <a:xfrm>
            <a:off x="381000" y="1412875"/>
            <a:ext cx="8382000" cy="4284250"/>
          </a:xfrm>
        </p:spPr>
        <p:txBody>
          <a:bodyPr/>
          <a:lstStyle/>
          <a:p>
            <a:r>
              <a:rPr lang="es-MX" dirty="0" smtClean="0">
                <a:hlinkClick r:id="rId2"/>
              </a:rPr>
              <a:t>http://www.ing.unlp.edu.ar/aeron/laclyfa/Carpetas/Catedra/Archivos/Fluidodin/Viscosimetro%20Stokes.pdf</a:t>
            </a:r>
            <a:r>
              <a:rPr lang="es-MX" dirty="0" smtClean="0"/>
              <a:t> </a:t>
            </a:r>
            <a:endParaRPr lang="es-MX" dirty="0" smtClean="0"/>
          </a:p>
          <a:p>
            <a:r>
              <a:rPr lang="es-MX" dirty="0">
                <a:hlinkClick r:id="rId3"/>
              </a:rPr>
              <a:t>http://</a:t>
            </a:r>
            <a:r>
              <a:rPr lang="es-MX" dirty="0" smtClean="0">
                <a:hlinkClick r:id="rId3"/>
              </a:rPr>
              <a:t>www.academia.edu/7969989/LABORATORIO_DE_MEDIDAS_Viscosidad_M%C3%A9todos_de_Medici%C3%B3n</a:t>
            </a:r>
            <a:endParaRPr lang="es-MX" dirty="0" smtClean="0"/>
          </a:p>
          <a:p>
            <a:r>
              <a:rPr lang="es-MX" dirty="0">
                <a:hlinkClick r:id="rId4"/>
              </a:rPr>
              <a:t>http://fcm.ens.uabc.mx/~</a:t>
            </a:r>
            <a:r>
              <a:rPr lang="es-MX" dirty="0" smtClean="0">
                <a:hlinkClick r:id="rId4"/>
              </a:rPr>
              <a:t>fisica/FISICA_II/APUNTES/VISCOSIDAD.htm</a:t>
            </a:r>
            <a:endParaRPr lang="es-MX" dirty="0" smtClean="0"/>
          </a:p>
          <a:p>
            <a:endParaRPr lang="es-MX" dirty="0"/>
          </a:p>
        </p:txBody>
      </p:sp>
    </p:spTree>
    <p:extLst>
      <p:ext uri="{BB962C8B-B14F-4D97-AF65-F5344CB8AC3E}">
        <p14:creationId xmlns:p14="http://schemas.microsoft.com/office/powerpoint/2010/main" val="61249549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95536" y="2276872"/>
            <a:ext cx="8382000" cy="1592744"/>
          </a:xfrm>
        </p:spPr>
        <p:txBody>
          <a:bodyPr/>
          <a:lstStyle/>
          <a:p>
            <a:pPr algn="ctr"/>
            <a:r>
              <a:rPr lang="es-MX" sz="11500" dirty="0" smtClean="0">
                <a:latin typeface="Bookman Old Style" panose="02050604050505020204" pitchFamily="18" charset="0"/>
              </a:rPr>
              <a:t>GRACIAS!</a:t>
            </a:r>
            <a:endParaRPr lang="es-MX" sz="11500" dirty="0">
              <a:latin typeface="Bookman Old Style" panose="02050604050505020204" pitchFamily="18" charset="0"/>
            </a:endParaRPr>
          </a:p>
        </p:txBody>
      </p:sp>
    </p:spTree>
    <p:extLst>
      <p:ext uri="{BB962C8B-B14F-4D97-AF65-F5344CB8AC3E}">
        <p14:creationId xmlns:p14="http://schemas.microsoft.com/office/powerpoint/2010/main" val="4118690593"/>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Blue Segoe 4-3 template-template_April-17-2007">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2.xml><?xml version="1.0" encoding="utf-8"?>
<a:theme xmlns:a="http://schemas.openxmlformats.org/drawingml/2006/main" name="White with Courier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1469121-656B-4F26-9082-91D6158FEF1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Diapositivas de presentación de muestra (diseño de silbido azul)</Template>
  <TotalTime>132</TotalTime>
  <Words>2141</Words>
  <Application>Microsoft Office PowerPoint</Application>
  <PresentationFormat>Presentación en pantalla (4:3)</PresentationFormat>
  <Paragraphs>116</Paragraphs>
  <Slides>36</Slides>
  <Notes>6</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36</vt:i4>
      </vt:variant>
    </vt:vector>
  </HeadingPairs>
  <TitlesOfParts>
    <vt:vector size="45" baseType="lpstr">
      <vt:lpstr>Arial</vt:lpstr>
      <vt:lpstr>Bookman Old Style</vt:lpstr>
      <vt:lpstr>Calibri</vt:lpstr>
      <vt:lpstr>Century Gothic</vt:lpstr>
      <vt:lpstr>Courier New</vt:lpstr>
      <vt:lpstr>Times New Roman</vt:lpstr>
      <vt:lpstr>Wingdings</vt:lpstr>
      <vt:lpstr>Blue Segoe 4-3 template-template_April-17-2007</vt:lpstr>
      <vt:lpstr>White with Courier font for code slides</vt:lpstr>
      <vt:lpstr>  Universidad Politécnica de Zacatecas  Docente: M  en  C.  Cristóbal Solis Ramírez  Alumnos: José Francisco Pinedo García Yetzi Itzel Valtierra Medina Gladys Alejandra Lozano Gutiérrez  Viscosidad  Ing. En Biotecnología   Fresnillo, Zac  a 14 de mayo de 2015</vt:lpstr>
      <vt:lpstr>Introducción</vt:lpstr>
      <vt:lpstr>Presentación de PowerPoint</vt:lpstr>
      <vt:lpstr>Unidades   La viscosidad de un fluido puede medirse por un parámetro dependiente de la temperatura llamado coeficiente de viscosidad o simplemente viscosidad:  Coeficiente de viscosidad dinámico, designado como η o μ.  En unidades en el SI: [µ] = [Pa·s] = [kg·m−1·s−1] ; otras unidades: 1 poise = 1 [P] = 10-1 [Pa·s] = [10-1 kg·s-1·m-1]  Coeficiente de viscosidad cinemático, designado como ν, y que resulta ser igual al cociente entre el coeficiente de viscosidad dinámica y la densidad del fluido. ν = μ/ρ. (En unidades en el SI: [ν] = [m².s−1].  En el sistema cegesimal es el stokes —St—).</vt:lpstr>
      <vt:lpstr>Viscosímetros  </vt:lpstr>
      <vt:lpstr>1.Caída de presión producida por un tubo capilar al paso del  fluido que se bombea a caudal constante (figura 7.38a). Dos tomas, situadas antes y después del tubo capilar, se conectan a un transmisor de presión diferencial neumático o electrónico o digital. 2.Rotámetro con rotador sensible a la viscosidad (figura 7.38b). Se mantiene un caudal constante del  fluido, con lo que la posición del  rotador depende de la viscosidad. Al rotámetro se le puede acoplar un transmisor neumático, electrónico o digital.               Figura 7.38 Viscosímetros continuos de caída de presión y rotámetro</vt:lpstr>
      <vt:lpstr>Presentación de PowerPoint</vt:lpstr>
      <vt:lpstr>  4. Vibraciones. La frecuencia de resonancia de una horquilla o de un cilindro en el seno del  fluido indica la densidad, mientras que la amplitud de la vibración es inversamente proporcional a la viscosidad. El sistema electrónico asociado mantiene la vibración en la frecuencia de resonancia. La temperatura del  fluido abarca desde -40 °C a +150 °C.  </vt:lpstr>
      <vt:lpstr>Métodos de medición</vt:lpstr>
      <vt:lpstr>Presentación de PowerPoint</vt:lpstr>
      <vt:lpstr>Presentación de PowerPoint</vt:lpstr>
      <vt:lpstr>Ley de Stokes</vt:lpstr>
      <vt:lpstr>Presentación de PowerPoint</vt:lpstr>
      <vt:lpstr>Presentación de PowerPoint</vt:lpstr>
      <vt:lpstr>Presentación de PowerPoint</vt:lpstr>
      <vt:lpstr>Presentación de PowerPoint</vt:lpstr>
      <vt:lpstr>Presentación de PowerPoint</vt:lpstr>
      <vt:lpstr>Viscosímetro de caída bola</vt:lpstr>
      <vt:lpstr>Presentación de PowerPoint</vt:lpstr>
      <vt:lpstr>Viscosímetro de Ostwald</vt:lpstr>
      <vt:lpstr>Presentación de PowerPoint</vt:lpstr>
      <vt:lpstr>Presentación de PowerPoint</vt:lpstr>
      <vt:lpstr>Presentación de PowerPoint</vt:lpstr>
      <vt:lpstr>Presentación de PowerPoint</vt:lpstr>
      <vt:lpstr>Viscosímetro de Saybolt</vt:lpstr>
      <vt:lpstr>Presentación de PowerPoint</vt:lpstr>
      <vt:lpstr>Presentación de PowerPoint</vt:lpstr>
      <vt:lpstr>Presentación de PowerPoint</vt:lpstr>
      <vt:lpstr>Viscosímetro de Searle</vt:lpstr>
      <vt:lpstr>Presentación de PowerPoint</vt:lpstr>
      <vt:lpstr>Viscosímetros rotacionales</vt:lpstr>
      <vt:lpstr>Viscosímetro Engler</vt:lpstr>
      <vt:lpstr>Viscosímetro de tambor giratorio</vt:lpstr>
      <vt:lpstr>Viscosímetros que vibran</vt:lpstr>
      <vt:lpstr>Presentación de PowerPoint</vt:lpstr>
      <vt:lpstr>GRACIAS!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 Politécnica de Zacatecas  Docente: M  en  C.  Cristóbal Solis Ramírez  Alumnos: José Francisco Pinedo García Yetzi Itzel Valtierra Medina Gladys Alejandra Lozano Gutiérrez  Viscosidad  Ing. En Biotrecnología</dc:title>
  <dc:creator>Cinemex</dc:creator>
  <cp:keywords/>
  <cp:lastModifiedBy>Cinemex</cp:lastModifiedBy>
  <cp:revision>14</cp:revision>
  <dcterms:created xsi:type="dcterms:W3CDTF">2015-05-14T03:32:53Z</dcterms:created>
  <dcterms:modified xsi:type="dcterms:W3CDTF">2015-05-14T05:45:40Z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TC102867169990</vt:lpwstr>
  </property>
</Properties>
</file>