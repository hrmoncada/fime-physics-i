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1" r:id="rId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32" autoAdjust="0"/>
    <p:restoredTop sz="94660"/>
  </p:normalViewPr>
  <p:slideViewPr>
    <p:cSldViewPr snapToGrid="0">
      <p:cViewPr varScale="1">
        <p:scale>
          <a:sx n="69" d="100"/>
          <a:sy n="69" d="100"/>
        </p:scale>
        <p:origin x="71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D1713E-004E-4DA4-88EF-ACE1522773F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3E24A622-4A65-498E-ADEA-DC9AC031F0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E9B0CE4E-82DE-4FFF-B78C-D0C73E704DD7}"/>
              </a:ext>
            </a:extLst>
          </p:cNvPr>
          <p:cNvSpPr>
            <a:spLocks noGrp="1"/>
          </p:cNvSpPr>
          <p:nvPr>
            <p:ph type="dt" sz="half" idx="10"/>
          </p:nvPr>
        </p:nvSpPr>
        <p:spPr/>
        <p:txBody>
          <a:bodyPr/>
          <a:lstStyle/>
          <a:p>
            <a:fld id="{970661C5-EF18-4526-8FDE-92C9A241D56E}" type="datetimeFigureOut">
              <a:rPr lang="es-CO" smtClean="0"/>
              <a:t>5/12/2019</a:t>
            </a:fld>
            <a:endParaRPr lang="es-CO"/>
          </a:p>
        </p:txBody>
      </p:sp>
      <p:sp>
        <p:nvSpPr>
          <p:cNvPr id="5" name="Marcador de pie de página 4">
            <a:extLst>
              <a:ext uri="{FF2B5EF4-FFF2-40B4-BE49-F238E27FC236}">
                <a16:creationId xmlns:a16="http://schemas.microsoft.com/office/drawing/2014/main" id="{51BFB095-5FCE-4C28-8788-B57F21CB6A1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DD3E1FC-66EE-420F-9EE8-A240C0A8D269}"/>
              </a:ext>
            </a:extLst>
          </p:cNvPr>
          <p:cNvSpPr>
            <a:spLocks noGrp="1"/>
          </p:cNvSpPr>
          <p:nvPr>
            <p:ph type="sldNum" sz="quarter" idx="12"/>
          </p:nvPr>
        </p:nvSpPr>
        <p:spPr/>
        <p:txBody>
          <a:bodyPr/>
          <a:lstStyle/>
          <a:p>
            <a:fld id="{2255CBA5-C214-49C8-A734-7ED6F119ABD4}" type="slidenum">
              <a:rPr lang="es-CO" smtClean="0"/>
              <a:t>‹Nº›</a:t>
            </a:fld>
            <a:endParaRPr lang="es-CO"/>
          </a:p>
        </p:txBody>
      </p:sp>
    </p:spTree>
    <p:extLst>
      <p:ext uri="{BB962C8B-B14F-4D97-AF65-F5344CB8AC3E}">
        <p14:creationId xmlns:p14="http://schemas.microsoft.com/office/powerpoint/2010/main" val="3147411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F97E7D-8B7C-4983-8C15-67DD4613AF8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769DB4BB-C129-4020-B49A-DCA3EDC5072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9BD59C9C-0BFA-48FF-A80C-5243D8680DE6}"/>
              </a:ext>
            </a:extLst>
          </p:cNvPr>
          <p:cNvSpPr>
            <a:spLocks noGrp="1"/>
          </p:cNvSpPr>
          <p:nvPr>
            <p:ph type="dt" sz="half" idx="10"/>
          </p:nvPr>
        </p:nvSpPr>
        <p:spPr/>
        <p:txBody>
          <a:bodyPr/>
          <a:lstStyle/>
          <a:p>
            <a:fld id="{970661C5-EF18-4526-8FDE-92C9A241D56E}" type="datetimeFigureOut">
              <a:rPr lang="es-CO" smtClean="0"/>
              <a:t>5/12/2019</a:t>
            </a:fld>
            <a:endParaRPr lang="es-CO"/>
          </a:p>
        </p:txBody>
      </p:sp>
      <p:sp>
        <p:nvSpPr>
          <p:cNvPr id="5" name="Marcador de pie de página 4">
            <a:extLst>
              <a:ext uri="{FF2B5EF4-FFF2-40B4-BE49-F238E27FC236}">
                <a16:creationId xmlns:a16="http://schemas.microsoft.com/office/drawing/2014/main" id="{EE4BC03F-282C-4382-917D-703D8D9E2C0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10E2BBE-B22E-45E4-BF1F-04D889B946F5}"/>
              </a:ext>
            </a:extLst>
          </p:cNvPr>
          <p:cNvSpPr>
            <a:spLocks noGrp="1"/>
          </p:cNvSpPr>
          <p:nvPr>
            <p:ph type="sldNum" sz="quarter" idx="12"/>
          </p:nvPr>
        </p:nvSpPr>
        <p:spPr/>
        <p:txBody>
          <a:bodyPr/>
          <a:lstStyle/>
          <a:p>
            <a:fld id="{2255CBA5-C214-49C8-A734-7ED6F119ABD4}" type="slidenum">
              <a:rPr lang="es-CO" smtClean="0"/>
              <a:t>‹Nº›</a:t>
            </a:fld>
            <a:endParaRPr lang="es-CO"/>
          </a:p>
        </p:txBody>
      </p:sp>
    </p:spTree>
    <p:extLst>
      <p:ext uri="{BB962C8B-B14F-4D97-AF65-F5344CB8AC3E}">
        <p14:creationId xmlns:p14="http://schemas.microsoft.com/office/powerpoint/2010/main" val="1668949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97BAAA-C0A8-4CFA-ADAB-6774711D18E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0AD2C74-24F8-44EF-8BDE-3DDFD22D39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6D12AA1-FC8E-4631-9864-5E217A30900A}"/>
              </a:ext>
            </a:extLst>
          </p:cNvPr>
          <p:cNvSpPr>
            <a:spLocks noGrp="1"/>
          </p:cNvSpPr>
          <p:nvPr>
            <p:ph type="dt" sz="half" idx="10"/>
          </p:nvPr>
        </p:nvSpPr>
        <p:spPr/>
        <p:txBody>
          <a:bodyPr/>
          <a:lstStyle/>
          <a:p>
            <a:fld id="{970661C5-EF18-4526-8FDE-92C9A241D56E}" type="datetimeFigureOut">
              <a:rPr lang="es-CO" smtClean="0"/>
              <a:t>5/12/2019</a:t>
            </a:fld>
            <a:endParaRPr lang="es-CO"/>
          </a:p>
        </p:txBody>
      </p:sp>
      <p:sp>
        <p:nvSpPr>
          <p:cNvPr id="5" name="Marcador de pie de página 4">
            <a:extLst>
              <a:ext uri="{FF2B5EF4-FFF2-40B4-BE49-F238E27FC236}">
                <a16:creationId xmlns:a16="http://schemas.microsoft.com/office/drawing/2014/main" id="{34798516-8EC7-4144-A913-A7FD1E10811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E3364BB-4039-4150-9740-1975F38F1BB1}"/>
              </a:ext>
            </a:extLst>
          </p:cNvPr>
          <p:cNvSpPr>
            <a:spLocks noGrp="1"/>
          </p:cNvSpPr>
          <p:nvPr>
            <p:ph type="sldNum" sz="quarter" idx="12"/>
          </p:nvPr>
        </p:nvSpPr>
        <p:spPr/>
        <p:txBody>
          <a:bodyPr/>
          <a:lstStyle/>
          <a:p>
            <a:fld id="{2255CBA5-C214-49C8-A734-7ED6F119ABD4}" type="slidenum">
              <a:rPr lang="es-CO" smtClean="0"/>
              <a:t>‹Nº›</a:t>
            </a:fld>
            <a:endParaRPr lang="es-CO"/>
          </a:p>
        </p:txBody>
      </p:sp>
    </p:spTree>
    <p:extLst>
      <p:ext uri="{BB962C8B-B14F-4D97-AF65-F5344CB8AC3E}">
        <p14:creationId xmlns:p14="http://schemas.microsoft.com/office/powerpoint/2010/main" val="2840009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40850F-41FD-4774-8B2F-8DB6AADF1DF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E193B15-F91A-4CD5-8143-6CBD8D0F84F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93C06DF-69AA-421A-93AB-7B2808C91BB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E12A66B6-A7C0-4CA8-9178-2A905F637B53}"/>
              </a:ext>
            </a:extLst>
          </p:cNvPr>
          <p:cNvSpPr>
            <a:spLocks noGrp="1"/>
          </p:cNvSpPr>
          <p:nvPr>
            <p:ph type="dt" sz="half" idx="10"/>
          </p:nvPr>
        </p:nvSpPr>
        <p:spPr/>
        <p:txBody>
          <a:bodyPr/>
          <a:lstStyle/>
          <a:p>
            <a:fld id="{970661C5-EF18-4526-8FDE-92C9A241D56E}" type="datetimeFigureOut">
              <a:rPr lang="es-CO" smtClean="0"/>
              <a:t>5/12/2019</a:t>
            </a:fld>
            <a:endParaRPr lang="es-CO"/>
          </a:p>
        </p:txBody>
      </p:sp>
      <p:sp>
        <p:nvSpPr>
          <p:cNvPr id="6" name="Marcador de pie de página 5">
            <a:extLst>
              <a:ext uri="{FF2B5EF4-FFF2-40B4-BE49-F238E27FC236}">
                <a16:creationId xmlns:a16="http://schemas.microsoft.com/office/drawing/2014/main" id="{86254FE6-3055-4957-B557-E08BA14E643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8C4281F-EE00-4479-AA7A-319B14468847}"/>
              </a:ext>
            </a:extLst>
          </p:cNvPr>
          <p:cNvSpPr>
            <a:spLocks noGrp="1"/>
          </p:cNvSpPr>
          <p:nvPr>
            <p:ph type="sldNum" sz="quarter" idx="12"/>
          </p:nvPr>
        </p:nvSpPr>
        <p:spPr/>
        <p:txBody>
          <a:bodyPr/>
          <a:lstStyle/>
          <a:p>
            <a:fld id="{2255CBA5-C214-49C8-A734-7ED6F119ABD4}" type="slidenum">
              <a:rPr lang="es-CO" smtClean="0"/>
              <a:t>‹Nº›</a:t>
            </a:fld>
            <a:endParaRPr lang="es-CO"/>
          </a:p>
        </p:txBody>
      </p:sp>
    </p:spTree>
    <p:extLst>
      <p:ext uri="{BB962C8B-B14F-4D97-AF65-F5344CB8AC3E}">
        <p14:creationId xmlns:p14="http://schemas.microsoft.com/office/powerpoint/2010/main" val="3692321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D2596B-EC3A-40DB-BD9C-EFB332EE0B5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1A7FCB1-C7BF-40E3-AC59-D6B216F53F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BA2F6FC-2055-4951-988B-B5DB67F1EDD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B61F4DB3-D81F-4F9A-B318-243891477E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57452DC-443B-4769-B598-19B77A419A2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0640F3CB-88C9-4AAB-835B-214EDC8348FB}"/>
              </a:ext>
            </a:extLst>
          </p:cNvPr>
          <p:cNvSpPr>
            <a:spLocks noGrp="1"/>
          </p:cNvSpPr>
          <p:nvPr>
            <p:ph type="dt" sz="half" idx="10"/>
          </p:nvPr>
        </p:nvSpPr>
        <p:spPr/>
        <p:txBody>
          <a:bodyPr/>
          <a:lstStyle/>
          <a:p>
            <a:fld id="{970661C5-EF18-4526-8FDE-92C9A241D56E}" type="datetimeFigureOut">
              <a:rPr lang="es-CO" smtClean="0"/>
              <a:t>5/12/2019</a:t>
            </a:fld>
            <a:endParaRPr lang="es-CO"/>
          </a:p>
        </p:txBody>
      </p:sp>
      <p:sp>
        <p:nvSpPr>
          <p:cNvPr id="8" name="Marcador de pie de página 7">
            <a:extLst>
              <a:ext uri="{FF2B5EF4-FFF2-40B4-BE49-F238E27FC236}">
                <a16:creationId xmlns:a16="http://schemas.microsoft.com/office/drawing/2014/main" id="{37A0FD25-1BAE-486F-B0A4-AE95A1444BFD}"/>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6C70A324-0D0F-4514-BACB-32EE298738D5}"/>
              </a:ext>
            </a:extLst>
          </p:cNvPr>
          <p:cNvSpPr>
            <a:spLocks noGrp="1"/>
          </p:cNvSpPr>
          <p:nvPr>
            <p:ph type="sldNum" sz="quarter" idx="12"/>
          </p:nvPr>
        </p:nvSpPr>
        <p:spPr/>
        <p:txBody>
          <a:bodyPr/>
          <a:lstStyle/>
          <a:p>
            <a:fld id="{2255CBA5-C214-49C8-A734-7ED6F119ABD4}" type="slidenum">
              <a:rPr lang="es-CO" smtClean="0"/>
              <a:t>‹Nº›</a:t>
            </a:fld>
            <a:endParaRPr lang="es-CO"/>
          </a:p>
        </p:txBody>
      </p:sp>
    </p:spTree>
    <p:extLst>
      <p:ext uri="{BB962C8B-B14F-4D97-AF65-F5344CB8AC3E}">
        <p14:creationId xmlns:p14="http://schemas.microsoft.com/office/powerpoint/2010/main" val="3885384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256664-E86B-4B97-95CF-C9C3A4B60758}"/>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0B13BEA1-B650-4468-BE39-289AA93A9EFA}"/>
              </a:ext>
            </a:extLst>
          </p:cNvPr>
          <p:cNvSpPr>
            <a:spLocks noGrp="1"/>
          </p:cNvSpPr>
          <p:nvPr>
            <p:ph type="dt" sz="half" idx="10"/>
          </p:nvPr>
        </p:nvSpPr>
        <p:spPr/>
        <p:txBody>
          <a:bodyPr/>
          <a:lstStyle/>
          <a:p>
            <a:fld id="{970661C5-EF18-4526-8FDE-92C9A241D56E}" type="datetimeFigureOut">
              <a:rPr lang="es-CO" smtClean="0"/>
              <a:t>5/12/2019</a:t>
            </a:fld>
            <a:endParaRPr lang="es-CO"/>
          </a:p>
        </p:txBody>
      </p:sp>
      <p:sp>
        <p:nvSpPr>
          <p:cNvPr id="4" name="Marcador de pie de página 3">
            <a:extLst>
              <a:ext uri="{FF2B5EF4-FFF2-40B4-BE49-F238E27FC236}">
                <a16:creationId xmlns:a16="http://schemas.microsoft.com/office/drawing/2014/main" id="{543B424B-1381-4512-86D9-4799594BCD53}"/>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41A6C209-B44A-4125-B234-E1EE69B9B3F2}"/>
              </a:ext>
            </a:extLst>
          </p:cNvPr>
          <p:cNvSpPr>
            <a:spLocks noGrp="1"/>
          </p:cNvSpPr>
          <p:nvPr>
            <p:ph type="sldNum" sz="quarter" idx="12"/>
          </p:nvPr>
        </p:nvSpPr>
        <p:spPr/>
        <p:txBody>
          <a:bodyPr/>
          <a:lstStyle/>
          <a:p>
            <a:fld id="{2255CBA5-C214-49C8-A734-7ED6F119ABD4}" type="slidenum">
              <a:rPr lang="es-CO" smtClean="0"/>
              <a:t>‹Nº›</a:t>
            </a:fld>
            <a:endParaRPr lang="es-CO"/>
          </a:p>
        </p:txBody>
      </p:sp>
    </p:spTree>
    <p:extLst>
      <p:ext uri="{BB962C8B-B14F-4D97-AF65-F5344CB8AC3E}">
        <p14:creationId xmlns:p14="http://schemas.microsoft.com/office/powerpoint/2010/main" val="81057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BF921D1-908A-4D41-9446-ED419069215D}"/>
              </a:ext>
            </a:extLst>
          </p:cNvPr>
          <p:cNvSpPr>
            <a:spLocks noGrp="1"/>
          </p:cNvSpPr>
          <p:nvPr>
            <p:ph type="dt" sz="half" idx="10"/>
          </p:nvPr>
        </p:nvSpPr>
        <p:spPr/>
        <p:txBody>
          <a:bodyPr/>
          <a:lstStyle/>
          <a:p>
            <a:fld id="{970661C5-EF18-4526-8FDE-92C9A241D56E}" type="datetimeFigureOut">
              <a:rPr lang="es-CO" smtClean="0"/>
              <a:t>5/12/2019</a:t>
            </a:fld>
            <a:endParaRPr lang="es-CO"/>
          </a:p>
        </p:txBody>
      </p:sp>
      <p:sp>
        <p:nvSpPr>
          <p:cNvPr id="3" name="Marcador de pie de página 2">
            <a:extLst>
              <a:ext uri="{FF2B5EF4-FFF2-40B4-BE49-F238E27FC236}">
                <a16:creationId xmlns:a16="http://schemas.microsoft.com/office/drawing/2014/main" id="{B055010F-42EF-4981-9AF1-C4F9CE9481D3}"/>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4E3E61A1-DD3D-4E09-922B-D5FC4AE61252}"/>
              </a:ext>
            </a:extLst>
          </p:cNvPr>
          <p:cNvSpPr>
            <a:spLocks noGrp="1"/>
          </p:cNvSpPr>
          <p:nvPr>
            <p:ph type="sldNum" sz="quarter" idx="12"/>
          </p:nvPr>
        </p:nvSpPr>
        <p:spPr/>
        <p:txBody>
          <a:bodyPr/>
          <a:lstStyle/>
          <a:p>
            <a:fld id="{2255CBA5-C214-49C8-A734-7ED6F119ABD4}" type="slidenum">
              <a:rPr lang="es-CO" smtClean="0"/>
              <a:t>‹Nº›</a:t>
            </a:fld>
            <a:endParaRPr lang="es-CO"/>
          </a:p>
        </p:txBody>
      </p:sp>
    </p:spTree>
    <p:extLst>
      <p:ext uri="{BB962C8B-B14F-4D97-AF65-F5344CB8AC3E}">
        <p14:creationId xmlns:p14="http://schemas.microsoft.com/office/powerpoint/2010/main" val="1416672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0C9EFB-3D79-4782-8F9C-0F9A09FDFC9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FB33AC1-AAF1-43FC-B5DC-F99B07C323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3F12B279-326D-48DB-A88A-BE19B8EEE6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1B91C88-FD1E-4F0F-8688-2464F306E16D}"/>
              </a:ext>
            </a:extLst>
          </p:cNvPr>
          <p:cNvSpPr>
            <a:spLocks noGrp="1"/>
          </p:cNvSpPr>
          <p:nvPr>
            <p:ph type="dt" sz="half" idx="10"/>
          </p:nvPr>
        </p:nvSpPr>
        <p:spPr/>
        <p:txBody>
          <a:bodyPr/>
          <a:lstStyle/>
          <a:p>
            <a:fld id="{970661C5-EF18-4526-8FDE-92C9A241D56E}" type="datetimeFigureOut">
              <a:rPr lang="es-CO" smtClean="0"/>
              <a:t>5/12/2019</a:t>
            </a:fld>
            <a:endParaRPr lang="es-CO"/>
          </a:p>
        </p:txBody>
      </p:sp>
      <p:sp>
        <p:nvSpPr>
          <p:cNvPr id="6" name="Marcador de pie de página 5">
            <a:extLst>
              <a:ext uri="{FF2B5EF4-FFF2-40B4-BE49-F238E27FC236}">
                <a16:creationId xmlns:a16="http://schemas.microsoft.com/office/drawing/2014/main" id="{FDE12A32-C1D1-4FF6-85B2-8311849A3107}"/>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979F786-A205-49B7-B54E-5B9A68F666AC}"/>
              </a:ext>
            </a:extLst>
          </p:cNvPr>
          <p:cNvSpPr>
            <a:spLocks noGrp="1"/>
          </p:cNvSpPr>
          <p:nvPr>
            <p:ph type="sldNum" sz="quarter" idx="12"/>
          </p:nvPr>
        </p:nvSpPr>
        <p:spPr/>
        <p:txBody>
          <a:bodyPr/>
          <a:lstStyle/>
          <a:p>
            <a:fld id="{2255CBA5-C214-49C8-A734-7ED6F119ABD4}" type="slidenum">
              <a:rPr lang="es-CO" smtClean="0"/>
              <a:t>‹Nº›</a:t>
            </a:fld>
            <a:endParaRPr lang="es-CO"/>
          </a:p>
        </p:txBody>
      </p:sp>
    </p:spTree>
    <p:extLst>
      <p:ext uri="{BB962C8B-B14F-4D97-AF65-F5344CB8AC3E}">
        <p14:creationId xmlns:p14="http://schemas.microsoft.com/office/powerpoint/2010/main" val="1574118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54C287-7EF4-4E95-A47F-8D909C0307F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8BAEE43A-9DB7-4D35-A634-3CF0E9869B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2766661F-439E-453C-B658-C0A4A954F0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AFFFBAF-49B7-4FFB-A1CB-152A832E7E88}"/>
              </a:ext>
            </a:extLst>
          </p:cNvPr>
          <p:cNvSpPr>
            <a:spLocks noGrp="1"/>
          </p:cNvSpPr>
          <p:nvPr>
            <p:ph type="dt" sz="half" idx="10"/>
          </p:nvPr>
        </p:nvSpPr>
        <p:spPr/>
        <p:txBody>
          <a:bodyPr/>
          <a:lstStyle/>
          <a:p>
            <a:fld id="{970661C5-EF18-4526-8FDE-92C9A241D56E}" type="datetimeFigureOut">
              <a:rPr lang="es-CO" smtClean="0"/>
              <a:t>5/12/2019</a:t>
            </a:fld>
            <a:endParaRPr lang="es-CO"/>
          </a:p>
        </p:txBody>
      </p:sp>
      <p:sp>
        <p:nvSpPr>
          <p:cNvPr id="6" name="Marcador de pie de página 5">
            <a:extLst>
              <a:ext uri="{FF2B5EF4-FFF2-40B4-BE49-F238E27FC236}">
                <a16:creationId xmlns:a16="http://schemas.microsoft.com/office/drawing/2014/main" id="{B31A9213-D664-4229-ACF1-67B20715650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E508EF18-38CE-480E-BF38-09FAFEFBF356}"/>
              </a:ext>
            </a:extLst>
          </p:cNvPr>
          <p:cNvSpPr>
            <a:spLocks noGrp="1"/>
          </p:cNvSpPr>
          <p:nvPr>
            <p:ph type="sldNum" sz="quarter" idx="12"/>
          </p:nvPr>
        </p:nvSpPr>
        <p:spPr/>
        <p:txBody>
          <a:bodyPr/>
          <a:lstStyle/>
          <a:p>
            <a:fld id="{2255CBA5-C214-49C8-A734-7ED6F119ABD4}" type="slidenum">
              <a:rPr lang="es-CO" smtClean="0"/>
              <a:t>‹Nº›</a:t>
            </a:fld>
            <a:endParaRPr lang="es-CO"/>
          </a:p>
        </p:txBody>
      </p:sp>
    </p:spTree>
    <p:extLst>
      <p:ext uri="{BB962C8B-B14F-4D97-AF65-F5344CB8AC3E}">
        <p14:creationId xmlns:p14="http://schemas.microsoft.com/office/powerpoint/2010/main" val="1367206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FCA678-AA76-46FE-83DB-D7D0DBF223C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B7ABDD0-ADE7-4630-A909-0BDA6F9E7DF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E5C37370-3478-485B-8F3F-8023C5E3DA36}"/>
              </a:ext>
            </a:extLst>
          </p:cNvPr>
          <p:cNvSpPr>
            <a:spLocks noGrp="1"/>
          </p:cNvSpPr>
          <p:nvPr>
            <p:ph type="dt" sz="half" idx="10"/>
          </p:nvPr>
        </p:nvSpPr>
        <p:spPr/>
        <p:txBody>
          <a:bodyPr/>
          <a:lstStyle/>
          <a:p>
            <a:fld id="{970661C5-EF18-4526-8FDE-92C9A241D56E}" type="datetimeFigureOut">
              <a:rPr lang="es-CO" smtClean="0"/>
              <a:t>5/12/2019</a:t>
            </a:fld>
            <a:endParaRPr lang="es-CO"/>
          </a:p>
        </p:txBody>
      </p:sp>
      <p:sp>
        <p:nvSpPr>
          <p:cNvPr id="5" name="Marcador de pie de página 4">
            <a:extLst>
              <a:ext uri="{FF2B5EF4-FFF2-40B4-BE49-F238E27FC236}">
                <a16:creationId xmlns:a16="http://schemas.microsoft.com/office/drawing/2014/main" id="{CE256CE2-9914-443C-858F-C2C20AE7AD4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9357B9F-4F65-497F-8014-53B68544ED40}"/>
              </a:ext>
            </a:extLst>
          </p:cNvPr>
          <p:cNvSpPr>
            <a:spLocks noGrp="1"/>
          </p:cNvSpPr>
          <p:nvPr>
            <p:ph type="sldNum" sz="quarter" idx="12"/>
          </p:nvPr>
        </p:nvSpPr>
        <p:spPr/>
        <p:txBody>
          <a:bodyPr/>
          <a:lstStyle/>
          <a:p>
            <a:fld id="{2255CBA5-C214-49C8-A734-7ED6F119ABD4}" type="slidenum">
              <a:rPr lang="es-CO" smtClean="0"/>
              <a:t>‹Nº›</a:t>
            </a:fld>
            <a:endParaRPr lang="es-CO"/>
          </a:p>
        </p:txBody>
      </p:sp>
    </p:spTree>
    <p:extLst>
      <p:ext uri="{BB962C8B-B14F-4D97-AF65-F5344CB8AC3E}">
        <p14:creationId xmlns:p14="http://schemas.microsoft.com/office/powerpoint/2010/main" val="1461435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4BF00F3-1B65-40B9-A37F-EEBABF4FC93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6D3088EF-9939-4CBF-93A9-9C79C38EDEE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0E31B02-B778-47C0-BA96-DB72A90DAE19}"/>
              </a:ext>
            </a:extLst>
          </p:cNvPr>
          <p:cNvSpPr>
            <a:spLocks noGrp="1"/>
          </p:cNvSpPr>
          <p:nvPr>
            <p:ph type="dt" sz="half" idx="10"/>
          </p:nvPr>
        </p:nvSpPr>
        <p:spPr/>
        <p:txBody>
          <a:bodyPr/>
          <a:lstStyle/>
          <a:p>
            <a:fld id="{970661C5-EF18-4526-8FDE-92C9A241D56E}" type="datetimeFigureOut">
              <a:rPr lang="es-CO" smtClean="0"/>
              <a:t>5/12/2019</a:t>
            </a:fld>
            <a:endParaRPr lang="es-CO"/>
          </a:p>
        </p:txBody>
      </p:sp>
      <p:sp>
        <p:nvSpPr>
          <p:cNvPr id="5" name="Marcador de pie de página 4">
            <a:extLst>
              <a:ext uri="{FF2B5EF4-FFF2-40B4-BE49-F238E27FC236}">
                <a16:creationId xmlns:a16="http://schemas.microsoft.com/office/drawing/2014/main" id="{04280DB6-17FA-4669-B924-779BD2573FB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D2CFF1C-C13F-4B69-A880-0725C16D1045}"/>
              </a:ext>
            </a:extLst>
          </p:cNvPr>
          <p:cNvSpPr>
            <a:spLocks noGrp="1"/>
          </p:cNvSpPr>
          <p:nvPr>
            <p:ph type="sldNum" sz="quarter" idx="12"/>
          </p:nvPr>
        </p:nvSpPr>
        <p:spPr/>
        <p:txBody>
          <a:bodyPr/>
          <a:lstStyle/>
          <a:p>
            <a:fld id="{2255CBA5-C214-49C8-A734-7ED6F119ABD4}" type="slidenum">
              <a:rPr lang="es-CO" smtClean="0"/>
              <a:t>‹Nº›</a:t>
            </a:fld>
            <a:endParaRPr lang="es-CO"/>
          </a:p>
        </p:txBody>
      </p:sp>
    </p:spTree>
    <p:extLst>
      <p:ext uri="{BB962C8B-B14F-4D97-AF65-F5344CB8AC3E}">
        <p14:creationId xmlns:p14="http://schemas.microsoft.com/office/powerpoint/2010/main" val="1694014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A7951D8-CF21-4DAC-A9F2-1D71DEEBE1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208FD685-C943-4F02-9425-9C71C1343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D0572CB-F9C5-4773-A634-EC241403D6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0661C5-EF18-4526-8FDE-92C9A241D56E}" type="datetimeFigureOut">
              <a:rPr lang="es-CO" smtClean="0"/>
              <a:t>5/12/2019</a:t>
            </a:fld>
            <a:endParaRPr lang="es-CO"/>
          </a:p>
        </p:txBody>
      </p:sp>
      <p:sp>
        <p:nvSpPr>
          <p:cNvPr id="5" name="Marcador de pie de página 4">
            <a:extLst>
              <a:ext uri="{FF2B5EF4-FFF2-40B4-BE49-F238E27FC236}">
                <a16:creationId xmlns:a16="http://schemas.microsoft.com/office/drawing/2014/main" id="{19CA7D54-39B4-4AAC-B94E-C5D5318F86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D0A85B22-8575-4F30-9C37-58360330EC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55CBA5-C214-49C8-A734-7ED6F119ABD4}" type="slidenum">
              <a:rPr lang="es-CO" smtClean="0"/>
              <a:t>‹Nº›</a:t>
            </a:fld>
            <a:endParaRPr lang="es-CO"/>
          </a:p>
        </p:txBody>
      </p:sp>
    </p:spTree>
    <p:extLst>
      <p:ext uri="{BB962C8B-B14F-4D97-AF65-F5344CB8AC3E}">
        <p14:creationId xmlns:p14="http://schemas.microsoft.com/office/powerpoint/2010/main" val="3314659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1319F41A-A7FF-4D91-88E0-52F03B9ABAA7}"/>
              </a:ext>
            </a:extLst>
          </p:cNvPr>
          <p:cNvSpPr/>
          <p:nvPr/>
        </p:nvSpPr>
        <p:spPr>
          <a:xfrm>
            <a:off x="6096000" y="-6927"/>
            <a:ext cx="6095999" cy="6858000"/>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Título 1">
            <a:extLst>
              <a:ext uri="{FF2B5EF4-FFF2-40B4-BE49-F238E27FC236}">
                <a16:creationId xmlns:a16="http://schemas.microsoft.com/office/drawing/2014/main" id="{E9CFC061-06C8-4E34-8427-0CDC04B52BEC}"/>
              </a:ext>
            </a:extLst>
          </p:cNvPr>
          <p:cNvSpPr>
            <a:spLocks noGrp="1"/>
          </p:cNvSpPr>
          <p:nvPr>
            <p:ph type="ctrTitle"/>
          </p:nvPr>
        </p:nvSpPr>
        <p:spPr>
          <a:xfrm>
            <a:off x="346363" y="318655"/>
            <a:ext cx="5527963" cy="2563090"/>
          </a:xfrm>
        </p:spPr>
        <p:txBody>
          <a:bodyPr/>
          <a:lstStyle/>
          <a:p>
            <a:r>
              <a:rPr lang="es-CO" dirty="0">
                <a:effectLst>
                  <a:outerShdw blurRad="38100" dist="38100" dir="2700000" algn="tl">
                    <a:srgbClr val="000000">
                      <a:alpha val="43137"/>
                    </a:srgbClr>
                  </a:outerShdw>
                </a:effectLst>
                <a:latin typeface="Arial Narrow" panose="020B0606020202030204" pitchFamily="34" charset="0"/>
              </a:rPr>
              <a:t>Viscosidad de líquidos</a:t>
            </a:r>
          </a:p>
        </p:txBody>
      </p:sp>
      <p:sp>
        <p:nvSpPr>
          <p:cNvPr id="3" name="Subtítulo 2">
            <a:extLst>
              <a:ext uri="{FF2B5EF4-FFF2-40B4-BE49-F238E27FC236}">
                <a16:creationId xmlns:a16="http://schemas.microsoft.com/office/drawing/2014/main" id="{2985F8E7-0811-457A-A627-1AC385A4300F}"/>
              </a:ext>
            </a:extLst>
          </p:cNvPr>
          <p:cNvSpPr>
            <a:spLocks noGrp="1"/>
          </p:cNvSpPr>
          <p:nvPr>
            <p:ph type="subTitle" idx="1"/>
          </p:nvPr>
        </p:nvSpPr>
        <p:spPr>
          <a:xfrm>
            <a:off x="124691" y="3442854"/>
            <a:ext cx="5971309" cy="2736273"/>
          </a:xfrm>
        </p:spPr>
        <p:txBody>
          <a:bodyPr>
            <a:normAutofit/>
          </a:bodyPr>
          <a:lstStyle/>
          <a:p>
            <a:r>
              <a:rPr lang="es-CO" dirty="0">
                <a:solidFill>
                  <a:schemeClr val="bg2">
                    <a:lumMod val="25000"/>
                  </a:schemeClr>
                </a:solidFill>
                <a:latin typeface="Arial Narrow" panose="020B0606020202030204" pitchFamily="34" charset="0"/>
              </a:rPr>
              <a:t>Universidad de Caldas </a:t>
            </a:r>
          </a:p>
          <a:p>
            <a:r>
              <a:rPr lang="es-CO" dirty="0">
                <a:solidFill>
                  <a:schemeClr val="bg2">
                    <a:lumMod val="25000"/>
                  </a:schemeClr>
                </a:solidFill>
                <a:latin typeface="Arial Narrow" panose="020B0606020202030204" pitchFamily="34" charset="0"/>
              </a:rPr>
              <a:t>Programa de Biología</a:t>
            </a:r>
          </a:p>
          <a:p>
            <a:r>
              <a:rPr lang="es-CO" dirty="0">
                <a:solidFill>
                  <a:schemeClr val="bg2">
                    <a:lumMod val="25000"/>
                  </a:schemeClr>
                </a:solidFill>
                <a:latin typeface="Arial Narrow" panose="020B0606020202030204" pitchFamily="34" charset="0"/>
              </a:rPr>
              <a:t>Laboratorio de Fisicoquímica</a:t>
            </a:r>
          </a:p>
          <a:p>
            <a:endParaRPr lang="es-CO" dirty="0">
              <a:latin typeface="Arial Narrow" panose="020B0606020202030204" pitchFamily="34" charset="0"/>
            </a:endParaRPr>
          </a:p>
          <a:p>
            <a:r>
              <a:rPr lang="es-CO" dirty="0">
                <a:latin typeface="Arial Narrow" panose="020B0606020202030204" pitchFamily="34" charset="0"/>
              </a:rPr>
              <a:t>Daniel Velásquez</a:t>
            </a:r>
          </a:p>
          <a:p>
            <a:r>
              <a:rPr lang="es-CO" dirty="0">
                <a:latin typeface="Arial Narrow" panose="020B0606020202030204" pitchFamily="34" charset="0"/>
              </a:rPr>
              <a:t>Alejandra Montaña Arias</a:t>
            </a:r>
          </a:p>
        </p:txBody>
      </p:sp>
      <p:pic>
        <p:nvPicPr>
          <p:cNvPr id="1026" name="Picture 2" descr="Resultado de imagen para viscosímetro de ostwald">
            <a:extLst>
              <a:ext uri="{FF2B5EF4-FFF2-40B4-BE49-F238E27FC236}">
                <a16:creationId xmlns:a16="http://schemas.microsoft.com/office/drawing/2014/main" id="{EAD8E218-BD86-4499-A900-48CD1D4B18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6802" y="-6927"/>
            <a:ext cx="31797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3827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F31C0723-7E3D-4B3F-858A-634E00056763}"/>
              </a:ext>
            </a:extLst>
          </p:cNvPr>
          <p:cNvSpPr/>
          <p:nvPr/>
        </p:nvSpPr>
        <p:spPr>
          <a:xfrm>
            <a:off x="0" y="-55418"/>
            <a:ext cx="12191999" cy="708746"/>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8D44131F-F9C8-4498-965E-578C3633C404}"/>
              </a:ext>
            </a:extLst>
          </p:cNvPr>
          <p:cNvSpPr/>
          <p:nvPr/>
        </p:nvSpPr>
        <p:spPr>
          <a:xfrm>
            <a:off x="166255" y="119784"/>
            <a:ext cx="1842654" cy="365125"/>
          </a:xfrm>
          <a:prstGeom prst="rect">
            <a:avLst/>
          </a:prstGeom>
          <a:solidFill>
            <a:schemeClr val="accent1">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200" dirty="0">
                <a:latin typeface="Agency FB" panose="020B0503020202020204" pitchFamily="34" charset="0"/>
              </a:rPr>
              <a:t>MARCO TEORICO</a:t>
            </a:r>
          </a:p>
        </p:txBody>
      </p:sp>
      <p:sp>
        <p:nvSpPr>
          <p:cNvPr id="6" name="Rectángulo 5">
            <a:extLst>
              <a:ext uri="{FF2B5EF4-FFF2-40B4-BE49-F238E27FC236}">
                <a16:creationId xmlns:a16="http://schemas.microsoft.com/office/drawing/2014/main" id="{3501FEC1-3D64-4B00-AA24-73E6756B4916}"/>
              </a:ext>
            </a:extLst>
          </p:cNvPr>
          <p:cNvSpPr/>
          <p:nvPr/>
        </p:nvSpPr>
        <p:spPr>
          <a:xfrm>
            <a:off x="761998" y="1202795"/>
            <a:ext cx="10598727" cy="1916487"/>
          </a:xfrm>
          <a:prstGeom prst="rect">
            <a:avLst/>
          </a:prstGeom>
          <a:ln w="19050">
            <a:solidFill>
              <a:srgbClr val="002060"/>
            </a:solidFill>
          </a:ln>
        </p:spPr>
        <p:txBody>
          <a:bodyPr wrap="square">
            <a:spAutoFit/>
          </a:bodyPr>
          <a:lstStyle/>
          <a:p>
            <a:pPr algn="just">
              <a:lnSpc>
                <a:spcPct val="107000"/>
              </a:lnSpc>
              <a:spcAft>
                <a:spcPts val="0"/>
              </a:spcAft>
            </a:pPr>
            <a:r>
              <a:rPr lang="es-CO" sz="2200" b="1"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¿Qué es la viscosidad?</a:t>
            </a:r>
          </a:p>
          <a:p>
            <a:pPr algn="just">
              <a:lnSpc>
                <a:spcPct val="107000"/>
              </a:lnSpc>
              <a:spcAft>
                <a:spcPts val="0"/>
              </a:spcAft>
            </a:pPr>
            <a:endParaRPr lang="es-CO"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0"/>
              </a:spcAft>
            </a:pPr>
            <a:r>
              <a:rPr lang="es-CO" dirty="0">
                <a:latin typeface="Times New Roman" panose="02020603050405020304" pitchFamily="18" charset="0"/>
                <a:ea typeface="Calibri" panose="020F0502020204030204" pitchFamily="34" charset="0"/>
                <a:cs typeface="Times New Roman" panose="02020603050405020304" pitchFamily="18" charset="0"/>
              </a:rPr>
              <a:t>La viscosidad de un líquido se define como la medida de la resistencia por fricción ante una fuerza de corte que se le aplica, lo que muestra que fluidos con baja viscosidad se muevan de manera más libre y los de alta viscosidad tengan un flujo o movimiento más restricto (Cardona-C, 2011). </a:t>
            </a:r>
          </a:p>
          <a:p>
            <a:pPr algn="just">
              <a:lnSpc>
                <a:spcPct val="107000"/>
              </a:lnSpc>
              <a:spcAft>
                <a:spcPts val="0"/>
              </a:spcAft>
            </a:pPr>
            <a:endParaRPr lang="es-CO"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Rectángulo 6">
            <a:extLst>
              <a:ext uri="{FF2B5EF4-FFF2-40B4-BE49-F238E27FC236}">
                <a16:creationId xmlns:a16="http://schemas.microsoft.com/office/drawing/2014/main" id="{B83DD6FB-540D-4D3C-A6B7-34E06E79E867}"/>
              </a:ext>
            </a:extLst>
          </p:cNvPr>
          <p:cNvSpPr/>
          <p:nvPr/>
        </p:nvSpPr>
        <p:spPr>
          <a:xfrm>
            <a:off x="761999" y="3668750"/>
            <a:ext cx="10598727" cy="2218171"/>
          </a:xfrm>
          <a:prstGeom prst="rect">
            <a:avLst/>
          </a:prstGeom>
          <a:ln w="19050">
            <a:solidFill>
              <a:srgbClr val="00B0F0"/>
            </a:solidFill>
          </a:ln>
        </p:spPr>
        <p:txBody>
          <a:bodyPr wrap="square">
            <a:spAutoFit/>
          </a:bodyPr>
          <a:lstStyle/>
          <a:p>
            <a:pPr algn="just">
              <a:lnSpc>
                <a:spcPct val="107000"/>
              </a:lnSpc>
              <a:spcAft>
                <a:spcPts val="0"/>
              </a:spcAft>
            </a:pPr>
            <a:r>
              <a:rPr lang="es-CO" sz="2200" b="1" dirty="0">
                <a:latin typeface="Times New Roman" panose="02020603050405020304" pitchFamily="18" charset="0"/>
                <a:ea typeface="Calibri" panose="020F0502020204030204" pitchFamily="34" charset="0"/>
                <a:cs typeface="Times New Roman" panose="02020603050405020304" pitchFamily="18" charset="0"/>
              </a:rPr>
              <a:t>Aplicaciones del estudio de la viscosidad</a:t>
            </a:r>
          </a:p>
          <a:p>
            <a:pPr marL="285750" indent="-285750" algn="just">
              <a:lnSpc>
                <a:spcPct val="107000"/>
              </a:lnSpc>
              <a:spcAft>
                <a:spcPts val="0"/>
              </a:spcAft>
              <a:buFont typeface="Arial" panose="020B0604020202020204" pitchFamily="34" charset="0"/>
              <a:buChar char="•"/>
            </a:pPr>
            <a:r>
              <a:rPr lang="es-CO" dirty="0">
                <a:latin typeface="Times New Roman" panose="02020603050405020304" pitchFamily="18" charset="0"/>
                <a:ea typeface="Calibri" panose="020F0502020204030204" pitchFamily="34" charset="0"/>
                <a:cs typeface="Times New Roman" panose="02020603050405020304" pitchFamily="18" charset="0"/>
              </a:rPr>
              <a:t>En la industria automotriz, la viscosidad es un indicador relevante de la antigüedad, calidad y marca de los aceites lubricantes (</a:t>
            </a:r>
            <a:r>
              <a:rPr lang="es-CO"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Fong</a:t>
            </a:r>
            <a:r>
              <a:rPr lang="es-CO"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Quiñonez, Tejada, 2017</a:t>
            </a:r>
            <a:r>
              <a:rPr lang="es-CO" dirty="0">
                <a:latin typeface="Times New Roman" panose="02020603050405020304" pitchFamily="18" charset="0"/>
                <a:ea typeface="Calibri" panose="020F0502020204030204" pitchFamily="34" charset="0"/>
                <a:cs typeface="Times New Roman" panose="02020603050405020304" pitchFamily="18" charset="0"/>
              </a:rPr>
              <a:t>). </a:t>
            </a:r>
          </a:p>
          <a:p>
            <a:pPr algn="just">
              <a:lnSpc>
                <a:spcPct val="107000"/>
              </a:lnSpc>
              <a:spcAft>
                <a:spcPts val="0"/>
              </a:spcAft>
            </a:pPr>
            <a:endParaRPr lang="es-CO"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07000"/>
              </a:lnSpc>
              <a:spcAft>
                <a:spcPts val="0"/>
              </a:spcAft>
              <a:buFont typeface="Arial" panose="020B0604020202020204" pitchFamily="34" charset="0"/>
              <a:buChar char="•"/>
            </a:pPr>
            <a:r>
              <a:rPr lang="es-CO" dirty="0">
                <a:latin typeface="Times New Roman" panose="02020603050405020304" pitchFamily="18" charset="0"/>
                <a:ea typeface="Calibri" panose="020F0502020204030204" pitchFamily="34" charset="0"/>
                <a:cs typeface="Times New Roman" panose="02020603050405020304" pitchFamily="18" charset="0"/>
              </a:rPr>
              <a:t>En casos clínicos de disfagia, el cambio de la viscosidad de los líquidos que ingieren los pacientes se hace vital en los casos geriátricos, aumentando la viscosidad de las bebidas (o del agua) facilitando el proceso de deglución (</a:t>
            </a:r>
            <a:r>
              <a:rPr lang="es-CO"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Garin</a:t>
            </a:r>
            <a:r>
              <a:rPr lang="es-CO"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De </a:t>
            </a:r>
            <a:r>
              <a:rPr lang="es-CO"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Pourcq</a:t>
            </a:r>
            <a:r>
              <a:rPr lang="es-CO"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Cardona, Martín-Venegas, </a:t>
            </a:r>
            <a:r>
              <a:rPr lang="es-CO"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Gich</a:t>
            </a:r>
            <a:r>
              <a:rPr lang="es-CO"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s-CO"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Cardenete</a:t>
            </a:r>
            <a:r>
              <a:rPr lang="es-CO"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y Mangues, 2012</a:t>
            </a:r>
            <a:r>
              <a:rPr lang="es-CO" dirty="0">
                <a:latin typeface="Times New Roman" panose="02020603050405020304" pitchFamily="18" charset="0"/>
                <a:ea typeface="Calibri" panose="020F0502020204030204" pitchFamily="34" charset="0"/>
                <a:cs typeface="Times New Roman" panose="02020603050405020304" pitchFamily="18" charset="0"/>
              </a:rPr>
              <a:t>). </a:t>
            </a:r>
            <a:endParaRPr lang="es-CO"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3367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F31C0723-7E3D-4B3F-858A-634E00056763}"/>
              </a:ext>
            </a:extLst>
          </p:cNvPr>
          <p:cNvSpPr/>
          <p:nvPr/>
        </p:nvSpPr>
        <p:spPr>
          <a:xfrm>
            <a:off x="0" y="-27709"/>
            <a:ext cx="12191999" cy="708746"/>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8D44131F-F9C8-4498-965E-578C3633C404}"/>
              </a:ext>
            </a:extLst>
          </p:cNvPr>
          <p:cNvSpPr/>
          <p:nvPr/>
        </p:nvSpPr>
        <p:spPr>
          <a:xfrm>
            <a:off x="166255" y="119784"/>
            <a:ext cx="1288472" cy="365125"/>
          </a:xfrm>
          <a:prstGeom prst="rect">
            <a:avLst/>
          </a:prstGeom>
          <a:solidFill>
            <a:schemeClr val="accent1">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200" dirty="0">
                <a:latin typeface="Agency FB" panose="020B0503020202020204" pitchFamily="34" charset="0"/>
              </a:rPr>
              <a:t>OBJETIVOS</a:t>
            </a:r>
          </a:p>
        </p:txBody>
      </p:sp>
      <p:sp>
        <p:nvSpPr>
          <p:cNvPr id="6" name="Rectángulo 5">
            <a:extLst>
              <a:ext uri="{FF2B5EF4-FFF2-40B4-BE49-F238E27FC236}">
                <a16:creationId xmlns:a16="http://schemas.microsoft.com/office/drawing/2014/main" id="{B5E3AC1B-130A-4856-8EC2-27C4DFB12C96}"/>
              </a:ext>
            </a:extLst>
          </p:cNvPr>
          <p:cNvSpPr/>
          <p:nvPr/>
        </p:nvSpPr>
        <p:spPr>
          <a:xfrm>
            <a:off x="1704109" y="1566952"/>
            <a:ext cx="8783782" cy="3724096"/>
          </a:xfrm>
          <a:prstGeom prst="rect">
            <a:avLst/>
          </a:prstGeom>
          <a:ln w="28575">
            <a:solidFill>
              <a:schemeClr val="accent5">
                <a:lumMod val="75000"/>
              </a:schemeClr>
            </a:solidFill>
          </a:ln>
        </p:spPr>
        <p:txBody>
          <a:bodyPr wrap="square" anchor="b">
            <a:spAutoFit/>
          </a:bodyPr>
          <a:lstStyle/>
          <a:p>
            <a:endParaRPr lang="es-CO" sz="2200" b="1" dirty="0">
              <a:latin typeface="Times New Roman" panose="02020603050405020304" pitchFamily="18" charset="0"/>
              <a:ea typeface="Calibri" panose="020F0502020204030204" pitchFamily="34" charset="0"/>
              <a:cs typeface="Times New Roman" panose="02020603050405020304" pitchFamily="18" charset="0"/>
            </a:endParaRPr>
          </a:p>
          <a:p>
            <a:r>
              <a:rPr lang="es-CO" sz="2200" b="1" dirty="0">
                <a:latin typeface="Times New Roman" panose="02020603050405020304" pitchFamily="18" charset="0"/>
                <a:ea typeface="Calibri" panose="020F0502020204030204" pitchFamily="34" charset="0"/>
                <a:cs typeface="Times New Roman" panose="02020603050405020304" pitchFamily="18" charset="0"/>
              </a:rPr>
              <a:t>Objetivo general</a:t>
            </a:r>
          </a:p>
          <a:p>
            <a:r>
              <a:rPr lang="es-CO" dirty="0">
                <a:latin typeface="Times New Roman" panose="02020603050405020304" pitchFamily="18" charset="0"/>
                <a:ea typeface="Calibri" panose="020F0502020204030204" pitchFamily="34" charset="0"/>
                <a:cs typeface="Times New Roman" panose="02020603050405020304" pitchFamily="18" charset="0"/>
              </a:rPr>
              <a:t>Determinar experimentalmente los coeficientes de viscosidad para agua, etanol, metanol y ácido acético a diferentes temperaturas.</a:t>
            </a:r>
          </a:p>
          <a:p>
            <a:endParaRPr lang="es-CO" dirty="0">
              <a:latin typeface="Times New Roman" panose="02020603050405020304" pitchFamily="18" charset="0"/>
              <a:ea typeface="Calibri" panose="020F0502020204030204" pitchFamily="34" charset="0"/>
              <a:cs typeface="Times New Roman" panose="02020603050405020304" pitchFamily="18" charset="0"/>
            </a:endParaRPr>
          </a:p>
          <a:p>
            <a:endParaRPr lang="es-CO" dirty="0">
              <a:latin typeface="Times New Roman" panose="02020603050405020304" pitchFamily="18" charset="0"/>
              <a:ea typeface="Calibri" panose="020F0502020204030204" pitchFamily="34" charset="0"/>
              <a:cs typeface="Times New Roman" panose="02020603050405020304" pitchFamily="18" charset="0"/>
            </a:endParaRPr>
          </a:p>
          <a:p>
            <a:endParaRPr lang="es-CO" dirty="0">
              <a:latin typeface="Times New Roman" panose="02020603050405020304" pitchFamily="18" charset="0"/>
              <a:ea typeface="Calibri" panose="020F0502020204030204" pitchFamily="34" charset="0"/>
              <a:cs typeface="Times New Roman" panose="02020603050405020304" pitchFamily="18" charset="0"/>
            </a:endParaRPr>
          </a:p>
          <a:p>
            <a:r>
              <a:rPr lang="es-CO" sz="2200" b="1" dirty="0" err="1">
                <a:latin typeface="Times New Roman" panose="02020603050405020304" pitchFamily="18" charset="0"/>
                <a:ea typeface="Calibri" panose="020F0502020204030204" pitchFamily="34" charset="0"/>
                <a:cs typeface="Times New Roman" panose="02020603050405020304" pitchFamily="18" charset="0"/>
              </a:rPr>
              <a:t>Hipótesis</a:t>
            </a:r>
            <a:endParaRPr lang="es-CO" sz="2200" b="1" dirty="0">
              <a:latin typeface="Times New Roman" panose="02020603050405020304" pitchFamily="18" charset="0"/>
              <a:ea typeface="Calibri" panose="020F0502020204030204" pitchFamily="34" charset="0"/>
              <a:cs typeface="Times New Roman" panose="02020603050405020304" pitchFamily="18" charset="0"/>
            </a:endParaRPr>
          </a:p>
          <a:p>
            <a:r>
              <a:rPr lang="es-CO" dirty="0">
                <a:latin typeface="Times New Roman" panose="02020603050405020304" pitchFamily="18" charset="0"/>
                <a:ea typeface="Calibri" panose="020F0502020204030204" pitchFamily="34" charset="0"/>
                <a:cs typeface="Times New Roman" panose="02020603050405020304" pitchFamily="18" charset="0"/>
              </a:rPr>
              <a:t>Conforme se aumenta la temperatura la viscosidad será menor, independientemente de la densidad del liquido o de la naturaleza del mismo.</a:t>
            </a:r>
          </a:p>
          <a:p>
            <a:endParaRPr lang="es-CO" sz="2200" b="1" dirty="0">
              <a:latin typeface="Times New Roman" panose="02020603050405020304" pitchFamily="18" charset="0"/>
              <a:ea typeface="Calibri" panose="020F0502020204030204" pitchFamily="34" charset="0"/>
              <a:cs typeface="Times New Roman" panose="02020603050405020304" pitchFamily="18" charset="0"/>
            </a:endParaRPr>
          </a:p>
          <a:p>
            <a:r>
              <a:rPr lang="es-CO" sz="2200" b="1" dirty="0">
                <a:latin typeface="Times New Roman" panose="02020603050405020304" pitchFamily="18"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3703775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F31C0723-7E3D-4B3F-858A-634E00056763}"/>
              </a:ext>
            </a:extLst>
          </p:cNvPr>
          <p:cNvSpPr/>
          <p:nvPr/>
        </p:nvSpPr>
        <p:spPr>
          <a:xfrm>
            <a:off x="0" y="-27709"/>
            <a:ext cx="12191999" cy="708746"/>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8D44131F-F9C8-4498-965E-578C3633C404}"/>
              </a:ext>
            </a:extLst>
          </p:cNvPr>
          <p:cNvSpPr/>
          <p:nvPr/>
        </p:nvSpPr>
        <p:spPr>
          <a:xfrm>
            <a:off x="207818" y="144101"/>
            <a:ext cx="2272145" cy="365125"/>
          </a:xfrm>
          <a:prstGeom prst="rect">
            <a:avLst/>
          </a:prstGeom>
          <a:solidFill>
            <a:schemeClr val="accent1">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200" dirty="0">
                <a:latin typeface="Agency FB" panose="020B0503020202020204" pitchFamily="34" charset="0"/>
              </a:rPr>
              <a:t>MATERIALES Y MÉTODOS</a:t>
            </a:r>
          </a:p>
        </p:txBody>
      </p:sp>
      <p:sp>
        <p:nvSpPr>
          <p:cNvPr id="9" name="Rectángulo 8">
            <a:extLst>
              <a:ext uri="{FF2B5EF4-FFF2-40B4-BE49-F238E27FC236}">
                <a16:creationId xmlns:a16="http://schemas.microsoft.com/office/drawing/2014/main" id="{9A9C6051-9119-4EDF-924E-1A17284747D1}"/>
              </a:ext>
            </a:extLst>
          </p:cNvPr>
          <p:cNvSpPr/>
          <p:nvPr/>
        </p:nvSpPr>
        <p:spPr>
          <a:xfrm>
            <a:off x="6373091" y="1961896"/>
            <a:ext cx="3366654" cy="1054315"/>
          </a:xfrm>
          <a:prstGeom prst="rect">
            <a:avLst/>
          </a:pr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solidFill>
                  <a:schemeClr val="bg2">
                    <a:lumMod val="25000"/>
                  </a:schemeClr>
                </a:solidFill>
                <a:latin typeface="Times New Roman" panose="02020603050405020304" pitchFamily="18" charset="0"/>
                <a:cs typeface="Times New Roman" panose="02020603050405020304" pitchFamily="18" charset="0"/>
              </a:rPr>
              <a:t>Se colocó un </a:t>
            </a:r>
            <a:r>
              <a:rPr lang="es-CO" dirty="0" err="1">
                <a:solidFill>
                  <a:schemeClr val="bg2">
                    <a:lumMod val="25000"/>
                  </a:schemeClr>
                </a:solidFill>
                <a:latin typeface="Times New Roman" panose="02020603050405020304" pitchFamily="18" charset="0"/>
                <a:cs typeface="Times New Roman" panose="02020603050405020304" pitchFamily="18" charset="0"/>
              </a:rPr>
              <a:t>beaker</a:t>
            </a:r>
            <a:r>
              <a:rPr lang="es-CO" dirty="0">
                <a:solidFill>
                  <a:schemeClr val="bg2">
                    <a:lumMod val="25000"/>
                  </a:schemeClr>
                </a:solidFill>
                <a:latin typeface="Times New Roman" panose="02020603050405020304" pitchFamily="18" charset="0"/>
                <a:cs typeface="Times New Roman" panose="02020603050405020304" pitchFamily="18" charset="0"/>
              </a:rPr>
              <a:t> con agua en una plancha de calentamiento.</a:t>
            </a:r>
          </a:p>
        </p:txBody>
      </p:sp>
      <p:sp>
        <p:nvSpPr>
          <p:cNvPr id="10" name="Rectángulo 9">
            <a:extLst>
              <a:ext uri="{FF2B5EF4-FFF2-40B4-BE49-F238E27FC236}">
                <a16:creationId xmlns:a16="http://schemas.microsoft.com/office/drawing/2014/main" id="{A851F306-3EF9-4E6B-B6EB-39725D182FD3}"/>
              </a:ext>
            </a:extLst>
          </p:cNvPr>
          <p:cNvSpPr/>
          <p:nvPr/>
        </p:nvSpPr>
        <p:spPr>
          <a:xfrm>
            <a:off x="1932705" y="1961496"/>
            <a:ext cx="3366654" cy="1054315"/>
          </a:xfrm>
          <a:prstGeom prst="rect">
            <a:avLst/>
          </a:pr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solidFill>
                  <a:schemeClr val="bg2">
                    <a:lumMod val="25000"/>
                  </a:schemeClr>
                </a:solidFill>
                <a:latin typeface="Times New Roman" panose="02020603050405020304" pitchFamily="18" charset="0"/>
                <a:cs typeface="Times New Roman" panose="02020603050405020304" pitchFamily="18" charset="0"/>
              </a:rPr>
              <a:t>Determinación de masa, volumen y densidad con ayuda del picnómetro de cada sustancia. </a:t>
            </a:r>
          </a:p>
        </p:txBody>
      </p:sp>
      <p:sp>
        <p:nvSpPr>
          <p:cNvPr id="11" name="Rectángulo 10">
            <a:extLst>
              <a:ext uri="{FF2B5EF4-FFF2-40B4-BE49-F238E27FC236}">
                <a16:creationId xmlns:a16="http://schemas.microsoft.com/office/drawing/2014/main" id="{EDDDEBBA-B5E8-43D0-81D4-DDED25D8815B}"/>
              </a:ext>
            </a:extLst>
          </p:cNvPr>
          <p:cNvSpPr/>
          <p:nvPr/>
        </p:nvSpPr>
        <p:spPr>
          <a:xfrm>
            <a:off x="1932705" y="4224223"/>
            <a:ext cx="3366654" cy="1129148"/>
          </a:xfrm>
          <a:prstGeom prst="rect">
            <a:avLst/>
          </a:pr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solidFill>
                  <a:schemeClr val="bg2">
                    <a:lumMod val="25000"/>
                  </a:schemeClr>
                </a:solidFill>
                <a:latin typeface="Times New Roman" panose="02020603050405020304" pitchFamily="18" charset="0"/>
                <a:cs typeface="Times New Roman" panose="02020603050405020304" pitchFamily="18" charset="0"/>
              </a:rPr>
              <a:t>Se halló la viscosidad experimental con ayuda del viscosímetro de </a:t>
            </a:r>
            <a:r>
              <a:rPr lang="es-CO" dirty="0" err="1">
                <a:solidFill>
                  <a:schemeClr val="bg2">
                    <a:lumMod val="25000"/>
                  </a:schemeClr>
                </a:solidFill>
                <a:latin typeface="Times New Roman" panose="02020603050405020304" pitchFamily="18" charset="0"/>
                <a:cs typeface="Times New Roman" panose="02020603050405020304" pitchFamily="18" charset="0"/>
              </a:rPr>
              <a:t>Otswald</a:t>
            </a:r>
            <a:r>
              <a:rPr lang="es-CO" dirty="0">
                <a:solidFill>
                  <a:schemeClr val="bg2">
                    <a:lumMod val="25000"/>
                  </a:schemeClr>
                </a:solidFill>
                <a:latin typeface="Times New Roman" panose="02020603050405020304" pitchFamily="18" charset="0"/>
                <a:cs typeface="Times New Roman" panose="02020603050405020304" pitchFamily="18" charset="0"/>
              </a:rPr>
              <a:t> a distintas temperaturas</a:t>
            </a:r>
          </a:p>
        </p:txBody>
      </p:sp>
      <p:sp>
        <p:nvSpPr>
          <p:cNvPr id="13" name="Rectángulo 12">
            <a:extLst>
              <a:ext uri="{FF2B5EF4-FFF2-40B4-BE49-F238E27FC236}">
                <a16:creationId xmlns:a16="http://schemas.microsoft.com/office/drawing/2014/main" id="{625A0B25-C23A-4FBB-A453-BAA01A4B0CD7}"/>
              </a:ext>
            </a:extLst>
          </p:cNvPr>
          <p:cNvSpPr/>
          <p:nvPr/>
        </p:nvSpPr>
        <p:spPr>
          <a:xfrm>
            <a:off x="6373091" y="4221440"/>
            <a:ext cx="3366654" cy="1129148"/>
          </a:xfrm>
          <a:prstGeom prst="rect">
            <a:avLst/>
          </a:pr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solidFill>
                  <a:schemeClr val="bg2">
                    <a:lumMod val="25000"/>
                  </a:schemeClr>
                </a:solidFill>
                <a:latin typeface="Times New Roman" panose="02020603050405020304" pitchFamily="18" charset="0"/>
                <a:cs typeface="Times New Roman" panose="02020603050405020304" pitchFamily="18" charset="0"/>
              </a:rPr>
              <a:t>Por medio del nomograma de viscosidad se determinó la viscosidad teórica. </a:t>
            </a:r>
          </a:p>
        </p:txBody>
      </p:sp>
      <p:sp>
        <p:nvSpPr>
          <p:cNvPr id="14" name="Elipse 13">
            <a:extLst>
              <a:ext uri="{FF2B5EF4-FFF2-40B4-BE49-F238E27FC236}">
                <a16:creationId xmlns:a16="http://schemas.microsoft.com/office/drawing/2014/main" id="{9BC34C59-08F6-452C-B6B7-90795B6F7EA7}"/>
              </a:ext>
            </a:extLst>
          </p:cNvPr>
          <p:cNvSpPr/>
          <p:nvPr/>
        </p:nvSpPr>
        <p:spPr>
          <a:xfrm>
            <a:off x="1704105" y="2215711"/>
            <a:ext cx="457200" cy="471054"/>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1</a:t>
            </a:r>
          </a:p>
        </p:txBody>
      </p:sp>
      <p:sp>
        <p:nvSpPr>
          <p:cNvPr id="15" name="Elipse 14">
            <a:extLst>
              <a:ext uri="{FF2B5EF4-FFF2-40B4-BE49-F238E27FC236}">
                <a16:creationId xmlns:a16="http://schemas.microsoft.com/office/drawing/2014/main" id="{AA480960-0EE6-4664-819F-776F4BE51538}"/>
              </a:ext>
            </a:extLst>
          </p:cNvPr>
          <p:cNvSpPr/>
          <p:nvPr/>
        </p:nvSpPr>
        <p:spPr>
          <a:xfrm>
            <a:off x="6095999" y="2253126"/>
            <a:ext cx="457200" cy="471054"/>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2</a:t>
            </a:r>
          </a:p>
        </p:txBody>
      </p:sp>
      <p:sp>
        <p:nvSpPr>
          <p:cNvPr id="16" name="Elipse 15">
            <a:extLst>
              <a:ext uri="{FF2B5EF4-FFF2-40B4-BE49-F238E27FC236}">
                <a16:creationId xmlns:a16="http://schemas.microsoft.com/office/drawing/2014/main" id="{A8AD5E97-1E68-4711-9711-4D751397D772}"/>
              </a:ext>
            </a:extLst>
          </p:cNvPr>
          <p:cNvSpPr/>
          <p:nvPr/>
        </p:nvSpPr>
        <p:spPr>
          <a:xfrm>
            <a:off x="1704105" y="4517611"/>
            <a:ext cx="457200" cy="471054"/>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3</a:t>
            </a:r>
          </a:p>
        </p:txBody>
      </p:sp>
      <p:sp>
        <p:nvSpPr>
          <p:cNvPr id="17" name="Elipse 16">
            <a:extLst>
              <a:ext uri="{FF2B5EF4-FFF2-40B4-BE49-F238E27FC236}">
                <a16:creationId xmlns:a16="http://schemas.microsoft.com/office/drawing/2014/main" id="{E1769B04-87F9-4B94-AFCF-EFA336B353F2}"/>
              </a:ext>
            </a:extLst>
          </p:cNvPr>
          <p:cNvSpPr/>
          <p:nvPr/>
        </p:nvSpPr>
        <p:spPr>
          <a:xfrm>
            <a:off x="6144491" y="4517611"/>
            <a:ext cx="457200" cy="471054"/>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4</a:t>
            </a:r>
          </a:p>
        </p:txBody>
      </p:sp>
    </p:spTree>
    <p:extLst>
      <p:ext uri="{BB962C8B-B14F-4D97-AF65-F5344CB8AC3E}">
        <p14:creationId xmlns:p14="http://schemas.microsoft.com/office/powerpoint/2010/main" val="2187427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F31C0723-7E3D-4B3F-858A-634E00056763}"/>
              </a:ext>
            </a:extLst>
          </p:cNvPr>
          <p:cNvSpPr/>
          <p:nvPr/>
        </p:nvSpPr>
        <p:spPr>
          <a:xfrm>
            <a:off x="0" y="-27709"/>
            <a:ext cx="12191999" cy="708746"/>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8D44131F-F9C8-4498-965E-578C3633C404}"/>
              </a:ext>
            </a:extLst>
          </p:cNvPr>
          <p:cNvSpPr/>
          <p:nvPr/>
        </p:nvSpPr>
        <p:spPr>
          <a:xfrm>
            <a:off x="207818" y="144101"/>
            <a:ext cx="2479964" cy="365125"/>
          </a:xfrm>
          <a:prstGeom prst="rect">
            <a:avLst/>
          </a:prstGeom>
          <a:solidFill>
            <a:schemeClr val="accent1">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200" dirty="0">
                <a:latin typeface="Agency FB" panose="020B0503020202020204" pitchFamily="34" charset="0"/>
              </a:rPr>
              <a:t>RESULTADOS Y DISCUSION</a:t>
            </a:r>
          </a:p>
        </p:txBody>
      </p:sp>
      <p:pic>
        <p:nvPicPr>
          <p:cNvPr id="13" name="Imagen 12">
            <a:extLst>
              <a:ext uri="{FF2B5EF4-FFF2-40B4-BE49-F238E27FC236}">
                <a16:creationId xmlns:a16="http://schemas.microsoft.com/office/drawing/2014/main" id="{40851B29-3DB1-4AE6-8B93-F6543FE57561}"/>
              </a:ext>
            </a:extLst>
          </p:cNvPr>
          <p:cNvPicPr>
            <a:picLocks noChangeAspect="1"/>
          </p:cNvPicPr>
          <p:nvPr/>
        </p:nvPicPr>
        <p:blipFill rotWithShape="1">
          <a:blip r:embed="rId2"/>
          <a:srcRect l="17076" t="36040" r="14149" b="10810"/>
          <a:stretch/>
        </p:blipFill>
        <p:spPr>
          <a:xfrm>
            <a:off x="1209247" y="1305790"/>
            <a:ext cx="9773503" cy="4246419"/>
          </a:xfrm>
          <a:prstGeom prst="rect">
            <a:avLst/>
          </a:prstGeom>
        </p:spPr>
      </p:pic>
      <p:pic>
        <p:nvPicPr>
          <p:cNvPr id="14" name="Imagen 13">
            <a:extLst>
              <a:ext uri="{FF2B5EF4-FFF2-40B4-BE49-F238E27FC236}">
                <a16:creationId xmlns:a16="http://schemas.microsoft.com/office/drawing/2014/main" id="{B421DE0A-490D-42C1-8558-81A2C31660D6}"/>
              </a:ext>
            </a:extLst>
          </p:cNvPr>
          <p:cNvPicPr>
            <a:picLocks noChangeAspect="1"/>
          </p:cNvPicPr>
          <p:nvPr/>
        </p:nvPicPr>
        <p:blipFill rotWithShape="1">
          <a:blip r:embed="rId3"/>
          <a:srcRect l="45113" t="43835" r="44773" b="47878"/>
          <a:stretch/>
        </p:blipFill>
        <p:spPr>
          <a:xfrm>
            <a:off x="8146474" y="5352615"/>
            <a:ext cx="2673927" cy="1231810"/>
          </a:xfrm>
          <a:prstGeom prst="rect">
            <a:avLst/>
          </a:prstGeom>
          <a:ln w="28575">
            <a:solidFill>
              <a:srgbClr val="0070C0"/>
            </a:solidFill>
          </a:ln>
        </p:spPr>
      </p:pic>
    </p:spTree>
    <p:extLst>
      <p:ext uri="{BB962C8B-B14F-4D97-AF65-F5344CB8AC3E}">
        <p14:creationId xmlns:p14="http://schemas.microsoft.com/office/powerpoint/2010/main" val="4240925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F31C0723-7E3D-4B3F-858A-634E00056763}"/>
              </a:ext>
            </a:extLst>
          </p:cNvPr>
          <p:cNvSpPr/>
          <p:nvPr/>
        </p:nvSpPr>
        <p:spPr>
          <a:xfrm>
            <a:off x="0" y="-27709"/>
            <a:ext cx="12191999" cy="708746"/>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8D44131F-F9C8-4498-965E-578C3633C404}"/>
              </a:ext>
            </a:extLst>
          </p:cNvPr>
          <p:cNvSpPr/>
          <p:nvPr/>
        </p:nvSpPr>
        <p:spPr>
          <a:xfrm>
            <a:off x="207818" y="144101"/>
            <a:ext cx="2479964" cy="365125"/>
          </a:xfrm>
          <a:prstGeom prst="rect">
            <a:avLst/>
          </a:prstGeom>
          <a:solidFill>
            <a:schemeClr val="accent1">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200" dirty="0">
                <a:latin typeface="Agency FB" panose="020B0503020202020204" pitchFamily="34" charset="0"/>
              </a:rPr>
              <a:t>RESULTADOS Y DISCUSION</a:t>
            </a:r>
          </a:p>
        </p:txBody>
      </p:sp>
      <p:pic>
        <p:nvPicPr>
          <p:cNvPr id="6" name="Imagen 5">
            <a:extLst>
              <a:ext uri="{FF2B5EF4-FFF2-40B4-BE49-F238E27FC236}">
                <a16:creationId xmlns:a16="http://schemas.microsoft.com/office/drawing/2014/main" id="{E3674612-EAD3-4ED0-A40E-BB57CCD8931C}"/>
              </a:ext>
            </a:extLst>
          </p:cNvPr>
          <p:cNvPicPr/>
          <p:nvPr/>
        </p:nvPicPr>
        <p:blipFill rotWithShape="1">
          <a:blip r:embed="rId2" cstate="print"/>
          <a:srcRect t="30622" b="9827"/>
          <a:stretch/>
        </p:blipFill>
        <p:spPr bwMode="auto">
          <a:xfrm>
            <a:off x="2501177" y="681036"/>
            <a:ext cx="7189644" cy="5700353"/>
          </a:xfrm>
          <a:prstGeom prst="rect">
            <a:avLst/>
          </a:prstGeom>
          <a:noFill/>
          <a:ln w="12700" cap="flat" cmpd="sng" algn="ctr">
            <a:solidFill>
              <a:sysClr val="windowText" lastClr="000000"/>
            </a:solidFill>
            <a:prstDash val="solid"/>
            <a:miter lim="800000"/>
            <a:headEnd type="none" w="med" len="med"/>
            <a:tailEnd type="none" w="med" len="med"/>
            <a:extLst>
              <a:ext uri="{C807C97D-BFC1-408E-A445-0C87EB9F89A2}">
                <ask:lineSketchStyleProps xmlns:ask="http://schemas.microsoft.com/office/drawing/2018/sketchyshapes" xmlns="" sd="0">
                  <a:custGeom>
                    <a:avLst/>
                    <a:gdLst/>
                    <a:ahLst/>
                    <a:cxnLst/>
                    <a:rect l="0" t="0" r="0" b="0"/>
                    <a:pathLst/>
                  </a:custGeom>
                  <ask:type/>
                </ask:lineSketchStyleProps>
              </a:ext>
            </a:extLst>
          </a:ln>
          <a:extLst>
            <a:ext uri="{53640926-AAD7-44D8-BBD7-CCE9431645EC}">
              <a14:shadowObscured xmlns:a14="http://schemas.microsoft.com/office/drawing/2010/main"/>
            </a:ext>
          </a:extLst>
        </p:spPr>
      </p:pic>
      <p:sp>
        <p:nvSpPr>
          <p:cNvPr id="2" name="CuadroTexto 1">
            <a:extLst>
              <a:ext uri="{FF2B5EF4-FFF2-40B4-BE49-F238E27FC236}">
                <a16:creationId xmlns:a16="http://schemas.microsoft.com/office/drawing/2014/main" id="{4CBC7BB8-6975-449D-A5FB-CE22F39D7BC5}"/>
              </a:ext>
            </a:extLst>
          </p:cNvPr>
          <p:cNvSpPr txBox="1"/>
          <p:nvPr/>
        </p:nvSpPr>
        <p:spPr>
          <a:xfrm>
            <a:off x="4239490" y="6381389"/>
            <a:ext cx="3713018" cy="369332"/>
          </a:xfrm>
          <a:prstGeom prst="rect">
            <a:avLst/>
          </a:prstGeom>
          <a:noFill/>
        </p:spPr>
        <p:txBody>
          <a:bodyPr wrap="square" rtlCol="0">
            <a:spAutoFit/>
          </a:bodyPr>
          <a:lstStyle/>
          <a:p>
            <a:r>
              <a:rPr lang="es-CO" b="1" dirty="0">
                <a:latin typeface="Times New Roman" panose="02020603050405020304" pitchFamily="18" charset="0"/>
                <a:cs typeface="Times New Roman" panose="02020603050405020304" pitchFamily="18" charset="0"/>
              </a:rPr>
              <a:t>Figura 1</a:t>
            </a:r>
            <a:r>
              <a:rPr lang="es-CO" dirty="0">
                <a:latin typeface="Times New Roman" panose="02020603050405020304" pitchFamily="18" charset="0"/>
                <a:cs typeface="Times New Roman" panose="02020603050405020304" pitchFamily="18" charset="0"/>
              </a:rPr>
              <a:t>. Nomograma de viscosidad</a:t>
            </a:r>
          </a:p>
        </p:txBody>
      </p:sp>
    </p:spTree>
    <p:extLst>
      <p:ext uri="{BB962C8B-B14F-4D97-AF65-F5344CB8AC3E}">
        <p14:creationId xmlns:p14="http://schemas.microsoft.com/office/powerpoint/2010/main" val="2598451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F31C0723-7E3D-4B3F-858A-634E00056763}"/>
              </a:ext>
            </a:extLst>
          </p:cNvPr>
          <p:cNvSpPr/>
          <p:nvPr/>
        </p:nvSpPr>
        <p:spPr>
          <a:xfrm>
            <a:off x="0" y="-27709"/>
            <a:ext cx="12191999" cy="708746"/>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ángulo 3">
            <a:extLst>
              <a:ext uri="{FF2B5EF4-FFF2-40B4-BE49-F238E27FC236}">
                <a16:creationId xmlns:a16="http://schemas.microsoft.com/office/drawing/2014/main" id="{8D44131F-F9C8-4498-965E-578C3633C404}"/>
              </a:ext>
            </a:extLst>
          </p:cNvPr>
          <p:cNvSpPr/>
          <p:nvPr/>
        </p:nvSpPr>
        <p:spPr>
          <a:xfrm>
            <a:off x="207818" y="144101"/>
            <a:ext cx="2479964" cy="365125"/>
          </a:xfrm>
          <a:prstGeom prst="rect">
            <a:avLst/>
          </a:prstGeom>
          <a:solidFill>
            <a:schemeClr val="accent1">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200" dirty="0">
                <a:latin typeface="Agency FB" panose="020B0503020202020204" pitchFamily="34" charset="0"/>
              </a:rPr>
              <a:t>RESULTADOS Y DISCUSION</a:t>
            </a:r>
          </a:p>
        </p:txBody>
      </p:sp>
      <p:sp>
        <p:nvSpPr>
          <p:cNvPr id="2" name="CuadroTexto 1">
            <a:extLst>
              <a:ext uri="{FF2B5EF4-FFF2-40B4-BE49-F238E27FC236}">
                <a16:creationId xmlns:a16="http://schemas.microsoft.com/office/drawing/2014/main" id="{4CBC7BB8-6975-449D-A5FB-CE22F39D7BC5}"/>
              </a:ext>
            </a:extLst>
          </p:cNvPr>
          <p:cNvSpPr txBox="1"/>
          <p:nvPr/>
        </p:nvSpPr>
        <p:spPr>
          <a:xfrm>
            <a:off x="2073217" y="5082454"/>
            <a:ext cx="7619999" cy="369332"/>
          </a:xfrm>
          <a:prstGeom prst="rect">
            <a:avLst/>
          </a:prstGeom>
          <a:noFill/>
        </p:spPr>
        <p:txBody>
          <a:bodyPr wrap="square" rtlCol="0">
            <a:spAutoFit/>
          </a:bodyPr>
          <a:lstStyle/>
          <a:p>
            <a:r>
              <a:rPr lang="es-CO" b="1" dirty="0">
                <a:latin typeface="Times New Roman" panose="02020603050405020304" pitchFamily="18" charset="0"/>
                <a:cs typeface="Times New Roman" panose="02020603050405020304" pitchFamily="18" charset="0"/>
              </a:rPr>
              <a:t>Gráfico 2. </a:t>
            </a:r>
            <a:r>
              <a:rPr lang="es-CO" dirty="0">
                <a:latin typeface="Times New Roman" panose="02020603050405020304" pitchFamily="18" charset="0"/>
                <a:cs typeface="Times New Roman" panose="02020603050405020304" pitchFamily="18" charset="0"/>
              </a:rPr>
              <a:t>Viscosidad teórica y experimental del etanol y la glicerina obtenidas.</a:t>
            </a:r>
          </a:p>
        </p:txBody>
      </p:sp>
      <p:pic>
        <p:nvPicPr>
          <p:cNvPr id="7" name="Imagen 6">
            <a:extLst>
              <a:ext uri="{FF2B5EF4-FFF2-40B4-BE49-F238E27FC236}">
                <a16:creationId xmlns:a16="http://schemas.microsoft.com/office/drawing/2014/main" id="{15C24EE2-FF2F-45DF-9763-DE7EF0C04C8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0218" y="1988373"/>
            <a:ext cx="5522999" cy="2881254"/>
          </a:xfrm>
          <a:prstGeom prst="rect">
            <a:avLst/>
          </a:prstGeom>
          <a:noFill/>
        </p:spPr>
      </p:pic>
      <p:pic>
        <p:nvPicPr>
          <p:cNvPr id="8" name="Imagen 7">
            <a:extLst>
              <a:ext uri="{FF2B5EF4-FFF2-40B4-BE49-F238E27FC236}">
                <a16:creationId xmlns:a16="http://schemas.microsoft.com/office/drawing/2014/main" id="{9E427BC6-D153-42FD-AFFE-9AD4089AEEE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5998" y="1989627"/>
            <a:ext cx="5616000" cy="2880000"/>
          </a:xfrm>
          <a:prstGeom prst="rect">
            <a:avLst/>
          </a:prstGeom>
          <a:noFill/>
        </p:spPr>
      </p:pic>
    </p:spTree>
    <p:extLst>
      <p:ext uri="{BB962C8B-B14F-4D97-AF65-F5344CB8AC3E}">
        <p14:creationId xmlns:p14="http://schemas.microsoft.com/office/powerpoint/2010/main" val="986932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F31C0723-7E3D-4B3F-858A-634E00056763}"/>
              </a:ext>
            </a:extLst>
          </p:cNvPr>
          <p:cNvSpPr/>
          <p:nvPr/>
        </p:nvSpPr>
        <p:spPr>
          <a:xfrm>
            <a:off x="0" y="-27709"/>
            <a:ext cx="12191999" cy="708746"/>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Marcador de contenido 2">
            <a:extLst>
              <a:ext uri="{FF2B5EF4-FFF2-40B4-BE49-F238E27FC236}">
                <a16:creationId xmlns:a16="http://schemas.microsoft.com/office/drawing/2014/main" id="{C474F490-7DA7-4CBD-B178-884DB9EE3D5B}"/>
              </a:ext>
            </a:extLst>
          </p:cNvPr>
          <p:cNvSpPr>
            <a:spLocks noGrp="1"/>
          </p:cNvSpPr>
          <p:nvPr>
            <p:ph idx="1"/>
          </p:nvPr>
        </p:nvSpPr>
        <p:spPr>
          <a:xfrm>
            <a:off x="1587499" y="2325831"/>
            <a:ext cx="9017000" cy="2206337"/>
          </a:xfrm>
          <a:ln w="28575">
            <a:solidFill>
              <a:srgbClr val="0070C0"/>
            </a:solidFill>
          </a:ln>
        </p:spPr>
        <p:txBody>
          <a:bodyPr>
            <a:normAutofit/>
          </a:bodyPr>
          <a:lstStyle/>
          <a:p>
            <a:endParaRPr lang="es-CO" sz="1800" dirty="0">
              <a:latin typeface="Times New Roman" panose="02020603050405020304" pitchFamily="18" charset="0"/>
              <a:cs typeface="Times New Roman" panose="02020603050405020304" pitchFamily="18" charset="0"/>
            </a:endParaRPr>
          </a:p>
          <a:p>
            <a:r>
              <a:rPr lang="es-CO" sz="2000" dirty="0">
                <a:latin typeface="Times New Roman" panose="02020603050405020304" pitchFamily="18" charset="0"/>
                <a:cs typeface="Times New Roman" panose="02020603050405020304" pitchFamily="18" charset="0"/>
              </a:rPr>
              <a:t>Entre las sustancias evaluadas, ambas presentan una relación inversamente proporcional en la viscosidad respecto a la temperatura. </a:t>
            </a:r>
          </a:p>
          <a:p>
            <a:r>
              <a:rPr lang="es-CO" sz="2000" dirty="0">
                <a:latin typeface="Times New Roman" panose="02020603050405020304" pitchFamily="18" charset="0"/>
                <a:cs typeface="Times New Roman" panose="02020603050405020304" pitchFamily="18" charset="0"/>
              </a:rPr>
              <a:t>Se reafirma lo propuesto en la </a:t>
            </a:r>
            <a:r>
              <a:rPr lang="es-CO" sz="2000" dirty="0" err="1">
                <a:latin typeface="Times New Roman" panose="02020603050405020304" pitchFamily="18" charset="0"/>
                <a:cs typeface="Times New Roman" panose="02020603050405020304" pitchFamily="18" charset="0"/>
              </a:rPr>
              <a:t>hipótesis</a:t>
            </a:r>
            <a:r>
              <a:rPr lang="es-CO" sz="2000" dirty="0">
                <a:latin typeface="Times New Roman" panose="02020603050405020304" pitchFamily="18" charset="0"/>
                <a:cs typeface="Times New Roman" panose="02020603050405020304" pitchFamily="18" charset="0"/>
              </a:rPr>
              <a:t>, pues la glicerina al ser más densa, presenta mayor viscosidad, de la misma manera el comportamiento de menos viscosidad a mayor temperatura también es evidente.</a:t>
            </a:r>
          </a:p>
        </p:txBody>
      </p:sp>
      <p:sp>
        <p:nvSpPr>
          <p:cNvPr id="4" name="Rectángulo 3">
            <a:extLst>
              <a:ext uri="{FF2B5EF4-FFF2-40B4-BE49-F238E27FC236}">
                <a16:creationId xmlns:a16="http://schemas.microsoft.com/office/drawing/2014/main" id="{8D44131F-F9C8-4498-965E-578C3633C404}"/>
              </a:ext>
            </a:extLst>
          </p:cNvPr>
          <p:cNvSpPr/>
          <p:nvPr/>
        </p:nvSpPr>
        <p:spPr>
          <a:xfrm>
            <a:off x="207818" y="144101"/>
            <a:ext cx="2479964" cy="365125"/>
          </a:xfrm>
          <a:prstGeom prst="rect">
            <a:avLst/>
          </a:prstGeom>
          <a:solidFill>
            <a:schemeClr val="accent1">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200" dirty="0">
                <a:latin typeface="Agency FB" panose="020B0503020202020204" pitchFamily="34" charset="0"/>
              </a:rPr>
              <a:t>CONCLUSIONES</a:t>
            </a:r>
          </a:p>
        </p:txBody>
      </p:sp>
    </p:spTree>
    <p:extLst>
      <p:ext uri="{BB962C8B-B14F-4D97-AF65-F5344CB8AC3E}">
        <p14:creationId xmlns:p14="http://schemas.microsoft.com/office/powerpoint/2010/main" val="376670111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11287</TotalTime>
  <Words>370</Words>
  <Application>Microsoft Office PowerPoint</Application>
  <PresentationFormat>Panorámica</PresentationFormat>
  <Paragraphs>44</Paragraphs>
  <Slides>8</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Agency FB</vt:lpstr>
      <vt:lpstr>Arial</vt:lpstr>
      <vt:lpstr>Arial Narrow</vt:lpstr>
      <vt:lpstr>Calibri</vt:lpstr>
      <vt:lpstr>Calibri Light</vt:lpstr>
      <vt:lpstr>Times New Roman</vt:lpstr>
      <vt:lpstr>Tema de Office</vt:lpstr>
      <vt:lpstr>Viscosidad de líquidos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Viscosidad de líquidos</dc:title>
  <dc:creator>daniel velasquez</dc:creator>
  <cp:lastModifiedBy>daniel velasquez</cp:lastModifiedBy>
  <cp:revision>8</cp:revision>
  <dcterms:created xsi:type="dcterms:W3CDTF">2019-12-05T15:59:41Z</dcterms:created>
  <dcterms:modified xsi:type="dcterms:W3CDTF">2019-12-13T14:56:57Z</dcterms:modified>
</cp:coreProperties>
</file>