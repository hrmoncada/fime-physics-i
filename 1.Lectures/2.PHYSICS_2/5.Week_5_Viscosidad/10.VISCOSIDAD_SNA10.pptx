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363" r:id="rId2"/>
    <p:sldId id="256" r:id="rId3"/>
    <p:sldId id="365" r:id="rId4"/>
    <p:sldId id="366" r:id="rId5"/>
    <p:sldId id="367" r:id="rId6"/>
    <p:sldId id="389" r:id="rId7"/>
    <p:sldId id="401" r:id="rId8"/>
    <p:sldId id="395" r:id="rId9"/>
    <p:sldId id="400" r:id="rId10"/>
    <p:sldId id="406" r:id="rId11"/>
    <p:sldId id="371" r:id="rId12"/>
    <p:sldId id="384" r:id="rId13"/>
    <p:sldId id="387" r:id="rId14"/>
    <p:sldId id="402" r:id="rId15"/>
    <p:sldId id="381" r:id="rId16"/>
    <p:sldId id="403" r:id="rId17"/>
    <p:sldId id="404" r:id="rId18"/>
    <p:sldId id="376" r:id="rId19"/>
    <p:sldId id="382" r:id="rId20"/>
    <p:sldId id="378" r:id="rId21"/>
  </p:sldIdLst>
  <p:sldSz cx="9906000" cy="6858000" type="A4"/>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D1611"/>
    <a:srgbClr val="A51313"/>
    <a:srgbClr val="B71515"/>
    <a:srgbClr val="D51919"/>
    <a:srgbClr val="B6120E"/>
    <a:srgbClr val="930E0B"/>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36" autoAdjust="0"/>
    <p:restoredTop sz="94660"/>
  </p:normalViewPr>
  <p:slideViewPr>
    <p:cSldViewPr>
      <p:cViewPr varScale="1">
        <p:scale>
          <a:sx n="68" d="100"/>
          <a:sy n="68" d="100"/>
        </p:scale>
        <p:origin x="1446" y="72"/>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wmf"/><Relationship Id="rId1" Type="http://schemas.openxmlformats.org/officeDocument/2006/relationships/image" Target="../media/image23.wmf"/><Relationship Id="rId5" Type="http://schemas.openxmlformats.org/officeDocument/2006/relationships/image" Target="../media/image27.wmf"/><Relationship Id="rId4"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219AD7-51CE-483B-A812-AE489C31F232}" type="datetimeFigureOut">
              <a:rPr lang="es-MX" smtClean="0"/>
              <a:t>24/10/2019</a:t>
            </a:fld>
            <a:endParaRPr lang="es-MX"/>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E476D70-7FD1-490F-953D-DAC7EFCA2461}" type="slidenum">
              <a:rPr lang="es-MX" smtClean="0"/>
              <a:t>‹Nº›</a:t>
            </a:fld>
            <a:endParaRPr lang="es-MX"/>
          </a:p>
        </p:txBody>
      </p:sp>
    </p:spTree>
    <p:extLst>
      <p:ext uri="{BB962C8B-B14F-4D97-AF65-F5344CB8AC3E}">
        <p14:creationId xmlns:p14="http://schemas.microsoft.com/office/powerpoint/2010/main" val="1745235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5223AA-9B34-4DCC-A6E4-0C980A794CD5}" type="datetimeFigureOut">
              <a:rPr lang="es-MX" smtClean="0"/>
              <a:t>24/10/2019</a:t>
            </a:fld>
            <a:endParaRPr lang="es-MX"/>
          </a:p>
        </p:txBody>
      </p:sp>
      <p:sp>
        <p:nvSpPr>
          <p:cNvPr id="4" name="3 Marcador de imagen de diapositiva"/>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D07FDC-64A3-4F2D-9092-2E95035D7FC4}" type="slidenum">
              <a:rPr lang="es-MX" smtClean="0"/>
              <a:t>‹Nº›</a:t>
            </a:fld>
            <a:endParaRPr lang="es-MX"/>
          </a:p>
        </p:txBody>
      </p:sp>
    </p:spTree>
    <p:extLst>
      <p:ext uri="{BB962C8B-B14F-4D97-AF65-F5344CB8AC3E}">
        <p14:creationId xmlns:p14="http://schemas.microsoft.com/office/powerpoint/2010/main" val="41469930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ctrTitle"/>
          </p:nvPr>
        </p:nvSpPr>
        <p:spPr>
          <a:xfrm>
            <a:off x="534479" y="1848218"/>
            <a:ext cx="8420100" cy="345317"/>
          </a:xfrm>
          <a:prstGeom prst="rect">
            <a:avLst/>
          </a:prstGeom>
        </p:spPr>
        <p:txBody>
          <a:bodyPr/>
          <a:lstStyle>
            <a:lvl1pPr>
              <a:defRPr sz="2800" cap="all">
                <a:solidFill>
                  <a:srgbClr val="272727"/>
                </a:solidFill>
              </a:defRPr>
            </a:lvl1pPr>
          </a:lstStyle>
          <a:p>
            <a:r>
              <a:rPr lang="es-ES"/>
              <a:t>Haga clic para modificar el estilo de título del patrón</a:t>
            </a:r>
            <a:endParaRPr lang="es-ES" dirty="0"/>
          </a:p>
        </p:txBody>
      </p:sp>
      <p:sp>
        <p:nvSpPr>
          <p:cNvPr id="3" name="Subtítulo 2"/>
          <p:cNvSpPr>
            <a:spLocks noGrp="1"/>
          </p:cNvSpPr>
          <p:nvPr>
            <p:ph type="subTitle" idx="1"/>
          </p:nvPr>
        </p:nvSpPr>
        <p:spPr>
          <a:xfrm>
            <a:off x="534479" y="2287320"/>
            <a:ext cx="6934200" cy="978395"/>
          </a:xfrm>
          <a:prstGeom prst="rect">
            <a:avLst/>
          </a:prstGeom>
        </p:spPr>
        <p:txBody>
          <a:bodyPr anchor="ctr"/>
          <a:lstStyle>
            <a:lvl1pPr marL="0" indent="0" algn="l">
              <a:buNone/>
              <a:defRPr sz="1800">
                <a:solidFill>
                  <a:schemeClr val="bg2">
                    <a:lumMod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pic>
        <p:nvPicPr>
          <p:cNvPr id="5" name="4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93260" y="5949280"/>
            <a:ext cx="2340260" cy="648072"/>
          </a:xfrm>
          <a:prstGeom prst="rect">
            <a:avLst/>
          </a:prstGeom>
        </p:spPr>
      </p:pic>
      <p:sp>
        <p:nvSpPr>
          <p:cNvPr id="7"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8" name="7 Rectángulo"/>
          <p:cNvSpPr/>
          <p:nvPr userDrawn="1"/>
        </p:nvSpPr>
        <p:spPr>
          <a:xfrm>
            <a:off x="7825563" y="12700"/>
            <a:ext cx="2066679" cy="1124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7"/>
          <p:cNvSpPr/>
          <p:nvPr userDrawn="1"/>
        </p:nvSpPr>
        <p:spPr>
          <a:xfrm>
            <a:off x="0" y="1835150"/>
            <a:ext cx="239713"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DUCCION">
    <p:spTree>
      <p:nvGrpSpPr>
        <p:cNvPr id="1" name=""/>
        <p:cNvGrpSpPr/>
        <p:nvPr/>
      </p:nvGrpSpPr>
      <p:grpSpPr>
        <a:xfrm>
          <a:off x="0" y="0"/>
          <a:ext cx="0" cy="0"/>
          <a:chOff x="0" y="0"/>
          <a:chExt cx="0" cy="0"/>
        </a:xfrm>
      </p:grpSpPr>
      <p:sp>
        <p:nvSpPr>
          <p:cNvPr id="5"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None/>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6" name="Rectangle 5"/>
          <p:cNvSpPr/>
          <p:nvPr/>
        </p:nvSpPr>
        <p:spPr>
          <a:xfrm>
            <a:off x="495300" y="393580"/>
            <a:ext cx="1500732" cy="461665"/>
          </a:xfrm>
          <a:prstGeom prst="rect">
            <a:avLst/>
          </a:prstGeom>
        </p:spPr>
        <p:txBody>
          <a:bodyPr wrap="none">
            <a:spAutoFit/>
          </a:bodyPr>
          <a:lstStyle/>
          <a:p>
            <a:r>
              <a:rPr lang="es-ES_tradnl" sz="2400" dirty="0">
                <a:solidFill>
                  <a:srgbClr val="FFC000"/>
                </a:solidFill>
                <a:latin typeface="Arial" pitchFamily="34" charset="0"/>
                <a:cs typeface="Arial" pitchFamily="34" charset="0"/>
              </a:rPr>
              <a:t>LOGROS</a:t>
            </a:r>
            <a:endParaRPr lang="es-MX" sz="2400" dirty="0">
              <a:solidFill>
                <a:srgbClr val="FFC000"/>
              </a:solidFill>
              <a:latin typeface="Arial" pitchFamily="34" charset="0"/>
              <a:cs typeface="Arial" pitchFamily="34" charset="0"/>
            </a:endParaRPr>
          </a:p>
        </p:txBody>
      </p:sp>
      <p:sp>
        <p:nvSpPr>
          <p:cNvPr id="8"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pic>
        <p:nvPicPr>
          <p:cNvPr id="2" name="1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5"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normAutofit/>
          </a:bodyPr>
          <a:lstStyle>
            <a:lvl1pPr>
              <a:defRPr sz="2400" cap="all"/>
            </a:lvl1pPr>
          </a:lstStyle>
          <a:p>
            <a:r>
              <a:rPr lang="es-ES"/>
              <a:t>Haga clic para modificar el estilo de título del patrón</a:t>
            </a:r>
            <a:endParaRPr lang="es-ES" dirty="0"/>
          </a:p>
        </p:txBody>
      </p:sp>
      <p:sp>
        <p:nvSpPr>
          <p:cNvPr id="3" name="Marcador de contenido 2"/>
          <p:cNvSpPr>
            <a:spLocks noGrp="1"/>
          </p:cNvSpPr>
          <p:nvPr>
            <p:ph idx="1"/>
          </p:nvPr>
        </p:nvSpPr>
        <p:spPr>
          <a:xfrm>
            <a:off x="495300" y="1078523"/>
            <a:ext cx="8915400" cy="5141425"/>
          </a:xfrm>
          <a:prstGeom prst="rect">
            <a:avLst/>
          </a:prstGeom>
        </p:spPr>
        <p:txBody>
          <a:bodyPr/>
          <a:lstStyle>
            <a:lvl1pPr>
              <a:defRPr sz="2000"/>
            </a:lvl1pPr>
            <a:lvl2pPr>
              <a:defRPr sz="2000"/>
            </a:lvl2pPr>
            <a:lvl3pPr>
              <a:defRPr sz="2000"/>
            </a:lvl3pPr>
            <a:lvl4pPr>
              <a:defRPr sz="2000"/>
            </a:lvl4pPr>
            <a:lvl5pPr>
              <a:defRPr sz="20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6"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sp>
        <p:nvSpPr>
          <p:cNvPr id="3" name="Marcador de contenido 2"/>
          <p:cNvSpPr>
            <a:spLocks noGrp="1"/>
          </p:cNvSpPr>
          <p:nvPr>
            <p:ph sz="half" idx="1"/>
          </p:nvPr>
        </p:nvSpPr>
        <p:spPr>
          <a:xfrm>
            <a:off x="49530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Marcador de contenido 3"/>
          <p:cNvSpPr>
            <a:spLocks noGrp="1"/>
          </p:cNvSpPr>
          <p:nvPr>
            <p:ph sz="half" idx="2"/>
          </p:nvPr>
        </p:nvSpPr>
        <p:spPr>
          <a:xfrm>
            <a:off x="503555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pic>
        <p:nvPicPr>
          <p:cNvPr id="8" name="7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1" y="393580"/>
            <a:ext cx="5022529"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REFERENCIAS BIBLIOGRÁFICAS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0" y="393580"/>
            <a:ext cx="2648482"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CONCLUSIONES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4" name="Rectángulo 8"/>
          <p:cNvSpPr/>
          <p:nvPr/>
        </p:nvSpPr>
        <p:spPr>
          <a:xfrm>
            <a:off x="9658351" y="482601"/>
            <a:ext cx="259689"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l="-9000" r="-1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0" r:id="rId8"/>
    <p:sldLayoutId id="2147483671" r:id="rId9"/>
  </p:sldLayoutIdLst>
  <p:transition>
    <p:wipe dir="r"/>
  </p:transition>
  <p:hf hdr="0"/>
  <p:txStyles>
    <p:titleStyle>
      <a:lvl1pPr algn="l" defTabSz="457200" rtl="0" eaLnBrk="1" fontAlgn="base" hangingPunct="1">
        <a:spcBef>
          <a:spcPct val="0"/>
        </a:spcBef>
        <a:spcAft>
          <a:spcPct val="0"/>
        </a:spcAft>
        <a:defRPr sz="2400" kern="1200" cap="all">
          <a:solidFill>
            <a:srgbClr val="EFA82F"/>
          </a:solidFill>
          <a:latin typeface="Arial"/>
          <a:ea typeface="ＭＳ Ｐゴシック"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2pPr>
      <a:lvl3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3pPr>
      <a:lvl4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4pPr>
      <a:lvl5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9pPr>
    </p:titleStyle>
    <p:body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image" Target="../media/image17.wmf"/><Relationship Id="rId5" Type="http://schemas.openxmlformats.org/officeDocument/2006/relationships/oleObject" Target="../embeddings/oleObject2.bin"/><Relationship Id="rId10"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22.emf"/><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21.wmf"/><Relationship Id="rId5" Type="http://schemas.openxmlformats.org/officeDocument/2006/relationships/oleObject" Target="../embeddings/oleObject6.bin"/><Relationship Id="rId4" Type="http://schemas.openxmlformats.org/officeDocument/2006/relationships/image" Target="../media/image20.wmf"/></Relationships>
</file>

<file path=ppt/slides/_rels/slide11.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27.wmf"/><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image" Target="../media/image24.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hyperlink" Target="http://www.fisicarecreativa.com/" TargetMode="External"/><Relationship Id="rId2" Type="http://schemas.openxmlformats.org/officeDocument/2006/relationships/hyperlink" Target="http://www.sc.ehu.es/sbweb/fisica/"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344488" y="1988840"/>
            <a:ext cx="2700300" cy="342342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fontAlgn="base" hangingPunct="0">
              <a:lnSpc>
                <a:spcPct val="150000"/>
              </a:lnSpc>
            </a:pPr>
            <a:endParaRPr lang="es-ES" sz="2000" dirty="0">
              <a:solidFill>
                <a:schemeClr val="tx1"/>
              </a:solidFill>
              <a:latin typeface="Arial" panose="020B0604020202020204" pitchFamily="34" charset="0"/>
              <a:cs typeface="Arial" panose="020B0604020202020204" pitchFamily="34" charset="0"/>
            </a:endParaRPr>
          </a:p>
          <a:p>
            <a:pPr fontAlgn="base" hangingPunct="0">
              <a:lnSpc>
                <a:spcPct val="150000"/>
              </a:lnSpc>
            </a:pPr>
            <a:r>
              <a:rPr lang="es-ES" sz="2000" dirty="0">
                <a:solidFill>
                  <a:schemeClr val="tx1"/>
                </a:solidFill>
                <a:latin typeface="Arial" panose="020B0604020202020204" pitchFamily="34" charset="0"/>
                <a:cs typeface="Arial" panose="020B0604020202020204" pitchFamily="34" charset="0"/>
              </a:rPr>
              <a:t>Viscosidad. </a:t>
            </a:r>
          </a:p>
          <a:p>
            <a:pPr fontAlgn="base" hangingPunct="0">
              <a:lnSpc>
                <a:spcPct val="150000"/>
              </a:lnSpc>
            </a:pPr>
            <a:r>
              <a:rPr lang="es-ES" sz="2000" dirty="0">
                <a:solidFill>
                  <a:schemeClr val="tx1"/>
                </a:solidFill>
                <a:latin typeface="Arial" panose="020B0604020202020204" pitchFamily="34" charset="0"/>
                <a:cs typeface="Arial" panose="020B0604020202020204" pitchFamily="34" charset="0"/>
              </a:rPr>
              <a:t>Ecuación de Poiseuille.</a:t>
            </a:r>
          </a:p>
          <a:p>
            <a:pPr fontAlgn="base" hangingPunct="0">
              <a:lnSpc>
                <a:spcPct val="150000"/>
              </a:lnSpc>
            </a:pPr>
            <a:r>
              <a:rPr lang="es-ES" sz="2000" dirty="0">
                <a:solidFill>
                  <a:schemeClr val="tx1"/>
                </a:solidFill>
                <a:latin typeface="Arial" panose="020B0604020202020204" pitchFamily="34" charset="0"/>
                <a:cs typeface="Arial" panose="020B0604020202020204" pitchFamily="34" charset="0"/>
              </a:rPr>
              <a:t>Numero de Reynols.</a:t>
            </a:r>
          </a:p>
          <a:p>
            <a:pPr fontAlgn="base" hangingPunct="0">
              <a:lnSpc>
                <a:spcPct val="150000"/>
              </a:lnSpc>
            </a:pPr>
            <a:r>
              <a:rPr lang="es-ES" sz="2000" dirty="0">
                <a:solidFill>
                  <a:schemeClr val="tx1"/>
                </a:solidFill>
                <a:latin typeface="Arial" panose="020B0604020202020204" pitchFamily="34" charset="0"/>
                <a:cs typeface="Arial" panose="020B0604020202020204" pitchFamily="34" charset="0"/>
              </a:rPr>
              <a:t>Ley de Stokes</a:t>
            </a:r>
            <a:endParaRPr lang="es-PE" sz="2000" dirty="0">
              <a:solidFill>
                <a:schemeClr val="tx1"/>
              </a:solidFill>
              <a:latin typeface="Arial" panose="020B0604020202020204" pitchFamily="34" charset="0"/>
              <a:cs typeface="Arial" panose="020B0604020202020204" pitchFamily="34" charset="0"/>
            </a:endParaRPr>
          </a:p>
          <a:p>
            <a:pPr fontAlgn="base" hangingPunct="0"/>
            <a:r>
              <a:rPr lang="es-ES" dirty="0">
                <a:latin typeface="Arial" panose="020B0604020202020204" pitchFamily="34" charset="0"/>
                <a:cs typeface="Arial" panose="020B0604020202020204" pitchFamily="34" charset="0"/>
              </a:rPr>
              <a:t> </a:t>
            </a:r>
            <a:endParaRPr lang="es-PE" dirty="0">
              <a:latin typeface="Arial" panose="020B0604020202020204" pitchFamily="34" charset="0"/>
              <a:cs typeface="Arial" panose="020B0604020202020204" pitchFamily="34" charset="0"/>
            </a:endParaRPr>
          </a:p>
          <a:p>
            <a:pPr fontAlgn="base" hangingPunct="0"/>
            <a:endParaRPr lang="es-PE" sz="2400" dirty="0">
              <a:solidFill>
                <a:schemeClr val="tx1"/>
              </a:solidFill>
            </a:endParaRPr>
          </a:p>
        </p:txBody>
      </p:sp>
      <p:sp>
        <p:nvSpPr>
          <p:cNvPr id="6" name="Rectángulo redondeado 5"/>
          <p:cNvSpPr/>
          <p:nvPr/>
        </p:nvSpPr>
        <p:spPr>
          <a:xfrm>
            <a:off x="1548194" y="760506"/>
            <a:ext cx="3692838" cy="64807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1704975" indent="-1704975"/>
            <a:r>
              <a:rPr lang="es-PE" sz="2000" b="1" dirty="0">
                <a:solidFill>
                  <a:schemeClr val="tx1"/>
                </a:solidFill>
                <a:latin typeface="Arial" panose="020B0604020202020204" pitchFamily="34" charset="0"/>
                <a:cs typeface="Arial" panose="020B0604020202020204" pitchFamily="34" charset="0"/>
              </a:rPr>
              <a:t>SEMANA 10:  VISCOSIDAD</a:t>
            </a:r>
          </a:p>
        </p:txBody>
      </p:sp>
      <p:pic>
        <p:nvPicPr>
          <p:cNvPr id="7" name="Picture 2" descr="http://autofan.mx/wp-content/uploads/2012/05/head143.jpg">
            <a:extLst>
              <a:ext uri="{FF2B5EF4-FFF2-40B4-BE49-F238E27FC236}">
                <a16:creationId xmlns:a16="http://schemas.microsoft.com/office/drawing/2014/main" id="{4D3157A1-F24F-449F-BD91-556A7FDEA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2841" y="1897278"/>
            <a:ext cx="6048671" cy="39801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31923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640632" y="764704"/>
            <a:ext cx="5961184" cy="96715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OBSERVA LA IMÁGEN .  .  .</a:t>
            </a:r>
          </a:p>
        </p:txBody>
      </p:sp>
      <p:sp>
        <p:nvSpPr>
          <p:cNvPr id="8" name="Rectángulo redondeado 7"/>
          <p:cNvSpPr/>
          <p:nvPr/>
        </p:nvSpPr>
        <p:spPr>
          <a:xfrm>
            <a:off x="556247" y="5925472"/>
            <a:ext cx="8264769" cy="64611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¿Qué opinión tienes al respecto?</a:t>
            </a:r>
          </a:p>
        </p:txBody>
      </p:sp>
      <p:pic>
        <p:nvPicPr>
          <p:cNvPr id="6" name="Picture 2">
            <a:extLst>
              <a:ext uri="{FF2B5EF4-FFF2-40B4-BE49-F238E27FC236}">
                <a16:creationId xmlns:a16="http://schemas.microsoft.com/office/drawing/2014/main" id="{B3F91FC3-B9C4-4085-A5DE-25C8E8D6D1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0752" y="2060848"/>
            <a:ext cx="3672408" cy="3450193"/>
          </a:xfrm>
          <a:prstGeom prst="rect">
            <a:avLst/>
          </a:prstGeom>
          <a:ln w="228600" cap="sq" cmpd="thickThin">
            <a:solidFill>
              <a:schemeClr val="accent1"/>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238733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7" name="Rectángulo redondeado 6"/>
          <p:cNvSpPr/>
          <p:nvPr/>
        </p:nvSpPr>
        <p:spPr>
          <a:xfrm>
            <a:off x="1712640" y="873007"/>
            <a:ext cx="2985193" cy="67756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3200" dirty="0">
                <a:solidFill>
                  <a:schemeClr val="tx1"/>
                </a:solidFill>
              </a:rPr>
              <a:t>PENSEMOS. . .</a:t>
            </a:r>
          </a:p>
        </p:txBody>
      </p:sp>
      <p:sp>
        <p:nvSpPr>
          <p:cNvPr id="9" name="Rectángulo redondeado 8"/>
          <p:cNvSpPr/>
          <p:nvPr/>
        </p:nvSpPr>
        <p:spPr>
          <a:xfrm>
            <a:off x="1712640" y="4653136"/>
            <a:ext cx="6696744" cy="187220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400" b="1" dirty="0">
              <a:solidFill>
                <a:schemeClr val="tx1"/>
              </a:solidFill>
            </a:endParaRPr>
          </a:p>
          <a:p>
            <a:pPr algn="ctr">
              <a:lnSpc>
                <a:spcPct val="150000"/>
              </a:lnSpc>
            </a:pPr>
            <a:endParaRPr lang="es-PE" sz="2400" b="1" dirty="0">
              <a:solidFill>
                <a:schemeClr val="tx1"/>
              </a:solidFill>
            </a:endParaRPr>
          </a:p>
          <a:p>
            <a:pPr>
              <a:lnSpc>
                <a:spcPct val="150000"/>
              </a:lnSpc>
            </a:pPr>
            <a:r>
              <a:rPr lang="es-PE" sz="2000" b="1" dirty="0">
                <a:solidFill>
                  <a:schemeClr val="tx1"/>
                </a:solidFill>
              </a:rPr>
              <a:t>¿Qué entiendes hidrostática?   ¿Qué entiendes por presión? ¿Qué entiendes por densidad?   ¿Qué dice el principio de Pascal? ¿En que consiste el principio de Arquímedes?</a:t>
            </a:r>
          </a:p>
          <a:p>
            <a:pPr>
              <a:lnSpc>
                <a:spcPct val="150000"/>
              </a:lnSpc>
            </a:pPr>
            <a:r>
              <a:rPr lang="es-PE" sz="2000" b="1" dirty="0">
                <a:solidFill>
                  <a:schemeClr val="tx1"/>
                </a:solidFill>
              </a:rPr>
              <a:t>¿La  presión es energía por unidad de volumen?</a:t>
            </a:r>
            <a:br>
              <a:rPr lang="es-PE" sz="2000" b="1" dirty="0">
                <a:solidFill>
                  <a:schemeClr val="tx1"/>
                </a:solidFill>
              </a:rPr>
            </a:br>
            <a:br>
              <a:rPr lang="es-PE" sz="2400" b="1" dirty="0">
                <a:solidFill>
                  <a:schemeClr val="tx1"/>
                </a:solidFill>
              </a:rPr>
            </a:br>
            <a:endParaRPr lang="es-PE" sz="2400" b="1" dirty="0">
              <a:solidFill>
                <a:schemeClr val="tx1"/>
              </a:solidFill>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2640" y="1661692"/>
            <a:ext cx="6696744" cy="2784913"/>
          </a:xfrm>
          <a:prstGeom prst="rect">
            <a:avLst/>
          </a:prstGeom>
        </p:spPr>
      </p:pic>
    </p:spTree>
    <p:extLst>
      <p:ext uri="{BB962C8B-B14F-4D97-AF65-F5344CB8AC3E}">
        <p14:creationId xmlns:p14="http://schemas.microsoft.com/office/powerpoint/2010/main" val="964110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664295"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PROPÓSITO</a:t>
            </a:r>
          </a:p>
        </p:txBody>
      </p:sp>
      <p:sp>
        <p:nvSpPr>
          <p:cNvPr id="8" name="2 Redondear rectángulo de esquina diagonal"/>
          <p:cNvSpPr/>
          <p:nvPr/>
        </p:nvSpPr>
        <p:spPr>
          <a:xfrm>
            <a:off x="5241032" y="1484784"/>
            <a:ext cx="4176464" cy="4608512"/>
          </a:xfrm>
          <a:prstGeom prst="round2DiagRect">
            <a:avLst>
              <a:gd name="adj1" fmla="val 14362"/>
              <a:gd name="adj2" fmla="val 0"/>
            </a:avLst>
          </a:prstGeom>
          <a:solidFill>
            <a:srgbClr val="11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es-PE" sz="2000" dirty="0">
              <a:solidFill>
                <a:schemeClr val="tx1"/>
              </a:solidFill>
              <a:latin typeface="Arial" panose="020B0604020202020204" pitchFamily="34" charset="0"/>
              <a:cs typeface="Arial" panose="020B0604020202020204" pitchFamily="34" charset="0"/>
            </a:endParaRPr>
          </a:p>
          <a:p>
            <a:pPr algn="just">
              <a:lnSpc>
                <a:spcPct val="150000"/>
              </a:lnSpc>
            </a:pPr>
            <a:r>
              <a:rPr lang="es-PE" sz="2000" dirty="0">
                <a:solidFill>
                  <a:schemeClr val="tx1"/>
                </a:solidFill>
                <a:latin typeface="Arial" panose="020B0604020202020204" pitchFamily="34" charset="0"/>
                <a:cs typeface="Arial" panose="020B0604020202020204" pitchFamily="34" charset="0"/>
              </a:rPr>
              <a:t>Al finalizar la sesión, el estudiante resuelve problemas de fluidos en movimiento con viscosidad, aplicados a casos prácticos de interés usando correctamente la definición de  viscosidad, la ley de Poiseuille y la ley de Stokes con orden, tres cifras significativas y las unidades respectivas.</a:t>
            </a:r>
            <a:endParaRPr lang="es-ES" sz="2000" dirty="0">
              <a:solidFill>
                <a:schemeClr val="tx1"/>
              </a:solidFill>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s-PE" sz="2000" b="1" dirty="0">
              <a:solidFill>
                <a:schemeClr val="tx1"/>
              </a:solidFill>
              <a:latin typeface="Arial" panose="020B0604020202020204" pitchFamily="34" charset="0"/>
              <a:cs typeface="Arial" panose="020B0604020202020204" pitchFamily="34" charset="0"/>
            </a:endParaRPr>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536" y="2132856"/>
            <a:ext cx="3909322" cy="3807451"/>
          </a:xfrm>
          <a:prstGeom prst="rect">
            <a:avLst/>
          </a:prstGeom>
        </p:spPr>
      </p:pic>
    </p:spTree>
    <p:extLst>
      <p:ext uri="{BB962C8B-B14F-4D97-AF65-F5344CB8AC3E}">
        <p14:creationId xmlns:p14="http://schemas.microsoft.com/office/powerpoint/2010/main" val="14124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p:cNvCxnSpPr>
            <a:cxnSpLocks/>
          </p:cNvCxnSpPr>
          <p:nvPr/>
        </p:nvCxnSpPr>
        <p:spPr>
          <a:xfrm>
            <a:off x="8594868" y="2800075"/>
            <a:ext cx="0" cy="3710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Conector recto 7"/>
          <p:cNvCxnSpPr>
            <a:cxnSpLocks/>
            <a:stCxn id="16" idx="2"/>
          </p:cNvCxnSpPr>
          <p:nvPr/>
        </p:nvCxnSpPr>
        <p:spPr>
          <a:xfrm>
            <a:off x="8703023" y="3635349"/>
            <a:ext cx="0" cy="1389283"/>
          </a:xfrm>
          <a:prstGeom prst="line">
            <a:avLst/>
          </a:prstGeom>
        </p:spPr>
        <p:style>
          <a:lnRef idx="2">
            <a:schemeClr val="dk1"/>
          </a:lnRef>
          <a:fillRef idx="0">
            <a:schemeClr val="dk1"/>
          </a:fillRef>
          <a:effectRef idx="1">
            <a:schemeClr val="dk1"/>
          </a:effectRef>
          <a:fontRef idx="minor">
            <a:schemeClr val="tx1"/>
          </a:fontRef>
        </p:style>
      </p:cxnSp>
      <p:cxnSp>
        <p:nvCxnSpPr>
          <p:cNvPr id="6" name="Conector recto 5"/>
          <p:cNvCxnSpPr>
            <a:cxnSpLocks/>
            <a:endCxn id="33" idx="2"/>
          </p:cNvCxnSpPr>
          <p:nvPr/>
        </p:nvCxnSpPr>
        <p:spPr>
          <a:xfrm>
            <a:off x="5029186" y="3911376"/>
            <a:ext cx="35734" cy="19877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Conector recto 29"/>
          <p:cNvCxnSpPr/>
          <p:nvPr/>
        </p:nvCxnSpPr>
        <p:spPr>
          <a:xfrm>
            <a:off x="2932622" y="3626482"/>
            <a:ext cx="4154" cy="7010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cxnSp>
        <p:nvCxnSpPr>
          <p:cNvPr id="7" name="Conector recto 6">
            <a:extLst>
              <a:ext uri="{FF2B5EF4-FFF2-40B4-BE49-F238E27FC236}">
                <a16:creationId xmlns:a16="http://schemas.microsoft.com/office/drawing/2014/main" id="{8001D105-DCAC-42FF-A68E-0D3DE034E8B2}"/>
              </a:ext>
            </a:extLst>
          </p:cNvPr>
          <p:cNvCxnSpPr>
            <a:cxnSpLocks/>
          </p:cNvCxnSpPr>
          <p:nvPr/>
        </p:nvCxnSpPr>
        <p:spPr>
          <a:xfrm flipH="1">
            <a:off x="6875364" y="4025210"/>
            <a:ext cx="6402" cy="694686"/>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9" name="Rectángulo redondeado 8"/>
          <p:cNvSpPr/>
          <p:nvPr/>
        </p:nvSpPr>
        <p:spPr>
          <a:xfrm>
            <a:off x="1640632" y="1003815"/>
            <a:ext cx="4352925" cy="52700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CONTENIDO TEMÁTICO</a:t>
            </a:r>
            <a:endParaRPr lang="es-PE" sz="2800" dirty="0">
              <a:solidFill>
                <a:schemeClr val="tx1"/>
              </a:solidFill>
            </a:endParaRPr>
          </a:p>
        </p:txBody>
      </p:sp>
      <p:sp>
        <p:nvSpPr>
          <p:cNvPr id="11" name="Rectángulo 10">
            <a:extLst>
              <a:ext uri="{FF2B5EF4-FFF2-40B4-BE49-F238E27FC236}">
                <a16:creationId xmlns:a16="http://schemas.microsoft.com/office/drawing/2014/main" id="{8029014D-9243-4890-AF00-9E6FC9945B2C}"/>
              </a:ext>
            </a:extLst>
          </p:cNvPr>
          <p:cNvSpPr/>
          <p:nvPr/>
        </p:nvSpPr>
        <p:spPr>
          <a:xfrm>
            <a:off x="2600759" y="1844824"/>
            <a:ext cx="5195686" cy="576064"/>
          </a:xfrm>
          <a:prstGeom prst="rect">
            <a:avLst/>
          </a:prstGeom>
          <a:solidFill>
            <a:srgbClr val="1199FF"/>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2400" b="1" dirty="0">
                <a:solidFill>
                  <a:schemeClr val="tx1"/>
                </a:solidFill>
              </a:rPr>
              <a:t>VISCOSIDAD</a:t>
            </a:r>
          </a:p>
        </p:txBody>
      </p:sp>
      <p:cxnSp>
        <p:nvCxnSpPr>
          <p:cNvPr id="12" name="Conector recto 11">
            <a:extLst>
              <a:ext uri="{FF2B5EF4-FFF2-40B4-BE49-F238E27FC236}">
                <a16:creationId xmlns:a16="http://schemas.microsoft.com/office/drawing/2014/main" id="{008A15F1-A2F7-4515-8854-56CDE8B68B99}"/>
              </a:ext>
            </a:extLst>
          </p:cNvPr>
          <p:cNvCxnSpPr>
            <a:cxnSpLocks/>
          </p:cNvCxnSpPr>
          <p:nvPr/>
        </p:nvCxnSpPr>
        <p:spPr>
          <a:xfrm>
            <a:off x="4916462" y="245105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3" name="Rectángulo 12">
            <a:extLst>
              <a:ext uri="{FF2B5EF4-FFF2-40B4-BE49-F238E27FC236}">
                <a16:creationId xmlns:a16="http://schemas.microsoft.com/office/drawing/2014/main" id="{B377CFE4-F974-430F-8D3E-31A44641DDDD}"/>
              </a:ext>
            </a:extLst>
          </p:cNvPr>
          <p:cNvSpPr/>
          <p:nvPr/>
        </p:nvSpPr>
        <p:spPr>
          <a:xfrm>
            <a:off x="2187679" y="3036424"/>
            <a:ext cx="1508771" cy="590058"/>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solidFill>
                  <a:schemeClr val="tx1"/>
                </a:solidFill>
              </a:rPr>
              <a:t>CANTIDADES </a:t>
            </a:r>
            <a:r>
              <a:rPr lang="es-PE" sz="1600" b="1" dirty="0"/>
              <a:t>FÍSICAS</a:t>
            </a:r>
            <a:endParaRPr lang="es-PE" sz="1600" b="1" dirty="0">
              <a:solidFill>
                <a:schemeClr val="tx1"/>
              </a:solidFill>
            </a:endParaRPr>
          </a:p>
        </p:txBody>
      </p:sp>
      <p:cxnSp>
        <p:nvCxnSpPr>
          <p:cNvPr id="14" name="Conector recto 13">
            <a:extLst>
              <a:ext uri="{FF2B5EF4-FFF2-40B4-BE49-F238E27FC236}">
                <a16:creationId xmlns:a16="http://schemas.microsoft.com/office/drawing/2014/main" id="{43098481-B66C-4565-AFF8-F4FBF153DF92}"/>
              </a:ext>
            </a:extLst>
          </p:cNvPr>
          <p:cNvCxnSpPr>
            <a:cxnSpLocks/>
          </p:cNvCxnSpPr>
          <p:nvPr/>
        </p:nvCxnSpPr>
        <p:spPr>
          <a:xfrm flipH="1" flipV="1">
            <a:off x="1203775" y="2800075"/>
            <a:ext cx="7391093" cy="2779"/>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cxnSp>
        <p:nvCxnSpPr>
          <p:cNvPr id="15" name="Conector recto 14">
            <a:extLst>
              <a:ext uri="{FF2B5EF4-FFF2-40B4-BE49-F238E27FC236}">
                <a16:creationId xmlns:a16="http://schemas.microsoft.com/office/drawing/2014/main" id="{E4375B2A-706A-4D8E-8409-0FE4926350F3}"/>
              </a:ext>
            </a:extLst>
          </p:cNvPr>
          <p:cNvCxnSpPr>
            <a:cxnSpLocks/>
          </p:cNvCxnSpPr>
          <p:nvPr/>
        </p:nvCxnSpPr>
        <p:spPr>
          <a:xfrm>
            <a:off x="4918241" y="281109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6" name="Rectángulo 15">
            <a:extLst>
              <a:ext uri="{FF2B5EF4-FFF2-40B4-BE49-F238E27FC236}">
                <a16:creationId xmlns:a16="http://schemas.microsoft.com/office/drawing/2014/main" id="{B32EC4F4-40F8-440A-A577-A55B582660EF}"/>
              </a:ext>
            </a:extLst>
          </p:cNvPr>
          <p:cNvSpPr/>
          <p:nvPr/>
        </p:nvSpPr>
        <p:spPr>
          <a:xfrm>
            <a:off x="7744073" y="3066114"/>
            <a:ext cx="1917899" cy="569235"/>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cs typeface="Arial" panose="020B0604020202020204" pitchFamily="34" charset="0"/>
              </a:rPr>
              <a:t> LEY DE STOKES</a:t>
            </a:r>
          </a:p>
        </p:txBody>
      </p:sp>
      <p:sp>
        <p:nvSpPr>
          <p:cNvPr id="18" name="Rectángulo 17">
            <a:extLst>
              <a:ext uri="{FF2B5EF4-FFF2-40B4-BE49-F238E27FC236}">
                <a16:creationId xmlns:a16="http://schemas.microsoft.com/office/drawing/2014/main" id="{491CDA35-9E9C-46DA-B439-A69909018FD2}"/>
              </a:ext>
            </a:extLst>
          </p:cNvPr>
          <p:cNvSpPr/>
          <p:nvPr/>
        </p:nvSpPr>
        <p:spPr>
          <a:xfrm>
            <a:off x="2321731" y="3860053"/>
            <a:ext cx="1463290" cy="1770474"/>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marL="203200" lvl="0" indent="-203200" algn="just">
              <a:buFont typeface="Arial" panose="020B0604020202020204" pitchFamily="34" charset="0"/>
              <a:buChar char="•"/>
            </a:pPr>
            <a:r>
              <a:rPr kumimoji="1" lang="en-GB" altLang="es-PE" sz="1400" dirty="0" err="1">
                <a:solidFill>
                  <a:schemeClr val="tx1"/>
                </a:solidFill>
                <a:latin typeface="Arial" panose="020B0604020202020204" pitchFamily="34" charset="0"/>
                <a:cs typeface="Arial" panose="020B0604020202020204" pitchFamily="34" charset="0"/>
              </a:rPr>
              <a:t>Viscosidad</a:t>
            </a:r>
            <a:r>
              <a:rPr kumimoji="1" lang="en-GB" altLang="es-PE" sz="1400" dirty="0">
                <a:solidFill>
                  <a:schemeClr val="tx1"/>
                </a:solidFill>
                <a:latin typeface="Arial" panose="020B0604020202020204" pitchFamily="34" charset="0"/>
                <a:cs typeface="Arial" panose="020B0604020202020204" pitchFamily="34" charset="0"/>
              </a:rPr>
              <a:t> </a:t>
            </a:r>
          </a:p>
          <a:p>
            <a:pPr marL="203200" lvl="0" indent="-203200" algn="just">
              <a:buFont typeface="Arial" panose="020B0604020202020204" pitchFamily="34" charset="0"/>
              <a:buChar char="•"/>
            </a:pPr>
            <a:r>
              <a:rPr kumimoji="1" lang="en-GB" altLang="es-PE" sz="1400" dirty="0" err="1">
                <a:solidFill>
                  <a:schemeClr val="tx1"/>
                </a:solidFill>
                <a:latin typeface="Arial" panose="020B0604020202020204" pitchFamily="34" charset="0"/>
                <a:cs typeface="Arial" panose="020B0604020202020204" pitchFamily="34" charset="0"/>
              </a:rPr>
              <a:t>Esfuerzo</a:t>
            </a:r>
            <a:r>
              <a:rPr kumimoji="1" lang="en-GB" altLang="es-PE" sz="1400" dirty="0">
                <a:solidFill>
                  <a:schemeClr val="tx1"/>
                </a:solidFill>
                <a:latin typeface="Arial" panose="020B0604020202020204" pitchFamily="34" charset="0"/>
                <a:cs typeface="Arial" panose="020B0604020202020204" pitchFamily="34" charset="0"/>
              </a:rPr>
              <a:t>.</a:t>
            </a:r>
          </a:p>
          <a:p>
            <a:pPr marL="177800" lvl="0" indent="-177800" algn="just">
              <a:buFont typeface="Arial" panose="020B0604020202020204" pitchFamily="34" charset="0"/>
              <a:buChar char="•"/>
            </a:pPr>
            <a:r>
              <a:rPr kumimoji="1" lang="en-GB" altLang="es-PE" sz="1400" dirty="0" err="1">
                <a:solidFill>
                  <a:schemeClr val="tx1"/>
                </a:solidFill>
                <a:latin typeface="Arial" panose="020B0604020202020204" pitchFamily="34" charset="0"/>
                <a:cs typeface="Arial" panose="020B0604020202020204" pitchFamily="34" charset="0"/>
              </a:rPr>
              <a:t>Presión</a:t>
            </a:r>
            <a:endParaRPr kumimoji="1" lang="en-GB" altLang="es-PE" sz="1400" dirty="0">
              <a:solidFill>
                <a:schemeClr val="tx1"/>
              </a:solidFill>
              <a:latin typeface="Arial" panose="020B0604020202020204" pitchFamily="34" charset="0"/>
              <a:cs typeface="Arial" panose="020B0604020202020204" pitchFamily="34" charset="0"/>
            </a:endParaRPr>
          </a:p>
          <a:p>
            <a:pPr marL="177800" lvl="0" indent="-177800" algn="just">
              <a:buFont typeface="Arial" panose="020B0604020202020204" pitchFamily="34" charset="0"/>
              <a:buChar char="•"/>
            </a:pPr>
            <a:r>
              <a:rPr kumimoji="1" lang="en-GB" altLang="es-PE" sz="1400" dirty="0" err="1">
                <a:solidFill>
                  <a:schemeClr val="tx1"/>
                </a:solidFill>
                <a:latin typeface="Arial" panose="020B0604020202020204" pitchFamily="34" charset="0"/>
                <a:cs typeface="Arial" panose="020B0604020202020204" pitchFamily="34" charset="0"/>
              </a:rPr>
              <a:t>Fuerza</a:t>
            </a:r>
            <a:r>
              <a:rPr kumimoji="1" lang="en-GB" altLang="es-PE" sz="1400" dirty="0">
                <a:solidFill>
                  <a:schemeClr val="tx1"/>
                </a:solidFill>
                <a:latin typeface="Arial" panose="020B0604020202020204" pitchFamily="34" charset="0"/>
                <a:cs typeface="Arial" panose="020B0604020202020204" pitchFamily="34" charset="0"/>
              </a:rPr>
              <a:t>.</a:t>
            </a:r>
          </a:p>
          <a:p>
            <a:pPr marL="177800" lvl="0" indent="-177800" algn="just">
              <a:buFont typeface="Arial" panose="020B0604020202020204" pitchFamily="34" charset="0"/>
              <a:buChar char="•"/>
            </a:pPr>
            <a:r>
              <a:rPr kumimoji="1" lang="en-GB" altLang="es-PE" sz="1400" dirty="0" err="1">
                <a:solidFill>
                  <a:schemeClr val="tx1"/>
                </a:solidFill>
                <a:latin typeface="Arial" panose="020B0604020202020204" pitchFamily="34" charset="0"/>
                <a:cs typeface="Arial" panose="020B0604020202020204" pitchFamily="34" charset="0"/>
              </a:rPr>
              <a:t>Número</a:t>
            </a:r>
            <a:r>
              <a:rPr kumimoji="1" lang="en-GB" altLang="es-PE" sz="1400" dirty="0">
                <a:solidFill>
                  <a:schemeClr val="tx1"/>
                </a:solidFill>
                <a:latin typeface="Arial" panose="020B0604020202020204" pitchFamily="34" charset="0"/>
                <a:cs typeface="Arial" panose="020B0604020202020204" pitchFamily="34" charset="0"/>
              </a:rPr>
              <a:t> de Reynolds</a:t>
            </a:r>
          </a:p>
          <a:p>
            <a:pPr lvl="0" algn="just"/>
            <a:endParaRPr lang="es-PE" sz="1400" dirty="0">
              <a:solidFill>
                <a:schemeClr val="tx1"/>
              </a:solidFill>
              <a:latin typeface="Arial" panose="020B0604020202020204" pitchFamily="34" charset="0"/>
              <a:cs typeface="Arial" panose="020B0604020202020204" pitchFamily="34" charset="0"/>
            </a:endParaRPr>
          </a:p>
        </p:txBody>
      </p:sp>
      <p:sp>
        <p:nvSpPr>
          <p:cNvPr id="20" name="Rectángulo 19">
            <a:extLst>
              <a:ext uri="{FF2B5EF4-FFF2-40B4-BE49-F238E27FC236}">
                <a16:creationId xmlns:a16="http://schemas.microsoft.com/office/drawing/2014/main" id="{B377CFE4-F974-430F-8D3E-31A44641DDDD}"/>
              </a:ext>
            </a:extLst>
          </p:cNvPr>
          <p:cNvSpPr/>
          <p:nvPr/>
        </p:nvSpPr>
        <p:spPr>
          <a:xfrm>
            <a:off x="200472" y="3036423"/>
            <a:ext cx="1853559" cy="71616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solidFill>
                  <a:schemeClr val="tx1"/>
                </a:solidFill>
              </a:rPr>
              <a:t>FLUIDO VISCOSO</a:t>
            </a:r>
          </a:p>
        </p:txBody>
      </p:sp>
      <p:sp>
        <p:nvSpPr>
          <p:cNvPr id="21" name="Rectángulo 20">
            <a:extLst>
              <a:ext uri="{FF2B5EF4-FFF2-40B4-BE49-F238E27FC236}">
                <a16:creationId xmlns:a16="http://schemas.microsoft.com/office/drawing/2014/main" id="{6B0406B6-735E-446A-993D-567F64EC9E37}"/>
              </a:ext>
            </a:extLst>
          </p:cNvPr>
          <p:cNvSpPr/>
          <p:nvPr/>
        </p:nvSpPr>
        <p:spPr>
          <a:xfrm>
            <a:off x="3965337" y="3019701"/>
            <a:ext cx="1982738" cy="96419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a:cs typeface="Arial" panose="020B0604020202020204" pitchFamily="34" charset="0"/>
              </a:rPr>
              <a:t>ECUACIÓN DE NEWTON DE LA VISCOSIDAD</a:t>
            </a:r>
          </a:p>
        </p:txBody>
      </p:sp>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id="{491CDA35-9E9C-46DA-B439-A69909018FD2}"/>
                  </a:ext>
                </a:extLst>
              </p:cNvPr>
              <p:cNvSpPr/>
              <p:nvPr/>
            </p:nvSpPr>
            <p:spPr>
              <a:xfrm>
                <a:off x="7834034" y="4391151"/>
                <a:ext cx="1865527" cy="633481"/>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endParaRPr lang="es-MX" sz="1600" b="0" i="1" dirty="0">
                  <a:latin typeface="Cambria Math" panose="02040503050406030204" pitchFamily="18" charset="0"/>
                  <a:ea typeface="Cambria Math" panose="02040503050406030204" pitchFamily="18" charset="0"/>
                </a:endParaRPr>
              </a:p>
              <a:p>
                <a:endParaRPr lang="es-MX" sz="16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𝐹</m:t>
                      </m:r>
                      <m:r>
                        <a:rPr lang="es-PE" sz="1600" i="1">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6</m:t>
                      </m:r>
                      <m:r>
                        <a:rPr lang="es-MX" sz="1600" b="0" i="1" smtClean="0">
                          <a:latin typeface="Cambria Math" panose="02040503050406030204" pitchFamily="18" charset="0"/>
                          <a:ea typeface="Cambria Math" panose="02040503050406030204" pitchFamily="18" charset="0"/>
                        </a:rPr>
                        <m:t>𝜋𝜇</m:t>
                      </m:r>
                      <m:r>
                        <a:rPr lang="es-MX" sz="1600" b="0" i="1" smtClean="0">
                          <a:latin typeface="Cambria Math" panose="02040503050406030204" pitchFamily="18" charset="0"/>
                          <a:ea typeface="Cambria Math" panose="02040503050406030204" pitchFamily="18" charset="0"/>
                        </a:rPr>
                        <m:t>𝑅𝑣</m:t>
                      </m:r>
                    </m:oMath>
                  </m:oMathPara>
                </a14:m>
                <a:endParaRPr lang="es-PE" sz="1600" dirty="0"/>
              </a:p>
              <a:p>
                <a:endParaRPr lang="es-PE" sz="1600" dirty="0"/>
              </a:p>
              <a:p>
                <a:endParaRPr lang="es-PE" sz="1600" dirty="0"/>
              </a:p>
            </p:txBody>
          </p:sp>
        </mc:Choice>
        <mc:Fallback xmlns="">
          <p:sp>
            <p:nvSpPr>
              <p:cNvPr id="22" name="Rectángulo 21">
                <a:extLst>
                  <a:ext uri="{FF2B5EF4-FFF2-40B4-BE49-F238E27FC236}">
                    <a16:creationId xmlns:a16="http://schemas.microsoft.com/office/drawing/2014/main" id="{491CDA35-9E9C-46DA-B439-A69909018FD2}"/>
                  </a:ext>
                </a:extLst>
              </p:cNvPr>
              <p:cNvSpPr>
                <a:spLocks noRot="1" noChangeAspect="1" noMove="1" noResize="1" noEditPoints="1" noAdjustHandles="1" noChangeArrowheads="1" noChangeShapeType="1" noTextEdit="1"/>
              </p:cNvSpPr>
              <p:nvPr/>
            </p:nvSpPr>
            <p:spPr>
              <a:xfrm>
                <a:off x="7834034" y="4391151"/>
                <a:ext cx="1865527" cy="633481"/>
              </a:xfrm>
              <a:prstGeom prst="rect">
                <a:avLst/>
              </a:prstGeom>
              <a:blipFill>
                <a:blip r:embed="rId2"/>
                <a:stretch>
                  <a:fillRect/>
                </a:stretch>
              </a:blipFill>
              <a:ln>
                <a:solidFill>
                  <a:schemeClr val="tx1"/>
                </a:solidFill>
              </a:ln>
            </p:spPr>
            <p:txBody>
              <a:bodyPr/>
              <a:lstStyle/>
              <a:p>
                <a:r>
                  <a:rPr lang="es-PE">
                    <a:noFill/>
                  </a:rPr>
                  <a:t> </a:t>
                </a:r>
              </a:p>
            </p:txBody>
          </p:sp>
        </mc:Fallback>
      </mc:AlternateContent>
      <p:cxnSp>
        <p:nvCxnSpPr>
          <p:cNvPr id="23" name="Conector recto 22">
            <a:extLst>
              <a:ext uri="{FF2B5EF4-FFF2-40B4-BE49-F238E27FC236}">
                <a16:creationId xmlns:a16="http://schemas.microsoft.com/office/drawing/2014/main" id="{C2DA4E98-4D40-4E2B-AC84-9B82C98610BC}"/>
              </a:ext>
            </a:extLst>
          </p:cNvPr>
          <p:cNvCxnSpPr>
            <a:cxnSpLocks/>
          </p:cNvCxnSpPr>
          <p:nvPr/>
        </p:nvCxnSpPr>
        <p:spPr>
          <a:xfrm>
            <a:off x="1127251" y="3767360"/>
            <a:ext cx="0" cy="288032"/>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24" name="Rectángulo 23">
            <a:extLst>
              <a:ext uri="{FF2B5EF4-FFF2-40B4-BE49-F238E27FC236}">
                <a16:creationId xmlns:a16="http://schemas.microsoft.com/office/drawing/2014/main" id="{6B0406B6-735E-446A-993D-567F64EC9E37}"/>
              </a:ext>
            </a:extLst>
          </p:cNvPr>
          <p:cNvSpPr/>
          <p:nvPr/>
        </p:nvSpPr>
        <p:spPr>
          <a:xfrm>
            <a:off x="6084836" y="3044331"/>
            <a:ext cx="1522476" cy="986432"/>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a:cs typeface="Arial" panose="020B0604020202020204" pitchFamily="34" charset="0"/>
              </a:rPr>
              <a:t>ECUACIÓN DE POISEVILLE</a:t>
            </a:r>
          </a:p>
        </p:txBody>
      </p:sp>
      <p:cxnSp>
        <p:nvCxnSpPr>
          <p:cNvPr id="26" name="Conector recto 25"/>
          <p:cNvCxnSpPr/>
          <p:nvPr/>
        </p:nvCxnSpPr>
        <p:spPr>
          <a:xfrm>
            <a:off x="1201213" y="2800075"/>
            <a:ext cx="0" cy="23634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p:cNvCxnSpPr/>
          <p:nvPr/>
        </p:nvCxnSpPr>
        <p:spPr>
          <a:xfrm>
            <a:off x="6846074" y="2811092"/>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p:cNvCxnSpPr/>
          <p:nvPr/>
        </p:nvCxnSpPr>
        <p:spPr>
          <a:xfrm>
            <a:off x="3014684" y="2793078"/>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ángulo 32">
                <a:extLst>
                  <a:ext uri="{FF2B5EF4-FFF2-40B4-BE49-F238E27FC236}">
                    <a16:creationId xmlns:a16="http://schemas.microsoft.com/office/drawing/2014/main" id="{491CDA35-9E9C-46DA-B439-A69909018FD2}"/>
                  </a:ext>
                </a:extLst>
              </p:cNvPr>
              <p:cNvSpPr/>
              <p:nvPr/>
            </p:nvSpPr>
            <p:spPr>
              <a:xfrm>
                <a:off x="4529964" y="4227692"/>
                <a:ext cx="1069911" cy="1671473"/>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endParaRPr lang="es-PE" sz="1600" b="0" i="1" dirty="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lvl="0" algn="just"/>
                <a14:m>
                  <m:oMathPara xmlns:m="http://schemas.openxmlformats.org/officeDocument/2006/math">
                    <m:oMathParaPr>
                      <m:jc m:val="centerGroup"/>
                    </m:oMathParaPr>
                    <m:oMath xmlns:m="http://schemas.openxmlformats.org/officeDocument/2006/math">
                      <m:sSub>
                        <m:sSubPr>
                          <m:ctrlPr>
                            <a:rPr lang="es-PE"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s-PE"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𝜎</m:t>
                          </m:r>
                        </m:e>
                        <m:sub>
                          <m:r>
                            <a:rPr lang="es-MX"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𝑡</m:t>
                          </m:r>
                        </m:sub>
                      </m:sSub>
                      <m:r>
                        <a:rPr lang="es-PE" sz="1600" b="0" i="1" smtClean="0">
                          <a:solidFill>
                            <a:schemeClr val="tx1"/>
                          </a:solidFill>
                          <a:latin typeface="Cambria Math" panose="02040503050406030204" pitchFamily="18" charset="0"/>
                          <a:cs typeface="Arial" panose="020B0604020202020204" pitchFamily="34" charset="0"/>
                        </a:rPr>
                        <m:t>=</m:t>
                      </m:r>
                      <m:r>
                        <a:rPr lang="es-PE"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𝜇</m:t>
                      </m:r>
                      <m:f>
                        <m:fPr>
                          <m:ctrlPr>
                            <a:rPr lang="es-PE" sz="1600" b="0" i="1" smtClean="0">
                              <a:solidFill>
                                <a:schemeClr val="tx1"/>
                              </a:solidFill>
                              <a:latin typeface="Cambria Math" panose="02040503050406030204" pitchFamily="18" charset="0"/>
                              <a:cs typeface="Arial" panose="020B0604020202020204" pitchFamily="34" charset="0"/>
                            </a:rPr>
                          </m:ctrlPr>
                        </m:fPr>
                        <m:num>
                          <m:r>
                            <a:rPr lang="es-PE" sz="1600" b="0" i="1" smtClean="0">
                              <a:solidFill>
                                <a:schemeClr val="tx1"/>
                              </a:solidFill>
                              <a:latin typeface="Cambria Math" panose="02040503050406030204" pitchFamily="18" charset="0"/>
                              <a:cs typeface="Arial" panose="020B0604020202020204" pitchFamily="34" charset="0"/>
                            </a:rPr>
                            <m:t>𝑑</m:t>
                          </m:r>
                          <m:r>
                            <a:rPr lang="es-MX" sz="1600" b="0" i="1" smtClean="0">
                              <a:solidFill>
                                <a:schemeClr val="tx1"/>
                              </a:solidFill>
                              <a:latin typeface="Cambria Math" panose="02040503050406030204" pitchFamily="18" charset="0"/>
                              <a:cs typeface="Arial" panose="020B0604020202020204" pitchFamily="34" charset="0"/>
                            </a:rPr>
                            <m:t>𝑣</m:t>
                          </m:r>
                        </m:num>
                        <m:den>
                          <m:r>
                            <a:rPr lang="es-PE" sz="1600" b="0" i="1" smtClean="0">
                              <a:solidFill>
                                <a:schemeClr val="tx1"/>
                              </a:solidFill>
                              <a:latin typeface="Cambria Math" panose="02040503050406030204" pitchFamily="18" charset="0"/>
                              <a:cs typeface="Arial" panose="020B0604020202020204" pitchFamily="34" charset="0"/>
                            </a:rPr>
                            <m:t>𝑑</m:t>
                          </m:r>
                          <m:r>
                            <a:rPr lang="es-MX" sz="1600" b="0" i="1" smtClean="0">
                              <a:solidFill>
                                <a:schemeClr val="tx1"/>
                              </a:solidFill>
                              <a:latin typeface="Cambria Math" panose="02040503050406030204" pitchFamily="18" charset="0"/>
                              <a:cs typeface="Arial" panose="020B0604020202020204" pitchFamily="34" charset="0"/>
                            </a:rPr>
                            <m:t>𝑧</m:t>
                          </m:r>
                        </m:den>
                      </m:f>
                    </m:oMath>
                  </m:oMathPara>
                </a14:m>
                <a:endParaRPr lang="es-PE" sz="1600" b="0" i="1" dirty="0">
                  <a:solidFill>
                    <a:schemeClr val="tx1"/>
                  </a:solidFill>
                  <a:latin typeface="Cambria Math" panose="02040503050406030204" pitchFamily="18" charset="0"/>
                  <a:cs typeface="Arial" panose="020B0604020202020204" pitchFamily="34" charset="0"/>
                </a:endParaRPr>
              </a:p>
              <a:p>
                <a:pPr lvl="0" algn="just"/>
                <a:endParaRPr lang="es-PE" sz="1600" i="1" dirty="0">
                  <a:solidFill>
                    <a:schemeClr val="tx1"/>
                  </a:solidFill>
                  <a:latin typeface="Cambria Math" panose="02040503050406030204" pitchFamily="18" charset="0"/>
                  <a:cs typeface="Arial" panose="020B0604020202020204" pitchFamily="34" charset="0"/>
                </a:endParaRPr>
              </a:p>
              <a:p>
                <a:pPr lvl="0" algn="just"/>
                <a14:m>
                  <m:oMathPara xmlns:m="http://schemas.openxmlformats.org/officeDocument/2006/math">
                    <m:oMathParaPr>
                      <m:jc m:val="centerGroup"/>
                    </m:oMathParaPr>
                    <m:oMath xmlns:m="http://schemas.openxmlformats.org/officeDocument/2006/math">
                      <m:sSub>
                        <m:sSubPr>
                          <m:ctrlPr>
                            <a:rPr lang="es-PE" sz="16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es-PE" sz="1600" i="1">
                              <a:solidFill>
                                <a:schemeClr val="tx1"/>
                              </a:solidFill>
                              <a:latin typeface="Cambria Math" panose="02040503050406030204" pitchFamily="18" charset="0"/>
                              <a:ea typeface="Cambria Math" panose="02040503050406030204" pitchFamily="18" charset="0"/>
                              <a:cs typeface="Arial" panose="020B0604020202020204" pitchFamily="34" charset="0"/>
                            </a:rPr>
                            <m:t>𝜎</m:t>
                          </m:r>
                        </m:e>
                        <m:sub>
                          <m:r>
                            <a:rPr lang="es-MX" sz="1600" i="1">
                              <a:solidFill>
                                <a:schemeClr val="tx1"/>
                              </a:solidFill>
                              <a:latin typeface="Cambria Math" panose="02040503050406030204" pitchFamily="18" charset="0"/>
                              <a:ea typeface="Cambria Math" panose="02040503050406030204" pitchFamily="18" charset="0"/>
                              <a:cs typeface="Arial" panose="020B0604020202020204" pitchFamily="34" charset="0"/>
                            </a:rPr>
                            <m:t>𝑡</m:t>
                          </m:r>
                        </m:sub>
                      </m:sSub>
                      <m:r>
                        <a:rPr lang="es-PE" sz="1600" i="1" smtClean="0">
                          <a:solidFill>
                            <a:schemeClr val="tx1"/>
                          </a:solidFill>
                          <a:latin typeface="Cambria Math" panose="02040503050406030204" pitchFamily="18" charset="0"/>
                          <a:cs typeface="Arial" panose="020B0604020202020204" pitchFamily="34" charset="0"/>
                        </a:rPr>
                        <m:t>=</m:t>
                      </m:r>
                      <m:f>
                        <m:fPr>
                          <m:ctrlPr>
                            <a:rPr lang="es-PE" sz="1600" i="1" smtClean="0">
                              <a:solidFill>
                                <a:schemeClr val="tx1"/>
                              </a:solidFill>
                              <a:latin typeface="Cambria Math" panose="02040503050406030204" pitchFamily="18" charset="0"/>
                              <a:cs typeface="Arial" panose="020B0604020202020204" pitchFamily="34" charset="0"/>
                            </a:rPr>
                          </m:ctrlPr>
                        </m:fPr>
                        <m:num>
                          <m:sSub>
                            <m:sSubPr>
                              <m:ctrlPr>
                                <a:rPr lang="es-PE" sz="1600" i="1" smtClean="0">
                                  <a:solidFill>
                                    <a:schemeClr val="tx1"/>
                                  </a:solidFill>
                                  <a:latin typeface="Cambria Math" panose="02040503050406030204" pitchFamily="18" charset="0"/>
                                  <a:cs typeface="Arial" panose="020B0604020202020204" pitchFamily="34" charset="0"/>
                                </a:rPr>
                              </m:ctrlPr>
                            </m:sSubPr>
                            <m:e>
                              <m:r>
                                <a:rPr lang="es-MX" sz="1600" b="0" i="1" smtClean="0">
                                  <a:solidFill>
                                    <a:schemeClr val="tx1"/>
                                  </a:solidFill>
                                  <a:latin typeface="Cambria Math" panose="02040503050406030204" pitchFamily="18" charset="0"/>
                                  <a:cs typeface="Arial" panose="020B0604020202020204" pitchFamily="34" charset="0"/>
                                </a:rPr>
                                <m:t>𝐹</m:t>
                              </m:r>
                            </m:e>
                            <m:sub>
                              <m:r>
                                <a:rPr lang="es-MX" sz="1600" b="0" i="1" smtClean="0">
                                  <a:solidFill>
                                    <a:schemeClr val="tx1"/>
                                  </a:solidFill>
                                  <a:latin typeface="Cambria Math" panose="02040503050406030204" pitchFamily="18" charset="0"/>
                                  <a:cs typeface="Arial" panose="020B0604020202020204" pitchFamily="34" charset="0"/>
                                </a:rPr>
                                <m:t>𝑡</m:t>
                              </m:r>
                            </m:sub>
                          </m:sSub>
                        </m:num>
                        <m:den>
                          <m:r>
                            <a:rPr lang="es-MX"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𝐴</m:t>
                          </m:r>
                        </m:den>
                      </m:f>
                    </m:oMath>
                  </m:oMathPara>
                </a14:m>
                <a:endParaRPr lang="es-PE" sz="1600" dirty="0">
                  <a:solidFill>
                    <a:schemeClr val="tx1"/>
                  </a:solidFill>
                  <a:latin typeface="Arial" panose="020B0604020202020204" pitchFamily="34" charset="0"/>
                  <a:cs typeface="Arial" panose="020B0604020202020204" pitchFamily="34" charset="0"/>
                </a:endParaRPr>
              </a:p>
              <a:p>
                <a:pPr lvl="0" algn="just"/>
                <a:endParaRPr lang="es-PE" sz="1600" dirty="0">
                  <a:solidFill>
                    <a:schemeClr val="tx1"/>
                  </a:solidFill>
                  <a:latin typeface="Arial" panose="020B0604020202020204" pitchFamily="34" charset="0"/>
                  <a:cs typeface="Arial" panose="020B0604020202020204" pitchFamily="34" charset="0"/>
                </a:endParaRPr>
              </a:p>
              <a:p>
                <a:pPr lvl="0" algn="just"/>
                <a:endParaRPr lang="es-PE" sz="1600" dirty="0">
                  <a:solidFill>
                    <a:schemeClr val="tx1"/>
                  </a:solidFill>
                  <a:latin typeface="Arial" panose="020B0604020202020204" pitchFamily="34" charset="0"/>
                  <a:cs typeface="Arial" panose="020B0604020202020204" pitchFamily="34" charset="0"/>
                </a:endParaRPr>
              </a:p>
            </p:txBody>
          </p:sp>
        </mc:Choice>
        <mc:Fallback xmlns="">
          <p:sp>
            <p:nvSpPr>
              <p:cNvPr id="33" name="Rectángulo 32">
                <a:extLst>
                  <a:ext uri="{FF2B5EF4-FFF2-40B4-BE49-F238E27FC236}">
                    <a16:creationId xmlns:a16="http://schemas.microsoft.com/office/drawing/2014/main" id="{491CDA35-9E9C-46DA-B439-A69909018FD2}"/>
                  </a:ext>
                </a:extLst>
              </p:cNvPr>
              <p:cNvSpPr>
                <a:spLocks noRot="1" noChangeAspect="1" noMove="1" noResize="1" noEditPoints="1" noAdjustHandles="1" noChangeArrowheads="1" noChangeShapeType="1" noTextEdit="1"/>
              </p:cNvSpPr>
              <p:nvPr/>
            </p:nvSpPr>
            <p:spPr>
              <a:xfrm>
                <a:off x="4529964" y="4227692"/>
                <a:ext cx="1069911" cy="1671473"/>
              </a:xfrm>
              <a:prstGeom prst="rect">
                <a:avLst/>
              </a:prstGeom>
              <a:blipFill>
                <a:blip r:embed="rId3"/>
                <a:stretch>
                  <a:fillRect/>
                </a:stretch>
              </a:blipFill>
              <a:ln>
                <a:solidFill>
                  <a:schemeClr val="tx1"/>
                </a:solidFill>
              </a:ln>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Rectángulo 18">
                <a:extLst>
                  <a:ext uri="{FF2B5EF4-FFF2-40B4-BE49-F238E27FC236}">
                    <a16:creationId xmlns:a16="http://schemas.microsoft.com/office/drawing/2014/main" id="{44822C0F-02DC-406F-8E12-F1FFDD5CFB2F}"/>
                  </a:ext>
                </a:extLst>
              </p:cNvPr>
              <p:cNvSpPr/>
              <p:nvPr/>
            </p:nvSpPr>
            <p:spPr>
              <a:xfrm>
                <a:off x="6124897" y="4264003"/>
                <a:ext cx="1482415" cy="893190"/>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endParaRPr lang="es-MX" sz="1600" b="1" i="1" dirty="0">
                  <a:solidFill>
                    <a:schemeClr val="tx1"/>
                  </a:solidFill>
                  <a:latin typeface="Cambria Math" panose="02040503050406030204" pitchFamily="18" charset="0"/>
                  <a:cs typeface="Arial" panose="020B0604020202020204" pitchFamily="34" charset="0"/>
                </a:endParaRPr>
              </a:p>
              <a:p>
                <a:pPr lvl="0" algn="just"/>
                <a:endParaRPr lang="es-MX" sz="1600" b="1" i="1" dirty="0">
                  <a:solidFill>
                    <a:schemeClr val="tx1"/>
                  </a:solidFill>
                  <a:latin typeface="Cambria Math" panose="02040503050406030204" pitchFamily="18" charset="0"/>
                  <a:cs typeface="Arial" panose="020B0604020202020204" pitchFamily="34" charset="0"/>
                </a:endParaRPr>
              </a:p>
              <a:p>
                <a:pPr lvl="0" algn="just"/>
                <a14:m>
                  <m:oMathPara xmlns:m="http://schemas.openxmlformats.org/officeDocument/2006/math">
                    <m:oMathParaPr>
                      <m:jc m:val="centerGroup"/>
                    </m:oMathParaPr>
                    <m:oMath xmlns:m="http://schemas.openxmlformats.org/officeDocument/2006/math">
                      <m:r>
                        <a:rPr lang="es-MX" sz="1600" b="0" i="1" smtClean="0">
                          <a:solidFill>
                            <a:schemeClr val="tx1"/>
                          </a:solidFill>
                          <a:latin typeface="Cambria Math" panose="02040503050406030204" pitchFamily="18" charset="0"/>
                          <a:cs typeface="Arial" panose="020B0604020202020204" pitchFamily="34" charset="0"/>
                        </a:rPr>
                        <m:t>𝑄</m:t>
                      </m:r>
                      <m:r>
                        <a:rPr lang="es-PE" sz="1600" b="0" i="1">
                          <a:solidFill>
                            <a:schemeClr val="tx1"/>
                          </a:solidFill>
                          <a:latin typeface="Cambria Math" panose="02040503050406030204" pitchFamily="18" charset="0"/>
                          <a:cs typeface="Arial" panose="020B0604020202020204" pitchFamily="34" charset="0"/>
                        </a:rPr>
                        <m:t>=</m:t>
                      </m:r>
                      <m:f>
                        <m:fPr>
                          <m:ctrlPr>
                            <a:rPr lang="es-PE" sz="1600" i="1">
                              <a:solidFill>
                                <a:schemeClr val="tx1"/>
                              </a:solidFill>
                              <a:latin typeface="Cambria Math" panose="02040503050406030204" pitchFamily="18" charset="0"/>
                              <a:cs typeface="Arial" panose="020B0604020202020204" pitchFamily="34" charset="0"/>
                            </a:rPr>
                          </m:ctrlPr>
                        </m:fPr>
                        <m:num>
                          <m:r>
                            <a:rPr lang="es-PE"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𝜋</m:t>
                          </m:r>
                          <m:sSup>
                            <m:sSupPr>
                              <m:ctrlPr>
                                <a:rPr lang="es-PE"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pPr>
                            <m:e>
                              <m:r>
                                <a:rPr lang="es-MX"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𝑅</m:t>
                              </m:r>
                            </m:e>
                            <m:sup>
                              <m:r>
                                <a:rPr lang="es-MX"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4</m:t>
                              </m:r>
                            </m:sup>
                          </m:sSup>
                        </m:num>
                        <m:den>
                          <m:r>
                            <a:rPr lang="es-MX" sz="1600" b="0" i="1" smtClean="0">
                              <a:solidFill>
                                <a:schemeClr val="tx1"/>
                              </a:solidFill>
                              <a:latin typeface="Cambria Math" panose="02040503050406030204" pitchFamily="18" charset="0"/>
                              <a:cs typeface="Arial" panose="020B0604020202020204" pitchFamily="34" charset="0"/>
                            </a:rPr>
                            <m:t>8</m:t>
                          </m:r>
                          <m:r>
                            <a:rPr lang="es-MX"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𝜇</m:t>
                          </m:r>
                          <m:r>
                            <a:rPr lang="es-MX"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𝐿</m:t>
                          </m:r>
                        </m:den>
                      </m:f>
                      <m:r>
                        <a:rPr lang="es-PE"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𝛥</m:t>
                      </m:r>
                      <m:r>
                        <a:rPr lang="es-MX"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𝑃</m:t>
                      </m:r>
                    </m:oMath>
                  </m:oMathPara>
                </a14:m>
                <a:endParaRPr lang="es-PE" sz="1600" dirty="0">
                  <a:solidFill>
                    <a:schemeClr val="tx1"/>
                  </a:solidFill>
                  <a:latin typeface="Arial" panose="020B0604020202020204" pitchFamily="34" charset="0"/>
                  <a:cs typeface="Arial" panose="020B0604020202020204" pitchFamily="34" charset="0"/>
                </a:endParaRPr>
              </a:p>
              <a:p>
                <a:pPr lvl="0" algn="just"/>
                <a:endParaRPr lang="es-PE" sz="1600" b="1" dirty="0">
                  <a:solidFill>
                    <a:schemeClr val="tx1"/>
                  </a:solidFill>
                  <a:latin typeface="Arial" panose="020B0604020202020204" pitchFamily="34" charset="0"/>
                  <a:cs typeface="Arial" panose="020B0604020202020204" pitchFamily="34" charset="0"/>
                </a:endParaRPr>
              </a:p>
              <a:p>
                <a:pPr lvl="0" algn="just"/>
                <a:endParaRPr lang="es-PE" sz="1600" b="1" dirty="0">
                  <a:solidFill>
                    <a:schemeClr val="tx1"/>
                  </a:solidFill>
                  <a:latin typeface="Arial" panose="020B0604020202020204" pitchFamily="34" charset="0"/>
                  <a:cs typeface="Arial" panose="020B0604020202020204" pitchFamily="34" charset="0"/>
                </a:endParaRPr>
              </a:p>
            </p:txBody>
          </p:sp>
        </mc:Choice>
        <mc:Fallback xmlns="">
          <p:sp>
            <p:nvSpPr>
              <p:cNvPr id="19" name="Rectángulo 18">
                <a:extLst>
                  <a:ext uri="{FF2B5EF4-FFF2-40B4-BE49-F238E27FC236}">
                    <a16:creationId xmlns:a16="http://schemas.microsoft.com/office/drawing/2014/main" id="{44822C0F-02DC-406F-8E12-F1FFDD5CFB2F}"/>
                  </a:ext>
                </a:extLst>
              </p:cNvPr>
              <p:cNvSpPr>
                <a:spLocks noRot="1" noChangeAspect="1" noMove="1" noResize="1" noEditPoints="1" noAdjustHandles="1" noChangeArrowheads="1" noChangeShapeType="1" noTextEdit="1"/>
              </p:cNvSpPr>
              <p:nvPr/>
            </p:nvSpPr>
            <p:spPr>
              <a:xfrm>
                <a:off x="6124897" y="4264003"/>
                <a:ext cx="1482415" cy="893190"/>
              </a:xfrm>
              <a:prstGeom prst="rect">
                <a:avLst/>
              </a:prstGeom>
              <a:blipFill>
                <a:blip r:embed="rId4"/>
                <a:stretch>
                  <a:fillRect/>
                </a:stretch>
              </a:blipFill>
              <a:ln>
                <a:solidFill>
                  <a:schemeClr val="tx1"/>
                </a:solidFill>
              </a:ln>
            </p:spPr>
            <p:txBody>
              <a:bodyPr/>
              <a:lstStyle/>
              <a:p>
                <a:r>
                  <a:rPr lang="es-PE">
                    <a:noFill/>
                  </a:rPr>
                  <a:t> </a:t>
                </a:r>
              </a:p>
            </p:txBody>
          </p:sp>
        </mc:Fallback>
      </mc:AlternateContent>
      <p:sp>
        <p:nvSpPr>
          <p:cNvPr id="17" name="Rectángulo 16">
            <a:extLst>
              <a:ext uri="{FF2B5EF4-FFF2-40B4-BE49-F238E27FC236}">
                <a16:creationId xmlns:a16="http://schemas.microsoft.com/office/drawing/2014/main" id="{8EF499C7-AECE-44DE-89A6-BD7D3BC55E42}"/>
              </a:ext>
            </a:extLst>
          </p:cNvPr>
          <p:cNvSpPr/>
          <p:nvPr/>
        </p:nvSpPr>
        <p:spPr>
          <a:xfrm>
            <a:off x="223006" y="3860053"/>
            <a:ext cx="1741728" cy="2161235"/>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lnSpc>
                <a:spcPct val="150000"/>
              </a:lnSpc>
            </a:pPr>
            <a:r>
              <a:rPr lang="es-PE" sz="1400" dirty="0">
                <a:latin typeface="Arial" panose="020B0604020202020204" pitchFamily="34" charset="0"/>
                <a:cs typeface="Arial" panose="020B0604020202020204" pitchFamily="34" charset="0"/>
              </a:rPr>
              <a:t>Aquel fluido que presenta fricción o rozamiento entre el desplazamiento relativo entre capa y capa de un fluido.</a:t>
            </a:r>
            <a:endParaRPr lang="es-PE"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799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18" grpId="0" animBg="1"/>
      <p:bldP spid="20" grpId="0" animBg="1"/>
      <p:bldP spid="21" grpId="0" animBg="1"/>
      <p:bldP spid="22" grpId="0" animBg="1"/>
      <p:bldP spid="24" grpId="0" animBg="1"/>
      <p:bldP spid="33" grpId="0" animBg="1"/>
      <p:bldP spid="19"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817512"/>
            <a:ext cx="3387202"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FLUJO VISCOSO</a:t>
            </a:r>
            <a:endParaRPr lang="es-PE" sz="2400" dirty="0">
              <a:solidFill>
                <a:schemeClr val="tx1"/>
              </a:solidFill>
            </a:endParaRPr>
          </a:p>
        </p:txBody>
      </p:sp>
      <p:sp>
        <p:nvSpPr>
          <p:cNvPr id="4" name="Rectángulo 3">
            <a:extLst>
              <a:ext uri="{FF2B5EF4-FFF2-40B4-BE49-F238E27FC236}">
                <a16:creationId xmlns:a16="http://schemas.microsoft.com/office/drawing/2014/main" id="{D54C8F07-BC5C-4891-94B3-5508B17CD0C4}"/>
              </a:ext>
            </a:extLst>
          </p:cNvPr>
          <p:cNvSpPr/>
          <p:nvPr/>
        </p:nvSpPr>
        <p:spPr>
          <a:xfrm>
            <a:off x="201645" y="1628128"/>
            <a:ext cx="4953000" cy="2708434"/>
          </a:xfrm>
          <a:prstGeom prst="rect">
            <a:avLst/>
          </a:prstGeom>
        </p:spPr>
        <p:txBody>
          <a:bodyPr>
            <a:spAutoFit/>
          </a:bodyPr>
          <a:lstStyle/>
          <a:p>
            <a:pPr algn="just">
              <a:lnSpc>
                <a:spcPct val="150000"/>
              </a:lnSpc>
              <a:defRPr/>
            </a:pPr>
            <a:r>
              <a:rPr lang="es-ES_tradnl" sz="2000" dirty="0"/>
              <a:t>La viscosidad es el rozamiento interno entre las capas de fluido. </a:t>
            </a:r>
          </a:p>
          <a:p>
            <a:pPr algn="just">
              <a:lnSpc>
                <a:spcPct val="150000"/>
              </a:lnSpc>
              <a:defRPr/>
            </a:pPr>
            <a:r>
              <a:rPr lang="es-ES_tradnl" sz="2000" dirty="0"/>
              <a:t>A causa de la viscosidad, es necesario ejercer una fuerza para obligar a una capa de fluido a deslizar sobre otra.</a:t>
            </a:r>
          </a:p>
          <a:p>
            <a:pPr algn="just">
              <a:defRPr/>
            </a:pPr>
            <a:endParaRPr lang="es-ES_tradnl" sz="2000" dirty="0">
              <a:solidFill>
                <a:schemeClr val="tx2">
                  <a:lumMod val="50000"/>
                </a:schemeClr>
              </a:solidFill>
            </a:endParaRP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EC1950C-937E-4ACA-A923-89B44457321F}"/>
                  </a:ext>
                </a:extLst>
              </p:cNvPr>
              <p:cNvSpPr txBox="1"/>
              <p:nvPr/>
            </p:nvSpPr>
            <p:spPr>
              <a:xfrm>
                <a:off x="5589226" y="3823088"/>
                <a:ext cx="3867790" cy="1995931"/>
              </a:xfrm>
              <a:prstGeom prst="rect">
                <a:avLst/>
              </a:prstGeom>
              <a:noFill/>
            </p:spPr>
            <p:txBody>
              <a:bodyPr wrap="square" rtlCol="0">
                <a:spAutoFit/>
              </a:bodyPr>
              <a:lstStyle/>
              <a:p>
                <a:r>
                  <a:rPr lang="es-MX" dirty="0"/>
                  <a:t>Experimentalmente encontramos que:</a:t>
                </a:r>
              </a:p>
              <a:p>
                <a:endParaRPr lang="es-PE"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sSub>
                            <m:sSubPr>
                              <m:ctrlPr>
                                <a:rPr lang="es-PE" i="1" smtClean="0">
                                  <a:latin typeface="Cambria Math" panose="02040503050406030204" pitchFamily="18" charset="0"/>
                                </a:rPr>
                              </m:ctrlPr>
                            </m:sSubPr>
                            <m:e>
                              <m:r>
                                <a:rPr lang="es-MX" b="0" i="1" smtClean="0">
                                  <a:latin typeface="Cambria Math" panose="02040503050406030204" pitchFamily="18" charset="0"/>
                                </a:rPr>
                                <m:t>𝐹</m:t>
                              </m:r>
                            </m:e>
                            <m:sub>
                              <m:r>
                                <a:rPr lang="es-MX" b="0" i="1" smtClean="0">
                                  <a:latin typeface="Cambria Math" panose="02040503050406030204" pitchFamily="18" charset="0"/>
                                </a:rPr>
                                <m:t>𝑡</m:t>
                              </m:r>
                            </m:sub>
                          </m:sSub>
                        </m:num>
                        <m:den>
                          <m:r>
                            <a:rPr lang="es-MX" b="0" i="1" smtClean="0">
                              <a:latin typeface="Cambria Math" panose="02040503050406030204" pitchFamily="18" charset="0"/>
                            </a:rPr>
                            <m:t>𝐴</m:t>
                          </m:r>
                        </m:den>
                      </m:f>
                      <m:r>
                        <a:rPr lang="es-PE" i="1" smtClean="0">
                          <a:latin typeface="Cambria Math" panose="02040503050406030204" pitchFamily="18" charset="0"/>
                        </a:rPr>
                        <m:t>=</m:t>
                      </m:r>
                      <m:r>
                        <a:rPr lang="es-PE" i="1" smtClean="0">
                          <a:latin typeface="Cambria Math" panose="02040503050406030204" pitchFamily="18" charset="0"/>
                          <a:ea typeface="Cambria Math" panose="02040503050406030204" pitchFamily="18" charset="0"/>
                        </a:rPr>
                        <m:t>𝜇</m:t>
                      </m:r>
                      <m:f>
                        <m:fPr>
                          <m:ctrlPr>
                            <a:rPr lang="es-PE" i="1" smtClean="0">
                              <a:latin typeface="Cambria Math" panose="02040503050406030204" pitchFamily="18" charset="0"/>
                              <a:ea typeface="Cambria Math" panose="02040503050406030204" pitchFamily="18" charset="0"/>
                            </a:rPr>
                          </m:ctrlPr>
                        </m:fPr>
                        <m:num>
                          <m:r>
                            <m:rPr>
                              <m:sty m:val="p"/>
                            </m:rPr>
                            <a:rPr lang="el-GR" i="1" smtClean="0">
                              <a:latin typeface="Cambria Math" panose="02040503050406030204" pitchFamily="18" charset="0"/>
                              <a:ea typeface="Cambria Math" panose="02040503050406030204" pitchFamily="18" charset="0"/>
                            </a:rPr>
                            <m:t>Δ</m:t>
                          </m:r>
                          <m:r>
                            <a:rPr lang="es-MX" b="0" i="1" smtClean="0">
                              <a:latin typeface="Cambria Math" panose="02040503050406030204" pitchFamily="18" charset="0"/>
                              <a:ea typeface="Cambria Math" panose="02040503050406030204" pitchFamily="18" charset="0"/>
                            </a:rPr>
                            <m:t>𝑣</m:t>
                          </m:r>
                        </m:num>
                        <m:den>
                          <m:r>
                            <m:rPr>
                              <m:sty m:val="p"/>
                            </m:rPr>
                            <a:rPr lang="el-GR" i="1" smtClean="0">
                              <a:latin typeface="Cambria Math" panose="02040503050406030204" pitchFamily="18" charset="0"/>
                              <a:ea typeface="Cambria Math" panose="02040503050406030204" pitchFamily="18" charset="0"/>
                            </a:rPr>
                            <m:t>Δ</m:t>
                          </m:r>
                          <m:r>
                            <a:rPr lang="es-MX" b="0" i="1" smtClean="0">
                              <a:latin typeface="Cambria Math" panose="02040503050406030204" pitchFamily="18" charset="0"/>
                              <a:ea typeface="Cambria Math" panose="02040503050406030204" pitchFamily="18" charset="0"/>
                            </a:rPr>
                            <m:t>𝑧</m:t>
                          </m:r>
                        </m:den>
                      </m:f>
                      <m:r>
                        <a:rPr lang="es-MX" b="0" i="1" smtClean="0">
                          <a:latin typeface="Cambria Math" panose="02040503050406030204" pitchFamily="18" charset="0"/>
                          <a:ea typeface="Cambria Math" panose="02040503050406030204" pitchFamily="18" charset="0"/>
                        </a:rPr>
                        <m:t>   ó         </m:t>
                      </m:r>
                      <m:f>
                        <m:fPr>
                          <m:ctrlPr>
                            <a:rPr lang="es-PE" i="1">
                              <a:latin typeface="Cambria Math" panose="02040503050406030204" pitchFamily="18" charset="0"/>
                            </a:rPr>
                          </m:ctrlPr>
                        </m:fPr>
                        <m:num>
                          <m:sSub>
                            <m:sSubPr>
                              <m:ctrlPr>
                                <a:rPr lang="es-PE" i="1">
                                  <a:latin typeface="Cambria Math" panose="02040503050406030204" pitchFamily="18" charset="0"/>
                                </a:rPr>
                              </m:ctrlPr>
                            </m:sSubPr>
                            <m:e>
                              <m:r>
                                <a:rPr lang="es-MX" i="1">
                                  <a:latin typeface="Cambria Math" panose="02040503050406030204" pitchFamily="18" charset="0"/>
                                </a:rPr>
                                <m:t>𝐹</m:t>
                              </m:r>
                            </m:e>
                            <m:sub>
                              <m:r>
                                <a:rPr lang="es-MX" i="1">
                                  <a:latin typeface="Cambria Math" panose="02040503050406030204" pitchFamily="18" charset="0"/>
                                </a:rPr>
                                <m:t>𝑡</m:t>
                              </m:r>
                            </m:sub>
                          </m:sSub>
                        </m:num>
                        <m:den>
                          <m:r>
                            <a:rPr lang="es-MX" i="1">
                              <a:latin typeface="Cambria Math" panose="02040503050406030204" pitchFamily="18" charset="0"/>
                            </a:rPr>
                            <m:t>𝐴</m:t>
                          </m:r>
                        </m:den>
                      </m:f>
                      <m:r>
                        <a:rPr lang="es-PE" i="1">
                          <a:latin typeface="Cambria Math" panose="02040503050406030204" pitchFamily="18" charset="0"/>
                        </a:rPr>
                        <m:t>=</m:t>
                      </m:r>
                      <m:r>
                        <a:rPr lang="es-PE" i="1">
                          <a:latin typeface="Cambria Math" panose="02040503050406030204" pitchFamily="18" charset="0"/>
                          <a:ea typeface="Cambria Math" panose="02040503050406030204" pitchFamily="18" charset="0"/>
                        </a:rPr>
                        <m:t>𝜇</m:t>
                      </m:r>
                      <m:r>
                        <a:rPr lang="es-PE" i="1" smtClean="0">
                          <a:latin typeface="Cambria Math" panose="02040503050406030204" pitchFamily="18" charset="0"/>
                          <a:ea typeface="Cambria Math" panose="02040503050406030204" pitchFamily="18" charset="0"/>
                        </a:rPr>
                        <m:t>𝜔</m:t>
                      </m:r>
                    </m:oMath>
                  </m:oMathPara>
                </a14:m>
                <a:endParaRPr lang="es-PE" dirty="0"/>
              </a:p>
              <a:p>
                <a:endParaRPr lang="es-PE" dirty="0"/>
              </a:p>
              <a:p>
                <a:r>
                  <a:rPr lang="es-PE" dirty="0"/>
                  <a:t>Donde </a:t>
                </a:r>
                <a14:m>
                  <m:oMath xmlns:m="http://schemas.openxmlformats.org/officeDocument/2006/math">
                    <m:r>
                      <a:rPr lang="es-PE" i="1">
                        <a:latin typeface="Cambria Math" panose="02040503050406030204" pitchFamily="18" charset="0"/>
                        <a:ea typeface="Cambria Math" panose="02040503050406030204" pitchFamily="18" charset="0"/>
                      </a:rPr>
                      <m:t>𝜇</m:t>
                    </m:r>
                  </m:oMath>
                </a14:m>
                <a:r>
                  <a:rPr lang="es-PE" dirty="0"/>
                  <a:t> se denomina coeficiente de viscosidad.</a:t>
                </a:r>
              </a:p>
            </p:txBody>
          </p:sp>
        </mc:Choice>
        <mc:Fallback xmlns="">
          <p:sp>
            <p:nvSpPr>
              <p:cNvPr id="7" name="CuadroTexto 6">
                <a:extLst>
                  <a:ext uri="{FF2B5EF4-FFF2-40B4-BE49-F238E27FC236}">
                    <a16:creationId xmlns:a16="http://schemas.microsoft.com/office/drawing/2014/main" id="{6EC1950C-937E-4ACA-A923-89B44457321F}"/>
                  </a:ext>
                </a:extLst>
              </p:cNvPr>
              <p:cNvSpPr txBox="1">
                <a:spLocks noRot="1" noChangeAspect="1" noMove="1" noResize="1" noEditPoints="1" noAdjustHandles="1" noChangeArrowheads="1" noChangeShapeType="1" noTextEdit="1"/>
              </p:cNvSpPr>
              <p:nvPr/>
            </p:nvSpPr>
            <p:spPr>
              <a:xfrm>
                <a:off x="5589226" y="3823088"/>
                <a:ext cx="3867790" cy="1995931"/>
              </a:xfrm>
              <a:prstGeom prst="rect">
                <a:avLst/>
              </a:prstGeom>
              <a:blipFill>
                <a:blip r:embed="rId2"/>
                <a:stretch>
                  <a:fillRect l="-1420" t="-1524" b="-3659"/>
                </a:stretch>
              </a:blipFill>
            </p:spPr>
            <p:txBody>
              <a:bodyPr/>
              <a:lstStyle/>
              <a:p>
                <a:r>
                  <a:rPr lang="es-PE">
                    <a:noFill/>
                  </a:rPr>
                  <a:t> </a:t>
                </a:r>
              </a:p>
            </p:txBody>
          </p:sp>
        </mc:Fallback>
      </mc:AlternateContent>
      <p:pic>
        <p:nvPicPr>
          <p:cNvPr id="11" name="Imagen 10">
            <a:extLst>
              <a:ext uri="{FF2B5EF4-FFF2-40B4-BE49-F238E27FC236}">
                <a16:creationId xmlns:a16="http://schemas.microsoft.com/office/drawing/2014/main" id="{0A066B92-B254-4AB9-97BA-91E0EB6D2A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984" y="4015265"/>
            <a:ext cx="4458322" cy="2429214"/>
          </a:xfrm>
          <a:prstGeom prst="rect">
            <a:avLst/>
          </a:prstGeom>
        </p:spPr>
      </p:pic>
      <p:pic>
        <p:nvPicPr>
          <p:cNvPr id="16" name="Imagen 15">
            <a:extLst>
              <a:ext uri="{FF2B5EF4-FFF2-40B4-BE49-F238E27FC236}">
                <a16:creationId xmlns:a16="http://schemas.microsoft.com/office/drawing/2014/main" id="{625AA5A3-68AB-4849-9F4A-1A7B508FEC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6427" y="1628128"/>
            <a:ext cx="3821069" cy="2143992"/>
          </a:xfrm>
          <a:prstGeom prst="rect">
            <a:avLst/>
          </a:prstGeom>
        </p:spPr>
      </p:pic>
    </p:spTree>
    <p:extLst>
      <p:ext uri="{BB962C8B-B14F-4D97-AF65-F5344CB8AC3E}">
        <p14:creationId xmlns:p14="http://schemas.microsoft.com/office/powerpoint/2010/main" val="3133645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712640" y="764704"/>
            <a:ext cx="4949838" cy="4616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dirty="0">
                <a:solidFill>
                  <a:schemeClr val="tx1"/>
                </a:solidFill>
              </a:rPr>
              <a:t>VISCOSIDAD DE ALGUNOS FLUIDOS</a:t>
            </a:r>
            <a:endParaRPr lang="es-PE" sz="2800" dirty="0">
              <a:solidFill>
                <a:schemeClr val="tx1"/>
              </a:solidFill>
            </a:endParaRPr>
          </a:p>
        </p:txBody>
      </p:sp>
      <p:graphicFrame>
        <p:nvGraphicFramePr>
          <p:cNvPr id="20" name="Group 147">
            <a:extLst>
              <a:ext uri="{FF2B5EF4-FFF2-40B4-BE49-F238E27FC236}">
                <a16:creationId xmlns:a16="http://schemas.microsoft.com/office/drawing/2014/main" id="{451EA372-4221-4430-82C9-47F79E5242FC}"/>
              </a:ext>
            </a:extLst>
          </p:cNvPr>
          <p:cNvGraphicFramePr>
            <a:graphicFrameLocks/>
          </p:cNvGraphicFramePr>
          <p:nvPr>
            <p:extLst>
              <p:ext uri="{D42A27DB-BD31-4B8C-83A1-F6EECF244321}">
                <p14:modId xmlns:p14="http://schemas.microsoft.com/office/powerpoint/2010/main" val="499833037"/>
              </p:ext>
            </p:extLst>
          </p:nvPr>
        </p:nvGraphicFramePr>
        <p:xfrm>
          <a:off x="2216696" y="1556792"/>
          <a:ext cx="6161088" cy="3441701"/>
        </p:xfrm>
        <a:graphic>
          <a:graphicData uri="http://schemas.openxmlformats.org/drawingml/2006/table">
            <a:tbl>
              <a:tblPr/>
              <a:tblGrid>
                <a:gridCol w="1966913">
                  <a:extLst>
                    <a:ext uri="{9D8B030D-6E8A-4147-A177-3AD203B41FA5}">
                      <a16:colId xmlns:a16="http://schemas.microsoft.com/office/drawing/2014/main" val="20000"/>
                    </a:ext>
                  </a:extLst>
                </a:gridCol>
                <a:gridCol w="1835150">
                  <a:extLst>
                    <a:ext uri="{9D8B030D-6E8A-4147-A177-3AD203B41FA5}">
                      <a16:colId xmlns:a16="http://schemas.microsoft.com/office/drawing/2014/main" val="20001"/>
                    </a:ext>
                  </a:extLst>
                </a:gridCol>
                <a:gridCol w="2359025">
                  <a:extLst>
                    <a:ext uri="{9D8B030D-6E8A-4147-A177-3AD203B41FA5}">
                      <a16:colId xmlns:a16="http://schemas.microsoft.com/office/drawing/2014/main" val="20002"/>
                    </a:ext>
                  </a:extLst>
                </a:gridCol>
              </a:tblGrid>
              <a:tr h="731587">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1" u="none" strike="noStrike" cap="none" normalizeH="0" baseline="0" dirty="0">
                          <a:ln>
                            <a:noFill/>
                          </a:ln>
                          <a:solidFill>
                            <a:schemeClr val="bg1"/>
                          </a:solidFill>
                          <a:effectLst/>
                          <a:latin typeface="Calibri" pitchFamily="34" charset="0"/>
                        </a:rPr>
                        <a:t>Fluido</a:t>
                      </a:r>
                      <a:endParaRPr kumimoji="1" lang="es-ES" sz="2100" b="0" i="1" u="none" strike="noStrike" cap="none" normalizeH="0" baseline="0" dirty="0">
                        <a:ln>
                          <a:noFill/>
                        </a:ln>
                        <a:solidFill>
                          <a:schemeClr val="bg1"/>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1" u="none" strike="noStrike" cap="none" normalizeH="0" baseline="0" dirty="0">
                          <a:ln>
                            <a:noFill/>
                          </a:ln>
                          <a:solidFill>
                            <a:schemeClr val="bg1"/>
                          </a:solidFill>
                          <a:effectLst/>
                          <a:latin typeface="Calibri" pitchFamily="34" charset="0"/>
                        </a:rPr>
                        <a:t>Temperatura °C</a:t>
                      </a:r>
                      <a:endParaRPr kumimoji="1" lang="es-ES" sz="2100" b="0" i="1" u="none" strike="noStrike" cap="none" normalizeH="0" baseline="0" dirty="0">
                        <a:ln>
                          <a:noFill/>
                        </a:ln>
                        <a:solidFill>
                          <a:schemeClr val="bg1"/>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1" u="none" strike="noStrike" cap="none" normalizeH="0" baseline="0">
                          <a:ln>
                            <a:noFill/>
                          </a:ln>
                          <a:solidFill>
                            <a:schemeClr val="bg1"/>
                          </a:solidFill>
                          <a:effectLst/>
                          <a:latin typeface="Symbol" pitchFamily="18" charset="2"/>
                        </a:rPr>
                        <a:t>m</a:t>
                      </a:r>
                      <a:r>
                        <a:rPr kumimoji="1" lang="es-PE" sz="2100" b="0" i="1" u="none" strike="noStrike" cap="none" normalizeH="0" baseline="0">
                          <a:ln>
                            <a:noFill/>
                          </a:ln>
                          <a:solidFill>
                            <a:schemeClr val="bg1"/>
                          </a:solidFill>
                          <a:effectLst/>
                          <a:latin typeface="Calibri" pitchFamily="34" charset="0"/>
                        </a:rPr>
                        <a:t> (Pa.s)</a:t>
                      </a:r>
                      <a:endParaRPr kumimoji="1" lang="el-GR" sz="2100" b="0" i="1" u="none" strike="noStrike" cap="none" normalizeH="0" baseline="0">
                        <a:ln>
                          <a:noFill/>
                        </a:ln>
                        <a:solidFill>
                          <a:schemeClr val="bg1"/>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455655">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dirty="0">
                          <a:ln>
                            <a:noFill/>
                          </a:ln>
                          <a:solidFill>
                            <a:srgbClr val="0000CC"/>
                          </a:solidFill>
                          <a:effectLst/>
                          <a:latin typeface="Calibri" pitchFamily="34" charset="0"/>
                        </a:rPr>
                        <a:t>Agua</a:t>
                      </a:r>
                      <a:endParaRPr kumimoji="1" lang="es-ES" sz="2100" b="0" i="0" u="none" strike="noStrike" cap="none" normalizeH="0" baseline="0" dirty="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20</a:t>
                      </a:r>
                      <a:endParaRPr kumimoji="1" lang="es-ES" sz="2100" b="0" i="0" u="none" strike="noStrike" cap="none" normalizeH="0" baseline="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dirty="0">
                          <a:ln>
                            <a:noFill/>
                          </a:ln>
                          <a:solidFill>
                            <a:srgbClr val="0000CC"/>
                          </a:solidFill>
                          <a:effectLst/>
                          <a:latin typeface="Calibri" pitchFamily="34" charset="0"/>
                        </a:rPr>
                        <a:t>1,0 x10</a:t>
                      </a:r>
                      <a:r>
                        <a:rPr kumimoji="1" lang="es-PE" sz="2100" b="0" i="0" u="none" strike="noStrike" cap="none" normalizeH="0" baseline="30000" dirty="0">
                          <a:ln>
                            <a:noFill/>
                          </a:ln>
                          <a:solidFill>
                            <a:srgbClr val="0000CC"/>
                          </a:solidFill>
                          <a:effectLst/>
                          <a:latin typeface="Calibri" pitchFamily="34" charset="0"/>
                        </a:rPr>
                        <a:t>-3</a:t>
                      </a:r>
                      <a:endParaRPr kumimoji="1" lang="es-ES" sz="2100" b="0" i="0" u="none" strike="noStrike" cap="none" normalizeH="0" baseline="30000" dirty="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extLst>
                  <a:ext uri="{0D108BD9-81ED-4DB2-BD59-A6C34878D82A}">
                    <a16:rowId xmlns:a16="http://schemas.microsoft.com/office/drawing/2014/main" val="10001"/>
                  </a:ext>
                </a:extLst>
              </a:tr>
              <a:tr h="457242">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Aceite de motor</a:t>
                      </a:r>
                      <a:endParaRPr kumimoji="1" lang="es-ES" sz="2100" b="0" i="0" u="none" strike="noStrike" cap="none" normalizeH="0" baseline="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20</a:t>
                      </a:r>
                      <a:endParaRPr kumimoji="1" lang="es-ES" sz="2100" b="0" i="0" u="none" strike="noStrike" cap="none" normalizeH="0" baseline="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0,11</a:t>
                      </a:r>
                      <a:endParaRPr kumimoji="1" lang="es-ES" sz="2100" b="0" i="0" u="none" strike="noStrike" cap="none" normalizeH="0" baseline="3000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extLst>
                  <a:ext uri="{0D108BD9-81ED-4DB2-BD59-A6C34878D82A}">
                    <a16:rowId xmlns:a16="http://schemas.microsoft.com/office/drawing/2014/main" val="10002"/>
                  </a:ext>
                </a:extLst>
              </a:tr>
              <a:tr h="455655">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Sangre </a:t>
                      </a:r>
                      <a:endParaRPr kumimoji="1" lang="es-ES" sz="2100" b="0" i="0" u="none" strike="noStrike" cap="none" normalizeH="0" baseline="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37</a:t>
                      </a:r>
                      <a:endParaRPr kumimoji="1" lang="es-ES" sz="2100" b="0" i="0" u="none" strike="noStrike" cap="none" normalizeH="0" baseline="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4,0 x 10</a:t>
                      </a:r>
                      <a:r>
                        <a:rPr kumimoji="1" lang="es-PE" sz="2100" b="0" i="0" u="none" strike="noStrike" cap="none" normalizeH="0" baseline="30000">
                          <a:ln>
                            <a:noFill/>
                          </a:ln>
                          <a:solidFill>
                            <a:srgbClr val="0000CC"/>
                          </a:solidFill>
                          <a:effectLst/>
                          <a:latin typeface="Calibri" pitchFamily="34" charset="0"/>
                        </a:rPr>
                        <a:t>-3</a:t>
                      </a:r>
                      <a:endParaRPr kumimoji="1" lang="es-ES" sz="2100" b="0" i="0" u="none" strike="noStrike" cap="none" normalizeH="0" baseline="3000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extLst>
                  <a:ext uri="{0D108BD9-81ED-4DB2-BD59-A6C34878D82A}">
                    <a16:rowId xmlns:a16="http://schemas.microsoft.com/office/drawing/2014/main" val="10003"/>
                  </a:ext>
                </a:extLst>
              </a:tr>
              <a:tr h="455655">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dirty="0">
                          <a:ln>
                            <a:noFill/>
                          </a:ln>
                          <a:solidFill>
                            <a:srgbClr val="0000CC"/>
                          </a:solidFill>
                          <a:effectLst/>
                          <a:latin typeface="Calibri" pitchFamily="34" charset="0"/>
                        </a:rPr>
                        <a:t>Glicerina</a:t>
                      </a:r>
                      <a:endParaRPr kumimoji="1" lang="es-ES" sz="2100" b="0" i="0" u="none" strike="noStrike" cap="none" normalizeH="0" baseline="0" dirty="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20</a:t>
                      </a:r>
                      <a:endParaRPr kumimoji="1" lang="es-ES" sz="2100" b="0" i="0" u="none" strike="noStrike" cap="none" normalizeH="0" baseline="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dirty="0">
                          <a:ln>
                            <a:noFill/>
                          </a:ln>
                          <a:solidFill>
                            <a:srgbClr val="0000CC"/>
                          </a:solidFill>
                          <a:effectLst/>
                          <a:latin typeface="Calibri" pitchFamily="34" charset="0"/>
                        </a:rPr>
                        <a:t>1 500 x10</a:t>
                      </a:r>
                      <a:r>
                        <a:rPr kumimoji="1" lang="es-PE" sz="2100" b="0" i="0" u="none" strike="noStrike" cap="none" normalizeH="0" baseline="30000" dirty="0">
                          <a:ln>
                            <a:noFill/>
                          </a:ln>
                          <a:solidFill>
                            <a:srgbClr val="0000CC"/>
                          </a:solidFill>
                          <a:effectLst/>
                          <a:latin typeface="Calibri" pitchFamily="34" charset="0"/>
                        </a:rPr>
                        <a:t>-3</a:t>
                      </a:r>
                      <a:endParaRPr kumimoji="1" lang="es-ES" sz="2100" b="0" i="0" u="none" strike="noStrike" cap="none" normalizeH="0" baseline="30000" dirty="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extLst>
                  <a:ext uri="{0D108BD9-81ED-4DB2-BD59-A6C34878D82A}">
                    <a16:rowId xmlns:a16="http://schemas.microsoft.com/office/drawing/2014/main" val="10004"/>
                  </a:ext>
                </a:extLst>
              </a:tr>
              <a:tr h="446129">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Aire</a:t>
                      </a:r>
                      <a:endParaRPr kumimoji="1" lang="es-ES" sz="2100" b="0" i="0" u="none" strike="noStrike" cap="none" normalizeH="0" baseline="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20</a:t>
                      </a:r>
                      <a:endParaRPr kumimoji="1" lang="es-ES" sz="2100" b="0" i="0" u="none" strike="noStrike" cap="none" normalizeH="0" baseline="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0,0018 x 10</a:t>
                      </a:r>
                      <a:r>
                        <a:rPr kumimoji="1" lang="es-PE" sz="2100" b="0" i="0" u="none" strike="noStrike" cap="none" normalizeH="0" baseline="30000">
                          <a:ln>
                            <a:noFill/>
                          </a:ln>
                          <a:solidFill>
                            <a:srgbClr val="0000CC"/>
                          </a:solidFill>
                          <a:effectLst/>
                          <a:latin typeface="Calibri" pitchFamily="34" charset="0"/>
                        </a:rPr>
                        <a:t>-3</a:t>
                      </a:r>
                      <a:endParaRPr kumimoji="1" lang="es-ES" sz="2100" b="0" i="0" u="none" strike="noStrike" cap="none" normalizeH="0" baseline="3000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extLst>
                  <a:ext uri="{0D108BD9-81ED-4DB2-BD59-A6C34878D82A}">
                    <a16:rowId xmlns:a16="http://schemas.microsoft.com/office/drawing/2014/main" val="10005"/>
                  </a:ext>
                </a:extLst>
              </a:tr>
              <a:tr h="439778">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dirty="0">
                          <a:ln>
                            <a:noFill/>
                          </a:ln>
                          <a:solidFill>
                            <a:srgbClr val="0000CC"/>
                          </a:solidFill>
                          <a:effectLst/>
                          <a:latin typeface="Calibri" pitchFamily="34" charset="0"/>
                        </a:rPr>
                        <a:t>Gasolina</a:t>
                      </a:r>
                      <a:endParaRPr kumimoji="1" lang="es-ES" sz="2100" b="0" i="0" u="none" strike="noStrike" cap="none" normalizeH="0" baseline="0" dirty="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a:ln>
                            <a:noFill/>
                          </a:ln>
                          <a:solidFill>
                            <a:srgbClr val="0000CC"/>
                          </a:solidFill>
                          <a:effectLst/>
                          <a:latin typeface="Calibri" pitchFamily="34" charset="0"/>
                        </a:rPr>
                        <a:t>20</a:t>
                      </a:r>
                      <a:endParaRPr kumimoji="1" lang="es-ES" sz="2100" b="0" i="0" u="none" strike="noStrike" cap="none" normalizeH="0" baseline="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tc>
                  <a:txBody>
                    <a:bodyPr/>
                    <a:lstStyle/>
                    <a:p>
                      <a:pPr marL="0" marR="0" lvl="0" indent="0" algn="ctr" defTabSz="914400" rtl="0" eaLnBrk="0" fontAlgn="base" latinLnBrk="0" hangingPunct="0">
                        <a:lnSpc>
                          <a:spcPct val="100000"/>
                        </a:lnSpc>
                        <a:spcBef>
                          <a:spcPct val="60000"/>
                        </a:spcBef>
                        <a:spcAft>
                          <a:spcPct val="0"/>
                        </a:spcAft>
                        <a:buClr>
                          <a:schemeClr val="tx1"/>
                        </a:buClr>
                        <a:buSzTx/>
                        <a:buFontTx/>
                        <a:buNone/>
                        <a:tabLst/>
                      </a:pPr>
                      <a:r>
                        <a:rPr kumimoji="1" lang="es-PE" sz="2100" b="0" i="0" u="none" strike="noStrike" cap="none" normalizeH="0" baseline="0" dirty="0">
                          <a:ln>
                            <a:noFill/>
                          </a:ln>
                          <a:solidFill>
                            <a:srgbClr val="0000CC"/>
                          </a:solidFill>
                          <a:effectLst/>
                          <a:latin typeface="Calibri" pitchFamily="34" charset="0"/>
                        </a:rPr>
                        <a:t>2,9x 10</a:t>
                      </a:r>
                      <a:r>
                        <a:rPr kumimoji="1" lang="es-PE" sz="2100" b="0" i="0" u="none" strike="noStrike" cap="none" normalizeH="0" baseline="30000" dirty="0">
                          <a:ln>
                            <a:noFill/>
                          </a:ln>
                          <a:solidFill>
                            <a:srgbClr val="0000CC"/>
                          </a:solidFill>
                          <a:effectLst/>
                          <a:latin typeface="Calibri" pitchFamily="34" charset="0"/>
                        </a:rPr>
                        <a:t>-4</a:t>
                      </a:r>
                      <a:endParaRPr kumimoji="1" lang="es-ES" sz="2100" b="0" i="0" u="none" strike="noStrike" cap="none" normalizeH="0" baseline="30000" dirty="0">
                        <a:ln>
                          <a:noFill/>
                        </a:ln>
                        <a:solidFill>
                          <a:srgbClr val="0000CC"/>
                        </a:solidFill>
                        <a:effectLst/>
                        <a:latin typeface="Calibri" pitchFamily="34"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8F2FE"/>
                    </a:solidFill>
                  </a:tcPr>
                </a:tc>
                <a:extLst>
                  <a:ext uri="{0D108BD9-81ED-4DB2-BD59-A6C34878D82A}">
                    <a16:rowId xmlns:a16="http://schemas.microsoft.com/office/drawing/2014/main" val="10006"/>
                  </a:ext>
                </a:extLst>
              </a:tr>
            </a:tbl>
          </a:graphicData>
        </a:graphic>
      </p:graphicFrame>
      <p:sp>
        <p:nvSpPr>
          <p:cNvPr id="25" name="Text Box 140">
            <a:extLst>
              <a:ext uri="{FF2B5EF4-FFF2-40B4-BE49-F238E27FC236}">
                <a16:creationId xmlns:a16="http://schemas.microsoft.com/office/drawing/2014/main" id="{CAA7A08D-60A4-4D8E-9B46-1448A6839F47}"/>
              </a:ext>
            </a:extLst>
          </p:cNvPr>
          <p:cNvSpPr txBox="1">
            <a:spLocks noChangeArrowheads="1"/>
          </p:cNvSpPr>
          <p:nvPr/>
        </p:nvSpPr>
        <p:spPr bwMode="auto">
          <a:xfrm>
            <a:off x="2605633" y="5157192"/>
            <a:ext cx="5383213" cy="584200"/>
          </a:xfrm>
          <a:prstGeom prst="rect">
            <a:avLst/>
          </a:prstGeom>
          <a:solidFill>
            <a:srgbClr val="0070C0"/>
          </a:solidFill>
          <a:ln>
            <a:solidFill>
              <a:srgbClr val="002060"/>
            </a:solidFill>
          </a:ln>
        </p:spPr>
        <p:txBody>
          <a:bodyPr>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defTabSz="4572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defTabSz="4572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defTabSz="4572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defTabSz="457200" eaLnBrk="0" fontAlgn="base" hangingPunct="0">
              <a:spcBef>
                <a:spcPct val="0"/>
              </a:spcBef>
              <a:spcAft>
                <a:spcPct val="0"/>
              </a:spcAft>
              <a:defRPr>
                <a:solidFill>
                  <a:schemeClr val="tx1"/>
                </a:solidFill>
                <a:latin typeface="Calibri" pitchFamily="34" charset="0"/>
                <a:ea typeface="MS PGothic" pitchFamily="34" charset="-128"/>
              </a:defRPr>
            </a:lvl9pPr>
          </a:lstStyle>
          <a:p>
            <a:pPr algn="ctr" eaLnBrk="1" hangingPunct="1"/>
            <a:r>
              <a:rPr lang="es-PE" sz="3200" i="1" dirty="0">
                <a:solidFill>
                  <a:srgbClr val="000000"/>
                </a:solidFill>
                <a:latin typeface="Garamond" pitchFamily="18" charset="0"/>
              </a:rPr>
              <a:t>1 poise = 10</a:t>
            </a:r>
            <a:r>
              <a:rPr lang="es-PE" sz="3200" i="1" baseline="30000" dirty="0">
                <a:solidFill>
                  <a:srgbClr val="000000"/>
                </a:solidFill>
                <a:latin typeface="Garamond" pitchFamily="18" charset="0"/>
              </a:rPr>
              <a:t>-1</a:t>
            </a:r>
            <a:r>
              <a:rPr lang="es-PE" sz="3200" i="1" dirty="0">
                <a:solidFill>
                  <a:srgbClr val="000000"/>
                </a:solidFill>
                <a:latin typeface="Garamond" pitchFamily="18" charset="0"/>
              </a:rPr>
              <a:t> </a:t>
            </a:r>
            <a:r>
              <a:rPr lang="es-PE" sz="3200" i="1" dirty="0" err="1">
                <a:solidFill>
                  <a:srgbClr val="000000"/>
                </a:solidFill>
                <a:latin typeface="Garamond" pitchFamily="18" charset="0"/>
              </a:rPr>
              <a:t>Pa.s</a:t>
            </a:r>
            <a:endParaRPr lang="es-ES" sz="3200" i="1" dirty="0">
              <a:solidFill>
                <a:srgbClr val="000000"/>
              </a:solidFill>
              <a:latin typeface="Garamond" pitchFamily="18" charset="0"/>
            </a:endParaRPr>
          </a:p>
        </p:txBody>
      </p:sp>
    </p:spTree>
    <p:extLst>
      <p:ext uri="{BB962C8B-B14F-4D97-AF65-F5344CB8AC3E}">
        <p14:creationId xmlns:p14="http://schemas.microsoft.com/office/powerpoint/2010/main" val="2867796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5" name="Rectángulo redondeado 14"/>
          <p:cNvSpPr/>
          <p:nvPr/>
        </p:nvSpPr>
        <p:spPr>
          <a:xfrm>
            <a:off x="1669791" y="868377"/>
            <a:ext cx="3355217"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EJERCICIOS</a:t>
            </a:r>
            <a:endParaRPr lang="es-PE" sz="2400" dirty="0">
              <a:solidFill>
                <a:schemeClr val="tx1"/>
              </a:solidFill>
            </a:endParaRPr>
          </a:p>
        </p:txBody>
      </p:sp>
      <p:sp>
        <p:nvSpPr>
          <p:cNvPr id="3" name="Rectángulo 2"/>
          <p:cNvSpPr/>
          <p:nvPr/>
        </p:nvSpPr>
        <p:spPr>
          <a:xfrm>
            <a:off x="172144" y="1700808"/>
            <a:ext cx="5284912" cy="2585323"/>
          </a:xfrm>
          <a:prstGeom prst="rect">
            <a:avLst/>
          </a:prstGeom>
        </p:spPr>
        <p:txBody>
          <a:bodyPr wrap="square">
            <a:spAutoFit/>
          </a:bodyPr>
          <a:lstStyle/>
          <a:p>
            <a:pPr algn="just"/>
            <a:r>
              <a:rPr lang="es-MX" dirty="0"/>
              <a:t>Un cilindro sólido </a:t>
            </a:r>
            <a:r>
              <a:rPr lang="es-MX" i="1" dirty="0"/>
              <a:t>A </a:t>
            </a:r>
            <a:r>
              <a:rPr lang="es-MX" dirty="0"/>
              <a:t>de masa 2.5 kg se desliza hacia abajo dentro de un tubo, como se muestra en la figura. El cilindro es perfectamente concéntrico con la línea central del tubo con una película de aceite entre el cilindro y la superficie interna del tubo. El coeficiente de viscosidad del aceite es 7 x 1O</a:t>
            </a:r>
            <a:r>
              <a:rPr lang="es-MX" baseline="30000" dirty="0"/>
              <a:t>-3</a:t>
            </a:r>
            <a:r>
              <a:rPr lang="es-MX" dirty="0"/>
              <a:t> N *s/m</a:t>
            </a:r>
            <a:r>
              <a:rPr lang="es-MX" baseline="30000" dirty="0"/>
              <a:t>2</a:t>
            </a:r>
            <a:r>
              <a:rPr lang="es-MX" dirty="0"/>
              <a:t>. ¿Cuál es la velocidad </a:t>
            </a:r>
            <a:r>
              <a:rPr lang="es-MX" i="1" dirty="0"/>
              <a:t>terminal </a:t>
            </a:r>
            <a:r>
              <a:rPr lang="es-MX" dirty="0" err="1"/>
              <a:t>v</a:t>
            </a:r>
            <a:r>
              <a:rPr lang="es-MX" baseline="-25000" dirty="0" err="1"/>
              <a:t>t</a:t>
            </a:r>
            <a:r>
              <a:rPr lang="es-MX" i="1" dirty="0"/>
              <a:t> </a:t>
            </a:r>
            <a:r>
              <a:rPr lang="es-MX" dirty="0"/>
              <a:t>del cilindro, es decir, la velocidad constante final del cilindro? Ignore los efectos de presión </a:t>
            </a:r>
            <a:r>
              <a:rPr lang="es-PE" dirty="0"/>
              <a:t>del aire.</a:t>
            </a:r>
          </a:p>
        </p:txBody>
      </p:sp>
      <p:pic>
        <p:nvPicPr>
          <p:cNvPr id="5" name="Imagen 4">
            <a:extLst>
              <a:ext uri="{FF2B5EF4-FFF2-40B4-BE49-F238E27FC236}">
                <a16:creationId xmlns:a16="http://schemas.microsoft.com/office/drawing/2014/main" id="{37E87E85-5BD1-4A9D-801F-9035D9FFDC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0397" y="4319607"/>
            <a:ext cx="2534004" cy="2448267"/>
          </a:xfrm>
          <a:prstGeom prst="rect">
            <a:avLst/>
          </a:prstGeom>
        </p:spPr>
      </p:pic>
      <p:sp>
        <p:nvSpPr>
          <p:cNvPr id="7" name="Rectángulo 6">
            <a:extLst>
              <a:ext uri="{FF2B5EF4-FFF2-40B4-BE49-F238E27FC236}">
                <a16:creationId xmlns:a16="http://schemas.microsoft.com/office/drawing/2014/main" id="{8E52B564-F3B7-4635-AD7A-3D94B8A7D8A6}"/>
              </a:ext>
            </a:extLst>
          </p:cNvPr>
          <p:cNvSpPr/>
          <p:nvPr/>
        </p:nvSpPr>
        <p:spPr>
          <a:xfrm>
            <a:off x="5683583" y="1671354"/>
            <a:ext cx="3916760" cy="2443874"/>
          </a:xfrm>
          <a:prstGeom prst="rect">
            <a:avLst/>
          </a:prstGeom>
        </p:spPr>
        <p:txBody>
          <a:bodyPr wrap="square">
            <a:spAutoFit/>
          </a:bodyPr>
          <a:lstStyle/>
          <a:p>
            <a:pPr algn="just">
              <a:lnSpc>
                <a:spcPct val="107000"/>
              </a:lnSpc>
              <a:spcAft>
                <a:spcPts val="0"/>
              </a:spcAft>
            </a:pPr>
            <a:r>
              <a:rPr lang="es-PE" dirty="0">
                <a:ea typeface="Calibri" panose="020F0502020204030204" pitchFamily="34" charset="0"/>
                <a:cs typeface="Times New Roman" panose="02020603050405020304" pitchFamily="18" charset="0"/>
              </a:rPr>
              <a:t>Un bloque de 1 kN de peso y 200 mm de lado se desliza hacia abajo en un plano inclinado sobre una película de aceite con un espesor de 0.0050 </a:t>
            </a:r>
            <a:r>
              <a:rPr lang="es-PE" dirty="0" err="1">
                <a:ea typeface="Calibri" panose="020F0502020204030204" pitchFamily="34" charset="0"/>
                <a:cs typeface="Times New Roman" panose="02020603050405020304" pitchFamily="18" charset="0"/>
              </a:rPr>
              <a:t>mm.</a:t>
            </a:r>
            <a:r>
              <a:rPr lang="es-PE" dirty="0">
                <a:ea typeface="Calibri" panose="020F0502020204030204" pitchFamily="34" charset="0"/>
                <a:cs typeface="Times New Roman" panose="02020603050405020304" pitchFamily="18" charset="0"/>
              </a:rPr>
              <a:t> Si se utiliza un perfil lineal de velocidades en el aceite, ¿Cuál es la velocidad terminal del bloque? </a:t>
            </a:r>
            <a:r>
              <a:rPr lang="es-PE" dirty="0">
                <a:ea typeface="Times New Roman" panose="02020603050405020304" pitchFamily="18" charset="0"/>
              </a:rPr>
              <a:t>La viscosidad del aceite es 7,0 x lO</a:t>
            </a:r>
            <a:r>
              <a:rPr lang="es-PE" baseline="30000" dirty="0">
                <a:ea typeface="Times New Roman" panose="02020603050405020304" pitchFamily="18" charset="0"/>
              </a:rPr>
              <a:t>-2</a:t>
            </a:r>
            <a:r>
              <a:rPr lang="es-PE" dirty="0">
                <a:ea typeface="Times New Roman" panose="02020603050405020304" pitchFamily="18" charset="0"/>
              </a:rPr>
              <a:t> P.</a:t>
            </a:r>
            <a:endParaRPr lang="es-PE" dirty="0">
              <a:effectLst/>
              <a:ea typeface="Times New Roman" panose="02020603050405020304" pitchFamily="18" charset="0"/>
            </a:endParaRPr>
          </a:p>
        </p:txBody>
      </p:sp>
      <p:pic>
        <p:nvPicPr>
          <p:cNvPr id="9" name="Imagen 8">
            <a:extLst>
              <a:ext uri="{FF2B5EF4-FFF2-40B4-BE49-F238E27FC236}">
                <a16:creationId xmlns:a16="http://schemas.microsoft.com/office/drawing/2014/main" id="{6DBD941A-001B-4862-84E8-004FF65C7D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4423" y="4546804"/>
            <a:ext cx="3695081" cy="1817499"/>
          </a:xfrm>
          <a:prstGeom prst="rect">
            <a:avLst/>
          </a:prstGeom>
        </p:spPr>
      </p:pic>
    </p:spTree>
    <p:extLst>
      <p:ext uri="{BB962C8B-B14F-4D97-AF65-F5344CB8AC3E}">
        <p14:creationId xmlns:p14="http://schemas.microsoft.com/office/powerpoint/2010/main" val="1079660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546412" y="813699"/>
            <a:ext cx="3838636"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b="1" dirty="0">
                <a:solidFill>
                  <a:schemeClr val="tx1"/>
                </a:solidFill>
              </a:rPr>
              <a:t>ECUACIÓN DE POISEVILLE</a:t>
            </a:r>
          </a:p>
        </p:txBody>
      </p:sp>
      <p:sp>
        <p:nvSpPr>
          <p:cNvPr id="13" name="Rectangle 3">
            <a:extLst>
              <a:ext uri="{FF2B5EF4-FFF2-40B4-BE49-F238E27FC236}">
                <a16:creationId xmlns:a16="http://schemas.microsoft.com/office/drawing/2014/main" id="{21B1E3C8-6013-4EDA-A926-D1FE89A4ED1A}"/>
              </a:ext>
            </a:extLst>
          </p:cNvPr>
          <p:cNvSpPr txBox="1">
            <a:spLocks noChangeArrowheads="1"/>
          </p:cNvSpPr>
          <p:nvPr/>
        </p:nvSpPr>
        <p:spPr>
          <a:xfrm>
            <a:off x="457200" y="1081088"/>
            <a:ext cx="3792492" cy="5400675"/>
          </a:xfrm>
          <a:prstGeom prst="rect">
            <a:avLst/>
          </a:prstGeom>
        </p:spPr>
        <p:txBody>
          <a:bodyPr rtlCol="0"/>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fontAlgn="auto">
              <a:spcAft>
                <a:spcPts val="0"/>
              </a:spcAft>
              <a:defRPr/>
            </a:pPr>
            <a:endParaRPr lang="es-MX" dirty="0">
              <a:solidFill>
                <a:schemeClr val="tx1">
                  <a:lumMod val="50000"/>
                  <a:lumOff val="50000"/>
                </a:schemeClr>
              </a:solidFill>
            </a:endParaRPr>
          </a:p>
          <a:p>
            <a:pPr algn="just" fontAlgn="auto">
              <a:spcAft>
                <a:spcPts val="0"/>
              </a:spcAft>
              <a:defRPr/>
            </a:pPr>
            <a:endParaRPr lang="es-MX" dirty="0">
              <a:solidFill>
                <a:schemeClr val="tx1">
                  <a:lumMod val="50000"/>
                  <a:lumOff val="50000"/>
                </a:schemeClr>
              </a:solidFill>
            </a:endParaRPr>
          </a:p>
          <a:p>
            <a:pPr marL="0" indent="0" algn="just" fontAlgn="auto">
              <a:spcAft>
                <a:spcPts val="0"/>
              </a:spcAft>
              <a:buNone/>
              <a:defRPr/>
            </a:pPr>
            <a:r>
              <a:rPr lang="es-MX" sz="1700" dirty="0">
                <a:solidFill>
                  <a:schemeClr val="tx1"/>
                </a:solidFill>
              </a:rPr>
              <a:t>Consideremos un fluido viscoso que circula en régimen laminar por una tubería de radio interior r, y de longitud L, bajo la acción de una fuerza debida a la diferencia de presión existente en los extremos del tubo.</a:t>
            </a:r>
          </a:p>
          <a:p>
            <a:pPr fontAlgn="auto">
              <a:spcAft>
                <a:spcPts val="0"/>
              </a:spcAft>
              <a:defRPr/>
            </a:pPr>
            <a:endParaRPr lang="es-MX" dirty="0">
              <a:solidFill>
                <a:schemeClr val="tx2">
                  <a:lumMod val="50000"/>
                </a:schemeClr>
              </a:solidFill>
            </a:endParaRPr>
          </a:p>
        </p:txBody>
      </p:sp>
      <p:sp>
        <p:nvSpPr>
          <p:cNvPr id="15" name="Freeform 4">
            <a:extLst>
              <a:ext uri="{FF2B5EF4-FFF2-40B4-BE49-F238E27FC236}">
                <a16:creationId xmlns:a16="http://schemas.microsoft.com/office/drawing/2014/main" id="{30EAF851-9985-4FBB-A66E-D90552208249}"/>
              </a:ext>
            </a:extLst>
          </p:cNvPr>
          <p:cNvSpPr>
            <a:spLocks/>
          </p:cNvSpPr>
          <p:nvPr/>
        </p:nvSpPr>
        <p:spPr bwMode="auto">
          <a:xfrm>
            <a:off x="4492625" y="1801813"/>
            <a:ext cx="4581525" cy="2124075"/>
          </a:xfrm>
          <a:custGeom>
            <a:avLst/>
            <a:gdLst>
              <a:gd name="T0" fmla="*/ 2147483647 w 4264"/>
              <a:gd name="T1" fmla="*/ 2147483647 h 1655"/>
              <a:gd name="T2" fmla="*/ 2147483647 w 4264"/>
              <a:gd name="T3" fmla="*/ 2147483647 h 1655"/>
              <a:gd name="T4" fmla="*/ 2147483647 w 4264"/>
              <a:gd name="T5" fmla="*/ 2147483647 h 1655"/>
              <a:gd name="T6" fmla="*/ 2147483647 w 4264"/>
              <a:gd name="T7" fmla="*/ 2147483647 h 1655"/>
              <a:gd name="T8" fmla="*/ 2147483647 w 4264"/>
              <a:gd name="T9" fmla="*/ 2147483647 h 1655"/>
              <a:gd name="T10" fmla="*/ 2147483647 w 4264"/>
              <a:gd name="T11" fmla="*/ 2147483647 h 1655"/>
              <a:gd name="T12" fmla="*/ 2147483647 w 4264"/>
              <a:gd name="T13" fmla="*/ 2147483647 h 1655"/>
              <a:gd name="T14" fmla="*/ 2147483647 w 4264"/>
              <a:gd name="T15" fmla="*/ 2147483647 h 1655"/>
              <a:gd name="T16" fmla="*/ 2147483647 w 4264"/>
              <a:gd name="T17" fmla="*/ 2147483647 h 1655"/>
              <a:gd name="T18" fmla="*/ 2147483647 w 4264"/>
              <a:gd name="T19" fmla="*/ 2147483647 h 1655"/>
              <a:gd name="T20" fmla="*/ 2147483647 w 4264"/>
              <a:gd name="T21" fmla="*/ 2147483647 h 1655"/>
              <a:gd name="T22" fmla="*/ 2147483647 w 4264"/>
              <a:gd name="T23" fmla="*/ 2147483647 h 1655"/>
              <a:gd name="T24" fmla="*/ 2147483647 w 4264"/>
              <a:gd name="T25" fmla="*/ 2147483647 h 1655"/>
              <a:gd name="T26" fmla="*/ 2147483647 w 4264"/>
              <a:gd name="T27" fmla="*/ 2147483647 h 16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64" h="1655">
                <a:moveTo>
                  <a:pt x="650" y="113"/>
                </a:moveTo>
                <a:cubicBezTo>
                  <a:pt x="476" y="211"/>
                  <a:pt x="120" y="620"/>
                  <a:pt x="60" y="794"/>
                </a:cubicBezTo>
                <a:cubicBezTo>
                  <a:pt x="0" y="968"/>
                  <a:pt x="143" y="1029"/>
                  <a:pt x="287" y="1157"/>
                </a:cubicBezTo>
                <a:cubicBezTo>
                  <a:pt x="431" y="1285"/>
                  <a:pt x="627" y="1520"/>
                  <a:pt x="922" y="1565"/>
                </a:cubicBezTo>
                <a:cubicBezTo>
                  <a:pt x="1217" y="1610"/>
                  <a:pt x="1625" y="1421"/>
                  <a:pt x="2056" y="1429"/>
                </a:cubicBezTo>
                <a:cubicBezTo>
                  <a:pt x="2487" y="1437"/>
                  <a:pt x="3160" y="1655"/>
                  <a:pt x="3508" y="1610"/>
                </a:cubicBezTo>
                <a:cubicBezTo>
                  <a:pt x="3856" y="1565"/>
                  <a:pt x="4022" y="1346"/>
                  <a:pt x="4143" y="1157"/>
                </a:cubicBezTo>
                <a:cubicBezTo>
                  <a:pt x="4264" y="968"/>
                  <a:pt x="4256" y="657"/>
                  <a:pt x="4233" y="476"/>
                </a:cubicBezTo>
                <a:cubicBezTo>
                  <a:pt x="4210" y="295"/>
                  <a:pt x="4158" y="136"/>
                  <a:pt x="4007" y="68"/>
                </a:cubicBezTo>
                <a:cubicBezTo>
                  <a:pt x="3856" y="0"/>
                  <a:pt x="3507" y="38"/>
                  <a:pt x="3326" y="68"/>
                </a:cubicBezTo>
                <a:cubicBezTo>
                  <a:pt x="3145" y="98"/>
                  <a:pt x="3167" y="256"/>
                  <a:pt x="2918" y="249"/>
                </a:cubicBezTo>
                <a:cubicBezTo>
                  <a:pt x="2669" y="242"/>
                  <a:pt x="2131" y="31"/>
                  <a:pt x="1829" y="23"/>
                </a:cubicBezTo>
                <a:cubicBezTo>
                  <a:pt x="1527" y="15"/>
                  <a:pt x="1300" y="189"/>
                  <a:pt x="1104" y="204"/>
                </a:cubicBezTo>
                <a:cubicBezTo>
                  <a:pt x="908" y="219"/>
                  <a:pt x="824" y="15"/>
                  <a:pt x="650" y="113"/>
                </a:cubicBezTo>
                <a:close/>
              </a:path>
            </a:pathLst>
          </a:custGeom>
          <a:solidFill>
            <a:srgbClr val="DDF8F7">
              <a:alpha val="6901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PE"/>
          </a:p>
        </p:txBody>
      </p:sp>
      <p:sp>
        <p:nvSpPr>
          <p:cNvPr id="16" name="AutoShape 5">
            <a:extLst>
              <a:ext uri="{FF2B5EF4-FFF2-40B4-BE49-F238E27FC236}">
                <a16:creationId xmlns:a16="http://schemas.microsoft.com/office/drawing/2014/main" id="{AE5BBA74-BCB8-4269-A414-A48389739CB8}"/>
              </a:ext>
            </a:extLst>
          </p:cNvPr>
          <p:cNvSpPr>
            <a:spLocks noChangeArrowheads="1"/>
          </p:cNvSpPr>
          <p:nvPr/>
        </p:nvSpPr>
        <p:spPr bwMode="auto">
          <a:xfrm rot="5398973">
            <a:off x="6193631" y="854869"/>
            <a:ext cx="1252538" cy="3778250"/>
          </a:xfrm>
          <a:prstGeom prst="can">
            <a:avLst>
              <a:gd name="adj" fmla="val 23755"/>
            </a:avLst>
          </a:prstGeom>
          <a:solidFill>
            <a:srgbClr val="33CC33">
              <a:alpha val="36862"/>
            </a:srgbClr>
          </a:solidFill>
          <a:ln w="9525">
            <a:solidFill>
              <a:srgbClr val="000000">
                <a:alpha val="52156"/>
              </a:srgbClr>
            </a:solidFill>
            <a:prstDash val="lgDash"/>
            <a:miter lim="800000"/>
            <a:headEnd/>
            <a:tailEnd/>
          </a:ln>
        </p:spPr>
        <p:txBody>
          <a:bodyPr wrap="none" anchor="ctr"/>
          <a:lstStyle/>
          <a:p>
            <a:endParaRPr lang="es-MX">
              <a:latin typeface="Tahoma" pitchFamily="34" charset="0"/>
            </a:endParaRPr>
          </a:p>
        </p:txBody>
      </p:sp>
      <p:sp>
        <p:nvSpPr>
          <p:cNvPr id="17" name="AutoShape 6">
            <a:extLst>
              <a:ext uri="{FF2B5EF4-FFF2-40B4-BE49-F238E27FC236}">
                <a16:creationId xmlns:a16="http://schemas.microsoft.com/office/drawing/2014/main" id="{2CF647F3-3760-46D2-9D4B-B130C9A676A6}"/>
              </a:ext>
            </a:extLst>
          </p:cNvPr>
          <p:cNvSpPr>
            <a:spLocks noChangeArrowheads="1"/>
          </p:cNvSpPr>
          <p:nvPr/>
        </p:nvSpPr>
        <p:spPr bwMode="auto">
          <a:xfrm rot="5398973">
            <a:off x="6270625" y="1073151"/>
            <a:ext cx="954087" cy="3275012"/>
          </a:xfrm>
          <a:prstGeom prst="can">
            <a:avLst>
              <a:gd name="adj" fmla="val 27032"/>
            </a:avLst>
          </a:prstGeom>
          <a:solidFill>
            <a:schemeClr val="bg1">
              <a:alpha val="61176"/>
            </a:schemeClr>
          </a:solidFill>
          <a:ln w="9525">
            <a:solidFill>
              <a:srgbClr val="000000">
                <a:alpha val="58038"/>
              </a:srgbClr>
            </a:solidFill>
            <a:prstDash val="lgDash"/>
            <a:miter lim="800000"/>
            <a:headEnd/>
            <a:tailEnd/>
          </a:ln>
        </p:spPr>
        <p:txBody>
          <a:bodyPr wrap="none" anchor="ctr"/>
          <a:lstStyle/>
          <a:p>
            <a:endParaRPr lang="es-MX">
              <a:latin typeface="Tahoma" pitchFamily="34" charset="0"/>
            </a:endParaRPr>
          </a:p>
        </p:txBody>
      </p:sp>
      <p:sp>
        <p:nvSpPr>
          <p:cNvPr id="18" name="Line 7">
            <a:extLst>
              <a:ext uri="{FF2B5EF4-FFF2-40B4-BE49-F238E27FC236}">
                <a16:creationId xmlns:a16="http://schemas.microsoft.com/office/drawing/2014/main" id="{40410D97-39FE-4512-A2C2-497694CB3230}"/>
              </a:ext>
            </a:extLst>
          </p:cNvPr>
          <p:cNvSpPr>
            <a:spLocks noChangeShapeType="1"/>
          </p:cNvSpPr>
          <p:nvPr/>
        </p:nvSpPr>
        <p:spPr bwMode="auto">
          <a:xfrm>
            <a:off x="5249863" y="3548063"/>
            <a:ext cx="3041650" cy="0"/>
          </a:xfrm>
          <a:prstGeom prst="line">
            <a:avLst/>
          </a:prstGeom>
          <a:noFill/>
          <a:ln w="9525">
            <a:solidFill>
              <a:schemeClr val="tx2"/>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s-PE"/>
          </a:p>
        </p:txBody>
      </p:sp>
      <p:sp>
        <p:nvSpPr>
          <p:cNvPr id="19" name="Line 8">
            <a:extLst>
              <a:ext uri="{FF2B5EF4-FFF2-40B4-BE49-F238E27FC236}">
                <a16:creationId xmlns:a16="http://schemas.microsoft.com/office/drawing/2014/main" id="{B8C6D21C-0309-44B5-B4D1-C11A04F0F714}"/>
              </a:ext>
            </a:extLst>
          </p:cNvPr>
          <p:cNvSpPr>
            <a:spLocks noChangeShapeType="1"/>
          </p:cNvSpPr>
          <p:nvPr/>
        </p:nvSpPr>
        <p:spPr bwMode="auto">
          <a:xfrm flipV="1">
            <a:off x="7869238" y="2233613"/>
            <a:ext cx="0" cy="434975"/>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PE"/>
          </a:p>
        </p:txBody>
      </p:sp>
      <p:sp>
        <p:nvSpPr>
          <p:cNvPr id="20" name="Text Box 9">
            <a:extLst>
              <a:ext uri="{FF2B5EF4-FFF2-40B4-BE49-F238E27FC236}">
                <a16:creationId xmlns:a16="http://schemas.microsoft.com/office/drawing/2014/main" id="{AAA4C41F-48C1-437C-B721-7A1EDC00ACEE}"/>
              </a:ext>
            </a:extLst>
          </p:cNvPr>
          <p:cNvSpPr txBox="1">
            <a:spLocks noChangeArrowheads="1"/>
          </p:cNvSpPr>
          <p:nvPr/>
        </p:nvSpPr>
        <p:spPr bwMode="auto">
          <a:xfrm>
            <a:off x="7631113" y="2314575"/>
            <a:ext cx="260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defTabSz="4572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defTabSz="4572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defTabSz="4572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defTabSz="4572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r>
              <a:rPr lang="es-MX">
                <a:latin typeface="Times New Roman" pitchFamily="18" charset="0"/>
                <a:cs typeface="Arial" charset="0"/>
              </a:rPr>
              <a:t>r</a:t>
            </a:r>
            <a:endParaRPr lang="es-ES">
              <a:latin typeface="Times New Roman" pitchFamily="18" charset="0"/>
              <a:cs typeface="Arial" charset="0"/>
            </a:endParaRPr>
          </a:p>
        </p:txBody>
      </p:sp>
      <p:sp>
        <p:nvSpPr>
          <p:cNvPr id="21" name="Text Box 10">
            <a:extLst>
              <a:ext uri="{FF2B5EF4-FFF2-40B4-BE49-F238E27FC236}">
                <a16:creationId xmlns:a16="http://schemas.microsoft.com/office/drawing/2014/main" id="{A2FFFC97-4104-4379-84FC-93C0F94B4440}"/>
              </a:ext>
            </a:extLst>
          </p:cNvPr>
          <p:cNvSpPr txBox="1">
            <a:spLocks noChangeArrowheads="1"/>
          </p:cNvSpPr>
          <p:nvPr/>
        </p:nvSpPr>
        <p:spPr bwMode="auto">
          <a:xfrm>
            <a:off x="4716463" y="1657350"/>
            <a:ext cx="865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defTabSz="4572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defTabSz="4572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defTabSz="4572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defTabSz="4572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r>
              <a:rPr lang="es-MX" sz="2000" i="1">
                <a:latin typeface="Times New Roman" pitchFamily="18" charset="0"/>
                <a:cs typeface="Arial" charset="0"/>
              </a:rPr>
              <a:t>p</a:t>
            </a:r>
            <a:r>
              <a:rPr lang="es-MX" sz="2000" i="1" baseline="-25000">
                <a:latin typeface="Times New Roman" pitchFamily="18" charset="0"/>
                <a:cs typeface="Arial" charset="0"/>
              </a:rPr>
              <a:t>1</a:t>
            </a:r>
            <a:r>
              <a:rPr lang="el-GR" sz="2000" i="1">
                <a:latin typeface="Times New Roman" pitchFamily="18" charset="0"/>
                <a:cs typeface="Times New Roman" pitchFamily="18" charset="0"/>
              </a:rPr>
              <a:t>π</a:t>
            </a:r>
            <a:r>
              <a:rPr lang="es-ES_tradnl" sz="2000" i="1">
                <a:latin typeface="Times New Roman" pitchFamily="18" charset="0"/>
                <a:cs typeface="Times New Roman" pitchFamily="18" charset="0"/>
              </a:rPr>
              <a:t> r</a:t>
            </a:r>
            <a:r>
              <a:rPr lang="es-ES_tradnl" sz="2000" i="1" baseline="30000">
                <a:latin typeface="Times New Roman" pitchFamily="18" charset="0"/>
                <a:cs typeface="Times New Roman" pitchFamily="18" charset="0"/>
              </a:rPr>
              <a:t>2</a:t>
            </a:r>
            <a:endParaRPr lang="el-GR" sz="2000" i="1">
              <a:latin typeface="Times New Roman" pitchFamily="18" charset="0"/>
              <a:cs typeface="Times New Roman" pitchFamily="18" charset="0"/>
            </a:endParaRPr>
          </a:p>
        </p:txBody>
      </p:sp>
      <p:sp>
        <p:nvSpPr>
          <p:cNvPr id="22" name="Text Box 11">
            <a:extLst>
              <a:ext uri="{FF2B5EF4-FFF2-40B4-BE49-F238E27FC236}">
                <a16:creationId xmlns:a16="http://schemas.microsoft.com/office/drawing/2014/main" id="{8C26023D-AB09-4085-BB59-02E36097A780}"/>
              </a:ext>
            </a:extLst>
          </p:cNvPr>
          <p:cNvSpPr txBox="1">
            <a:spLocks noChangeArrowheads="1"/>
          </p:cNvSpPr>
          <p:nvPr/>
        </p:nvSpPr>
        <p:spPr bwMode="auto">
          <a:xfrm>
            <a:off x="8208963" y="1657350"/>
            <a:ext cx="827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defTabSz="4572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defTabSz="4572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defTabSz="4572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defTabSz="4572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r>
              <a:rPr lang="es-MX" sz="2000" i="1">
                <a:latin typeface="Times New Roman" pitchFamily="18" charset="0"/>
                <a:cs typeface="Arial" charset="0"/>
              </a:rPr>
              <a:t>p</a:t>
            </a:r>
            <a:r>
              <a:rPr lang="es-MX" sz="2000" i="1" baseline="-25000">
                <a:latin typeface="Times New Roman" pitchFamily="18" charset="0"/>
                <a:cs typeface="Arial" charset="0"/>
              </a:rPr>
              <a:t>2 </a:t>
            </a:r>
            <a:r>
              <a:rPr lang="el-GR" sz="2000" i="1">
                <a:latin typeface="Times New Roman" pitchFamily="18" charset="0"/>
              </a:rPr>
              <a:t>π</a:t>
            </a:r>
            <a:r>
              <a:rPr lang="es-ES_tradnl" sz="2000" i="1">
                <a:latin typeface="Times New Roman" pitchFamily="18" charset="0"/>
              </a:rPr>
              <a:t> r</a:t>
            </a:r>
            <a:r>
              <a:rPr lang="es-ES_tradnl" sz="2000" i="1" baseline="30000">
                <a:latin typeface="Times New Roman" pitchFamily="18" charset="0"/>
              </a:rPr>
              <a:t>2</a:t>
            </a:r>
            <a:endParaRPr lang="es-ES" sz="2000" i="1" baseline="30000">
              <a:latin typeface="Times New Roman" pitchFamily="18" charset="0"/>
            </a:endParaRPr>
          </a:p>
        </p:txBody>
      </p:sp>
      <p:sp>
        <p:nvSpPr>
          <p:cNvPr id="23" name="Line 13">
            <a:extLst>
              <a:ext uri="{FF2B5EF4-FFF2-40B4-BE49-F238E27FC236}">
                <a16:creationId xmlns:a16="http://schemas.microsoft.com/office/drawing/2014/main" id="{B261AFBF-9AEE-4FD8-A9E5-47E1C5872F15}"/>
              </a:ext>
            </a:extLst>
          </p:cNvPr>
          <p:cNvSpPr>
            <a:spLocks noChangeShapeType="1"/>
          </p:cNvSpPr>
          <p:nvPr/>
        </p:nvSpPr>
        <p:spPr bwMode="auto">
          <a:xfrm>
            <a:off x="5076825" y="2676525"/>
            <a:ext cx="3041650" cy="0"/>
          </a:xfrm>
          <a:prstGeom prst="line">
            <a:avLst/>
          </a:prstGeom>
          <a:noFill/>
          <a:ln w="9525">
            <a:solidFill>
              <a:schemeClr val="tx1"/>
            </a:solidFill>
            <a:prstDash val="lgDash"/>
            <a:miter lim="800000"/>
            <a:headEnd/>
            <a:tailEnd/>
          </a:ln>
          <a:extLst>
            <a:ext uri="{909E8E84-426E-40DD-AFC4-6F175D3DCCD1}">
              <a14:hiddenFill xmlns:a14="http://schemas.microsoft.com/office/drawing/2010/main">
                <a:noFill/>
              </a14:hiddenFill>
            </a:ext>
          </a:extLst>
        </p:spPr>
        <p:txBody>
          <a:bodyPr wrap="none"/>
          <a:lstStyle/>
          <a:p>
            <a:endParaRPr lang="es-PE"/>
          </a:p>
        </p:txBody>
      </p:sp>
      <p:sp>
        <p:nvSpPr>
          <p:cNvPr id="24" name="Line 14">
            <a:extLst>
              <a:ext uri="{FF2B5EF4-FFF2-40B4-BE49-F238E27FC236}">
                <a16:creationId xmlns:a16="http://schemas.microsoft.com/office/drawing/2014/main" id="{AF50D470-D482-4827-8464-08852CAAEECE}"/>
              </a:ext>
            </a:extLst>
          </p:cNvPr>
          <p:cNvSpPr>
            <a:spLocks noChangeShapeType="1"/>
          </p:cNvSpPr>
          <p:nvPr/>
        </p:nvSpPr>
        <p:spPr bwMode="auto">
          <a:xfrm>
            <a:off x="8293100" y="2676525"/>
            <a:ext cx="342900"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wrap="none"/>
          <a:lstStyle/>
          <a:p>
            <a:endParaRPr lang="es-PE"/>
          </a:p>
        </p:txBody>
      </p:sp>
      <p:sp>
        <p:nvSpPr>
          <p:cNvPr id="25" name="Text Box 15">
            <a:extLst>
              <a:ext uri="{FF2B5EF4-FFF2-40B4-BE49-F238E27FC236}">
                <a16:creationId xmlns:a16="http://schemas.microsoft.com/office/drawing/2014/main" id="{92628637-E5DE-4825-9E2C-9AEF03B38C7F}"/>
              </a:ext>
            </a:extLst>
          </p:cNvPr>
          <p:cNvSpPr txBox="1">
            <a:spLocks noChangeArrowheads="1"/>
          </p:cNvSpPr>
          <p:nvPr/>
        </p:nvSpPr>
        <p:spPr bwMode="auto">
          <a:xfrm>
            <a:off x="6564313" y="3517900"/>
            <a:ext cx="4143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defTabSz="4572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defTabSz="4572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defTabSz="4572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defTabSz="4572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r>
              <a:rPr lang="es-PE" sz="2000" i="1">
                <a:latin typeface="Times New Roman" pitchFamily="18" charset="0"/>
              </a:rPr>
              <a:t>L</a:t>
            </a:r>
            <a:endParaRPr lang="en-US" sz="2000" i="1">
              <a:latin typeface="Times New Roman" pitchFamily="18" charset="0"/>
            </a:endParaRPr>
          </a:p>
        </p:txBody>
      </p:sp>
      <p:sp>
        <p:nvSpPr>
          <p:cNvPr id="26" name="Line 17">
            <a:extLst>
              <a:ext uri="{FF2B5EF4-FFF2-40B4-BE49-F238E27FC236}">
                <a16:creationId xmlns:a16="http://schemas.microsoft.com/office/drawing/2014/main" id="{EC818116-3A72-47EB-A917-7ABF10392AAF}"/>
              </a:ext>
            </a:extLst>
          </p:cNvPr>
          <p:cNvSpPr>
            <a:spLocks noChangeShapeType="1"/>
          </p:cNvSpPr>
          <p:nvPr/>
        </p:nvSpPr>
        <p:spPr bwMode="auto">
          <a:xfrm>
            <a:off x="5468938" y="2673350"/>
            <a:ext cx="0" cy="67151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s-PE"/>
          </a:p>
        </p:txBody>
      </p:sp>
      <p:sp>
        <p:nvSpPr>
          <p:cNvPr id="27" name="Text Box 18">
            <a:extLst>
              <a:ext uri="{FF2B5EF4-FFF2-40B4-BE49-F238E27FC236}">
                <a16:creationId xmlns:a16="http://schemas.microsoft.com/office/drawing/2014/main" id="{CBE94AF0-7E53-4CEB-A930-0AECF9FBCECE}"/>
              </a:ext>
            </a:extLst>
          </p:cNvPr>
          <p:cNvSpPr txBox="1">
            <a:spLocks noChangeArrowheads="1"/>
          </p:cNvSpPr>
          <p:nvPr/>
        </p:nvSpPr>
        <p:spPr bwMode="auto">
          <a:xfrm>
            <a:off x="5491163" y="27193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defTabSz="4572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defTabSz="4572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defTabSz="4572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defTabSz="4572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r>
              <a:rPr lang="es-MX">
                <a:latin typeface="Times New Roman" pitchFamily="18" charset="0"/>
                <a:cs typeface="Arial" charset="0"/>
              </a:rPr>
              <a:t>R</a:t>
            </a:r>
            <a:endParaRPr lang="es-ES">
              <a:latin typeface="Times New Roman" pitchFamily="18" charset="0"/>
              <a:cs typeface="Arial" charset="0"/>
            </a:endParaRPr>
          </a:p>
        </p:txBody>
      </p:sp>
      <p:graphicFrame>
        <p:nvGraphicFramePr>
          <p:cNvPr id="28" name="Object 30">
            <a:extLst>
              <a:ext uri="{FF2B5EF4-FFF2-40B4-BE49-F238E27FC236}">
                <a16:creationId xmlns:a16="http://schemas.microsoft.com/office/drawing/2014/main" id="{ACE76B87-6268-4BF2-BED2-EF201535FA5A}"/>
              </a:ext>
            </a:extLst>
          </p:cNvPr>
          <p:cNvGraphicFramePr>
            <a:graphicFrameLocks noChangeAspect="1"/>
          </p:cNvGraphicFramePr>
          <p:nvPr>
            <p:extLst>
              <p:ext uri="{D42A27DB-BD31-4B8C-83A1-F6EECF244321}">
                <p14:modId xmlns:p14="http://schemas.microsoft.com/office/powerpoint/2010/main" val="592690422"/>
              </p:ext>
            </p:extLst>
          </p:nvPr>
        </p:nvGraphicFramePr>
        <p:xfrm>
          <a:off x="777875" y="3656013"/>
          <a:ext cx="1730375" cy="398462"/>
        </p:xfrm>
        <a:graphic>
          <a:graphicData uri="http://schemas.openxmlformats.org/presentationml/2006/ole">
            <mc:AlternateContent xmlns:mc="http://schemas.openxmlformats.org/markup-compatibility/2006">
              <mc:Choice xmlns:v="urn:schemas-microsoft-com:vml" Requires="v">
                <p:oleObj spid="_x0000_s6174" name="Equation" r:id="rId3" imgW="1054100" imgH="241300" progId="Equation.DSMT4">
                  <p:embed/>
                </p:oleObj>
              </mc:Choice>
              <mc:Fallback>
                <p:oleObj name="Equation" r:id="rId3" imgW="1054100" imgH="241300" progId="Equation.DSMT4">
                  <p:embed/>
                  <p:pic>
                    <p:nvPicPr>
                      <p:cNvPr id="19"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75" y="3656013"/>
                        <a:ext cx="1730375" cy="39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31">
            <a:extLst>
              <a:ext uri="{FF2B5EF4-FFF2-40B4-BE49-F238E27FC236}">
                <a16:creationId xmlns:a16="http://schemas.microsoft.com/office/drawing/2014/main" id="{7E492271-8C77-4B3F-A5B5-523AE9014E4D}"/>
              </a:ext>
            </a:extLst>
          </p:cNvPr>
          <p:cNvGraphicFramePr>
            <a:graphicFrameLocks noChangeAspect="1"/>
          </p:cNvGraphicFramePr>
          <p:nvPr>
            <p:extLst>
              <p:ext uri="{D42A27DB-BD31-4B8C-83A1-F6EECF244321}">
                <p14:modId xmlns:p14="http://schemas.microsoft.com/office/powerpoint/2010/main" val="363782889"/>
              </p:ext>
            </p:extLst>
          </p:nvPr>
        </p:nvGraphicFramePr>
        <p:xfrm>
          <a:off x="3597275" y="4549775"/>
          <a:ext cx="2366963" cy="812800"/>
        </p:xfrm>
        <a:graphic>
          <a:graphicData uri="http://schemas.openxmlformats.org/presentationml/2006/ole">
            <mc:AlternateContent xmlns:mc="http://schemas.openxmlformats.org/markup-compatibility/2006">
              <mc:Choice xmlns:v="urn:schemas-microsoft-com:vml" Requires="v">
                <p:oleObj spid="_x0000_s6175" name="Equation" r:id="rId5" imgW="1333500" imgH="457200" progId="Equation.DSMT4">
                  <p:embed/>
                </p:oleObj>
              </mc:Choice>
              <mc:Fallback>
                <p:oleObj name="Equation" r:id="rId5" imgW="1333500" imgH="457200" progId="Equation.DSMT4">
                  <p:embed/>
                  <p:pic>
                    <p:nvPicPr>
                      <p:cNvPr id="2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7275" y="4549775"/>
                        <a:ext cx="2366963" cy="812800"/>
                      </a:xfrm>
                      <a:prstGeom prst="rect">
                        <a:avLst/>
                      </a:prstGeom>
                      <a:solidFill>
                        <a:schemeClr val="tx2">
                          <a:lumMod val="60000"/>
                          <a:lumOff val="40000"/>
                        </a:schemeClr>
                      </a:solidFill>
                      <a:ln>
                        <a:noFill/>
                      </a:ln>
                      <a:effectLst/>
                    </p:spPr>
                  </p:pic>
                </p:oleObj>
              </mc:Fallback>
            </mc:AlternateContent>
          </a:graphicData>
        </a:graphic>
      </p:graphicFrame>
      <p:graphicFrame>
        <p:nvGraphicFramePr>
          <p:cNvPr id="30" name="Object 32">
            <a:extLst>
              <a:ext uri="{FF2B5EF4-FFF2-40B4-BE49-F238E27FC236}">
                <a16:creationId xmlns:a16="http://schemas.microsoft.com/office/drawing/2014/main" id="{E3B5F648-5689-4313-8A49-39CBFA62B654}"/>
              </a:ext>
            </a:extLst>
          </p:cNvPr>
          <p:cNvGraphicFramePr>
            <a:graphicFrameLocks noChangeAspect="1"/>
          </p:cNvGraphicFramePr>
          <p:nvPr/>
        </p:nvGraphicFramePr>
        <p:xfrm>
          <a:off x="755650" y="4054475"/>
          <a:ext cx="1443038" cy="700088"/>
        </p:xfrm>
        <a:graphic>
          <a:graphicData uri="http://schemas.openxmlformats.org/presentationml/2006/ole">
            <mc:AlternateContent xmlns:mc="http://schemas.openxmlformats.org/markup-compatibility/2006">
              <mc:Choice xmlns:v="urn:schemas-microsoft-com:vml" Requires="v">
                <p:oleObj spid="_x0000_s6176" name="Equation" r:id="rId7" imgW="812447" imgH="393529" progId="Equation.DSMT4">
                  <p:embed/>
                </p:oleObj>
              </mc:Choice>
              <mc:Fallback>
                <p:oleObj name="Equation" r:id="rId7" imgW="812447" imgH="393529" progId="Equation.DSMT4">
                  <p:embed/>
                  <p:pic>
                    <p:nvPicPr>
                      <p:cNvPr id="21"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4054475"/>
                        <a:ext cx="1443038" cy="7000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AutoShape 39">
            <a:extLst>
              <a:ext uri="{FF2B5EF4-FFF2-40B4-BE49-F238E27FC236}">
                <a16:creationId xmlns:a16="http://schemas.microsoft.com/office/drawing/2014/main" id="{A2DD47CB-42EF-4A30-9AD2-43E1A47E8D77}"/>
              </a:ext>
            </a:extLst>
          </p:cNvPr>
          <p:cNvSpPr>
            <a:spLocks/>
          </p:cNvSpPr>
          <p:nvPr/>
        </p:nvSpPr>
        <p:spPr bwMode="auto">
          <a:xfrm>
            <a:off x="6267450" y="5546725"/>
            <a:ext cx="2876550" cy="762000"/>
          </a:xfrm>
          <a:prstGeom prst="accentCallout1">
            <a:avLst>
              <a:gd name="adj1" fmla="val 15000"/>
              <a:gd name="adj2" fmla="val -2648"/>
              <a:gd name="adj3" fmla="val -63958"/>
              <a:gd name="adj4" fmla="val -30519"/>
            </a:avLst>
          </a:prstGeom>
          <a:solidFill>
            <a:srgbClr val="FFFFCC"/>
          </a:solidFill>
          <a:ln w="28575">
            <a:solidFill>
              <a:srgbClr val="FF0000"/>
            </a:solidFill>
            <a:miter lim="800000"/>
            <a:headEnd/>
            <a:tailEnd type="triangle" w="med" len="med"/>
          </a:ln>
        </p:spPr>
        <p:txBody>
          <a:bodyPr/>
          <a:lstStyle/>
          <a:p>
            <a:pPr algn="just"/>
            <a:r>
              <a:rPr lang="es-ES_tradnl" sz="1600">
                <a:solidFill>
                  <a:srgbClr val="000000"/>
                </a:solidFill>
                <a:latin typeface="Arial Narrow" pitchFamily="34" charset="0"/>
              </a:rPr>
              <a:t>El signo negativo se debe a que</a:t>
            </a:r>
            <a:r>
              <a:rPr lang="es-ES_tradnl" sz="1600" i="1">
                <a:solidFill>
                  <a:srgbClr val="000000"/>
                </a:solidFill>
                <a:latin typeface="Times New Roman" pitchFamily="18" charset="0"/>
              </a:rPr>
              <a:t> v</a:t>
            </a:r>
            <a:r>
              <a:rPr lang="es-ES_tradnl" sz="1600">
                <a:solidFill>
                  <a:srgbClr val="000000"/>
                </a:solidFill>
                <a:latin typeface="Arial Narrow" pitchFamily="34" charset="0"/>
              </a:rPr>
              <a:t> disminuye al aumentar</a:t>
            </a:r>
            <a:r>
              <a:rPr lang="es-ES_tradnl" sz="1600" i="1">
                <a:solidFill>
                  <a:srgbClr val="000000"/>
                </a:solidFill>
                <a:latin typeface="Times New Roman" pitchFamily="18" charset="0"/>
              </a:rPr>
              <a:t> r</a:t>
            </a:r>
            <a:r>
              <a:rPr lang="es-ES_tradnl" sz="1600">
                <a:solidFill>
                  <a:srgbClr val="000000"/>
                </a:solidFill>
                <a:latin typeface="Arial Narrow" pitchFamily="34" charset="0"/>
              </a:rPr>
              <a:t>.</a:t>
            </a:r>
            <a:endParaRPr lang="es-ES" sz="1600">
              <a:latin typeface="Arial Narrow" pitchFamily="34" charset="0"/>
            </a:endParaRPr>
          </a:p>
        </p:txBody>
      </p:sp>
      <p:sp>
        <p:nvSpPr>
          <p:cNvPr id="32" name="AutoShape 40">
            <a:extLst>
              <a:ext uri="{FF2B5EF4-FFF2-40B4-BE49-F238E27FC236}">
                <a16:creationId xmlns:a16="http://schemas.microsoft.com/office/drawing/2014/main" id="{F6955A9F-ED0D-4A0C-A9AE-8DCFE5752057}"/>
              </a:ext>
            </a:extLst>
          </p:cNvPr>
          <p:cNvSpPr>
            <a:spLocks/>
          </p:cNvSpPr>
          <p:nvPr/>
        </p:nvSpPr>
        <p:spPr bwMode="auto">
          <a:xfrm>
            <a:off x="684213" y="5588000"/>
            <a:ext cx="2587625" cy="720725"/>
          </a:xfrm>
          <a:prstGeom prst="accentCallout1">
            <a:avLst>
              <a:gd name="adj1" fmla="val 15861"/>
              <a:gd name="adj2" fmla="val 102944"/>
              <a:gd name="adj3" fmla="val -58148"/>
              <a:gd name="adj4" fmla="val 125278"/>
            </a:avLst>
          </a:prstGeom>
          <a:solidFill>
            <a:srgbClr val="FFFFCC"/>
          </a:solidFill>
          <a:ln w="28575">
            <a:solidFill>
              <a:srgbClr val="FF0000"/>
            </a:solidFill>
            <a:miter lim="800000"/>
            <a:headEnd/>
            <a:tailEnd type="triangle" w="med" len="med"/>
          </a:ln>
        </p:spPr>
        <p:txBody>
          <a:bodyPr/>
          <a:lstStyle/>
          <a:p>
            <a:pPr algn="just"/>
            <a:r>
              <a:rPr lang="es-ES_tradnl" sz="1600">
                <a:solidFill>
                  <a:srgbClr val="000000"/>
                </a:solidFill>
                <a:latin typeface="Arial Narrow" pitchFamily="34" charset="0"/>
              </a:rPr>
              <a:t>el área lateral de un cilindro de longitud </a:t>
            </a:r>
            <a:r>
              <a:rPr lang="es-ES_tradnl" sz="1600" i="1">
                <a:solidFill>
                  <a:srgbClr val="000000"/>
                </a:solidFill>
                <a:latin typeface="Times New Roman" pitchFamily="18" charset="0"/>
              </a:rPr>
              <a:t>L</a:t>
            </a:r>
            <a:r>
              <a:rPr lang="es-ES_tradnl" sz="1600">
                <a:solidFill>
                  <a:srgbClr val="000000"/>
                </a:solidFill>
                <a:latin typeface="Arial Narrow" pitchFamily="34" charset="0"/>
              </a:rPr>
              <a:t> y radio </a:t>
            </a:r>
            <a:r>
              <a:rPr lang="es-ES_tradnl" sz="1600" i="1">
                <a:solidFill>
                  <a:srgbClr val="000000"/>
                </a:solidFill>
                <a:latin typeface="Times New Roman" pitchFamily="18" charset="0"/>
              </a:rPr>
              <a:t>r</a:t>
            </a:r>
            <a:r>
              <a:rPr lang="es-ES_tradnl" sz="1600">
                <a:solidFill>
                  <a:srgbClr val="000000"/>
                </a:solidFill>
                <a:latin typeface="Arial Narrow" pitchFamily="34" charset="0"/>
              </a:rPr>
              <a:t>.</a:t>
            </a:r>
            <a:endParaRPr lang="es-ES" sz="1600">
              <a:latin typeface="Arial Narrow" pitchFamily="34" charset="0"/>
            </a:endParaRPr>
          </a:p>
        </p:txBody>
      </p:sp>
      <p:graphicFrame>
        <p:nvGraphicFramePr>
          <p:cNvPr id="33" name="Object 42">
            <a:extLst>
              <a:ext uri="{FF2B5EF4-FFF2-40B4-BE49-F238E27FC236}">
                <a16:creationId xmlns:a16="http://schemas.microsoft.com/office/drawing/2014/main" id="{4E1C72FA-6B9E-46EF-AA5A-58775EEC6A10}"/>
              </a:ext>
            </a:extLst>
          </p:cNvPr>
          <p:cNvGraphicFramePr>
            <a:graphicFrameLocks noChangeAspect="1"/>
          </p:cNvGraphicFramePr>
          <p:nvPr/>
        </p:nvGraphicFramePr>
        <p:xfrm>
          <a:off x="777875" y="4702175"/>
          <a:ext cx="1920875" cy="700088"/>
        </p:xfrm>
        <a:graphic>
          <a:graphicData uri="http://schemas.openxmlformats.org/presentationml/2006/ole">
            <mc:AlternateContent xmlns:mc="http://schemas.openxmlformats.org/markup-compatibility/2006">
              <mc:Choice xmlns:v="urn:schemas-microsoft-com:vml" Requires="v">
                <p:oleObj spid="_x0000_s6177" name="Equation" r:id="rId9" imgW="1079032" imgH="393529" progId="Equation.DSMT4">
                  <p:embed/>
                </p:oleObj>
              </mc:Choice>
              <mc:Fallback>
                <p:oleObj name="Equation" r:id="rId9" imgW="1079032" imgH="393529" progId="Equation.DSMT4">
                  <p:embed/>
                  <p:pic>
                    <p:nvPicPr>
                      <p:cNvPr id="24" name="Object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7875" y="4702175"/>
                        <a:ext cx="1920875" cy="7000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Line 12">
            <a:extLst>
              <a:ext uri="{FF2B5EF4-FFF2-40B4-BE49-F238E27FC236}">
                <a16:creationId xmlns:a16="http://schemas.microsoft.com/office/drawing/2014/main" id="{6F126D8C-9376-4EF7-9F88-2C89A271E7D6}"/>
              </a:ext>
            </a:extLst>
          </p:cNvPr>
          <p:cNvSpPr>
            <a:spLocks noChangeShapeType="1"/>
          </p:cNvSpPr>
          <p:nvPr/>
        </p:nvSpPr>
        <p:spPr bwMode="auto">
          <a:xfrm>
            <a:off x="4573588" y="2676525"/>
            <a:ext cx="5365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s-PE"/>
          </a:p>
        </p:txBody>
      </p:sp>
    </p:spTree>
    <p:extLst>
      <p:ext uri="{BB962C8B-B14F-4D97-AF65-F5344CB8AC3E}">
        <p14:creationId xmlns:p14="http://schemas.microsoft.com/office/powerpoint/2010/main" val="201517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560400" y="727283"/>
            <a:ext cx="7805850" cy="75247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200" b="1" dirty="0">
                <a:solidFill>
                  <a:schemeClr val="tx1"/>
                </a:solidFill>
                <a:latin typeface="Arial" panose="020B0604020202020204" pitchFamily="34" charset="0"/>
                <a:cs typeface="Arial" panose="020B0604020202020204" pitchFamily="34" charset="0"/>
              </a:rPr>
              <a:t>ECUACIÓN DE POISEVILLE: PERFIL DE VELOCIDADES</a:t>
            </a:r>
          </a:p>
        </p:txBody>
      </p:sp>
      <p:sp>
        <p:nvSpPr>
          <p:cNvPr id="18" name="Rectangle 3">
            <a:extLst>
              <a:ext uri="{FF2B5EF4-FFF2-40B4-BE49-F238E27FC236}">
                <a16:creationId xmlns:a16="http://schemas.microsoft.com/office/drawing/2014/main" id="{8BA4D5EB-0FAF-4EBF-9F3D-81CBDDA9BC90}"/>
              </a:ext>
            </a:extLst>
          </p:cNvPr>
          <p:cNvSpPr txBox="1">
            <a:spLocks noChangeArrowheads="1"/>
          </p:cNvSpPr>
          <p:nvPr/>
        </p:nvSpPr>
        <p:spPr>
          <a:xfrm>
            <a:off x="327857" y="1916832"/>
            <a:ext cx="4076700" cy="5400675"/>
          </a:xfrm>
          <a:prstGeom prst="rect">
            <a:avLst/>
          </a:prstGeom>
        </p:spPr>
        <p:txBody>
          <a:bodyPr rtlCol="0"/>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fontAlgn="auto">
              <a:lnSpc>
                <a:spcPct val="90000"/>
              </a:lnSpc>
              <a:spcAft>
                <a:spcPts val="0"/>
              </a:spcAft>
              <a:buNone/>
              <a:defRPr/>
            </a:pPr>
            <a:r>
              <a:rPr lang="es-MX" sz="1700" dirty="0">
                <a:solidFill>
                  <a:schemeClr val="tx1"/>
                </a:solidFill>
              </a:rPr>
              <a:t>Integrando la ecuación (de r a R y de v a 0) se obtiene el perfil de velocidades </a:t>
            </a:r>
            <a:r>
              <a:rPr lang="es-ES_tradnl" sz="1700" dirty="0">
                <a:solidFill>
                  <a:schemeClr val="tx1"/>
                </a:solidFill>
              </a:rPr>
              <a:t>en función de la distancia radial,  al eje del tubo.</a:t>
            </a:r>
          </a:p>
          <a:p>
            <a:pPr algn="just" fontAlgn="auto">
              <a:lnSpc>
                <a:spcPct val="90000"/>
              </a:lnSpc>
              <a:spcAft>
                <a:spcPts val="0"/>
              </a:spcAft>
              <a:defRPr/>
            </a:pPr>
            <a:endParaRPr lang="es-ES_tradnl" dirty="0">
              <a:solidFill>
                <a:schemeClr val="tx1">
                  <a:lumMod val="50000"/>
                  <a:lumOff val="50000"/>
                </a:schemeClr>
              </a:solidFill>
            </a:endParaRPr>
          </a:p>
          <a:p>
            <a:pPr algn="just" fontAlgn="auto">
              <a:lnSpc>
                <a:spcPct val="90000"/>
              </a:lnSpc>
              <a:spcAft>
                <a:spcPts val="0"/>
              </a:spcAft>
              <a:defRPr/>
            </a:pPr>
            <a:endParaRPr lang="es-ES_tradnl" dirty="0">
              <a:solidFill>
                <a:schemeClr val="tx1">
                  <a:lumMod val="50000"/>
                  <a:lumOff val="50000"/>
                </a:schemeClr>
              </a:solidFill>
            </a:endParaRPr>
          </a:p>
          <a:p>
            <a:pPr algn="just" fontAlgn="auto">
              <a:lnSpc>
                <a:spcPct val="90000"/>
              </a:lnSpc>
              <a:spcAft>
                <a:spcPts val="0"/>
              </a:spcAft>
              <a:defRPr/>
            </a:pPr>
            <a:endParaRPr lang="es-ES_tradnl" dirty="0">
              <a:solidFill>
                <a:schemeClr val="tx1">
                  <a:lumMod val="50000"/>
                  <a:lumOff val="50000"/>
                </a:schemeClr>
              </a:solidFill>
            </a:endParaRPr>
          </a:p>
          <a:p>
            <a:pPr algn="just" fontAlgn="auto">
              <a:lnSpc>
                <a:spcPct val="90000"/>
              </a:lnSpc>
              <a:spcAft>
                <a:spcPts val="0"/>
              </a:spcAft>
              <a:defRPr/>
            </a:pPr>
            <a:endParaRPr lang="es-ES_tradnl" dirty="0">
              <a:solidFill>
                <a:schemeClr val="tx1">
                  <a:lumMod val="50000"/>
                  <a:lumOff val="50000"/>
                </a:schemeClr>
              </a:solidFill>
            </a:endParaRPr>
          </a:p>
          <a:p>
            <a:pPr marL="0" indent="0" algn="just" fontAlgn="auto">
              <a:lnSpc>
                <a:spcPct val="90000"/>
              </a:lnSpc>
              <a:spcAft>
                <a:spcPts val="0"/>
              </a:spcAft>
              <a:buNone/>
              <a:defRPr/>
            </a:pPr>
            <a:r>
              <a:rPr lang="es-ES_tradnl" sz="1700" dirty="0">
                <a:solidFill>
                  <a:schemeClr val="tx1"/>
                </a:solidFill>
              </a:rPr>
              <a:t>Se obtiene:</a:t>
            </a:r>
          </a:p>
          <a:p>
            <a:pPr algn="just" fontAlgn="auto">
              <a:lnSpc>
                <a:spcPct val="90000"/>
              </a:lnSpc>
              <a:spcAft>
                <a:spcPts val="0"/>
              </a:spcAft>
              <a:defRPr/>
            </a:pPr>
            <a:endParaRPr lang="es-ES_tradnl" dirty="0">
              <a:solidFill>
                <a:schemeClr val="tx1">
                  <a:lumMod val="50000"/>
                  <a:lumOff val="50000"/>
                </a:schemeClr>
              </a:solidFill>
            </a:endParaRPr>
          </a:p>
          <a:p>
            <a:pPr algn="just" fontAlgn="auto">
              <a:lnSpc>
                <a:spcPct val="90000"/>
              </a:lnSpc>
              <a:spcAft>
                <a:spcPts val="0"/>
              </a:spcAft>
              <a:defRPr/>
            </a:pPr>
            <a:endParaRPr lang="es-ES_tradnl" dirty="0">
              <a:solidFill>
                <a:schemeClr val="tx1">
                  <a:lumMod val="50000"/>
                  <a:lumOff val="50000"/>
                </a:schemeClr>
              </a:solidFill>
            </a:endParaRPr>
          </a:p>
          <a:p>
            <a:pPr algn="just" fontAlgn="auto">
              <a:lnSpc>
                <a:spcPct val="90000"/>
              </a:lnSpc>
              <a:spcAft>
                <a:spcPts val="0"/>
              </a:spcAft>
              <a:defRPr/>
            </a:pPr>
            <a:endParaRPr lang="es-ES_tradnl" dirty="0">
              <a:solidFill>
                <a:schemeClr val="tx1">
                  <a:lumMod val="50000"/>
                  <a:lumOff val="50000"/>
                </a:schemeClr>
              </a:solidFill>
            </a:endParaRPr>
          </a:p>
          <a:p>
            <a:pPr algn="just" fontAlgn="auto">
              <a:lnSpc>
                <a:spcPct val="90000"/>
              </a:lnSpc>
              <a:spcAft>
                <a:spcPts val="0"/>
              </a:spcAft>
              <a:defRPr/>
            </a:pPr>
            <a:endParaRPr lang="es-ES_tradnl" dirty="0">
              <a:solidFill>
                <a:schemeClr val="tx1">
                  <a:lumMod val="50000"/>
                  <a:lumOff val="50000"/>
                </a:schemeClr>
              </a:solidFill>
            </a:endParaRPr>
          </a:p>
          <a:p>
            <a:pPr marL="0" indent="0" algn="just" fontAlgn="auto">
              <a:lnSpc>
                <a:spcPct val="90000"/>
              </a:lnSpc>
              <a:spcAft>
                <a:spcPts val="0"/>
              </a:spcAft>
              <a:buNone/>
              <a:defRPr/>
            </a:pPr>
            <a:r>
              <a:rPr lang="es-ES_tradnl" sz="1700" dirty="0">
                <a:solidFill>
                  <a:schemeClr val="tx1"/>
                </a:solidFill>
              </a:rPr>
              <a:t>Esta expresión corresponde a un perfil parabólico para las velocidades, característico del flujo viscoso.</a:t>
            </a:r>
          </a:p>
          <a:p>
            <a:pPr algn="just" fontAlgn="auto">
              <a:lnSpc>
                <a:spcPct val="90000"/>
              </a:lnSpc>
              <a:spcAft>
                <a:spcPts val="0"/>
              </a:spcAft>
              <a:defRPr/>
            </a:pPr>
            <a:endParaRPr lang="es-ES_tradnl" dirty="0">
              <a:solidFill>
                <a:schemeClr val="tx2">
                  <a:lumMod val="50000"/>
                </a:schemeClr>
              </a:solidFill>
              <a:latin typeface="Times New Roman" pitchFamily="18" charset="0"/>
              <a:cs typeface="Times New Roman" pitchFamily="18" charset="0"/>
            </a:endParaRPr>
          </a:p>
        </p:txBody>
      </p:sp>
      <p:sp>
        <p:nvSpPr>
          <p:cNvPr id="20" name="Rectangle 4">
            <a:extLst>
              <a:ext uri="{FF2B5EF4-FFF2-40B4-BE49-F238E27FC236}">
                <a16:creationId xmlns:a16="http://schemas.microsoft.com/office/drawing/2014/main" id="{128BB261-EDCD-4113-A68F-5F10C8A8EB89}"/>
              </a:ext>
            </a:extLst>
          </p:cNvPr>
          <p:cNvSpPr txBox="1">
            <a:spLocks noChangeArrowheads="1"/>
          </p:cNvSpPr>
          <p:nvPr/>
        </p:nvSpPr>
        <p:spPr>
          <a:xfrm>
            <a:off x="5327650" y="980728"/>
            <a:ext cx="4038600" cy="5400675"/>
          </a:xfrm>
          <a:prstGeom prst="rect">
            <a:avLst/>
          </a:prstGeom>
        </p:spPr>
        <p:txBody>
          <a:bodyPr/>
          <a:lstStyle>
            <a:lvl1pPr marL="342900" indent="-34290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1pPr>
            <a:lvl2pPr marL="742950" indent="-28575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2pPr>
            <a:lvl3pPr marL="1143000" indent="-22860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3pPr>
            <a:lvl4pPr marL="1600200" indent="-22860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4pPr>
            <a:lvl5pPr marL="2057400" indent="-22860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a:p>
            <a:pPr marL="0" indent="0" eaLnBrk="1" fontAlgn="auto" hangingPunct="1">
              <a:spcAft>
                <a:spcPct val="20000"/>
              </a:spcAft>
              <a:buNone/>
              <a:defRPr/>
            </a:pPr>
            <a:endParaRPr lang="es-ES_tradnl" sz="1700" dirty="0">
              <a:solidFill>
                <a:schemeClr val="tx1"/>
              </a:solidFill>
              <a:ea typeface="ＭＳ Ｐゴシック" charset="-128"/>
            </a:endParaRPr>
          </a:p>
          <a:p>
            <a:pPr marL="0" indent="0" eaLnBrk="1" fontAlgn="auto" hangingPunct="1">
              <a:spcAft>
                <a:spcPct val="20000"/>
              </a:spcAft>
              <a:buNone/>
              <a:defRPr/>
            </a:pPr>
            <a:endParaRPr lang="es-ES_tradnl" sz="1700" dirty="0">
              <a:solidFill>
                <a:schemeClr val="tx1"/>
              </a:solidFill>
              <a:ea typeface="ＭＳ Ｐゴシック" charset="-128"/>
            </a:endParaRPr>
          </a:p>
          <a:p>
            <a:pPr marL="0" indent="0" eaLnBrk="1" fontAlgn="auto" hangingPunct="1">
              <a:spcAft>
                <a:spcPct val="20000"/>
              </a:spcAft>
              <a:buNone/>
              <a:defRPr/>
            </a:pPr>
            <a:r>
              <a:rPr lang="es-ES_tradnl" sz="1700" dirty="0">
                <a:solidFill>
                  <a:schemeClr val="tx1"/>
                </a:solidFill>
                <a:ea typeface="ＭＳ Ｐゴシック" charset="-128"/>
              </a:rPr>
              <a:t>La velocidad máxima  en el centro del tubo (r=0).</a:t>
            </a:r>
          </a:p>
          <a:p>
            <a:pPr marL="0" indent="0" algn="just" eaLnBrk="1" fontAlgn="auto" hangingPunct="1">
              <a:spcAft>
                <a:spcPct val="20000"/>
              </a:spcAft>
              <a:buNone/>
              <a:defRPr/>
            </a:pPr>
            <a:r>
              <a:rPr lang="es-ES_tradnl" sz="1700" dirty="0">
                <a:solidFill>
                  <a:schemeClr val="tx1"/>
                </a:solidFill>
                <a:ea typeface="ＭＳ Ｐゴシック" charset="-128"/>
              </a:rPr>
              <a:t>La velocidad mínima se da en los bordes del tubo (r=R).</a:t>
            </a:r>
          </a:p>
          <a:p>
            <a:pPr eaLnBrk="1" fontAlgn="auto" hangingPunct="1">
              <a:spcAft>
                <a:spcPct val="20000"/>
              </a:spcAft>
              <a:defRPr/>
            </a:pPr>
            <a:endParaRPr lang="es-ES_tradnl" dirty="0">
              <a:solidFill>
                <a:schemeClr val="tx2">
                  <a:lumMod val="50000"/>
                </a:schemeClr>
              </a:solidFill>
              <a:latin typeface="Times New Roman" pitchFamily="18" charset="0"/>
              <a:cs typeface="Times New Roman" pitchFamily="18" charset="0"/>
            </a:endParaRPr>
          </a:p>
        </p:txBody>
      </p:sp>
      <p:graphicFrame>
        <p:nvGraphicFramePr>
          <p:cNvPr id="21" name="Object 24">
            <a:extLst>
              <a:ext uri="{FF2B5EF4-FFF2-40B4-BE49-F238E27FC236}">
                <a16:creationId xmlns:a16="http://schemas.microsoft.com/office/drawing/2014/main" id="{CE324EA0-86A7-48A1-A07A-C0ED97D1C982}"/>
              </a:ext>
            </a:extLst>
          </p:cNvPr>
          <p:cNvGraphicFramePr>
            <a:graphicFrameLocks noChangeAspect="1"/>
          </p:cNvGraphicFramePr>
          <p:nvPr>
            <p:extLst>
              <p:ext uri="{D42A27DB-BD31-4B8C-83A1-F6EECF244321}">
                <p14:modId xmlns:p14="http://schemas.microsoft.com/office/powerpoint/2010/main" val="2242574221"/>
              </p:ext>
            </p:extLst>
          </p:nvPr>
        </p:nvGraphicFramePr>
        <p:xfrm>
          <a:off x="1250950" y="3032125"/>
          <a:ext cx="2309813" cy="793750"/>
        </p:xfrm>
        <a:graphic>
          <a:graphicData uri="http://schemas.openxmlformats.org/presentationml/2006/ole">
            <mc:AlternateContent xmlns:mc="http://schemas.openxmlformats.org/markup-compatibility/2006">
              <mc:Choice xmlns:v="urn:schemas-microsoft-com:vml" Requires="v">
                <p:oleObj spid="_x0000_s8200" name="Equation" r:id="rId3" imgW="1333500" imgH="457200" progId="Equation.DSMT4">
                  <p:embed/>
                </p:oleObj>
              </mc:Choice>
              <mc:Fallback>
                <p:oleObj name="Equation" r:id="rId3" imgW="1333500" imgH="457200" progId="Equation.DSMT4">
                  <p:embed/>
                  <p:pic>
                    <p:nvPicPr>
                      <p:cNvPr id="6"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0950" y="3032125"/>
                        <a:ext cx="2309813" cy="793750"/>
                      </a:xfrm>
                      <a:prstGeom prst="rect">
                        <a:avLst/>
                      </a:prstGeom>
                      <a:solidFill>
                        <a:schemeClr val="tx2">
                          <a:lumMod val="60000"/>
                          <a:lumOff val="40000"/>
                        </a:schemeClr>
                      </a:solidFill>
                      <a:ln>
                        <a:noFill/>
                      </a:ln>
                    </p:spPr>
                  </p:pic>
                </p:oleObj>
              </mc:Fallback>
            </mc:AlternateContent>
          </a:graphicData>
        </a:graphic>
      </p:graphicFrame>
      <p:graphicFrame>
        <p:nvGraphicFramePr>
          <p:cNvPr id="22" name="Object 25">
            <a:extLst>
              <a:ext uri="{FF2B5EF4-FFF2-40B4-BE49-F238E27FC236}">
                <a16:creationId xmlns:a16="http://schemas.microsoft.com/office/drawing/2014/main" id="{C2DBB423-6CD6-4C06-9284-643D65BD0A4C}"/>
              </a:ext>
            </a:extLst>
          </p:cNvPr>
          <p:cNvGraphicFramePr>
            <a:graphicFrameLocks noChangeAspect="1"/>
          </p:cNvGraphicFramePr>
          <p:nvPr>
            <p:extLst>
              <p:ext uri="{D42A27DB-BD31-4B8C-83A1-F6EECF244321}">
                <p14:modId xmlns:p14="http://schemas.microsoft.com/office/powerpoint/2010/main" val="1673828079"/>
              </p:ext>
            </p:extLst>
          </p:nvPr>
        </p:nvGraphicFramePr>
        <p:xfrm>
          <a:off x="1151744" y="4411935"/>
          <a:ext cx="2506662" cy="752475"/>
        </p:xfrm>
        <a:graphic>
          <a:graphicData uri="http://schemas.openxmlformats.org/presentationml/2006/ole">
            <mc:AlternateContent xmlns:mc="http://schemas.openxmlformats.org/markup-compatibility/2006">
              <mc:Choice xmlns:v="urn:schemas-microsoft-com:vml" Requires="v">
                <p:oleObj spid="_x0000_s8201" name="Equation" r:id="rId5" imgW="1397000" imgH="419100" progId="Equation.DSMT4">
                  <p:embed/>
                </p:oleObj>
              </mc:Choice>
              <mc:Fallback>
                <p:oleObj name="Equation" r:id="rId5" imgW="1397000" imgH="419100" progId="Equation.DSMT4">
                  <p:embed/>
                  <p:pic>
                    <p:nvPicPr>
                      <p:cNvPr id="7"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1744" y="4411935"/>
                        <a:ext cx="2506662" cy="752475"/>
                      </a:xfrm>
                      <a:prstGeom prst="rect">
                        <a:avLst/>
                      </a:prstGeom>
                      <a:solidFill>
                        <a:schemeClr val="tx2">
                          <a:lumMod val="60000"/>
                          <a:lumOff val="40000"/>
                        </a:schemeClr>
                      </a:solidFill>
                      <a:ln>
                        <a:noFill/>
                      </a:ln>
                    </p:spPr>
                  </p:pic>
                </p:oleObj>
              </mc:Fallback>
            </mc:AlternateContent>
          </a:graphicData>
        </a:graphic>
      </p:graphicFrame>
      <p:pic>
        <p:nvPicPr>
          <p:cNvPr id="23" name="Picture 27" descr="MA154_S4_IMG_2">
            <a:extLst>
              <a:ext uri="{FF2B5EF4-FFF2-40B4-BE49-F238E27FC236}">
                <a16:creationId xmlns:a16="http://schemas.microsoft.com/office/drawing/2014/main" id="{DB048309-A6D9-45FE-864F-ADF2110866F9}"/>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6100763" y="1785334"/>
            <a:ext cx="2554287"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77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blinds(horizontal)">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8">
                                            <p:txEl>
                                              <p:pRg st="10" end="1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blinds(horizontal)">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784648" y="954706"/>
            <a:ext cx="4032448" cy="53007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LEY DE POISEVILLE: CAUDAL</a:t>
            </a:r>
          </a:p>
        </p:txBody>
      </p:sp>
      <p:sp>
        <p:nvSpPr>
          <p:cNvPr id="13" name="Rectangle 3">
            <a:extLst>
              <a:ext uri="{FF2B5EF4-FFF2-40B4-BE49-F238E27FC236}">
                <a16:creationId xmlns:a16="http://schemas.microsoft.com/office/drawing/2014/main" id="{6D285A7F-D0EA-4B91-8D73-E94E4E3075AE}"/>
              </a:ext>
            </a:extLst>
          </p:cNvPr>
          <p:cNvSpPr txBox="1">
            <a:spLocks noChangeArrowheads="1"/>
          </p:cNvSpPr>
          <p:nvPr/>
        </p:nvSpPr>
        <p:spPr>
          <a:xfrm>
            <a:off x="456605" y="1366875"/>
            <a:ext cx="4076700" cy="5400675"/>
          </a:xfrm>
          <a:prstGeom prst="rect">
            <a:avLst/>
          </a:prstGeom>
        </p:spPr>
        <p:txBody>
          <a:bodyPr rtlCol="0"/>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fontAlgn="auto">
              <a:spcAft>
                <a:spcPts val="0"/>
              </a:spcAft>
              <a:defRPr/>
            </a:pPr>
            <a:endParaRPr lang="es-PE" dirty="0">
              <a:solidFill>
                <a:schemeClr val="tx1">
                  <a:lumMod val="50000"/>
                  <a:lumOff val="50000"/>
                </a:schemeClr>
              </a:solidFill>
            </a:endParaRPr>
          </a:p>
          <a:p>
            <a:pPr algn="just" fontAlgn="auto">
              <a:spcAft>
                <a:spcPts val="0"/>
              </a:spcAft>
              <a:defRPr/>
            </a:pPr>
            <a:endParaRPr lang="es-PE" dirty="0">
              <a:solidFill>
                <a:schemeClr val="tx1">
                  <a:lumMod val="50000"/>
                  <a:lumOff val="50000"/>
                </a:schemeClr>
              </a:solidFill>
            </a:endParaRPr>
          </a:p>
          <a:p>
            <a:pPr marL="0" indent="0" algn="just" fontAlgn="auto">
              <a:spcAft>
                <a:spcPts val="0"/>
              </a:spcAft>
              <a:buNone/>
              <a:defRPr/>
            </a:pPr>
            <a:r>
              <a:rPr lang="es-PE" sz="1800" dirty="0">
                <a:solidFill>
                  <a:schemeClr val="tx1"/>
                </a:solidFill>
              </a:rPr>
              <a:t>El caudal de fluido </a:t>
            </a:r>
            <a:r>
              <a:rPr lang="es-PE" sz="1800" dirty="0" err="1">
                <a:solidFill>
                  <a:schemeClr val="tx1"/>
                </a:solidFill>
              </a:rPr>
              <a:t>dQ</a:t>
            </a:r>
            <a:r>
              <a:rPr lang="es-PE" sz="1800" dirty="0">
                <a:solidFill>
                  <a:schemeClr val="tx1"/>
                </a:solidFill>
              </a:rPr>
              <a:t> que circula por el anillo de radio r y espesor </a:t>
            </a:r>
            <a:r>
              <a:rPr lang="es-PE" sz="1800" dirty="0" err="1">
                <a:solidFill>
                  <a:schemeClr val="tx1"/>
                </a:solidFill>
              </a:rPr>
              <a:t>dr</a:t>
            </a:r>
            <a:r>
              <a:rPr lang="es-PE" sz="1800" dirty="0">
                <a:solidFill>
                  <a:schemeClr val="tx1"/>
                </a:solidFill>
              </a:rPr>
              <a:t> es:</a:t>
            </a:r>
          </a:p>
          <a:p>
            <a:pPr marL="0" indent="0" algn="just" fontAlgn="auto">
              <a:spcAft>
                <a:spcPts val="0"/>
              </a:spcAft>
              <a:buNone/>
              <a:defRPr/>
            </a:pPr>
            <a:endParaRPr lang="es-PE" dirty="0">
              <a:solidFill>
                <a:schemeClr val="tx1"/>
              </a:solidFill>
            </a:endParaRPr>
          </a:p>
          <a:p>
            <a:pPr algn="just" fontAlgn="auto">
              <a:spcAft>
                <a:spcPts val="0"/>
              </a:spcAft>
              <a:defRPr/>
            </a:pPr>
            <a:endParaRPr lang="es-PE" dirty="0">
              <a:solidFill>
                <a:schemeClr val="tx1">
                  <a:lumMod val="50000"/>
                  <a:lumOff val="50000"/>
                </a:schemeClr>
              </a:solidFill>
            </a:endParaRPr>
          </a:p>
          <a:p>
            <a:pPr marL="0" indent="0" algn="just" fontAlgn="auto">
              <a:spcAft>
                <a:spcPts val="0"/>
              </a:spcAft>
              <a:buNone/>
              <a:defRPr/>
            </a:pPr>
            <a:r>
              <a:rPr lang="es-PE" sz="1800" dirty="0">
                <a:solidFill>
                  <a:schemeClr val="tx1"/>
                </a:solidFill>
              </a:rPr>
              <a:t>El caudal total se obtiene tomando en cuenta la expresión para la velocidad  </a:t>
            </a:r>
          </a:p>
          <a:p>
            <a:pPr algn="just" fontAlgn="auto">
              <a:spcAft>
                <a:spcPts val="0"/>
              </a:spcAft>
              <a:defRPr/>
            </a:pPr>
            <a:endParaRPr lang="es-PE" sz="2300" dirty="0">
              <a:solidFill>
                <a:schemeClr val="tx2">
                  <a:lumMod val="50000"/>
                </a:schemeClr>
              </a:solidFill>
              <a:latin typeface="Times New Roman" pitchFamily="18" charset="0"/>
              <a:cs typeface="Times New Roman" pitchFamily="18" charset="0"/>
            </a:endParaRPr>
          </a:p>
        </p:txBody>
      </p:sp>
      <p:sp>
        <p:nvSpPr>
          <p:cNvPr id="15" name="Rectangle 4">
            <a:extLst>
              <a:ext uri="{FF2B5EF4-FFF2-40B4-BE49-F238E27FC236}">
                <a16:creationId xmlns:a16="http://schemas.microsoft.com/office/drawing/2014/main" id="{0916E38B-40BD-47DF-891B-1AC5D554F740}"/>
              </a:ext>
            </a:extLst>
          </p:cNvPr>
          <p:cNvSpPr txBox="1">
            <a:spLocks noChangeArrowheads="1"/>
          </p:cNvSpPr>
          <p:nvPr/>
        </p:nvSpPr>
        <p:spPr>
          <a:xfrm>
            <a:off x="5037733" y="1080616"/>
            <a:ext cx="4038600" cy="5400675"/>
          </a:xfrm>
          <a:prstGeom prst="rect">
            <a:avLst/>
          </a:prstGeom>
        </p:spPr>
        <p:txBody>
          <a:bodyPr/>
          <a:lstStyle>
            <a:lvl1pPr marL="342900" indent="-34290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1pPr>
            <a:lvl2pPr marL="742950" indent="-28575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2pPr>
            <a:lvl3pPr marL="1143000" indent="-22860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3pPr>
            <a:lvl4pPr marL="1600200" indent="-22860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4pPr>
            <a:lvl5pPr marL="2057400" indent="-228600" algn="l" defTabSz="457200" rtl="0" eaLnBrk="0" fontAlgn="base" hangingPunct="0">
              <a:spcBef>
                <a:spcPct val="20000"/>
              </a:spcBef>
              <a:spcAft>
                <a:spcPct val="0"/>
              </a:spcAft>
              <a:buClr>
                <a:srgbClr val="EFA82F"/>
              </a:buClr>
              <a:buFont typeface="Arial" charset="0"/>
              <a:buChar char="•"/>
              <a:defRPr sz="1600" kern="1200">
                <a:solidFill>
                  <a:srgbClr val="676767"/>
                </a:solidFill>
                <a:latin typeface="Arial"/>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algn="just" eaLnBrk="1" fontAlgn="auto" hangingPunct="1">
              <a:spcAft>
                <a:spcPts val="0"/>
              </a:spcAft>
              <a:defRPr/>
            </a:pPr>
            <a:endParaRPr lang="es-ES_tradnl" sz="2300" dirty="0">
              <a:solidFill>
                <a:schemeClr val="tx2">
                  <a:lumMod val="50000"/>
                </a:schemeClr>
              </a:solidFill>
              <a:latin typeface="Times New Roman" pitchFamily="18" charset="0"/>
              <a:cs typeface="Times New Roman" pitchFamily="18" charset="0"/>
            </a:endParaRPr>
          </a:p>
          <a:p>
            <a:pPr marL="0" indent="0" algn="just" eaLnBrk="1" fontAlgn="auto" hangingPunct="1">
              <a:spcAft>
                <a:spcPts val="0"/>
              </a:spcAft>
              <a:buNone/>
              <a:defRPr/>
            </a:pPr>
            <a:r>
              <a:rPr lang="es-ES_tradnl" sz="2000" dirty="0">
                <a:solidFill>
                  <a:schemeClr val="tx1"/>
                </a:solidFill>
                <a:ea typeface="ＭＳ Ｐゴシック" charset="-128"/>
              </a:rPr>
              <a:t>Esta ley relaciona la diferencia de presiones ∆P con el caudal.</a:t>
            </a:r>
          </a:p>
        </p:txBody>
      </p:sp>
      <p:graphicFrame>
        <p:nvGraphicFramePr>
          <p:cNvPr id="16" name="Object 8">
            <a:extLst>
              <a:ext uri="{FF2B5EF4-FFF2-40B4-BE49-F238E27FC236}">
                <a16:creationId xmlns:a16="http://schemas.microsoft.com/office/drawing/2014/main" id="{18708E5F-A929-41DD-A79C-09ED52478E0D}"/>
              </a:ext>
            </a:extLst>
          </p:cNvPr>
          <p:cNvGraphicFramePr>
            <a:graphicFrameLocks noChangeAspect="1"/>
          </p:cNvGraphicFramePr>
          <p:nvPr/>
        </p:nvGraphicFramePr>
        <p:xfrm>
          <a:off x="3219450" y="2238375"/>
          <a:ext cx="241300" cy="52388"/>
        </p:xfrm>
        <a:graphic>
          <a:graphicData uri="http://schemas.openxmlformats.org/presentationml/2006/ole">
            <mc:AlternateContent xmlns:mc="http://schemas.openxmlformats.org/markup-compatibility/2006">
              <mc:Choice xmlns:v="urn:schemas-microsoft-com:vml" Requires="v">
                <p:oleObj spid="_x0000_s9228" name="Equation" r:id="rId3" imgW="114102" imgH="177492" progId="Equation.DSMT4">
                  <p:embed/>
                </p:oleObj>
              </mc:Choice>
              <mc:Fallback>
                <p:oleObj name="Equation" r:id="rId3" imgW="114102" imgH="177492" progId="Equation.DSMT4">
                  <p:embed/>
                  <p:pic>
                    <p:nvPicPr>
                      <p:cNvPr id="2355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9450" y="2238375"/>
                        <a:ext cx="241300" cy="52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9">
            <a:extLst>
              <a:ext uri="{FF2B5EF4-FFF2-40B4-BE49-F238E27FC236}">
                <a16:creationId xmlns:a16="http://schemas.microsoft.com/office/drawing/2014/main" id="{EE67511F-9233-4881-A533-23C6C5076BB3}"/>
              </a:ext>
            </a:extLst>
          </p:cNvPr>
          <p:cNvGraphicFramePr>
            <a:graphicFrameLocks noChangeAspect="1"/>
          </p:cNvGraphicFramePr>
          <p:nvPr>
            <p:extLst>
              <p:ext uri="{D42A27DB-BD31-4B8C-83A1-F6EECF244321}">
                <p14:modId xmlns:p14="http://schemas.microsoft.com/office/powerpoint/2010/main" val="3199734932"/>
              </p:ext>
            </p:extLst>
          </p:nvPr>
        </p:nvGraphicFramePr>
        <p:xfrm>
          <a:off x="1117600" y="2724744"/>
          <a:ext cx="2894013" cy="409575"/>
        </p:xfrm>
        <a:graphic>
          <a:graphicData uri="http://schemas.openxmlformats.org/presentationml/2006/ole">
            <mc:AlternateContent xmlns:mc="http://schemas.openxmlformats.org/markup-compatibility/2006">
              <mc:Choice xmlns:v="urn:schemas-microsoft-com:vml" Requires="v">
                <p:oleObj spid="_x0000_s9229" name="Equation" r:id="rId5" imgW="1625600" imgH="203200" progId="Equation.DSMT4">
                  <p:embed/>
                </p:oleObj>
              </mc:Choice>
              <mc:Fallback>
                <p:oleObj name="Equation" r:id="rId5" imgW="1625600" imgH="203200" progId="Equation.DSMT4">
                  <p:embed/>
                  <p:pic>
                    <p:nvPicPr>
                      <p:cNvPr id="7"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7600" y="2724744"/>
                        <a:ext cx="2894013"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0">
            <a:extLst>
              <a:ext uri="{FF2B5EF4-FFF2-40B4-BE49-F238E27FC236}">
                <a16:creationId xmlns:a16="http://schemas.microsoft.com/office/drawing/2014/main" id="{B1D2621C-01FD-40F6-8C96-6AD1260563E7}"/>
              </a:ext>
            </a:extLst>
          </p:cNvPr>
          <p:cNvGraphicFramePr>
            <a:graphicFrameLocks noChangeAspect="1"/>
          </p:cNvGraphicFramePr>
          <p:nvPr>
            <p:extLst>
              <p:ext uri="{D42A27DB-BD31-4B8C-83A1-F6EECF244321}">
                <p14:modId xmlns:p14="http://schemas.microsoft.com/office/powerpoint/2010/main" val="34192314"/>
              </p:ext>
            </p:extLst>
          </p:nvPr>
        </p:nvGraphicFramePr>
        <p:xfrm>
          <a:off x="1268615" y="3940891"/>
          <a:ext cx="2614612" cy="866775"/>
        </p:xfrm>
        <a:graphic>
          <a:graphicData uri="http://schemas.openxmlformats.org/presentationml/2006/ole">
            <mc:AlternateContent xmlns:mc="http://schemas.openxmlformats.org/markup-compatibility/2006">
              <mc:Choice xmlns:v="urn:schemas-microsoft-com:vml" Requires="v">
                <p:oleObj spid="_x0000_s9230" name="Equation" r:id="rId7" imgW="1333500" imgH="352335" progId="Equation.DSMT4">
                  <p:embed/>
                </p:oleObj>
              </mc:Choice>
              <mc:Fallback>
                <p:oleObj name="Equation" r:id="rId7" imgW="1333500" imgH="352335" progId="Equation.DSMT4">
                  <p:embed/>
                  <p:pic>
                    <p:nvPicPr>
                      <p:cNvPr id="8"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8615" y="3940891"/>
                        <a:ext cx="2614612" cy="866775"/>
                      </a:xfrm>
                      <a:prstGeom prst="rect">
                        <a:avLst/>
                      </a:prstGeom>
                      <a:noFill/>
                      <a:ln>
                        <a:noFill/>
                      </a:ln>
                      <a:effectLst/>
                    </p:spPr>
                  </p:pic>
                </p:oleObj>
              </mc:Fallback>
            </mc:AlternateContent>
          </a:graphicData>
        </a:graphic>
      </p:graphicFrame>
      <p:graphicFrame>
        <p:nvGraphicFramePr>
          <p:cNvPr id="19" name="Object 11">
            <a:extLst>
              <a:ext uri="{FF2B5EF4-FFF2-40B4-BE49-F238E27FC236}">
                <a16:creationId xmlns:a16="http://schemas.microsoft.com/office/drawing/2014/main" id="{E6703DE5-29C4-41C6-9D9D-3CE9BD37ADCD}"/>
              </a:ext>
            </a:extLst>
          </p:cNvPr>
          <p:cNvGraphicFramePr>
            <a:graphicFrameLocks noChangeAspect="1"/>
          </p:cNvGraphicFramePr>
          <p:nvPr>
            <p:extLst>
              <p:ext uri="{D42A27DB-BD31-4B8C-83A1-F6EECF244321}">
                <p14:modId xmlns:p14="http://schemas.microsoft.com/office/powerpoint/2010/main" val="1817050009"/>
              </p:ext>
            </p:extLst>
          </p:nvPr>
        </p:nvGraphicFramePr>
        <p:xfrm>
          <a:off x="562174" y="5036519"/>
          <a:ext cx="3865562" cy="866775"/>
        </p:xfrm>
        <a:graphic>
          <a:graphicData uri="http://schemas.openxmlformats.org/presentationml/2006/ole">
            <mc:AlternateContent xmlns:mc="http://schemas.openxmlformats.org/markup-compatibility/2006">
              <mc:Choice xmlns:v="urn:schemas-microsoft-com:vml" Requires="v">
                <p:oleObj spid="_x0000_s9231" name="Equation" r:id="rId9" imgW="2159000" imgH="482600" progId="Equation.DSMT4">
                  <p:embed/>
                </p:oleObj>
              </mc:Choice>
              <mc:Fallback>
                <p:oleObj name="Equation" r:id="rId9" imgW="2159000" imgH="482600" progId="Equation.DSMT4">
                  <p:embed/>
                  <p:pic>
                    <p:nvPicPr>
                      <p:cNvPr id="9"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2174" y="5036519"/>
                        <a:ext cx="3865562" cy="866775"/>
                      </a:xfrm>
                      <a:prstGeom prst="rect">
                        <a:avLst/>
                      </a:prstGeom>
                      <a:solidFill>
                        <a:schemeClr val="tx2">
                          <a:lumMod val="60000"/>
                          <a:lumOff val="40000"/>
                        </a:schemeClr>
                      </a:solidFill>
                      <a:ln>
                        <a:noFill/>
                      </a:ln>
                    </p:spPr>
                  </p:pic>
                </p:oleObj>
              </mc:Fallback>
            </mc:AlternateContent>
          </a:graphicData>
        </a:graphic>
      </p:graphicFrame>
      <p:graphicFrame>
        <p:nvGraphicFramePr>
          <p:cNvPr id="20" name="Object 12">
            <a:extLst>
              <a:ext uri="{FF2B5EF4-FFF2-40B4-BE49-F238E27FC236}">
                <a16:creationId xmlns:a16="http://schemas.microsoft.com/office/drawing/2014/main" id="{77BBBF95-2B59-407A-9651-A8AF9154C001}"/>
              </a:ext>
            </a:extLst>
          </p:cNvPr>
          <p:cNvGraphicFramePr>
            <a:graphicFrameLocks noChangeAspect="1"/>
          </p:cNvGraphicFramePr>
          <p:nvPr>
            <p:extLst>
              <p:ext uri="{D42A27DB-BD31-4B8C-83A1-F6EECF244321}">
                <p14:modId xmlns:p14="http://schemas.microsoft.com/office/powerpoint/2010/main" val="2932590759"/>
              </p:ext>
            </p:extLst>
          </p:nvPr>
        </p:nvGraphicFramePr>
        <p:xfrm>
          <a:off x="5722633" y="3780954"/>
          <a:ext cx="2375805" cy="1206445"/>
        </p:xfrm>
        <a:graphic>
          <a:graphicData uri="http://schemas.openxmlformats.org/presentationml/2006/ole">
            <mc:AlternateContent xmlns:mc="http://schemas.openxmlformats.org/markup-compatibility/2006">
              <mc:Choice xmlns:v="urn:schemas-microsoft-com:vml" Requires="v">
                <p:oleObj spid="_x0000_s9232" name="Equation" r:id="rId11" imgW="901700" imgH="457200" progId="Equation.DSMT4">
                  <p:embed/>
                </p:oleObj>
              </mc:Choice>
              <mc:Fallback>
                <p:oleObj name="Equation" r:id="rId11" imgW="901700" imgH="457200" progId="Equation.DSMT4">
                  <p:embed/>
                  <p:pic>
                    <p:nvPicPr>
                      <p:cNvPr id="1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22633" y="3780954"/>
                        <a:ext cx="2375805" cy="1206445"/>
                      </a:xfrm>
                      <a:prstGeom prst="rect">
                        <a:avLst/>
                      </a:prstGeom>
                      <a:solidFill>
                        <a:schemeClr val="tx2">
                          <a:lumMod val="60000"/>
                          <a:lumOff val="40000"/>
                        </a:schemeClr>
                      </a:solidFill>
                      <a:ln>
                        <a:noFill/>
                      </a:ln>
                    </p:spPr>
                  </p:pic>
                </p:oleObj>
              </mc:Fallback>
            </mc:AlternateContent>
          </a:graphicData>
        </a:graphic>
      </p:graphicFrame>
      <p:grpSp>
        <p:nvGrpSpPr>
          <p:cNvPr id="21" name="Group 25">
            <a:extLst>
              <a:ext uri="{FF2B5EF4-FFF2-40B4-BE49-F238E27FC236}">
                <a16:creationId xmlns:a16="http://schemas.microsoft.com/office/drawing/2014/main" id="{7EA4C87C-C35B-41EC-A32F-1A7FE0497FDA}"/>
              </a:ext>
            </a:extLst>
          </p:cNvPr>
          <p:cNvGrpSpPr>
            <a:grpSpLocks/>
          </p:cNvGrpSpPr>
          <p:nvPr/>
        </p:nvGrpSpPr>
        <p:grpSpPr bwMode="auto">
          <a:xfrm>
            <a:off x="4932363" y="1338263"/>
            <a:ext cx="3744912" cy="2228850"/>
            <a:chOff x="3151" y="799"/>
            <a:chExt cx="2359" cy="1404"/>
          </a:xfrm>
        </p:grpSpPr>
        <p:sp>
          <p:nvSpPr>
            <p:cNvPr id="22" name="AutoShape 18">
              <a:extLst>
                <a:ext uri="{FF2B5EF4-FFF2-40B4-BE49-F238E27FC236}">
                  <a16:creationId xmlns:a16="http://schemas.microsoft.com/office/drawing/2014/main" id="{B0DBFA3C-DDA2-413E-90FB-D256EB9C0BB0}"/>
                </a:ext>
              </a:extLst>
            </p:cNvPr>
            <p:cNvSpPr>
              <a:spLocks noChangeArrowheads="1"/>
            </p:cNvSpPr>
            <p:nvPr/>
          </p:nvSpPr>
          <p:spPr bwMode="auto">
            <a:xfrm rot="5398973">
              <a:off x="3742" y="435"/>
              <a:ext cx="1177" cy="2359"/>
            </a:xfrm>
            <a:prstGeom prst="can">
              <a:avLst>
                <a:gd name="adj" fmla="val 42562"/>
              </a:avLst>
            </a:prstGeom>
            <a:solidFill>
              <a:schemeClr val="bg1">
                <a:alpha val="61176"/>
              </a:schemeClr>
            </a:solidFill>
            <a:ln w="9525">
              <a:solidFill>
                <a:srgbClr val="000000">
                  <a:alpha val="58038"/>
                </a:srgbClr>
              </a:solidFill>
              <a:prstDash val="lgDash"/>
              <a:miter lim="800000"/>
              <a:headEnd/>
              <a:tailEnd/>
            </a:ln>
          </p:spPr>
          <p:txBody>
            <a:bodyPr wrap="none" anchor="ctr"/>
            <a:lstStyle/>
            <a:p>
              <a:endParaRPr lang="es-MX">
                <a:latin typeface="Times New Roman" pitchFamily="18" charset="0"/>
                <a:cs typeface="Times New Roman" pitchFamily="18" charset="0"/>
              </a:endParaRPr>
            </a:p>
          </p:txBody>
        </p:sp>
        <p:sp>
          <p:nvSpPr>
            <p:cNvPr id="23" name="AutoShape 14">
              <a:extLst>
                <a:ext uri="{FF2B5EF4-FFF2-40B4-BE49-F238E27FC236}">
                  <a16:creationId xmlns:a16="http://schemas.microsoft.com/office/drawing/2014/main" id="{238B8DB1-F329-4735-9812-6715190EBC1B}"/>
                </a:ext>
              </a:extLst>
            </p:cNvPr>
            <p:cNvSpPr>
              <a:spLocks noChangeArrowheads="1"/>
            </p:cNvSpPr>
            <p:nvPr/>
          </p:nvSpPr>
          <p:spPr bwMode="auto">
            <a:xfrm rot="5398973">
              <a:off x="3904" y="519"/>
              <a:ext cx="828" cy="2202"/>
            </a:xfrm>
            <a:prstGeom prst="can">
              <a:avLst>
                <a:gd name="adj" fmla="val 35385"/>
              </a:avLst>
            </a:prstGeom>
            <a:solidFill>
              <a:srgbClr val="0066FF">
                <a:alpha val="61176"/>
              </a:srgbClr>
            </a:solidFill>
            <a:ln w="9525">
              <a:solidFill>
                <a:srgbClr val="000000">
                  <a:alpha val="58038"/>
                </a:srgbClr>
              </a:solidFill>
              <a:prstDash val="lgDash"/>
              <a:miter lim="800000"/>
              <a:headEnd/>
              <a:tailEnd/>
            </a:ln>
          </p:spPr>
          <p:txBody>
            <a:bodyPr wrap="none" anchor="ctr"/>
            <a:lstStyle/>
            <a:p>
              <a:endParaRPr lang="es-MX">
                <a:latin typeface="Times New Roman" pitchFamily="18" charset="0"/>
                <a:cs typeface="Times New Roman" pitchFamily="18" charset="0"/>
              </a:endParaRPr>
            </a:p>
          </p:txBody>
        </p:sp>
        <p:sp>
          <p:nvSpPr>
            <p:cNvPr id="24" name="AutoShape 15">
              <a:extLst>
                <a:ext uri="{FF2B5EF4-FFF2-40B4-BE49-F238E27FC236}">
                  <a16:creationId xmlns:a16="http://schemas.microsoft.com/office/drawing/2014/main" id="{86968ADA-7636-4B3E-882D-192DBF285E85}"/>
                </a:ext>
              </a:extLst>
            </p:cNvPr>
            <p:cNvSpPr>
              <a:spLocks noChangeArrowheads="1"/>
            </p:cNvSpPr>
            <p:nvPr/>
          </p:nvSpPr>
          <p:spPr bwMode="auto">
            <a:xfrm rot="5398973">
              <a:off x="4097" y="576"/>
              <a:ext cx="465" cy="2088"/>
            </a:xfrm>
            <a:prstGeom prst="can">
              <a:avLst>
                <a:gd name="adj" fmla="val 35361"/>
              </a:avLst>
            </a:prstGeom>
            <a:solidFill>
              <a:srgbClr val="FFFF00">
                <a:alpha val="61176"/>
              </a:srgbClr>
            </a:solidFill>
            <a:ln w="9525">
              <a:solidFill>
                <a:srgbClr val="000000">
                  <a:alpha val="58038"/>
                </a:srgbClr>
              </a:solidFill>
              <a:prstDash val="lgDash"/>
              <a:miter lim="800000"/>
              <a:headEnd/>
              <a:tailEnd/>
            </a:ln>
          </p:spPr>
          <p:txBody>
            <a:bodyPr wrap="none" anchor="ctr"/>
            <a:lstStyle/>
            <a:p>
              <a:endParaRPr lang="es-MX">
                <a:latin typeface="Times New Roman" pitchFamily="18" charset="0"/>
                <a:cs typeface="Times New Roman" pitchFamily="18" charset="0"/>
              </a:endParaRPr>
            </a:p>
          </p:txBody>
        </p:sp>
        <p:sp>
          <p:nvSpPr>
            <p:cNvPr id="25" name="Oval 16">
              <a:extLst>
                <a:ext uri="{FF2B5EF4-FFF2-40B4-BE49-F238E27FC236}">
                  <a16:creationId xmlns:a16="http://schemas.microsoft.com/office/drawing/2014/main" id="{6086540C-5B82-4ED0-B43B-7E308A6C8F8A}"/>
                </a:ext>
              </a:extLst>
            </p:cNvPr>
            <p:cNvSpPr>
              <a:spLocks noChangeArrowheads="1"/>
            </p:cNvSpPr>
            <p:nvPr/>
          </p:nvSpPr>
          <p:spPr bwMode="auto">
            <a:xfrm>
              <a:off x="3288" y="1389"/>
              <a:ext cx="136" cy="454"/>
            </a:xfrm>
            <a:prstGeom prst="ellipse">
              <a:avLst/>
            </a:prstGeom>
            <a:noFill/>
            <a:ln w="9525">
              <a:solidFill>
                <a:schemeClr val="bg2"/>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s-MX">
                <a:latin typeface="Times New Roman" pitchFamily="18" charset="0"/>
                <a:cs typeface="Times New Roman" pitchFamily="18" charset="0"/>
              </a:endParaRPr>
            </a:p>
          </p:txBody>
        </p:sp>
        <p:sp>
          <p:nvSpPr>
            <p:cNvPr id="26" name="Line 19">
              <a:extLst>
                <a:ext uri="{FF2B5EF4-FFF2-40B4-BE49-F238E27FC236}">
                  <a16:creationId xmlns:a16="http://schemas.microsoft.com/office/drawing/2014/main" id="{CFAED0EC-CCE5-4121-B73C-4684391EAE1F}"/>
                </a:ext>
              </a:extLst>
            </p:cNvPr>
            <p:cNvSpPr>
              <a:spLocks noChangeShapeType="1"/>
            </p:cNvSpPr>
            <p:nvPr/>
          </p:nvSpPr>
          <p:spPr bwMode="auto">
            <a:xfrm flipV="1">
              <a:off x="5284" y="1026"/>
              <a:ext cx="0" cy="5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27" name="Line 20">
              <a:extLst>
                <a:ext uri="{FF2B5EF4-FFF2-40B4-BE49-F238E27FC236}">
                  <a16:creationId xmlns:a16="http://schemas.microsoft.com/office/drawing/2014/main" id="{10F201F2-3359-4565-8D05-885074A47830}"/>
                </a:ext>
              </a:extLst>
            </p:cNvPr>
            <p:cNvSpPr>
              <a:spLocks noChangeShapeType="1"/>
            </p:cNvSpPr>
            <p:nvPr/>
          </p:nvSpPr>
          <p:spPr bwMode="auto">
            <a:xfrm flipH="1">
              <a:off x="5239" y="1616"/>
              <a:ext cx="45"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28" name="Line 21">
              <a:extLst>
                <a:ext uri="{FF2B5EF4-FFF2-40B4-BE49-F238E27FC236}">
                  <a16:creationId xmlns:a16="http://schemas.microsoft.com/office/drawing/2014/main" id="{540EE3DE-43F2-4206-8371-6EBBB9EC9494}"/>
                </a:ext>
              </a:extLst>
            </p:cNvPr>
            <p:cNvSpPr>
              <a:spLocks noChangeShapeType="1"/>
            </p:cNvSpPr>
            <p:nvPr/>
          </p:nvSpPr>
          <p:spPr bwMode="auto">
            <a:xfrm flipH="1">
              <a:off x="5148" y="1616"/>
              <a:ext cx="136"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29" name="Text Box 22">
              <a:extLst>
                <a:ext uri="{FF2B5EF4-FFF2-40B4-BE49-F238E27FC236}">
                  <a16:creationId xmlns:a16="http://schemas.microsoft.com/office/drawing/2014/main" id="{6C00F056-02E3-4AE9-9658-86A2429AC9A0}"/>
                </a:ext>
              </a:extLst>
            </p:cNvPr>
            <p:cNvSpPr txBox="1">
              <a:spLocks noChangeArrowheads="1"/>
            </p:cNvSpPr>
            <p:nvPr/>
          </p:nvSpPr>
          <p:spPr bwMode="auto">
            <a:xfrm>
              <a:off x="5161" y="799"/>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defTabSz="4572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defTabSz="4572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defTabSz="4572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defTabSz="4572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r>
                <a:rPr lang="es-ES" sz="2000" i="1">
                  <a:latin typeface="Times New Roman" pitchFamily="18" charset="0"/>
                  <a:cs typeface="Times New Roman" pitchFamily="18" charset="0"/>
                </a:rPr>
                <a:t>R</a:t>
              </a:r>
            </a:p>
          </p:txBody>
        </p:sp>
        <p:sp>
          <p:nvSpPr>
            <p:cNvPr id="30" name="Text Box 23">
              <a:extLst>
                <a:ext uri="{FF2B5EF4-FFF2-40B4-BE49-F238E27FC236}">
                  <a16:creationId xmlns:a16="http://schemas.microsoft.com/office/drawing/2014/main" id="{A36F718C-D2F6-4A98-8B2E-2F93895F7952}"/>
                </a:ext>
              </a:extLst>
            </p:cNvPr>
            <p:cNvSpPr txBox="1">
              <a:spLocks noChangeArrowheads="1"/>
            </p:cNvSpPr>
            <p:nvPr/>
          </p:nvSpPr>
          <p:spPr bwMode="auto">
            <a:xfrm>
              <a:off x="5242" y="1570"/>
              <a:ext cx="1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defTabSz="4572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defTabSz="4572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defTabSz="4572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defTabSz="4572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r>
                <a:rPr lang="es-ES" sz="2000" i="1">
                  <a:latin typeface="Times New Roman" pitchFamily="18" charset="0"/>
                  <a:cs typeface="Times New Roman" pitchFamily="18" charset="0"/>
                </a:rPr>
                <a:t>r</a:t>
              </a:r>
            </a:p>
          </p:txBody>
        </p:sp>
        <p:sp>
          <p:nvSpPr>
            <p:cNvPr id="31" name="Text Box 24">
              <a:extLst>
                <a:ext uri="{FF2B5EF4-FFF2-40B4-BE49-F238E27FC236}">
                  <a16:creationId xmlns:a16="http://schemas.microsoft.com/office/drawing/2014/main" id="{05AE8233-DDA7-409E-95CA-ABB09288E6D0}"/>
                </a:ext>
              </a:extLst>
            </p:cNvPr>
            <p:cNvSpPr txBox="1">
              <a:spLocks noChangeArrowheads="1"/>
            </p:cNvSpPr>
            <p:nvPr/>
          </p:nvSpPr>
          <p:spPr bwMode="auto">
            <a:xfrm>
              <a:off x="4694" y="1570"/>
              <a:ext cx="4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defTabSz="4572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defTabSz="4572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defTabSz="4572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defTabSz="4572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r>
                <a:rPr lang="es-ES" sz="2000" i="1">
                  <a:latin typeface="Times New Roman" pitchFamily="18" charset="0"/>
                  <a:cs typeface="Times New Roman" pitchFamily="18" charset="0"/>
                </a:rPr>
                <a:t>r+dr</a:t>
              </a:r>
            </a:p>
          </p:txBody>
        </p:sp>
      </p:grpSp>
    </p:spTree>
    <p:extLst>
      <p:ext uri="{BB962C8B-B14F-4D97-AF65-F5344CB8AC3E}">
        <p14:creationId xmlns:p14="http://schemas.microsoft.com/office/powerpoint/2010/main" val="397390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blinds(horizontal)">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linds(horizontal)">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546412" y="813699"/>
            <a:ext cx="3046548"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b="1" dirty="0">
                <a:solidFill>
                  <a:schemeClr val="tx1"/>
                </a:solidFill>
              </a:rPr>
              <a:t>EJERCICIOS</a:t>
            </a:r>
          </a:p>
        </p:txBody>
      </p:sp>
      <p:sp>
        <p:nvSpPr>
          <p:cNvPr id="4" name="Rectángulo 3">
            <a:extLst>
              <a:ext uri="{FF2B5EF4-FFF2-40B4-BE49-F238E27FC236}">
                <a16:creationId xmlns:a16="http://schemas.microsoft.com/office/drawing/2014/main" id="{40955311-E058-469A-A770-CD3BEE574B96}"/>
              </a:ext>
            </a:extLst>
          </p:cNvPr>
          <p:cNvSpPr/>
          <p:nvPr/>
        </p:nvSpPr>
        <p:spPr>
          <a:xfrm>
            <a:off x="200472" y="1772816"/>
            <a:ext cx="4752528" cy="2978508"/>
          </a:xfrm>
          <a:prstGeom prst="rect">
            <a:avLst/>
          </a:prstGeom>
        </p:spPr>
        <p:txBody>
          <a:bodyPr wrap="square">
            <a:spAutoFit/>
          </a:bodyPr>
          <a:lstStyle/>
          <a:p>
            <a:pPr algn="just">
              <a:lnSpc>
                <a:spcPct val="107000"/>
              </a:lnSpc>
              <a:spcAft>
                <a:spcPts val="0"/>
              </a:spcAft>
            </a:pPr>
            <a:r>
              <a:rPr lang="es-MX"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Se tiene petróleo con una densidad de 850 kg/m</a:t>
            </a:r>
            <a:r>
              <a:rPr lang="es-MX" baseline="30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a:t>
            </a:r>
            <a:r>
              <a:rPr lang="es-MX"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y viscosidad </a:t>
            </a:r>
            <a:r>
              <a:rPr lang="es-PE"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cinemática de 0.00062 m</a:t>
            </a:r>
            <a:r>
              <a:rPr lang="es-PE" baseline="30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2</a:t>
            </a:r>
            <a:r>
              <a:rPr lang="es-PE"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/s que se descarga por medio </a:t>
            </a:r>
            <a:r>
              <a:rPr lang="es-MX"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de una tubería horizontal de 5 mm de diámetro y 40 m de longitud desde un tanque de almacenamiento abierto a la atmósfera.</a:t>
            </a:r>
            <a:endParaRPr lang="es-PE" sz="1100" dirty="0">
              <a:latin typeface="Calibri" panose="020F0502020204030204" pitchFamily="34" charset="0"/>
              <a:ea typeface="Calibri" panose="020F0502020204030204" pitchFamily="34" charset="0"/>
              <a:cs typeface="Times New Roman" panose="02020603050405020304" pitchFamily="18" charset="0"/>
            </a:endParaRPr>
          </a:p>
          <a:p>
            <a:pPr algn="just"/>
            <a:r>
              <a:rPr lang="es-MX"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La altura del nivel del líquido sobre el centro de la tubería es de 3 m. Sin considerar las pérdidas menores, determine la </a:t>
            </a:r>
            <a:r>
              <a:rPr lang="es-MX" dirty="0">
                <a:solidFill>
                  <a:srgbClr val="000000"/>
                </a:solidFill>
                <a:latin typeface="Arial" panose="020B0604020202020204" pitchFamily="34" charset="0"/>
                <a:ea typeface="Times New Roman" panose="02020603050405020304" pitchFamily="18" charset="0"/>
                <a:cs typeface="Arial" panose="020B0604020202020204" pitchFamily="34" charset="0"/>
              </a:rPr>
              <a:t>razón </a:t>
            </a:r>
            <a:r>
              <a:rPr lang="es-MX" dirty="0">
                <a:latin typeface="Arial" panose="020B0604020202020204" pitchFamily="34" charset="0"/>
                <a:cs typeface="Arial" panose="020B0604020202020204" pitchFamily="34" charset="0"/>
              </a:rPr>
              <a:t>de flujo del petróleo a través de la tubería.</a:t>
            </a:r>
            <a:endParaRPr lang="es-PE" sz="11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7" name="Imagen 6">
            <a:extLst>
              <a:ext uri="{FF2B5EF4-FFF2-40B4-BE49-F238E27FC236}">
                <a16:creationId xmlns:a16="http://schemas.microsoft.com/office/drawing/2014/main" id="{595C8C9F-572E-4E6A-BDB1-A86DA3A5DE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8584" y="4849056"/>
            <a:ext cx="2439386" cy="1600847"/>
          </a:xfrm>
          <a:prstGeom prst="rect">
            <a:avLst/>
          </a:prstGeom>
        </p:spPr>
      </p:pic>
      <p:sp>
        <p:nvSpPr>
          <p:cNvPr id="10" name="Rectángulo 9">
            <a:extLst>
              <a:ext uri="{FF2B5EF4-FFF2-40B4-BE49-F238E27FC236}">
                <a16:creationId xmlns:a16="http://schemas.microsoft.com/office/drawing/2014/main" id="{44BF74D6-8040-4B6B-985D-201B8274141B}"/>
              </a:ext>
            </a:extLst>
          </p:cNvPr>
          <p:cNvSpPr/>
          <p:nvPr/>
        </p:nvSpPr>
        <p:spPr>
          <a:xfrm>
            <a:off x="5446320" y="1772816"/>
            <a:ext cx="4202222" cy="2585323"/>
          </a:xfrm>
          <a:prstGeom prst="rect">
            <a:avLst/>
          </a:prstGeom>
        </p:spPr>
        <p:txBody>
          <a:bodyPr wrap="square">
            <a:spAutoFit/>
          </a:bodyPr>
          <a:lstStyle/>
          <a:p>
            <a:pPr algn="just"/>
            <a:r>
              <a:rPr lang="es-PE" dirty="0">
                <a:latin typeface="Arial" panose="020B0604020202020204" pitchFamily="34" charset="0"/>
                <a:ea typeface="Calibri" panose="020F0502020204030204" pitchFamily="34" charset="0"/>
                <a:cs typeface="Times New Roman" panose="02020603050405020304" pitchFamily="18" charset="0"/>
              </a:rPr>
              <a:t>Se tiene agua a 15°C (ρ= 999.1 kg/m</a:t>
            </a:r>
            <a:r>
              <a:rPr lang="es-PE" baseline="30000" dirty="0">
                <a:latin typeface="Arial" panose="020B0604020202020204" pitchFamily="34" charset="0"/>
                <a:ea typeface="Calibri" panose="020F0502020204030204" pitchFamily="34" charset="0"/>
                <a:cs typeface="Times New Roman" panose="02020603050405020304" pitchFamily="18" charset="0"/>
              </a:rPr>
              <a:t>3 </a:t>
            </a:r>
            <a:r>
              <a:rPr lang="es-PE" dirty="0">
                <a:latin typeface="Arial" panose="020B0604020202020204" pitchFamily="34" charset="0"/>
                <a:ea typeface="Calibri" panose="020F0502020204030204" pitchFamily="34" charset="0"/>
                <a:cs typeface="Times New Roman" panose="02020603050405020304" pitchFamily="18" charset="0"/>
              </a:rPr>
              <a:t>y µ =1.138×10</a:t>
            </a:r>
            <a:r>
              <a:rPr lang="es-PE" baseline="30000" dirty="0">
                <a:latin typeface="Arial" panose="020B0604020202020204" pitchFamily="34" charset="0"/>
                <a:ea typeface="Calibri" panose="020F0502020204030204" pitchFamily="34" charset="0"/>
                <a:cs typeface="Times New Roman" panose="02020603050405020304" pitchFamily="18" charset="0"/>
              </a:rPr>
              <a:t>-3</a:t>
            </a:r>
            <a:r>
              <a:rPr lang="es-PE" dirty="0">
                <a:latin typeface="Arial" panose="020B0604020202020204" pitchFamily="34" charset="0"/>
                <a:ea typeface="Calibri" panose="020F0502020204030204" pitchFamily="34" charset="0"/>
                <a:cs typeface="Times New Roman" panose="02020603050405020304" pitchFamily="18" charset="0"/>
              </a:rPr>
              <a:t> kg/m · s) que fluye a una razón de 8 L/s de manera estacionaria en una tubería horizontal de 30 m de largo y 4 cm de diámetro fabricada de acero inoxidable. Determine: (a) la caída de presión</a:t>
            </a:r>
            <a:r>
              <a:rPr lang="es-PE" dirty="0">
                <a:latin typeface="Arial" panose="020B0604020202020204" pitchFamily="34" charset="0"/>
                <a:ea typeface="Calibri" panose="020F0502020204030204" pitchFamily="34" charset="0"/>
                <a:cs typeface="Arial" panose="020B0604020202020204" pitchFamily="34" charset="0"/>
              </a:rPr>
              <a:t> (b)</a:t>
            </a:r>
            <a:r>
              <a:rPr lang="es-PE" dirty="0">
                <a:latin typeface="Arial" panose="020B0604020202020204" pitchFamily="34" charset="0"/>
                <a:cs typeface="Arial" panose="020B0604020202020204" pitchFamily="34" charset="0"/>
              </a:rPr>
              <a:t> la potencia de bombeo necesaria para superar esta caída de presión.</a:t>
            </a:r>
            <a:endParaRPr lang="es-PE" sz="11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15" name="Imagen 14">
            <a:extLst>
              <a:ext uri="{FF2B5EF4-FFF2-40B4-BE49-F238E27FC236}">
                <a16:creationId xmlns:a16="http://schemas.microsoft.com/office/drawing/2014/main" id="{92869F14-D27D-42A7-8D00-9F77224124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3040" y="4358139"/>
            <a:ext cx="4229866" cy="1882010"/>
          </a:xfrm>
          <a:prstGeom prst="rect">
            <a:avLst/>
          </a:prstGeom>
        </p:spPr>
      </p:pic>
    </p:spTree>
    <p:extLst>
      <p:ext uri="{BB962C8B-B14F-4D97-AF65-F5344CB8AC3E}">
        <p14:creationId xmlns:p14="http://schemas.microsoft.com/office/powerpoint/2010/main" val="1130523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81828" y="733293"/>
            <a:ext cx="3415188" cy="844499"/>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dirty="0">
                <a:solidFill>
                  <a:schemeClr val="tx1"/>
                </a:solidFill>
              </a:rPr>
              <a:t>NÚMERO DE REYNOLDS</a:t>
            </a:r>
            <a:endParaRPr lang="es-PE" sz="2400" b="1" dirty="0">
              <a:solidFill>
                <a:schemeClr val="tx1"/>
              </a:solidFill>
            </a:endParaRPr>
          </a:p>
        </p:txBody>
      </p:sp>
      <p:sp>
        <p:nvSpPr>
          <p:cNvPr id="40" name="Rectangle 3">
            <a:extLst>
              <a:ext uri="{FF2B5EF4-FFF2-40B4-BE49-F238E27FC236}">
                <a16:creationId xmlns:a16="http://schemas.microsoft.com/office/drawing/2014/main" id="{9CBCC28D-CD5B-410B-A964-7191DF5CBEB0}"/>
              </a:ext>
            </a:extLst>
          </p:cNvPr>
          <p:cNvSpPr txBox="1">
            <a:spLocks noChangeArrowheads="1"/>
          </p:cNvSpPr>
          <p:nvPr/>
        </p:nvSpPr>
        <p:spPr>
          <a:xfrm>
            <a:off x="266496" y="1769558"/>
            <a:ext cx="4038600" cy="5141425"/>
          </a:xfrm>
          <a:prstGeom prst="rect">
            <a:avLst/>
          </a:prstGeom>
        </p:spPr>
        <p:txBody>
          <a:bodyPr rtlCol="0"/>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fontAlgn="auto">
              <a:spcAft>
                <a:spcPts val="0"/>
              </a:spcAft>
              <a:buNone/>
              <a:defRPr/>
            </a:pPr>
            <a:r>
              <a:rPr lang="es-MX" sz="1800" dirty="0">
                <a:solidFill>
                  <a:schemeClr val="tx1"/>
                </a:solidFill>
              </a:rPr>
              <a:t>Un flujo laminar puede volverse turbulento si es que excede cierto valor critico de rapidez.</a:t>
            </a:r>
          </a:p>
          <a:p>
            <a:pPr marL="0" indent="0" algn="just" fontAlgn="auto">
              <a:spcAft>
                <a:spcPts val="0"/>
              </a:spcAft>
              <a:buNone/>
              <a:defRPr/>
            </a:pPr>
            <a:r>
              <a:rPr lang="es-MX" sz="1800" dirty="0">
                <a:solidFill>
                  <a:schemeClr val="tx1"/>
                </a:solidFill>
              </a:rPr>
              <a:t>El número de Reynolds es una magnitud adimensional que sirve para determinar si el flujo es laminar o turbulento. </a:t>
            </a:r>
          </a:p>
          <a:p>
            <a:pPr marL="0" indent="0" algn="just" fontAlgn="auto">
              <a:spcAft>
                <a:spcPts val="0"/>
              </a:spcAft>
              <a:buNone/>
              <a:defRPr/>
            </a:pPr>
            <a:r>
              <a:rPr lang="es-MX" sz="1800" dirty="0">
                <a:solidFill>
                  <a:schemeClr val="tx1"/>
                </a:solidFill>
              </a:rPr>
              <a:t>El número de Reynolds para un flujo de fluido de radio R se define como:</a:t>
            </a:r>
          </a:p>
          <a:p>
            <a:pPr marL="0" indent="0" algn="just" fontAlgn="auto">
              <a:spcAft>
                <a:spcPts val="0"/>
              </a:spcAft>
              <a:buNone/>
              <a:defRPr/>
            </a:pPr>
            <a:r>
              <a:rPr lang="es-MX" sz="1800" dirty="0">
                <a:solidFill>
                  <a:schemeClr val="tx1"/>
                </a:solidFill>
              </a:rPr>
              <a:t>Si Re &gt; 4 000, el flujo es turbulento</a:t>
            </a:r>
          </a:p>
          <a:p>
            <a:pPr marL="0" indent="0" algn="just" fontAlgn="auto">
              <a:spcAft>
                <a:spcPts val="0"/>
              </a:spcAft>
              <a:buNone/>
              <a:defRPr/>
            </a:pPr>
            <a:r>
              <a:rPr lang="es-MX" sz="1800" dirty="0">
                <a:solidFill>
                  <a:schemeClr val="tx1"/>
                </a:solidFill>
              </a:rPr>
              <a:t>Si Re &lt; 2 000, el flujo es laminar</a:t>
            </a:r>
          </a:p>
          <a:p>
            <a:pPr algn="just" fontAlgn="auto">
              <a:lnSpc>
                <a:spcPct val="90000"/>
              </a:lnSpc>
              <a:spcAft>
                <a:spcPts val="0"/>
              </a:spcAft>
              <a:buFontTx/>
              <a:buNone/>
              <a:defRPr/>
            </a:pPr>
            <a:endParaRPr lang="es-MX" dirty="0">
              <a:solidFill>
                <a:schemeClr val="tx2">
                  <a:lumMod val="50000"/>
                </a:schemeClr>
              </a:solidFill>
              <a:latin typeface="Times New Roman" pitchFamily="18" charset="0"/>
              <a:cs typeface="Times New Roman" pitchFamily="18" charset="0"/>
            </a:endParaRPr>
          </a:p>
          <a:p>
            <a:pPr algn="just" fontAlgn="auto">
              <a:lnSpc>
                <a:spcPct val="90000"/>
              </a:lnSpc>
              <a:spcAft>
                <a:spcPts val="0"/>
              </a:spcAft>
              <a:buFontTx/>
              <a:buNone/>
              <a:defRPr/>
            </a:pPr>
            <a:endParaRPr lang="es-MX" dirty="0">
              <a:solidFill>
                <a:schemeClr val="tx2">
                  <a:lumMod val="50000"/>
                </a:schemeClr>
              </a:solidFill>
              <a:latin typeface="Times New Roman" pitchFamily="18" charset="0"/>
              <a:cs typeface="Times New Roman" pitchFamily="18" charset="0"/>
            </a:endParaRPr>
          </a:p>
          <a:p>
            <a:pPr algn="just" fontAlgn="auto">
              <a:lnSpc>
                <a:spcPct val="90000"/>
              </a:lnSpc>
              <a:spcAft>
                <a:spcPts val="0"/>
              </a:spcAft>
              <a:defRPr/>
            </a:pPr>
            <a:endParaRPr lang="es-MX" dirty="0">
              <a:solidFill>
                <a:schemeClr val="tx2">
                  <a:lumMod val="50000"/>
                </a:schemeClr>
              </a:solidFill>
              <a:latin typeface="Times New Roman" pitchFamily="18" charset="0"/>
              <a:cs typeface="Times New Roman" pitchFamily="18" charset="0"/>
            </a:endParaRPr>
          </a:p>
        </p:txBody>
      </p:sp>
      <p:sp>
        <p:nvSpPr>
          <p:cNvPr id="41" name="1 Marcador de contenido">
            <a:extLst>
              <a:ext uri="{FF2B5EF4-FFF2-40B4-BE49-F238E27FC236}">
                <a16:creationId xmlns:a16="http://schemas.microsoft.com/office/drawing/2014/main" id="{45ACE00D-29A9-4D27-95DF-F9B5054E3A95}"/>
              </a:ext>
            </a:extLst>
          </p:cNvPr>
          <p:cNvSpPr txBox="1">
            <a:spLocks/>
          </p:cNvSpPr>
          <p:nvPr/>
        </p:nvSpPr>
        <p:spPr>
          <a:xfrm>
            <a:off x="5241032" y="1801319"/>
            <a:ext cx="4038600" cy="2232248"/>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None/>
            </a:pPr>
            <a:r>
              <a:rPr lang="es-ES" sz="1800" dirty="0">
                <a:solidFill>
                  <a:schemeClr val="tx1"/>
                </a:solidFill>
              </a:rPr>
              <a:t>La velocidad media de la sangre en la aorta (r =1,19 cm) durante la parte estacionaria del latido del corazón es de unos 35,0 cm/s . ¿es laminar o turbulento el flujo? La viscosidad de la sangre es 2,08 x 10</a:t>
            </a:r>
            <a:r>
              <a:rPr lang="es-ES" sz="1800" baseline="30000" dirty="0">
                <a:solidFill>
                  <a:schemeClr val="tx1"/>
                </a:solidFill>
              </a:rPr>
              <a:t>-3</a:t>
            </a:r>
            <a:r>
              <a:rPr lang="es-ES" sz="1800" dirty="0">
                <a:solidFill>
                  <a:schemeClr val="tx1"/>
                </a:solidFill>
              </a:rPr>
              <a:t> </a:t>
            </a:r>
            <a:r>
              <a:rPr lang="es-ES" sz="1800" dirty="0" err="1">
                <a:solidFill>
                  <a:schemeClr val="tx1"/>
                </a:solidFill>
              </a:rPr>
              <a:t>Pa.s</a:t>
            </a:r>
            <a:r>
              <a:rPr lang="es-ES" sz="1800" dirty="0">
                <a:solidFill>
                  <a:schemeClr val="tx1"/>
                </a:solidFill>
              </a:rPr>
              <a:t>. Densidad de la sangre= 1100 kg/m</a:t>
            </a:r>
            <a:r>
              <a:rPr lang="es-ES" sz="1800" baseline="30000" dirty="0">
                <a:solidFill>
                  <a:schemeClr val="tx1"/>
                </a:solidFill>
              </a:rPr>
              <a:t>3</a:t>
            </a:r>
            <a:r>
              <a:rPr lang="es-ES" sz="1800" dirty="0">
                <a:solidFill>
                  <a:schemeClr val="tx1"/>
                </a:solidFill>
              </a:rPr>
              <a:t>.</a:t>
            </a:r>
          </a:p>
          <a:p>
            <a:endParaRPr lang="es-PE" dirty="0"/>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6DE3D25A-E9EA-419F-82A6-42170E96116A}"/>
                  </a:ext>
                </a:extLst>
              </p:cNvPr>
              <p:cNvSpPr txBox="1"/>
              <p:nvPr/>
            </p:nvSpPr>
            <p:spPr>
              <a:xfrm>
                <a:off x="1064568" y="5517232"/>
                <a:ext cx="2442401" cy="749244"/>
              </a:xfrm>
              <a:prstGeom prst="rect">
                <a:avLst/>
              </a:prstGeom>
              <a:solidFill>
                <a:schemeClr val="tx2">
                  <a:lumMod val="60000"/>
                  <a:lumOff val="4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s-PE" sz="2400" i="1" smtClean="0">
                              <a:latin typeface="Cambria Math" panose="02040503050406030204" pitchFamily="18" charset="0"/>
                            </a:rPr>
                          </m:ctrlPr>
                        </m:sSubPr>
                        <m:e>
                          <m:r>
                            <a:rPr lang="es-MX" sz="2400" b="0" i="1" smtClean="0">
                              <a:latin typeface="Cambria Math" panose="02040503050406030204" pitchFamily="18" charset="0"/>
                            </a:rPr>
                            <m:t>𝑅</m:t>
                          </m:r>
                        </m:e>
                        <m:sub>
                          <m:r>
                            <a:rPr lang="es-MX" sz="2400" b="0" i="1" smtClean="0">
                              <a:latin typeface="Cambria Math" panose="02040503050406030204" pitchFamily="18" charset="0"/>
                            </a:rPr>
                            <m:t>𝑒</m:t>
                          </m:r>
                        </m:sub>
                      </m:sSub>
                      <m:r>
                        <a:rPr lang="es-MX" sz="2400" b="0" i="1" smtClean="0">
                          <a:latin typeface="Cambria Math" panose="02040503050406030204" pitchFamily="18" charset="0"/>
                        </a:rPr>
                        <m:t>=</m:t>
                      </m:r>
                      <m:f>
                        <m:fPr>
                          <m:ctrlPr>
                            <a:rPr lang="es-MX" sz="2400" b="0" i="1" smtClean="0">
                              <a:latin typeface="Cambria Math" panose="02040503050406030204" pitchFamily="18" charset="0"/>
                            </a:rPr>
                          </m:ctrlPr>
                        </m:fPr>
                        <m:num>
                          <m:r>
                            <a:rPr lang="es-MX" sz="2400" b="0" i="1" smtClean="0">
                              <a:latin typeface="Cambria Math" panose="02040503050406030204" pitchFamily="18" charset="0"/>
                              <a:ea typeface="Cambria Math" panose="02040503050406030204" pitchFamily="18" charset="0"/>
                            </a:rPr>
                            <m:t>𝜌</m:t>
                          </m:r>
                          <m:r>
                            <a:rPr lang="es-MX" sz="2400" b="0" i="1" smtClean="0">
                              <a:latin typeface="Cambria Math" panose="02040503050406030204" pitchFamily="18" charset="0"/>
                              <a:ea typeface="Cambria Math" panose="02040503050406030204" pitchFamily="18" charset="0"/>
                            </a:rPr>
                            <m:t>𝑣𝐷</m:t>
                          </m:r>
                        </m:num>
                        <m:den>
                          <m:r>
                            <a:rPr lang="es-MX" sz="2400" b="0" i="1" smtClean="0">
                              <a:latin typeface="Cambria Math" panose="02040503050406030204" pitchFamily="18" charset="0"/>
                              <a:ea typeface="Cambria Math" panose="02040503050406030204" pitchFamily="18" charset="0"/>
                            </a:rPr>
                            <m:t>𝜇</m:t>
                          </m:r>
                        </m:den>
                      </m:f>
                    </m:oMath>
                  </m:oMathPara>
                </a14:m>
                <a:endParaRPr lang="es-PE" sz="2400" dirty="0"/>
              </a:p>
            </p:txBody>
          </p:sp>
        </mc:Choice>
        <mc:Fallback>
          <p:sp>
            <p:nvSpPr>
              <p:cNvPr id="5" name="CuadroTexto 4">
                <a:extLst>
                  <a:ext uri="{FF2B5EF4-FFF2-40B4-BE49-F238E27FC236}">
                    <a16:creationId xmlns:a16="http://schemas.microsoft.com/office/drawing/2014/main" id="{6DE3D25A-E9EA-419F-82A6-42170E96116A}"/>
                  </a:ext>
                </a:extLst>
              </p:cNvPr>
              <p:cNvSpPr txBox="1">
                <a:spLocks noRot="1" noChangeAspect="1" noMove="1" noResize="1" noEditPoints="1" noAdjustHandles="1" noChangeArrowheads="1" noChangeShapeType="1" noTextEdit="1"/>
              </p:cNvSpPr>
              <p:nvPr/>
            </p:nvSpPr>
            <p:spPr>
              <a:xfrm>
                <a:off x="1064568" y="5517232"/>
                <a:ext cx="2442401" cy="749244"/>
              </a:xfrm>
              <a:prstGeom prst="rect">
                <a:avLst/>
              </a:prstGeom>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21327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81828" y="733293"/>
            <a:ext cx="2911132" cy="844499"/>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a:solidFill>
                  <a:schemeClr val="tx1"/>
                </a:solidFill>
                <a:latin typeface="Arial" panose="020B0604020202020204" pitchFamily="34" charset="0"/>
                <a:cs typeface="Arial" panose="020B0604020202020204" pitchFamily="34" charset="0"/>
              </a:rPr>
              <a:t>LEY DE STOKES</a:t>
            </a:r>
          </a:p>
        </p:txBody>
      </p:sp>
      <p:sp>
        <p:nvSpPr>
          <p:cNvPr id="3" name="Rectángulo 2">
            <a:extLst>
              <a:ext uri="{FF2B5EF4-FFF2-40B4-BE49-F238E27FC236}">
                <a16:creationId xmlns:a16="http://schemas.microsoft.com/office/drawing/2014/main" id="{3031AD0D-994B-490B-BDEC-54EED563EFB8}"/>
              </a:ext>
            </a:extLst>
          </p:cNvPr>
          <p:cNvSpPr/>
          <p:nvPr/>
        </p:nvSpPr>
        <p:spPr>
          <a:xfrm>
            <a:off x="199912" y="1765265"/>
            <a:ext cx="5257143" cy="1754326"/>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El concepto de arrastre tiene importantes consecuencias en la vida diaria, y el comportamiento de arrastre de los diversos cuerpos naturales y fabricados por los humanos se caracteriza por sus coeficientes de arrastre medidos en condiciones </a:t>
            </a:r>
            <a:r>
              <a:rPr lang="es-PE" dirty="0">
                <a:latin typeface="Arial" panose="020B0604020202020204" pitchFamily="34" charset="0"/>
                <a:cs typeface="Arial" panose="020B0604020202020204" pitchFamily="34" charset="0"/>
              </a:rPr>
              <a:t>de operación normales</a:t>
            </a:r>
          </a:p>
        </p:txBody>
      </p:sp>
      <p:sp>
        <p:nvSpPr>
          <p:cNvPr id="4" name="Rectángulo 3">
            <a:extLst>
              <a:ext uri="{FF2B5EF4-FFF2-40B4-BE49-F238E27FC236}">
                <a16:creationId xmlns:a16="http://schemas.microsoft.com/office/drawing/2014/main" id="{4488B2EE-2FFC-423C-8896-1FA89C430393}"/>
              </a:ext>
            </a:extLst>
          </p:cNvPr>
          <p:cNvSpPr/>
          <p:nvPr/>
        </p:nvSpPr>
        <p:spPr>
          <a:xfrm>
            <a:off x="199912" y="3532678"/>
            <a:ext cx="5257142" cy="1200329"/>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El coeficiente de arrastre exhibe diferente comportamiento en las regiones bajas (flujos de Stokes), moderada (laminar) y alta (turbulenta) del número de Reynolds. </a:t>
            </a:r>
            <a:endParaRPr lang="es-PE"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D1BCF8FB-8A08-457C-A5D9-88C12FB72D3B}"/>
                  </a:ext>
                </a:extLst>
              </p:cNvPr>
              <p:cNvSpPr txBox="1"/>
              <p:nvPr/>
            </p:nvSpPr>
            <p:spPr>
              <a:xfrm>
                <a:off x="1414485" y="4792872"/>
                <a:ext cx="2080249" cy="5672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MX" b="0" i="1" smtClean="0">
                              <a:latin typeface="Cambria Math" panose="02040503050406030204" pitchFamily="18" charset="0"/>
                            </a:rPr>
                            <m:t>𝐶</m:t>
                          </m:r>
                        </m:e>
                        <m:sub>
                          <m:r>
                            <a:rPr lang="es-MX" b="0" i="1" smtClean="0">
                              <a:latin typeface="Cambria Math" panose="02040503050406030204" pitchFamily="18" charset="0"/>
                            </a:rPr>
                            <m:t>𝐷</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24</m:t>
                          </m:r>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𝑅</m:t>
                              </m:r>
                            </m:e>
                            <m:sub>
                              <m:r>
                                <a:rPr lang="es-MX" b="0" i="1" smtClean="0">
                                  <a:latin typeface="Cambria Math" panose="02040503050406030204" pitchFamily="18" charset="0"/>
                                </a:rPr>
                                <m:t>𝑒</m:t>
                              </m:r>
                            </m:sub>
                          </m:sSub>
                        </m:den>
                      </m:f>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𝑅</m:t>
                          </m:r>
                        </m:e>
                        <m:sub>
                          <m:r>
                            <a:rPr lang="es-MX" b="0" i="1" smtClean="0">
                              <a:latin typeface="Cambria Math" panose="02040503050406030204" pitchFamily="18" charset="0"/>
                            </a:rPr>
                            <m:t>𝑒</m:t>
                          </m:r>
                        </m:sub>
                      </m:sSub>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1</m:t>
                      </m:r>
                    </m:oMath>
                  </m:oMathPara>
                </a14:m>
                <a:endParaRPr lang="es-PE" dirty="0"/>
              </a:p>
            </p:txBody>
          </p:sp>
        </mc:Choice>
        <mc:Fallback>
          <p:sp>
            <p:nvSpPr>
              <p:cNvPr id="8" name="CuadroTexto 7">
                <a:extLst>
                  <a:ext uri="{FF2B5EF4-FFF2-40B4-BE49-F238E27FC236}">
                    <a16:creationId xmlns:a16="http://schemas.microsoft.com/office/drawing/2014/main" id="{D1BCF8FB-8A08-457C-A5D9-88C12FB72D3B}"/>
                  </a:ext>
                </a:extLst>
              </p:cNvPr>
              <p:cNvSpPr txBox="1">
                <a:spLocks noRot="1" noChangeAspect="1" noMove="1" noResize="1" noEditPoints="1" noAdjustHandles="1" noChangeArrowheads="1" noChangeShapeType="1" noTextEdit="1"/>
              </p:cNvSpPr>
              <p:nvPr/>
            </p:nvSpPr>
            <p:spPr>
              <a:xfrm>
                <a:off x="1414485" y="4792872"/>
                <a:ext cx="2080249" cy="567207"/>
              </a:xfrm>
              <a:prstGeom prst="rect">
                <a:avLst/>
              </a:prstGeom>
              <a:blipFill>
                <a:blip r:embed="rId2"/>
                <a:stretch>
                  <a:fillRect/>
                </a:stretch>
              </a:blipFill>
            </p:spPr>
            <p:txBody>
              <a:bodyPr/>
              <a:lstStyle/>
              <a:p>
                <a:r>
                  <a:rPr lang="es-PE">
                    <a:noFill/>
                  </a:rPr>
                  <a:t> </a:t>
                </a:r>
              </a:p>
            </p:txBody>
          </p:sp>
        </mc:Fallback>
      </mc:AlternateContent>
      <p:sp>
        <p:nvSpPr>
          <p:cNvPr id="9" name="Rectángulo 8">
            <a:extLst>
              <a:ext uri="{FF2B5EF4-FFF2-40B4-BE49-F238E27FC236}">
                <a16:creationId xmlns:a16="http://schemas.microsoft.com/office/drawing/2014/main" id="{FD5303AB-5DFD-441E-9C8F-9A477C300CFA}"/>
              </a:ext>
            </a:extLst>
          </p:cNvPr>
          <p:cNvSpPr/>
          <p:nvPr/>
        </p:nvSpPr>
        <p:spPr>
          <a:xfrm>
            <a:off x="330093" y="5422641"/>
            <a:ext cx="4996780" cy="923330"/>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Entonces la fuerza de arrastre que actúa sobre un objeto esférico a números de Reynolds bajos se convierte en:</a:t>
            </a:r>
            <a:endParaRPr lang="es-PE"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578F687-498B-4840-8DCD-A97DCA9212D5}"/>
                  </a:ext>
                </a:extLst>
              </p:cNvPr>
              <p:cNvSpPr txBox="1"/>
              <p:nvPr/>
            </p:nvSpPr>
            <p:spPr>
              <a:xfrm>
                <a:off x="6465168" y="1577792"/>
                <a:ext cx="2639654" cy="615553"/>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s-PE" sz="2000" i="1" smtClean="0">
                              <a:latin typeface="Cambria Math" panose="02040503050406030204" pitchFamily="18" charset="0"/>
                            </a:rPr>
                          </m:ctrlPr>
                        </m:sSubPr>
                        <m:e>
                          <m:r>
                            <a:rPr lang="es-MX" sz="2000" b="0" i="1" smtClean="0">
                              <a:latin typeface="Cambria Math" panose="02040503050406030204" pitchFamily="18" charset="0"/>
                            </a:rPr>
                            <m:t>𝐹</m:t>
                          </m:r>
                        </m:e>
                        <m:sub>
                          <m:r>
                            <a:rPr lang="es-MX" sz="2000" b="0" i="1" smtClean="0">
                              <a:latin typeface="Cambria Math" panose="02040503050406030204" pitchFamily="18" charset="0"/>
                            </a:rPr>
                            <m:t>𝐷</m:t>
                          </m:r>
                        </m:sub>
                      </m:sSub>
                      <m:r>
                        <a:rPr lang="es-MX" sz="2000" b="0" i="1" smtClean="0">
                          <a:latin typeface="Cambria Math" panose="02040503050406030204" pitchFamily="18" charset="0"/>
                        </a:rPr>
                        <m:t>=</m:t>
                      </m:r>
                      <m:sSub>
                        <m:sSubPr>
                          <m:ctrlPr>
                            <a:rPr lang="es-MX" sz="2000" b="0" i="1" smtClean="0">
                              <a:latin typeface="Cambria Math" panose="02040503050406030204" pitchFamily="18" charset="0"/>
                            </a:rPr>
                          </m:ctrlPr>
                        </m:sSubPr>
                        <m:e>
                          <m:r>
                            <a:rPr lang="es-MX" sz="2000" b="0" i="1" smtClean="0">
                              <a:latin typeface="Cambria Math" panose="02040503050406030204" pitchFamily="18" charset="0"/>
                            </a:rPr>
                            <m:t>𝐶</m:t>
                          </m:r>
                        </m:e>
                        <m:sub>
                          <m:r>
                            <a:rPr lang="es-MX" sz="2000" b="0" i="1" smtClean="0">
                              <a:latin typeface="Cambria Math" panose="02040503050406030204" pitchFamily="18" charset="0"/>
                            </a:rPr>
                            <m:t>𝐷</m:t>
                          </m:r>
                        </m:sub>
                      </m:sSub>
                      <m:r>
                        <a:rPr lang="es-MX" sz="2000" b="0" i="1" smtClean="0">
                          <a:latin typeface="Cambria Math" panose="02040503050406030204" pitchFamily="18" charset="0"/>
                        </a:rPr>
                        <m:t>𝐴</m:t>
                      </m:r>
                      <m:f>
                        <m:fPr>
                          <m:ctrlPr>
                            <a:rPr lang="es-MX" sz="2000" b="0" i="1" smtClean="0">
                              <a:latin typeface="Cambria Math" panose="02040503050406030204" pitchFamily="18" charset="0"/>
                            </a:rPr>
                          </m:ctrlPr>
                        </m:fPr>
                        <m:num>
                          <m:r>
                            <a:rPr lang="es-MX" sz="2000" b="0" i="1" smtClean="0">
                              <a:latin typeface="Cambria Math" panose="02040503050406030204" pitchFamily="18" charset="0"/>
                              <a:ea typeface="Cambria Math" panose="02040503050406030204" pitchFamily="18" charset="0"/>
                            </a:rPr>
                            <m:t>𝜌</m:t>
                          </m:r>
                          <m:sSup>
                            <m:sSupPr>
                              <m:ctrlPr>
                                <a:rPr lang="es-MX" sz="2000" b="0" i="1" smtClean="0">
                                  <a:latin typeface="Cambria Math" panose="02040503050406030204" pitchFamily="18" charset="0"/>
                                  <a:ea typeface="Cambria Math" panose="02040503050406030204" pitchFamily="18" charset="0"/>
                                </a:rPr>
                              </m:ctrlPr>
                            </m:sSupPr>
                            <m:e>
                              <m:r>
                                <a:rPr lang="es-MX" sz="2000" b="0" i="1" smtClean="0">
                                  <a:latin typeface="Cambria Math" panose="02040503050406030204" pitchFamily="18" charset="0"/>
                                  <a:ea typeface="Cambria Math" panose="02040503050406030204" pitchFamily="18" charset="0"/>
                                </a:rPr>
                                <m:t>𝑣</m:t>
                              </m:r>
                            </m:e>
                            <m:sup>
                              <m:r>
                                <a:rPr lang="es-MX" sz="2000" b="0" i="1" smtClean="0">
                                  <a:latin typeface="Cambria Math" panose="02040503050406030204" pitchFamily="18" charset="0"/>
                                  <a:ea typeface="Cambria Math" panose="02040503050406030204" pitchFamily="18" charset="0"/>
                                </a:rPr>
                                <m:t>2</m:t>
                              </m:r>
                            </m:sup>
                          </m:sSup>
                        </m:num>
                        <m:den>
                          <m:r>
                            <a:rPr lang="es-MX" sz="2000" b="0" i="1" smtClean="0">
                              <a:latin typeface="Cambria Math" panose="02040503050406030204" pitchFamily="18" charset="0"/>
                            </a:rPr>
                            <m:t>2</m:t>
                          </m:r>
                        </m:den>
                      </m:f>
                      <m:r>
                        <a:rPr lang="es-MX" sz="2000" b="0" i="1" smtClean="0">
                          <a:latin typeface="Cambria Math" panose="02040503050406030204" pitchFamily="18" charset="0"/>
                        </a:rPr>
                        <m:t>=6</m:t>
                      </m:r>
                      <m:r>
                        <a:rPr lang="es-MX" sz="2000" b="0" i="1" smtClean="0">
                          <a:latin typeface="Cambria Math" panose="02040503050406030204" pitchFamily="18" charset="0"/>
                          <a:ea typeface="Cambria Math" panose="02040503050406030204" pitchFamily="18" charset="0"/>
                        </a:rPr>
                        <m:t>𝜋𝜇</m:t>
                      </m:r>
                      <m:r>
                        <a:rPr lang="es-MX" sz="2000" b="0" i="1" smtClean="0">
                          <a:latin typeface="Cambria Math" panose="02040503050406030204" pitchFamily="18" charset="0"/>
                          <a:ea typeface="Cambria Math" panose="02040503050406030204" pitchFamily="18" charset="0"/>
                        </a:rPr>
                        <m:t>𝑣𝑅</m:t>
                      </m:r>
                    </m:oMath>
                  </m:oMathPara>
                </a14:m>
                <a:endParaRPr lang="es-PE" sz="2000" dirty="0"/>
              </a:p>
            </p:txBody>
          </p:sp>
        </mc:Choice>
        <mc:Fallback>
          <p:sp>
            <p:nvSpPr>
              <p:cNvPr id="10" name="CuadroTexto 9">
                <a:extLst>
                  <a:ext uri="{FF2B5EF4-FFF2-40B4-BE49-F238E27FC236}">
                    <a16:creationId xmlns:a16="http://schemas.microsoft.com/office/drawing/2014/main" id="{3578F687-498B-4840-8DCD-A97DCA9212D5}"/>
                  </a:ext>
                </a:extLst>
              </p:cNvPr>
              <p:cNvSpPr txBox="1">
                <a:spLocks noRot="1" noChangeAspect="1" noMove="1" noResize="1" noEditPoints="1" noAdjustHandles="1" noChangeArrowheads="1" noChangeShapeType="1" noTextEdit="1"/>
              </p:cNvSpPr>
              <p:nvPr/>
            </p:nvSpPr>
            <p:spPr>
              <a:xfrm>
                <a:off x="6465168" y="1577792"/>
                <a:ext cx="2639654" cy="615553"/>
              </a:xfrm>
              <a:prstGeom prst="rect">
                <a:avLst/>
              </a:prstGeom>
              <a:blipFill>
                <a:blip r:embed="rId3"/>
                <a:stretch>
                  <a:fillRect/>
                </a:stretch>
              </a:blipFill>
            </p:spPr>
            <p:txBody>
              <a:bodyPr/>
              <a:lstStyle/>
              <a:p>
                <a:r>
                  <a:rPr lang="es-PE">
                    <a:noFill/>
                  </a:rPr>
                  <a:t> </a:t>
                </a:r>
              </a:p>
            </p:txBody>
          </p:sp>
        </mc:Fallback>
      </mc:AlternateContent>
      <p:pic>
        <p:nvPicPr>
          <p:cNvPr id="12" name="Imagen 11">
            <a:extLst>
              <a:ext uri="{FF2B5EF4-FFF2-40B4-BE49-F238E27FC236}">
                <a16:creationId xmlns:a16="http://schemas.microsoft.com/office/drawing/2014/main" id="{E45A0FCD-4893-48DA-8877-BD80AB9847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3480" y="3576078"/>
            <a:ext cx="3143689" cy="3000794"/>
          </a:xfrm>
          <a:prstGeom prst="rect">
            <a:avLst/>
          </a:prstGeom>
        </p:spPr>
      </p:pic>
      <p:sp>
        <p:nvSpPr>
          <p:cNvPr id="13" name="Rectángulo 12">
            <a:extLst>
              <a:ext uri="{FF2B5EF4-FFF2-40B4-BE49-F238E27FC236}">
                <a16:creationId xmlns:a16="http://schemas.microsoft.com/office/drawing/2014/main" id="{7B9EE4AD-7746-4688-B96A-B9A41CA26FA6}"/>
              </a:ext>
            </a:extLst>
          </p:cNvPr>
          <p:cNvSpPr/>
          <p:nvPr/>
        </p:nvSpPr>
        <p:spPr>
          <a:xfrm>
            <a:off x="6003278" y="2319262"/>
            <a:ext cx="3804091" cy="1200329"/>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que se conoce como </a:t>
            </a:r>
            <a:r>
              <a:rPr lang="es-MX" b="1" dirty="0">
                <a:latin typeface="Arial" panose="020B0604020202020204" pitchFamily="34" charset="0"/>
                <a:cs typeface="Arial" panose="020B0604020202020204" pitchFamily="34" charset="0"/>
              </a:rPr>
              <a:t>Ley de Stokes</a:t>
            </a:r>
            <a:r>
              <a:rPr lang="es-MX" dirty="0">
                <a:latin typeface="Arial" panose="020B0604020202020204" pitchFamily="34" charset="0"/>
                <a:cs typeface="Arial" panose="020B0604020202020204" pitchFamily="34" charset="0"/>
              </a:rPr>
              <a:t>, en honor del matemático y físico británico G. G. Stokes (1819-1903). </a:t>
            </a:r>
            <a:endParaRPr lang="es-P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8458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2142172" y="692696"/>
            <a:ext cx="5256584" cy="4616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solidFill>
                  <a:schemeClr val="tx1"/>
                </a:solidFill>
                <a:latin typeface="Arial" panose="020B0604020202020204" pitchFamily="34" charset="0"/>
                <a:cs typeface="Arial" panose="020B0604020202020204" pitchFamily="34" charset="0"/>
              </a:rPr>
              <a:t>COEFICIENTES DE ARRASTRE</a:t>
            </a:r>
            <a:endParaRPr lang="es-PE" sz="2400" b="1" dirty="0">
              <a:solidFill>
                <a:schemeClr val="tx1"/>
              </a:solidFill>
            </a:endParaRPr>
          </a:p>
        </p:txBody>
      </p:sp>
      <p:pic>
        <p:nvPicPr>
          <p:cNvPr id="8" name="Imagen 7">
            <a:extLst>
              <a:ext uri="{FF2B5EF4-FFF2-40B4-BE49-F238E27FC236}">
                <a16:creationId xmlns:a16="http://schemas.microsoft.com/office/drawing/2014/main" id="{9C73CA40-6CB7-44C8-A6EF-E5D74CE77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4708" y="1459563"/>
            <a:ext cx="5256584" cy="5256584"/>
          </a:xfrm>
          <a:prstGeom prst="rect">
            <a:avLst/>
          </a:prstGeom>
        </p:spPr>
      </p:pic>
    </p:spTree>
    <p:extLst>
      <p:ext uri="{BB962C8B-B14F-4D97-AF65-F5344CB8AC3E}">
        <p14:creationId xmlns:p14="http://schemas.microsoft.com/office/powerpoint/2010/main" val="2523410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2479084"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a:solidFill>
                  <a:schemeClr val="tx1"/>
                </a:solidFill>
                <a:latin typeface="Arial" panose="020B0604020202020204" pitchFamily="34" charset="0"/>
                <a:cs typeface="Arial" panose="020B0604020202020204" pitchFamily="34" charset="0"/>
              </a:rPr>
              <a:t>EJERCICIO</a:t>
            </a:r>
          </a:p>
        </p:txBody>
      </p:sp>
      <p:sp>
        <p:nvSpPr>
          <p:cNvPr id="3" name="Rectángulo 2"/>
          <p:cNvSpPr/>
          <p:nvPr/>
        </p:nvSpPr>
        <p:spPr>
          <a:xfrm>
            <a:off x="344488" y="1700808"/>
            <a:ext cx="8856984" cy="1754326"/>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Una de las demostraciones populares en los museos de ciencia incluye la suspensión de una pelota de ping </a:t>
            </a:r>
            <a:r>
              <a:rPr lang="es-MX" dirty="0" err="1">
                <a:latin typeface="Arial" panose="020B0604020202020204" pitchFamily="34" charset="0"/>
                <a:cs typeface="Arial" panose="020B0604020202020204" pitchFamily="34" charset="0"/>
              </a:rPr>
              <a:t>pong</a:t>
            </a:r>
            <a:r>
              <a:rPr lang="es-MX" dirty="0">
                <a:latin typeface="Arial" panose="020B0604020202020204" pitchFamily="34" charset="0"/>
                <a:cs typeface="Arial" panose="020B0604020202020204" pitchFamily="34" charset="0"/>
              </a:rPr>
              <a:t> mediante un chorro ascendente de aire. Los niños se sorprenden porque siempre regresa al centro cuando se empuja con un dedo hacia un lado del chorro. Explique este fenómeno con la ecuación de Bernoulli. También determine la velocidad del aire si la pelota tiene una masa de 2.6 g y un diámetro de 3.8 cm. Suponga que el aire está a 1 atm y 25°C.</a:t>
            </a:r>
            <a:endParaRPr lang="es-PE"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925949A3-5CAB-4BEA-96D0-BC33DD232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536" y="3502982"/>
            <a:ext cx="1440160" cy="3008075"/>
          </a:xfrm>
          <a:prstGeom prst="rect">
            <a:avLst/>
          </a:prstGeom>
        </p:spPr>
      </p:pic>
    </p:spTree>
    <p:extLst>
      <p:ext uri="{BB962C8B-B14F-4D97-AF65-F5344CB8AC3E}">
        <p14:creationId xmlns:p14="http://schemas.microsoft.com/office/powerpoint/2010/main" val="3522121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2479084"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a:solidFill>
                  <a:schemeClr val="tx1"/>
                </a:solidFill>
                <a:latin typeface="Arial" panose="020B0604020202020204" pitchFamily="34" charset="0"/>
                <a:cs typeface="Arial" panose="020B0604020202020204" pitchFamily="34" charset="0"/>
              </a:rPr>
              <a:t>EJERCICIOS</a:t>
            </a:r>
          </a:p>
        </p:txBody>
      </p:sp>
      <p:sp>
        <p:nvSpPr>
          <p:cNvPr id="8" name="Rectángulo 7">
            <a:extLst>
              <a:ext uri="{FF2B5EF4-FFF2-40B4-BE49-F238E27FC236}">
                <a16:creationId xmlns:a16="http://schemas.microsoft.com/office/drawing/2014/main" id="{AF749BE3-B1D5-446C-A074-79A2044B7EBE}"/>
              </a:ext>
            </a:extLst>
          </p:cNvPr>
          <p:cNvSpPr/>
          <p:nvPr/>
        </p:nvSpPr>
        <p:spPr>
          <a:xfrm>
            <a:off x="466675" y="1811650"/>
            <a:ext cx="8828634" cy="2151936"/>
          </a:xfrm>
          <a:prstGeom prst="rect">
            <a:avLst/>
          </a:prstGeom>
        </p:spPr>
        <p:txBody>
          <a:bodyPr wrap="square">
            <a:spAutoFit/>
          </a:bodyPr>
          <a:lstStyle/>
          <a:p>
            <a:pPr algn="just">
              <a:lnSpc>
                <a:spcPct val="107000"/>
              </a:lnSpc>
              <a:spcAft>
                <a:spcPts val="0"/>
              </a:spcAft>
            </a:pPr>
            <a:r>
              <a:rPr lang="es-PE" dirty="0">
                <a:latin typeface="Arial" panose="020B0604020202020204" pitchFamily="34" charset="0"/>
                <a:ea typeface="Calibri" panose="020F0502020204030204" pitchFamily="34" charset="0"/>
                <a:cs typeface="Times New Roman" panose="02020603050405020304" pitchFamily="18" charset="0"/>
              </a:rPr>
              <a:t>La Ley de Stokes puede emplearse para determinar la viscosidad de un fluido cuando se libera dentro de él un objeto esférico y se mide su velocidad terminal en dicho fluido. Esto puede hacerse cuando se grafica la distancia recorrida contra el tiempo y se observa cuando se vuelve lineal la curva. Durante este experimento, una pelota de vidrio de 3 mm de diámetro (</a:t>
            </a:r>
            <a:r>
              <a:rPr lang="es-PE" i="1" dirty="0">
                <a:latin typeface="Arial" panose="020B0604020202020204" pitchFamily="34" charset="0"/>
                <a:ea typeface="Calibri" panose="020F0502020204030204" pitchFamily="34" charset="0"/>
                <a:cs typeface="Times New Roman" panose="02020603050405020304" pitchFamily="18" charset="0"/>
              </a:rPr>
              <a:t>r</a:t>
            </a:r>
            <a:r>
              <a:rPr lang="es-PE" dirty="0">
                <a:latin typeface="Arial" panose="020B0604020202020204" pitchFamily="34" charset="0"/>
                <a:ea typeface="Calibri" panose="020F0502020204030204" pitchFamily="34" charset="0"/>
                <a:cs typeface="Times New Roman" panose="02020603050405020304" pitchFamily="18" charset="0"/>
              </a:rPr>
              <a:t> = 2 500 kg/m</a:t>
            </a:r>
            <a:r>
              <a:rPr lang="es-PE" baseline="30000" dirty="0">
                <a:latin typeface="Arial" panose="020B0604020202020204" pitchFamily="34" charset="0"/>
                <a:ea typeface="Calibri" panose="020F0502020204030204" pitchFamily="34" charset="0"/>
                <a:cs typeface="Times New Roman" panose="02020603050405020304" pitchFamily="18" charset="0"/>
              </a:rPr>
              <a:t>3</a:t>
            </a:r>
            <a:r>
              <a:rPr lang="es-PE" dirty="0">
                <a:latin typeface="Arial" panose="020B0604020202020204" pitchFamily="34" charset="0"/>
                <a:ea typeface="Calibri" panose="020F0502020204030204" pitchFamily="34" charset="0"/>
                <a:cs typeface="Times New Roman" panose="02020603050405020304" pitchFamily="18" charset="0"/>
              </a:rPr>
              <a:t>) se suelta en un fluido cuya densidad es de 875 kg/m</a:t>
            </a:r>
            <a:r>
              <a:rPr lang="es-PE" baseline="30000" dirty="0">
                <a:latin typeface="Arial" panose="020B0604020202020204" pitchFamily="34" charset="0"/>
                <a:ea typeface="Calibri" panose="020F0502020204030204" pitchFamily="34" charset="0"/>
                <a:cs typeface="Times New Roman" panose="02020603050405020304" pitchFamily="18" charset="0"/>
              </a:rPr>
              <a:t>3</a:t>
            </a:r>
            <a:r>
              <a:rPr lang="es-PE" dirty="0">
                <a:latin typeface="Arial" panose="020B0604020202020204" pitchFamily="34" charset="0"/>
                <a:ea typeface="Calibri" panose="020F0502020204030204" pitchFamily="34" charset="0"/>
                <a:cs typeface="Times New Roman" panose="02020603050405020304" pitchFamily="18" charset="0"/>
              </a:rPr>
              <a:t>, y la velocidad terminal se mide en 0.12 m/s. Sin considerar los efectos de pared, determine la viscosidad del fluido.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Imagen 9">
            <a:extLst>
              <a:ext uri="{FF2B5EF4-FFF2-40B4-BE49-F238E27FC236}">
                <a16:creationId xmlns:a16="http://schemas.microsoft.com/office/drawing/2014/main" id="{1F45D2F3-BD84-475E-9249-BB735FC1D8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756" y="4129990"/>
            <a:ext cx="2437052" cy="2404844"/>
          </a:xfrm>
          <a:prstGeom prst="rect">
            <a:avLst/>
          </a:prstGeom>
        </p:spPr>
      </p:pic>
    </p:spTree>
    <p:extLst>
      <p:ext uri="{BB962C8B-B14F-4D97-AF65-F5344CB8AC3E}">
        <p14:creationId xmlns:p14="http://schemas.microsoft.com/office/powerpoint/2010/main" val="847680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0" name="Content Placeholder 4"/>
          <p:cNvSpPr txBox="1">
            <a:spLocks/>
          </p:cNvSpPr>
          <p:nvPr/>
        </p:nvSpPr>
        <p:spPr>
          <a:xfrm>
            <a:off x="4730540" y="1567424"/>
            <a:ext cx="4896544" cy="4813904"/>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2000" dirty="0">
                <a:solidFill>
                  <a:schemeClr val="tx1"/>
                </a:solidFill>
                <a:latin typeface="Arial" panose="020B0604020202020204" pitchFamily="34" charset="0"/>
                <a:cs typeface="Arial" panose="020B0604020202020204" pitchFamily="34" charset="0"/>
              </a:rPr>
              <a:t>La viscosidad representa la fricción que existe al desplazarse relativo de un fluido.</a:t>
            </a:r>
          </a:p>
          <a:p>
            <a:pPr algn="just"/>
            <a:r>
              <a:rPr lang="es-MX" sz="2000" dirty="0">
                <a:solidFill>
                  <a:schemeClr val="tx1"/>
                </a:solidFill>
              </a:rPr>
              <a:t>La ecuación de Poiseville es aplicable al movimiento de fluidos en tuberías horizontales que tienen un régimen laminar.</a:t>
            </a:r>
          </a:p>
          <a:p>
            <a:pPr algn="just">
              <a:spcAft>
                <a:spcPts val="1200"/>
              </a:spcAft>
            </a:pPr>
            <a:r>
              <a:rPr lang="es-PE" sz="2000" dirty="0">
                <a:solidFill>
                  <a:schemeClr val="tx1"/>
                </a:solidFill>
              </a:rPr>
              <a:t>El numero de Reynolds caracteriza el flujo de fluido según la geometría de la tubería y velocidad de desplazamiento.</a:t>
            </a:r>
          </a:p>
          <a:p>
            <a:pPr algn="just">
              <a:spcAft>
                <a:spcPts val="1200"/>
              </a:spcAft>
            </a:pPr>
            <a:r>
              <a:rPr lang="es-PE" sz="2000" dirty="0">
                <a:solidFill>
                  <a:schemeClr val="tx1"/>
                </a:solidFill>
              </a:rPr>
              <a:t>La ley de Stokes es aplicable solo a geometrías  esféricas desplazándose en fluidos con Reynolds menor a 1.</a:t>
            </a:r>
          </a:p>
        </p:txBody>
      </p:sp>
      <p:sp>
        <p:nvSpPr>
          <p:cNvPr id="14" name="Rectángulo redondeado 13"/>
          <p:cNvSpPr/>
          <p:nvPr/>
        </p:nvSpPr>
        <p:spPr>
          <a:xfrm>
            <a:off x="1640633" y="980728"/>
            <a:ext cx="3096343"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CONCLUSIONES</a:t>
            </a:r>
          </a:p>
        </p:txBody>
      </p:sp>
      <p:pic>
        <p:nvPicPr>
          <p:cNvPr id="15" name="Imagen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528" y="1988840"/>
            <a:ext cx="3739432" cy="3919646"/>
          </a:xfrm>
          <a:prstGeom prst="rect">
            <a:avLst/>
          </a:prstGeom>
        </p:spPr>
      </p:pic>
    </p:spTree>
    <p:extLst>
      <p:ext uri="{BB962C8B-B14F-4D97-AF65-F5344CB8AC3E}">
        <p14:creationId xmlns:p14="http://schemas.microsoft.com/office/powerpoint/2010/main" val="3270421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3312367"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METACOGNICIÓN</a:t>
            </a:r>
          </a:p>
        </p:txBody>
      </p:sp>
      <p:sp>
        <p:nvSpPr>
          <p:cNvPr id="8" name="Bocadillo: rectángulo con esquinas redondeadas 1">
            <a:extLst>
              <a:ext uri="{FF2B5EF4-FFF2-40B4-BE49-F238E27FC236}">
                <a16:creationId xmlns:a16="http://schemas.microsoft.com/office/drawing/2014/main" id="{82BC446B-F639-467D-A250-25259F9EF4B8}"/>
              </a:ext>
            </a:extLst>
          </p:cNvPr>
          <p:cNvSpPr/>
          <p:nvPr/>
        </p:nvSpPr>
        <p:spPr>
          <a:xfrm>
            <a:off x="992560" y="2420888"/>
            <a:ext cx="7488832" cy="2664296"/>
          </a:xfrm>
          <a:prstGeom prst="wedgeRoundRectCallout">
            <a:avLst>
              <a:gd name="adj1" fmla="val -17962"/>
              <a:gd name="adj2" fmla="val 48532"/>
              <a:gd name="adj3" fmla="val 16667"/>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Arial" panose="020B0604020202020204" pitchFamily="34" charset="0"/>
              <a:buChar char="•"/>
            </a:pPr>
            <a:r>
              <a:rPr lang="es-PE" sz="2400" dirty="0">
                <a:solidFill>
                  <a:schemeClr val="tx1"/>
                </a:solidFill>
                <a:cs typeface="Arial" pitchFamily="34" charset="0"/>
              </a:rPr>
              <a:t>¿Por qué un fluido ejerce una fuerza de arrastre sobre las superficies sumergidas?</a:t>
            </a:r>
          </a:p>
          <a:p>
            <a:pPr marL="285750" indent="-285750" algn="just">
              <a:buFont typeface="Arial" panose="020B0604020202020204" pitchFamily="34" charset="0"/>
              <a:buChar char="•"/>
            </a:pPr>
            <a:r>
              <a:rPr lang="es-PE" sz="2400" dirty="0">
                <a:solidFill>
                  <a:schemeClr val="tx1"/>
                </a:solidFill>
                <a:cs typeface="Arial" pitchFamily="34" charset="0"/>
              </a:rPr>
              <a:t>¿Cómo altera la viscosidad de un fluido el calculo de flujo volumétrico? </a:t>
            </a:r>
          </a:p>
          <a:p>
            <a:pPr marL="285750" indent="-285750" algn="just">
              <a:buFont typeface="Arial" panose="020B0604020202020204" pitchFamily="34" charset="0"/>
              <a:buChar char="•"/>
            </a:pPr>
            <a:r>
              <a:rPr lang="es-PE" sz="2400" dirty="0">
                <a:solidFill>
                  <a:schemeClr val="tx1"/>
                </a:solidFill>
                <a:cs typeface="Arial" pitchFamily="34" charset="0"/>
              </a:rPr>
              <a:t>¿La ecuación de Poiseville tiene la misma expresión para fluidos en tuberías inclinadas?</a:t>
            </a:r>
          </a:p>
        </p:txBody>
      </p:sp>
    </p:spTree>
    <p:extLst>
      <p:ext uri="{BB962C8B-B14F-4D97-AF65-F5344CB8AC3E}">
        <p14:creationId xmlns:p14="http://schemas.microsoft.com/office/powerpoint/2010/main" val="3458463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448271"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REFERENCIAS</a:t>
            </a:r>
          </a:p>
        </p:txBody>
      </p:sp>
      <p:sp>
        <p:nvSpPr>
          <p:cNvPr id="7" name="Rectángulo 6"/>
          <p:cNvSpPr/>
          <p:nvPr/>
        </p:nvSpPr>
        <p:spPr>
          <a:xfrm>
            <a:off x="272480" y="1700808"/>
            <a:ext cx="9561512" cy="4939814"/>
          </a:xfrm>
          <a:prstGeom prst="rect">
            <a:avLst/>
          </a:prstGeom>
        </p:spPr>
        <p:txBody>
          <a:bodyPr wrap="square">
            <a:spAutoFit/>
          </a:bodyPr>
          <a:lstStyle/>
          <a:p>
            <a:r>
              <a:rPr lang="es-ES" sz="1600" b="1" u="sng" dirty="0"/>
              <a:t>Bibliografía Básica:</a:t>
            </a:r>
            <a:r>
              <a:rPr lang="es-ES" sz="1600" dirty="0"/>
              <a:t> </a:t>
            </a:r>
            <a:endParaRPr lang="es-PE" sz="1600" dirty="0"/>
          </a:p>
          <a:p>
            <a:r>
              <a:rPr lang="es-ES" sz="1600" dirty="0"/>
              <a:t>1. </a:t>
            </a:r>
            <a:r>
              <a:rPr lang="es-ES" sz="1600" b="1" dirty="0" err="1"/>
              <a:t>Serway</a:t>
            </a:r>
            <a:r>
              <a:rPr lang="es-ES" sz="1600" b="1" dirty="0"/>
              <a:t>, R. A. y </a:t>
            </a:r>
            <a:r>
              <a:rPr lang="es-ES" sz="1600" b="1" dirty="0" err="1"/>
              <a:t>Jewett</a:t>
            </a:r>
            <a:r>
              <a:rPr lang="es-ES" sz="1600" b="1" dirty="0"/>
              <a:t>, J. W.</a:t>
            </a:r>
            <a:r>
              <a:rPr lang="es-ES" sz="1600" dirty="0"/>
              <a:t> </a:t>
            </a:r>
            <a:r>
              <a:rPr lang="es-ES" sz="1600" i="1" dirty="0" err="1"/>
              <a:t>Fisica</a:t>
            </a:r>
            <a:r>
              <a:rPr lang="es-ES" sz="1600" i="1" dirty="0"/>
              <a:t> para Ciencias e </a:t>
            </a:r>
            <a:r>
              <a:rPr lang="es-ES" sz="1600" i="1" dirty="0" err="1"/>
              <a:t>Ingeneiría</a:t>
            </a:r>
            <a:r>
              <a:rPr lang="es-ES" sz="1600" i="1" dirty="0"/>
              <a:t>. </a:t>
            </a:r>
            <a:r>
              <a:rPr lang="es-ES" sz="1600" dirty="0"/>
              <a:t>México : </a:t>
            </a:r>
            <a:r>
              <a:rPr lang="es-ES" sz="1600" dirty="0" err="1"/>
              <a:t>Cengage</a:t>
            </a:r>
            <a:r>
              <a:rPr lang="es-ES" sz="1600" dirty="0"/>
              <a:t> </a:t>
            </a:r>
            <a:r>
              <a:rPr lang="es-ES" sz="1600" dirty="0" err="1"/>
              <a:t>Learning</a:t>
            </a:r>
            <a:r>
              <a:rPr lang="es-ES" sz="1600" dirty="0"/>
              <a:t>, 2015. Vol. I.</a:t>
            </a:r>
            <a:endParaRPr lang="es-PE" sz="1600" dirty="0"/>
          </a:p>
          <a:p>
            <a:r>
              <a:rPr lang="es-ES" sz="1600" dirty="0"/>
              <a:t>2. </a:t>
            </a:r>
            <a:r>
              <a:rPr lang="es-ES" sz="1600" b="1" dirty="0" err="1"/>
              <a:t>Resnick</a:t>
            </a:r>
            <a:r>
              <a:rPr lang="es-ES" sz="1600" b="1" dirty="0"/>
              <a:t>, R., </a:t>
            </a:r>
            <a:r>
              <a:rPr lang="es-ES" sz="1600" b="1" dirty="0" err="1"/>
              <a:t>Halliday</a:t>
            </a:r>
            <a:r>
              <a:rPr lang="es-ES" sz="1600" b="1" dirty="0"/>
              <a:t>, D. y </a:t>
            </a:r>
            <a:r>
              <a:rPr lang="es-ES" sz="1600" b="1" dirty="0" err="1"/>
              <a:t>Krane</a:t>
            </a:r>
            <a:r>
              <a:rPr lang="es-ES" sz="1600" b="1" dirty="0"/>
              <a:t>, K. S.</a:t>
            </a:r>
            <a:r>
              <a:rPr lang="es-ES" sz="1600" dirty="0"/>
              <a:t> </a:t>
            </a:r>
            <a:r>
              <a:rPr lang="es-ES" sz="1600" i="1" dirty="0"/>
              <a:t>Física. </a:t>
            </a:r>
            <a:r>
              <a:rPr lang="es-ES" sz="1600" dirty="0"/>
              <a:t>Quinta. México : </a:t>
            </a:r>
            <a:r>
              <a:rPr lang="es-ES" sz="1600" dirty="0" err="1"/>
              <a:t>Compañia</a:t>
            </a:r>
            <a:r>
              <a:rPr lang="es-ES" sz="1600" dirty="0"/>
              <a:t> editorial Continental, 2014. Vol. I.</a:t>
            </a:r>
            <a:endParaRPr lang="es-PE" sz="1600" dirty="0"/>
          </a:p>
          <a:p>
            <a:r>
              <a:rPr lang="es-ES" sz="1600" dirty="0"/>
              <a:t>3. </a:t>
            </a:r>
            <a:r>
              <a:rPr lang="es-ES" sz="1600" b="1" dirty="0" err="1"/>
              <a:t>Tipler</a:t>
            </a:r>
            <a:r>
              <a:rPr lang="es-ES" sz="1600" b="1" dirty="0"/>
              <a:t>, P. A. y Mosca, G.</a:t>
            </a:r>
            <a:r>
              <a:rPr lang="es-ES" sz="1600" dirty="0"/>
              <a:t> </a:t>
            </a:r>
            <a:r>
              <a:rPr lang="es-ES" sz="1600" i="1" dirty="0"/>
              <a:t>Física para la Ciencia y la Tecnología. </a:t>
            </a:r>
            <a:r>
              <a:rPr lang="es-ES" sz="1600" dirty="0"/>
              <a:t>Sexta. Barcelona : </a:t>
            </a:r>
            <a:r>
              <a:rPr lang="es-ES" sz="1600" dirty="0" err="1"/>
              <a:t>Reverté</a:t>
            </a:r>
            <a:r>
              <a:rPr lang="es-ES" sz="1600" dirty="0"/>
              <a:t> S.A., 2010. Vol. I.</a:t>
            </a:r>
            <a:endParaRPr lang="es-PE" sz="1600" dirty="0"/>
          </a:p>
          <a:p>
            <a:r>
              <a:rPr lang="es-ES" sz="1600" dirty="0"/>
              <a:t>4. </a:t>
            </a:r>
            <a:r>
              <a:rPr lang="es-ES" sz="1600" b="1" dirty="0" err="1"/>
              <a:t>Zemansky</a:t>
            </a:r>
            <a:r>
              <a:rPr lang="es-ES" sz="1600" b="1" dirty="0"/>
              <a:t>, M. W. y </a:t>
            </a:r>
            <a:r>
              <a:rPr lang="es-ES" sz="1600" b="1" dirty="0" err="1"/>
              <a:t>Freedman</a:t>
            </a:r>
            <a:r>
              <a:rPr lang="es-ES" sz="1600" b="1" dirty="0"/>
              <a:t>, R.A.</a:t>
            </a:r>
            <a:r>
              <a:rPr lang="es-ES" sz="1600" dirty="0"/>
              <a:t> </a:t>
            </a:r>
            <a:r>
              <a:rPr lang="es-ES" sz="1600" i="1" dirty="0"/>
              <a:t>Física Universitaria. </a:t>
            </a:r>
            <a:r>
              <a:rPr lang="es-ES" sz="1600" dirty="0"/>
              <a:t>México : Pearson </a:t>
            </a:r>
            <a:r>
              <a:rPr lang="es-ES" sz="1600" dirty="0" err="1"/>
              <a:t>Education</a:t>
            </a:r>
            <a:r>
              <a:rPr lang="es-ES" sz="1600" dirty="0"/>
              <a:t>, 2009. Vol. I.</a:t>
            </a:r>
            <a:endParaRPr lang="es-PE" sz="1600" dirty="0"/>
          </a:p>
          <a:p>
            <a:r>
              <a:rPr lang="es-ES" sz="1600" dirty="0"/>
              <a:t>5. </a:t>
            </a:r>
            <a:r>
              <a:rPr lang="es-ES" sz="1600" b="1" dirty="0" err="1"/>
              <a:t>Fishbane</a:t>
            </a:r>
            <a:r>
              <a:rPr lang="es-ES" sz="1600" b="1" dirty="0"/>
              <a:t>, P.M., </a:t>
            </a:r>
            <a:r>
              <a:rPr lang="es-ES" sz="1600" b="1" dirty="0" err="1"/>
              <a:t>Gasiorowicz</a:t>
            </a:r>
            <a:r>
              <a:rPr lang="es-ES" sz="1600" b="1" dirty="0"/>
              <a:t>, S. y </a:t>
            </a:r>
            <a:r>
              <a:rPr lang="es-ES" sz="1600" b="1" dirty="0" err="1"/>
              <a:t>Thornton</a:t>
            </a:r>
            <a:r>
              <a:rPr lang="es-ES" sz="1600" b="1" dirty="0"/>
              <a:t>, S.T.</a:t>
            </a:r>
            <a:r>
              <a:rPr lang="es-ES" sz="1600" dirty="0"/>
              <a:t> </a:t>
            </a:r>
            <a:r>
              <a:rPr lang="es-ES" sz="1600" i="1" dirty="0"/>
              <a:t>Física para Ciencias e </a:t>
            </a:r>
            <a:r>
              <a:rPr lang="es-ES" sz="1600" i="1" dirty="0" err="1"/>
              <a:t>Ingeneiría</a:t>
            </a:r>
            <a:r>
              <a:rPr lang="es-ES" sz="1600" i="1" dirty="0"/>
              <a:t>. </a:t>
            </a:r>
            <a:r>
              <a:rPr lang="es-ES" sz="1600" dirty="0"/>
              <a:t>México : Prentice Hall Hispanoamericana, 1996. Vol. I.</a:t>
            </a:r>
            <a:endParaRPr lang="es-PE" sz="1600" dirty="0"/>
          </a:p>
          <a:p>
            <a:r>
              <a:rPr lang="es-ES" sz="1600" dirty="0"/>
              <a:t>6. </a:t>
            </a:r>
            <a:r>
              <a:rPr lang="es-ES" sz="1600" b="1" dirty="0"/>
              <a:t>Alonso, M. y </a:t>
            </a:r>
            <a:r>
              <a:rPr lang="es-ES" sz="1600" b="1" dirty="0" err="1"/>
              <a:t>Finn</a:t>
            </a:r>
            <a:r>
              <a:rPr lang="es-ES" sz="1600" b="1" dirty="0"/>
              <a:t>, E.J.</a:t>
            </a:r>
            <a:r>
              <a:rPr lang="es-ES" sz="1600" dirty="0"/>
              <a:t> </a:t>
            </a:r>
            <a:r>
              <a:rPr lang="es-ES" sz="1600" i="1" dirty="0"/>
              <a:t>Física: Mecánica. </a:t>
            </a:r>
            <a:r>
              <a:rPr lang="es-ES" sz="1600" dirty="0"/>
              <a:t>México : Fondo Educativo Interamericano S. A., 1971. Vol. I.</a:t>
            </a:r>
            <a:endParaRPr lang="es-PE" sz="1600" dirty="0"/>
          </a:p>
          <a:p>
            <a:r>
              <a:rPr lang="es-ES" sz="1600" b="1" u="sng" dirty="0"/>
              <a:t>Bibliografía Complementaria:</a:t>
            </a:r>
            <a:endParaRPr lang="es-PE" sz="1600" b="1" u="sng" dirty="0"/>
          </a:p>
          <a:p>
            <a:r>
              <a:rPr lang="es-ES" sz="1600" b="1" dirty="0"/>
              <a:t> </a:t>
            </a:r>
            <a:r>
              <a:rPr lang="es-ES" sz="1600" dirty="0"/>
              <a:t>7. </a:t>
            </a:r>
            <a:r>
              <a:rPr lang="es-ES" sz="1600" b="1" dirty="0" err="1"/>
              <a:t>Beer</a:t>
            </a:r>
            <a:r>
              <a:rPr lang="es-ES" sz="1600" b="1" dirty="0"/>
              <a:t>, F. P., y otros.</a:t>
            </a:r>
            <a:r>
              <a:rPr lang="es-ES" sz="1600" dirty="0"/>
              <a:t> </a:t>
            </a:r>
            <a:r>
              <a:rPr lang="es-ES" sz="1600" i="1" dirty="0"/>
              <a:t>Mecánica vectorial para ingenieros: Dinámica. </a:t>
            </a:r>
            <a:r>
              <a:rPr lang="es-ES" sz="1600" dirty="0"/>
              <a:t>México : Mc Graw Hill, 2010. Vol. Novena.</a:t>
            </a:r>
            <a:endParaRPr lang="es-PE" sz="1600" dirty="0"/>
          </a:p>
          <a:p>
            <a:r>
              <a:rPr lang="es-ES" sz="1600" dirty="0"/>
              <a:t>8. </a:t>
            </a:r>
            <a:r>
              <a:rPr lang="es-ES" sz="1600" b="1" dirty="0" err="1"/>
              <a:t>Beer</a:t>
            </a:r>
            <a:r>
              <a:rPr lang="es-ES" sz="1600" b="1" dirty="0"/>
              <a:t>, F.P., y otros.</a:t>
            </a:r>
            <a:r>
              <a:rPr lang="es-ES" sz="1600" dirty="0"/>
              <a:t> </a:t>
            </a:r>
            <a:r>
              <a:rPr lang="es-ES" sz="1600" i="1" dirty="0"/>
              <a:t>Mecánica Vectorial para Ingenieros: Estática. </a:t>
            </a:r>
            <a:r>
              <a:rPr lang="es-ES" sz="1600" dirty="0"/>
              <a:t>Novena. México : Mc Graw Hill, 2010.</a:t>
            </a:r>
            <a:endParaRPr lang="es-PE" sz="1600" dirty="0"/>
          </a:p>
          <a:p>
            <a:r>
              <a:rPr lang="es-ES" sz="1600" dirty="0"/>
              <a:t>9. </a:t>
            </a:r>
            <a:r>
              <a:rPr lang="es-ES" sz="1600" b="1" dirty="0"/>
              <a:t>Bedford, A. y </a:t>
            </a:r>
            <a:r>
              <a:rPr lang="es-ES" sz="1600" b="1" dirty="0" err="1"/>
              <a:t>Fowler</a:t>
            </a:r>
            <a:r>
              <a:rPr lang="es-ES" sz="1600" b="1" dirty="0"/>
              <a:t>, W.</a:t>
            </a:r>
            <a:r>
              <a:rPr lang="es-ES" sz="1600" dirty="0"/>
              <a:t> </a:t>
            </a:r>
            <a:r>
              <a:rPr lang="es-ES" sz="1600" i="1" dirty="0"/>
              <a:t>Mecánica para Ingeniería: Estática. </a:t>
            </a:r>
            <a:r>
              <a:rPr lang="es-ES" sz="1600" dirty="0"/>
              <a:t>Quinta. México : Pearson Educación, 2008.</a:t>
            </a:r>
            <a:endParaRPr lang="es-PE" sz="1600" dirty="0"/>
          </a:p>
          <a:p>
            <a:r>
              <a:rPr lang="es-ES" sz="1600" dirty="0"/>
              <a:t>10. —. </a:t>
            </a:r>
            <a:r>
              <a:rPr lang="es-ES" sz="1600" i="1" dirty="0"/>
              <a:t>Mecánica para Ingeniería: Dinámica. </a:t>
            </a:r>
            <a:r>
              <a:rPr lang="es-ES" sz="1600" dirty="0"/>
              <a:t>Quinta. México : Pearson Educación, 2008.</a:t>
            </a:r>
            <a:endParaRPr lang="es-PE" sz="1600" dirty="0"/>
          </a:p>
          <a:p>
            <a:r>
              <a:rPr lang="es-ES" sz="1600" dirty="0"/>
              <a:t>11. </a:t>
            </a:r>
            <a:r>
              <a:rPr lang="es-ES" sz="1600" b="1" dirty="0" err="1"/>
              <a:t>Hibbeler</a:t>
            </a:r>
            <a:r>
              <a:rPr lang="es-ES" sz="1600" b="1" dirty="0"/>
              <a:t>, R. C.</a:t>
            </a:r>
            <a:r>
              <a:rPr lang="es-ES" sz="1600" dirty="0"/>
              <a:t> </a:t>
            </a:r>
            <a:r>
              <a:rPr lang="es-ES" sz="1600" i="1" dirty="0"/>
              <a:t>Mecánica Vectorial para Ingenieros: Estática. </a:t>
            </a:r>
            <a:r>
              <a:rPr lang="es-ES" sz="1600" dirty="0"/>
              <a:t>Décima. México : Pearson Educación, 2004.</a:t>
            </a:r>
            <a:endParaRPr lang="es-PE" sz="1600" dirty="0"/>
          </a:p>
          <a:p>
            <a:r>
              <a:rPr lang="es-ES" sz="1600" dirty="0"/>
              <a:t>12. —. </a:t>
            </a:r>
            <a:r>
              <a:rPr lang="es-ES" sz="1600" i="1" dirty="0"/>
              <a:t>Mecánica Vectorial para Ingenieros: Dinámica. </a:t>
            </a:r>
            <a:r>
              <a:rPr lang="es-ES" sz="1600" dirty="0"/>
              <a:t>Décima. México : Pearson Educación, 2004.</a:t>
            </a:r>
            <a:r>
              <a:rPr lang="es-ES" sz="1500" dirty="0">
                <a:ea typeface="Symbol" panose="05050102010706020507" pitchFamily="18" charset="2"/>
                <a:cs typeface="Arial" panose="020B0604020202020204" pitchFamily="34" charset="0"/>
              </a:rPr>
              <a:t> </a:t>
            </a:r>
          </a:p>
          <a:p>
            <a:r>
              <a:rPr lang="es-ES" sz="1500" b="1" u="sng" dirty="0">
                <a:ea typeface="Times New Roman" panose="02020603050405020304" pitchFamily="18" charset="0"/>
              </a:rPr>
              <a:t>Fuentes </a:t>
            </a:r>
            <a:r>
              <a:rPr lang="es-ES" sz="1500" b="1" u="sng" dirty="0" err="1">
                <a:ea typeface="Times New Roman" panose="02020603050405020304" pitchFamily="18" charset="0"/>
              </a:rPr>
              <a:t>hemerográficas</a:t>
            </a:r>
            <a:endParaRPr lang="es-ES" sz="1500" b="1" u="sng" dirty="0">
              <a:ea typeface="Times New Roman" panose="02020603050405020304" pitchFamily="18" charset="0"/>
            </a:endParaRPr>
          </a:p>
          <a:p>
            <a:r>
              <a:rPr lang="es-ES" sz="1500" dirty="0" err="1">
                <a:ea typeface="Times New Roman" panose="02020603050405020304" pitchFamily="18" charset="0"/>
              </a:rPr>
              <a:t>Physics</a:t>
            </a:r>
            <a:r>
              <a:rPr lang="es-ES" sz="1500" dirty="0">
                <a:ea typeface="Times New Roman" panose="02020603050405020304" pitchFamily="18" charset="0"/>
              </a:rPr>
              <a:t> </a:t>
            </a:r>
            <a:r>
              <a:rPr lang="es-ES" sz="1500" dirty="0" err="1">
                <a:ea typeface="Times New Roman" panose="02020603050405020304" pitchFamily="18" charset="0"/>
              </a:rPr>
              <a:t>today</a:t>
            </a:r>
            <a:r>
              <a:rPr lang="es-ES" sz="1500" dirty="0">
                <a:ea typeface="Times New Roman" panose="02020603050405020304" pitchFamily="18" charset="0"/>
              </a:rPr>
              <a:t>, 68(11), 38(2015); </a:t>
            </a:r>
            <a:r>
              <a:rPr lang="es-ES" sz="1500" dirty="0" err="1">
                <a:ea typeface="Times New Roman" panose="02020603050405020304" pitchFamily="18" charset="0"/>
              </a:rPr>
              <a:t>doi</a:t>
            </a:r>
            <a:r>
              <a:rPr lang="es-ES" sz="1500" dirty="0">
                <a:ea typeface="Times New Roman" panose="02020603050405020304" pitchFamily="18" charset="0"/>
              </a:rPr>
              <a:t> 10.1063/PT 3.2980.</a:t>
            </a:r>
            <a:endParaRPr lang="es-PE" sz="1500" dirty="0">
              <a:ea typeface="Times New Roman" panose="02020603050405020304" pitchFamily="18" charset="0"/>
            </a:endParaRPr>
          </a:p>
          <a:p>
            <a:r>
              <a:rPr lang="es-ES" sz="1500" b="1" u="sng" dirty="0" err="1">
                <a:ea typeface="Times New Roman" panose="02020603050405020304" pitchFamily="18" charset="0"/>
              </a:rPr>
              <a:t>Webgrafia</a:t>
            </a:r>
            <a:endParaRPr lang="es-ES" sz="1500" b="1" u="sng" dirty="0">
              <a:ea typeface="Times New Roman" panose="02020603050405020304" pitchFamily="18" charset="0"/>
            </a:endParaRPr>
          </a:p>
          <a:p>
            <a:r>
              <a:rPr lang="es-PE" sz="1500" u="sng" dirty="0">
                <a:ea typeface="Calibri" panose="020F0502020204030204" pitchFamily="34" charset="0"/>
                <a:cs typeface="Arial" panose="020B0604020202020204" pitchFamily="34" charset="0"/>
                <a:hlinkClick r:id="rId2"/>
              </a:rPr>
              <a:t>http://www.sc.ehu.es/sbweb/fisica/</a:t>
            </a:r>
            <a:endParaRPr lang="es-PE" sz="1500" u="sng" dirty="0">
              <a:ea typeface="Calibri" panose="020F0502020204030204" pitchFamily="34" charset="0"/>
              <a:cs typeface="Arial" panose="020B0604020202020204" pitchFamily="34" charset="0"/>
            </a:endParaRPr>
          </a:p>
          <a:p>
            <a:r>
              <a:rPr lang="es-PE" sz="1500" u="sng" dirty="0">
                <a:ea typeface="Calibri" panose="020F0502020204030204" pitchFamily="34" charset="0"/>
                <a:cs typeface="Arial" panose="020B0604020202020204" pitchFamily="34" charset="0"/>
                <a:hlinkClick r:id="rId3"/>
              </a:rPr>
              <a:t>http://www.fisicarecreativa.com/</a:t>
            </a:r>
            <a:endParaRPr lang="es-PE" sz="1500" dirty="0">
              <a:effectLst/>
              <a:ea typeface="Calibri" panose="020F0502020204030204" pitchFamily="34" charset="0"/>
            </a:endParaRPr>
          </a:p>
        </p:txBody>
      </p:sp>
    </p:spTree>
    <p:extLst>
      <p:ext uri="{BB962C8B-B14F-4D97-AF65-F5344CB8AC3E}">
        <p14:creationId xmlns:p14="http://schemas.microsoft.com/office/powerpoint/2010/main" val="485000593"/>
      </p:ext>
    </p:extLst>
  </p:cSld>
  <p:clrMapOvr>
    <a:masterClrMapping/>
  </p:clrMapOvr>
</p:sld>
</file>

<file path=ppt/theme/theme1.xml><?xml version="1.0" encoding="utf-8"?>
<a:theme xmlns:a="http://schemas.openxmlformats.org/drawingml/2006/main" name="PATR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PATRON</Template>
  <TotalTime>10621</TotalTime>
  <Words>1663</Words>
  <Application>Microsoft Office PowerPoint</Application>
  <PresentationFormat>A4 (210 x 297 mm)</PresentationFormat>
  <Paragraphs>226</Paragraphs>
  <Slides>20</Slides>
  <Notes>0</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20</vt:i4>
      </vt:variant>
    </vt:vector>
  </HeadingPairs>
  <TitlesOfParts>
    <vt:vector size="30" baseType="lpstr">
      <vt:lpstr>Arial</vt:lpstr>
      <vt:lpstr>Arial Narrow</vt:lpstr>
      <vt:lpstr>Calibri</vt:lpstr>
      <vt:lpstr>Cambria Math</vt:lpstr>
      <vt:lpstr>Garamond</vt:lpstr>
      <vt:lpstr>Symbol</vt:lpstr>
      <vt:lpstr>Tahoma</vt:lpstr>
      <vt:lpstr>Times New Roman</vt:lpstr>
      <vt:lpstr>PATRON</vt:lpstr>
      <vt:lpstr>Equation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Privada del Norte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Delfin Narciso</dc:creator>
  <cp:lastModifiedBy>USUARIO</cp:lastModifiedBy>
  <cp:revision>520</cp:revision>
  <dcterms:created xsi:type="dcterms:W3CDTF">2012-09-19T03:34:19Z</dcterms:created>
  <dcterms:modified xsi:type="dcterms:W3CDTF">2019-10-24T21:35:15Z</dcterms:modified>
</cp:coreProperties>
</file>