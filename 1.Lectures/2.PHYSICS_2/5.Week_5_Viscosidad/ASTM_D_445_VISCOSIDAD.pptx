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25"/>
  </p:notesMasterIdLst>
  <p:handoutMasterIdLst>
    <p:handoutMasterId r:id="rId26"/>
  </p:handoutMasterIdLst>
  <p:sldIdLst>
    <p:sldId id="256" r:id="rId2"/>
    <p:sldId id="257" r:id="rId3"/>
    <p:sldId id="258" r:id="rId4"/>
    <p:sldId id="259" r:id="rId5"/>
    <p:sldId id="260" r:id="rId6"/>
    <p:sldId id="270" r:id="rId7"/>
    <p:sldId id="271" r:id="rId8"/>
    <p:sldId id="264" r:id="rId9"/>
    <p:sldId id="265" r:id="rId10"/>
    <p:sldId id="272" r:id="rId11"/>
    <p:sldId id="273" r:id="rId12"/>
    <p:sldId id="274" r:id="rId13"/>
    <p:sldId id="275" r:id="rId14"/>
    <p:sldId id="269" r:id="rId15"/>
    <p:sldId id="276" r:id="rId16"/>
    <p:sldId id="277" r:id="rId17"/>
    <p:sldId id="278" r:id="rId18"/>
    <p:sldId id="279" r:id="rId19"/>
    <p:sldId id="280" r:id="rId20"/>
    <p:sldId id="281" r:id="rId21"/>
    <p:sldId id="283" r:id="rId22"/>
    <p:sldId id="285" r:id="rId23"/>
    <p:sldId id="286" r:id="rId24"/>
  </p:sldIdLst>
  <p:sldSz cx="9144000" cy="6858000" type="screen4x3"/>
  <p:notesSz cx="6797675" cy="9926638"/>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00" d="100"/>
        <a:sy n="100" d="100"/>
      </p:scale>
      <p:origin x="0" y="0"/>
    </p:cViewPr>
  </p:notesTextViewPr>
  <p:notesViewPr>
    <p:cSldViewPr>
      <p:cViewPr varScale="1">
        <p:scale>
          <a:sx n="59" d="100"/>
          <a:sy n="59" d="100"/>
        </p:scale>
        <p:origin x="-2508" y="-78"/>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PE"/>
          </a:p>
        </p:txBody>
      </p:sp>
      <p:sp>
        <p:nvSpPr>
          <p:cNvPr id="3" name="2 Marcador de fecha"/>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C9A1305C-2EAE-4A74-91D5-4477220E86D4}" type="datetimeFigureOut">
              <a:rPr lang="es-PE" smtClean="0"/>
              <a:pPr/>
              <a:t>07/11/2013</a:t>
            </a:fld>
            <a:endParaRPr lang="es-PE"/>
          </a:p>
        </p:txBody>
      </p:sp>
      <p:sp>
        <p:nvSpPr>
          <p:cNvPr id="4" name="3 Marcador de pie de página"/>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PE"/>
          </a:p>
        </p:txBody>
      </p:sp>
      <p:sp>
        <p:nvSpPr>
          <p:cNvPr id="5" name="4 Marcador de número de diapositiva"/>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2CF0D5E2-6FF4-415B-A343-8775ACD46E64}" type="slidenum">
              <a:rPr lang="es-PE" smtClean="0"/>
              <a:pPr/>
              <a:t>‹Nº›</a:t>
            </a:fld>
            <a:endParaRPr lang="es-PE"/>
          </a:p>
        </p:txBody>
      </p:sp>
    </p:spTree>
    <p:extLst>
      <p:ext uri="{BB962C8B-B14F-4D97-AF65-F5344CB8AC3E}">
        <p14:creationId xmlns:p14="http://schemas.microsoft.com/office/powerpoint/2010/main" val="3103049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PE"/>
          </a:p>
        </p:txBody>
      </p:sp>
      <p:sp>
        <p:nvSpPr>
          <p:cNvPr id="3" name="2 Marcador de fecha"/>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27929D2A-9A2C-4106-B44F-E11EAE555748}" type="datetimeFigureOut">
              <a:rPr lang="es-PE" smtClean="0"/>
              <a:pPr/>
              <a:t>07/11/2013</a:t>
            </a:fld>
            <a:endParaRPr lang="es-PE"/>
          </a:p>
        </p:txBody>
      </p:sp>
      <p:sp>
        <p:nvSpPr>
          <p:cNvPr id="4" name="3 Marcador de imagen de diapositiva"/>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s-PE"/>
          </a:p>
        </p:txBody>
      </p:sp>
      <p:sp>
        <p:nvSpPr>
          <p:cNvPr id="5" name="4 Marcador de notas"/>
          <p:cNvSpPr>
            <a:spLocks noGrp="1"/>
          </p:cNvSpPr>
          <p:nvPr>
            <p:ph type="body" sz="quarter" idx="3"/>
          </p:nvPr>
        </p:nvSpPr>
        <p:spPr>
          <a:xfrm>
            <a:off x="679768" y="4715153"/>
            <a:ext cx="5438140" cy="4466987"/>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6" name="5 Marcador de pie de página"/>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es-PE"/>
          </a:p>
        </p:txBody>
      </p:sp>
      <p:sp>
        <p:nvSpPr>
          <p:cNvPr id="7" name="6 Marcador de número de diapositiva"/>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FFF0329B-7B92-485D-9378-2F6FBE824242}" type="slidenum">
              <a:rPr lang="es-PE" smtClean="0"/>
              <a:pPr/>
              <a:t>‹Nº›</a:t>
            </a:fld>
            <a:endParaRPr lang="es-PE"/>
          </a:p>
        </p:txBody>
      </p:sp>
    </p:spTree>
    <p:extLst>
      <p:ext uri="{BB962C8B-B14F-4D97-AF65-F5344CB8AC3E}">
        <p14:creationId xmlns:p14="http://schemas.microsoft.com/office/powerpoint/2010/main" val="671924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PE"/>
          </a:p>
        </p:txBody>
      </p:sp>
      <p:sp>
        <p:nvSpPr>
          <p:cNvPr id="4" name="3 Marcador de número de diapositiva"/>
          <p:cNvSpPr>
            <a:spLocks noGrp="1"/>
          </p:cNvSpPr>
          <p:nvPr>
            <p:ph type="sldNum" sz="quarter" idx="10"/>
          </p:nvPr>
        </p:nvSpPr>
        <p:spPr/>
        <p:txBody>
          <a:bodyPr/>
          <a:lstStyle/>
          <a:p>
            <a:fld id="{FFF0329B-7B92-485D-9378-2F6FBE824242}" type="slidenum">
              <a:rPr lang="es-PE" smtClean="0"/>
              <a:pPr/>
              <a:t>1</a:t>
            </a:fld>
            <a:endParaRPr lang="es-P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PE"/>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PE"/>
          </a:p>
        </p:txBody>
      </p:sp>
      <p:sp>
        <p:nvSpPr>
          <p:cNvPr id="4" name="3 Marcador de fecha"/>
          <p:cNvSpPr>
            <a:spLocks noGrp="1"/>
          </p:cNvSpPr>
          <p:nvPr>
            <p:ph type="dt" sz="half" idx="10"/>
          </p:nvPr>
        </p:nvSpPr>
        <p:spPr/>
        <p:txBody>
          <a:bodyPr/>
          <a:lstStyle/>
          <a:p>
            <a:r>
              <a:rPr lang="es-PE" smtClean="0"/>
              <a:t>17/09/2013</a:t>
            </a:r>
            <a:endParaRPr lang="es-PE"/>
          </a:p>
        </p:txBody>
      </p:sp>
      <p:sp>
        <p:nvSpPr>
          <p:cNvPr id="5" name="4 Marcador de pie de página"/>
          <p:cNvSpPr>
            <a:spLocks noGrp="1"/>
          </p:cNvSpPr>
          <p:nvPr>
            <p:ph type="ftr" sz="quarter" idx="11"/>
          </p:nvPr>
        </p:nvSpPr>
        <p:spPr/>
        <p:txBody>
          <a:bodyPr/>
          <a:lstStyle/>
          <a:p>
            <a:endParaRPr lang="es-PE"/>
          </a:p>
        </p:txBody>
      </p:sp>
      <p:sp>
        <p:nvSpPr>
          <p:cNvPr id="6" name="5 Marcador de número de diapositiva"/>
          <p:cNvSpPr>
            <a:spLocks noGrp="1"/>
          </p:cNvSpPr>
          <p:nvPr>
            <p:ph type="sldNum" sz="quarter" idx="12"/>
          </p:nvPr>
        </p:nvSpPr>
        <p:spPr/>
        <p:txBody>
          <a:bodyPr/>
          <a:lstStyle/>
          <a:p>
            <a:fld id="{98B3CA1D-F324-4C2F-A5D6-7A0579297C8A}" type="slidenum">
              <a:rPr lang="es-PE" smtClean="0"/>
              <a:pPr/>
              <a:t>‹Nº›</a:t>
            </a:fld>
            <a:endParaRPr lang="es-PE"/>
          </a:p>
        </p:txBody>
      </p:sp>
    </p:spTree>
    <p:extLst>
      <p:ext uri="{BB962C8B-B14F-4D97-AF65-F5344CB8AC3E}">
        <p14:creationId xmlns:p14="http://schemas.microsoft.com/office/powerpoint/2010/main" val="764399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PE"/>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3 Marcador de fecha"/>
          <p:cNvSpPr>
            <a:spLocks noGrp="1"/>
          </p:cNvSpPr>
          <p:nvPr>
            <p:ph type="dt" sz="half" idx="10"/>
          </p:nvPr>
        </p:nvSpPr>
        <p:spPr/>
        <p:txBody>
          <a:bodyPr/>
          <a:lstStyle/>
          <a:p>
            <a:r>
              <a:rPr lang="es-PE" smtClean="0"/>
              <a:t>17/09/2013</a:t>
            </a:r>
            <a:endParaRPr lang="es-PE"/>
          </a:p>
        </p:txBody>
      </p:sp>
      <p:sp>
        <p:nvSpPr>
          <p:cNvPr id="5" name="4 Marcador de pie de página"/>
          <p:cNvSpPr>
            <a:spLocks noGrp="1"/>
          </p:cNvSpPr>
          <p:nvPr>
            <p:ph type="ftr" sz="quarter" idx="11"/>
          </p:nvPr>
        </p:nvSpPr>
        <p:spPr/>
        <p:txBody>
          <a:bodyPr/>
          <a:lstStyle/>
          <a:p>
            <a:endParaRPr lang="es-PE"/>
          </a:p>
        </p:txBody>
      </p:sp>
      <p:sp>
        <p:nvSpPr>
          <p:cNvPr id="6" name="5 Marcador de número de diapositiva"/>
          <p:cNvSpPr>
            <a:spLocks noGrp="1"/>
          </p:cNvSpPr>
          <p:nvPr>
            <p:ph type="sldNum" sz="quarter" idx="12"/>
          </p:nvPr>
        </p:nvSpPr>
        <p:spPr/>
        <p:txBody>
          <a:bodyPr/>
          <a:lstStyle/>
          <a:p>
            <a:fld id="{98B3CA1D-F324-4C2F-A5D6-7A0579297C8A}" type="slidenum">
              <a:rPr lang="es-PE" smtClean="0"/>
              <a:pPr/>
              <a:t>‹Nº›</a:t>
            </a:fld>
            <a:endParaRPr lang="es-PE"/>
          </a:p>
        </p:txBody>
      </p:sp>
    </p:spTree>
    <p:extLst>
      <p:ext uri="{BB962C8B-B14F-4D97-AF65-F5344CB8AC3E}">
        <p14:creationId xmlns:p14="http://schemas.microsoft.com/office/powerpoint/2010/main" val="2551553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PE"/>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r>
              <a:rPr lang="es-PE" smtClean="0"/>
              <a:t>17/09/2013</a:t>
            </a:r>
            <a:endParaRPr lang="es-PE"/>
          </a:p>
        </p:txBody>
      </p:sp>
      <p:sp>
        <p:nvSpPr>
          <p:cNvPr id="5" name="4 Marcador de pie de página"/>
          <p:cNvSpPr>
            <a:spLocks noGrp="1"/>
          </p:cNvSpPr>
          <p:nvPr>
            <p:ph type="ftr" sz="quarter" idx="11"/>
          </p:nvPr>
        </p:nvSpPr>
        <p:spPr/>
        <p:txBody>
          <a:bodyPr/>
          <a:lstStyle/>
          <a:p>
            <a:endParaRPr lang="es-PE"/>
          </a:p>
        </p:txBody>
      </p:sp>
      <p:sp>
        <p:nvSpPr>
          <p:cNvPr id="6" name="5 Marcador de número de diapositiva"/>
          <p:cNvSpPr>
            <a:spLocks noGrp="1"/>
          </p:cNvSpPr>
          <p:nvPr>
            <p:ph type="sldNum" sz="quarter" idx="12"/>
          </p:nvPr>
        </p:nvSpPr>
        <p:spPr/>
        <p:txBody>
          <a:bodyPr/>
          <a:lstStyle/>
          <a:p>
            <a:fld id="{98B3CA1D-F324-4C2F-A5D6-7A0579297C8A}" type="slidenum">
              <a:rPr lang="es-PE" smtClean="0"/>
              <a:pPr/>
              <a:t>‹Nº›</a:t>
            </a:fld>
            <a:endParaRPr lang="es-PE"/>
          </a:p>
        </p:txBody>
      </p:sp>
    </p:spTree>
    <p:extLst>
      <p:ext uri="{BB962C8B-B14F-4D97-AF65-F5344CB8AC3E}">
        <p14:creationId xmlns:p14="http://schemas.microsoft.com/office/powerpoint/2010/main" val="2406767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PE"/>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4 Marcador de fecha"/>
          <p:cNvSpPr>
            <a:spLocks noGrp="1"/>
          </p:cNvSpPr>
          <p:nvPr>
            <p:ph type="dt" sz="half" idx="10"/>
          </p:nvPr>
        </p:nvSpPr>
        <p:spPr/>
        <p:txBody>
          <a:bodyPr/>
          <a:lstStyle/>
          <a:p>
            <a:r>
              <a:rPr lang="es-PE" smtClean="0"/>
              <a:t>17/09/2013</a:t>
            </a:r>
            <a:endParaRPr lang="es-PE"/>
          </a:p>
        </p:txBody>
      </p:sp>
      <p:sp>
        <p:nvSpPr>
          <p:cNvPr id="6" name="5 Marcador de pie de página"/>
          <p:cNvSpPr>
            <a:spLocks noGrp="1"/>
          </p:cNvSpPr>
          <p:nvPr>
            <p:ph type="ftr" sz="quarter" idx="11"/>
          </p:nvPr>
        </p:nvSpPr>
        <p:spPr/>
        <p:txBody>
          <a:bodyPr/>
          <a:lstStyle/>
          <a:p>
            <a:endParaRPr lang="es-PE"/>
          </a:p>
        </p:txBody>
      </p:sp>
      <p:sp>
        <p:nvSpPr>
          <p:cNvPr id="7" name="6 Marcador de número de diapositiva"/>
          <p:cNvSpPr>
            <a:spLocks noGrp="1"/>
          </p:cNvSpPr>
          <p:nvPr>
            <p:ph type="sldNum" sz="quarter" idx="12"/>
          </p:nvPr>
        </p:nvSpPr>
        <p:spPr/>
        <p:txBody>
          <a:bodyPr/>
          <a:lstStyle/>
          <a:p>
            <a:fld id="{98B3CA1D-F324-4C2F-A5D6-7A0579297C8A}" type="slidenum">
              <a:rPr lang="es-PE" smtClean="0"/>
              <a:pPr/>
              <a:t>‹Nº›</a:t>
            </a:fld>
            <a:endParaRPr lang="es-PE"/>
          </a:p>
        </p:txBody>
      </p:sp>
    </p:spTree>
    <p:extLst>
      <p:ext uri="{BB962C8B-B14F-4D97-AF65-F5344CB8AC3E}">
        <p14:creationId xmlns:p14="http://schemas.microsoft.com/office/powerpoint/2010/main" val="2061440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PE"/>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6 Marcador de fecha"/>
          <p:cNvSpPr>
            <a:spLocks noGrp="1"/>
          </p:cNvSpPr>
          <p:nvPr>
            <p:ph type="dt" sz="half" idx="10"/>
          </p:nvPr>
        </p:nvSpPr>
        <p:spPr/>
        <p:txBody>
          <a:bodyPr/>
          <a:lstStyle/>
          <a:p>
            <a:r>
              <a:rPr lang="es-PE" smtClean="0"/>
              <a:t>17/09/2013</a:t>
            </a:r>
            <a:endParaRPr lang="es-PE"/>
          </a:p>
        </p:txBody>
      </p:sp>
      <p:sp>
        <p:nvSpPr>
          <p:cNvPr id="8" name="7 Marcador de pie de página"/>
          <p:cNvSpPr>
            <a:spLocks noGrp="1"/>
          </p:cNvSpPr>
          <p:nvPr>
            <p:ph type="ftr" sz="quarter" idx="11"/>
          </p:nvPr>
        </p:nvSpPr>
        <p:spPr/>
        <p:txBody>
          <a:bodyPr/>
          <a:lstStyle/>
          <a:p>
            <a:endParaRPr lang="es-PE"/>
          </a:p>
        </p:txBody>
      </p:sp>
      <p:sp>
        <p:nvSpPr>
          <p:cNvPr id="9" name="8 Marcador de número de diapositiva"/>
          <p:cNvSpPr>
            <a:spLocks noGrp="1"/>
          </p:cNvSpPr>
          <p:nvPr>
            <p:ph type="sldNum" sz="quarter" idx="12"/>
          </p:nvPr>
        </p:nvSpPr>
        <p:spPr/>
        <p:txBody>
          <a:bodyPr/>
          <a:lstStyle/>
          <a:p>
            <a:fld id="{98B3CA1D-F324-4C2F-A5D6-7A0579297C8A}" type="slidenum">
              <a:rPr lang="es-PE" smtClean="0"/>
              <a:pPr/>
              <a:t>‹Nº›</a:t>
            </a:fld>
            <a:endParaRPr lang="es-PE"/>
          </a:p>
        </p:txBody>
      </p:sp>
    </p:spTree>
    <p:extLst>
      <p:ext uri="{BB962C8B-B14F-4D97-AF65-F5344CB8AC3E}">
        <p14:creationId xmlns:p14="http://schemas.microsoft.com/office/powerpoint/2010/main" val="912537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PE"/>
          </a:p>
        </p:txBody>
      </p:sp>
      <p:sp>
        <p:nvSpPr>
          <p:cNvPr id="3" name="2 Marcador de fecha"/>
          <p:cNvSpPr>
            <a:spLocks noGrp="1"/>
          </p:cNvSpPr>
          <p:nvPr>
            <p:ph type="dt" sz="half" idx="10"/>
          </p:nvPr>
        </p:nvSpPr>
        <p:spPr/>
        <p:txBody>
          <a:bodyPr/>
          <a:lstStyle/>
          <a:p>
            <a:r>
              <a:rPr lang="es-PE" smtClean="0"/>
              <a:t>17/09/2013</a:t>
            </a:r>
            <a:endParaRPr lang="es-PE"/>
          </a:p>
        </p:txBody>
      </p:sp>
      <p:sp>
        <p:nvSpPr>
          <p:cNvPr id="4" name="3 Marcador de pie de página"/>
          <p:cNvSpPr>
            <a:spLocks noGrp="1"/>
          </p:cNvSpPr>
          <p:nvPr>
            <p:ph type="ftr" sz="quarter" idx="11"/>
          </p:nvPr>
        </p:nvSpPr>
        <p:spPr/>
        <p:txBody>
          <a:bodyPr/>
          <a:lstStyle/>
          <a:p>
            <a:endParaRPr lang="es-PE"/>
          </a:p>
        </p:txBody>
      </p:sp>
      <p:sp>
        <p:nvSpPr>
          <p:cNvPr id="5" name="4 Marcador de número de diapositiva"/>
          <p:cNvSpPr>
            <a:spLocks noGrp="1"/>
          </p:cNvSpPr>
          <p:nvPr>
            <p:ph type="sldNum" sz="quarter" idx="12"/>
          </p:nvPr>
        </p:nvSpPr>
        <p:spPr/>
        <p:txBody>
          <a:bodyPr/>
          <a:lstStyle/>
          <a:p>
            <a:fld id="{98B3CA1D-F324-4C2F-A5D6-7A0579297C8A}" type="slidenum">
              <a:rPr lang="es-PE" smtClean="0"/>
              <a:pPr/>
              <a:t>‹Nº›</a:t>
            </a:fld>
            <a:endParaRPr lang="es-PE"/>
          </a:p>
        </p:txBody>
      </p:sp>
    </p:spTree>
    <p:extLst>
      <p:ext uri="{BB962C8B-B14F-4D97-AF65-F5344CB8AC3E}">
        <p14:creationId xmlns:p14="http://schemas.microsoft.com/office/powerpoint/2010/main" val="553055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r>
              <a:rPr lang="es-PE" smtClean="0"/>
              <a:t>17/09/2013</a:t>
            </a:r>
            <a:endParaRPr lang="es-PE"/>
          </a:p>
        </p:txBody>
      </p:sp>
      <p:sp>
        <p:nvSpPr>
          <p:cNvPr id="3" name="2 Marcador de pie de página"/>
          <p:cNvSpPr>
            <a:spLocks noGrp="1"/>
          </p:cNvSpPr>
          <p:nvPr>
            <p:ph type="ftr" sz="quarter" idx="11"/>
          </p:nvPr>
        </p:nvSpPr>
        <p:spPr/>
        <p:txBody>
          <a:bodyPr/>
          <a:lstStyle/>
          <a:p>
            <a:endParaRPr lang="es-PE"/>
          </a:p>
        </p:txBody>
      </p:sp>
      <p:sp>
        <p:nvSpPr>
          <p:cNvPr id="4" name="3 Marcador de número de diapositiva"/>
          <p:cNvSpPr>
            <a:spLocks noGrp="1"/>
          </p:cNvSpPr>
          <p:nvPr>
            <p:ph type="sldNum" sz="quarter" idx="12"/>
          </p:nvPr>
        </p:nvSpPr>
        <p:spPr/>
        <p:txBody>
          <a:bodyPr/>
          <a:lstStyle/>
          <a:p>
            <a:fld id="{98B3CA1D-F324-4C2F-A5D6-7A0579297C8A}" type="slidenum">
              <a:rPr lang="es-PE" smtClean="0"/>
              <a:pPr/>
              <a:t>‹Nº›</a:t>
            </a:fld>
            <a:endParaRPr lang="es-PE"/>
          </a:p>
        </p:txBody>
      </p:sp>
    </p:spTree>
    <p:extLst>
      <p:ext uri="{BB962C8B-B14F-4D97-AF65-F5344CB8AC3E}">
        <p14:creationId xmlns:p14="http://schemas.microsoft.com/office/powerpoint/2010/main" val="1126314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PE"/>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r>
              <a:rPr lang="es-PE" smtClean="0"/>
              <a:t>17/09/2013</a:t>
            </a:r>
            <a:endParaRPr lang="es-PE"/>
          </a:p>
        </p:txBody>
      </p:sp>
      <p:sp>
        <p:nvSpPr>
          <p:cNvPr id="6" name="5 Marcador de pie de página"/>
          <p:cNvSpPr>
            <a:spLocks noGrp="1"/>
          </p:cNvSpPr>
          <p:nvPr>
            <p:ph type="ftr" sz="quarter" idx="11"/>
          </p:nvPr>
        </p:nvSpPr>
        <p:spPr/>
        <p:txBody>
          <a:bodyPr/>
          <a:lstStyle/>
          <a:p>
            <a:endParaRPr lang="es-PE"/>
          </a:p>
        </p:txBody>
      </p:sp>
      <p:sp>
        <p:nvSpPr>
          <p:cNvPr id="7" name="6 Marcador de número de diapositiva"/>
          <p:cNvSpPr>
            <a:spLocks noGrp="1"/>
          </p:cNvSpPr>
          <p:nvPr>
            <p:ph type="sldNum" sz="quarter" idx="12"/>
          </p:nvPr>
        </p:nvSpPr>
        <p:spPr/>
        <p:txBody>
          <a:bodyPr/>
          <a:lstStyle/>
          <a:p>
            <a:fld id="{98B3CA1D-F324-4C2F-A5D6-7A0579297C8A}" type="slidenum">
              <a:rPr lang="es-PE" smtClean="0"/>
              <a:pPr/>
              <a:t>‹Nº›</a:t>
            </a:fld>
            <a:endParaRPr lang="es-PE"/>
          </a:p>
        </p:txBody>
      </p:sp>
    </p:spTree>
    <p:extLst>
      <p:ext uri="{BB962C8B-B14F-4D97-AF65-F5344CB8AC3E}">
        <p14:creationId xmlns:p14="http://schemas.microsoft.com/office/powerpoint/2010/main" val="2550487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PE"/>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r>
              <a:rPr lang="es-PE" smtClean="0"/>
              <a:t>17/09/2013</a:t>
            </a:r>
            <a:endParaRPr lang="es-PE"/>
          </a:p>
        </p:txBody>
      </p:sp>
      <p:sp>
        <p:nvSpPr>
          <p:cNvPr id="6" name="5 Marcador de pie de página"/>
          <p:cNvSpPr>
            <a:spLocks noGrp="1"/>
          </p:cNvSpPr>
          <p:nvPr>
            <p:ph type="ftr" sz="quarter" idx="11"/>
          </p:nvPr>
        </p:nvSpPr>
        <p:spPr/>
        <p:txBody>
          <a:bodyPr/>
          <a:lstStyle/>
          <a:p>
            <a:endParaRPr lang="es-PE"/>
          </a:p>
        </p:txBody>
      </p:sp>
      <p:sp>
        <p:nvSpPr>
          <p:cNvPr id="7" name="6 Marcador de número de diapositiva"/>
          <p:cNvSpPr>
            <a:spLocks noGrp="1"/>
          </p:cNvSpPr>
          <p:nvPr>
            <p:ph type="sldNum" sz="quarter" idx="12"/>
          </p:nvPr>
        </p:nvSpPr>
        <p:spPr/>
        <p:txBody>
          <a:bodyPr/>
          <a:lstStyle/>
          <a:p>
            <a:fld id="{98B3CA1D-F324-4C2F-A5D6-7A0579297C8A}" type="slidenum">
              <a:rPr lang="es-PE" smtClean="0"/>
              <a:pPr/>
              <a:t>‹Nº›</a:t>
            </a:fld>
            <a:endParaRPr lang="es-PE"/>
          </a:p>
        </p:txBody>
      </p:sp>
    </p:spTree>
    <p:extLst>
      <p:ext uri="{BB962C8B-B14F-4D97-AF65-F5344CB8AC3E}">
        <p14:creationId xmlns:p14="http://schemas.microsoft.com/office/powerpoint/2010/main" val="2372771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PE"/>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3 Marcador de fecha"/>
          <p:cNvSpPr>
            <a:spLocks noGrp="1"/>
          </p:cNvSpPr>
          <p:nvPr>
            <p:ph type="dt" sz="half" idx="10"/>
          </p:nvPr>
        </p:nvSpPr>
        <p:spPr/>
        <p:txBody>
          <a:bodyPr/>
          <a:lstStyle/>
          <a:p>
            <a:r>
              <a:rPr lang="es-PE" smtClean="0"/>
              <a:t>17/09/2013</a:t>
            </a:r>
            <a:endParaRPr lang="es-PE"/>
          </a:p>
        </p:txBody>
      </p:sp>
      <p:sp>
        <p:nvSpPr>
          <p:cNvPr id="5" name="4 Marcador de pie de página"/>
          <p:cNvSpPr>
            <a:spLocks noGrp="1"/>
          </p:cNvSpPr>
          <p:nvPr>
            <p:ph type="ftr" sz="quarter" idx="11"/>
          </p:nvPr>
        </p:nvSpPr>
        <p:spPr/>
        <p:txBody>
          <a:bodyPr/>
          <a:lstStyle/>
          <a:p>
            <a:endParaRPr lang="es-PE"/>
          </a:p>
        </p:txBody>
      </p:sp>
      <p:sp>
        <p:nvSpPr>
          <p:cNvPr id="6" name="5 Marcador de número de diapositiva"/>
          <p:cNvSpPr>
            <a:spLocks noGrp="1"/>
          </p:cNvSpPr>
          <p:nvPr>
            <p:ph type="sldNum" sz="quarter" idx="12"/>
          </p:nvPr>
        </p:nvSpPr>
        <p:spPr/>
        <p:txBody>
          <a:bodyPr/>
          <a:lstStyle/>
          <a:p>
            <a:fld id="{98B3CA1D-F324-4C2F-A5D6-7A0579297C8A}" type="slidenum">
              <a:rPr lang="es-PE" smtClean="0"/>
              <a:pPr/>
              <a:t>‹Nº›</a:t>
            </a:fld>
            <a:endParaRPr lang="es-PE"/>
          </a:p>
        </p:txBody>
      </p:sp>
    </p:spTree>
    <p:extLst>
      <p:ext uri="{BB962C8B-B14F-4D97-AF65-F5344CB8AC3E}">
        <p14:creationId xmlns:p14="http://schemas.microsoft.com/office/powerpoint/2010/main" val="1412130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PE"/>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3 Marcador de fecha"/>
          <p:cNvSpPr>
            <a:spLocks noGrp="1"/>
          </p:cNvSpPr>
          <p:nvPr>
            <p:ph type="dt" sz="half" idx="10"/>
          </p:nvPr>
        </p:nvSpPr>
        <p:spPr/>
        <p:txBody>
          <a:bodyPr/>
          <a:lstStyle/>
          <a:p>
            <a:r>
              <a:rPr lang="es-PE" smtClean="0"/>
              <a:t>17/09/2013</a:t>
            </a:r>
            <a:endParaRPr lang="es-PE"/>
          </a:p>
        </p:txBody>
      </p:sp>
      <p:sp>
        <p:nvSpPr>
          <p:cNvPr id="5" name="4 Marcador de pie de página"/>
          <p:cNvSpPr>
            <a:spLocks noGrp="1"/>
          </p:cNvSpPr>
          <p:nvPr>
            <p:ph type="ftr" sz="quarter" idx="11"/>
          </p:nvPr>
        </p:nvSpPr>
        <p:spPr/>
        <p:txBody>
          <a:bodyPr/>
          <a:lstStyle/>
          <a:p>
            <a:endParaRPr lang="es-PE"/>
          </a:p>
        </p:txBody>
      </p:sp>
      <p:sp>
        <p:nvSpPr>
          <p:cNvPr id="6" name="5 Marcador de número de diapositiva"/>
          <p:cNvSpPr>
            <a:spLocks noGrp="1"/>
          </p:cNvSpPr>
          <p:nvPr>
            <p:ph type="sldNum" sz="quarter" idx="12"/>
          </p:nvPr>
        </p:nvSpPr>
        <p:spPr/>
        <p:txBody>
          <a:bodyPr/>
          <a:lstStyle/>
          <a:p>
            <a:fld id="{98B3CA1D-F324-4C2F-A5D6-7A0579297C8A}" type="slidenum">
              <a:rPr lang="es-PE" smtClean="0"/>
              <a:pPr/>
              <a:t>‹Nº›</a:t>
            </a:fld>
            <a:endParaRPr lang="es-PE"/>
          </a:p>
        </p:txBody>
      </p:sp>
    </p:spTree>
    <p:extLst>
      <p:ext uri="{BB962C8B-B14F-4D97-AF65-F5344CB8AC3E}">
        <p14:creationId xmlns:p14="http://schemas.microsoft.com/office/powerpoint/2010/main" val="1970570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PE"/>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s-PE" smtClean="0"/>
              <a:t>17/09/2013</a:t>
            </a:r>
            <a:endParaRPr lang="es-PE"/>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B3CA1D-F324-4C2F-A5D6-7A0579297C8A}" type="slidenum">
              <a:rPr lang="es-PE" smtClean="0"/>
              <a:pPr/>
              <a:t>‹Nº›</a:t>
            </a:fld>
            <a:endParaRPr lang="es-PE"/>
          </a:p>
        </p:txBody>
      </p:sp>
    </p:spTree>
    <p:extLst>
      <p:ext uri="{BB962C8B-B14F-4D97-AF65-F5344CB8AC3E}">
        <p14:creationId xmlns:p14="http://schemas.microsoft.com/office/powerpoint/2010/main" val="349945981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Subtítulo"/>
          <p:cNvSpPr>
            <a:spLocks noGrp="1"/>
          </p:cNvSpPr>
          <p:nvPr>
            <p:ph type="subTitle" idx="1"/>
          </p:nvPr>
        </p:nvSpPr>
        <p:spPr>
          <a:xfrm>
            <a:off x="2500298" y="1214422"/>
            <a:ext cx="6457936" cy="3643338"/>
          </a:xfrm>
        </p:spPr>
        <p:txBody>
          <a:bodyPr>
            <a:normAutofit fontScale="85000" lnSpcReduction="20000"/>
          </a:bodyPr>
          <a:lstStyle/>
          <a:p>
            <a:pPr algn="ctr"/>
            <a:r>
              <a:rPr lang="es-PE" sz="4000" b="1" dirty="0" smtClean="0">
                <a:solidFill>
                  <a:schemeClr val="tx1"/>
                </a:solidFill>
              </a:rPr>
              <a:t>ASTM D-445</a:t>
            </a:r>
          </a:p>
          <a:p>
            <a:r>
              <a:rPr lang="es-PE" sz="4300" b="1" dirty="0" smtClean="0">
                <a:latin typeface="Arial" pitchFamily="34" charset="0"/>
                <a:cs typeface="Arial" pitchFamily="34" charset="0"/>
              </a:rPr>
              <a:t>METODO DE ENSAYO ESTANDAR PARA LA VISCOSIDAD CINEMATICA EN LIQUIDOS TRANSPARENTES Y OPACOS</a:t>
            </a:r>
            <a:endParaRPr lang="es-PE" sz="3500" dirty="0">
              <a:latin typeface="Arial" pitchFamily="34" charset="0"/>
              <a:cs typeface="Arial" pitchFamily="34" charset="0"/>
            </a:endParaRPr>
          </a:p>
        </p:txBody>
      </p:sp>
      <p:pic>
        <p:nvPicPr>
          <p:cNvPr id="4" name="Picture 13"/>
          <p:cNvPicPr>
            <a:picLocks noChangeAspect="1" noChangeArrowheads="1"/>
          </p:cNvPicPr>
          <p:nvPr/>
        </p:nvPicPr>
        <p:blipFill>
          <a:blip r:embed="rId3"/>
          <a:srcRect/>
          <a:stretch>
            <a:fillRect/>
          </a:stretch>
        </p:blipFill>
        <p:spPr bwMode="auto">
          <a:xfrm>
            <a:off x="0" y="0"/>
            <a:ext cx="2411413" cy="6858000"/>
          </a:xfrm>
          <a:prstGeom prst="rect">
            <a:avLst/>
          </a:prstGeom>
          <a:solidFill>
            <a:schemeClr val="accent1"/>
          </a:solidFill>
        </p:spPr>
      </p:pic>
      <p:sp>
        <p:nvSpPr>
          <p:cNvPr id="2" name="1 Marcador de fecha"/>
          <p:cNvSpPr>
            <a:spLocks noGrp="1"/>
          </p:cNvSpPr>
          <p:nvPr>
            <p:ph type="dt" sz="half" idx="10"/>
          </p:nvPr>
        </p:nvSpPr>
        <p:spPr/>
        <p:txBody>
          <a:bodyPr/>
          <a:lstStyle/>
          <a:p>
            <a:r>
              <a:rPr lang="es-PE" smtClean="0"/>
              <a:t>17/09/2013</a:t>
            </a:r>
            <a:endParaRPr lang="es-PE"/>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PE" dirty="0" smtClean="0"/>
              <a:t>ALCANCE</a:t>
            </a:r>
            <a:endParaRPr lang="es-PE" dirty="0"/>
          </a:p>
        </p:txBody>
      </p:sp>
      <p:sp>
        <p:nvSpPr>
          <p:cNvPr id="3" name="2 Marcador de contenido"/>
          <p:cNvSpPr>
            <a:spLocks noGrp="1"/>
          </p:cNvSpPr>
          <p:nvPr>
            <p:ph idx="1"/>
          </p:nvPr>
        </p:nvSpPr>
        <p:spPr/>
        <p:txBody>
          <a:bodyPr>
            <a:normAutofit/>
          </a:bodyPr>
          <a:lstStyle/>
          <a:p>
            <a:pPr lvl="0" algn="just"/>
            <a:r>
              <a:rPr lang="es-ES" sz="2400" dirty="0" smtClean="0"/>
              <a:t>Este Método de Ensayo especifica un procedimiento para la determinación de la viscosidad cinemática,</a:t>
            </a:r>
            <a:r>
              <a:rPr lang="es-ES" sz="2400" dirty="0" smtClean="0">
                <a:sym typeface="Symbol"/>
              </a:rPr>
              <a:t></a:t>
            </a:r>
            <a:r>
              <a:rPr lang="es-ES" sz="2400" dirty="0" smtClean="0"/>
              <a:t> , en productos de petróleo líquidos, tanto transparentes como opacos, mediante la medición del tiempo en que un volumen de líquido fluye bajo efecto de la gravedad a través de un viscosímetro capilar de vidrio calibrado. El rango de viscosidades cinemáticas comprendido en este Método de Ensayo es de 0.2 a 300 000 mm</a:t>
            </a:r>
            <a:r>
              <a:rPr lang="es-ES" sz="2400" baseline="30000" dirty="0" smtClean="0"/>
              <a:t>2</a:t>
            </a:r>
            <a:r>
              <a:rPr lang="es-ES" sz="2400" dirty="0" smtClean="0"/>
              <a:t>/s </a:t>
            </a:r>
            <a:endParaRPr lang="es-PE" sz="2400" dirty="0"/>
          </a:p>
        </p:txBody>
      </p:sp>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t>Documentos de Referencia</a:t>
            </a:r>
            <a:endParaRPr lang="es-PE" dirty="0"/>
          </a:p>
        </p:txBody>
      </p:sp>
      <p:sp>
        <p:nvSpPr>
          <p:cNvPr id="3" name="2 Marcador de contenido"/>
          <p:cNvSpPr>
            <a:spLocks noGrp="1"/>
          </p:cNvSpPr>
          <p:nvPr>
            <p:ph idx="1"/>
          </p:nvPr>
        </p:nvSpPr>
        <p:spPr/>
        <p:txBody>
          <a:bodyPr/>
          <a:lstStyle/>
          <a:p>
            <a:pPr algn="just" hangingPunct="0"/>
            <a:r>
              <a:rPr lang="es-ES" sz="2400" b="1" dirty="0" smtClean="0"/>
              <a:t>ASTM D-446</a:t>
            </a:r>
            <a:r>
              <a:rPr lang="es-ES" sz="2400" dirty="0" smtClean="0"/>
              <a:t>: Especificaciones e Instrucciones de Operación de los Viscosímetros Capilares Cinemáticos de Vidrio. </a:t>
            </a:r>
            <a:endParaRPr lang="es-PE" sz="2400" dirty="0" smtClean="0"/>
          </a:p>
          <a:p>
            <a:pPr algn="just"/>
            <a:r>
              <a:rPr lang="es-ES" sz="2400" b="1" dirty="0" smtClean="0"/>
              <a:t>ASTM E1</a:t>
            </a:r>
            <a:r>
              <a:rPr lang="es-ES" sz="2400" dirty="0" smtClean="0"/>
              <a:t>: Especificación para termómetros ASTM - líquidos en vidrio. </a:t>
            </a:r>
            <a:endParaRPr lang="es-PE" sz="2400" dirty="0" smtClean="0"/>
          </a:p>
          <a:p>
            <a:pPr algn="just"/>
            <a:r>
              <a:rPr lang="es-ES" sz="2400" b="1" dirty="0" smtClean="0"/>
              <a:t>ASTM E77</a:t>
            </a:r>
            <a:r>
              <a:rPr lang="es-ES" sz="2400" dirty="0" smtClean="0"/>
              <a:t>: Método de Ensayo para la Inspección y Verificación de Termómetros.</a:t>
            </a:r>
            <a:endParaRPr lang="es-PE" sz="2400" dirty="0" smtClean="0"/>
          </a:p>
          <a:p>
            <a:r>
              <a:rPr lang="es-ES" sz="2400" b="1" dirty="0" smtClean="0"/>
              <a:t>ISO 3105</a:t>
            </a:r>
            <a:r>
              <a:rPr lang="es-ES" sz="2400" dirty="0" smtClean="0"/>
              <a:t>: Especificación e Instrucciones de Operación de Viscosímetros Cinemáticos Capilares de Vidrio.</a:t>
            </a:r>
          </a:p>
          <a:p>
            <a:endParaRPr lang="es-PE" sz="2400" dirty="0"/>
          </a:p>
        </p:txBody>
      </p:sp>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PE" dirty="0" smtClean="0"/>
              <a:t>DEFINICION</a:t>
            </a:r>
            <a:endParaRPr lang="es-PE" dirty="0"/>
          </a:p>
        </p:txBody>
      </p:sp>
      <p:sp>
        <p:nvSpPr>
          <p:cNvPr id="3" name="2 Marcador de contenido"/>
          <p:cNvSpPr>
            <a:spLocks noGrp="1"/>
          </p:cNvSpPr>
          <p:nvPr>
            <p:ph idx="1"/>
          </p:nvPr>
        </p:nvSpPr>
        <p:spPr/>
        <p:txBody>
          <a:bodyPr/>
          <a:lstStyle/>
          <a:p>
            <a:pPr lvl="0"/>
            <a:r>
              <a:rPr lang="es-ES" sz="2400" dirty="0" smtClean="0"/>
              <a:t>Viscosidad cinemática, n  - resistencia al flujo de un líquido bajo efecto de la gravedad.</a:t>
            </a:r>
            <a:endParaRPr lang="es-PE" dirty="0"/>
          </a:p>
        </p:txBody>
      </p:sp>
      <p:pic>
        <p:nvPicPr>
          <p:cNvPr id="1026" name="Picture 2"/>
          <p:cNvPicPr>
            <a:picLocks noChangeAspect="1" noChangeArrowheads="1"/>
          </p:cNvPicPr>
          <p:nvPr/>
        </p:nvPicPr>
        <p:blipFill>
          <a:blip r:embed="rId2"/>
          <a:srcRect/>
          <a:stretch>
            <a:fillRect/>
          </a:stretch>
        </p:blipFill>
        <p:spPr bwMode="auto">
          <a:xfrm>
            <a:off x="3286116" y="2571744"/>
            <a:ext cx="2571768" cy="4043005"/>
          </a:xfrm>
          <a:prstGeom prst="rect">
            <a:avLst/>
          </a:prstGeom>
          <a:noFill/>
          <a:ln w="9525">
            <a:solidFill>
              <a:schemeClr val="tx1"/>
            </a:solidFill>
            <a:miter lim="800000"/>
            <a:headEnd/>
            <a:tailEnd/>
          </a:ln>
          <a:effectLst/>
        </p:spPr>
      </p:pic>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hangingPunct="0"/>
            <a:r>
              <a:rPr lang="es-ES" b="1" dirty="0" smtClean="0"/>
              <a:t>Equipos</a:t>
            </a:r>
            <a:endParaRPr lang="es-PE" dirty="0"/>
          </a:p>
        </p:txBody>
      </p:sp>
      <p:sp>
        <p:nvSpPr>
          <p:cNvPr id="3" name="2 Marcador de contenido"/>
          <p:cNvSpPr>
            <a:spLocks noGrp="1"/>
          </p:cNvSpPr>
          <p:nvPr>
            <p:ph idx="1"/>
          </p:nvPr>
        </p:nvSpPr>
        <p:spPr/>
        <p:txBody>
          <a:bodyPr/>
          <a:lstStyle/>
          <a:p>
            <a:pPr algn="just"/>
            <a:r>
              <a:rPr lang="es-ES" sz="2400" b="1" dirty="0" smtClean="0"/>
              <a:t>Viscosímetros </a:t>
            </a:r>
            <a:r>
              <a:rPr lang="es-ES" sz="2400" dirty="0" smtClean="0"/>
              <a:t>-  Se utiliza solamente viscosímetros calibrados del tipo capilar de vidrio, que puedan ser usados para determinar la viscosidad cinemática dentro de los límites de precisión dados en la sección precisión.</a:t>
            </a:r>
          </a:p>
          <a:p>
            <a:pPr algn="just"/>
            <a:r>
              <a:rPr lang="es-ES" sz="2400" b="1" dirty="0" smtClean="0"/>
              <a:t>Sujetadores de Viscosímetros </a:t>
            </a:r>
            <a:r>
              <a:rPr lang="es-ES" sz="2400" dirty="0" smtClean="0"/>
              <a:t>- Utilícelos de manera que la parte superior de los viscosímetros quede suspendido verticalmente dentro de 1º en cualquier dirección. Los viscosímetros cuyo menisco superior no este directamente encima del menisco inferior puede ser suspendido verticalmente dentro del 0.3º en cualquier  dirección (Ver Especificación D 446 e ISO 3105).</a:t>
            </a:r>
            <a:endParaRPr lang="es-PE" sz="2400" dirty="0" smtClean="0"/>
          </a:p>
          <a:p>
            <a:endParaRPr lang="es-PE" sz="2400" dirty="0" smtClean="0"/>
          </a:p>
        </p:txBody>
      </p:sp>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hangingPunct="0"/>
            <a:r>
              <a:rPr lang="es-ES" b="1" dirty="0" smtClean="0"/>
              <a:t>Equipos</a:t>
            </a:r>
            <a:endParaRPr lang="es-PE" dirty="0"/>
          </a:p>
        </p:txBody>
      </p:sp>
      <p:sp>
        <p:nvSpPr>
          <p:cNvPr id="3" name="2 Marcador de contenido"/>
          <p:cNvSpPr>
            <a:spLocks noGrp="1"/>
          </p:cNvSpPr>
          <p:nvPr>
            <p:ph idx="1"/>
          </p:nvPr>
        </p:nvSpPr>
        <p:spPr/>
        <p:txBody>
          <a:bodyPr>
            <a:normAutofit fontScale="92500" lnSpcReduction="10000"/>
          </a:bodyPr>
          <a:lstStyle/>
          <a:p>
            <a:pPr algn="just" hangingPunct="0"/>
            <a:r>
              <a:rPr lang="es-ES" sz="2400" b="1" dirty="0" smtClean="0"/>
              <a:t>Baño a Temperatura Controlada </a:t>
            </a:r>
            <a:r>
              <a:rPr lang="es-ES" sz="2400" dirty="0" smtClean="0"/>
              <a:t>- Use un baño de líquido transparente con profundidad suficiente, de tal manera que en ningún momento durante la medición del tiempo de flujo ninguna parte de la muestra en el viscosímetro esté a menos de los 20 mm debajo de la superficie del baño de líquido o menos a 20 mm por encima del fondo del baño de líquido.</a:t>
            </a:r>
            <a:endParaRPr lang="es-PE" sz="2400" dirty="0" smtClean="0"/>
          </a:p>
          <a:p>
            <a:pPr algn="just" hangingPunct="0"/>
            <a:r>
              <a:rPr lang="es-ES" sz="2400" dirty="0" smtClean="0"/>
              <a:t> </a:t>
            </a:r>
            <a:r>
              <a:rPr lang="es-ES" sz="2400" b="1" dirty="0" smtClean="0"/>
              <a:t>Control de Temperatura </a:t>
            </a:r>
            <a:r>
              <a:rPr lang="es-ES" sz="2400" dirty="0" smtClean="0"/>
              <a:t>- Para cada serie de mediciones del   tiempo de flujo, el control de la temperatura del líquido en el baño debe ser tal que en el rango de 15 a 100º C la temperatura media del baño  no varíe en más de  </a:t>
            </a:r>
            <a:r>
              <a:rPr lang="es-ES" sz="2400" dirty="0" smtClean="0">
                <a:sym typeface="Symbol"/>
              </a:rPr>
              <a:t></a:t>
            </a:r>
            <a:r>
              <a:rPr lang="es-ES" sz="2400" dirty="0" smtClean="0"/>
              <a:t> 0.02º C (</a:t>
            </a:r>
            <a:r>
              <a:rPr lang="es-ES" sz="2400" dirty="0" smtClean="0">
                <a:sym typeface="Symbol"/>
              </a:rPr>
              <a:t></a:t>
            </a:r>
            <a:r>
              <a:rPr lang="es-ES" sz="2400" dirty="0" smtClean="0"/>
              <a:t> 0.04ºF) respecto de la temperatura seleccionada  a lo largo del  viscosímetro, o entre la posición de cada viscosímetro, o en la ubicación del termómetro. Para temperaturas fuera de este rango,  la  desviación de la temperatura deseada no deberá exceder  </a:t>
            </a:r>
            <a:r>
              <a:rPr lang="es-ES" sz="2400" dirty="0" smtClean="0">
                <a:sym typeface="Symbol"/>
              </a:rPr>
              <a:t></a:t>
            </a:r>
            <a:r>
              <a:rPr lang="es-ES" sz="2400" dirty="0" smtClean="0"/>
              <a:t> 0.05ºC. (0.09 ºF)</a:t>
            </a:r>
            <a:endParaRPr lang="es-PE" sz="2400" dirty="0" smtClean="0"/>
          </a:p>
          <a:p>
            <a:endParaRPr lang="es-PE" sz="2400" dirty="0" smtClean="0"/>
          </a:p>
        </p:txBody>
      </p:sp>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hangingPunct="0"/>
            <a:r>
              <a:rPr lang="es-ES" b="1" dirty="0" smtClean="0"/>
              <a:t>Equipos</a:t>
            </a:r>
            <a:endParaRPr lang="es-PE" dirty="0"/>
          </a:p>
        </p:txBody>
      </p:sp>
      <p:sp>
        <p:nvSpPr>
          <p:cNvPr id="3" name="2 Marcador de contenido"/>
          <p:cNvSpPr>
            <a:spLocks noGrp="1"/>
          </p:cNvSpPr>
          <p:nvPr>
            <p:ph idx="1"/>
          </p:nvPr>
        </p:nvSpPr>
        <p:spPr/>
        <p:txBody>
          <a:bodyPr>
            <a:normAutofit/>
          </a:bodyPr>
          <a:lstStyle/>
          <a:p>
            <a:pPr hangingPunct="0"/>
            <a:r>
              <a:rPr lang="es-ES" sz="2400" b="1" dirty="0" smtClean="0"/>
              <a:t>Dispositivo para la Medición de la Temperatura dentro del rango de 0 a 100º C</a:t>
            </a:r>
            <a:r>
              <a:rPr lang="es-ES" sz="2400" dirty="0" smtClean="0"/>
              <a:t> - Use termómetros de líquido en vidrio calibrados (Anexo A2) de una exactitud, después de aplicar la corrección, de </a:t>
            </a:r>
            <a:r>
              <a:rPr lang="es-ES" sz="2400" dirty="0" smtClean="0">
                <a:sym typeface="Symbol"/>
              </a:rPr>
              <a:t></a:t>
            </a:r>
            <a:r>
              <a:rPr lang="es-ES" sz="2400" dirty="0" smtClean="0"/>
              <a:t> 0.02ºC (</a:t>
            </a:r>
            <a:r>
              <a:rPr lang="es-ES" sz="2400" dirty="0" smtClean="0">
                <a:sym typeface="Symbol"/>
              </a:rPr>
              <a:t></a:t>
            </a:r>
            <a:r>
              <a:rPr lang="es-ES" sz="2400" dirty="0" smtClean="0"/>
              <a:t> 0.04ºF) o de mejor exactitud, o cualquier otro dispositivo termométrico de igual exactitud o superior. Si se usan termómetros de líquido en vidrio calibrados, se recomienda el uso de dos termómetros. Los dos termómetros deberán coincidir en 0.04ºC (</a:t>
            </a:r>
            <a:r>
              <a:rPr lang="es-ES" sz="2400" dirty="0" smtClean="0">
                <a:sym typeface="Symbol"/>
              </a:rPr>
              <a:t></a:t>
            </a:r>
            <a:r>
              <a:rPr lang="es-ES" sz="2400" dirty="0" smtClean="0"/>
              <a:t> 0.07ºF).</a:t>
            </a:r>
            <a:endParaRPr lang="es-PE" sz="2400" dirty="0" smtClean="0"/>
          </a:p>
          <a:p>
            <a:pPr algn="just"/>
            <a:r>
              <a:rPr lang="es-ES" sz="2400" b="1" dirty="0" smtClean="0"/>
              <a:t>Cronómetro</a:t>
            </a:r>
            <a:r>
              <a:rPr lang="es-ES" sz="2400" dirty="0" smtClean="0"/>
              <a:t> - Use un cronómetro que permita la toma de lecturas con una discriminación o diferencia de 0.1 s o mejor.</a:t>
            </a:r>
            <a:endParaRPr lang="es-PE" sz="2400" dirty="0" smtClean="0"/>
          </a:p>
        </p:txBody>
      </p:sp>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pPr lvl="0"/>
            <a:r>
              <a:rPr lang="es-ES" b="1" dirty="0" smtClean="0"/>
              <a:t>Reactivos y Materiales</a:t>
            </a:r>
            <a:endParaRPr lang="es-PE" dirty="0" smtClean="0"/>
          </a:p>
        </p:txBody>
      </p:sp>
      <p:sp>
        <p:nvSpPr>
          <p:cNvPr id="3" name="2 Marcador de contenido"/>
          <p:cNvSpPr>
            <a:spLocks noGrp="1"/>
          </p:cNvSpPr>
          <p:nvPr>
            <p:ph idx="1"/>
          </p:nvPr>
        </p:nvSpPr>
        <p:spPr/>
        <p:txBody>
          <a:bodyPr>
            <a:normAutofit/>
          </a:bodyPr>
          <a:lstStyle/>
          <a:p>
            <a:pPr hangingPunct="0"/>
            <a:r>
              <a:rPr lang="es-ES" sz="2000" b="1" dirty="0" smtClean="0"/>
              <a:t>Ácido Crómico Solución de limpieza</a:t>
            </a:r>
            <a:r>
              <a:rPr lang="es-ES" sz="2000" dirty="0" smtClean="0"/>
              <a:t>, o una que no contenga cromo, ácido fuertemente oxidante de solución para limpieza.</a:t>
            </a:r>
          </a:p>
          <a:p>
            <a:pPr algn="just" hangingPunct="0">
              <a:buFont typeface="Wingdings" pitchFamily="2" charset="2"/>
              <a:buChar char="v"/>
            </a:pPr>
            <a:r>
              <a:rPr lang="es-ES" sz="2000" b="1" dirty="0" smtClean="0"/>
              <a:t> </a:t>
            </a:r>
            <a:r>
              <a:rPr lang="es-ES" sz="1600" b="1" dirty="0" smtClean="0"/>
              <a:t>Advertencia -</a:t>
            </a:r>
            <a:r>
              <a:rPr lang="es-ES" sz="1600" dirty="0" smtClean="0"/>
              <a:t>  el  ácido crómico es peligroso para la salud. Es tóxico, calificado como cancerígeno, altamente corrosivo y potencialmente peligroso cuando entra en contacto con materias orgánicas. De usarse, protéjase el rostro y use ropa protectora incluyendo guantes adecuados. Evite respirar el vapor. Disponga del ácido crómico pero de manera cuidadosa en la medida que continúe siendo peligroso. </a:t>
            </a:r>
            <a:endParaRPr lang="es-PE" sz="1600" dirty="0" smtClean="0"/>
          </a:p>
          <a:p>
            <a:pPr algn="just"/>
            <a:r>
              <a:rPr lang="es-ES" sz="2000" b="1" dirty="0" smtClean="0"/>
              <a:t>solventes volátiles de petróleo o nafta, </a:t>
            </a:r>
            <a:r>
              <a:rPr lang="es-ES" sz="2000" dirty="0" smtClean="0"/>
              <a:t>Para el caso de combustibles residuales, puede ser necesario un lavado previo con solvente aromático como </a:t>
            </a:r>
            <a:r>
              <a:rPr lang="es-ES" sz="2000" b="1" dirty="0" smtClean="0"/>
              <a:t>tolueno o xileno </a:t>
            </a:r>
            <a:r>
              <a:rPr lang="es-ES" sz="2000" dirty="0" smtClean="0"/>
              <a:t>para retirar el material asfalténico.</a:t>
            </a:r>
            <a:endParaRPr lang="es-PE" sz="2000" dirty="0" smtClean="0"/>
          </a:p>
          <a:p>
            <a:pPr algn="just"/>
            <a:r>
              <a:rPr lang="es-ES" sz="2000" b="1" dirty="0" smtClean="0"/>
              <a:t> Solvente de secado, acetona</a:t>
            </a:r>
            <a:r>
              <a:rPr lang="es-ES" sz="2000" dirty="0" smtClean="0"/>
              <a:t>. (Advertencia-extremadamente inflamable).</a:t>
            </a:r>
          </a:p>
          <a:p>
            <a:pPr algn="just"/>
            <a:r>
              <a:rPr lang="es-ES" sz="2000" b="1" dirty="0" smtClean="0"/>
              <a:t>Agua </a:t>
            </a:r>
            <a:r>
              <a:rPr lang="es-ES" sz="2000" b="1" dirty="0" err="1" smtClean="0"/>
              <a:t>desionizada</a:t>
            </a:r>
            <a:r>
              <a:rPr lang="es-ES" sz="2000" b="1" dirty="0" smtClean="0"/>
              <a:t> o destilada </a:t>
            </a:r>
            <a:r>
              <a:rPr lang="es-ES" sz="2000" dirty="0" smtClean="0"/>
              <a:t>conforme a la Especificación D 1193 o Grado 3 de la Norma ISO 3696. Fíltrela antes de usarla.</a:t>
            </a:r>
            <a:endParaRPr lang="es-PE" sz="2000" dirty="0" smtClean="0"/>
          </a:p>
          <a:p>
            <a:pPr algn="just"/>
            <a:endParaRPr lang="es-PE" sz="2000" b="1" dirty="0"/>
          </a:p>
        </p:txBody>
      </p:sp>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142852"/>
            <a:ext cx="8686800" cy="838200"/>
          </a:xfrm>
        </p:spPr>
        <p:txBody>
          <a:bodyPr>
            <a:noAutofit/>
          </a:bodyPr>
          <a:lstStyle/>
          <a:p>
            <a:r>
              <a:rPr lang="es-ES" b="1" dirty="0" smtClean="0"/>
              <a:t>Procedimiento para el caso de Líquidos Transparentes</a:t>
            </a:r>
            <a:endParaRPr lang="es-PE" b="1" i="1" dirty="0" smtClean="0"/>
          </a:p>
        </p:txBody>
      </p:sp>
      <p:sp>
        <p:nvSpPr>
          <p:cNvPr id="3" name="2 Marcador de contenido"/>
          <p:cNvSpPr>
            <a:spLocks noGrp="1"/>
          </p:cNvSpPr>
          <p:nvPr>
            <p:ph idx="1"/>
          </p:nvPr>
        </p:nvSpPr>
        <p:spPr>
          <a:xfrm>
            <a:off x="304800" y="1554162"/>
            <a:ext cx="8686800" cy="5303838"/>
          </a:xfrm>
        </p:spPr>
        <p:txBody>
          <a:bodyPr>
            <a:normAutofit/>
          </a:bodyPr>
          <a:lstStyle/>
          <a:p>
            <a:pPr lvl="0" algn="just"/>
            <a:r>
              <a:rPr lang="es-ES" sz="2000" dirty="0" smtClean="0"/>
              <a:t>Cargue el viscosímetro de la manera establecida en el diseño del equipo, la misma que deberá estar de conformidad con la empleada en el momento en que se calibró el equipo. Si la muestra contiene partículas sólidas, realice el filtrado durante la carga a través de un filtro (75-µm) (Ver Especificación D 446).</a:t>
            </a:r>
          </a:p>
          <a:p>
            <a:pPr lvl="0" algn="just"/>
            <a:r>
              <a:rPr lang="es-ES" sz="2000" dirty="0" smtClean="0"/>
              <a:t>Deje que el viscosímetro cargado siga en el baño por un tiempo suficiente para que alcance la temperatura de ensayo. </a:t>
            </a:r>
          </a:p>
          <a:p>
            <a:pPr algn="just"/>
            <a:r>
              <a:rPr lang="es-ES" sz="2000" dirty="0" smtClean="0"/>
              <a:t>Treinta minutos deben ser suficientes excepto para los productos con elevadas viscosidades cinemáticas.</a:t>
            </a:r>
            <a:endParaRPr lang="es-PE" sz="2000" dirty="0" smtClean="0"/>
          </a:p>
          <a:p>
            <a:pPr lvl="0" algn="just"/>
            <a:r>
              <a:rPr lang="es-ES" sz="2000" dirty="0" smtClean="0"/>
              <a:t> Luego, con la muestra fluyendo libremente, mida, en segundos, dentro de 0.1s, el tiempo requerido para que el menisco pase cronométricamente desde la primera marca a la segunda.</a:t>
            </a:r>
          </a:p>
          <a:p>
            <a:pPr lvl="0" algn="just"/>
            <a:r>
              <a:rPr lang="es-ES" sz="2000" dirty="0" smtClean="0"/>
              <a:t>De las dos medidas de tiempo de flujo, calcular dos valores determinados de la viscosidad cinemática.</a:t>
            </a:r>
          </a:p>
        </p:txBody>
      </p:sp>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142852"/>
            <a:ext cx="8686800" cy="838200"/>
          </a:xfrm>
        </p:spPr>
        <p:txBody>
          <a:bodyPr>
            <a:noAutofit/>
          </a:bodyPr>
          <a:lstStyle/>
          <a:p>
            <a:r>
              <a:rPr lang="es-ES" b="1" dirty="0" smtClean="0"/>
              <a:t>Procedimiento para el caso de Líquidos Transparentes</a:t>
            </a:r>
            <a:endParaRPr lang="es-PE" b="1" i="1" dirty="0" smtClean="0"/>
          </a:p>
        </p:txBody>
      </p:sp>
      <p:sp>
        <p:nvSpPr>
          <p:cNvPr id="3" name="2 Marcador de contenido"/>
          <p:cNvSpPr>
            <a:spLocks noGrp="1"/>
          </p:cNvSpPr>
          <p:nvPr>
            <p:ph idx="1"/>
          </p:nvPr>
        </p:nvSpPr>
        <p:spPr>
          <a:xfrm>
            <a:off x="304800" y="1554162"/>
            <a:ext cx="8686800" cy="3803664"/>
          </a:xfrm>
        </p:spPr>
        <p:txBody>
          <a:bodyPr>
            <a:normAutofit/>
          </a:bodyPr>
          <a:lstStyle/>
          <a:p>
            <a:pPr lvl="0" algn="just"/>
            <a:r>
              <a:rPr lang="es-ES" sz="2000" dirty="0" smtClean="0"/>
              <a:t>Si las dos determinaciones de viscosidad cinemática, calculada a partir de las mediciones de tiempo de flujo, concuerdan con las cantidades establecida para la determinabilidad (Ver 17.1.1) según el producto, utilice el promedio de estas determinaciones para calcular el resultado de la viscosidad a ser reportada. Registre el resultado. Si las determinaciones de la viscosidad cinemática no concuerdan con la determinabilidad establecida, repita  las mediciones de los tiempos de flujo después de una completa limpieza y secado de los viscosímetros y filtrado de la muestra (cuando sea requerido).</a:t>
            </a:r>
            <a:endParaRPr lang="es-PE" sz="2000" dirty="0"/>
          </a:p>
        </p:txBody>
      </p:sp>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142852"/>
            <a:ext cx="8686800" cy="838200"/>
          </a:xfrm>
        </p:spPr>
        <p:txBody>
          <a:bodyPr>
            <a:noAutofit/>
          </a:bodyPr>
          <a:lstStyle/>
          <a:p>
            <a:r>
              <a:rPr lang="es-ES" b="1" dirty="0" smtClean="0"/>
              <a:t>Procedimiento para el caso de Líquidos opacos</a:t>
            </a:r>
            <a:endParaRPr lang="es-PE" b="1" i="1" dirty="0" smtClean="0"/>
          </a:p>
        </p:txBody>
      </p:sp>
      <p:sp>
        <p:nvSpPr>
          <p:cNvPr id="3" name="2 Marcador de contenido"/>
          <p:cNvSpPr>
            <a:spLocks noGrp="1"/>
          </p:cNvSpPr>
          <p:nvPr>
            <p:ph idx="1"/>
          </p:nvPr>
        </p:nvSpPr>
        <p:spPr>
          <a:xfrm>
            <a:off x="304800" y="1357298"/>
            <a:ext cx="8686800" cy="5072098"/>
          </a:xfrm>
        </p:spPr>
        <p:txBody>
          <a:bodyPr>
            <a:normAutofit/>
          </a:bodyPr>
          <a:lstStyle/>
          <a:p>
            <a:pPr algn="just"/>
            <a:r>
              <a:rPr lang="es-ES" sz="2000" b="1" dirty="0" smtClean="0"/>
              <a:t>Caliente el recipiente original</a:t>
            </a:r>
            <a:r>
              <a:rPr lang="es-ES" sz="2000" dirty="0" smtClean="0"/>
              <a:t>, en un Baño María, a </a:t>
            </a:r>
            <a:r>
              <a:rPr lang="es-ES" sz="2000" b="1" dirty="0" smtClean="0"/>
              <a:t>60 </a:t>
            </a:r>
            <a:r>
              <a:rPr lang="en-US" sz="2000" b="1" dirty="0" smtClean="0">
                <a:sym typeface="Symbol"/>
              </a:rPr>
              <a:t></a:t>
            </a:r>
            <a:r>
              <a:rPr lang="es-ES" sz="2000" b="1" dirty="0" smtClean="0"/>
              <a:t> 2ºC </a:t>
            </a:r>
            <a:r>
              <a:rPr lang="es-ES" sz="2000" dirty="0" smtClean="0"/>
              <a:t>durante una hora.</a:t>
            </a:r>
          </a:p>
          <a:p>
            <a:pPr algn="just"/>
            <a:r>
              <a:rPr lang="es-ES" sz="2000" b="1" dirty="0" smtClean="0"/>
              <a:t>Agite completamente la muestra </a:t>
            </a:r>
            <a:r>
              <a:rPr lang="es-ES" sz="2000" dirty="0" smtClean="0"/>
              <a:t>con una varilla apropiada de longitud suficiente como para que llegue al fondo del recipiente. Continúe agitando hasta que no que nada de suciedad o cera pegada a la varilla.</a:t>
            </a:r>
          </a:p>
          <a:p>
            <a:pPr algn="just"/>
            <a:r>
              <a:rPr lang="es-ES" sz="2000" b="1" dirty="0" smtClean="0"/>
              <a:t>Tape herméticamente </a:t>
            </a:r>
            <a:r>
              <a:rPr lang="es-ES" sz="2000" dirty="0" smtClean="0"/>
              <a:t>el recipiente, y agitar vigorosamente durante 1 minuto para completar la mezcla.</a:t>
            </a:r>
            <a:endParaRPr lang="es-PE" sz="2000" dirty="0" smtClean="0"/>
          </a:p>
          <a:p>
            <a:pPr algn="just">
              <a:buFont typeface="Wingdings" pitchFamily="2" charset="2"/>
              <a:buChar char="Ø"/>
            </a:pPr>
            <a:r>
              <a:rPr lang="es-ES" sz="2000" b="1" dirty="0" smtClean="0">
                <a:solidFill>
                  <a:srgbClr val="FF0000"/>
                </a:solidFill>
              </a:rPr>
              <a:t>En muestras altamente parafínica o de combustibles con alta viscosidad cinemática,</a:t>
            </a:r>
            <a:r>
              <a:rPr lang="es-ES" sz="2000" dirty="0" smtClean="0"/>
              <a:t>  </a:t>
            </a:r>
            <a:r>
              <a:rPr lang="es-ES" sz="2000" b="1" dirty="0" smtClean="0"/>
              <a:t>puede ser necesario </a:t>
            </a:r>
            <a:r>
              <a:rPr lang="es-ES" sz="2000" dirty="0" smtClean="0"/>
              <a:t>incrementar la temperatura de calentamiento por encima de los 60ºC para realizar una mezcla adecuada. La muestra deberá ser lo suficientemente fluida como para facilitar su agitación y movimiento.</a:t>
            </a:r>
          </a:p>
          <a:p>
            <a:pPr algn="just">
              <a:buFont typeface="Wingdings" pitchFamily="2" charset="2"/>
              <a:buChar char="Ø"/>
            </a:pPr>
            <a:r>
              <a:rPr lang="es-ES" sz="2000" b="1" dirty="0" smtClean="0"/>
              <a:t>Vierta una cantidad suficiente de muestra </a:t>
            </a:r>
            <a:r>
              <a:rPr lang="es-ES" sz="2000" dirty="0" smtClean="0"/>
              <a:t>para llenar los dos viscosímetros en un recipiente de vidrio de 100 </a:t>
            </a:r>
            <a:r>
              <a:rPr lang="es-ES" sz="2000" dirty="0" err="1" smtClean="0"/>
              <a:t>mL</a:t>
            </a:r>
            <a:r>
              <a:rPr lang="es-ES" sz="2000" dirty="0" smtClean="0"/>
              <a:t> con la tapa retirada.</a:t>
            </a:r>
            <a:endParaRPr lang="es-PE" sz="2000" dirty="0" smtClean="0"/>
          </a:p>
          <a:p>
            <a:pPr algn="just"/>
            <a:endParaRPr lang="es-ES" sz="2000" dirty="0" smtClean="0"/>
          </a:p>
        </p:txBody>
      </p:sp>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142852"/>
            <a:ext cx="8686800" cy="838200"/>
          </a:xfrm>
        </p:spPr>
        <p:txBody>
          <a:bodyPr>
            <a:noAutofit/>
          </a:bodyPr>
          <a:lstStyle/>
          <a:p>
            <a:r>
              <a:rPr lang="es-ES" b="1" dirty="0" smtClean="0"/>
              <a:t>Procedimiento para el caso de Líquidos opacos</a:t>
            </a:r>
            <a:endParaRPr lang="es-PE" b="1" i="1" dirty="0" smtClean="0"/>
          </a:p>
        </p:txBody>
      </p:sp>
      <p:sp>
        <p:nvSpPr>
          <p:cNvPr id="3" name="2 Marcador de contenido"/>
          <p:cNvSpPr>
            <a:spLocks noGrp="1"/>
          </p:cNvSpPr>
          <p:nvPr>
            <p:ph idx="1"/>
          </p:nvPr>
        </p:nvSpPr>
        <p:spPr>
          <a:xfrm>
            <a:off x="304800" y="1142984"/>
            <a:ext cx="8686800" cy="6000792"/>
          </a:xfrm>
        </p:spPr>
        <p:txBody>
          <a:bodyPr>
            <a:normAutofit lnSpcReduction="10000"/>
          </a:bodyPr>
          <a:lstStyle/>
          <a:p>
            <a:pPr algn="just"/>
            <a:r>
              <a:rPr lang="es-ES" sz="2000" dirty="0" smtClean="0"/>
              <a:t>Sumerja durante 30 min. el matraz en el baño de agua hirviendo. (Advertencia - Ponga cuidado conforme se vaya produciendo un vigoroso hervor al calentar a altas temperaturas los líquidos opacos que contienen niveles altos de agua).</a:t>
            </a:r>
          </a:p>
          <a:p>
            <a:pPr algn="just"/>
            <a:r>
              <a:rPr lang="es-ES" sz="2000" dirty="0" smtClean="0"/>
              <a:t>Retire el recipiente del baño, con  la tapa cerrada herméticamente, y sacuda durante 60s.</a:t>
            </a:r>
          </a:p>
          <a:p>
            <a:pPr lvl="0" algn="just"/>
            <a:r>
              <a:rPr lang="es-ES" sz="2000" dirty="0" smtClean="0"/>
              <a:t>Cargue el viscosímetro de la manera establecida en el diseño del equipo, la misma que deberá estar de conformidad con la empleada en el momento en que se calibró el equipo. Si la muestra contiene partículas sólidas, realice el filtrado durante la carga a través de un filtro (75-µm) (Ver Especificación D 446).</a:t>
            </a:r>
          </a:p>
          <a:p>
            <a:pPr lvl="0" algn="just"/>
            <a:r>
              <a:rPr lang="es-ES" sz="2000" dirty="0" smtClean="0"/>
              <a:t>Deje que el viscosímetro cargado siga en el baño por un tiempo suficiente para que alcance la temperatura de ensayo. </a:t>
            </a:r>
          </a:p>
          <a:p>
            <a:pPr algn="just"/>
            <a:r>
              <a:rPr lang="es-ES" sz="2000" dirty="0" smtClean="0"/>
              <a:t>Treinta minutos deben ser suficientes excepto para los productos con elevadas viscosidades cinemáticas.</a:t>
            </a:r>
          </a:p>
          <a:p>
            <a:pPr algn="just"/>
            <a:r>
              <a:rPr lang="es-ES" sz="2000" dirty="0" smtClean="0"/>
              <a:t>Luego, con la muestra fluyendo libremente, mida, en segundos, dentro de 0.1s, el tiempo requerido para que el menisco pase cronométricamente desde la primera marca a la segunda.</a:t>
            </a:r>
          </a:p>
          <a:p>
            <a:pPr lvl="0" algn="just"/>
            <a:r>
              <a:rPr lang="es-ES" sz="2000" dirty="0" smtClean="0"/>
              <a:t>De las dos medidas de tiempo de flujo, calcular dos valores determinados de la viscosidad cinemática.</a:t>
            </a:r>
          </a:p>
        </p:txBody>
      </p:sp>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142852"/>
            <a:ext cx="8686800" cy="838200"/>
          </a:xfrm>
        </p:spPr>
        <p:txBody>
          <a:bodyPr>
            <a:noAutofit/>
          </a:bodyPr>
          <a:lstStyle/>
          <a:p>
            <a:r>
              <a:rPr lang="es-ES" b="1" dirty="0" smtClean="0"/>
              <a:t>Procedimiento para el caso de Líquidos OPACOS</a:t>
            </a:r>
            <a:endParaRPr lang="es-PE" b="1" i="1" dirty="0" smtClean="0"/>
          </a:p>
        </p:txBody>
      </p:sp>
      <p:sp>
        <p:nvSpPr>
          <p:cNvPr id="3" name="2 Marcador de contenido"/>
          <p:cNvSpPr>
            <a:spLocks noGrp="1"/>
          </p:cNvSpPr>
          <p:nvPr>
            <p:ph idx="1"/>
          </p:nvPr>
        </p:nvSpPr>
        <p:spPr>
          <a:xfrm>
            <a:off x="304800" y="1554162"/>
            <a:ext cx="8686800" cy="3803664"/>
          </a:xfrm>
        </p:spPr>
        <p:txBody>
          <a:bodyPr>
            <a:normAutofit/>
          </a:bodyPr>
          <a:lstStyle/>
          <a:p>
            <a:pPr lvl="0" algn="just"/>
            <a:r>
              <a:rPr lang="es-ES" sz="2000" dirty="0" smtClean="0"/>
              <a:t>Si las dos determinaciones de viscosidad cinemática, calculada a partir de las mediciones de tiempo de flujo, concuerdan con las cantidades establecida para la determinabilidad (Ver 17.1.1) según el producto, utilice el promedio de estas determinaciones para calcular el resultado de la viscosidad a ser reportada. Registre el resultado. Si las determinaciones de la viscosidad cinemática no concuerdan con la determinabilidad establecida, repita  las mediciones de los tiempos de flujo después de una completa limpieza y secado de los viscosímetros y filtrado de la muestra (cuando sea requerido).</a:t>
            </a:r>
            <a:endParaRPr lang="es-PE" sz="2000" dirty="0"/>
          </a:p>
        </p:txBody>
      </p:sp>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85728"/>
            <a:ext cx="8686800" cy="838200"/>
          </a:xfrm>
        </p:spPr>
        <p:txBody>
          <a:bodyPr>
            <a:noAutofit/>
          </a:bodyPr>
          <a:lstStyle/>
          <a:p>
            <a:pPr lvl="1" algn="l" rtl="0">
              <a:spcBef>
                <a:spcPct val="0"/>
              </a:spcBef>
            </a:pPr>
            <a:r>
              <a:rPr lang="es-ES" sz="3200" b="1" dirty="0"/>
              <a:t>Cálculo</a:t>
            </a:r>
            <a:r>
              <a:rPr lang="es-PE" sz="2800" dirty="0"/>
              <a:t/>
            </a:r>
            <a:br>
              <a:rPr lang="es-PE" sz="2800" dirty="0"/>
            </a:br>
            <a:endParaRPr lang="es-PE" b="1" i="1" dirty="0" smtClean="0"/>
          </a:p>
        </p:txBody>
      </p:sp>
      <p:sp>
        <p:nvSpPr>
          <p:cNvPr id="3" name="2 Marcador de contenido"/>
          <p:cNvSpPr>
            <a:spLocks noGrp="1"/>
          </p:cNvSpPr>
          <p:nvPr>
            <p:ph idx="1"/>
          </p:nvPr>
        </p:nvSpPr>
        <p:spPr>
          <a:xfrm>
            <a:off x="457200" y="1142984"/>
            <a:ext cx="8686800" cy="4643470"/>
          </a:xfrm>
        </p:spPr>
        <p:txBody>
          <a:bodyPr>
            <a:normAutofit fontScale="92500" lnSpcReduction="20000"/>
          </a:bodyPr>
          <a:lstStyle/>
          <a:p>
            <a:pPr hangingPunct="0"/>
            <a:r>
              <a:rPr lang="es-ES" sz="2800" dirty="0" smtClean="0"/>
              <a:t>Calcule cada determinación del valor de la viscosidad cinemática, </a:t>
            </a:r>
            <a:r>
              <a:rPr lang="es-ES" sz="2800" dirty="0" smtClean="0">
                <a:sym typeface="Symbol"/>
              </a:rPr>
              <a:t></a:t>
            </a:r>
            <a:r>
              <a:rPr lang="es-ES" sz="2800" dirty="0" smtClean="0"/>
              <a:t>, a partir del tiempo de flujo medido, t, y la constante del viscosímetro, C,  con la siguiente ecuación:</a:t>
            </a:r>
            <a:endParaRPr lang="es-PE" sz="2800" dirty="0" smtClean="0"/>
          </a:p>
          <a:p>
            <a:pPr hangingPunct="0"/>
            <a:endParaRPr lang="es-PE" sz="2800" dirty="0" smtClean="0"/>
          </a:p>
          <a:p>
            <a:pPr hangingPunct="0">
              <a:buNone/>
            </a:pPr>
            <a:r>
              <a:rPr lang="es-ES" sz="2800" dirty="0" smtClean="0"/>
              <a:t>			</a:t>
            </a:r>
            <a:r>
              <a:rPr lang="en-US" sz="3500" b="1" dirty="0" smtClean="0">
                <a:sym typeface="Symbol"/>
              </a:rPr>
              <a:t></a:t>
            </a:r>
            <a:r>
              <a:rPr lang="es-ES" sz="3500" b="1" baseline="-25000" dirty="0" smtClean="0"/>
              <a:t>12</a:t>
            </a:r>
            <a:r>
              <a:rPr lang="es-ES" sz="3500" b="1" dirty="0" smtClean="0"/>
              <a:t>   = C · </a:t>
            </a:r>
            <a:r>
              <a:rPr lang="es-ES" sz="3500" b="1" i="1" dirty="0" smtClean="0"/>
              <a:t>t</a:t>
            </a:r>
            <a:r>
              <a:rPr lang="es-ES" sz="3500" b="1" baseline="-25000" dirty="0" smtClean="0"/>
              <a:t>12</a:t>
            </a:r>
            <a:r>
              <a:rPr lang="es-ES" sz="2800" dirty="0" smtClean="0"/>
              <a:t> </a:t>
            </a:r>
            <a:r>
              <a:rPr lang="es-ES" sz="2800" i="1" dirty="0" smtClean="0"/>
              <a:t> 						</a:t>
            </a:r>
            <a:endParaRPr lang="es-PE" sz="2800" dirty="0" smtClean="0"/>
          </a:p>
          <a:p>
            <a:pPr hangingPunct="0">
              <a:buNone/>
            </a:pPr>
            <a:r>
              <a:rPr lang="es-ES" sz="2800" dirty="0" smtClean="0"/>
              <a:t>Donde:</a:t>
            </a:r>
            <a:endParaRPr lang="es-PE" sz="2400" dirty="0" smtClean="0"/>
          </a:p>
          <a:p>
            <a:pPr hangingPunct="0"/>
            <a:r>
              <a:rPr lang="en-US" sz="2400" dirty="0" smtClean="0">
                <a:sym typeface="Symbol"/>
              </a:rPr>
              <a:t></a:t>
            </a:r>
            <a:r>
              <a:rPr lang="es-ES" sz="2400" baseline="-25000" dirty="0" smtClean="0"/>
              <a:t>12</a:t>
            </a:r>
            <a:r>
              <a:rPr lang="es-ES" sz="2400" dirty="0" smtClean="0"/>
              <a:t>  =  determinación del valor de la viscosidad cinemática para  </a:t>
            </a:r>
            <a:r>
              <a:rPr lang="en-US" sz="2400" dirty="0" smtClean="0">
                <a:sym typeface="Symbol"/>
              </a:rPr>
              <a:t></a:t>
            </a:r>
            <a:r>
              <a:rPr lang="es-ES" sz="2400" baseline="-25000" dirty="0" smtClean="0"/>
              <a:t>1 </a:t>
            </a:r>
            <a:r>
              <a:rPr lang="es-ES" sz="2400" dirty="0" smtClean="0"/>
              <a:t>y </a:t>
            </a:r>
            <a:r>
              <a:rPr lang="en-US" sz="2400" dirty="0" smtClean="0">
                <a:sym typeface="Symbol"/>
              </a:rPr>
              <a:t></a:t>
            </a:r>
            <a:r>
              <a:rPr lang="es-ES" sz="2400" baseline="-25000" dirty="0" smtClean="0"/>
              <a:t>2</a:t>
            </a:r>
            <a:r>
              <a:rPr lang="es-ES" sz="2400" dirty="0" smtClean="0"/>
              <a:t>, respectivamente, mm</a:t>
            </a:r>
            <a:r>
              <a:rPr lang="es-ES" sz="2400" baseline="30000" dirty="0" smtClean="0"/>
              <a:t>2</a:t>
            </a:r>
            <a:r>
              <a:rPr lang="es-ES" sz="2400" dirty="0" smtClean="0"/>
              <a:t>/s,</a:t>
            </a:r>
            <a:endParaRPr lang="es-PE" sz="2400" dirty="0" smtClean="0"/>
          </a:p>
          <a:p>
            <a:pPr hangingPunct="0"/>
            <a:r>
              <a:rPr lang="es-ES" sz="2400" dirty="0" smtClean="0"/>
              <a:t>C</a:t>
            </a:r>
            <a:r>
              <a:rPr lang="es-ES" sz="2400" i="1" dirty="0" smtClean="0"/>
              <a:t> = </a:t>
            </a:r>
            <a:r>
              <a:rPr lang="es-ES" sz="2400" dirty="0" smtClean="0"/>
              <a:t> constante de calibración del viscosímetro, (mm</a:t>
            </a:r>
            <a:r>
              <a:rPr lang="es-ES" sz="2400" baseline="30000" dirty="0" smtClean="0"/>
              <a:t>2</a:t>
            </a:r>
            <a:r>
              <a:rPr lang="es-ES" sz="2400" dirty="0" smtClean="0"/>
              <a:t>/s), y</a:t>
            </a:r>
            <a:endParaRPr lang="es-PE" sz="2400" dirty="0" smtClean="0"/>
          </a:p>
          <a:p>
            <a:pPr hangingPunct="0"/>
            <a:r>
              <a:rPr lang="es-ES" sz="2400" i="1" dirty="0" smtClean="0"/>
              <a:t>t </a:t>
            </a:r>
            <a:r>
              <a:rPr lang="es-ES" sz="2400" dirty="0" smtClean="0"/>
              <a:t>=  medida del tiempo de flujo para </a:t>
            </a:r>
            <a:r>
              <a:rPr lang="es-ES" sz="2400" i="1" dirty="0" smtClean="0"/>
              <a:t>t</a:t>
            </a:r>
            <a:r>
              <a:rPr lang="es-ES" sz="2400" baseline="-25000" dirty="0" smtClean="0"/>
              <a:t>1 </a:t>
            </a:r>
            <a:r>
              <a:rPr lang="es-ES" sz="2400" dirty="0" smtClean="0"/>
              <a:t>y</a:t>
            </a:r>
            <a:r>
              <a:rPr lang="es-ES" sz="2400" baseline="-25000" dirty="0" smtClean="0"/>
              <a:t> </a:t>
            </a:r>
            <a:r>
              <a:rPr lang="es-ES" sz="2400" i="1" dirty="0" smtClean="0"/>
              <a:t>t</a:t>
            </a:r>
            <a:r>
              <a:rPr lang="es-ES" sz="2400" baseline="-25000" dirty="0" smtClean="0"/>
              <a:t>2</a:t>
            </a:r>
            <a:r>
              <a:rPr lang="es-ES" sz="2400" dirty="0" smtClean="0"/>
              <a:t>, respectivamente, s.</a:t>
            </a:r>
            <a:endParaRPr lang="es-PE" sz="2400" dirty="0" smtClean="0"/>
          </a:p>
          <a:p>
            <a:pPr hangingPunct="0">
              <a:buNone/>
            </a:pPr>
            <a:r>
              <a:rPr lang="es-ES" sz="2400" dirty="0" smtClean="0"/>
              <a:t> </a:t>
            </a:r>
            <a:endParaRPr lang="es-PE" sz="2400" dirty="0" smtClean="0"/>
          </a:p>
          <a:p>
            <a:pPr lvl="0"/>
            <a:endParaRPr lang="es-PE" sz="2000" dirty="0" smtClean="0"/>
          </a:p>
          <a:p>
            <a:endParaRPr lang="es-PE" sz="2000" dirty="0" smtClean="0"/>
          </a:p>
          <a:p>
            <a:pPr lvl="0">
              <a:buFont typeface="Wingdings" pitchFamily="2" charset="2"/>
              <a:buChar char="Ø"/>
            </a:pPr>
            <a:endParaRPr lang="es-PE" sz="2000" dirty="0" smtClean="0"/>
          </a:p>
          <a:p>
            <a:pPr>
              <a:buNone/>
            </a:pPr>
            <a:endParaRPr lang="es-PE" sz="2000" dirty="0" smtClean="0">
              <a:solidFill>
                <a:srgbClr val="FF0000"/>
              </a:solidFill>
            </a:endParaRPr>
          </a:p>
          <a:p>
            <a:pPr>
              <a:buFont typeface="Wingdings" pitchFamily="2" charset="2"/>
              <a:buChar char="Ø"/>
            </a:pPr>
            <a:endParaRPr lang="es-PE" sz="2000" dirty="0" smtClean="0"/>
          </a:p>
        </p:txBody>
      </p:sp>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85728"/>
            <a:ext cx="8686800" cy="838200"/>
          </a:xfrm>
        </p:spPr>
        <p:txBody>
          <a:bodyPr>
            <a:noAutofit/>
          </a:bodyPr>
          <a:lstStyle/>
          <a:p>
            <a:pPr lvl="1" algn="l" rtl="0">
              <a:spcBef>
                <a:spcPct val="0"/>
              </a:spcBef>
            </a:pPr>
            <a:r>
              <a:rPr lang="es-ES" sz="3200" b="1" dirty="0" smtClean="0"/>
              <a:t>Reporte de Resultados</a:t>
            </a:r>
            <a:r>
              <a:rPr lang="es-PE" sz="2800" dirty="0"/>
              <a:t/>
            </a:r>
            <a:br>
              <a:rPr lang="es-PE" sz="2800" dirty="0"/>
            </a:br>
            <a:endParaRPr lang="es-PE" b="1" i="1" dirty="0" smtClean="0"/>
          </a:p>
        </p:txBody>
      </p:sp>
      <p:sp>
        <p:nvSpPr>
          <p:cNvPr id="3" name="2 Marcador de contenido"/>
          <p:cNvSpPr>
            <a:spLocks noGrp="1"/>
          </p:cNvSpPr>
          <p:nvPr>
            <p:ph idx="1"/>
          </p:nvPr>
        </p:nvSpPr>
        <p:spPr>
          <a:xfrm>
            <a:off x="457200" y="1142984"/>
            <a:ext cx="8258204" cy="4643470"/>
          </a:xfrm>
        </p:spPr>
        <p:txBody>
          <a:bodyPr>
            <a:normAutofit/>
          </a:bodyPr>
          <a:lstStyle/>
          <a:p>
            <a:pPr hangingPunct="0"/>
            <a:r>
              <a:rPr lang="es-ES" sz="2800" dirty="0" smtClean="0"/>
              <a:t>Reporte los resultados de la prueba de la viscosidad cinemática o dinámica, o  ambas, con cuatro dígitos significativos junto con la temperatura de prueba. </a:t>
            </a:r>
            <a:r>
              <a:rPr lang="es-ES" sz="2400" dirty="0" smtClean="0"/>
              <a:t> </a:t>
            </a:r>
          </a:p>
          <a:p>
            <a:pPr hangingPunct="0"/>
            <a:r>
              <a:rPr lang="es-ES" sz="2400" dirty="0" smtClean="0"/>
              <a:t>Ejemplo:</a:t>
            </a:r>
          </a:p>
          <a:p>
            <a:pPr hangingPunct="0"/>
            <a:r>
              <a:rPr lang="en-US" sz="2400" b="1" dirty="0" smtClean="0">
                <a:sym typeface="Symbol"/>
              </a:rPr>
              <a:t></a:t>
            </a:r>
            <a:r>
              <a:rPr lang="es-ES" sz="2400" b="1" baseline="-25000" dirty="0" smtClean="0">
                <a:sym typeface="Symbol"/>
              </a:rPr>
              <a:t>MGO</a:t>
            </a:r>
            <a:r>
              <a:rPr lang="es-ES" sz="2400" b="1" dirty="0" smtClean="0">
                <a:sym typeface="Symbol"/>
              </a:rPr>
              <a:t> = 3.256 </a:t>
            </a:r>
            <a:r>
              <a:rPr lang="es-ES" sz="2400" b="1" dirty="0" err="1" smtClean="0">
                <a:sym typeface="Symbol"/>
              </a:rPr>
              <a:t>Cst</a:t>
            </a:r>
            <a:r>
              <a:rPr lang="es-ES" sz="2400" b="1" dirty="0" smtClean="0">
                <a:sym typeface="Symbol"/>
              </a:rPr>
              <a:t> @ 40°C.</a:t>
            </a:r>
          </a:p>
          <a:p>
            <a:pPr hangingPunct="0"/>
            <a:r>
              <a:rPr lang="en-US" sz="2400" b="1" dirty="0" smtClean="0">
                <a:sym typeface="Symbol"/>
              </a:rPr>
              <a:t></a:t>
            </a:r>
            <a:r>
              <a:rPr lang="es-ES" sz="2400" b="1" baseline="-25000" dirty="0" smtClean="0">
                <a:sym typeface="Symbol"/>
              </a:rPr>
              <a:t>IFO 380</a:t>
            </a:r>
            <a:r>
              <a:rPr lang="es-ES" sz="2400" b="1" dirty="0" smtClean="0">
                <a:sym typeface="Symbol"/>
              </a:rPr>
              <a:t> = 365.6 </a:t>
            </a:r>
            <a:r>
              <a:rPr lang="es-ES" sz="2400" b="1" dirty="0" err="1" smtClean="0">
                <a:sym typeface="Symbol"/>
              </a:rPr>
              <a:t>Cst</a:t>
            </a:r>
            <a:r>
              <a:rPr lang="es-ES" sz="2400" b="1" dirty="0" smtClean="0">
                <a:sym typeface="Symbol"/>
              </a:rPr>
              <a:t> @ 50°C.</a:t>
            </a:r>
          </a:p>
          <a:p>
            <a:pPr hangingPunct="0"/>
            <a:endParaRPr lang="es-ES" sz="2400" b="1" dirty="0" smtClean="0">
              <a:sym typeface="Symbol"/>
            </a:endParaRPr>
          </a:p>
          <a:p>
            <a:pPr hangingPunct="0">
              <a:buNone/>
            </a:pPr>
            <a:r>
              <a:rPr lang="es-ES" sz="2400" b="1" dirty="0" smtClean="0">
                <a:sym typeface="Symbol"/>
              </a:rPr>
              <a:t> </a:t>
            </a:r>
            <a:endParaRPr lang="es-PE" sz="2400" dirty="0" smtClean="0"/>
          </a:p>
          <a:p>
            <a:pPr lvl="0"/>
            <a:endParaRPr lang="es-PE" sz="2000" dirty="0" smtClean="0"/>
          </a:p>
          <a:p>
            <a:endParaRPr lang="es-PE" sz="2000" dirty="0" smtClean="0"/>
          </a:p>
          <a:p>
            <a:pPr lvl="0">
              <a:buFont typeface="Wingdings" pitchFamily="2" charset="2"/>
              <a:buChar char="Ø"/>
            </a:pPr>
            <a:endParaRPr lang="es-PE" sz="2000" dirty="0" smtClean="0"/>
          </a:p>
          <a:p>
            <a:pPr>
              <a:buNone/>
            </a:pPr>
            <a:endParaRPr lang="es-PE" sz="2000" dirty="0" smtClean="0">
              <a:solidFill>
                <a:srgbClr val="FF0000"/>
              </a:solidFill>
            </a:endParaRPr>
          </a:p>
          <a:p>
            <a:pPr>
              <a:buFont typeface="Wingdings" pitchFamily="2" charset="2"/>
              <a:buChar char="Ø"/>
            </a:pPr>
            <a:endParaRPr lang="es-PE" sz="2000" dirty="0" smtClean="0"/>
          </a:p>
        </p:txBody>
      </p:sp>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85728"/>
            <a:ext cx="8686800" cy="838200"/>
          </a:xfrm>
        </p:spPr>
        <p:txBody>
          <a:bodyPr>
            <a:noAutofit/>
          </a:bodyPr>
          <a:lstStyle/>
          <a:p>
            <a:pPr lvl="1" algn="l" rtl="0">
              <a:spcBef>
                <a:spcPct val="0"/>
              </a:spcBef>
            </a:pPr>
            <a:r>
              <a:rPr lang="es-ES" sz="3200" b="1" dirty="0"/>
              <a:t>Precisión </a:t>
            </a:r>
            <a:r>
              <a:rPr lang="es-PE" sz="2800" dirty="0"/>
              <a:t/>
            </a:r>
            <a:br>
              <a:rPr lang="es-PE" sz="2800" dirty="0"/>
            </a:br>
            <a:endParaRPr lang="es-PE" b="1" i="1" dirty="0" smtClean="0"/>
          </a:p>
        </p:txBody>
      </p:sp>
      <p:sp>
        <p:nvSpPr>
          <p:cNvPr id="3" name="2 Marcador de contenido"/>
          <p:cNvSpPr>
            <a:spLocks noGrp="1"/>
          </p:cNvSpPr>
          <p:nvPr>
            <p:ph idx="1"/>
          </p:nvPr>
        </p:nvSpPr>
        <p:spPr>
          <a:xfrm>
            <a:off x="457200" y="1142984"/>
            <a:ext cx="8258204" cy="4643470"/>
          </a:xfrm>
        </p:spPr>
        <p:txBody>
          <a:bodyPr>
            <a:normAutofit/>
          </a:bodyPr>
          <a:lstStyle/>
          <a:p>
            <a:pPr algn="just" hangingPunct="0"/>
            <a:r>
              <a:rPr lang="es-ES" sz="2000" b="1" dirty="0" smtClean="0"/>
              <a:t>Determinabilidad (d) </a:t>
            </a:r>
            <a:r>
              <a:rPr lang="es-ES" sz="2000" dirty="0" smtClean="0"/>
              <a:t>- Diferencia entre las determinaciones sucesivas obtenidas con el mismo operador en el mismo laboratorio usando el mismo equipo para una serie de operaciones que conducen a un resultado único, que a la larga, excederá, dentro de una operación normal y correcta del presente método de ensayo, los valores indicados, sólo en un caso de veinte: </a:t>
            </a:r>
            <a:endParaRPr lang="es-PE" sz="2000" dirty="0" smtClean="0"/>
          </a:p>
          <a:p>
            <a:pPr hangingPunct="0"/>
            <a:endParaRPr lang="es-ES" sz="2400" b="1" dirty="0" smtClean="0">
              <a:sym typeface="Symbol"/>
            </a:endParaRPr>
          </a:p>
          <a:p>
            <a:pPr hangingPunct="0">
              <a:buNone/>
            </a:pPr>
            <a:r>
              <a:rPr lang="es-ES" sz="2400" b="1" dirty="0" smtClean="0">
                <a:sym typeface="Symbol"/>
              </a:rPr>
              <a:t> </a:t>
            </a:r>
            <a:endParaRPr lang="es-PE" sz="2400" dirty="0" smtClean="0"/>
          </a:p>
          <a:p>
            <a:pPr lvl="0"/>
            <a:endParaRPr lang="es-PE" sz="2000" dirty="0" smtClean="0"/>
          </a:p>
          <a:p>
            <a:endParaRPr lang="es-PE" sz="2000" dirty="0" smtClean="0"/>
          </a:p>
          <a:p>
            <a:pPr lvl="0">
              <a:buFont typeface="Wingdings" pitchFamily="2" charset="2"/>
              <a:buChar char="Ø"/>
            </a:pPr>
            <a:endParaRPr lang="es-PE" sz="2000" dirty="0" smtClean="0"/>
          </a:p>
          <a:p>
            <a:pPr>
              <a:buNone/>
            </a:pPr>
            <a:endParaRPr lang="es-PE" sz="2000" dirty="0" smtClean="0">
              <a:solidFill>
                <a:srgbClr val="FF0000"/>
              </a:solidFill>
            </a:endParaRPr>
          </a:p>
          <a:p>
            <a:pPr>
              <a:buNone/>
            </a:pPr>
            <a:endParaRPr lang="es-PE" sz="2000" dirty="0" smtClean="0">
              <a:solidFill>
                <a:srgbClr val="FF0000"/>
              </a:solidFill>
            </a:endParaRPr>
          </a:p>
          <a:p>
            <a:pPr>
              <a:buNone/>
            </a:pPr>
            <a:endParaRPr lang="es-PE" sz="2000" dirty="0" smtClean="0">
              <a:solidFill>
                <a:srgbClr val="FF0000"/>
              </a:solidFill>
            </a:endParaRPr>
          </a:p>
          <a:p>
            <a:pPr>
              <a:buFont typeface="Wingdings" pitchFamily="2" charset="2"/>
              <a:buChar char="Ø"/>
            </a:pPr>
            <a:endParaRPr lang="es-PE" sz="2000" dirty="0" smtClean="0"/>
          </a:p>
        </p:txBody>
      </p:sp>
      <p:pic>
        <p:nvPicPr>
          <p:cNvPr id="2054" name="Picture 6"/>
          <p:cNvPicPr>
            <a:picLocks noChangeAspect="1" noChangeArrowheads="1"/>
          </p:cNvPicPr>
          <p:nvPr/>
        </p:nvPicPr>
        <p:blipFill>
          <a:blip r:embed="rId2"/>
          <a:srcRect/>
          <a:stretch>
            <a:fillRect/>
          </a:stretch>
        </p:blipFill>
        <p:spPr bwMode="auto">
          <a:xfrm>
            <a:off x="928662" y="3286124"/>
            <a:ext cx="7634144" cy="2500330"/>
          </a:xfrm>
          <a:prstGeom prst="rect">
            <a:avLst/>
          </a:prstGeom>
          <a:noFill/>
          <a:ln w="9525">
            <a:noFill/>
            <a:miter lim="800000"/>
            <a:headEnd/>
            <a:tailEnd/>
          </a:ln>
          <a:effectLst/>
        </p:spPr>
      </p:pic>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85728"/>
            <a:ext cx="8686800" cy="838200"/>
          </a:xfrm>
        </p:spPr>
        <p:txBody>
          <a:bodyPr>
            <a:noAutofit/>
          </a:bodyPr>
          <a:lstStyle/>
          <a:p>
            <a:pPr lvl="1" algn="l" rtl="0">
              <a:spcBef>
                <a:spcPct val="0"/>
              </a:spcBef>
            </a:pPr>
            <a:r>
              <a:rPr lang="es-ES" sz="3200" b="1" dirty="0"/>
              <a:t>Precisión </a:t>
            </a:r>
            <a:r>
              <a:rPr lang="es-PE" sz="2800" dirty="0"/>
              <a:t/>
            </a:r>
            <a:br>
              <a:rPr lang="es-PE" sz="2800" dirty="0"/>
            </a:br>
            <a:endParaRPr lang="es-PE" b="1" i="1" dirty="0" smtClean="0"/>
          </a:p>
        </p:txBody>
      </p:sp>
      <p:sp>
        <p:nvSpPr>
          <p:cNvPr id="3" name="2 Marcador de contenido"/>
          <p:cNvSpPr>
            <a:spLocks noGrp="1"/>
          </p:cNvSpPr>
          <p:nvPr>
            <p:ph idx="1"/>
          </p:nvPr>
        </p:nvSpPr>
        <p:spPr>
          <a:xfrm>
            <a:off x="457200" y="1142984"/>
            <a:ext cx="8258204" cy="4643470"/>
          </a:xfrm>
        </p:spPr>
        <p:txBody>
          <a:bodyPr>
            <a:normAutofit/>
          </a:bodyPr>
          <a:lstStyle/>
          <a:p>
            <a:pPr algn="just" hangingPunct="0"/>
            <a:r>
              <a:rPr lang="es-ES" sz="2000" b="1" dirty="0" err="1" smtClean="0"/>
              <a:t>Repetibilidad</a:t>
            </a:r>
            <a:r>
              <a:rPr lang="es-ES" sz="2000" b="1" dirty="0" smtClean="0"/>
              <a:t> (r) </a:t>
            </a:r>
            <a:r>
              <a:rPr lang="es-ES" sz="2000" dirty="0" smtClean="0"/>
              <a:t>- Diferencia entre los resultados sucesivos obtenidos del mismo operador en el mismo laboratorio con el mismo equipo bajo condiciones de operación constante con idéntico material de ensayo, que, a la larga y en una correcta y normal aplicación del presente ensayo, excederá los valores indicados solamente en un caso de veinte: </a:t>
            </a:r>
            <a:endParaRPr lang="es-PE" sz="2000" dirty="0" smtClean="0"/>
          </a:p>
          <a:p>
            <a:pPr hangingPunct="0"/>
            <a:endParaRPr lang="es-ES" sz="2400" b="1" dirty="0" smtClean="0">
              <a:sym typeface="Symbol"/>
            </a:endParaRPr>
          </a:p>
          <a:p>
            <a:pPr hangingPunct="0">
              <a:buNone/>
            </a:pPr>
            <a:r>
              <a:rPr lang="es-ES" sz="2400" b="1" dirty="0" smtClean="0">
                <a:sym typeface="Symbol"/>
              </a:rPr>
              <a:t> </a:t>
            </a:r>
            <a:endParaRPr lang="es-PE" sz="2400" dirty="0" smtClean="0"/>
          </a:p>
          <a:p>
            <a:pPr lvl="0"/>
            <a:endParaRPr lang="es-PE" sz="2000" dirty="0" smtClean="0"/>
          </a:p>
          <a:p>
            <a:endParaRPr lang="es-PE" sz="2000" dirty="0" smtClean="0"/>
          </a:p>
          <a:p>
            <a:pPr lvl="0">
              <a:buFont typeface="Wingdings" pitchFamily="2" charset="2"/>
              <a:buChar char="Ø"/>
            </a:pPr>
            <a:endParaRPr lang="es-PE" sz="2000" dirty="0" smtClean="0"/>
          </a:p>
          <a:p>
            <a:pPr>
              <a:buNone/>
            </a:pPr>
            <a:endParaRPr lang="es-PE" sz="2000" dirty="0" smtClean="0">
              <a:solidFill>
                <a:srgbClr val="FF0000"/>
              </a:solidFill>
            </a:endParaRPr>
          </a:p>
          <a:p>
            <a:pPr>
              <a:buNone/>
            </a:pPr>
            <a:endParaRPr lang="es-PE" sz="2000" dirty="0" smtClean="0">
              <a:solidFill>
                <a:srgbClr val="FF0000"/>
              </a:solidFill>
            </a:endParaRPr>
          </a:p>
          <a:p>
            <a:pPr>
              <a:buNone/>
            </a:pPr>
            <a:endParaRPr lang="es-PE" sz="2000" dirty="0" smtClean="0">
              <a:solidFill>
                <a:srgbClr val="FF0000"/>
              </a:solidFill>
            </a:endParaRPr>
          </a:p>
          <a:p>
            <a:pPr>
              <a:buFont typeface="Wingdings" pitchFamily="2" charset="2"/>
              <a:buChar char="Ø"/>
            </a:pPr>
            <a:endParaRPr lang="es-PE" sz="2000" dirty="0" smtClean="0"/>
          </a:p>
        </p:txBody>
      </p:sp>
      <p:pic>
        <p:nvPicPr>
          <p:cNvPr id="3074" name="Picture 2"/>
          <p:cNvPicPr>
            <a:picLocks noChangeAspect="1" noChangeArrowheads="1"/>
          </p:cNvPicPr>
          <p:nvPr/>
        </p:nvPicPr>
        <p:blipFill>
          <a:blip r:embed="rId2"/>
          <a:srcRect/>
          <a:stretch>
            <a:fillRect/>
          </a:stretch>
        </p:blipFill>
        <p:spPr bwMode="auto">
          <a:xfrm>
            <a:off x="928661" y="3143248"/>
            <a:ext cx="7766946" cy="2286016"/>
          </a:xfrm>
          <a:prstGeom prst="rect">
            <a:avLst/>
          </a:prstGeom>
          <a:noFill/>
          <a:ln w="9525">
            <a:noFill/>
            <a:miter lim="800000"/>
            <a:headEnd/>
            <a:tailEnd/>
          </a:ln>
          <a:effectLst/>
        </p:spPr>
      </p:pic>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85728"/>
            <a:ext cx="8686800" cy="838200"/>
          </a:xfrm>
        </p:spPr>
        <p:txBody>
          <a:bodyPr>
            <a:noAutofit/>
          </a:bodyPr>
          <a:lstStyle/>
          <a:p>
            <a:pPr lvl="1" algn="l" rtl="0">
              <a:spcBef>
                <a:spcPct val="0"/>
              </a:spcBef>
            </a:pPr>
            <a:r>
              <a:rPr lang="es-ES" sz="3200" b="1" dirty="0"/>
              <a:t>Precisión </a:t>
            </a:r>
            <a:r>
              <a:rPr lang="es-PE" sz="2800" dirty="0"/>
              <a:t/>
            </a:r>
            <a:br>
              <a:rPr lang="es-PE" sz="2800" dirty="0"/>
            </a:br>
            <a:endParaRPr lang="es-PE" b="1" i="1" dirty="0" smtClean="0"/>
          </a:p>
        </p:txBody>
      </p:sp>
      <p:sp>
        <p:nvSpPr>
          <p:cNvPr id="3" name="2 Marcador de contenido"/>
          <p:cNvSpPr>
            <a:spLocks noGrp="1"/>
          </p:cNvSpPr>
          <p:nvPr>
            <p:ph idx="1"/>
          </p:nvPr>
        </p:nvSpPr>
        <p:spPr>
          <a:xfrm>
            <a:off x="457200" y="1142984"/>
            <a:ext cx="8258204" cy="4643470"/>
          </a:xfrm>
        </p:spPr>
        <p:txBody>
          <a:bodyPr>
            <a:normAutofit/>
          </a:bodyPr>
          <a:lstStyle/>
          <a:p>
            <a:pPr algn="just" hangingPunct="0"/>
            <a:r>
              <a:rPr lang="es-ES" sz="2000" b="1" dirty="0" smtClean="0"/>
              <a:t>Reproducibilidad (R) </a:t>
            </a:r>
            <a:r>
              <a:rPr lang="es-ES" sz="2000" dirty="0" smtClean="0"/>
              <a:t>- Diferencia entre dos resultados únicos e independientes obtenidos de diferentes operadores que trabajan en laboratorios diferentes con  material de ensayo nominalmente idéntico, que a la larga y en una correcta y normal aplicación del presente ensayo, excederá los valores indicados abajo sólo en un caso de veinte.</a:t>
            </a:r>
            <a:endParaRPr lang="es-ES" sz="2400" b="1" dirty="0" smtClean="0">
              <a:sym typeface="Symbol"/>
            </a:endParaRPr>
          </a:p>
          <a:p>
            <a:pPr hangingPunct="0">
              <a:buNone/>
            </a:pPr>
            <a:r>
              <a:rPr lang="es-ES" sz="2400" b="1" dirty="0" smtClean="0">
                <a:sym typeface="Symbol"/>
              </a:rPr>
              <a:t> </a:t>
            </a:r>
            <a:endParaRPr lang="es-PE" sz="2400" dirty="0" smtClean="0"/>
          </a:p>
          <a:p>
            <a:pPr lvl="0"/>
            <a:endParaRPr lang="es-PE" sz="2000" dirty="0" smtClean="0"/>
          </a:p>
          <a:p>
            <a:endParaRPr lang="es-PE" sz="2000" dirty="0" smtClean="0"/>
          </a:p>
          <a:p>
            <a:pPr lvl="0">
              <a:buFont typeface="Wingdings" pitchFamily="2" charset="2"/>
              <a:buChar char="Ø"/>
            </a:pPr>
            <a:endParaRPr lang="es-PE" sz="2000" dirty="0" smtClean="0"/>
          </a:p>
          <a:p>
            <a:pPr>
              <a:buNone/>
            </a:pPr>
            <a:endParaRPr lang="es-PE" sz="2000" dirty="0" smtClean="0">
              <a:solidFill>
                <a:srgbClr val="FF0000"/>
              </a:solidFill>
            </a:endParaRPr>
          </a:p>
          <a:p>
            <a:pPr>
              <a:buNone/>
            </a:pPr>
            <a:endParaRPr lang="es-PE" sz="2000" dirty="0" smtClean="0">
              <a:solidFill>
                <a:srgbClr val="FF0000"/>
              </a:solidFill>
            </a:endParaRPr>
          </a:p>
          <a:p>
            <a:pPr>
              <a:buNone/>
            </a:pPr>
            <a:endParaRPr lang="es-PE" sz="2000" dirty="0" smtClean="0">
              <a:solidFill>
                <a:srgbClr val="FF0000"/>
              </a:solidFill>
            </a:endParaRPr>
          </a:p>
          <a:p>
            <a:pPr>
              <a:buFont typeface="Wingdings" pitchFamily="2" charset="2"/>
              <a:buChar char="Ø"/>
            </a:pPr>
            <a:endParaRPr lang="es-PE" sz="2000" dirty="0" smtClean="0"/>
          </a:p>
        </p:txBody>
      </p:sp>
      <p:pic>
        <p:nvPicPr>
          <p:cNvPr id="4098" name="Picture 2"/>
          <p:cNvPicPr>
            <a:picLocks noChangeAspect="1" noChangeArrowheads="1"/>
          </p:cNvPicPr>
          <p:nvPr/>
        </p:nvPicPr>
        <p:blipFill>
          <a:blip r:embed="rId2"/>
          <a:srcRect/>
          <a:stretch>
            <a:fillRect/>
          </a:stretch>
        </p:blipFill>
        <p:spPr bwMode="auto">
          <a:xfrm>
            <a:off x="857224" y="3214686"/>
            <a:ext cx="7686896" cy="2286016"/>
          </a:xfrm>
          <a:prstGeom prst="rect">
            <a:avLst/>
          </a:prstGeom>
          <a:noFill/>
          <a:ln w="9525">
            <a:noFill/>
            <a:miter lim="800000"/>
            <a:headEnd/>
            <a:tailEnd/>
          </a:ln>
          <a:effectLst/>
        </p:spPr>
      </p:pic>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85728"/>
            <a:ext cx="8686800" cy="838200"/>
          </a:xfrm>
        </p:spPr>
        <p:txBody>
          <a:bodyPr>
            <a:noAutofit/>
          </a:bodyPr>
          <a:lstStyle/>
          <a:p>
            <a:pPr lvl="1" algn="l" rtl="0">
              <a:spcBef>
                <a:spcPct val="0"/>
              </a:spcBef>
            </a:pPr>
            <a:r>
              <a:rPr lang="es-ES" sz="3200" b="1" dirty="0" smtClean="0"/>
              <a:t>Ejemplo de Precisión </a:t>
            </a:r>
            <a:r>
              <a:rPr lang="es-PE" sz="2800" dirty="0"/>
              <a:t/>
            </a:r>
            <a:br>
              <a:rPr lang="es-PE" sz="2800" dirty="0"/>
            </a:br>
            <a:endParaRPr lang="es-PE" b="1" i="1" dirty="0" smtClean="0"/>
          </a:p>
        </p:txBody>
      </p:sp>
      <p:sp>
        <p:nvSpPr>
          <p:cNvPr id="3" name="2 Marcador de contenido"/>
          <p:cNvSpPr>
            <a:spLocks noGrp="1"/>
          </p:cNvSpPr>
          <p:nvPr>
            <p:ph idx="1"/>
          </p:nvPr>
        </p:nvSpPr>
        <p:spPr>
          <a:xfrm>
            <a:off x="457200" y="1142984"/>
            <a:ext cx="8258204" cy="4643470"/>
          </a:xfrm>
        </p:spPr>
        <p:txBody>
          <a:bodyPr>
            <a:normAutofit/>
          </a:bodyPr>
          <a:lstStyle/>
          <a:p>
            <a:pPr algn="just" hangingPunct="0">
              <a:buFont typeface="Wingdings" pitchFamily="2" charset="2"/>
              <a:buChar char="v"/>
            </a:pPr>
            <a:r>
              <a:rPr lang="es-ES" sz="2400" dirty="0" smtClean="0">
                <a:sym typeface="Symbol"/>
              </a:rPr>
              <a:t>Se ha realizado una prueba de viscosidad por repetición @ 50°C a una muestra de </a:t>
            </a:r>
            <a:r>
              <a:rPr lang="es-ES" sz="2400" b="1" dirty="0" smtClean="0">
                <a:sym typeface="Symbol"/>
              </a:rPr>
              <a:t>IFO-380 antes de la descarga a Planta Callao</a:t>
            </a:r>
            <a:r>
              <a:rPr lang="es-ES" sz="2400" dirty="0" smtClean="0">
                <a:sym typeface="Symbol"/>
              </a:rPr>
              <a:t>.  Además se tiene datos de viscosidad del puerto de carga.  </a:t>
            </a:r>
          </a:p>
          <a:p>
            <a:pPr algn="just" hangingPunct="0">
              <a:buFont typeface="Wingdings" pitchFamily="2" charset="2"/>
              <a:buChar char="v"/>
            </a:pPr>
            <a:r>
              <a:rPr lang="es-ES" sz="2400" dirty="0" smtClean="0">
                <a:sym typeface="Symbol"/>
              </a:rPr>
              <a:t>1.Determinar la Determinabilidad y </a:t>
            </a:r>
            <a:r>
              <a:rPr lang="es-ES" sz="2400" dirty="0" err="1" smtClean="0">
                <a:sym typeface="Symbol"/>
              </a:rPr>
              <a:t>Repetibilidad</a:t>
            </a:r>
            <a:r>
              <a:rPr lang="es-ES" sz="2400" dirty="0" smtClean="0">
                <a:sym typeface="Symbol"/>
              </a:rPr>
              <a:t>.</a:t>
            </a:r>
          </a:p>
          <a:p>
            <a:pPr algn="just" hangingPunct="0">
              <a:buFont typeface="Wingdings" pitchFamily="2" charset="2"/>
              <a:buChar char="v"/>
            </a:pPr>
            <a:r>
              <a:rPr lang="es-ES" sz="2400" dirty="0" smtClean="0">
                <a:sym typeface="Symbol"/>
              </a:rPr>
              <a:t>2.Determinar la Reproducibilidad. </a:t>
            </a:r>
          </a:p>
          <a:p>
            <a:pPr algn="just" hangingPunct="0">
              <a:buFont typeface="Wingdings" pitchFamily="2" charset="2"/>
              <a:buChar char="v"/>
            </a:pPr>
            <a:r>
              <a:rPr lang="es-ES" sz="2400" b="1" dirty="0" smtClean="0">
                <a:sym typeface="Symbol"/>
              </a:rPr>
              <a:t>Datos:</a:t>
            </a:r>
          </a:p>
          <a:p>
            <a:pPr algn="just" hangingPunct="0">
              <a:buNone/>
            </a:pPr>
            <a:r>
              <a:rPr lang="es-ES" sz="2400" b="1" dirty="0" err="1" smtClean="0">
                <a:sym typeface="Symbol"/>
              </a:rPr>
              <a:t>Lab</a:t>
            </a:r>
            <a:r>
              <a:rPr lang="es-ES" sz="2400" b="1" dirty="0" smtClean="0">
                <a:sym typeface="Symbol"/>
              </a:rPr>
              <a:t> A (Marconsult),</a:t>
            </a:r>
          </a:p>
          <a:p>
            <a:pPr algn="just" hangingPunct="0">
              <a:buNone/>
            </a:pPr>
            <a:r>
              <a:rPr lang="es-ES" sz="2400" b="1" dirty="0" smtClean="0">
                <a:sym typeface="Symbol"/>
              </a:rPr>
              <a:t>1ra corrida:  </a:t>
            </a:r>
            <a:r>
              <a:rPr lang="en-US" sz="2400" b="1" dirty="0" smtClean="0">
                <a:sym typeface="Symbol"/>
              </a:rPr>
              <a:t></a:t>
            </a:r>
            <a:r>
              <a:rPr lang="es-ES" sz="2400" b="1" baseline="-25000" dirty="0" smtClean="0">
                <a:sym typeface="Symbol"/>
              </a:rPr>
              <a:t>1A</a:t>
            </a:r>
            <a:r>
              <a:rPr lang="es-ES" sz="2400" b="1" dirty="0" smtClean="0">
                <a:sym typeface="Symbol"/>
              </a:rPr>
              <a:t> = 365.6 </a:t>
            </a:r>
            <a:r>
              <a:rPr lang="es-ES" sz="2400" b="1" dirty="0" err="1" smtClean="0">
                <a:sym typeface="Symbol"/>
              </a:rPr>
              <a:t>Cst</a:t>
            </a:r>
            <a:r>
              <a:rPr lang="es-ES" sz="2400" b="1" dirty="0" smtClean="0">
                <a:sym typeface="Symbol"/>
              </a:rPr>
              <a:t> ;</a:t>
            </a:r>
            <a:r>
              <a:rPr lang="en-US" sz="2400" b="1" dirty="0" smtClean="0">
                <a:sym typeface="Symbol"/>
              </a:rPr>
              <a:t> </a:t>
            </a:r>
            <a:r>
              <a:rPr lang="es-ES" sz="2400" b="1" baseline="-25000" dirty="0" smtClean="0">
                <a:sym typeface="Symbol"/>
              </a:rPr>
              <a:t>2A</a:t>
            </a:r>
            <a:r>
              <a:rPr lang="es-ES" sz="2400" b="1" dirty="0" smtClean="0">
                <a:sym typeface="Symbol"/>
              </a:rPr>
              <a:t> = 368.8 </a:t>
            </a:r>
            <a:r>
              <a:rPr lang="es-ES" sz="2400" b="1" dirty="0" err="1" smtClean="0">
                <a:sym typeface="Symbol"/>
              </a:rPr>
              <a:t>Cst.</a:t>
            </a:r>
            <a:endParaRPr lang="es-ES" sz="2400" b="1" dirty="0" smtClean="0">
              <a:sym typeface="Symbol"/>
            </a:endParaRPr>
          </a:p>
          <a:p>
            <a:pPr algn="just" hangingPunct="0">
              <a:buNone/>
            </a:pPr>
            <a:r>
              <a:rPr lang="en-US" sz="2400" b="1" dirty="0" smtClean="0">
                <a:sym typeface="Symbol"/>
              </a:rPr>
              <a:t> </a:t>
            </a:r>
            <a:r>
              <a:rPr lang="es-ES" sz="2400" b="1" dirty="0" smtClean="0">
                <a:sym typeface="Symbol"/>
              </a:rPr>
              <a:t>2da corrida:</a:t>
            </a:r>
            <a:r>
              <a:rPr lang="en-US" sz="2400" b="1" dirty="0" smtClean="0">
                <a:sym typeface="Symbol"/>
              </a:rPr>
              <a:t> </a:t>
            </a:r>
            <a:r>
              <a:rPr lang="es-ES" sz="2400" b="1" baseline="-25000" dirty="0" smtClean="0">
                <a:sym typeface="Symbol"/>
              </a:rPr>
              <a:t>1A</a:t>
            </a:r>
            <a:r>
              <a:rPr lang="es-ES" sz="2400" b="1" dirty="0" smtClean="0">
                <a:sym typeface="Symbol"/>
              </a:rPr>
              <a:t> = 366.6 </a:t>
            </a:r>
            <a:r>
              <a:rPr lang="es-ES" sz="2400" b="1" dirty="0" err="1" smtClean="0">
                <a:sym typeface="Symbol"/>
              </a:rPr>
              <a:t>Cst</a:t>
            </a:r>
            <a:r>
              <a:rPr lang="es-ES" sz="2400" b="1" dirty="0" smtClean="0">
                <a:sym typeface="Symbol"/>
              </a:rPr>
              <a:t> ;</a:t>
            </a:r>
            <a:r>
              <a:rPr lang="en-US" sz="2400" b="1" dirty="0" smtClean="0">
                <a:sym typeface="Symbol"/>
              </a:rPr>
              <a:t> </a:t>
            </a:r>
            <a:r>
              <a:rPr lang="es-ES" sz="2400" b="1" baseline="-25000" dirty="0" smtClean="0">
                <a:sym typeface="Symbol"/>
              </a:rPr>
              <a:t>2A</a:t>
            </a:r>
            <a:r>
              <a:rPr lang="es-ES" sz="2400" b="1" dirty="0" smtClean="0">
                <a:sym typeface="Symbol"/>
              </a:rPr>
              <a:t> = 369.4 </a:t>
            </a:r>
            <a:r>
              <a:rPr lang="es-ES" sz="2400" b="1" dirty="0" err="1" smtClean="0">
                <a:sym typeface="Symbol"/>
              </a:rPr>
              <a:t>Cst.</a:t>
            </a:r>
            <a:endParaRPr lang="es-ES" sz="2400" b="1" dirty="0" smtClean="0">
              <a:sym typeface="Symbol"/>
            </a:endParaRPr>
          </a:p>
          <a:p>
            <a:pPr algn="just" hangingPunct="0">
              <a:buNone/>
            </a:pPr>
            <a:r>
              <a:rPr lang="es-ES" sz="2400" b="1" dirty="0" err="1" smtClean="0">
                <a:sym typeface="Symbol"/>
              </a:rPr>
              <a:t>Lab</a:t>
            </a:r>
            <a:r>
              <a:rPr lang="es-ES" sz="2400" b="1" dirty="0" smtClean="0">
                <a:sym typeface="Symbol"/>
              </a:rPr>
              <a:t> B (PETRO-Talara), </a:t>
            </a:r>
            <a:r>
              <a:rPr lang="en-US" sz="2400" b="1" dirty="0" smtClean="0">
                <a:sym typeface="Symbol"/>
              </a:rPr>
              <a:t></a:t>
            </a:r>
            <a:r>
              <a:rPr lang="es-ES" sz="2400" b="1" baseline="-25000" dirty="0" smtClean="0">
                <a:sym typeface="Symbol"/>
              </a:rPr>
              <a:t>B</a:t>
            </a:r>
            <a:r>
              <a:rPr lang="es-ES" sz="2400" b="1" dirty="0" smtClean="0">
                <a:sym typeface="Symbol"/>
              </a:rPr>
              <a:t> = 379.2 </a:t>
            </a:r>
            <a:r>
              <a:rPr lang="es-ES" sz="2400" b="1" dirty="0" err="1" smtClean="0">
                <a:sym typeface="Symbol"/>
              </a:rPr>
              <a:t>Cst.</a:t>
            </a:r>
            <a:endParaRPr lang="es-ES" sz="2400" b="1" dirty="0" smtClean="0">
              <a:sym typeface="Symbol"/>
            </a:endParaRPr>
          </a:p>
          <a:p>
            <a:pPr algn="just" hangingPunct="0">
              <a:buFont typeface="Wingdings" pitchFamily="2" charset="2"/>
              <a:buChar char="v"/>
            </a:pPr>
            <a:endParaRPr lang="es-PE" sz="2400" dirty="0" smtClean="0"/>
          </a:p>
          <a:p>
            <a:pPr lvl="0"/>
            <a:endParaRPr lang="es-PE" sz="2000" dirty="0" smtClean="0"/>
          </a:p>
          <a:p>
            <a:endParaRPr lang="es-PE" sz="2000" dirty="0" smtClean="0"/>
          </a:p>
          <a:p>
            <a:pPr lvl="0">
              <a:buFont typeface="Wingdings" pitchFamily="2" charset="2"/>
              <a:buChar char="Ø"/>
            </a:pPr>
            <a:endParaRPr lang="es-PE" sz="2000" dirty="0" smtClean="0"/>
          </a:p>
          <a:p>
            <a:pPr>
              <a:buNone/>
            </a:pPr>
            <a:endParaRPr lang="es-PE" sz="2000" dirty="0" smtClean="0">
              <a:solidFill>
                <a:srgbClr val="FF0000"/>
              </a:solidFill>
            </a:endParaRPr>
          </a:p>
          <a:p>
            <a:pPr>
              <a:buNone/>
            </a:pPr>
            <a:endParaRPr lang="es-PE" sz="2000" dirty="0" smtClean="0">
              <a:solidFill>
                <a:srgbClr val="FF0000"/>
              </a:solidFill>
            </a:endParaRPr>
          </a:p>
          <a:p>
            <a:pPr>
              <a:buNone/>
            </a:pPr>
            <a:endParaRPr lang="es-PE" sz="2000" dirty="0" smtClean="0">
              <a:solidFill>
                <a:srgbClr val="FF0000"/>
              </a:solidFill>
            </a:endParaRPr>
          </a:p>
          <a:p>
            <a:pPr>
              <a:buFont typeface="Wingdings" pitchFamily="2" charset="2"/>
              <a:buChar char="Ø"/>
            </a:pPr>
            <a:endParaRPr lang="es-PE" sz="2000" dirty="0" smtClean="0"/>
          </a:p>
        </p:txBody>
      </p:sp>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85728"/>
            <a:ext cx="8686800" cy="838200"/>
          </a:xfrm>
        </p:spPr>
        <p:txBody>
          <a:bodyPr>
            <a:noAutofit/>
          </a:bodyPr>
          <a:lstStyle/>
          <a:p>
            <a:pPr lvl="1" algn="l" rtl="0">
              <a:spcBef>
                <a:spcPct val="0"/>
              </a:spcBef>
            </a:pPr>
            <a:r>
              <a:rPr lang="es-ES" sz="3200" b="1" dirty="0" smtClean="0"/>
              <a:t>Solución</a:t>
            </a:r>
            <a:r>
              <a:rPr lang="es-PE" sz="2800" dirty="0"/>
              <a:t/>
            </a:r>
            <a:br>
              <a:rPr lang="es-PE" sz="2800" dirty="0"/>
            </a:br>
            <a:endParaRPr lang="es-PE" b="1" i="1" dirty="0" smtClean="0"/>
          </a:p>
        </p:txBody>
      </p:sp>
      <p:sp>
        <p:nvSpPr>
          <p:cNvPr id="3" name="2 Marcador de contenido"/>
          <p:cNvSpPr>
            <a:spLocks noGrp="1"/>
          </p:cNvSpPr>
          <p:nvPr>
            <p:ph idx="1"/>
          </p:nvPr>
        </p:nvSpPr>
        <p:spPr>
          <a:xfrm>
            <a:off x="457200" y="1142984"/>
            <a:ext cx="8258204" cy="5715016"/>
          </a:xfrm>
        </p:spPr>
        <p:txBody>
          <a:bodyPr>
            <a:normAutofit/>
          </a:bodyPr>
          <a:lstStyle/>
          <a:p>
            <a:pPr algn="just" hangingPunct="0">
              <a:buNone/>
            </a:pPr>
            <a:r>
              <a:rPr lang="es-ES" sz="2400" b="1" dirty="0" smtClean="0">
                <a:sym typeface="Symbol"/>
              </a:rPr>
              <a:t>PROB 1</a:t>
            </a:r>
          </a:p>
          <a:p>
            <a:pPr algn="just" hangingPunct="0">
              <a:buNone/>
            </a:pPr>
            <a:r>
              <a:rPr lang="es-ES" sz="2400" b="1" dirty="0" smtClean="0">
                <a:sym typeface="Symbol"/>
              </a:rPr>
              <a:t>Se halla el promedio de viscosidades para cada corrida. </a:t>
            </a:r>
          </a:p>
          <a:p>
            <a:pPr algn="just" hangingPunct="0">
              <a:buNone/>
            </a:pPr>
            <a:r>
              <a:rPr lang="es-ES" sz="2400" b="1" dirty="0" smtClean="0">
                <a:sym typeface="Symbol"/>
              </a:rPr>
              <a:t>1ra corrida:  </a:t>
            </a:r>
            <a:r>
              <a:rPr lang="en-US" sz="2400" b="1" dirty="0" smtClean="0">
                <a:sym typeface="Symbol"/>
              </a:rPr>
              <a:t></a:t>
            </a:r>
            <a:r>
              <a:rPr lang="es-ES" sz="2400" b="1" baseline="-25000" dirty="0" smtClean="0">
                <a:sym typeface="Symbol"/>
              </a:rPr>
              <a:t>1A</a:t>
            </a:r>
            <a:r>
              <a:rPr lang="es-ES" sz="2400" b="1" dirty="0" smtClean="0">
                <a:sym typeface="Symbol"/>
              </a:rPr>
              <a:t> = 365.6 </a:t>
            </a:r>
            <a:r>
              <a:rPr lang="es-ES" sz="2400" b="1" dirty="0" err="1" smtClean="0">
                <a:sym typeface="Symbol"/>
              </a:rPr>
              <a:t>Cst</a:t>
            </a:r>
            <a:r>
              <a:rPr lang="es-ES" sz="2400" b="1" dirty="0" smtClean="0">
                <a:sym typeface="Symbol"/>
              </a:rPr>
              <a:t> ;</a:t>
            </a:r>
            <a:r>
              <a:rPr lang="en-US" sz="2400" b="1" dirty="0" smtClean="0">
                <a:sym typeface="Symbol"/>
              </a:rPr>
              <a:t> </a:t>
            </a:r>
            <a:r>
              <a:rPr lang="es-ES" sz="2400" b="1" baseline="-25000" dirty="0" smtClean="0">
                <a:sym typeface="Symbol"/>
              </a:rPr>
              <a:t>2A</a:t>
            </a:r>
            <a:r>
              <a:rPr lang="es-ES" sz="2400" b="1" dirty="0" smtClean="0">
                <a:sym typeface="Symbol"/>
              </a:rPr>
              <a:t> = 368.8 </a:t>
            </a:r>
            <a:r>
              <a:rPr lang="es-ES" sz="2400" b="1" dirty="0" err="1" smtClean="0">
                <a:sym typeface="Symbol"/>
              </a:rPr>
              <a:t>Cst.</a:t>
            </a:r>
            <a:endParaRPr lang="es-ES" sz="2400" b="1" dirty="0" smtClean="0">
              <a:sym typeface="Symbol"/>
            </a:endParaRPr>
          </a:p>
          <a:p>
            <a:pPr algn="just" hangingPunct="0">
              <a:buNone/>
            </a:pPr>
            <a:r>
              <a:rPr lang="en-US" sz="2400" b="1" dirty="0" smtClean="0">
                <a:sym typeface="Symbol"/>
              </a:rPr>
              <a:t></a:t>
            </a:r>
            <a:r>
              <a:rPr lang="es-ES" sz="2400" b="1" baseline="-25000" dirty="0" smtClean="0">
                <a:sym typeface="Symbol"/>
              </a:rPr>
              <a:t>12A</a:t>
            </a:r>
            <a:r>
              <a:rPr lang="es-ES" sz="2400" b="1" dirty="0" smtClean="0">
                <a:sym typeface="Symbol"/>
              </a:rPr>
              <a:t> = 367.2 </a:t>
            </a:r>
            <a:r>
              <a:rPr lang="es-ES" sz="2400" b="1" dirty="0" err="1" smtClean="0">
                <a:sym typeface="Symbol"/>
              </a:rPr>
              <a:t>Cst</a:t>
            </a:r>
            <a:endParaRPr lang="es-ES" sz="2400" b="1" dirty="0" smtClean="0">
              <a:sym typeface="Symbol"/>
            </a:endParaRPr>
          </a:p>
          <a:p>
            <a:pPr algn="just" hangingPunct="0">
              <a:buNone/>
            </a:pPr>
            <a:r>
              <a:rPr lang="en-US" sz="2400" b="1" dirty="0" smtClean="0">
                <a:sym typeface="Symbol"/>
              </a:rPr>
              <a:t> </a:t>
            </a:r>
            <a:r>
              <a:rPr lang="es-ES" sz="2400" b="1" dirty="0" smtClean="0">
                <a:sym typeface="Symbol"/>
              </a:rPr>
              <a:t>2da corrida:</a:t>
            </a:r>
            <a:r>
              <a:rPr lang="en-US" sz="2400" b="1" dirty="0" smtClean="0">
                <a:sym typeface="Symbol"/>
              </a:rPr>
              <a:t> </a:t>
            </a:r>
            <a:r>
              <a:rPr lang="es-ES" sz="2400" b="1" baseline="-25000" dirty="0" smtClean="0">
                <a:sym typeface="Symbol"/>
              </a:rPr>
              <a:t>1A</a:t>
            </a:r>
            <a:r>
              <a:rPr lang="es-ES" sz="2400" b="1" dirty="0" smtClean="0">
                <a:sym typeface="Symbol"/>
              </a:rPr>
              <a:t> = 367.2 </a:t>
            </a:r>
            <a:r>
              <a:rPr lang="es-ES" sz="2400" b="1" dirty="0" err="1" smtClean="0">
                <a:sym typeface="Symbol"/>
              </a:rPr>
              <a:t>Cst</a:t>
            </a:r>
            <a:r>
              <a:rPr lang="es-ES" sz="2400" b="1" dirty="0" smtClean="0">
                <a:sym typeface="Symbol"/>
              </a:rPr>
              <a:t> ;</a:t>
            </a:r>
            <a:r>
              <a:rPr lang="en-US" sz="2400" b="1" dirty="0" smtClean="0">
                <a:sym typeface="Symbol"/>
              </a:rPr>
              <a:t> </a:t>
            </a:r>
            <a:r>
              <a:rPr lang="es-ES" sz="2400" b="1" baseline="-25000" dirty="0" smtClean="0">
                <a:sym typeface="Symbol"/>
              </a:rPr>
              <a:t>2A</a:t>
            </a:r>
            <a:r>
              <a:rPr lang="es-ES" sz="2400" b="1" dirty="0" smtClean="0">
                <a:sym typeface="Symbol"/>
              </a:rPr>
              <a:t> = 369.4 </a:t>
            </a:r>
            <a:r>
              <a:rPr lang="es-ES" sz="2400" b="1" dirty="0" err="1" smtClean="0">
                <a:sym typeface="Symbol"/>
              </a:rPr>
              <a:t>Cst.</a:t>
            </a:r>
            <a:endParaRPr lang="es-ES" sz="2400" b="1" dirty="0" smtClean="0">
              <a:sym typeface="Symbol"/>
            </a:endParaRPr>
          </a:p>
          <a:p>
            <a:pPr algn="just" hangingPunct="0">
              <a:buNone/>
            </a:pPr>
            <a:r>
              <a:rPr lang="en-US" sz="2400" b="1" dirty="0" smtClean="0">
                <a:sym typeface="Symbol"/>
              </a:rPr>
              <a:t></a:t>
            </a:r>
            <a:r>
              <a:rPr lang="es-ES" sz="2400" b="1" baseline="-25000" dirty="0" smtClean="0">
                <a:sym typeface="Symbol"/>
              </a:rPr>
              <a:t>12A</a:t>
            </a:r>
            <a:r>
              <a:rPr lang="es-ES" sz="2400" b="1" dirty="0" smtClean="0">
                <a:sym typeface="Symbol"/>
              </a:rPr>
              <a:t> = 368.3 </a:t>
            </a:r>
            <a:r>
              <a:rPr lang="es-ES" sz="2400" b="1" dirty="0" err="1" smtClean="0">
                <a:sym typeface="Symbol"/>
              </a:rPr>
              <a:t>Cst</a:t>
            </a:r>
            <a:endParaRPr lang="es-ES" sz="2400" b="1" dirty="0" smtClean="0">
              <a:sym typeface="Symbol"/>
            </a:endParaRPr>
          </a:p>
          <a:p>
            <a:pPr algn="just" hangingPunct="0">
              <a:buFont typeface="Wingdings" pitchFamily="2" charset="2"/>
              <a:buChar char="v"/>
            </a:pPr>
            <a:r>
              <a:rPr lang="es-ES" sz="2400" b="1" dirty="0" smtClean="0">
                <a:sym typeface="Symbol"/>
              </a:rPr>
              <a:t>Luego de la tabla de determinabilidad para residuales </a:t>
            </a:r>
            <a:r>
              <a:rPr lang="es-ES" sz="2400" dirty="0" smtClean="0">
                <a:sym typeface="Symbol"/>
              </a:rPr>
              <a:t>@ 50°C se tiene lo siguiente:</a:t>
            </a:r>
            <a:endParaRPr lang="es-PE" sz="2400" dirty="0" smtClean="0"/>
          </a:p>
          <a:p>
            <a:pPr lvl="0"/>
            <a:endParaRPr lang="es-PE" sz="2000" dirty="0" smtClean="0"/>
          </a:p>
          <a:p>
            <a:endParaRPr lang="es-PE" sz="2000" dirty="0" smtClean="0"/>
          </a:p>
          <a:p>
            <a:pPr lvl="0">
              <a:buFont typeface="Wingdings" pitchFamily="2" charset="2"/>
              <a:buChar char="Ø"/>
            </a:pPr>
            <a:endParaRPr lang="es-PE" sz="2000" dirty="0" smtClean="0"/>
          </a:p>
          <a:p>
            <a:pPr>
              <a:buNone/>
            </a:pPr>
            <a:endParaRPr lang="es-PE" sz="2000" dirty="0" smtClean="0">
              <a:solidFill>
                <a:srgbClr val="FF0000"/>
              </a:solidFill>
            </a:endParaRPr>
          </a:p>
          <a:p>
            <a:pPr algn="ctr">
              <a:buNone/>
            </a:pPr>
            <a:r>
              <a:rPr lang="es-ES" sz="2800" b="1" dirty="0" smtClean="0">
                <a:solidFill>
                  <a:schemeClr val="tx1"/>
                </a:solidFill>
              </a:rPr>
              <a:t>d </a:t>
            </a:r>
            <a:r>
              <a:rPr lang="es-PE" sz="2800" b="1" dirty="0" smtClean="0">
                <a:solidFill>
                  <a:schemeClr val="tx1"/>
                </a:solidFill>
              </a:rPr>
              <a:t>= 0.017(y)</a:t>
            </a:r>
          </a:p>
          <a:p>
            <a:pPr>
              <a:buNone/>
            </a:pPr>
            <a:endParaRPr lang="es-PE" sz="2000" dirty="0" smtClean="0">
              <a:solidFill>
                <a:srgbClr val="FF0000"/>
              </a:solidFill>
            </a:endParaRPr>
          </a:p>
          <a:p>
            <a:pPr>
              <a:buNone/>
            </a:pPr>
            <a:endParaRPr lang="es-PE" sz="2000" dirty="0" smtClean="0">
              <a:solidFill>
                <a:srgbClr val="FF0000"/>
              </a:solidFill>
            </a:endParaRPr>
          </a:p>
          <a:p>
            <a:pPr>
              <a:buFont typeface="Wingdings" pitchFamily="2" charset="2"/>
              <a:buChar char="Ø"/>
            </a:pPr>
            <a:endParaRPr lang="es-PE" sz="2000" dirty="0" smtClean="0"/>
          </a:p>
        </p:txBody>
      </p:sp>
      <p:pic>
        <p:nvPicPr>
          <p:cNvPr id="7" name="Picture 2"/>
          <p:cNvPicPr>
            <a:picLocks noChangeAspect="1" noChangeArrowheads="1"/>
          </p:cNvPicPr>
          <p:nvPr/>
        </p:nvPicPr>
        <p:blipFill>
          <a:blip r:embed="rId2"/>
          <a:srcRect/>
          <a:stretch>
            <a:fillRect/>
          </a:stretch>
        </p:blipFill>
        <p:spPr bwMode="auto">
          <a:xfrm>
            <a:off x="571472" y="4572008"/>
            <a:ext cx="8255493" cy="1357322"/>
          </a:xfrm>
          <a:prstGeom prst="rect">
            <a:avLst/>
          </a:prstGeom>
          <a:noFill/>
          <a:ln w="9525">
            <a:noFill/>
            <a:miter lim="800000"/>
            <a:headEnd/>
            <a:tailEnd/>
          </a:ln>
          <a:effectLst/>
        </p:spPr>
      </p:pic>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85728"/>
            <a:ext cx="8686800" cy="838200"/>
          </a:xfrm>
        </p:spPr>
        <p:txBody>
          <a:bodyPr>
            <a:noAutofit/>
          </a:bodyPr>
          <a:lstStyle/>
          <a:p>
            <a:pPr lvl="1" algn="l" rtl="0">
              <a:spcBef>
                <a:spcPct val="0"/>
              </a:spcBef>
            </a:pPr>
            <a:r>
              <a:rPr lang="es-ES" sz="3200" b="1" dirty="0" smtClean="0"/>
              <a:t>Solución</a:t>
            </a:r>
            <a:r>
              <a:rPr lang="es-PE" sz="2800" dirty="0"/>
              <a:t/>
            </a:r>
            <a:br>
              <a:rPr lang="es-PE" sz="2800" dirty="0"/>
            </a:br>
            <a:endParaRPr lang="es-PE" b="1" i="1" dirty="0" smtClean="0"/>
          </a:p>
        </p:txBody>
      </p:sp>
      <p:sp>
        <p:nvSpPr>
          <p:cNvPr id="3" name="2 Marcador de contenido"/>
          <p:cNvSpPr>
            <a:spLocks noGrp="1"/>
          </p:cNvSpPr>
          <p:nvPr>
            <p:ph idx="1"/>
          </p:nvPr>
        </p:nvSpPr>
        <p:spPr>
          <a:xfrm>
            <a:off x="457200" y="1142984"/>
            <a:ext cx="8258204" cy="5929354"/>
          </a:xfrm>
        </p:spPr>
        <p:txBody>
          <a:bodyPr>
            <a:normAutofit lnSpcReduction="10000"/>
          </a:bodyPr>
          <a:lstStyle/>
          <a:p>
            <a:pPr algn="just" hangingPunct="0">
              <a:buFont typeface="Wingdings" pitchFamily="2" charset="2"/>
              <a:buChar char="v"/>
            </a:pPr>
            <a:r>
              <a:rPr lang="es-ES" sz="2400" dirty="0" smtClean="0">
                <a:sym typeface="Symbol"/>
              </a:rPr>
              <a:t>A) Para la 1ra corrida:  </a:t>
            </a:r>
            <a:r>
              <a:rPr lang="es-ES" sz="2400" b="1" dirty="0" smtClean="0">
                <a:solidFill>
                  <a:schemeClr val="tx1"/>
                </a:solidFill>
              </a:rPr>
              <a:t>d </a:t>
            </a:r>
            <a:r>
              <a:rPr lang="es-PE" sz="2400" b="1" dirty="0" smtClean="0">
                <a:solidFill>
                  <a:schemeClr val="tx1"/>
                </a:solidFill>
              </a:rPr>
              <a:t>= 0.017x(</a:t>
            </a:r>
            <a:r>
              <a:rPr lang="es-ES" sz="2400" b="1" dirty="0" smtClean="0">
                <a:sym typeface="Symbol"/>
              </a:rPr>
              <a:t>367.2</a:t>
            </a:r>
            <a:r>
              <a:rPr lang="es-PE" sz="2400" b="1" dirty="0" smtClean="0">
                <a:solidFill>
                  <a:schemeClr val="tx1"/>
                </a:solidFill>
              </a:rPr>
              <a:t>)</a:t>
            </a:r>
          </a:p>
          <a:p>
            <a:pPr algn="just" hangingPunct="0">
              <a:buFont typeface="Wingdings" pitchFamily="2" charset="2"/>
              <a:buChar char="v"/>
            </a:pPr>
            <a:r>
              <a:rPr lang="es-ES" sz="2400" b="1" dirty="0" smtClean="0">
                <a:sym typeface="Symbol"/>
              </a:rPr>
              <a:t>d= 6.24 </a:t>
            </a:r>
          </a:p>
          <a:p>
            <a:pPr algn="just" hangingPunct="0">
              <a:buNone/>
            </a:pPr>
            <a:r>
              <a:rPr lang="es-ES" sz="2400" dirty="0" smtClean="0">
                <a:sym typeface="Symbol"/>
              </a:rPr>
              <a:t>La diferencia entre las viscosidades en el primer y segundo bulbo es               </a:t>
            </a:r>
            <a:r>
              <a:rPr lang="es-ES" sz="2400" b="1" dirty="0" err="1" smtClean="0">
                <a:sym typeface="Symbol"/>
              </a:rPr>
              <a:t>Dif</a:t>
            </a:r>
            <a:r>
              <a:rPr lang="es-ES" sz="2400" b="1" dirty="0" smtClean="0">
                <a:sym typeface="Symbol"/>
              </a:rPr>
              <a:t> = 368.8-365.6 = 3.2</a:t>
            </a:r>
          </a:p>
          <a:p>
            <a:pPr algn="just" hangingPunct="0">
              <a:buNone/>
            </a:pPr>
            <a:r>
              <a:rPr lang="es-ES" sz="2400" dirty="0" smtClean="0">
                <a:sym typeface="Symbol"/>
              </a:rPr>
              <a:t> </a:t>
            </a:r>
            <a:r>
              <a:rPr lang="es-ES" sz="2400" dirty="0" err="1" smtClean="0">
                <a:sym typeface="Symbol"/>
              </a:rPr>
              <a:t>Dif</a:t>
            </a:r>
            <a:r>
              <a:rPr lang="es-ES" sz="2400" dirty="0" smtClean="0">
                <a:sym typeface="Symbol"/>
              </a:rPr>
              <a:t> (3.2)&lt; d(6.24) </a:t>
            </a:r>
          </a:p>
          <a:p>
            <a:pPr algn="just" hangingPunct="0">
              <a:buNone/>
            </a:pPr>
            <a:r>
              <a:rPr lang="es-ES" sz="2400" dirty="0" smtClean="0">
                <a:sym typeface="Symbol"/>
              </a:rPr>
              <a:t>La diferencia no excede el valor de 6.24 el ensayo es valido con respecto a la determinabilidad.</a:t>
            </a:r>
          </a:p>
          <a:p>
            <a:pPr algn="just" hangingPunct="0">
              <a:buNone/>
            </a:pPr>
            <a:r>
              <a:rPr lang="es-ES" sz="2400" dirty="0" smtClean="0">
                <a:sym typeface="Symbol"/>
              </a:rPr>
              <a:t> </a:t>
            </a:r>
          </a:p>
          <a:p>
            <a:pPr algn="just" hangingPunct="0">
              <a:buFont typeface="Wingdings" pitchFamily="2" charset="2"/>
              <a:buChar char="v"/>
            </a:pPr>
            <a:r>
              <a:rPr lang="es-ES" sz="2400" dirty="0" smtClean="0">
                <a:sym typeface="Symbol"/>
              </a:rPr>
              <a:t>B) Para la 2da corrida:  </a:t>
            </a:r>
            <a:r>
              <a:rPr lang="es-ES" sz="2400" b="1" dirty="0" smtClean="0">
                <a:solidFill>
                  <a:schemeClr val="tx1"/>
                </a:solidFill>
              </a:rPr>
              <a:t>d </a:t>
            </a:r>
            <a:r>
              <a:rPr lang="es-PE" sz="2400" b="1" dirty="0" smtClean="0">
                <a:solidFill>
                  <a:schemeClr val="tx1"/>
                </a:solidFill>
              </a:rPr>
              <a:t>= 0.017x(</a:t>
            </a:r>
            <a:r>
              <a:rPr lang="es-ES" sz="2400" b="1" dirty="0" smtClean="0">
                <a:sym typeface="Symbol"/>
              </a:rPr>
              <a:t>368.3</a:t>
            </a:r>
            <a:r>
              <a:rPr lang="es-PE" sz="2400" b="1" dirty="0" smtClean="0">
                <a:solidFill>
                  <a:schemeClr val="tx1"/>
                </a:solidFill>
              </a:rPr>
              <a:t>)</a:t>
            </a:r>
          </a:p>
          <a:p>
            <a:pPr algn="just" hangingPunct="0">
              <a:buFont typeface="Wingdings" pitchFamily="2" charset="2"/>
              <a:buChar char="v"/>
            </a:pPr>
            <a:r>
              <a:rPr lang="es-ES" sz="2400" b="1" dirty="0" smtClean="0">
                <a:sym typeface="Symbol"/>
              </a:rPr>
              <a:t>d= 6.26</a:t>
            </a:r>
          </a:p>
          <a:p>
            <a:pPr algn="just" hangingPunct="0">
              <a:buNone/>
            </a:pPr>
            <a:r>
              <a:rPr lang="es-ES" sz="2400" dirty="0" smtClean="0">
                <a:sym typeface="Symbol"/>
              </a:rPr>
              <a:t>La diferencia entre las viscosidades en el primer y segundo bulbo es               </a:t>
            </a:r>
            <a:r>
              <a:rPr lang="es-ES" sz="2400" b="1" dirty="0" err="1" smtClean="0">
                <a:sym typeface="Symbol"/>
              </a:rPr>
              <a:t>Dif</a:t>
            </a:r>
            <a:r>
              <a:rPr lang="es-ES" sz="2400" b="1" dirty="0" smtClean="0">
                <a:sym typeface="Symbol"/>
              </a:rPr>
              <a:t> = 369.4-367.2 = 2.2</a:t>
            </a:r>
          </a:p>
          <a:p>
            <a:pPr algn="just" hangingPunct="0">
              <a:buNone/>
            </a:pPr>
            <a:r>
              <a:rPr lang="es-ES" sz="2400" dirty="0" err="1" smtClean="0">
                <a:sym typeface="Symbol"/>
              </a:rPr>
              <a:t>Dif</a:t>
            </a:r>
            <a:r>
              <a:rPr lang="es-ES" sz="2400" dirty="0" smtClean="0">
                <a:sym typeface="Symbol"/>
              </a:rPr>
              <a:t> (2.2)&lt; d(6.26) </a:t>
            </a:r>
          </a:p>
          <a:p>
            <a:pPr algn="just" hangingPunct="0">
              <a:buNone/>
            </a:pPr>
            <a:r>
              <a:rPr lang="es-ES" sz="2400" dirty="0" smtClean="0">
                <a:sym typeface="Symbol"/>
              </a:rPr>
              <a:t>La diferencia no excede el valor de 6.26 el ensayo es valido con respecto a la determinabilidad.</a:t>
            </a:r>
          </a:p>
          <a:p>
            <a:pPr lvl="0">
              <a:buFont typeface="Wingdings" pitchFamily="2" charset="2"/>
              <a:buChar char="Ø"/>
            </a:pPr>
            <a:endParaRPr lang="es-PE" sz="2000" dirty="0" smtClean="0"/>
          </a:p>
          <a:p>
            <a:pPr>
              <a:buNone/>
            </a:pPr>
            <a:endParaRPr lang="es-PE" sz="2000" dirty="0" smtClean="0">
              <a:solidFill>
                <a:srgbClr val="FF0000"/>
              </a:solidFill>
            </a:endParaRPr>
          </a:p>
          <a:p>
            <a:pPr>
              <a:buNone/>
            </a:pPr>
            <a:endParaRPr lang="es-PE" sz="2000" dirty="0" smtClean="0">
              <a:solidFill>
                <a:srgbClr val="FF0000"/>
              </a:solidFill>
            </a:endParaRPr>
          </a:p>
          <a:p>
            <a:pPr>
              <a:buFont typeface="Wingdings" pitchFamily="2" charset="2"/>
              <a:buChar char="Ø"/>
            </a:pPr>
            <a:endParaRPr lang="es-PE" sz="2000" dirty="0" smtClean="0"/>
          </a:p>
        </p:txBody>
      </p:sp>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85728"/>
            <a:ext cx="8686800" cy="838200"/>
          </a:xfrm>
        </p:spPr>
        <p:txBody>
          <a:bodyPr>
            <a:noAutofit/>
          </a:bodyPr>
          <a:lstStyle/>
          <a:p>
            <a:pPr lvl="1" algn="l" rtl="0">
              <a:spcBef>
                <a:spcPct val="0"/>
              </a:spcBef>
            </a:pPr>
            <a:r>
              <a:rPr lang="es-ES" sz="3200" b="1" dirty="0" smtClean="0"/>
              <a:t>Solución</a:t>
            </a:r>
            <a:r>
              <a:rPr lang="es-PE" sz="2800" dirty="0"/>
              <a:t/>
            </a:r>
            <a:br>
              <a:rPr lang="es-PE" sz="2800" dirty="0"/>
            </a:br>
            <a:endParaRPr lang="es-PE" b="1" i="1" dirty="0" smtClean="0"/>
          </a:p>
        </p:txBody>
      </p:sp>
      <p:sp>
        <p:nvSpPr>
          <p:cNvPr id="3" name="2 Marcador de contenido"/>
          <p:cNvSpPr>
            <a:spLocks noGrp="1"/>
          </p:cNvSpPr>
          <p:nvPr>
            <p:ph idx="1"/>
          </p:nvPr>
        </p:nvSpPr>
        <p:spPr>
          <a:xfrm>
            <a:off x="457200" y="1142984"/>
            <a:ext cx="8258204" cy="5929354"/>
          </a:xfrm>
        </p:spPr>
        <p:txBody>
          <a:bodyPr>
            <a:normAutofit/>
          </a:bodyPr>
          <a:lstStyle/>
          <a:p>
            <a:pPr algn="just" hangingPunct="0">
              <a:buFont typeface="Wingdings" pitchFamily="2" charset="2"/>
              <a:buChar char="v"/>
            </a:pPr>
            <a:r>
              <a:rPr lang="es-ES" sz="2400" b="1" dirty="0" smtClean="0">
                <a:sym typeface="Symbol"/>
              </a:rPr>
              <a:t>PROB 1</a:t>
            </a:r>
          </a:p>
          <a:p>
            <a:pPr algn="just" hangingPunct="0">
              <a:buFont typeface="Wingdings" pitchFamily="2" charset="2"/>
              <a:buChar char="v"/>
            </a:pPr>
            <a:r>
              <a:rPr lang="es-PE" sz="2400" dirty="0" smtClean="0">
                <a:sym typeface="Symbol"/>
              </a:rPr>
              <a:t>De la tabla de </a:t>
            </a:r>
            <a:r>
              <a:rPr lang="es-PE" sz="2400" dirty="0" err="1" smtClean="0">
                <a:sym typeface="Symbol"/>
              </a:rPr>
              <a:t>Repetibilidad</a:t>
            </a:r>
            <a:r>
              <a:rPr lang="es-ES" sz="2400" b="1" dirty="0" smtClean="0">
                <a:sym typeface="Symbol"/>
              </a:rPr>
              <a:t> para residuales </a:t>
            </a:r>
            <a:r>
              <a:rPr lang="es-ES" sz="2400" dirty="0" smtClean="0">
                <a:sym typeface="Symbol"/>
              </a:rPr>
              <a:t>@ 50°C</a:t>
            </a:r>
            <a:r>
              <a:rPr lang="es-PE" sz="2400" dirty="0" smtClean="0">
                <a:sym typeface="Symbol"/>
              </a:rPr>
              <a:t> se tiene lo siguiente:</a:t>
            </a:r>
            <a:endParaRPr lang="es-ES" sz="2400" dirty="0" smtClean="0">
              <a:sym typeface="Symbol"/>
            </a:endParaRPr>
          </a:p>
          <a:p>
            <a:pPr lvl="0">
              <a:buFont typeface="Wingdings" pitchFamily="2" charset="2"/>
              <a:buChar char="Ø"/>
            </a:pPr>
            <a:endParaRPr lang="es-PE" sz="2000" dirty="0" smtClean="0"/>
          </a:p>
          <a:p>
            <a:pPr>
              <a:buNone/>
            </a:pPr>
            <a:endParaRPr lang="es-PE" sz="2000" dirty="0" smtClean="0">
              <a:solidFill>
                <a:srgbClr val="FF0000"/>
              </a:solidFill>
            </a:endParaRPr>
          </a:p>
          <a:p>
            <a:pPr>
              <a:buNone/>
            </a:pPr>
            <a:endParaRPr lang="es-PE" sz="2000" dirty="0" smtClean="0">
              <a:solidFill>
                <a:srgbClr val="FF0000"/>
              </a:solidFill>
            </a:endParaRPr>
          </a:p>
          <a:p>
            <a:pPr algn="ctr" hangingPunct="0">
              <a:buFont typeface="Wingdings" pitchFamily="2" charset="2"/>
              <a:buChar char="v"/>
            </a:pPr>
            <a:r>
              <a:rPr lang="es-ES" sz="2000" dirty="0" smtClean="0">
                <a:sym typeface="Symbol"/>
              </a:rPr>
              <a:t> </a:t>
            </a:r>
            <a:r>
              <a:rPr lang="es-ES" sz="2800" b="1" dirty="0" smtClean="0">
                <a:sym typeface="Symbol"/>
              </a:rPr>
              <a:t>r = 0.015(x)</a:t>
            </a:r>
          </a:p>
          <a:p>
            <a:pPr algn="just" hangingPunct="0">
              <a:buNone/>
            </a:pPr>
            <a:r>
              <a:rPr lang="es-ES" sz="2000" dirty="0" smtClean="0">
                <a:sym typeface="Symbol"/>
              </a:rPr>
              <a:t>Del promedio de la 1ra y 2da corrida :</a:t>
            </a:r>
            <a:r>
              <a:rPr lang="en-US" sz="2000" b="1" dirty="0" smtClean="0">
                <a:sym typeface="Symbol"/>
              </a:rPr>
              <a:t></a:t>
            </a:r>
            <a:r>
              <a:rPr lang="es-ES" sz="2000" b="1" baseline="-25000" dirty="0" smtClean="0">
                <a:sym typeface="Symbol"/>
              </a:rPr>
              <a:t>12A(</a:t>
            </a:r>
            <a:r>
              <a:rPr lang="es-ES" sz="2000" b="1" baseline="-25000" dirty="0" err="1" smtClean="0">
                <a:sym typeface="Symbol"/>
              </a:rPr>
              <a:t>prom</a:t>
            </a:r>
            <a:r>
              <a:rPr lang="es-ES" sz="2000" b="1" baseline="-25000" dirty="0" smtClean="0">
                <a:sym typeface="Symbol"/>
              </a:rPr>
              <a:t>)</a:t>
            </a:r>
            <a:r>
              <a:rPr lang="es-ES" sz="2000" b="1" dirty="0" smtClean="0">
                <a:sym typeface="Symbol"/>
              </a:rPr>
              <a:t>= (367.2+368.3)/2</a:t>
            </a:r>
            <a:endParaRPr lang="es-ES" sz="2000" dirty="0" smtClean="0">
              <a:sym typeface="Symbol"/>
            </a:endParaRPr>
          </a:p>
          <a:p>
            <a:pPr algn="just" hangingPunct="0">
              <a:buFont typeface="Wingdings" pitchFamily="2" charset="2"/>
              <a:buChar char="v"/>
            </a:pPr>
            <a:r>
              <a:rPr lang="en-US" sz="2000" b="1" dirty="0" smtClean="0">
                <a:sym typeface="Symbol"/>
              </a:rPr>
              <a:t>                                   x=</a:t>
            </a:r>
            <a:r>
              <a:rPr lang="es-ES" sz="2000" b="1" baseline="-25000" dirty="0" smtClean="0">
                <a:sym typeface="Symbol"/>
              </a:rPr>
              <a:t>12A(</a:t>
            </a:r>
            <a:r>
              <a:rPr lang="es-ES" sz="2000" b="1" baseline="-25000" dirty="0" err="1" smtClean="0">
                <a:sym typeface="Symbol"/>
              </a:rPr>
              <a:t>prom</a:t>
            </a:r>
            <a:r>
              <a:rPr lang="es-ES" sz="2000" b="1" baseline="-25000" dirty="0" smtClean="0">
                <a:sym typeface="Symbol"/>
              </a:rPr>
              <a:t>)</a:t>
            </a:r>
            <a:r>
              <a:rPr lang="es-ES" sz="2000" b="1" dirty="0" smtClean="0">
                <a:sym typeface="Symbol"/>
              </a:rPr>
              <a:t>= 367.8</a:t>
            </a:r>
            <a:endParaRPr lang="es-ES" sz="2000" dirty="0" smtClean="0">
              <a:sym typeface="Symbol"/>
            </a:endParaRPr>
          </a:p>
          <a:p>
            <a:pPr algn="just" hangingPunct="0">
              <a:buFont typeface="Wingdings" pitchFamily="2" charset="2"/>
              <a:buChar char="v"/>
            </a:pPr>
            <a:r>
              <a:rPr lang="es-ES" sz="2000" dirty="0" smtClean="0">
                <a:sym typeface="Symbol"/>
              </a:rPr>
              <a:t>  </a:t>
            </a:r>
            <a:r>
              <a:rPr lang="es-ES" sz="2000" b="1" dirty="0" smtClean="0">
                <a:solidFill>
                  <a:schemeClr val="tx1"/>
                </a:solidFill>
                <a:sym typeface="Symbol"/>
              </a:rPr>
              <a:t>r</a:t>
            </a:r>
            <a:r>
              <a:rPr lang="es-ES" sz="2000" b="1" dirty="0" smtClean="0">
                <a:solidFill>
                  <a:schemeClr val="tx1"/>
                </a:solidFill>
              </a:rPr>
              <a:t> </a:t>
            </a:r>
            <a:r>
              <a:rPr lang="es-PE" sz="2000" b="1" dirty="0" smtClean="0">
                <a:solidFill>
                  <a:schemeClr val="tx1"/>
                </a:solidFill>
              </a:rPr>
              <a:t>= 0.015x(</a:t>
            </a:r>
            <a:r>
              <a:rPr lang="es-ES" sz="2000" b="1" dirty="0" smtClean="0">
                <a:sym typeface="Symbol"/>
              </a:rPr>
              <a:t>367.8</a:t>
            </a:r>
            <a:r>
              <a:rPr lang="es-PE" sz="2000" b="1" dirty="0" smtClean="0">
                <a:solidFill>
                  <a:schemeClr val="tx1"/>
                </a:solidFill>
              </a:rPr>
              <a:t>)</a:t>
            </a:r>
          </a:p>
          <a:p>
            <a:pPr algn="just" hangingPunct="0">
              <a:buFont typeface="Wingdings" pitchFamily="2" charset="2"/>
              <a:buChar char="v"/>
            </a:pPr>
            <a:r>
              <a:rPr lang="es-ES" sz="2000" b="1" dirty="0" smtClean="0">
                <a:sym typeface="Symbol"/>
              </a:rPr>
              <a:t>  r = 5.51    y </a:t>
            </a:r>
            <a:r>
              <a:rPr lang="es-ES" sz="2000" dirty="0" smtClean="0">
                <a:sym typeface="Symbol"/>
              </a:rPr>
              <a:t>La diferencia entre las viscosidades en la primera y segunda corrida es </a:t>
            </a:r>
            <a:r>
              <a:rPr lang="es-ES" sz="2000" dirty="0" err="1" smtClean="0">
                <a:sym typeface="Symbol"/>
              </a:rPr>
              <a:t>Dif</a:t>
            </a:r>
            <a:r>
              <a:rPr lang="es-ES" sz="2000" dirty="0" smtClean="0">
                <a:sym typeface="Symbol"/>
              </a:rPr>
              <a:t>= </a:t>
            </a:r>
            <a:r>
              <a:rPr lang="es-ES" sz="2000" b="1" dirty="0" smtClean="0">
                <a:sym typeface="Symbol"/>
              </a:rPr>
              <a:t>368.3-367.2= 1.1</a:t>
            </a:r>
          </a:p>
          <a:p>
            <a:pPr>
              <a:buFont typeface="Wingdings" pitchFamily="2" charset="2"/>
              <a:buChar char="Ø"/>
            </a:pPr>
            <a:r>
              <a:rPr lang="es-ES" sz="2000" dirty="0" smtClean="0">
                <a:sym typeface="Symbol"/>
              </a:rPr>
              <a:t>La diferencia no excede el valor de r=5.51 el ensayo es valido con respecto a la </a:t>
            </a:r>
            <a:r>
              <a:rPr lang="es-ES" sz="2000" dirty="0" err="1" smtClean="0">
                <a:sym typeface="Symbol"/>
              </a:rPr>
              <a:t>repetibilidad</a:t>
            </a:r>
            <a:r>
              <a:rPr lang="es-ES" sz="2000" dirty="0" smtClean="0">
                <a:sym typeface="Symbol"/>
              </a:rPr>
              <a:t>.</a:t>
            </a:r>
          </a:p>
          <a:p>
            <a:pPr>
              <a:buFont typeface="Wingdings" pitchFamily="2" charset="2"/>
              <a:buChar char="Ø"/>
            </a:pPr>
            <a:endParaRPr lang="es-PE" sz="2000" dirty="0" smtClean="0"/>
          </a:p>
        </p:txBody>
      </p:sp>
      <p:pic>
        <p:nvPicPr>
          <p:cNvPr id="8194" name="Picture 2"/>
          <p:cNvPicPr>
            <a:picLocks noChangeAspect="1" noChangeArrowheads="1"/>
          </p:cNvPicPr>
          <p:nvPr/>
        </p:nvPicPr>
        <p:blipFill>
          <a:blip r:embed="rId2"/>
          <a:srcRect/>
          <a:stretch>
            <a:fillRect/>
          </a:stretch>
        </p:blipFill>
        <p:spPr bwMode="auto">
          <a:xfrm>
            <a:off x="928662" y="2571744"/>
            <a:ext cx="7786742" cy="828377"/>
          </a:xfrm>
          <a:prstGeom prst="rect">
            <a:avLst/>
          </a:prstGeom>
          <a:noFill/>
          <a:ln w="9525">
            <a:noFill/>
            <a:miter lim="800000"/>
            <a:headEnd/>
            <a:tailEnd/>
          </a:ln>
          <a:effectLst/>
        </p:spPr>
      </p:pic>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85728"/>
            <a:ext cx="8686800" cy="838200"/>
          </a:xfrm>
        </p:spPr>
        <p:txBody>
          <a:bodyPr>
            <a:noAutofit/>
          </a:bodyPr>
          <a:lstStyle/>
          <a:p>
            <a:pPr lvl="1" algn="l" rtl="0">
              <a:spcBef>
                <a:spcPct val="0"/>
              </a:spcBef>
            </a:pPr>
            <a:r>
              <a:rPr lang="es-ES" sz="3200" b="1" dirty="0" smtClean="0"/>
              <a:t>Solución</a:t>
            </a:r>
            <a:r>
              <a:rPr lang="es-PE" sz="2800" dirty="0"/>
              <a:t/>
            </a:r>
            <a:br>
              <a:rPr lang="es-PE" sz="2800" dirty="0"/>
            </a:br>
            <a:endParaRPr lang="es-PE" b="1" i="1" dirty="0" smtClean="0"/>
          </a:p>
        </p:txBody>
      </p:sp>
      <p:sp>
        <p:nvSpPr>
          <p:cNvPr id="3" name="2 Marcador de contenido"/>
          <p:cNvSpPr>
            <a:spLocks noGrp="1"/>
          </p:cNvSpPr>
          <p:nvPr>
            <p:ph idx="1"/>
          </p:nvPr>
        </p:nvSpPr>
        <p:spPr>
          <a:xfrm>
            <a:off x="457200" y="1142984"/>
            <a:ext cx="8258204" cy="5929354"/>
          </a:xfrm>
        </p:spPr>
        <p:txBody>
          <a:bodyPr>
            <a:normAutofit/>
          </a:bodyPr>
          <a:lstStyle/>
          <a:p>
            <a:pPr algn="just" hangingPunct="0">
              <a:buFont typeface="Wingdings" pitchFamily="2" charset="2"/>
              <a:buChar char="v"/>
            </a:pPr>
            <a:r>
              <a:rPr lang="es-ES" sz="2400" b="1" dirty="0" smtClean="0">
                <a:sym typeface="Symbol"/>
              </a:rPr>
              <a:t>PROB 1</a:t>
            </a:r>
          </a:p>
          <a:p>
            <a:pPr algn="just" hangingPunct="0">
              <a:buFont typeface="Wingdings" pitchFamily="2" charset="2"/>
              <a:buChar char="v"/>
            </a:pPr>
            <a:r>
              <a:rPr lang="es-PE" sz="2400" dirty="0" smtClean="0">
                <a:sym typeface="Symbol"/>
              </a:rPr>
              <a:t>De la tabla de Reproducibilidad</a:t>
            </a:r>
            <a:r>
              <a:rPr lang="es-ES" sz="2400" b="1" dirty="0" smtClean="0">
                <a:sym typeface="Symbol"/>
              </a:rPr>
              <a:t> para residuales </a:t>
            </a:r>
            <a:r>
              <a:rPr lang="es-ES" sz="2400" dirty="0" smtClean="0">
                <a:sym typeface="Symbol"/>
              </a:rPr>
              <a:t>@ 50°C</a:t>
            </a:r>
            <a:r>
              <a:rPr lang="es-PE" sz="2400" dirty="0" smtClean="0">
                <a:sym typeface="Symbol"/>
              </a:rPr>
              <a:t> se tiene lo siguiente:</a:t>
            </a:r>
            <a:endParaRPr lang="es-ES" sz="2400" dirty="0" smtClean="0">
              <a:sym typeface="Symbol"/>
            </a:endParaRPr>
          </a:p>
          <a:p>
            <a:pPr lvl="0">
              <a:buFont typeface="Wingdings" pitchFamily="2" charset="2"/>
              <a:buChar char="Ø"/>
            </a:pPr>
            <a:endParaRPr lang="es-PE" sz="2000" dirty="0" smtClean="0"/>
          </a:p>
          <a:p>
            <a:pPr>
              <a:buNone/>
            </a:pPr>
            <a:endParaRPr lang="es-PE" sz="2000" dirty="0" smtClean="0">
              <a:solidFill>
                <a:srgbClr val="FF0000"/>
              </a:solidFill>
            </a:endParaRPr>
          </a:p>
          <a:p>
            <a:pPr>
              <a:buNone/>
            </a:pPr>
            <a:endParaRPr lang="es-PE" sz="2000" dirty="0" smtClean="0">
              <a:solidFill>
                <a:srgbClr val="FF0000"/>
              </a:solidFill>
            </a:endParaRPr>
          </a:p>
          <a:p>
            <a:pPr algn="ctr" hangingPunct="0">
              <a:buFont typeface="Wingdings" pitchFamily="2" charset="2"/>
              <a:buChar char="v"/>
            </a:pPr>
            <a:r>
              <a:rPr lang="es-ES" sz="2000" dirty="0" smtClean="0">
                <a:sym typeface="Symbol"/>
              </a:rPr>
              <a:t> </a:t>
            </a:r>
            <a:r>
              <a:rPr lang="es-ES" sz="2800" b="1" dirty="0" smtClean="0">
                <a:sym typeface="Symbol"/>
              </a:rPr>
              <a:t>r = 0.074(x)</a:t>
            </a:r>
          </a:p>
          <a:p>
            <a:pPr algn="just" hangingPunct="0">
              <a:buNone/>
            </a:pPr>
            <a:r>
              <a:rPr lang="es-ES" sz="2000" dirty="0" smtClean="0">
                <a:sym typeface="Symbol"/>
              </a:rPr>
              <a:t>Del problema anterior se tiene:</a:t>
            </a:r>
            <a:r>
              <a:rPr lang="en-US" sz="2000" b="1" dirty="0" smtClean="0">
                <a:sym typeface="Symbol"/>
              </a:rPr>
              <a:t></a:t>
            </a:r>
            <a:r>
              <a:rPr lang="es-ES" sz="2000" b="1" baseline="-25000" dirty="0" smtClean="0">
                <a:sym typeface="Symbol"/>
              </a:rPr>
              <a:t>A</a:t>
            </a:r>
            <a:r>
              <a:rPr lang="es-ES" sz="2000" b="1" dirty="0" smtClean="0">
                <a:sym typeface="Symbol"/>
              </a:rPr>
              <a:t>= 367.8 </a:t>
            </a:r>
            <a:r>
              <a:rPr lang="es-ES" sz="2000" b="1" dirty="0" err="1" smtClean="0">
                <a:sym typeface="Symbol"/>
              </a:rPr>
              <a:t>Cst</a:t>
            </a:r>
            <a:r>
              <a:rPr lang="es-ES" sz="2000" b="1" dirty="0" smtClean="0">
                <a:sym typeface="Symbol"/>
              </a:rPr>
              <a:t>; </a:t>
            </a:r>
            <a:r>
              <a:rPr lang="en-US" sz="2000" b="1" dirty="0" smtClean="0">
                <a:sym typeface="Symbol"/>
              </a:rPr>
              <a:t></a:t>
            </a:r>
            <a:r>
              <a:rPr lang="es-ES" sz="2000" b="1" baseline="-25000" dirty="0" smtClean="0">
                <a:sym typeface="Symbol"/>
              </a:rPr>
              <a:t>B</a:t>
            </a:r>
            <a:r>
              <a:rPr lang="es-ES" sz="2000" b="1" dirty="0" smtClean="0">
                <a:sym typeface="Symbol"/>
              </a:rPr>
              <a:t> = 379.2 </a:t>
            </a:r>
            <a:r>
              <a:rPr lang="es-ES" sz="2000" b="1" dirty="0" err="1" smtClean="0">
                <a:sym typeface="Symbol"/>
              </a:rPr>
              <a:t>Cst.</a:t>
            </a:r>
            <a:endParaRPr lang="es-ES" sz="2000" dirty="0" smtClean="0">
              <a:sym typeface="Symbol"/>
            </a:endParaRPr>
          </a:p>
          <a:p>
            <a:pPr algn="just" hangingPunct="0">
              <a:buNone/>
            </a:pPr>
            <a:r>
              <a:rPr lang="en-US" sz="2000" b="1" dirty="0" smtClean="0">
                <a:sym typeface="Symbol"/>
              </a:rPr>
              <a:t>                           x=</a:t>
            </a:r>
            <a:r>
              <a:rPr lang="es-ES" sz="2000" b="1" baseline="-25000" dirty="0" smtClean="0">
                <a:sym typeface="Symbol"/>
              </a:rPr>
              <a:t>AB</a:t>
            </a:r>
            <a:r>
              <a:rPr lang="es-ES" sz="2000" b="1" dirty="0" smtClean="0">
                <a:sym typeface="Symbol"/>
              </a:rPr>
              <a:t>= (367.8+379.2)/2=373.5</a:t>
            </a:r>
          </a:p>
          <a:p>
            <a:pPr algn="just" hangingPunct="0">
              <a:buNone/>
            </a:pPr>
            <a:endParaRPr lang="es-ES" sz="2000" dirty="0" smtClean="0">
              <a:sym typeface="Symbol"/>
            </a:endParaRPr>
          </a:p>
          <a:p>
            <a:pPr algn="just" hangingPunct="0">
              <a:buFont typeface="Wingdings" pitchFamily="2" charset="2"/>
              <a:buChar char="v"/>
            </a:pPr>
            <a:r>
              <a:rPr lang="es-ES" sz="2000" b="1" dirty="0" smtClean="0">
                <a:solidFill>
                  <a:schemeClr val="tx1"/>
                </a:solidFill>
                <a:sym typeface="Symbol"/>
              </a:rPr>
              <a:t>R</a:t>
            </a:r>
            <a:r>
              <a:rPr lang="es-ES" sz="2000" b="1" dirty="0" smtClean="0">
                <a:solidFill>
                  <a:schemeClr val="tx1"/>
                </a:solidFill>
              </a:rPr>
              <a:t> </a:t>
            </a:r>
            <a:r>
              <a:rPr lang="es-PE" sz="2000" b="1" dirty="0" smtClean="0">
                <a:solidFill>
                  <a:schemeClr val="tx1"/>
                </a:solidFill>
              </a:rPr>
              <a:t>= 0.074x(</a:t>
            </a:r>
            <a:r>
              <a:rPr lang="es-ES" sz="2000" b="1" dirty="0" smtClean="0">
                <a:sym typeface="Symbol"/>
              </a:rPr>
              <a:t>373.5</a:t>
            </a:r>
            <a:r>
              <a:rPr lang="es-PE" sz="2000" b="1" dirty="0" smtClean="0">
                <a:solidFill>
                  <a:schemeClr val="tx1"/>
                </a:solidFill>
              </a:rPr>
              <a:t>)</a:t>
            </a:r>
          </a:p>
          <a:p>
            <a:pPr algn="just" hangingPunct="0">
              <a:buFont typeface="Wingdings" pitchFamily="2" charset="2"/>
              <a:buChar char="v"/>
            </a:pPr>
            <a:r>
              <a:rPr lang="es-ES" sz="2000" b="1" dirty="0" smtClean="0">
                <a:sym typeface="Symbol"/>
              </a:rPr>
              <a:t> </a:t>
            </a:r>
            <a:r>
              <a:rPr lang="es-ES" sz="2000" b="1" dirty="0" smtClean="0">
                <a:solidFill>
                  <a:schemeClr val="tx1"/>
                </a:solidFill>
                <a:sym typeface="Symbol"/>
              </a:rPr>
              <a:t>R </a:t>
            </a:r>
            <a:r>
              <a:rPr lang="es-ES" sz="2000" b="1" dirty="0" smtClean="0">
                <a:sym typeface="Symbol"/>
              </a:rPr>
              <a:t>= 27.6    y </a:t>
            </a:r>
            <a:r>
              <a:rPr lang="es-ES" sz="2000" dirty="0" smtClean="0">
                <a:sym typeface="Symbol"/>
              </a:rPr>
              <a:t>La diferencia entre las viscosidades de los dos laboratorios es </a:t>
            </a:r>
            <a:r>
              <a:rPr lang="es-ES" sz="2000" dirty="0" err="1" smtClean="0">
                <a:sym typeface="Symbol"/>
              </a:rPr>
              <a:t>Dif</a:t>
            </a:r>
            <a:r>
              <a:rPr lang="es-ES" sz="2000" dirty="0" smtClean="0">
                <a:sym typeface="Symbol"/>
              </a:rPr>
              <a:t>= </a:t>
            </a:r>
            <a:r>
              <a:rPr lang="es-ES" sz="2000" b="1" dirty="0" smtClean="0">
                <a:sym typeface="Symbol"/>
              </a:rPr>
              <a:t>379.2-367.8= 11.4</a:t>
            </a:r>
          </a:p>
          <a:p>
            <a:pPr>
              <a:buFont typeface="Wingdings" pitchFamily="2" charset="2"/>
              <a:buChar char="Ø"/>
            </a:pPr>
            <a:r>
              <a:rPr lang="es-ES" sz="2000" dirty="0" smtClean="0">
                <a:sym typeface="Symbol"/>
              </a:rPr>
              <a:t>La diferencia no excede el valor de R=27.6 los ensayos cumplen con la reproducibilidad.</a:t>
            </a:r>
          </a:p>
          <a:p>
            <a:pPr>
              <a:buFont typeface="Wingdings" pitchFamily="2" charset="2"/>
              <a:buChar char="Ø"/>
            </a:pPr>
            <a:endParaRPr lang="es-PE" sz="2000" dirty="0" smtClean="0"/>
          </a:p>
        </p:txBody>
      </p:sp>
      <p:pic>
        <p:nvPicPr>
          <p:cNvPr id="9218" name="Picture 2"/>
          <p:cNvPicPr>
            <a:picLocks noChangeAspect="1" noChangeArrowheads="1"/>
          </p:cNvPicPr>
          <p:nvPr/>
        </p:nvPicPr>
        <p:blipFill>
          <a:blip r:embed="rId2"/>
          <a:srcRect/>
          <a:stretch>
            <a:fillRect/>
          </a:stretch>
        </p:blipFill>
        <p:spPr bwMode="auto">
          <a:xfrm>
            <a:off x="928662" y="2357430"/>
            <a:ext cx="7786742" cy="991631"/>
          </a:xfrm>
          <a:prstGeom prst="rect">
            <a:avLst/>
          </a:prstGeom>
          <a:noFill/>
          <a:ln w="9525">
            <a:noFill/>
            <a:miter lim="800000"/>
            <a:headEnd/>
            <a:tailEnd/>
          </a:ln>
          <a:effectLst/>
        </p:spPr>
      </p:pic>
      <p:sp>
        <p:nvSpPr>
          <p:cNvPr id="4" name="3 Marcador de fecha"/>
          <p:cNvSpPr>
            <a:spLocks noGrp="1"/>
          </p:cNvSpPr>
          <p:nvPr>
            <p:ph type="dt" sz="half" idx="10"/>
          </p:nvPr>
        </p:nvSpPr>
        <p:spPr/>
        <p:txBody>
          <a:bodyPr/>
          <a:lstStyle/>
          <a:p>
            <a:r>
              <a:rPr lang="es-PE" smtClean="0"/>
              <a:t>17/09/2013</a:t>
            </a:r>
            <a:endParaRPr lang="es-PE"/>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887</TotalTime>
  <Words>2165</Words>
  <Application>Microsoft Office PowerPoint</Application>
  <PresentationFormat>Presentación en pantalla (4:3)</PresentationFormat>
  <Paragraphs>190</Paragraphs>
  <Slides>23</Slides>
  <Notes>1</Notes>
  <HiddenSlides>0</HiddenSlides>
  <MMClips>0</MMClips>
  <ScaleCrop>false</ScaleCrop>
  <HeadingPairs>
    <vt:vector size="4" baseType="variant">
      <vt:variant>
        <vt:lpstr>Tema</vt:lpstr>
      </vt:variant>
      <vt:variant>
        <vt:i4>1</vt:i4>
      </vt:variant>
      <vt:variant>
        <vt:lpstr>Títulos de diapositiva</vt:lpstr>
      </vt:variant>
      <vt:variant>
        <vt:i4>23</vt:i4>
      </vt:variant>
    </vt:vector>
  </HeadingPairs>
  <TitlesOfParts>
    <vt:vector size="24" baseType="lpstr">
      <vt:lpstr>Tema de Office</vt:lpstr>
      <vt:lpstr>Presentación de PowerPoint</vt:lpstr>
      <vt:lpstr>ALCANCE</vt:lpstr>
      <vt:lpstr>Documentos de Referencia</vt:lpstr>
      <vt:lpstr>DEFINICION</vt:lpstr>
      <vt:lpstr>Equipos</vt:lpstr>
      <vt:lpstr>Equipos</vt:lpstr>
      <vt:lpstr>Equipos</vt:lpstr>
      <vt:lpstr>Reactivos y Materiales</vt:lpstr>
      <vt:lpstr>Procedimiento para el caso de Líquidos Transparentes</vt:lpstr>
      <vt:lpstr>Procedimiento para el caso de Líquidos Transparentes</vt:lpstr>
      <vt:lpstr>Procedimiento para el caso de Líquidos opacos</vt:lpstr>
      <vt:lpstr>Procedimiento para el caso de Líquidos opacos</vt:lpstr>
      <vt:lpstr>Procedimiento para el caso de Líquidos OPACOS</vt:lpstr>
      <vt:lpstr>Cálculo </vt:lpstr>
      <vt:lpstr>Reporte de Resultados </vt:lpstr>
      <vt:lpstr>Precisión  </vt:lpstr>
      <vt:lpstr>Precisión  </vt:lpstr>
      <vt:lpstr>Precisión  </vt:lpstr>
      <vt:lpstr>Ejemplo de Precisión  </vt:lpstr>
      <vt:lpstr>Solución </vt:lpstr>
      <vt:lpstr>Solución </vt:lpstr>
      <vt:lpstr>Solución </vt:lpstr>
      <vt:lpstr>Solución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Laboratorio</dc:creator>
  <cp:lastModifiedBy>Usuario</cp:lastModifiedBy>
  <cp:revision>136</cp:revision>
  <cp:lastPrinted>2013-02-18T22:50:19Z</cp:lastPrinted>
  <dcterms:created xsi:type="dcterms:W3CDTF">2012-03-28T21:03:19Z</dcterms:created>
  <dcterms:modified xsi:type="dcterms:W3CDTF">2013-11-07T16:01:23Z</dcterms:modified>
</cp:coreProperties>
</file>