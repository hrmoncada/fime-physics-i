
<file path=[Content_Types].xml><?xml version="1.0" encoding="utf-8"?>
<Types xmlns="http://schemas.openxmlformats.org/package/2006/content-types">
  <Default Extension="png" ContentType="image/png"/>
  <Default Extension="jpeg" ContentType="image/jpeg"/>
  <Default Extension="emf" ContentType="image/x-emf"/>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32" r:id="rId1"/>
  </p:sldMasterIdLst>
  <p:notesMasterIdLst>
    <p:notesMasterId r:id="rId64"/>
  </p:notesMasterIdLst>
  <p:sldIdLst>
    <p:sldId id="256" r:id="rId2"/>
    <p:sldId id="257" r:id="rId3"/>
    <p:sldId id="258" r:id="rId4"/>
    <p:sldId id="259" r:id="rId5"/>
    <p:sldId id="266" r:id="rId6"/>
    <p:sldId id="260" r:id="rId7"/>
    <p:sldId id="261" r:id="rId8"/>
    <p:sldId id="264" r:id="rId9"/>
    <p:sldId id="262" r:id="rId10"/>
    <p:sldId id="263" r:id="rId11"/>
    <p:sldId id="265" r:id="rId12"/>
    <p:sldId id="267" r:id="rId13"/>
    <p:sldId id="269" r:id="rId14"/>
    <p:sldId id="270" r:id="rId15"/>
    <p:sldId id="271" r:id="rId16"/>
    <p:sldId id="272" r:id="rId17"/>
    <p:sldId id="273" r:id="rId18"/>
    <p:sldId id="274" r:id="rId19"/>
    <p:sldId id="296" r:id="rId20"/>
    <p:sldId id="297" r:id="rId21"/>
    <p:sldId id="298" r:id="rId22"/>
    <p:sldId id="299" r:id="rId23"/>
    <p:sldId id="300" r:id="rId24"/>
    <p:sldId id="301" r:id="rId25"/>
    <p:sldId id="302" r:id="rId26"/>
    <p:sldId id="303" r:id="rId27"/>
    <p:sldId id="281" r:id="rId28"/>
    <p:sldId id="282" r:id="rId29"/>
    <p:sldId id="283" r:id="rId30"/>
    <p:sldId id="284" r:id="rId31"/>
    <p:sldId id="285" r:id="rId32"/>
    <p:sldId id="286" r:id="rId33"/>
    <p:sldId id="287" r:id="rId34"/>
    <p:sldId id="288" r:id="rId35"/>
    <p:sldId id="289" r:id="rId36"/>
    <p:sldId id="290" r:id="rId37"/>
    <p:sldId id="291" r:id="rId38"/>
    <p:sldId id="292" r:id="rId39"/>
    <p:sldId id="293" r:id="rId40"/>
    <p:sldId id="294" r:id="rId41"/>
    <p:sldId id="295" r:id="rId42"/>
    <p:sldId id="304" r:id="rId43"/>
    <p:sldId id="305" r:id="rId44"/>
    <p:sldId id="306" r:id="rId45"/>
    <p:sldId id="307" r:id="rId46"/>
    <p:sldId id="308" r:id="rId47"/>
    <p:sldId id="309" r:id="rId48"/>
    <p:sldId id="310" r:id="rId49"/>
    <p:sldId id="311" r:id="rId50"/>
    <p:sldId id="312" r:id="rId51"/>
    <p:sldId id="313" r:id="rId52"/>
    <p:sldId id="314" r:id="rId53"/>
    <p:sldId id="315" r:id="rId54"/>
    <p:sldId id="316" r:id="rId55"/>
    <p:sldId id="317" r:id="rId56"/>
    <p:sldId id="318" r:id="rId57"/>
    <p:sldId id="275" r:id="rId58"/>
    <p:sldId id="276" r:id="rId59"/>
    <p:sldId id="277" r:id="rId60"/>
    <p:sldId id="278" r:id="rId61"/>
    <p:sldId id="279" r:id="rId62"/>
    <p:sldId id="280" r:id="rId63"/>
  </p:sldIdLst>
  <p:sldSz cx="12192000" cy="6858000"/>
  <p:notesSz cx="6858000" cy="9144000"/>
  <p:defaultTextStyle>
    <a:defPPr>
      <a:defRPr lang="es-P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000" autoAdjust="0"/>
    <p:restoredTop sz="94660"/>
  </p:normalViewPr>
  <p:slideViewPr>
    <p:cSldViewPr snapToGrid="0">
      <p:cViewPr varScale="1">
        <p:scale>
          <a:sx n="74" d="100"/>
          <a:sy n="74" d="100"/>
        </p:scale>
        <p:origin x="576" y="7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openxmlformats.org/officeDocument/2006/relationships/slide" Target="slides/slide62.xml"/><Relationship Id="rId68"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viewProps" Target="viewProps.xml"/><Relationship Id="rId5" Type="http://schemas.openxmlformats.org/officeDocument/2006/relationships/slide" Target="slides/slide4.xml"/><Relationship Id="rId61" Type="http://schemas.openxmlformats.org/officeDocument/2006/relationships/slide" Target="slides/slide60.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notesMaster" Target="notesMasters/notesMaster1.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theme" Target="theme/theme1.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s>
</file>

<file path=ppt/diagrams/colors1.xml><?xml version="1.0" encoding="utf-8"?>
<dgm:colorsDef xmlns:dgm="http://schemas.openxmlformats.org/drawingml/2006/diagram" xmlns:a="http://schemas.openxmlformats.org/drawingml/2006/main" uniqueId="urn:microsoft.com/office/officeart/2005/8/colors/colorful3">
  <dgm:title val=""/>
  <dgm:desc val=""/>
  <dgm:catLst>
    <dgm:cat type="colorful" pri="10300"/>
  </dgm:catLst>
  <dgm:styleLbl name="node0">
    <dgm:fillClrLst meth="repeat">
      <a:schemeClr val="accent2"/>
    </dgm:fillClrLst>
    <dgm:linClrLst meth="repeat">
      <a:schemeClr val="lt1"/>
    </dgm:linClrLst>
    <dgm:effectClrLst/>
    <dgm:txLinClrLst/>
    <dgm:txFillClrLst/>
    <dgm:txEffectClrLst/>
  </dgm:styleLbl>
  <dgm:styleLbl name="node1">
    <dgm:fillClrLst>
      <a:schemeClr val="accent3"/>
      <a:schemeClr val="accent4"/>
    </dgm:fillClrLst>
    <dgm:linClrLst meth="repeat">
      <a:schemeClr val="lt1"/>
    </dgm:linClrLst>
    <dgm:effectClrLst/>
    <dgm:txLinClrLst/>
    <dgm:txFillClrLst/>
    <dgm:txEffectClrLst/>
  </dgm:styleLbl>
  <dgm:styleLbl name="alignNode1">
    <dgm:fillClrLst>
      <a:schemeClr val="accent3"/>
      <a:schemeClr val="accent4"/>
    </dgm:fillClrLst>
    <dgm:linClrLst>
      <a:schemeClr val="accent3"/>
      <a:schemeClr val="accent4"/>
    </dgm:linClrLst>
    <dgm:effectClrLst/>
    <dgm:txLinClrLst/>
    <dgm:txFillClrLst/>
    <dgm:txEffectClrLst/>
  </dgm:styleLbl>
  <dgm:styleLbl name="lnNode1">
    <dgm:fillClrLst>
      <a:schemeClr val="accent3"/>
      <a:schemeClr val="accent4"/>
    </dgm:fillClrLst>
    <dgm:linClrLst meth="repeat">
      <a:schemeClr val="lt1"/>
    </dgm:linClrLst>
    <dgm:effectClrLst/>
    <dgm:txLinClrLst/>
    <dgm:txFillClrLst/>
    <dgm:txEffectClrLst/>
  </dgm:styleLbl>
  <dgm:styleLbl name="vennNode1">
    <dgm:fillClrLst>
      <a:schemeClr val="accent3">
        <a:alpha val="50000"/>
      </a:schemeClr>
      <a:schemeClr val="accent4">
        <a:alpha val="50000"/>
      </a:schemeClr>
    </dgm:fillClrLst>
    <dgm:linClrLst meth="repeat">
      <a:schemeClr val="lt1"/>
    </dgm:linClrLst>
    <dgm:effectClrLst/>
    <dgm:txLinClrLst/>
    <dgm:txFillClrLst/>
    <dgm:txEffectClrLst/>
  </dgm:styleLbl>
  <dgm:styleLbl name="node2">
    <dgm:fillClrLst>
      <a:schemeClr val="accent4"/>
    </dgm:fillClrLst>
    <dgm:linClrLst meth="repeat">
      <a:schemeClr val="lt1"/>
    </dgm:linClrLst>
    <dgm:effectClrLst/>
    <dgm:txLinClrLst/>
    <dgm:txFillClrLst/>
    <dgm:txEffectClrLst/>
  </dgm:styleLbl>
  <dgm:styleLbl name="node3">
    <dgm:fillClrLst>
      <a:schemeClr val="accent5"/>
    </dgm:fillClrLst>
    <dgm:linClrLst meth="repeat">
      <a:schemeClr val="lt1"/>
    </dgm:linClrLst>
    <dgm:effectClrLst/>
    <dgm:txLinClrLst/>
    <dgm:txFillClrLst/>
    <dgm:txEffectClrLst/>
  </dgm:styleLbl>
  <dgm:styleLbl name="node4">
    <dgm:fillClrLst>
      <a:schemeClr val="accent6"/>
    </dgm:fillClrLst>
    <dgm:linClrLst meth="repeat">
      <a:schemeClr val="lt1"/>
    </dgm:linClrLst>
    <dgm:effectClrLst/>
    <dgm:txLinClrLst/>
    <dgm:txFillClrLst/>
    <dgm:txEffectClrLst/>
  </dgm:styleLbl>
  <dgm:styleLbl name="fgImgPlace1">
    <dgm:fillClrLst>
      <a:schemeClr val="accent3">
        <a:tint val="50000"/>
      </a:schemeClr>
      <a:schemeClr val="accent4">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3">
        <a:tint val="50000"/>
      </a:schemeClr>
      <a:schemeClr val="accent4">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3">
        <a:tint val="50000"/>
      </a:schemeClr>
      <a:schemeClr val="accent4">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3"/>
      <a:schemeClr val="accent4"/>
    </dgm:fillClrLst>
    <dgm:linClrLst meth="repeat">
      <a:schemeClr val="lt1"/>
    </dgm:linClrLst>
    <dgm:effectClrLst/>
    <dgm:txLinClrLst/>
    <dgm:txFillClrLst/>
    <dgm:txEffectClrLst/>
  </dgm:styleLbl>
  <dgm:styleLbl name="fgSibTrans2D1">
    <dgm:fillClrLst>
      <a:schemeClr val="accent3"/>
      <a:schemeClr val="accent4"/>
    </dgm:fillClrLst>
    <dgm:linClrLst meth="repeat">
      <a:schemeClr val="lt1"/>
    </dgm:linClrLst>
    <dgm:effectClrLst/>
    <dgm:txLinClrLst/>
    <dgm:txFillClrLst meth="repeat">
      <a:schemeClr val="lt1"/>
    </dgm:txFillClrLst>
    <dgm:txEffectClrLst/>
  </dgm:styleLbl>
  <dgm:styleLbl name="bgSibTrans2D1">
    <dgm:fillClrLst>
      <a:schemeClr val="accent3"/>
      <a:schemeClr val="accent4"/>
    </dgm:fillClrLst>
    <dgm:linClrLst meth="repeat">
      <a:schemeClr val="lt1"/>
    </dgm:linClrLst>
    <dgm:effectClrLst/>
    <dgm:txLinClrLst/>
    <dgm:txFillClrLst meth="repeat">
      <a:schemeClr val="lt1"/>
    </dgm:txFillClrLst>
    <dgm:txEffectClrLst/>
  </dgm:styleLbl>
  <dgm:styleLbl name="sibTrans1D1">
    <dgm:fillClrLst/>
    <dgm:linClrLst>
      <a:schemeClr val="accent3"/>
      <a:schemeClr val="accent4"/>
    </dgm:linClrLst>
    <dgm:effectClrLst/>
    <dgm:txLinClrLst/>
    <dgm:txFillClrLst meth="repeat">
      <a:schemeClr val="tx1"/>
    </dgm:txFillClrLst>
    <dgm:txEffectClrLst/>
  </dgm:styleLbl>
  <dgm:styleLbl name="callout">
    <dgm:fillClrLst meth="repeat">
      <a:schemeClr val="accent3"/>
    </dgm:fillClrLst>
    <dgm:linClrLst meth="repeat">
      <a:schemeClr val="accent3">
        <a:tint val="50000"/>
      </a:schemeClr>
    </dgm:linClrLst>
    <dgm:effectClrLst/>
    <dgm:txLinClrLst/>
    <dgm:txFillClrLst meth="repeat">
      <a:schemeClr val="tx1"/>
    </dgm:txFillClrLst>
    <dgm:txEffectClrLst/>
  </dgm:styleLbl>
  <dgm:styleLbl name="asst0">
    <dgm:fillClrLst meth="repeat">
      <a:schemeClr val="accent3"/>
    </dgm:fillClrLst>
    <dgm:linClrLst meth="repeat">
      <a:schemeClr val="lt1">
        <a:shade val="80000"/>
      </a:schemeClr>
    </dgm:linClrLst>
    <dgm:effectClrLst/>
    <dgm:txLinClrLst/>
    <dgm:txFillClrLst/>
    <dgm:txEffectClrLst/>
  </dgm:styleLbl>
  <dgm:styleLbl name="asst1">
    <dgm:fillClrLst meth="repeat">
      <a:schemeClr val="accent4"/>
    </dgm:fillClrLst>
    <dgm:linClrLst meth="repeat">
      <a:schemeClr val="lt1">
        <a:shade val="80000"/>
      </a:schemeClr>
    </dgm:linClrLst>
    <dgm:effectClrLst/>
    <dgm:txLinClrLst/>
    <dgm:txFillClrLst/>
    <dgm:txEffectClrLst/>
  </dgm:styleLbl>
  <dgm:styleLbl name="asst2">
    <dgm:fillClrLst>
      <a:schemeClr val="accent5"/>
    </dgm:fillClrLst>
    <dgm:linClrLst meth="repeat">
      <a:schemeClr val="lt1"/>
    </dgm:linClrLst>
    <dgm:effectClrLst/>
    <dgm:txLinClrLst/>
    <dgm:txFillClrLst/>
    <dgm:txEffectClrLst/>
  </dgm:styleLbl>
  <dgm:styleLbl name="asst3">
    <dgm:fillClrLst>
      <a:schemeClr val="accent6"/>
    </dgm:fillClrLst>
    <dgm:linClrLst meth="repeat">
      <a:schemeClr val="lt1"/>
    </dgm:linClrLst>
    <dgm:effectClrLst/>
    <dgm:txLinClrLst/>
    <dgm:txFillClrLst/>
    <dgm:txEffectClrLst/>
  </dgm:styleLbl>
  <dgm:styleLbl name="asst4">
    <dgm:fillClrLst>
      <a:schemeClr val="accent1"/>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3"/>
    </dgm:fillClrLst>
    <dgm:linClrLst meth="repeat">
      <a:schemeClr val="accent3"/>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4"/>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5"/>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6"/>
    </dgm:linClrLst>
    <dgm:effectClrLst/>
    <dgm:txLinClrLst/>
    <dgm:txFillClrLst meth="repeat">
      <a:schemeClr val="tx1"/>
    </dgm:txFillClrLst>
    <dgm:txEffectClrLst/>
  </dgm:styleLbl>
  <dgm:styleLbl name="f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conF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align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solidFgAcc1">
    <dgm:fillClrLst meth="repeat">
      <a:schemeClr val="lt1"/>
    </dgm:fillClrLst>
    <dgm:linClrLst>
      <a:schemeClr val="accent3"/>
      <a:schemeClr val="accent4"/>
    </dgm:linClrLst>
    <dgm:effectClrLst/>
    <dgm:txLinClrLst/>
    <dgm:txFillClrLst meth="repeat">
      <a:schemeClr val="dk1"/>
    </dgm:txFillClrLst>
    <dgm:txEffectClrLst/>
  </dgm:styleLbl>
  <dgm:styleLbl name="solidAlignAcc1">
    <dgm:fillClrLst meth="repeat">
      <a:schemeClr val="lt1"/>
    </dgm:fillClrLst>
    <dgm:linClrLst>
      <a:schemeClr val="accent3"/>
      <a:schemeClr val="accent4"/>
    </dgm:linClrLst>
    <dgm:effectClrLst/>
    <dgm:txLinClrLst/>
    <dgm:txFillClrLst meth="repeat">
      <a:schemeClr val="dk1"/>
    </dgm:txFillClrLst>
    <dgm:txEffectClrLst/>
  </dgm:styleLbl>
  <dgm:styleLbl name="solidBgAcc1">
    <dgm:fillClrLst meth="repeat">
      <a:schemeClr val="lt1"/>
    </dgm:fillClrLst>
    <dgm:linClrLst>
      <a:schemeClr val="accent3"/>
      <a:schemeClr val="accent4"/>
    </dgm:linClrLst>
    <dgm:effectClrLst/>
    <dgm:txLinClrLst/>
    <dgm:txFillClrLst meth="repeat">
      <a:schemeClr val="dk1"/>
    </dgm:txFillClrLst>
    <dgm:txEffectClrLst/>
  </dgm:styleLbl>
  <dgm:styleLbl name="fg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align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bg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2"/>
    </dgm:linClrLst>
    <dgm:effectClrLst/>
    <dgm:txLinClrLst/>
    <dgm:txFillClrLst meth="repeat">
      <a:schemeClr val="dk1"/>
    </dgm:txFillClrLst>
    <dgm:txEffectClrLst/>
  </dgm:styleLbl>
  <dgm:styleLbl name="fgAcc2">
    <dgm:fillClrLst meth="repeat">
      <a:schemeClr val="lt1">
        <a:alpha val="90000"/>
      </a:schemeClr>
    </dgm:fillClrLst>
    <dgm:linClrLst>
      <a:schemeClr val="accent4"/>
    </dgm:linClrLst>
    <dgm:effectClrLst/>
    <dgm:txLinClrLst/>
    <dgm:txFillClrLst meth="repeat">
      <a:schemeClr val="dk1"/>
    </dgm:txFillClrLst>
    <dgm:txEffectClrLst/>
  </dgm:styleLbl>
  <dgm:styleLbl name="fgAcc3">
    <dgm:fillClrLst meth="repeat">
      <a:schemeClr val="lt1">
        <a:alpha val="90000"/>
      </a:schemeClr>
    </dgm:fillClrLst>
    <dgm:linClrLst>
      <a:schemeClr val="accent5"/>
    </dgm:linClrLst>
    <dgm:effectClrLst/>
    <dgm:txLinClrLst/>
    <dgm:txFillClrLst meth="repeat">
      <a:schemeClr val="dk1"/>
    </dgm:txFillClrLst>
    <dgm:txEffectClrLst/>
  </dgm:styleLbl>
  <dgm:styleLbl name="fgAcc4">
    <dgm:fillClrLst meth="repeat">
      <a:schemeClr val="lt1">
        <a:alpha val="90000"/>
      </a:schemeClr>
    </dgm:fillClrLst>
    <dgm:linClrLst>
      <a:schemeClr val="accent6"/>
    </dgm:linClrLst>
    <dgm:effectClrLst/>
    <dgm:txLinClrLst/>
    <dgm:txFillClrLst meth="repeat">
      <a:schemeClr val="dk1"/>
    </dgm:txFillClrLst>
    <dgm:txEffectClrLst/>
  </dgm:styleLbl>
  <dgm:styleLbl name="bgShp">
    <dgm:fillClrLst meth="repeat">
      <a:schemeClr val="accent3">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3">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3"/>
    </dgm:linClrLst>
    <dgm:effectClrLst/>
    <dgm:txLinClrLst/>
    <dgm:txFillClrLst meth="repeat">
      <a:schemeClr val="lt1"/>
    </dgm:txFillClrLst>
    <dgm:txEffectClrLst/>
  </dgm:styleLbl>
  <dgm:styleLbl name="fgShp">
    <dgm:fillClrLst meth="repeat">
      <a:schemeClr val="accent3">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FB6D1491-7DBC-4D2B-815E-547C4B87F0FF}" type="doc">
      <dgm:prSet loTypeId="urn:microsoft.com/office/officeart/2008/layout/HorizontalMultiLevelHierarchy" loCatId="hierarchy" qsTypeId="urn:microsoft.com/office/officeart/2005/8/quickstyle/simple1" qsCatId="simple" csTypeId="urn:microsoft.com/office/officeart/2005/8/colors/colorful3" csCatId="colorful" phldr="1"/>
      <dgm:spPr/>
      <dgm:t>
        <a:bodyPr/>
        <a:lstStyle/>
        <a:p>
          <a:endParaRPr lang="es-PE"/>
        </a:p>
      </dgm:t>
    </dgm:pt>
    <dgm:pt modelId="{210C33FD-B1E0-4ABB-ABD0-C6FE487AA46C}">
      <dgm:prSet phldrT="[Texto]"/>
      <dgm:spPr/>
      <dgm:t>
        <a:bodyPr/>
        <a:lstStyle/>
        <a:p>
          <a:r>
            <a:rPr lang="es-PE" dirty="0" smtClean="0"/>
            <a:t>APARATOS PARA SU MEDICION</a:t>
          </a:r>
          <a:endParaRPr lang="es-PE" dirty="0"/>
        </a:p>
      </dgm:t>
    </dgm:pt>
    <dgm:pt modelId="{1859DD62-F46F-4A07-925A-656261893B79}" type="parTrans" cxnId="{574C26E8-6D49-4AB5-B9D7-BCB9F11F0DEA}">
      <dgm:prSet/>
      <dgm:spPr/>
      <dgm:t>
        <a:bodyPr/>
        <a:lstStyle/>
        <a:p>
          <a:endParaRPr lang="es-PE"/>
        </a:p>
      </dgm:t>
    </dgm:pt>
    <dgm:pt modelId="{F0F4A276-3AAA-4DC1-8A5C-827432FD5C69}" type="sibTrans" cxnId="{574C26E8-6D49-4AB5-B9D7-BCB9F11F0DEA}">
      <dgm:prSet/>
      <dgm:spPr/>
      <dgm:t>
        <a:bodyPr/>
        <a:lstStyle/>
        <a:p>
          <a:endParaRPr lang="es-PE"/>
        </a:p>
      </dgm:t>
    </dgm:pt>
    <dgm:pt modelId="{0BA44AC3-F313-4C36-807F-287674BFB091}">
      <dgm:prSet phldrT="[Texto]"/>
      <dgm:spPr/>
      <dgm:t>
        <a:bodyPr/>
        <a:lstStyle/>
        <a:p>
          <a:r>
            <a:rPr lang="es-PE" dirty="0" smtClean="0"/>
            <a:t>VISCOSIMETRO SAYBOLT</a:t>
          </a:r>
          <a:endParaRPr lang="es-PE" dirty="0"/>
        </a:p>
      </dgm:t>
    </dgm:pt>
    <dgm:pt modelId="{AF44CD29-59FD-4209-B96F-3C0AF9FD7934}" type="parTrans" cxnId="{D0CD1BD9-8A92-4880-B65C-294A58C9CA76}">
      <dgm:prSet/>
      <dgm:spPr/>
      <dgm:t>
        <a:bodyPr/>
        <a:lstStyle/>
        <a:p>
          <a:endParaRPr lang="es-PE"/>
        </a:p>
      </dgm:t>
    </dgm:pt>
    <dgm:pt modelId="{D1657FFE-6901-41A9-9B93-72F63242F42D}" type="sibTrans" cxnId="{D0CD1BD9-8A92-4880-B65C-294A58C9CA76}">
      <dgm:prSet/>
      <dgm:spPr/>
      <dgm:t>
        <a:bodyPr/>
        <a:lstStyle/>
        <a:p>
          <a:endParaRPr lang="es-PE"/>
        </a:p>
      </dgm:t>
    </dgm:pt>
    <dgm:pt modelId="{969C5D60-6804-4FA7-8E0D-AEA05522277B}">
      <dgm:prSet phldrT="[Texto]"/>
      <dgm:spPr/>
      <dgm:t>
        <a:bodyPr/>
        <a:lstStyle/>
        <a:p>
          <a:r>
            <a:rPr lang="es-PE" dirty="0" smtClean="0"/>
            <a:t>VISCOSIMETRO ENGLER</a:t>
          </a:r>
          <a:endParaRPr lang="es-PE" dirty="0"/>
        </a:p>
      </dgm:t>
    </dgm:pt>
    <dgm:pt modelId="{C4E49567-B2BE-4C74-813D-4ECC76A39E6A}" type="parTrans" cxnId="{DCB6EAD1-79FF-4D03-B705-2C1D4E5658A6}">
      <dgm:prSet/>
      <dgm:spPr/>
      <dgm:t>
        <a:bodyPr/>
        <a:lstStyle/>
        <a:p>
          <a:endParaRPr lang="es-PE"/>
        </a:p>
      </dgm:t>
    </dgm:pt>
    <dgm:pt modelId="{CDEFE534-7C30-4410-8637-755B359A5AAA}" type="sibTrans" cxnId="{DCB6EAD1-79FF-4D03-B705-2C1D4E5658A6}">
      <dgm:prSet/>
      <dgm:spPr/>
      <dgm:t>
        <a:bodyPr/>
        <a:lstStyle/>
        <a:p>
          <a:endParaRPr lang="es-PE"/>
        </a:p>
      </dgm:t>
    </dgm:pt>
    <dgm:pt modelId="{BE7C526A-B882-4812-8728-03655580E46D}">
      <dgm:prSet phldrT="[Texto]"/>
      <dgm:spPr/>
      <dgm:t>
        <a:bodyPr/>
        <a:lstStyle/>
        <a:p>
          <a:r>
            <a:rPr lang="es-PE" dirty="0" smtClean="0"/>
            <a:t>VISCOSIMETRO REDWOOD</a:t>
          </a:r>
          <a:endParaRPr lang="es-PE" dirty="0"/>
        </a:p>
      </dgm:t>
    </dgm:pt>
    <dgm:pt modelId="{2AD9956C-DB39-464B-876E-A6AD3DC31A23}" type="parTrans" cxnId="{CE5507B8-475B-4E24-98B9-5D09A0366F79}">
      <dgm:prSet/>
      <dgm:spPr/>
      <dgm:t>
        <a:bodyPr/>
        <a:lstStyle/>
        <a:p>
          <a:endParaRPr lang="es-PE"/>
        </a:p>
      </dgm:t>
    </dgm:pt>
    <dgm:pt modelId="{165078A1-27BF-49F4-9753-87CB6F955ED1}" type="sibTrans" cxnId="{CE5507B8-475B-4E24-98B9-5D09A0366F79}">
      <dgm:prSet/>
      <dgm:spPr/>
      <dgm:t>
        <a:bodyPr/>
        <a:lstStyle/>
        <a:p>
          <a:endParaRPr lang="es-PE"/>
        </a:p>
      </dgm:t>
    </dgm:pt>
    <dgm:pt modelId="{34A69766-27F9-4614-B3C6-D10D7DDA8A7B}" type="pres">
      <dgm:prSet presAssocID="{FB6D1491-7DBC-4D2B-815E-547C4B87F0FF}" presName="Name0" presStyleCnt="0">
        <dgm:presLayoutVars>
          <dgm:chPref val="1"/>
          <dgm:dir/>
          <dgm:animOne val="branch"/>
          <dgm:animLvl val="lvl"/>
          <dgm:resizeHandles val="exact"/>
        </dgm:presLayoutVars>
      </dgm:prSet>
      <dgm:spPr/>
      <dgm:t>
        <a:bodyPr/>
        <a:lstStyle/>
        <a:p>
          <a:endParaRPr lang="es-PE"/>
        </a:p>
      </dgm:t>
    </dgm:pt>
    <dgm:pt modelId="{CE6014DA-9C2F-4BF4-BB0F-36FE7EBD9909}" type="pres">
      <dgm:prSet presAssocID="{210C33FD-B1E0-4ABB-ABD0-C6FE487AA46C}" presName="root1" presStyleCnt="0"/>
      <dgm:spPr/>
    </dgm:pt>
    <dgm:pt modelId="{1F874829-B392-4A85-8519-E4C9E4500B8E}" type="pres">
      <dgm:prSet presAssocID="{210C33FD-B1E0-4ABB-ABD0-C6FE487AA46C}" presName="LevelOneTextNode" presStyleLbl="node0" presStyleIdx="0" presStyleCnt="1">
        <dgm:presLayoutVars>
          <dgm:chPref val="3"/>
        </dgm:presLayoutVars>
      </dgm:prSet>
      <dgm:spPr/>
      <dgm:t>
        <a:bodyPr/>
        <a:lstStyle/>
        <a:p>
          <a:endParaRPr lang="es-PE"/>
        </a:p>
      </dgm:t>
    </dgm:pt>
    <dgm:pt modelId="{AC8B2A94-D708-45C1-99D0-2C43338A7489}" type="pres">
      <dgm:prSet presAssocID="{210C33FD-B1E0-4ABB-ABD0-C6FE487AA46C}" presName="level2hierChild" presStyleCnt="0"/>
      <dgm:spPr/>
    </dgm:pt>
    <dgm:pt modelId="{7B827541-4CA4-4697-A658-222C9D81032C}" type="pres">
      <dgm:prSet presAssocID="{AF44CD29-59FD-4209-B96F-3C0AF9FD7934}" presName="conn2-1" presStyleLbl="parChTrans1D2" presStyleIdx="0" presStyleCnt="3"/>
      <dgm:spPr/>
      <dgm:t>
        <a:bodyPr/>
        <a:lstStyle/>
        <a:p>
          <a:endParaRPr lang="es-PE"/>
        </a:p>
      </dgm:t>
    </dgm:pt>
    <dgm:pt modelId="{502075F0-BEC9-4CDC-BD5E-87C6EF807C83}" type="pres">
      <dgm:prSet presAssocID="{AF44CD29-59FD-4209-B96F-3C0AF9FD7934}" presName="connTx" presStyleLbl="parChTrans1D2" presStyleIdx="0" presStyleCnt="3"/>
      <dgm:spPr/>
      <dgm:t>
        <a:bodyPr/>
        <a:lstStyle/>
        <a:p>
          <a:endParaRPr lang="es-PE"/>
        </a:p>
      </dgm:t>
    </dgm:pt>
    <dgm:pt modelId="{5A238DAD-A533-4801-9973-45FD37D8CE8E}" type="pres">
      <dgm:prSet presAssocID="{0BA44AC3-F313-4C36-807F-287674BFB091}" presName="root2" presStyleCnt="0"/>
      <dgm:spPr/>
    </dgm:pt>
    <dgm:pt modelId="{8119803F-04CA-4D63-9A5C-83923129D1BA}" type="pres">
      <dgm:prSet presAssocID="{0BA44AC3-F313-4C36-807F-287674BFB091}" presName="LevelTwoTextNode" presStyleLbl="node2" presStyleIdx="0" presStyleCnt="3">
        <dgm:presLayoutVars>
          <dgm:chPref val="3"/>
        </dgm:presLayoutVars>
      </dgm:prSet>
      <dgm:spPr/>
      <dgm:t>
        <a:bodyPr/>
        <a:lstStyle/>
        <a:p>
          <a:endParaRPr lang="es-PE"/>
        </a:p>
      </dgm:t>
    </dgm:pt>
    <dgm:pt modelId="{12E0E965-AC62-49D1-83E0-FB58FC90F5AD}" type="pres">
      <dgm:prSet presAssocID="{0BA44AC3-F313-4C36-807F-287674BFB091}" presName="level3hierChild" presStyleCnt="0"/>
      <dgm:spPr/>
    </dgm:pt>
    <dgm:pt modelId="{4B4BC5D7-F77F-4C56-8B79-3F07C973EF38}" type="pres">
      <dgm:prSet presAssocID="{C4E49567-B2BE-4C74-813D-4ECC76A39E6A}" presName="conn2-1" presStyleLbl="parChTrans1D2" presStyleIdx="1" presStyleCnt="3"/>
      <dgm:spPr/>
      <dgm:t>
        <a:bodyPr/>
        <a:lstStyle/>
        <a:p>
          <a:endParaRPr lang="es-PE"/>
        </a:p>
      </dgm:t>
    </dgm:pt>
    <dgm:pt modelId="{3527F7D1-3A9D-47C0-B69F-972ADDB51378}" type="pres">
      <dgm:prSet presAssocID="{C4E49567-B2BE-4C74-813D-4ECC76A39E6A}" presName="connTx" presStyleLbl="parChTrans1D2" presStyleIdx="1" presStyleCnt="3"/>
      <dgm:spPr/>
      <dgm:t>
        <a:bodyPr/>
        <a:lstStyle/>
        <a:p>
          <a:endParaRPr lang="es-PE"/>
        </a:p>
      </dgm:t>
    </dgm:pt>
    <dgm:pt modelId="{73FAD01E-28CA-47B0-B595-4B2183EF85F4}" type="pres">
      <dgm:prSet presAssocID="{969C5D60-6804-4FA7-8E0D-AEA05522277B}" presName="root2" presStyleCnt="0"/>
      <dgm:spPr/>
    </dgm:pt>
    <dgm:pt modelId="{68325634-DEAA-4789-8CC1-FD7E4F71F919}" type="pres">
      <dgm:prSet presAssocID="{969C5D60-6804-4FA7-8E0D-AEA05522277B}" presName="LevelTwoTextNode" presStyleLbl="node2" presStyleIdx="1" presStyleCnt="3">
        <dgm:presLayoutVars>
          <dgm:chPref val="3"/>
        </dgm:presLayoutVars>
      </dgm:prSet>
      <dgm:spPr/>
      <dgm:t>
        <a:bodyPr/>
        <a:lstStyle/>
        <a:p>
          <a:endParaRPr lang="es-PE"/>
        </a:p>
      </dgm:t>
    </dgm:pt>
    <dgm:pt modelId="{EBE6ABF0-EE06-48AE-ACE6-B21162791A94}" type="pres">
      <dgm:prSet presAssocID="{969C5D60-6804-4FA7-8E0D-AEA05522277B}" presName="level3hierChild" presStyleCnt="0"/>
      <dgm:spPr/>
    </dgm:pt>
    <dgm:pt modelId="{1069A12C-A883-437F-8F92-D5DA448E31A7}" type="pres">
      <dgm:prSet presAssocID="{2AD9956C-DB39-464B-876E-A6AD3DC31A23}" presName="conn2-1" presStyleLbl="parChTrans1D2" presStyleIdx="2" presStyleCnt="3"/>
      <dgm:spPr/>
      <dgm:t>
        <a:bodyPr/>
        <a:lstStyle/>
        <a:p>
          <a:endParaRPr lang="es-PE"/>
        </a:p>
      </dgm:t>
    </dgm:pt>
    <dgm:pt modelId="{C947E8D2-B300-4407-BA4C-152C0C88E6E0}" type="pres">
      <dgm:prSet presAssocID="{2AD9956C-DB39-464B-876E-A6AD3DC31A23}" presName="connTx" presStyleLbl="parChTrans1D2" presStyleIdx="2" presStyleCnt="3"/>
      <dgm:spPr/>
      <dgm:t>
        <a:bodyPr/>
        <a:lstStyle/>
        <a:p>
          <a:endParaRPr lang="es-PE"/>
        </a:p>
      </dgm:t>
    </dgm:pt>
    <dgm:pt modelId="{86291F9A-9017-42B1-8FED-3933EB69E3EF}" type="pres">
      <dgm:prSet presAssocID="{BE7C526A-B882-4812-8728-03655580E46D}" presName="root2" presStyleCnt="0"/>
      <dgm:spPr/>
    </dgm:pt>
    <dgm:pt modelId="{CEDDBA4F-8EA4-4E10-BC40-ACF394BD0C16}" type="pres">
      <dgm:prSet presAssocID="{BE7C526A-B882-4812-8728-03655580E46D}" presName="LevelTwoTextNode" presStyleLbl="node2" presStyleIdx="2" presStyleCnt="3">
        <dgm:presLayoutVars>
          <dgm:chPref val="3"/>
        </dgm:presLayoutVars>
      </dgm:prSet>
      <dgm:spPr/>
      <dgm:t>
        <a:bodyPr/>
        <a:lstStyle/>
        <a:p>
          <a:endParaRPr lang="es-PE"/>
        </a:p>
      </dgm:t>
    </dgm:pt>
    <dgm:pt modelId="{CE282A5E-6FEC-43E7-8D40-142A00E34390}" type="pres">
      <dgm:prSet presAssocID="{BE7C526A-B882-4812-8728-03655580E46D}" presName="level3hierChild" presStyleCnt="0"/>
      <dgm:spPr/>
    </dgm:pt>
  </dgm:ptLst>
  <dgm:cxnLst>
    <dgm:cxn modelId="{9D4B748A-73DF-4B9B-AA6D-8C1072DC0114}" type="presOf" srcId="{2AD9956C-DB39-464B-876E-A6AD3DC31A23}" destId="{C947E8D2-B300-4407-BA4C-152C0C88E6E0}" srcOrd="1" destOrd="0" presId="urn:microsoft.com/office/officeart/2008/layout/HorizontalMultiLevelHierarchy"/>
    <dgm:cxn modelId="{68799BD1-629A-4D5B-9CEE-F8F42093A6BE}" type="presOf" srcId="{969C5D60-6804-4FA7-8E0D-AEA05522277B}" destId="{68325634-DEAA-4789-8CC1-FD7E4F71F919}" srcOrd="0" destOrd="0" presId="urn:microsoft.com/office/officeart/2008/layout/HorizontalMultiLevelHierarchy"/>
    <dgm:cxn modelId="{A7283673-0293-44E4-8892-777660A46B46}" type="presOf" srcId="{C4E49567-B2BE-4C74-813D-4ECC76A39E6A}" destId="{3527F7D1-3A9D-47C0-B69F-972ADDB51378}" srcOrd="1" destOrd="0" presId="urn:microsoft.com/office/officeart/2008/layout/HorizontalMultiLevelHierarchy"/>
    <dgm:cxn modelId="{19699AC5-8FB7-4C52-BE73-6962B88630C2}" type="presOf" srcId="{BE7C526A-B882-4812-8728-03655580E46D}" destId="{CEDDBA4F-8EA4-4E10-BC40-ACF394BD0C16}" srcOrd="0" destOrd="0" presId="urn:microsoft.com/office/officeart/2008/layout/HorizontalMultiLevelHierarchy"/>
    <dgm:cxn modelId="{02C4B17A-E0DC-4787-88D2-0696A9BF9FE8}" type="presOf" srcId="{C4E49567-B2BE-4C74-813D-4ECC76A39E6A}" destId="{4B4BC5D7-F77F-4C56-8B79-3F07C973EF38}" srcOrd="0" destOrd="0" presId="urn:microsoft.com/office/officeart/2008/layout/HorizontalMultiLevelHierarchy"/>
    <dgm:cxn modelId="{DCB6EAD1-79FF-4D03-B705-2C1D4E5658A6}" srcId="{210C33FD-B1E0-4ABB-ABD0-C6FE487AA46C}" destId="{969C5D60-6804-4FA7-8E0D-AEA05522277B}" srcOrd="1" destOrd="0" parTransId="{C4E49567-B2BE-4C74-813D-4ECC76A39E6A}" sibTransId="{CDEFE534-7C30-4410-8637-755B359A5AAA}"/>
    <dgm:cxn modelId="{643E22CC-E16F-41F0-A1F3-D20184A054AA}" type="presOf" srcId="{0BA44AC3-F313-4C36-807F-287674BFB091}" destId="{8119803F-04CA-4D63-9A5C-83923129D1BA}" srcOrd="0" destOrd="0" presId="urn:microsoft.com/office/officeart/2008/layout/HorizontalMultiLevelHierarchy"/>
    <dgm:cxn modelId="{574C26E8-6D49-4AB5-B9D7-BCB9F11F0DEA}" srcId="{FB6D1491-7DBC-4D2B-815E-547C4B87F0FF}" destId="{210C33FD-B1E0-4ABB-ABD0-C6FE487AA46C}" srcOrd="0" destOrd="0" parTransId="{1859DD62-F46F-4A07-925A-656261893B79}" sibTransId="{F0F4A276-3AAA-4DC1-8A5C-827432FD5C69}"/>
    <dgm:cxn modelId="{0FB653FA-36E1-4F96-82A2-86A96467A648}" type="presOf" srcId="{FB6D1491-7DBC-4D2B-815E-547C4B87F0FF}" destId="{34A69766-27F9-4614-B3C6-D10D7DDA8A7B}" srcOrd="0" destOrd="0" presId="urn:microsoft.com/office/officeart/2008/layout/HorizontalMultiLevelHierarchy"/>
    <dgm:cxn modelId="{01706E98-9DA2-447D-A327-FBCF80049729}" type="presOf" srcId="{2AD9956C-DB39-464B-876E-A6AD3DC31A23}" destId="{1069A12C-A883-437F-8F92-D5DA448E31A7}" srcOrd="0" destOrd="0" presId="urn:microsoft.com/office/officeart/2008/layout/HorizontalMultiLevelHierarchy"/>
    <dgm:cxn modelId="{FCDDDEFF-A1E1-481B-81C2-75226AD07451}" type="presOf" srcId="{210C33FD-B1E0-4ABB-ABD0-C6FE487AA46C}" destId="{1F874829-B392-4A85-8519-E4C9E4500B8E}" srcOrd="0" destOrd="0" presId="urn:microsoft.com/office/officeart/2008/layout/HorizontalMultiLevelHierarchy"/>
    <dgm:cxn modelId="{CE5507B8-475B-4E24-98B9-5D09A0366F79}" srcId="{210C33FD-B1E0-4ABB-ABD0-C6FE487AA46C}" destId="{BE7C526A-B882-4812-8728-03655580E46D}" srcOrd="2" destOrd="0" parTransId="{2AD9956C-DB39-464B-876E-A6AD3DC31A23}" sibTransId="{165078A1-27BF-49F4-9753-87CB6F955ED1}"/>
    <dgm:cxn modelId="{D0CD1BD9-8A92-4880-B65C-294A58C9CA76}" srcId="{210C33FD-B1E0-4ABB-ABD0-C6FE487AA46C}" destId="{0BA44AC3-F313-4C36-807F-287674BFB091}" srcOrd="0" destOrd="0" parTransId="{AF44CD29-59FD-4209-B96F-3C0AF9FD7934}" sibTransId="{D1657FFE-6901-41A9-9B93-72F63242F42D}"/>
    <dgm:cxn modelId="{5272B96A-7174-44BC-968D-0EC3AA2CE23F}" type="presOf" srcId="{AF44CD29-59FD-4209-B96F-3C0AF9FD7934}" destId="{7B827541-4CA4-4697-A658-222C9D81032C}" srcOrd="0" destOrd="0" presId="urn:microsoft.com/office/officeart/2008/layout/HorizontalMultiLevelHierarchy"/>
    <dgm:cxn modelId="{F6939DC1-E3B7-476B-84BB-7225CEEFE325}" type="presOf" srcId="{AF44CD29-59FD-4209-B96F-3C0AF9FD7934}" destId="{502075F0-BEC9-4CDC-BD5E-87C6EF807C83}" srcOrd="1" destOrd="0" presId="urn:microsoft.com/office/officeart/2008/layout/HorizontalMultiLevelHierarchy"/>
    <dgm:cxn modelId="{3867CFD7-871D-4CCB-AFC2-33FEA423ED60}" type="presParOf" srcId="{34A69766-27F9-4614-B3C6-D10D7DDA8A7B}" destId="{CE6014DA-9C2F-4BF4-BB0F-36FE7EBD9909}" srcOrd="0" destOrd="0" presId="urn:microsoft.com/office/officeart/2008/layout/HorizontalMultiLevelHierarchy"/>
    <dgm:cxn modelId="{44DD923A-BEDE-48B7-9724-48101614D8AE}" type="presParOf" srcId="{CE6014DA-9C2F-4BF4-BB0F-36FE7EBD9909}" destId="{1F874829-B392-4A85-8519-E4C9E4500B8E}" srcOrd="0" destOrd="0" presId="urn:microsoft.com/office/officeart/2008/layout/HorizontalMultiLevelHierarchy"/>
    <dgm:cxn modelId="{E0BAE551-511E-4F93-A604-5E1B38BFD246}" type="presParOf" srcId="{CE6014DA-9C2F-4BF4-BB0F-36FE7EBD9909}" destId="{AC8B2A94-D708-45C1-99D0-2C43338A7489}" srcOrd="1" destOrd="0" presId="urn:microsoft.com/office/officeart/2008/layout/HorizontalMultiLevelHierarchy"/>
    <dgm:cxn modelId="{C1A2D5FC-D9BA-4FBF-B104-3C9DD0D7A0F4}" type="presParOf" srcId="{AC8B2A94-D708-45C1-99D0-2C43338A7489}" destId="{7B827541-4CA4-4697-A658-222C9D81032C}" srcOrd="0" destOrd="0" presId="urn:microsoft.com/office/officeart/2008/layout/HorizontalMultiLevelHierarchy"/>
    <dgm:cxn modelId="{6BB0D4DC-55D3-4FF6-B072-D8A994472927}" type="presParOf" srcId="{7B827541-4CA4-4697-A658-222C9D81032C}" destId="{502075F0-BEC9-4CDC-BD5E-87C6EF807C83}" srcOrd="0" destOrd="0" presId="urn:microsoft.com/office/officeart/2008/layout/HorizontalMultiLevelHierarchy"/>
    <dgm:cxn modelId="{50705C93-09C2-4068-8CB6-6C0210F78D39}" type="presParOf" srcId="{AC8B2A94-D708-45C1-99D0-2C43338A7489}" destId="{5A238DAD-A533-4801-9973-45FD37D8CE8E}" srcOrd="1" destOrd="0" presId="urn:microsoft.com/office/officeart/2008/layout/HorizontalMultiLevelHierarchy"/>
    <dgm:cxn modelId="{F2010B6C-57A7-42DB-83FE-96023CCF034D}" type="presParOf" srcId="{5A238DAD-A533-4801-9973-45FD37D8CE8E}" destId="{8119803F-04CA-4D63-9A5C-83923129D1BA}" srcOrd="0" destOrd="0" presId="urn:microsoft.com/office/officeart/2008/layout/HorizontalMultiLevelHierarchy"/>
    <dgm:cxn modelId="{81822AD3-0EE3-474C-A900-13DE277E641E}" type="presParOf" srcId="{5A238DAD-A533-4801-9973-45FD37D8CE8E}" destId="{12E0E965-AC62-49D1-83E0-FB58FC90F5AD}" srcOrd="1" destOrd="0" presId="urn:microsoft.com/office/officeart/2008/layout/HorizontalMultiLevelHierarchy"/>
    <dgm:cxn modelId="{F5073EE1-E44D-4398-AFEC-63C58675D4D9}" type="presParOf" srcId="{AC8B2A94-D708-45C1-99D0-2C43338A7489}" destId="{4B4BC5D7-F77F-4C56-8B79-3F07C973EF38}" srcOrd="2" destOrd="0" presId="urn:microsoft.com/office/officeart/2008/layout/HorizontalMultiLevelHierarchy"/>
    <dgm:cxn modelId="{BA6062F5-F1F4-4F88-816C-D25DDD3AD38E}" type="presParOf" srcId="{4B4BC5D7-F77F-4C56-8B79-3F07C973EF38}" destId="{3527F7D1-3A9D-47C0-B69F-972ADDB51378}" srcOrd="0" destOrd="0" presId="urn:microsoft.com/office/officeart/2008/layout/HorizontalMultiLevelHierarchy"/>
    <dgm:cxn modelId="{ECF1C1C3-161B-4352-B849-617A13E1D3C9}" type="presParOf" srcId="{AC8B2A94-D708-45C1-99D0-2C43338A7489}" destId="{73FAD01E-28CA-47B0-B595-4B2183EF85F4}" srcOrd="3" destOrd="0" presId="urn:microsoft.com/office/officeart/2008/layout/HorizontalMultiLevelHierarchy"/>
    <dgm:cxn modelId="{3E26C3C3-9EE2-4484-B8E1-D838CCF09B9C}" type="presParOf" srcId="{73FAD01E-28CA-47B0-B595-4B2183EF85F4}" destId="{68325634-DEAA-4789-8CC1-FD7E4F71F919}" srcOrd="0" destOrd="0" presId="urn:microsoft.com/office/officeart/2008/layout/HorizontalMultiLevelHierarchy"/>
    <dgm:cxn modelId="{48E4BD05-E62B-4BCD-BB26-47F3B2A2534E}" type="presParOf" srcId="{73FAD01E-28CA-47B0-B595-4B2183EF85F4}" destId="{EBE6ABF0-EE06-48AE-ACE6-B21162791A94}" srcOrd="1" destOrd="0" presId="urn:microsoft.com/office/officeart/2008/layout/HorizontalMultiLevelHierarchy"/>
    <dgm:cxn modelId="{7CA34B4E-9865-4350-A441-281930075769}" type="presParOf" srcId="{AC8B2A94-D708-45C1-99D0-2C43338A7489}" destId="{1069A12C-A883-437F-8F92-D5DA448E31A7}" srcOrd="4" destOrd="0" presId="urn:microsoft.com/office/officeart/2008/layout/HorizontalMultiLevelHierarchy"/>
    <dgm:cxn modelId="{7E6F9479-E5BC-4509-8E90-D789D5EB39AA}" type="presParOf" srcId="{1069A12C-A883-437F-8F92-D5DA448E31A7}" destId="{C947E8D2-B300-4407-BA4C-152C0C88E6E0}" srcOrd="0" destOrd="0" presId="urn:microsoft.com/office/officeart/2008/layout/HorizontalMultiLevelHierarchy"/>
    <dgm:cxn modelId="{F4474E95-D804-403D-8045-4EAF966D3694}" type="presParOf" srcId="{AC8B2A94-D708-45C1-99D0-2C43338A7489}" destId="{86291F9A-9017-42B1-8FED-3933EB69E3EF}" srcOrd="5" destOrd="0" presId="urn:microsoft.com/office/officeart/2008/layout/HorizontalMultiLevelHierarchy"/>
    <dgm:cxn modelId="{58AC8923-CC83-4722-9EF0-F9DC48C69F18}" type="presParOf" srcId="{86291F9A-9017-42B1-8FED-3933EB69E3EF}" destId="{CEDDBA4F-8EA4-4E10-BC40-ACF394BD0C16}" srcOrd="0" destOrd="0" presId="urn:microsoft.com/office/officeart/2008/layout/HorizontalMultiLevelHierarchy"/>
    <dgm:cxn modelId="{5B7C482A-A45C-47D8-A02F-4612C7FCCDA3}" type="presParOf" srcId="{86291F9A-9017-42B1-8FED-3933EB69E3EF}" destId="{CE282A5E-6FEC-43E7-8D40-142A00E34390}" srcOrd="1" destOrd="0" presId="urn:microsoft.com/office/officeart/2008/layout/HorizontalMultiLevelHierarchy"/>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1069A12C-A883-437F-8F92-D5DA448E31A7}">
      <dsp:nvSpPr>
        <dsp:cNvPr id="0" name=""/>
        <dsp:cNvSpPr/>
      </dsp:nvSpPr>
      <dsp:spPr>
        <a:xfrm>
          <a:off x="1914469" y="2032000"/>
          <a:ext cx="506536" cy="965199"/>
        </a:xfrm>
        <a:custGeom>
          <a:avLst/>
          <a:gdLst/>
          <a:ahLst/>
          <a:cxnLst/>
          <a:rect l="0" t="0" r="0" b="0"/>
          <a:pathLst>
            <a:path>
              <a:moveTo>
                <a:pt x="0" y="0"/>
              </a:moveTo>
              <a:lnTo>
                <a:pt x="253268" y="0"/>
              </a:lnTo>
              <a:lnTo>
                <a:pt x="253268" y="965199"/>
              </a:lnTo>
              <a:lnTo>
                <a:pt x="506536" y="965199"/>
              </a:lnTo>
            </a:path>
          </a:pathLst>
        </a:custGeom>
        <a:noFill/>
        <a:ln w="19050" cap="rnd" cmpd="sng" algn="ctr">
          <a:solidFill>
            <a:schemeClr val="accent4">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lvl="0" algn="ctr" defTabSz="222250">
            <a:lnSpc>
              <a:spcPct val="90000"/>
            </a:lnSpc>
            <a:spcBef>
              <a:spcPct val="0"/>
            </a:spcBef>
            <a:spcAft>
              <a:spcPct val="35000"/>
            </a:spcAft>
          </a:pPr>
          <a:endParaRPr lang="es-PE" sz="500" kern="1200"/>
        </a:p>
      </dsp:txBody>
      <dsp:txXfrm>
        <a:off x="2140486" y="2487348"/>
        <a:ext cx="54502" cy="54502"/>
      </dsp:txXfrm>
    </dsp:sp>
    <dsp:sp modelId="{4B4BC5D7-F77F-4C56-8B79-3F07C973EF38}">
      <dsp:nvSpPr>
        <dsp:cNvPr id="0" name=""/>
        <dsp:cNvSpPr/>
      </dsp:nvSpPr>
      <dsp:spPr>
        <a:xfrm>
          <a:off x="1914469" y="1986280"/>
          <a:ext cx="506536" cy="91440"/>
        </a:xfrm>
        <a:custGeom>
          <a:avLst/>
          <a:gdLst/>
          <a:ahLst/>
          <a:cxnLst/>
          <a:rect l="0" t="0" r="0" b="0"/>
          <a:pathLst>
            <a:path>
              <a:moveTo>
                <a:pt x="0" y="45720"/>
              </a:moveTo>
              <a:lnTo>
                <a:pt x="506536" y="45720"/>
              </a:lnTo>
            </a:path>
          </a:pathLst>
        </a:custGeom>
        <a:noFill/>
        <a:ln w="19050" cap="rnd" cmpd="sng" algn="ctr">
          <a:solidFill>
            <a:schemeClr val="accent4">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lvl="0" algn="ctr" defTabSz="222250">
            <a:lnSpc>
              <a:spcPct val="90000"/>
            </a:lnSpc>
            <a:spcBef>
              <a:spcPct val="0"/>
            </a:spcBef>
            <a:spcAft>
              <a:spcPct val="35000"/>
            </a:spcAft>
          </a:pPr>
          <a:endParaRPr lang="es-PE" sz="500" kern="1200"/>
        </a:p>
      </dsp:txBody>
      <dsp:txXfrm>
        <a:off x="2155074" y="2019336"/>
        <a:ext cx="25326" cy="25326"/>
      </dsp:txXfrm>
    </dsp:sp>
    <dsp:sp modelId="{7B827541-4CA4-4697-A658-222C9D81032C}">
      <dsp:nvSpPr>
        <dsp:cNvPr id="0" name=""/>
        <dsp:cNvSpPr/>
      </dsp:nvSpPr>
      <dsp:spPr>
        <a:xfrm>
          <a:off x="1914469" y="1066799"/>
          <a:ext cx="506536" cy="965200"/>
        </a:xfrm>
        <a:custGeom>
          <a:avLst/>
          <a:gdLst/>
          <a:ahLst/>
          <a:cxnLst/>
          <a:rect l="0" t="0" r="0" b="0"/>
          <a:pathLst>
            <a:path>
              <a:moveTo>
                <a:pt x="0" y="965200"/>
              </a:moveTo>
              <a:lnTo>
                <a:pt x="253268" y="965200"/>
              </a:lnTo>
              <a:lnTo>
                <a:pt x="253268" y="0"/>
              </a:lnTo>
              <a:lnTo>
                <a:pt x="506536" y="0"/>
              </a:lnTo>
            </a:path>
          </a:pathLst>
        </a:custGeom>
        <a:noFill/>
        <a:ln w="19050" cap="rnd" cmpd="sng" algn="ctr">
          <a:solidFill>
            <a:schemeClr val="accent4">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lvl="0" algn="ctr" defTabSz="222250">
            <a:lnSpc>
              <a:spcPct val="90000"/>
            </a:lnSpc>
            <a:spcBef>
              <a:spcPct val="0"/>
            </a:spcBef>
            <a:spcAft>
              <a:spcPct val="35000"/>
            </a:spcAft>
          </a:pPr>
          <a:endParaRPr lang="es-PE" sz="500" kern="1200"/>
        </a:p>
      </dsp:txBody>
      <dsp:txXfrm>
        <a:off x="2140486" y="1522148"/>
        <a:ext cx="54502" cy="54502"/>
      </dsp:txXfrm>
    </dsp:sp>
    <dsp:sp modelId="{1F874829-B392-4A85-8519-E4C9E4500B8E}">
      <dsp:nvSpPr>
        <dsp:cNvPr id="0" name=""/>
        <dsp:cNvSpPr/>
      </dsp:nvSpPr>
      <dsp:spPr>
        <a:xfrm rot="16200000">
          <a:off x="-503610" y="1645920"/>
          <a:ext cx="4064000" cy="772160"/>
        </a:xfrm>
        <a:prstGeom prst="rect">
          <a:avLst/>
        </a:prstGeom>
        <a:solidFill>
          <a:schemeClr val="accent2">
            <a:hueOff val="0"/>
            <a:satOff val="0"/>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6510" tIns="16510" rIns="16510" bIns="16510" numCol="1" spcCol="1270" anchor="ctr" anchorCtr="0">
          <a:noAutofit/>
        </a:bodyPr>
        <a:lstStyle/>
        <a:p>
          <a:pPr lvl="0" algn="ctr" defTabSz="1155700">
            <a:lnSpc>
              <a:spcPct val="90000"/>
            </a:lnSpc>
            <a:spcBef>
              <a:spcPct val="0"/>
            </a:spcBef>
            <a:spcAft>
              <a:spcPct val="35000"/>
            </a:spcAft>
          </a:pPr>
          <a:r>
            <a:rPr lang="es-PE" sz="2600" kern="1200" dirty="0" smtClean="0"/>
            <a:t>APARATOS PARA SU MEDICION</a:t>
          </a:r>
          <a:endParaRPr lang="es-PE" sz="2600" kern="1200" dirty="0"/>
        </a:p>
      </dsp:txBody>
      <dsp:txXfrm>
        <a:off x="-503610" y="1645920"/>
        <a:ext cx="4064000" cy="772160"/>
      </dsp:txXfrm>
    </dsp:sp>
    <dsp:sp modelId="{8119803F-04CA-4D63-9A5C-83923129D1BA}">
      <dsp:nvSpPr>
        <dsp:cNvPr id="0" name=""/>
        <dsp:cNvSpPr/>
      </dsp:nvSpPr>
      <dsp:spPr>
        <a:xfrm>
          <a:off x="2421006" y="680719"/>
          <a:ext cx="2532684" cy="772160"/>
        </a:xfrm>
        <a:prstGeom prst="rect">
          <a:avLst/>
        </a:prstGeom>
        <a:solidFill>
          <a:schemeClr val="accent4">
            <a:hueOff val="0"/>
            <a:satOff val="0"/>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6510" tIns="16510" rIns="16510" bIns="16510" numCol="1" spcCol="1270" anchor="ctr" anchorCtr="0">
          <a:noAutofit/>
        </a:bodyPr>
        <a:lstStyle/>
        <a:p>
          <a:pPr lvl="0" algn="ctr" defTabSz="1155700">
            <a:lnSpc>
              <a:spcPct val="90000"/>
            </a:lnSpc>
            <a:spcBef>
              <a:spcPct val="0"/>
            </a:spcBef>
            <a:spcAft>
              <a:spcPct val="35000"/>
            </a:spcAft>
          </a:pPr>
          <a:r>
            <a:rPr lang="es-PE" sz="2600" kern="1200" dirty="0" smtClean="0"/>
            <a:t>VISCOSIMETRO SAYBOLT</a:t>
          </a:r>
          <a:endParaRPr lang="es-PE" sz="2600" kern="1200" dirty="0"/>
        </a:p>
      </dsp:txBody>
      <dsp:txXfrm>
        <a:off x="2421006" y="680719"/>
        <a:ext cx="2532684" cy="772160"/>
      </dsp:txXfrm>
    </dsp:sp>
    <dsp:sp modelId="{68325634-DEAA-4789-8CC1-FD7E4F71F919}">
      <dsp:nvSpPr>
        <dsp:cNvPr id="0" name=""/>
        <dsp:cNvSpPr/>
      </dsp:nvSpPr>
      <dsp:spPr>
        <a:xfrm>
          <a:off x="2421006" y="1645920"/>
          <a:ext cx="2532684" cy="772160"/>
        </a:xfrm>
        <a:prstGeom prst="rect">
          <a:avLst/>
        </a:prstGeom>
        <a:solidFill>
          <a:schemeClr val="accent4">
            <a:hueOff val="0"/>
            <a:satOff val="0"/>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6510" tIns="16510" rIns="16510" bIns="16510" numCol="1" spcCol="1270" anchor="ctr" anchorCtr="0">
          <a:noAutofit/>
        </a:bodyPr>
        <a:lstStyle/>
        <a:p>
          <a:pPr lvl="0" algn="ctr" defTabSz="1155700">
            <a:lnSpc>
              <a:spcPct val="90000"/>
            </a:lnSpc>
            <a:spcBef>
              <a:spcPct val="0"/>
            </a:spcBef>
            <a:spcAft>
              <a:spcPct val="35000"/>
            </a:spcAft>
          </a:pPr>
          <a:r>
            <a:rPr lang="es-PE" sz="2600" kern="1200" dirty="0" smtClean="0"/>
            <a:t>VISCOSIMETRO ENGLER</a:t>
          </a:r>
          <a:endParaRPr lang="es-PE" sz="2600" kern="1200" dirty="0"/>
        </a:p>
      </dsp:txBody>
      <dsp:txXfrm>
        <a:off x="2421006" y="1645920"/>
        <a:ext cx="2532684" cy="772160"/>
      </dsp:txXfrm>
    </dsp:sp>
    <dsp:sp modelId="{CEDDBA4F-8EA4-4E10-BC40-ACF394BD0C16}">
      <dsp:nvSpPr>
        <dsp:cNvPr id="0" name=""/>
        <dsp:cNvSpPr/>
      </dsp:nvSpPr>
      <dsp:spPr>
        <a:xfrm>
          <a:off x="2421006" y="2611119"/>
          <a:ext cx="2532684" cy="772160"/>
        </a:xfrm>
        <a:prstGeom prst="rect">
          <a:avLst/>
        </a:prstGeom>
        <a:solidFill>
          <a:schemeClr val="accent4">
            <a:hueOff val="0"/>
            <a:satOff val="0"/>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6510" tIns="16510" rIns="16510" bIns="16510" numCol="1" spcCol="1270" anchor="ctr" anchorCtr="0">
          <a:noAutofit/>
        </a:bodyPr>
        <a:lstStyle/>
        <a:p>
          <a:pPr lvl="0" algn="ctr" defTabSz="1155700">
            <a:lnSpc>
              <a:spcPct val="90000"/>
            </a:lnSpc>
            <a:spcBef>
              <a:spcPct val="0"/>
            </a:spcBef>
            <a:spcAft>
              <a:spcPct val="35000"/>
            </a:spcAft>
          </a:pPr>
          <a:r>
            <a:rPr lang="es-PE" sz="2600" kern="1200" dirty="0" smtClean="0"/>
            <a:t>VISCOSIMETRO REDWOOD</a:t>
          </a:r>
          <a:endParaRPr lang="es-PE" sz="2600" kern="1200" dirty="0"/>
        </a:p>
      </dsp:txBody>
      <dsp:txXfrm>
        <a:off x="2421006" y="2611119"/>
        <a:ext cx="2532684" cy="772160"/>
      </dsp:txXfrm>
    </dsp:sp>
  </dsp:spTree>
</dsp:drawing>
</file>

<file path=ppt/diagrams/layout1.xml><?xml version="1.0" encoding="utf-8"?>
<dgm:layoutDef xmlns:dgm="http://schemas.openxmlformats.org/drawingml/2006/diagram" xmlns:a="http://schemas.openxmlformats.org/drawingml/2006/main" uniqueId="urn:microsoft.com/office/officeart/2008/layout/HorizontalMultiLevelHierarchy">
  <dgm:title val=""/>
  <dgm:desc val=""/>
  <dgm:catLst>
    <dgm:cat type="hierarchy" pri="4600"/>
  </dgm:catLst>
  <dgm:samp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sampData>
  <dgm:style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styleData>
  <dgm:clr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clrData>
  <dgm:layoutNode name="Name0">
    <dgm:varLst>
      <dgm:chPref val="1"/>
      <dgm:dir/>
      <dgm:animOne val="branch"/>
      <dgm:animLvl val="lvl"/>
      <dgm:resizeHandles val="exact"/>
    </dgm:varLst>
    <dgm:choose name="Name1">
      <dgm:if name="Name2" func="var" arg="dir" op="equ" val="norm">
        <dgm:alg type="hierChild">
          <dgm:param type="linDir" val="fromT"/>
          <dgm:param type="chAlign" val="l"/>
        </dgm:alg>
      </dgm:if>
      <dgm:else name="Name3">
        <dgm:alg type="hierChild">
          <dgm:param type="linDir" val="fromT"/>
          <dgm:param type="chAlign" val="r"/>
        </dgm:alg>
      </dgm:else>
    </dgm:choose>
    <dgm:shape xmlns:r="http://schemas.openxmlformats.org/officeDocument/2006/relationships" r:blip="">
      <dgm:adjLst/>
    </dgm:shape>
    <dgm:presOf/>
    <dgm:constrLst>
      <dgm:constr type="h" for="des" forName="LevelOneTextNode" refType="h"/>
      <dgm:constr type="w" for="des" forName="LevelOneTextNode" refType="h" refFor="des" refForName="LevelOneTextNode" fact="0.19"/>
      <dgm:constr type="h" for="des" forName="LevelTwoTextNode" refType="w" refFor="des" refForName="LevelOneTextNode"/>
      <dgm:constr type="w" for="des" forName="LevelTwoTextNode" refType="h" refFor="des" refForName="LevelTwoTextNode" fact="3.28"/>
      <dgm:constr type="sibSp" refType="h" refFor="des" refForName="LevelTwoTextNode" op="equ" fact="0.25"/>
      <dgm:constr type="sibSp" for="des" forName="level2hierChild" refType="h" refFor="des" refForName="LevelTwoTextNode" op="equ" fact="0.25"/>
      <dgm:constr type="sibSp" for="des" forName="level3hierChild" refType="h" refFor="des" refForName="LevelTwoTextNode" op="equ" fact="0.25"/>
      <dgm:constr type="sp" for="des" forName="root1" refType="w" refFor="des" refForName="LevelTwoTextNode" fact="0.2"/>
      <dgm:constr type="sp" for="des" forName="root2" refType="sp" refFor="des" refForName="root1" op="equ"/>
      <dgm:constr type="primFontSz" for="des" forName="LevelOneTextNode" op="equ" val="65"/>
      <dgm:constr type="primFontSz" for="des" forName="LevelTwoTextNode" op="equ" val="65"/>
      <dgm:constr type="primFontSz" for="des" forName="LevelTwoTextNode" refType="primFontSz" refFor="des" refForName="LevelOneTextNode" op="lte"/>
      <dgm:constr type="primFontSz" for="des" forName="connTx" op="equ" val="50"/>
      <dgm:constr type="primFontSz" for="des" forName="connTx" refType="primFontSz" refFor="des" refForName="LevelOneTextNode" op="lte" fact="0.78"/>
    </dgm:constrLst>
    <dgm:forEach name="Name4" axis="ch">
      <dgm:forEach name="Name5" axis="self" ptType="node">
        <dgm:layoutNode name="root1">
          <dgm:choose name="Name6">
            <dgm:if name="Name7" func="var" arg="dir" op="equ" val="norm">
              <dgm:alg type="hierRoot">
                <dgm:param type="hierAlign" val="lCtrCh"/>
              </dgm:alg>
            </dgm:if>
            <dgm:else name="Name8">
              <dgm:alg type="hierRoot">
                <dgm:param type="hierAlign" val="rCtrCh"/>
              </dgm:alg>
            </dgm:else>
          </dgm:choose>
          <dgm:shape xmlns:r="http://schemas.openxmlformats.org/officeDocument/2006/relationships" r:blip="">
            <dgm:adjLst/>
          </dgm:shape>
          <dgm:presOf/>
          <dgm:layoutNode name="LevelOneTextNode" styleLbl="node0">
            <dgm:varLst>
              <dgm:chPref val="3"/>
            </dgm:varLst>
            <dgm:alg type="tx">
              <dgm:param type="autoTxRot" val="grav"/>
            </dgm:alg>
            <dgm:choose name="Name9">
              <dgm:if name="Name10" func="var" arg="dir" op="equ" val="norm">
                <dgm:shape xmlns:r="http://schemas.openxmlformats.org/officeDocument/2006/relationships" rot="270" type="rect" r:blip="">
                  <dgm:adjLst/>
                </dgm:shape>
              </dgm:if>
              <dgm:else name="Name11">
                <dgm:shape xmlns:r="http://schemas.openxmlformats.org/officeDocument/2006/relationships" rot="90" type="rect" r:blip="">
                  <dgm:adjLst/>
                </dgm:shape>
              </dgm:else>
            </dgm:choose>
            <dgm:presOf axis="self"/>
            <dgm:constrLst>
              <dgm:constr type="tMarg" refType="primFontSz" fact="0.05"/>
              <dgm:constr type="bMarg" refType="primFontSz" fact="0.05"/>
              <dgm:constr type="lMarg" refType="primFontSz" fact="0.05"/>
              <dgm:constr type="rMarg" refType="primFontSz" fact="0.05"/>
            </dgm:constrLst>
            <dgm:ruleLst>
              <dgm:rule type="primFontSz" val="2" fact="NaN" max="NaN"/>
            </dgm:ruleLst>
          </dgm:layoutNode>
          <dgm:layoutNode name="level2hierChild">
            <dgm:choose name="Name12">
              <dgm:if name="Name13" func="var" arg="dir" op="equ" val="norm">
                <dgm:alg type="hierChild">
                  <dgm:param type="linDir" val="fromT"/>
                  <dgm:param type="chAlign" val="l"/>
                </dgm:alg>
              </dgm:if>
              <dgm:else name="Name14">
                <dgm:alg type="hierChild">
                  <dgm:param type="linDir" val="fromT"/>
                  <dgm:param type="chAlign" val="r"/>
                </dgm:alg>
              </dgm:else>
            </dgm:choose>
            <dgm:shape xmlns:r="http://schemas.openxmlformats.org/officeDocument/2006/relationships" r:blip="">
              <dgm:adjLst/>
            </dgm:shape>
            <dgm:presOf/>
            <dgm:forEach name="repeat" axis="ch">
              <dgm:forEach name="Name15" axis="self" ptType="parTrans" cnt="1">
                <dgm:layoutNode name="conn2-1">
                  <dgm:choose name="Name16">
                    <dgm:if name="Name17" func="var" arg="dir" op="equ" val="norm">
                      <dgm:alg type="conn">
                        <dgm:param type="dim" val="1D"/>
                        <dgm:param type="begPts" val="midR"/>
                        <dgm:param type="endPts" val="midL"/>
                        <dgm:param type="endSty" val="noArr"/>
                        <dgm:param type="connRout" val="bend"/>
                      </dgm:alg>
                    </dgm:if>
                    <dgm:else name="Name18">
                      <dgm:alg type="conn">
                        <dgm:param type="dim" val="1D"/>
                        <dgm:param type="begPts" val="midL"/>
                        <dgm:param type="endPts" val="midR"/>
                        <dgm:param type="endSty" val="noArr"/>
                        <dgm:param type="connRout" val="bend"/>
                      </dgm:alg>
                    </dgm:else>
                  </dgm:choose>
                  <dgm:shape xmlns:r="http://schemas.openxmlformats.org/officeDocument/2006/relationships" type="conn" r:blip="" zOrderOff="-99999">
                    <dgm:adjLst/>
                  </dgm:shape>
                  <dgm:presOf axis="self"/>
                  <dgm:constrLst>
                    <dgm:constr type="w" val="1"/>
                    <dgm:constr type="h" val="5"/>
                    <dgm:constr type="connDist"/>
                    <dgm:constr type="begPad"/>
                    <dgm:constr type="endPad"/>
                    <dgm:constr type="userA" for="ch" refType="connDist"/>
                  </dgm:constrLst>
                  <dgm:layoutNode name="connTx">
                    <dgm:alg type="tx">
                      <dgm:param type="autoTxRot" val="grav"/>
                    </dgm:alg>
                    <dgm:shape xmlns:r="http://schemas.openxmlformats.org/officeDocument/2006/relationships" type="rect" r:blip="" hideGeom="1">
                      <dgm:adjLst/>
                    </dgm:shape>
                    <dgm:presOf axis="self"/>
                    <dgm:constrLst>
                      <dgm:constr type="userA"/>
                      <dgm:constr type="w" refType="userA" fact="0.05"/>
                      <dgm:constr type="h" refType="userA" fact="0.05"/>
                      <dgm:constr type="lMarg" val="1"/>
                      <dgm:constr type="rMarg" val="1"/>
                      <dgm:constr type="tMarg"/>
                      <dgm:constr type="bMarg"/>
                    </dgm:constrLst>
                    <dgm:ruleLst>
                      <dgm:rule type="h" val="NaN" fact="0.25" max="NaN"/>
                      <dgm:rule type="w" val="NaN" fact="0.8" max="NaN"/>
                      <dgm:rule type="primFontSz" val="5" fact="NaN" max="NaN"/>
                    </dgm:ruleLst>
                  </dgm:layoutNode>
                </dgm:layoutNode>
              </dgm:forEach>
              <dgm:forEach name="Name19" axis="self" ptType="node">
                <dgm:layoutNode name="root2">
                  <dgm:choose name="Name20">
                    <dgm:if name="Name21" func="var" arg="dir" op="equ" val="norm">
                      <dgm:alg type="hierRoot">
                        <dgm:param type="hierAlign" val="lCtrCh"/>
                      </dgm:alg>
                    </dgm:if>
                    <dgm:else name="Name22">
                      <dgm:alg type="hierRoot">
                        <dgm:param type="hierAlign" val="rCtrCh"/>
                      </dgm:alg>
                    </dgm:else>
                  </dgm:choose>
                  <dgm:shape xmlns:r="http://schemas.openxmlformats.org/officeDocument/2006/relationships" r:blip="">
                    <dgm:adjLst/>
                  </dgm:shape>
                  <dgm:presOf/>
                  <dgm:layoutNode name="LevelTwoTextNode">
                    <dgm:varLst>
                      <dgm:chPref val="3"/>
                    </dgm:varLst>
                    <dgm:alg type="tx"/>
                    <dgm:shape xmlns:r="http://schemas.openxmlformats.org/officeDocument/2006/relationships" type="rect" r:blip="">
                      <dgm:adjLst/>
                    </dgm:shape>
                    <dgm:presOf axis="self"/>
                    <dgm:constrLst>
                      <dgm:constr type="tMarg" refType="primFontSz" fact="0.05"/>
                      <dgm:constr type="bMarg" refType="primFontSz" fact="0.05"/>
                      <dgm:constr type="lMarg" refType="primFontSz" fact="0.05"/>
                      <dgm:constr type="rMarg" refType="primFontSz" fact="0.05"/>
                    </dgm:constrLst>
                    <dgm:ruleLst>
                      <dgm:rule type="primFontSz" val="2" fact="NaN" max="NaN"/>
                    </dgm:ruleLst>
                  </dgm:layoutNode>
                  <dgm:layoutNode name="level3hierChild">
                    <dgm:choose name="Name23">
                      <dgm:if name="Name24" func="var" arg="dir" op="equ" val="norm">
                        <dgm:alg type="hierChild">
                          <dgm:param type="linDir" val="fromT"/>
                          <dgm:param type="chAlign" val="l"/>
                        </dgm:alg>
                      </dgm:if>
                      <dgm:else name="Name25">
                        <dgm:alg type="hierChild">
                          <dgm:param type="linDir" val="fromT"/>
                          <dgm:param type="chAlign" val="r"/>
                        </dgm:alg>
                      </dgm:else>
                    </dgm:choose>
                    <dgm:shape xmlns:r="http://schemas.openxmlformats.org/officeDocument/2006/relationships" r:blip="">
                      <dgm:adjLst/>
                    </dgm:shape>
                    <dgm:presOf/>
                    <dgm:forEach name="Name26" ref="repeat"/>
                  </dgm:layoutNode>
                </dgm:layoutNode>
              </dgm:forEach>
            </dgm:forEach>
          </dgm:layoutNode>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encabezado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s-PE"/>
          </a:p>
        </p:txBody>
      </p:sp>
      <p:sp>
        <p:nvSpPr>
          <p:cNvPr id="3" name="Marcador de fecha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B12CC21B-72C9-4C61-81DB-E17CA2A25ED4}" type="datetimeFigureOut">
              <a:rPr lang="es-PE" smtClean="0"/>
              <a:t>30/11/2015</a:t>
            </a:fld>
            <a:endParaRPr lang="es-PE"/>
          </a:p>
        </p:txBody>
      </p:sp>
      <p:sp>
        <p:nvSpPr>
          <p:cNvPr id="4" name="Marcador de imagen de diapositiva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s-PE"/>
          </a:p>
        </p:txBody>
      </p:sp>
      <p:sp>
        <p:nvSpPr>
          <p:cNvPr id="5" name="Marcador de nota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s-ES" smtClean="0"/>
              <a:t>Haga clic para modificar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s-PE"/>
          </a:p>
        </p:txBody>
      </p:sp>
      <p:sp>
        <p:nvSpPr>
          <p:cNvPr id="6" name="Marcador de pie de página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s-PE"/>
          </a:p>
        </p:txBody>
      </p:sp>
      <p:sp>
        <p:nvSpPr>
          <p:cNvPr id="7" name="Marcador de número de diapositiva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8C605B3-4E61-43AE-ACEF-E4F007E9E1DF}" type="slidenum">
              <a:rPr lang="es-PE" smtClean="0"/>
              <a:t>‹Nº›</a:t>
            </a:fld>
            <a:endParaRPr lang="es-PE"/>
          </a:p>
        </p:txBody>
      </p:sp>
    </p:spTree>
    <p:extLst>
      <p:ext uri="{BB962C8B-B14F-4D97-AF65-F5344CB8AC3E}">
        <p14:creationId xmlns:p14="http://schemas.microsoft.com/office/powerpoint/2010/main" val="57796641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s-PE" dirty="0" smtClean="0"/>
              <a:t>Debido al tipo de método permite sólo </a:t>
            </a:r>
            <a:r>
              <a:rPr lang="es-PE" dirty="0" smtClean="0">
                <a:solidFill>
                  <a:srgbClr val="FF0000"/>
                </a:solidFill>
              </a:rPr>
              <a:t>determinar líquidos de baja viscosidad</a:t>
            </a:r>
            <a:r>
              <a:rPr lang="es-PE" dirty="0" smtClean="0"/>
              <a:t>, puesto que si su viscosidad es demasiado alta, el líquido no podrá pasar a través de las boquillas.</a:t>
            </a:r>
          </a:p>
          <a:p>
            <a:r>
              <a:rPr lang="es-PE" sz="1200" kern="1200" dirty="0" smtClean="0">
                <a:solidFill>
                  <a:schemeClr val="tx1"/>
                </a:solidFill>
                <a:effectLst/>
                <a:latin typeface="+mn-lt"/>
                <a:ea typeface="+mn-ea"/>
                <a:cs typeface="+mn-cs"/>
              </a:rPr>
              <a:t>Por lo tanto, para los líquidos con comportamiento newtoniano este viscosímetro de copa proporciona los resultados más precisos.</a:t>
            </a:r>
          </a:p>
          <a:p>
            <a:r>
              <a:rPr lang="es-PE" sz="1200" kern="1200" dirty="0" smtClean="0">
                <a:solidFill>
                  <a:schemeClr val="tx1"/>
                </a:solidFill>
                <a:effectLst/>
                <a:latin typeface="+mn-lt"/>
                <a:ea typeface="+mn-ea"/>
                <a:cs typeface="+mn-cs"/>
              </a:rPr>
              <a:t>Basándose en el volumen de flujo y el tiempo medido, que el líquido necesita para pasar por las boquillas de la copa, se determina la viscosidad</a:t>
            </a:r>
            <a:endParaRPr lang="es-ES" dirty="0"/>
          </a:p>
        </p:txBody>
      </p:sp>
      <p:sp>
        <p:nvSpPr>
          <p:cNvPr id="4" name="Marcador de número de diapositiva 3"/>
          <p:cNvSpPr>
            <a:spLocks noGrp="1"/>
          </p:cNvSpPr>
          <p:nvPr>
            <p:ph type="sldNum" sz="quarter" idx="10"/>
          </p:nvPr>
        </p:nvSpPr>
        <p:spPr/>
        <p:txBody>
          <a:bodyPr/>
          <a:lstStyle/>
          <a:p>
            <a:fld id="{0D2052A8-11A5-4867-9DBA-4602D43350C8}" type="slidenum">
              <a:rPr lang="es-ES" smtClean="0"/>
              <a:t>43</a:t>
            </a:fld>
            <a:endParaRPr lang="es-ES"/>
          </a:p>
        </p:txBody>
      </p:sp>
    </p:spTree>
    <p:extLst>
      <p:ext uri="{BB962C8B-B14F-4D97-AF65-F5344CB8AC3E}">
        <p14:creationId xmlns:p14="http://schemas.microsoft.com/office/powerpoint/2010/main" val="250654576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r>
              <a:rPr lang="es-PE" sz="1200" kern="1200" dirty="0" smtClean="0">
                <a:solidFill>
                  <a:schemeClr val="tx1"/>
                </a:solidFill>
                <a:effectLst/>
                <a:latin typeface="+mn-lt"/>
                <a:ea typeface="+mn-ea"/>
                <a:cs typeface="+mn-cs"/>
              </a:rPr>
              <a:t>. El sensor de temperatura garantiza que los ensayos tengan la temperatura correcta.</a:t>
            </a:r>
          </a:p>
          <a:p>
            <a:r>
              <a:rPr lang="es-PE" sz="1200" kern="1200" dirty="0" smtClean="0">
                <a:solidFill>
                  <a:schemeClr val="tx1"/>
                </a:solidFill>
                <a:effectLst/>
                <a:latin typeface="+mn-lt"/>
                <a:ea typeface="+mn-ea"/>
                <a:cs typeface="+mn-cs"/>
              </a:rPr>
              <a:t>La interfaz del viscosímetro Krebs permite conectar una impresora para documentar todos las mediciones.</a:t>
            </a:r>
          </a:p>
          <a:p>
            <a:endParaRPr lang="es-ES" dirty="0"/>
          </a:p>
        </p:txBody>
      </p:sp>
      <p:sp>
        <p:nvSpPr>
          <p:cNvPr id="4" name="Marcador de número de diapositiva 3"/>
          <p:cNvSpPr>
            <a:spLocks noGrp="1"/>
          </p:cNvSpPr>
          <p:nvPr>
            <p:ph type="sldNum" sz="quarter" idx="10"/>
          </p:nvPr>
        </p:nvSpPr>
        <p:spPr/>
        <p:txBody>
          <a:bodyPr/>
          <a:lstStyle/>
          <a:p>
            <a:fld id="{0D2052A8-11A5-4867-9DBA-4602D43350C8}" type="slidenum">
              <a:rPr lang="es-ES" smtClean="0"/>
              <a:t>46</a:t>
            </a:fld>
            <a:endParaRPr lang="es-ES"/>
          </a:p>
        </p:txBody>
      </p:sp>
    </p:spTree>
    <p:extLst>
      <p:ext uri="{BB962C8B-B14F-4D97-AF65-F5344CB8AC3E}">
        <p14:creationId xmlns:p14="http://schemas.microsoft.com/office/powerpoint/2010/main" val="245955419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r>
              <a:rPr lang="es-PE" sz="1200" kern="1200" dirty="0" smtClean="0">
                <a:solidFill>
                  <a:schemeClr val="tx1"/>
                </a:solidFill>
                <a:effectLst/>
                <a:latin typeface="+mn-lt"/>
                <a:ea typeface="+mn-ea"/>
                <a:cs typeface="+mn-cs"/>
              </a:rPr>
              <a:t>la viscosidad se calcula por el número de husillos y la velocidad.    DISEÑO ERGONOMICO Y USO FACIL.</a:t>
            </a:r>
          </a:p>
          <a:p>
            <a:r>
              <a:rPr lang="es-PE" sz="1200" kern="1200" dirty="0" smtClean="0">
                <a:solidFill>
                  <a:schemeClr val="tx1"/>
                </a:solidFill>
                <a:effectLst/>
                <a:latin typeface="+mn-lt"/>
                <a:ea typeface="+mn-ea"/>
                <a:cs typeface="+mn-cs"/>
              </a:rPr>
              <a:t>Te entrega una cantidad</a:t>
            </a:r>
            <a:r>
              <a:rPr lang="es-PE" sz="1200" kern="1200" baseline="0" dirty="0" smtClean="0">
                <a:solidFill>
                  <a:schemeClr val="tx1"/>
                </a:solidFill>
                <a:effectLst/>
                <a:latin typeface="+mn-lt"/>
                <a:ea typeface="+mn-ea"/>
                <a:cs typeface="+mn-cs"/>
              </a:rPr>
              <a:t> fija de revoluciones, solo es necesario escoger el husillo adecuado.</a:t>
            </a:r>
            <a:endParaRPr lang="es-PE" sz="1200" kern="1200" dirty="0" smtClean="0">
              <a:solidFill>
                <a:schemeClr val="tx1"/>
              </a:solidFill>
              <a:effectLst/>
              <a:latin typeface="+mn-lt"/>
              <a:ea typeface="+mn-ea"/>
              <a:cs typeface="+mn-cs"/>
            </a:endParaRPr>
          </a:p>
          <a:p>
            <a:r>
              <a:rPr lang="es-PE" sz="1200" kern="1200" dirty="0" smtClean="0">
                <a:solidFill>
                  <a:schemeClr val="tx1"/>
                </a:solidFill>
                <a:effectLst/>
                <a:latin typeface="+mn-lt"/>
                <a:ea typeface="+mn-ea"/>
                <a:cs typeface="+mn-cs"/>
              </a:rPr>
              <a:t>se indican la velocidad (rpm), el tipo de husillo (R1-R7) y la parte de oscilación completa. Alimentado por baterías, el viscosímetro móvil PCE-RVI 3 proporciona resultados de medición exactos durante 24h</a:t>
            </a:r>
          </a:p>
          <a:p>
            <a:r>
              <a:rPr lang="es-PE" sz="1200" b="1" kern="1200" dirty="0" smtClean="0">
                <a:solidFill>
                  <a:schemeClr val="tx1"/>
                </a:solidFill>
                <a:effectLst/>
                <a:latin typeface="+mn-lt"/>
                <a:ea typeface="+mn-ea"/>
                <a:cs typeface="+mn-cs"/>
              </a:rPr>
              <a:t>Este</a:t>
            </a:r>
            <a:r>
              <a:rPr lang="es-PE" sz="1200" b="1" kern="1200" baseline="0" dirty="0" smtClean="0">
                <a:solidFill>
                  <a:schemeClr val="tx1"/>
                </a:solidFill>
                <a:effectLst/>
                <a:latin typeface="+mn-lt"/>
                <a:ea typeface="+mn-ea"/>
                <a:cs typeface="+mn-cs"/>
              </a:rPr>
              <a:t> equipo se usa cuando se requiere </a:t>
            </a:r>
            <a:r>
              <a:rPr lang="es-PE" sz="1200" kern="1200" dirty="0" smtClean="0">
                <a:solidFill>
                  <a:schemeClr val="tx1"/>
                </a:solidFill>
                <a:effectLst/>
                <a:latin typeface="+mn-lt"/>
                <a:ea typeface="+mn-ea"/>
                <a:cs typeface="+mn-cs"/>
              </a:rPr>
              <a:t>determinar valores de viscosidad de modo rápido </a:t>
            </a:r>
            <a:r>
              <a:rPr lang="es-PE" sz="1200" kern="1200" smtClean="0">
                <a:solidFill>
                  <a:schemeClr val="tx1"/>
                </a:solidFill>
                <a:effectLst/>
                <a:latin typeface="+mn-lt"/>
                <a:ea typeface="+mn-ea"/>
                <a:cs typeface="+mn-cs"/>
              </a:rPr>
              <a:t>y fiable.</a:t>
            </a:r>
            <a:endParaRPr lang="es-ES" b="1" dirty="0"/>
          </a:p>
        </p:txBody>
      </p:sp>
      <p:sp>
        <p:nvSpPr>
          <p:cNvPr id="4" name="Marcador de número de diapositiva 3"/>
          <p:cNvSpPr>
            <a:spLocks noGrp="1"/>
          </p:cNvSpPr>
          <p:nvPr>
            <p:ph type="sldNum" sz="quarter" idx="10"/>
          </p:nvPr>
        </p:nvSpPr>
        <p:spPr/>
        <p:txBody>
          <a:bodyPr/>
          <a:lstStyle/>
          <a:p>
            <a:fld id="{0D2052A8-11A5-4867-9DBA-4602D43350C8}" type="slidenum">
              <a:rPr lang="es-ES" smtClean="0"/>
              <a:t>47</a:t>
            </a:fld>
            <a:endParaRPr lang="es-ES"/>
          </a:p>
        </p:txBody>
      </p:sp>
    </p:spTree>
    <p:extLst>
      <p:ext uri="{BB962C8B-B14F-4D97-AF65-F5344CB8AC3E}">
        <p14:creationId xmlns:p14="http://schemas.microsoft.com/office/powerpoint/2010/main" val="191113826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a de título">
    <p:spTree>
      <p:nvGrpSpPr>
        <p:cNvPr id="1" name=""/>
        <p:cNvGrpSpPr/>
        <p:nvPr/>
      </p:nvGrpSpPr>
      <p:grpSpPr>
        <a:xfrm>
          <a:off x="0" y="0"/>
          <a:ext cx="0" cy="0"/>
          <a:chOff x="0" y="0"/>
          <a:chExt cx="0" cy="0"/>
        </a:xfrm>
      </p:grpSpPr>
      <p:sp>
        <p:nvSpPr>
          <p:cNvPr id="2" name="Title 1"/>
          <p:cNvSpPr>
            <a:spLocks noGrp="1"/>
          </p:cNvSpPr>
          <p:nvPr>
            <p:ph type="ctrTitle"/>
          </p:nvPr>
        </p:nvSpPr>
        <p:spPr>
          <a:xfrm>
            <a:off x="1154955" y="1447800"/>
            <a:ext cx="8825658" cy="3329581"/>
          </a:xfrm>
        </p:spPr>
        <p:txBody>
          <a:bodyPr anchor="b"/>
          <a:lstStyle>
            <a:lvl1pPr>
              <a:defRPr sz="7200"/>
            </a:lvl1pPr>
          </a:lstStyle>
          <a:p>
            <a:r>
              <a:rPr lang="es-ES" smtClean="0"/>
              <a:t>Haga clic para modificar el estilo de título del patrón</a:t>
            </a:r>
            <a:endParaRPr lang="en-US" dirty="0"/>
          </a:p>
        </p:txBody>
      </p:sp>
      <p:sp>
        <p:nvSpPr>
          <p:cNvPr id="3" name="Subtitle 2"/>
          <p:cNvSpPr>
            <a:spLocks noGrp="1"/>
          </p:cNvSpPr>
          <p:nvPr>
            <p:ph type="subTitle" idx="1"/>
          </p:nvPr>
        </p:nvSpPr>
        <p:spPr>
          <a:xfrm>
            <a:off x="1154955" y="4777380"/>
            <a:ext cx="8825658" cy="861420"/>
          </a:xfrm>
        </p:spPr>
        <p:txBody>
          <a:bodyPr anchor="t"/>
          <a:lstStyle>
            <a:lvl1pPr marL="0" indent="0" algn="l">
              <a:buNone/>
              <a:defRPr cap="all">
                <a:solidFill>
                  <a:schemeClr val="accent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s-ES" smtClean="0"/>
              <a:t>Haga clic para modificar el estilo de subtítulo del patrón</a:t>
            </a:r>
            <a:endParaRPr lang="en-US" dirty="0"/>
          </a:p>
        </p:txBody>
      </p:sp>
      <p:sp>
        <p:nvSpPr>
          <p:cNvPr id="4" name="Date Placeholder 3"/>
          <p:cNvSpPr>
            <a:spLocks noGrp="1"/>
          </p:cNvSpPr>
          <p:nvPr>
            <p:ph type="dt" sz="half" idx="10"/>
          </p:nvPr>
        </p:nvSpPr>
        <p:spPr/>
        <p:txBody>
          <a:bodyPr/>
          <a:lstStyle/>
          <a:p>
            <a:fld id="{6F579CEF-6068-4F0E-82DE-019DD24B6433}" type="datetimeFigureOut">
              <a:rPr lang="es-PE" smtClean="0"/>
              <a:t>30/11/2015</a:t>
            </a:fld>
            <a:endParaRPr lang="es-PE"/>
          </a:p>
        </p:txBody>
      </p:sp>
      <p:sp>
        <p:nvSpPr>
          <p:cNvPr id="5" name="Footer Placeholder 4"/>
          <p:cNvSpPr>
            <a:spLocks noGrp="1"/>
          </p:cNvSpPr>
          <p:nvPr>
            <p:ph type="ftr" sz="quarter" idx="11"/>
          </p:nvPr>
        </p:nvSpPr>
        <p:spPr/>
        <p:txBody>
          <a:bodyPr/>
          <a:lstStyle/>
          <a:p>
            <a:endParaRPr lang="es-PE"/>
          </a:p>
        </p:txBody>
      </p:sp>
      <p:sp>
        <p:nvSpPr>
          <p:cNvPr id="6" name="Slide Number Placeholder 5"/>
          <p:cNvSpPr>
            <a:spLocks noGrp="1"/>
          </p:cNvSpPr>
          <p:nvPr>
            <p:ph type="sldNum" sz="quarter" idx="12"/>
          </p:nvPr>
        </p:nvSpPr>
        <p:spPr/>
        <p:txBody>
          <a:bodyPr/>
          <a:lstStyle/>
          <a:p>
            <a:fld id="{DA8069C0-214C-4A4F-A48A-033E203F2B34}" type="slidenum">
              <a:rPr lang="es-PE" smtClean="0"/>
              <a:t>‹Nº›</a:t>
            </a:fld>
            <a:endParaRPr lang="es-PE"/>
          </a:p>
        </p:txBody>
      </p:sp>
    </p:spTree>
    <p:extLst>
      <p:ext uri="{BB962C8B-B14F-4D97-AF65-F5344CB8AC3E}">
        <p14:creationId xmlns:p14="http://schemas.microsoft.com/office/powerpoint/2010/main" val="147569397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smtClean="0"/>
              <a:t>Haga clic para modificar el estilo de título del patrón</a:t>
            </a:r>
            <a:endParaRPr lang="en-US" dirty="0"/>
          </a:p>
        </p:txBody>
      </p:sp>
      <p:sp>
        <p:nvSpPr>
          <p:cNvPr id="3" name="Content Placeholder 2"/>
          <p:cNvSpPr>
            <a:spLocks noGrp="1"/>
          </p:cNvSpPr>
          <p:nvPr>
            <p:ph idx="1"/>
          </p:nvPr>
        </p:nvSpPr>
        <p:spPr/>
        <p:txBody>
          <a:bodyPr/>
          <a:lstStyle/>
          <a:p>
            <a:pPr lvl="0"/>
            <a:r>
              <a:rPr lang="es-ES" smtClean="0"/>
              <a:t>Haga clic para modificar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n-US" dirty="0"/>
          </a:p>
        </p:txBody>
      </p:sp>
      <p:sp>
        <p:nvSpPr>
          <p:cNvPr id="7" name="Date Placeholder 6"/>
          <p:cNvSpPr>
            <a:spLocks noGrp="1"/>
          </p:cNvSpPr>
          <p:nvPr>
            <p:ph type="dt" sz="half" idx="10"/>
          </p:nvPr>
        </p:nvSpPr>
        <p:spPr/>
        <p:txBody>
          <a:bodyPr/>
          <a:lstStyle/>
          <a:p>
            <a:fld id="{6F579CEF-6068-4F0E-82DE-019DD24B6433}" type="datetimeFigureOut">
              <a:rPr lang="es-PE" smtClean="0"/>
              <a:t>30/11/2015</a:t>
            </a:fld>
            <a:endParaRPr lang="es-PE"/>
          </a:p>
        </p:txBody>
      </p:sp>
      <p:sp>
        <p:nvSpPr>
          <p:cNvPr id="5" name="Footer Placeholder 4"/>
          <p:cNvSpPr>
            <a:spLocks noGrp="1"/>
          </p:cNvSpPr>
          <p:nvPr>
            <p:ph type="ftr" sz="quarter" idx="11"/>
          </p:nvPr>
        </p:nvSpPr>
        <p:spPr/>
        <p:txBody>
          <a:bodyPr/>
          <a:lstStyle/>
          <a:p>
            <a:endParaRPr lang="es-PE"/>
          </a:p>
        </p:txBody>
      </p:sp>
      <p:sp>
        <p:nvSpPr>
          <p:cNvPr id="6" name="Slide Number Placeholder 5"/>
          <p:cNvSpPr>
            <a:spLocks noGrp="1"/>
          </p:cNvSpPr>
          <p:nvPr>
            <p:ph type="sldNum" sz="quarter" idx="12"/>
          </p:nvPr>
        </p:nvSpPr>
        <p:spPr/>
        <p:txBody>
          <a:bodyPr/>
          <a:lstStyle/>
          <a:p>
            <a:fld id="{DA8069C0-214C-4A4F-A48A-033E203F2B34}" type="slidenum">
              <a:rPr lang="es-PE" smtClean="0"/>
              <a:t>‹Nº›</a:t>
            </a:fld>
            <a:endParaRPr lang="es-PE"/>
          </a:p>
        </p:txBody>
      </p:sp>
    </p:spTree>
    <p:extLst>
      <p:ext uri="{BB962C8B-B14F-4D97-AF65-F5344CB8AC3E}">
        <p14:creationId xmlns:p14="http://schemas.microsoft.com/office/powerpoint/2010/main" val="398293784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Encabezado de sección">
    <p:spTree>
      <p:nvGrpSpPr>
        <p:cNvPr id="1" name=""/>
        <p:cNvGrpSpPr/>
        <p:nvPr/>
      </p:nvGrpSpPr>
      <p:grpSpPr>
        <a:xfrm>
          <a:off x="0" y="0"/>
          <a:ext cx="0" cy="0"/>
          <a:chOff x="0" y="0"/>
          <a:chExt cx="0" cy="0"/>
        </a:xfrm>
      </p:grpSpPr>
      <p:sp>
        <p:nvSpPr>
          <p:cNvPr id="2" name="Title 1"/>
          <p:cNvSpPr>
            <a:spLocks noGrp="1"/>
          </p:cNvSpPr>
          <p:nvPr>
            <p:ph type="title"/>
          </p:nvPr>
        </p:nvSpPr>
        <p:spPr>
          <a:xfrm>
            <a:off x="1154956" y="2861733"/>
            <a:ext cx="8825657" cy="1915647"/>
          </a:xfrm>
        </p:spPr>
        <p:txBody>
          <a:bodyPr anchor="b"/>
          <a:lstStyle>
            <a:lvl1pPr algn="l">
              <a:defRPr sz="4000" b="0" cap="none"/>
            </a:lvl1pPr>
          </a:lstStyle>
          <a:p>
            <a:r>
              <a:rPr lang="es-ES" smtClean="0"/>
              <a:t>Haga clic para modificar el estilo de título del patrón</a:t>
            </a:r>
            <a:endParaRPr lang="en-US" dirty="0"/>
          </a:p>
        </p:txBody>
      </p:sp>
      <p:sp>
        <p:nvSpPr>
          <p:cNvPr id="3" name="Text Placeholder 2"/>
          <p:cNvSpPr>
            <a:spLocks noGrp="1"/>
          </p:cNvSpPr>
          <p:nvPr>
            <p:ph type="body" idx="1"/>
          </p:nvPr>
        </p:nvSpPr>
        <p:spPr>
          <a:xfrm>
            <a:off x="1154955" y="4777381"/>
            <a:ext cx="8825658" cy="860400"/>
          </a:xfrm>
        </p:spPr>
        <p:txBody>
          <a:bodyPr anchor="t"/>
          <a:lstStyle>
            <a:lvl1pPr marL="0" indent="0" algn="l">
              <a:buNone/>
              <a:defRPr sz="2000" cap="all">
                <a:solidFill>
                  <a:schemeClr val="accent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s-ES" smtClean="0"/>
              <a:t>Haga clic para modificar el estilo de texto del patrón</a:t>
            </a:r>
          </a:p>
        </p:txBody>
      </p:sp>
      <p:sp>
        <p:nvSpPr>
          <p:cNvPr id="4" name="Date Placeholder 3"/>
          <p:cNvSpPr>
            <a:spLocks noGrp="1"/>
          </p:cNvSpPr>
          <p:nvPr>
            <p:ph type="dt" sz="half" idx="10"/>
          </p:nvPr>
        </p:nvSpPr>
        <p:spPr/>
        <p:txBody>
          <a:bodyPr/>
          <a:lstStyle/>
          <a:p>
            <a:fld id="{6F579CEF-6068-4F0E-82DE-019DD24B6433}" type="datetimeFigureOut">
              <a:rPr lang="es-PE" smtClean="0"/>
              <a:t>30/11/2015</a:t>
            </a:fld>
            <a:endParaRPr lang="es-PE"/>
          </a:p>
        </p:txBody>
      </p:sp>
      <p:sp>
        <p:nvSpPr>
          <p:cNvPr id="5" name="Footer Placeholder 4"/>
          <p:cNvSpPr>
            <a:spLocks noGrp="1"/>
          </p:cNvSpPr>
          <p:nvPr>
            <p:ph type="ftr" sz="quarter" idx="11"/>
          </p:nvPr>
        </p:nvSpPr>
        <p:spPr/>
        <p:txBody>
          <a:bodyPr/>
          <a:lstStyle/>
          <a:p>
            <a:endParaRPr lang="es-PE"/>
          </a:p>
        </p:txBody>
      </p:sp>
      <p:sp>
        <p:nvSpPr>
          <p:cNvPr id="6" name="Slide Number Placeholder 5"/>
          <p:cNvSpPr>
            <a:spLocks noGrp="1"/>
          </p:cNvSpPr>
          <p:nvPr>
            <p:ph type="sldNum" sz="quarter" idx="12"/>
          </p:nvPr>
        </p:nvSpPr>
        <p:spPr/>
        <p:txBody>
          <a:bodyPr/>
          <a:lstStyle/>
          <a:p>
            <a:fld id="{DA8069C0-214C-4A4F-A48A-033E203F2B34}" type="slidenum">
              <a:rPr lang="es-PE" smtClean="0"/>
              <a:t>‹Nº›</a:t>
            </a:fld>
            <a:endParaRPr lang="es-PE"/>
          </a:p>
        </p:txBody>
      </p:sp>
    </p:spTree>
    <p:extLst>
      <p:ext uri="{BB962C8B-B14F-4D97-AF65-F5344CB8AC3E}">
        <p14:creationId xmlns:p14="http://schemas.microsoft.com/office/powerpoint/2010/main" val="337034792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smtClean="0"/>
              <a:t>Haga clic para modificar el estilo de título del patrón</a:t>
            </a:r>
            <a:endParaRPr lang="en-US" dirty="0"/>
          </a:p>
        </p:txBody>
      </p:sp>
      <p:sp>
        <p:nvSpPr>
          <p:cNvPr id="3" name="Content Placeholder 2"/>
          <p:cNvSpPr>
            <a:spLocks noGrp="1"/>
          </p:cNvSpPr>
          <p:nvPr>
            <p:ph sz="half" idx="1"/>
          </p:nvPr>
        </p:nvSpPr>
        <p:spPr>
          <a:xfrm>
            <a:off x="1103312" y="2060575"/>
            <a:ext cx="4396339" cy="4195763"/>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s-ES" smtClean="0"/>
              <a:t>Haga clic para modificar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n-US" dirty="0"/>
          </a:p>
        </p:txBody>
      </p:sp>
      <p:sp>
        <p:nvSpPr>
          <p:cNvPr id="4" name="Content Placeholder 3"/>
          <p:cNvSpPr>
            <a:spLocks noGrp="1"/>
          </p:cNvSpPr>
          <p:nvPr>
            <p:ph sz="half" idx="2"/>
          </p:nvPr>
        </p:nvSpPr>
        <p:spPr>
          <a:xfrm>
            <a:off x="5654493" y="2056092"/>
            <a:ext cx="4396341" cy="4200245"/>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s-ES" smtClean="0"/>
              <a:t>Haga clic para modificar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n-US" dirty="0"/>
          </a:p>
        </p:txBody>
      </p:sp>
      <p:sp>
        <p:nvSpPr>
          <p:cNvPr id="5" name="Date Placeholder 4"/>
          <p:cNvSpPr>
            <a:spLocks noGrp="1"/>
          </p:cNvSpPr>
          <p:nvPr>
            <p:ph type="dt" sz="half" idx="10"/>
          </p:nvPr>
        </p:nvSpPr>
        <p:spPr/>
        <p:txBody>
          <a:bodyPr/>
          <a:lstStyle/>
          <a:p>
            <a:fld id="{6F579CEF-6068-4F0E-82DE-019DD24B6433}" type="datetimeFigureOut">
              <a:rPr lang="es-PE" smtClean="0"/>
              <a:t>30/11/2015</a:t>
            </a:fld>
            <a:endParaRPr lang="es-PE"/>
          </a:p>
        </p:txBody>
      </p:sp>
      <p:sp>
        <p:nvSpPr>
          <p:cNvPr id="6" name="Footer Placeholder 5"/>
          <p:cNvSpPr>
            <a:spLocks noGrp="1"/>
          </p:cNvSpPr>
          <p:nvPr>
            <p:ph type="ftr" sz="quarter" idx="11"/>
          </p:nvPr>
        </p:nvSpPr>
        <p:spPr/>
        <p:txBody>
          <a:bodyPr/>
          <a:lstStyle/>
          <a:p>
            <a:endParaRPr lang="es-PE"/>
          </a:p>
        </p:txBody>
      </p:sp>
      <p:sp>
        <p:nvSpPr>
          <p:cNvPr id="7" name="Slide Number Placeholder 6"/>
          <p:cNvSpPr>
            <a:spLocks noGrp="1"/>
          </p:cNvSpPr>
          <p:nvPr>
            <p:ph type="sldNum" sz="quarter" idx="12"/>
          </p:nvPr>
        </p:nvSpPr>
        <p:spPr/>
        <p:txBody>
          <a:bodyPr/>
          <a:lstStyle/>
          <a:p>
            <a:fld id="{DA8069C0-214C-4A4F-A48A-033E203F2B34}" type="slidenum">
              <a:rPr lang="es-PE" smtClean="0"/>
              <a:t>‹Nº›</a:t>
            </a:fld>
            <a:endParaRPr lang="es-PE"/>
          </a:p>
        </p:txBody>
      </p:sp>
    </p:spTree>
    <p:extLst>
      <p:ext uri="{BB962C8B-B14F-4D97-AF65-F5344CB8AC3E}">
        <p14:creationId xmlns:p14="http://schemas.microsoft.com/office/powerpoint/2010/main" val="330792758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s-ES" smtClean="0"/>
              <a:t>Haga clic para modificar el estilo de título del patrón</a:t>
            </a:r>
            <a:endParaRPr lang="en-US" dirty="0"/>
          </a:p>
        </p:txBody>
      </p:sp>
      <p:sp>
        <p:nvSpPr>
          <p:cNvPr id="3" name="Text Placeholder 2"/>
          <p:cNvSpPr>
            <a:spLocks noGrp="1"/>
          </p:cNvSpPr>
          <p:nvPr>
            <p:ph type="body" idx="1"/>
          </p:nvPr>
        </p:nvSpPr>
        <p:spPr>
          <a:xfrm>
            <a:off x="1103313" y="1905000"/>
            <a:ext cx="4396338" cy="576262"/>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smtClean="0"/>
              <a:t>Haga clic para modificar el estilo de texto del patrón</a:t>
            </a:r>
          </a:p>
        </p:txBody>
      </p:sp>
      <p:sp>
        <p:nvSpPr>
          <p:cNvPr id="4" name="Content Placeholder 3"/>
          <p:cNvSpPr>
            <a:spLocks noGrp="1"/>
          </p:cNvSpPr>
          <p:nvPr>
            <p:ph sz="half" idx="2"/>
          </p:nvPr>
        </p:nvSpPr>
        <p:spPr>
          <a:xfrm>
            <a:off x="1103312" y="2514600"/>
            <a:ext cx="4396339" cy="3741738"/>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s-ES" smtClean="0"/>
              <a:t>Haga clic para modificar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n-US" dirty="0"/>
          </a:p>
        </p:txBody>
      </p:sp>
      <p:sp>
        <p:nvSpPr>
          <p:cNvPr id="5" name="Text Placeholder 4"/>
          <p:cNvSpPr>
            <a:spLocks noGrp="1"/>
          </p:cNvSpPr>
          <p:nvPr>
            <p:ph type="body" sz="quarter" idx="3"/>
          </p:nvPr>
        </p:nvSpPr>
        <p:spPr>
          <a:xfrm>
            <a:off x="5654495" y="1905000"/>
            <a:ext cx="4396339" cy="576262"/>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smtClean="0"/>
              <a:t>Haga clic para modificar el estilo de texto del patrón</a:t>
            </a:r>
          </a:p>
        </p:txBody>
      </p:sp>
      <p:sp>
        <p:nvSpPr>
          <p:cNvPr id="6" name="Content Placeholder 5"/>
          <p:cNvSpPr>
            <a:spLocks noGrp="1"/>
          </p:cNvSpPr>
          <p:nvPr>
            <p:ph sz="quarter" idx="4"/>
          </p:nvPr>
        </p:nvSpPr>
        <p:spPr>
          <a:xfrm>
            <a:off x="5654495" y="2514600"/>
            <a:ext cx="4396339" cy="3741738"/>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s-ES" smtClean="0"/>
              <a:t>Haga clic para modificar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n-US" dirty="0"/>
          </a:p>
        </p:txBody>
      </p:sp>
      <p:sp>
        <p:nvSpPr>
          <p:cNvPr id="7" name="Date Placeholder 6"/>
          <p:cNvSpPr>
            <a:spLocks noGrp="1"/>
          </p:cNvSpPr>
          <p:nvPr>
            <p:ph type="dt" sz="half" idx="10"/>
          </p:nvPr>
        </p:nvSpPr>
        <p:spPr/>
        <p:txBody>
          <a:bodyPr/>
          <a:lstStyle/>
          <a:p>
            <a:fld id="{6F579CEF-6068-4F0E-82DE-019DD24B6433}" type="datetimeFigureOut">
              <a:rPr lang="es-PE" smtClean="0"/>
              <a:t>30/11/2015</a:t>
            </a:fld>
            <a:endParaRPr lang="es-PE"/>
          </a:p>
        </p:txBody>
      </p:sp>
      <p:sp>
        <p:nvSpPr>
          <p:cNvPr id="8" name="Footer Placeholder 7"/>
          <p:cNvSpPr>
            <a:spLocks noGrp="1"/>
          </p:cNvSpPr>
          <p:nvPr>
            <p:ph type="ftr" sz="quarter" idx="11"/>
          </p:nvPr>
        </p:nvSpPr>
        <p:spPr/>
        <p:txBody>
          <a:bodyPr/>
          <a:lstStyle/>
          <a:p>
            <a:endParaRPr lang="es-PE"/>
          </a:p>
        </p:txBody>
      </p:sp>
      <p:sp>
        <p:nvSpPr>
          <p:cNvPr id="9" name="Slide Number Placeholder 8"/>
          <p:cNvSpPr>
            <a:spLocks noGrp="1"/>
          </p:cNvSpPr>
          <p:nvPr>
            <p:ph type="sldNum" sz="quarter" idx="12"/>
          </p:nvPr>
        </p:nvSpPr>
        <p:spPr/>
        <p:txBody>
          <a:bodyPr/>
          <a:lstStyle/>
          <a:p>
            <a:fld id="{DA8069C0-214C-4A4F-A48A-033E203F2B34}" type="slidenum">
              <a:rPr lang="es-PE" smtClean="0"/>
              <a:t>‹Nº›</a:t>
            </a:fld>
            <a:endParaRPr lang="es-PE"/>
          </a:p>
        </p:txBody>
      </p:sp>
    </p:spTree>
    <p:extLst>
      <p:ext uri="{BB962C8B-B14F-4D97-AF65-F5344CB8AC3E}">
        <p14:creationId xmlns:p14="http://schemas.microsoft.com/office/powerpoint/2010/main" val="79744937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lo el título">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smtClean="0"/>
              <a:t>Haga clic para modificar el estilo de título del patrón</a:t>
            </a:r>
            <a:endParaRPr lang="en-US" dirty="0"/>
          </a:p>
        </p:txBody>
      </p:sp>
      <p:sp>
        <p:nvSpPr>
          <p:cNvPr id="7" name="Date Placeholder 2"/>
          <p:cNvSpPr>
            <a:spLocks noGrp="1"/>
          </p:cNvSpPr>
          <p:nvPr>
            <p:ph type="dt" sz="half" idx="10"/>
          </p:nvPr>
        </p:nvSpPr>
        <p:spPr/>
        <p:txBody>
          <a:bodyPr/>
          <a:lstStyle/>
          <a:p>
            <a:fld id="{6F579CEF-6068-4F0E-82DE-019DD24B6433}" type="datetimeFigureOut">
              <a:rPr lang="es-PE" smtClean="0"/>
              <a:t>30/11/2015</a:t>
            </a:fld>
            <a:endParaRPr lang="es-PE"/>
          </a:p>
        </p:txBody>
      </p:sp>
      <p:sp>
        <p:nvSpPr>
          <p:cNvPr id="5" name="Footer Placeholder 3"/>
          <p:cNvSpPr>
            <a:spLocks noGrp="1"/>
          </p:cNvSpPr>
          <p:nvPr>
            <p:ph type="ftr" sz="quarter" idx="11"/>
          </p:nvPr>
        </p:nvSpPr>
        <p:spPr/>
        <p:txBody>
          <a:bodyPr/>
          <a:lstStyle/>
          <a:p>
            <a:endParaRPr lang="es-PE"/>
          </a:p>
        </p:txBody>
      </p:sp>
      <p:sp>
        <p:nvSpPr>
          <p:cNvPr id="6" name="Slide Number Placeholder 4"/>
          <p:cNvSpPr>
            <a:spLocks noGrp="1"/>
          </p:cNvSpPr>
          <p:nvPr>
            <p:ph type="sldNum" sz="quarter" idx="12"/>
          </p:nvPr>
        </p:nvSpPr>
        <p:spPr/>
        <p:txBody>
          <a:bodyPr/>
          <a:lstStyle/>
          <a:p>
            <a:fld id="{DA8069C0-214C-4A4F-A48A-033E203F2B34}" type="slidenum">
              <a:rPr lang="es-PE" smtClean="0"/>
              <a:t>‹Nº›</a:t>
            </a:fld>
            <a:endParaRPr lang="es-PE"/>
          </a:p>
        </p:txBody>
      </p:sp>
    </p:spTree>
    <p:extLst>
      <p:ext uri="{BB962C8B-B14F-4D97-AF65-F5344CB8AC3E}">
        <p14:creationId xmlns:p14="http://schemas.microsoft.com/office/powerpoint/2010/main" val="43325697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
        <p:nvSpPr>
          <p:cNvPr id="7" name="Date Placeholder 1"/>
          <p:cNvSpPr>
            <a:spLocks noGrp="1"/>
          </p:cNvSpPr>
          <p:nvPr>
            <p:ph type="dt" sz="half" idx="10"/>
          </p:nvPr>
        </p:nvSpPr>
        <p:spPr/>
        <p:txBody>
          <a:bodyPr/>
          <a:lstStyle/>
          <a:p>
            <a:fld id="{6F579CEF-6068-4F0E-82DE-019DD24B6433}" type="datetimeFigureOut">
              <a:rPr lang="es-PE" smtClean="0"/>
              <a:t>30/11/2015</a:t>
            </a:fld>
            <a:endParaRPr lang="es-PE"/>
          </a:p>
        </p:txBody>
      </p:sp>
      <p:sp>
        <p:nvSpPr>
          <p:cNvPr id="5" name="Footer Placeholder 2"/>
          <p:cNvSpPr>
            <a:spLocks noGrp="1"/>
          </p:cNvSpPr>
          <p:nvPr>
            <p:ph type="ftr" sz="quarter" idx="11"/>
          </p:nvPr>
        </p:nvSpPr>
        <p:spPr/>
        <p:txBody>
          <a:bodyPr/>
          <a:lstStyle/>
          <a:p>
            <a:endParaRPr lang="es-PE"/>
          </a:p>
        </p:txBody>
      </p:sp>
      <p:sp>
        <p:nvSpPr>
          <p:cNvPr id="6" name="Slide Number Placeholder 3"/>
          <p:cNvSpPr>
            <a:spLocks noGrp="1"/>
          </p:cNvSpPr>
          <p:nvPr>
            <p:ph type="sldNum" sz="quarter" idx="12"/>
          </p:nvPr>
        </p:nvSpPr>
        <p:spPr/>
        <p:txBody>
          <a:bodyPr/>
          <a:lstStyle/>
          <a:p>
            <a:fld id="{DA8069C0-214C-4A4F-A48A-033E203F2B34}" type="slidenum">
              <a:rPr lang="es-PE" smtClean="0"/>
              <a:t>‹Nº›</a:t>
            </a:fld>
            <a:endParaRPr lang="es-PE"/>
          </a:p>
        </p:txBody>
      </p:sp>
    </p:spTree>
    <p:extLst>
      <p:ext uri="{BB962C8B-B14F-4D97-AF65-F5344CB8AC3E}">
        <p14:creationId xmlns:p14="http://schemas.microsoft.com/office/powerpoint/2010/main" val="20446387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sp>
        <p:nvSpPr>
          <p:cNvPr id="2" name="Title 1"/>
          <p:cNvSpPr>
            <a:spLocks noGrp="1"/>
          </p:cNvSpPr>
          <p:nvPr>
            <p:ph type="title"/>
          </p:nvPr>
        </p:nvSpPr>
        <p:spPr>
          <a:xfrm>
            <a:off x="1154954" y="1447800"/>
            <a:ext cx="3401064" cy="1447800"/>
          </a:xfrm>
        </p:spPr>
        <p:txBody>
          <a:bodyPr anchor="b"/>
          <a:lstStyle>
            <a:lvl1pPr algn="l">
              <a:defRPr sz="2400" b="0"/>
            </a:lvl1pPr>
          </a:lstStyle>
          <a:p>
            <a:r>
              <a:rPr lang="es-ES" smtClean="0"/>
              <a:t>Haga clic para modificar el estilo de título del patrón</a:t>
            </a:r>
            <a:endParaRPr lang="en-US" dirty="0"/>
          </a:p>
        </p:txBody>
      </p:sp>
      <p:sp>
        <p:nvSpPr>
          <p:cNvPr id="3" name="Content Placeholder 2"/>
          <p:cNvSpPr>
            <a:spLocks noGrp="1"/>
          </p:cNvSpPr>
          <p:nvPr>
            <p:ph idx="1"/>
          </p:nvPr>
        </p:nvSpPr>
        <p:spPr>
          <a:xfrm>
            <a:off x="4784616" y="1447800"/>
            <a:ext cx="5195997" cy="4572000"/>
          </a:xfrm>
        </p:spPr>
        <p:txBody>
          <a:bodyPr anchor="ctr">
            <a:normAutofit/>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es-ES" smtClean="0"/>
              <a:t>Haga clic para modificar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n-US" dirty="0"/>
          </a:p>
        </p:txBody>
      </p:sp>
      <p:sp>
        <p:nvSpPr>
          <p:cNvPr id="4" name="Text Placeholder 3"/>
          <p:cNvSpPr>
            <a:spLocks noGrp="1"/>
          </p:cNvSpPr>
          <p:nvPr>
            <p:ph type="body" sz="half" idx="2"/>
          </p:nvPr>
        </p:nvSpPr>
        <p:spPr>
          <a:xfrm>
            <a:off x="1154954" y="3129280"/>
            <a:ext cx="3401063" cy="2895599"/>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smtClean="0"/>
              <a:t>Haga clic para modificar el estilo de texto del patrón</a:t>
            </a:r>
          </a:p>
        </p:txBody>
      </p:sp>
      <p:sp>
        <p:nvSpPr>
          <p:cNvPr id="7" name="Date Placeholder 4"/>
          <p:cNvSpPr>
            <a:spLocks noGrp="1"/>
          </p:cNvSpPr>
          <p:nvPr>
            <p:ph type="dt" sz="half" idx="10"/>
          </p:nvPr>
        </p:nvSpPr>
        <p:spPr/>
        <p:txBody>
          <a:bodyPr/>
          <a:lstStyle/>
          <a:p>
            <a:fld id="{6F579CEF-6068-4F0E-82DE-019DD24B6433}" type="datetimeFigureOut">
              <a:rPr lang="es-PE" smtClean="0"/>
              <a:t>30/11/2015</a:t>
            </a:fld>
            <a:endParaRPr lang="es-PE"/>
          </a:p>
        </p:txBody>
      </p:sp>
      <p:sp>
        <p:nvSpPr>
          <p:cNvPr id="5" name="Footer Placeholder 5"/>
          <p:cNvSpPr>
            <a:spLocks noGrp="1"/>
          </p:cNvSpPr>
          <p:nvPr>
            <p:ph type="ftr" sz="quarter" idx="11"/>
          </p:nvPr>
        </p:nvSpPr>
        <p:spPr/>
        <p:txBody>
          <a:bodyPr/>
          <a:lstStyle/>
          <a:p>
            <a:endParaRPr lang="es-PE"/>
          </a:p>
        </p:txBody>
      </p:sp>
      <p:sp>
        <p:nvSpPr>
          <p:cNvPr id="6" name="Slide Number Placeholder 6"/>
          <p:cNvSpPr>
            <a:spLocks noGrp="1"/>
          </p:cNvSpPr>
          <p:nvPr>
            <p:ph type="sldNum" sz="quarter" idx="12"/>
          </p:nvPr>
        </p:nvSpPr>
        <p:spPr/>
        <p:txBody>
          <a:bodyPr/>
          <a:lstStyle/>
          <a:p>
            <a:fld id="{DA8069C0-214C-4A4F-A48A-033E203F2B34}" type="slidenum">
              <a:rPr lang="es-PE" smtClean="0"/>
              <a:t>‹Nº›</a:t>
            </a:fld>
            <a:endParaRPr lang="es-PE"/>
          </a:p>
        </p:txBody>
      </p:sp>
    </p:spTree>
    <p:extLst>
      <p:ext uri="{BB962C8B-B14F-4D97-AF65-F5344CB8AC3E}">
        <p14:creationId xmlns:p14="http://schemas.microsoft.com/office/powerpoint/2010/main" val="411568883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n con título">
    <p:spTree>
      <p:nvGrpSpPr>
        <p:cNvPr id="1" name=""/>
        <p:cNvGrpSpPr/>
        <p:nvPr/>
      </p:nvGrpSpPr>
      <p:grpSpPr>
        <a:xfrm>
          <a:off x="0" y="0"/>
          <a:ext cx="0" cy="0"/>
          <a:chOff x="0" y="0"/>
          <a:chExt cx="0" cy="0"/>
        </a:xfrm>
      </p:grpSpPr>
      <p:sp>
        <p:nvSpPr>
          <p:cNvPr id="2" name="Title 1"/>
          <p:cNvSpPr>
            <a:spLocks noGrp="1"/>
          </p:cNvSpPr>
          <p:nvPr>
            <p:ph type="title"/>
          </p:nvPr>
        </p:nvSpPr>
        <p:spPr>
          <a:xfrm>
            <a:off x="1153907" y="1854192"/>
            <a:ext cx="5092906" cy="1574808"/>
          </a:xfrm>
        </p:spPr>
        <p:txBody>
          <a:bodyPr anchor="b">
            <a:normAutofit/>
          </a:bodyPr>
          <a:lstStyle>
            <a:lvl1pPr algn="l">
              <a:defRPr sz="3600" b="0"/>
            </a:lvl1pPr>
          </a:lstStyle>
          <a:p>
            <a:r>
              <a:rPr lang="es-ES" smtClean="0"/>
              <a:t>Haga clic para modificar el estilo de título del patrón</a:t>
            </a:r>
            <a:endParaRPr lang="en-US" dirty="0"/>
          </a:p>
        </p:txBody>
      </p:sp>
      <p:sp>
        <p:nvSpPr>
          <p:cNvPr id="3" name="Picture Placeholder 2"/>
          <p:cNvSpPr>
            <a:spLocks noGrp="1" noChangeAspect="1"/>
          </p:cNvSpPr>
          <p:nvPr>
            <p:ph type="pic" idx="1"/>
          </p:nvPr>
        </p:nvSpPr>
        <p:spPr>
          <a:xfrm>
            <a:off x="6949546" y="1143000"/>
            <a:ext cx="3200400" cy="4572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s-ES" smtClean="0"/>
              <a:t>Haga clic en el icono para agregar una imagen</a:t>
            </a:r>
            <a:endParaRPr lang="en-US" dirty="0"/>
          </a:p>
        </p:txBody>
      </p:sp>
      <p:sp>
        <p:nvSpPr>
          <p:cNvPr id="4" name="Text Placeholder 3"/>
          <p:cNvSpPr>
            <a:spLocks noGrp="1"/>
          </p:cNvSpPr>
          <p:nvPr>
            <p:ph type="body" sz="half" idx="2"/>
          </p:nvPr>
        </p:nvSpPr>
        <p:spPr>
          <a:xfrm>
            <a:off x="1154954" y="3657600"/>
            <a:ext cx="5084979" cy="1371600"/>
          </a:xfrm>
        </p:spPr>
        <p:txBody>
          <a:bodyPr>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smtClean="0"/>
              <a:t>Haga clic para modificar el estilo de texto del patrón</a:t>
            </a:r>
          </a:p>
        </p:txBody>
      </p:sp>
      <p:sp>
        <p:nvSpPr>
          <p:cNvPr id="5" name="Date Placeholder 4"/>
          <p:cNvSpPr>
            <a:spLocks noGrp="1"/>
          </p:cNvSpPr>
          <p:nvPr>
            <p:ph type="dt" sz="half" idx="10"/>
          </p:nvPr>
        </p:nvSpPr>
        <p:spPr/>
        <p:txBody>
          <a:bodyPr/>
          <a:lstStyle/>
          <a:p>
            <a:fld id="{6F579CEF-6068-4F0E-82DE-019DD24B6433}" type="datetimeFigureOut">
              <a:rPr lang="es-PE" smtClean="0"/>
              <a:t>30/11/2015</a:t>
            </a:fld>
            <a:endParaRPr lang="es-PE"/>
          </a:p>
        </p:txBody>
      </p:sp>
      <p:sp>
        <p:nvSpPr>
          <p:cNvPr id="6" name="Footer Placeholder 5"/>
          <p:cNvSpPr>
            <a:spLocks noGrp="1"/>
          </p:cNvSpPr>
          <p:nvPr>
            <p:ph type="ftr" sz="quarter" idx="11"/>
          </p:nvPr>
        </p:nvSpPr>
        <p:spPr/>
        <p:txBody>
          <a:bodyPr/>
          <a:lstStyle/>
          <a:p>
            <a:endParaRPr lang="es-PE"/>
          </a:p>
        </p:txBody>
      </p:sp>
      <p:sp>
        <p:nvSpPr>
          <p:cNvPr id="7" name="Slide Number Placeholder 6"/>
          <p:cNvSpPr>
            <a:spLocks noGrp="1"/>
          </p:cNvSpPr>
          <p:nvPr>
            <p:ph type="sldNum" sz="quarter" idx="12"/>
          </p:nvPr>
        </p:nvSpPr>
        <p:spPr/>
        <p:txBody>
          <a:bodyPr/>
          <a:lstStyle/>
          <a:p>
            <a:fld id="{DA8069C0-214C-4A4F-A48A-033E203F2B34}" type="slidenum">
              <a:rPr lang="es-PE" smtClean="0"/>
              <a:t>‹Nº›</a:t>
            </a:fld>
            <a:endParaRPr lang="es-PE"/>
          </a:p>
        </p:txBody>
      </p:sp>
    </p:spTree>
    <p:extLst>
      <p:ext uri="{BB962C8B-B14F-4D97-AF65-F5344CB8AC3E}">
        <p14:creationId xmlns:p14="http://schemas.microsoft.com/office/powerpoint/2010/main" val="6052272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Imagen panorámica con descripción">
    <p:spTree>
      <p:nvGrpSpPr>
        <p:cNvPr id="1" name=""/>
        <p:cNvGrpSpPr/>
        <p:nvPr/>
      </p:nvGrpSpPr>
      <p:grpSpPr>
        <a:xfrm>
          <a:off x="0" y="0"/>
          <a:ext cx="0" cy="0"/>
          <a:chOff x="0" y="0"/>
          <a:chExt cx="0" cy="0"/>
        </a:xfrm>
      </p:grpSpPr>
      <p:sp>
        <p:nvSpPr>
          <p:cNvPr id="2" name="Title 1"/>
          <p:cNvSpPr>
            <a:spLocks noGrp="1"/>
          </p:cNvSpPr>
          <p:nvPr>
            <p:ph type="title"/>
          </p:nvPr>
        </p:nvSpPr>
        <p:spPr>
          <a:xfrm>
            <a:off x="1154956" y="4800587"/>
            <a:ext cx="8825657" cy="566738"/>
          </a:xfrm>
        </p:spPr>
        <p:txBody>
          <a:bodyPr anchor="b">
            <a:normAutofit/>
          </a:bodyPr>
          <a:lstStyle>
            <a:lvl1pPr algn="l">
              <a:defRPr sz="2400" b="0"/>
            </a:lvl1pPr>
          </a:lstStyle>
          <a:p>
            <a:r>
              <a:rPr lang="es-ES" smtClean="0"/>
              <a:t>Haga clic para modificar el estilo de título del patrón</a:t>
            </a:r>
            <a:endParaRPr lang="en-US" dirty="0"/>
          </a:p>
        </p:txBody>
      </p:sp>
      <p:sp>
        <p:nvSpPr>
          <p:cNvPr id="3" name="Picture Placeholder 2"/>
          <p:cNvSpPr>
            <a:spLocks noGrp="1" noChangeAspect="1"/>
          </p:cNvSpPr>
          <p:nvPr>
            <p:ph type="pic" idx="1"/>
          </p:nvPr>
        </p:nvSpPr>
        <p:spPr>
          <a:xfrm>
            <a:off x="1154955" y="685800"/>
            <a:ext cx="8825658" cy="3640666"/>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s-ES" smtClean="0"/>
              <a:t>Haga clic en el icono para agregar una imagen</a:t>
            </a:r>
            <a:endParaRPr lang="en-US" dirty="0"/>
          </a:p>
        </p:txBody>
      </p:sp>
      <p:sp>
        <p:nvSpPr>
          <p:cNvPr id="4" name="Text Placeholder 3"/>
          <p:cNvSpPr>
            <a:spLocks noGrp="1"/>
          </p:cNvSpPr>
          <p:nvPr>
            <p:ph type="body" sz="half" idx="2"/>
          </p:nvPr>
        </p:nvSpPr>
        <p:spPr>
          <a:xfrm>
            <a:off x="1154956" y="5367325"/>
            <a:ext cx="8825656" cy="493712"/>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smtClean="0"/>
              <a:t>Haga clic para modificar el estilo de texto del patrón</a:t>
            </a:r>
          </a:p>
        </p:txBody>
      </p:sp>
      <p:sp>
        <p:nvSpPr>
          <p:cNvPr id="5" name="Date Placeholder 4"/>
          <p:cNvSpPr>
            <a:spLocks noGrp="1"/>
          </p:cNvSpPr>
          <p:nvPr>
            <p:ph type="dt" sz="half" idx="10"/>
          </p:nvPr>
        </p:nvSpPr>
        <p:spPr/>
        <p:txBody>
          <a:bodyPr/>
          <a:lstStyle/>
          <a:p>
            <a:fld id="{6F579CEF-6068-4F0E-82DE-019DD24B6433}" type="datetimeFigureOut">
              <a:rPr lang="es-PE" smtClean="0"/>
              <a:t>30/11/2015</a:t>
            </a:fld>
            <a:endParaRPr lang="es-PE"/>
          </a:p>
        </p:txBody>
      </p:sp>
      <p:sp>
        <p:nvSpPr>
          <p:cNvPr id="6" name="Footer Placeholder 5"/>
          <p:cNvSpPr>
            <a:spLocks noGrp="1"/>
          </p:cNvSpPr>
          <p:nvPr>
            <p:ph type="ftr" sz="quarter" idx="11"/>
          </p:nvPr>
        </p:nvSpPr>
        <p:spPr/>
        <p:txBody>
          <a:bodyPr/>
          <a:lstStyle/>
          <a:p>
            <a:endParaRPr lang="es-PE"/>
          </a:p>
        </p:txBody>
      </p:sp>
      <p:sp>
        <p:nvSpPr>
          <p:cNvPr id="7" name="Slide Number Placeholder 6"/>
          <p:cNvSpPr>
            <a:spLocks noGrp="1"/>
          </p:cNvSpPr>
          <p:nvPr>
            <p:ph type="sldNum" sz="quarter" idx="12"/>
          </p:nvPr>
        </p:nvSpPr>
        <p:spPr/>
        <p:txBody>
          <a:bodyPr/>
          <a:lstStyle/>
          <a:p>
            <a:fld id="{DA8069C0-214C-4A4F-A48A-033E203F2B34}" type="slidenum">
              <a:rPr lang="es-PE" smtClean="0"/>
              <a:t>‹Nº›</a:t>
            </a:fld>
            <a:endParaRPr lang="es-PE"/>
          </a:p>
        </p:txBody>
      </p:sp>
    </p:spTree>
    <p:extLst>
      <p:ext uri="{BB962C8B-B14F-4D97-AF65-F5344CB8AC3E}">
        <p14:creationId xmlns:p14="http://schemas.microsoft.com/office/powerpoint/2010/main" val="174740004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ítulo y descripción">
    <p:spTree>
      <p:nvGrpSpPr>
        <p:cNvPr id="1" name=""/>
        <p:cNvGrpSpPr/>
        <p:nvPr/>
      </p:nvGrpSpPr>
      <p:grpSpPr>
        <a:xfrm>
          <a:off x="0" y="0"/>
          <a:ext cx="0" cy="0"/>
          <a:chOff x="0" y="0"/>
          <a:chExt cx="0" cy="0"/>
        </a:xfrm>
      </p:grpSpPr>
      <p:sp>
        <p:nvSpPr>
          <p:cNvPr id="2" name="Title 1"/>
          <p:cNvSpPr>
            <a:spLocks noGrp="1"/>
          </p:cNvSpPr>
          <p:nvPr>
            <p:ph type="title"/>
          </p:nvPr>
        </p:nvSpPr>
        <p:spPr>
          <a:xfrm>
            <a:off x="1154954" y="1447800"/>
            <a:ext cx="8825659" cy="1981200"/>
          </a:xfrm>
        </p:spPr>
        <p:txBody>
          <a:bodyPr/>
          <a:lstStyle>
            <a:lvl1pPr>
              <a:defRPr sz="4800"/>
            </a:lvl1pPr>
          </a:lstStyle>
          <a:p>
            <a:r>
              <a:rPr lang="es-ES" smtClean="0"/>
              <a:t>Haga clic para modificar el estilo de título del patrón</a:t>
            </a:r>
            <a:endParaRPr lang="en-US" dirty="0"/>
          </a:p>
        </p:txBody>
      </p:sp>
      <p:sp>
        <p:nvSpPr>
          <p:cNvPr id="8" name="Text Placeholder 3"/>
          <p:cNvSpPr>
            <a:spLocks noGrp="1"/>
          </p:cNvSpPr>
          <p:nvPr>
            <p:ph type="body" sz="half" idx="2"/>
          </p:nvPr>
        </p:nvSpPr>
        <p:spPr>
          <a:xfrm>
            <a:off x="1154954" y="3657600"/>
            <a:ext cx="8825659" cy="2362200"/>
          </a:xfrm>
        </p:spPr>
        <p:txBody>
          <a:bodyPr anchor="ct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smtClean="0"/>
              <a:t>Haga clic para modificar el estilo de texto del patrón</a:t>
            </a:r>
          </a:p>
        </p:txBody>
      </p:sp>
      <p:sp>
        <p:nvSpPr>
          <p:cNvPr id="4" name="Date Placeholder 3"/>
          <p:cNvSpPr>
            <a:spLocks noGrp="1"/>
          </p:cNvSpPr>
          <p:nvPr>
            <p:ph type="dt" sz="half" idx="10"/>
          </p:nvPr>
        </p:nvSpPr>
        <p:spPr/>
        <p:txBody>
          <a:bodyPr/>
          <a:lstStyle/>
          <a:p>
            <a:fld id="{6F579CEF-6068-4F0E-82DE-019DD24B6433}" type="datetimeFigureOut">
              <a:rPr lang="es-PE" smtClean="0"/>
              <a:t>30/11/2015</a:t>
            </a:fld>
            <a:endParaRPr lang="es-PE"/>
          </a:p>
        </p:txBody>
      </p:sp>
      <p:sp>
        <p:nvSpPr>
          <p:cNvPr id="5" name="Footer Placeholder 4"/>
          <p:cNvSpPr>
            <a:spLocks noGrp="1"/>
          </p:cNvSpPr>
          <p:nvPr>
            <p:ph type="ftr" sz="quarter" idx="11"/>
          </p:nvPr>
        </p:nvSpPr>
        <p:spPr/>
        <p:txBody>
          <a:bodyPr/>
          <a:lstStyle/>
          <a:p>
            <a:endParaRPr lang="es-PE"/>
          </a:p>
        </p:txBody>
      </p:sp>
      <p:sp>
        <p:nvSpPr>
          <p:cNvPr id="6" name="Slide Number Placeholder 5"/>
          <p:cNvSpPr>
            <a:spLocks noGrp="1"/>
          </p:cNvSpPr>
          <p:nvPr>
            <p:ph type="sldNum" sz="quarter" idx="12"/>
          </p:nvPr>
        </p:nvSpPr>
        <p:spPr/>
        <p:txBody>
          <a:bodyPr/>
          <a:lstStyle/>
          <a:p>
            <a:fld id="{DA8069C0-214C-4A4F-A48A-033E203F2B34}" type="slidenum">
              <a:rPr lang="es-PE" smtClean="0"/>
              <a:t>‹Nº›</a:t>
            </a:fld>
            <a:endParaRPr lang="es-PE"/>
          </a:p>
        </p:txBody>
      </p:sp>
    </p:spTree>
    <p:extLst>
      <p:ext uri="{BB962C8B-B14F-4D97-AF65-F5344CB8AC3E}">
        <p14:creationId xmlns:p14="http://schemas.microsoft.com/office/powerpoint/2010/main" val="374127353"/>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Cita con descripción">
    <p:spTree>
      <p:nvGrpSpPr>
        <p:cNvPr id="1" name=""/>
        <p:cNvGrpSpPr/>
        <p:nvPr/>
      </p:nvGrpSpPr>
      <p:grpSpPr>
        <a:xfrm>
          <a:off x="0" y="0"/>
          <a:ext cx="0" cy="0"/>
          <a:chOff x="0" y="0"/>
          <a:chExt cx="0" cy="0"/>
        </a:xfrm>
      </p:grpSpPr>
      <p:sp>
        <p:nvSpPr>
          <p:cNvPr id="2" name="Title 1"/>
          <p:cNvSpPr>
            <a:spLocks noGrp="1"/>
          </p:cNvSpPr>
          <p:nvPr>
            <p:ph type="title"/>
          </p:nvPr>
        </p:nvSpPr>
        <p:spPr>
          <a:xfrm>
            <a:off x="1574801" y="1447800"/>
            <a:ext cx="7999315" cy="2323374"/>
          </a:xfrm>
        </p:spPr>
        <p:txBody>
          <a:bodyPr/>
          <a:lstStyle>
            <a:lvl1pPr>
              <a:defRPr sz="4800"/>
            </a:lvl1pPr>
          </a:lstStyle>
          <a:p>
            <a:r>
              <a:rPr lang="es-ES" smtClean="0"/>
              <a:t>Haga clic para modificar el estilo de título del patrón</a:t>
            </a:r>
            <a:endParaRPr lang="en-US" dirty="0"/>
          </a:p>
        </p:txBody>
      </p:sp>
      <p:sp>
        <p:nvSpPr>
          <p:cNvPr id="14" name="Text Placeholder 3"/>
          <p:cNvSpPr>
            <a:spLocks noGrp="1"/>
          </p:cNvSpPr>
          <p:nvPr>
            <p:ph type="body" sz="half" idx="13"/>
          </p:nvPr>
        </p:nvSpPr>
        <p:spPr>
          <a:xfrm>
            <a:off x="1930400" y="3771174"/>
            <a:ext cx="7385828" cy="342174"/>
          </a:xfrm>
        </p:spPr>
        <p:txBody>
          <a:bodyPr anchor="t">
            <a:normAutofit/>
          </a:bodyPr>
          <a:lstStyle>
            <a:lvl1pPr marL="0" indent="0">
              <a:buNone/>
              <a:defRPr lang="en-US" sz="1400" b="0" i="0" kern="1200" cap="small" dirty="0">
                <a:solidFill>
                  <a:schemeClr val="accent1"/>
                </a:solidFill>
                <a:latin typeface="+mj-lt"/>
                <a:ea typeface="+mj-ea"/>
                <a:cs typeface="+mj-cs"/>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smtClean="0"/>
              <a:t>Haga clic para modificar el estilo de texto del patrón</a:t>
            </a:r>
          </a:p>
        </p:txBody>
      </p:sp>
      <p:sp>
        <p:nvSpPr>
          <p:cNvPr id="10" name="Text Placeholder 3"/>
          <p:cNvSpPr>
            <a:spLocks noGrp="1"/>
          </p:cNvSpPr>
          <p:nvPr>
            <p:ph type="body" sz="half" idx="2"/>
          </p:nvPr>
        </p:nvSpPr>
        <p:spPr>
          <a:xfrm>
            <a:off x="1154954" y="4350657"/>
            <a:ext cx="8825659" cy="1676400"/>
          </a:xfrm>
        </p:spPr>
        <p:txBody>
          <a:bodyPr anchor="ct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smtClean="0"/>
              <a:t>Haga clic para modificar el estilo de texto del patrón</a:t>
            </a:r>
          </a:p>
        </p:txBody>
      </p:sp>
      <p:sp>
        <p:nvSpPr>
          <p:cNvPr id="4" name="Date Placeholder 3"/>
          <p:cNvSpPr>
            <a:spLocks noGrp="1"/>
          </p:cNvSpPr>
          <p:nvPr>
            <p:ph type="dt" sz="half" idx="10"/>
          </p:nvPr>
        </p:nvSpPr>
        <p:spPr/>
        <p:txBody>
          <a:bodyPr/>
          <a:lstStyle/>
          <a:p>
            <a:fld id="{6F579CEF-6068-4F0E-82DE-019DD24B6433}" type="datetimeFigureOut">
              <a:rPr lang="es-PE" smtClean="0"/>
              <a:t>30/11/2015</a:t>
            </a:fld>
            <a:endParaRPr lang="es-PE"/>
          </a:p>
        </p:txBody>
      </p:sp>
      <p:sp>
        <p:nvSpPr>
          <p:cNvPr id="5" name="Footer Placeholder 4"/>
          <p:cNvSpPr>
            <a:spLocks noGrp="1"/>
          </p:cNvSpPr>
          <p:nvPr>
            <p:ph type="ftr" sz="quarter" idx="11"/>
          </p:nvPr>
        </p:nvSpPr>
        <p:spPr/>
        <p:txBody>
          <a:bodyPr/>
          <a:lstStyle/>
          <a:p>
            <a:endParaRPr lang="es-PE"/>
          </a:p>
        </p:txBody>
      </p:sp>
      <p:sp>
        <p:nvSpPr>
          <p:cNvPr id="6" name="Slide Number Placeholder 5"/>
          <p:cNvSpPr>
            <a:spLocks noGrp="1"/>
          </p:cNvSpPr>
          <p:nvPr>
            <p:ph type="sldNum" sz="quarter" idx="12"/>
          </p:nvPr>
        </p:nvSpPr>
        <p:spPr/>
        <p:txBody>
          <a:bodyPr/>
          <a:lstStyle/>
          <a:p>
            <a:fld id="{DA8069C0-214C-4A4F-A48A-033E203F2B34}" type="slidenum">
              <a:rPr lang="es-PE" smtClean="0"/>
              <a:t>‹Nº›</a:t>
            </a:fld>
            <a:endParaRPr lang="es-PE"/>
          </a:p>
        </p:txBody>
      </p:sp>
      <p:sp>
        <p:nvSpPr>
          <p:cNvPr id="11" name="TextBox 10"/>
          <p:cNvSpPr txBox="1"/>
          <p:nvPr/>
        </p:nvSpPr>
        <p:spPr>
          <a:xfrm>
            <a:off x="898295" y="971253"/>
            <a:ext cx="801912" cy="1969770"/>
          </a:xfrm>
          <a:prstGeom prst="rect">
            <a:avLst/>
          </a:prstGeom>
          <a:noFill/>
        </p:spPr>
        <p:txBody>
          <a:bodyPr wrap="square" rtlCol="0">
            <a:spAutoFit/>
          </a:bodyPr>
          <a:lstStyle>
            <a:defPPr>
              <a:defRPr lang="en-US"/>
            </a:defPPr>
            <a:lvl1pPr algn="r">
              <a:defRPr sz="12200" b="0" i="0">
                <a:solidFill>
                  <a:schemeClr val="accent1"/>
                </a:solidFill>
                <a:latin typeface="Arial"/>
                <a:ea typeface="+mj-ea"/>
                <a:cs typeface="+mj-cs"/>
              </a:defRPr>
            </a:lvl1pPr>
          </a:lstStyle>
          <a:p>
            <a:pPr lvl="0"/>
            <a:r>
              <a:rPr lang="en-US" dirty="0"/>
              <a:t>“</a:t>
            </a:r>
          </a:p>
        </p:txBody>
      </p:sp>
      <p:sp>
        <p:nvSpPr>
          <p:cNvPr id="13" name="TextBox 12"/>
          <p:cNvSpPr txBox="1"/>
          <p:nvPr/>
        </p:nvSpPr>
        <p:spPr>
          <a:xfrm>
            <a:off x="9330490" y="2613787"/>
            <a:ext cx="801912" cy="1969770"/>
          </a:xfrm>
          <a:prstGeom prst="rect">
            <a:avLst/>
          </a:prstGeom>
          <a:noFill/>
        </p:spPr>
        <p:txBody>
          <a:bodyPr wrap="square" rtlCol="0">
            <a:spAutoFit/>
          </a:bodyPr>
          <a:lstStyle>
            <a:defPPr>
              <a:defRPr lang="en-US"/>
            </a:defPPr>
            <a:lvl1pPr algn="r">
              <a:defRPr sz="12200" b="0" i="0">
                <a:solidFill>
                  <a:schemeClr val="accent1"/>
                </a:solidFill>
                <a:latin typeface="Arial"/>
                <a:ea typeface="+mj-ea"/>
                <a:cs typeface="+mj-cs"/>
              </a:defRPr>
            </a:lvl1pPr>
          </a:lstStyle>
          <a:p>
            <a:pPr lvl="0"/>
            <a:r>
              <a:rPr lang="en-US" dirty="0"/>
              <a:t>”</a:t>
            </a:r>
          </a:p>
        </p:txBody>
      </p:sp>
    </p:spTree>
    <p:extLst>
      <p:ext uri="{BB962C8B-B14F-4D97-AF65-F5344CB8AC3E}">
        <p14:creationId xmlns:p14="http://schemas.microsoft.com/office/powerpoint/2010/main" val="3011255891"/>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Tarjeta de nombre">
    <p:spTree>
      <p:nvGrpSpPr>
        <p:cNvPr id="1" name=""/>
        <p:cNvGrpSpPr/>
        <p:nvPr/>
      </p:nvGrpSpPr>
      <p:grpSpPr>
        <a:xfrm>
          <a:off x="0" y="0"/>
          <a:ext cx="0" cy="0"/>
          <a:chOff x="0" y="0"/>
          <a:chExt cx="0" cy="0"/>
        </a:xfrm>
      </p:grpSpPr>
      <p:sp>
        <p:nvSpPr>
          <p:cNvPr id="2" name="Title 1"/>
          <p:cNvSpPr>
            <a:spLocks noGrp="1"/>
          </p:cNvSpPr>
          <p:nvPr>
            <p:ph type="title"/>
          </p:nvPr>
        </p:nvSpPr>
        <p:spPr>
          <a:xfrm>
            <a:off x="1154954" y="3124201"/>
            <a:ext cx="8825659" cy="1653180"/>
          </a:xfrm>
        </p:spPr>
        <p:txBody>
          <a:bodyPr anchor="b"/>
          <a:lstStyle>
            <a:lvl1pPr algn="l">
              <a:defRPr sz="4000" b="0" cap="none"/>
            </a:lvl1pPr>
          </a:lstStyle>
          <a:p>
            <a:r>
              <a:rPr lang="es-ES" smtClean="0"/>
              <a:t>Haga clic para modificar el estilo de título del patrón</a:t>
            </a:r>
            <a:endParaRPr lang="en-US" dirty="0"/>
          </a:p>
        </p:txBody>
      </p:sp>
      <p:sp>
        <p:nvSpPr>
          <p:cNvPr id="3" name="Text Placeholder 2"/>
          <p:cNvSpPr>
            <a:spLocks noGrp="1"/>
          </p:cNvSpPr>
          <p:nvPr>
            <p:ph type="body" idx="1"/>
          </p:nvPr>
        </p:nvSpPr>
        <p:spPr>
          <a:xfrm>
            <a:off x="1154955" y="4777381"/>
            <a:ext cx="8825658" cy="860400"/>
          </a:xfrm>
        </p:spPr>
        <p:txBody>
          <a:bodyPr anchor="t"/>
          <a:lstStyle>
            <a:lvl1pPr marL="0" indent="0" algn="l">
              <a:buNone/>
              <a:defRPr sz="2000" cap="none">
                <a:solidFill>
                  <a:schemeClr val="accent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s-ES" smtClean="0"/>
              <a:t>Haga clic para modificar el estilo de texto del patrón</a:t>
            </a:r>
          </a:p>
        </p:txBody>
      </p:sp>
      <p:sp>
        <p:nvSpPr>
          <p:cNvPr id="4" name="Date Placeholder 3"/>
          <p:cNvSpPr>
            <a:spLocks noGrp="1"/>
          </p:cNvSpPr>
          <p:nvPr>
            <p:ph type="dt" sz="half" idx="10"/>
          </p:nvPr>
        </p:nvSpPr>
        <p:spPr/>
        <p:txBody>
          <a:bodyPr/>
          <a:lstStyle/>
          <a:p>
            <a:fld id="{6F579CEF-6068-4F0E-82DE-019DD24B6433}" type="datetimeFigureOut">
              <a:rPr lang="es-PE" smtClean="0"/>
              <a:t>30/11/2015</a:t>
            </a:fld>
            <a:endParaRPr lang="es-PE"/>
          </a:p>
        </p:txBody>
      </p:sp>
      <p:sp>
        <p:nvSpPr>
          <p:cNvPr id="5" name="Footer Placeholder 4"/>
          <p:cNvSpPr>
            <a:spLocks noGrp="1"/>
          </p:cNvSpPr>
          <p:nvPr>
            <p:ph type="ftr" sz="quarter" idx="11"/>
          </p:nvPr>
        </p:nvSpPr>
        <p:spPr/>
        <p:txBody>
          <a:bodyPr/>
          <a:lstStyle/>
          <a:p>
            <a:endParaRPr lang="es-PE"/>
          </a:p>
        </p:txBody>
      </p:sp>
      <p:sp>
        <p:nvSpPr>
          <p:cNvPr id="6" name="Slide Number Placeholder 5"/>
          <p:cNvSpPr>
            <a:spLocks noGrp="1"/>
          </p:cNvSpPr>
          <p:nvPr>
            <p:ph type="sldNum" sz="quarter" idx="12"/>
          </p:nvPr>
        </p:nvSpPr>
        <p:spPr/>
        <p:txBody>
          <a:bodyPr/>
          <a:lstStyle/>
          <a:p>
            <a:fld id="{DA8069C0-214C-4A4F-A48A-033E203F2B34}" type="slidenum">
              <a:rPr lang="es-PE" smtClean="0"/>
              <a:t>‹Nº›</a:t>
            </a:fld>
            <a:endParaRPr lang="es-PE"/>
          </a:p>
        </p:txBody>
      </p:sp>
    </p:spTree>
    <p:extLst>
      <p:ext uri="{BB962C8B-B14F-4D97-AF65-F5344CB8AC3E}">
        <p14:creationId xmlns:p14="http://schemas.microsoft.com/office/powerpoint/2010/main" val="1811310490"/>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Columna 3">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4200"/>
            </a:lvl1pPr>
          </a:lstStyle>
          <a:p>
            <a:r>
              <a:rPr lang="es-ES" smtClean="0"/>
              <a:t>Haga clic para modificar el estilo de título del patrón</a:t>
            </a:r>
            <a:endParaRPr lang="en-US" dirty="0"/>
          </a:p>
        </p:txBody>
      </p:sp>
      <p:sp>
        <p:nvSpPr>
          <p:cNvPr id="3" name="Text Placeholder 2"/>
          <p:cNvSpPr>
            <a:spLocks noGrp="1"/>
          </p:cNvSpPr>
          <p:nvPr>
            <p:ph type="body" idx="1"/>
          </p:nvPr>
        </p:nvSpPr>
        <p:spPr>
          <a:xfrm>
            <a:off x="632947" y="1981200"/>
            <a:ext cx="2946866" cy="576262"/>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smtClean="0"/>
              <a:t>Haga clic para modificar el estilo de texto del patrón</a:t>
            </a:r>
          </a:p>
        </p:txBody>
      </p:sp>
      <p:sp>
        <p:nvSpPr>
          <p:cNvPr id="16" name="Text Placeholder 3"/>
          <p:cNvSpPr>
            <a:spLocks noGrp="1"/>
          </p:cNvSpPr>
          <p:nvPr>
            <p:ph type="body" sz="half" idx="15"/>
          </p:nvPr>
        </p:nvSpPr>
        <p:spPr>
          <a:xfrm>
            <a:off x="652463" y="2667000"/>
            <a:ext cx="2927350"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smtClean="0"/>
              <a:t>Haga clic para modificar el estilo de texto del patrón</a:t>
            </a:r>
          </a:p>
        </p:txBody>
      </p:sp>
      <p:sp>
        <p:nvSpPr>
          <p:cNvPr id="5" name="Text Placeholder 4"/>
          <p:cNvSpPr>
            <a:spLocks noGrp="1"/>
          </p:cNvSpPr>
          <p:nvPr>
            <p:ph type="body" sz="quarter" idx="3"/>
          </p:nvPr>
        </p:nvSpPr>
        <p:spPr>
          <a:xfrm>
            <a:off x="3883659" y="1981200"/>
            <a:ext cx="2936241" cy="576262"/>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smtClean="0"/>
              <a:t>Haga clic para modificar el estilo de texto del patrón</a:t>
            </a:r>
          </a:p>
        </p:txBody>
      </p:sp>
      <p:sp>
        <p:nvSpPr>
          <p:cNvPr id="19" name="Text Placeholder 3"/>
          <p:cNvSpPr>
            <a:spLocks noGrp="1"/>
          </p:cNvSpPr>
          <p:nvPr>
            <p:ph type="body" sz="half" idx="16"/>
          </p:nvPr>
        </p:nvSpPr>
        <p:spPr>
          <a:xfrm>
            <a:off x="3873106" y="2667000"/>
            <a:ext cx="2946794"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smtClean="0"/>
              <a:t>Haga clic para modificar el estilo de texto del patrón</a:t>
            </a:r>
          </a:p>
        </p:txBody>
      </p:sp>
      <p:sp>
        <p:nvSpPr>
          <p:cNvPr id="14" name="Text Placeholder 4"/>
          <p:cNvSpPr>
            <a:spLocks noGrp="1"/>
          </p:cNvSpPr>
          <p:nvPr>
            <p:ph type="body" sz="quarter" idx="13"/>
          </p:nvPr>
        </p:nvSpPr>
        <p:spPr>
          <a:xfrm>
            <a:off x="7124700" y="1981200"/>
            <a:ext cx="2932113" cy="576262"/>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smtClean="0"/>
              <a:t>Haga clic para modificar el estilo de texto del patrón</a:t>
            </a:r>
          </a:p>
        </p:txBody>
      </p:sp>
      <p:sp>
        <p:nvSpPr>
          <p:cNvPr id="20" name="Text Placeholder 3"/>
          <p:cNvSpPr>
            <a:spLocks noGrp="1"/>
          </p:cNvSpPr>
          <p:nvPr>
            <p:ph type="body" sz="half" idx="17"/>
          </p:nvPr>
        </p:nvSpPr>
        <p:spPr>
          <a:xfrm>
            <a:off x="7124700" y="2667000"/>
            <a:ext cx="2932113"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smtClean="0"/>
              <a:t>Haga clic para modificar el estilo de texto del patrón</a:t>
            </a:r>
          </a:p>
        </p:txBody>
      </p:sp>
      <p:cxnSp>
        <p:nvCxnSpPr>
          <p:cNvPr id="17" name="Straight Connector 16"/>
          <p:cNvCxnSpPr/>
          <p:nvPr/>
        </p:nvCxnSpPr>
        <p:spPr>
          <a:xfrm>
            <a:off x="3726142" y="2133600"/>
            <a:ext cx="0" cy="3962400"/>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cxnSp>
        <p:nvCxnSpPr>
          <p:cNvPr id="18" name="Straight Connector 17"/>
          <p:cNvCxnSpPr/>
          <p:nvPr/>
        </p:nvCxnSpPr>
        <p:spPr>
          <a:xfrm>
            <a:off x="6962227" y="2133600"/>
            <a:ext cx="0" cy="3966882"/>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3"/>
          <p:cNvSpPr>
            <a:spLocks noGrp="1"/>
          </p:cNvSpPr>
          <p:nvPr>
            <p:ph type="dt" sz="half" idx="10"/>
          </p:nvPr>
        </p:nvSpPr>
        <p:spPr/>
        <p:txBody>
          <a:bodyPr/>
          <a:lstStyle/>
          <a:p>
            <a:fld id="{6F579CEF-6068-4F0E-82DE-019DD24B6433}" type="datetimeFigureOut">
              <a:rPr lang="es-PE" smtClean="0"/>
              <a:t>30/11/2015</a:t>
            </a:fld>
            <a:endParaRPr lang="es-PE"/>
          </a:p>
        </p:txBody>
      </p:sp>
      <p:sp>
        <p:nvSpPr>
          <p:cNvPr id="4" name="Footer Placeholder 4"/>
          <p:cNvSpPr>
            <a:spLocks noGrp="1"/>
          </p:cNvSpPr>
          <p:nvPr>
            <p:ph type="ftr" sz="quarter" idx="11"/>
          </p:nvPr>
        </p:nvSpPr>
        <p:spPr/>
        <p:txBody>
          <a:bodyPr/>
          <a:lstStyle/>
          <a:p>
            <a:endParaRPr lang="es-PE"/>
          </a:p>
        </p:txBody>
      </p:sp>
      <p:sp>
        <p:nvSpPr>
          <p:cNvPr id="6" name="Slide Number Placeholder 5"/>
          <p:cNvSpPr>
            <a:spLocks noGrp="1"/>
          </p:cNvSpPr>
          <p:nvPr>
            <p:ph type="sldNum" sz="quarter" idx="12"/>
          </p:nvPr>
        </p:nvSpPr>
        <p:spPr/>
        <p:txBody>
          <a:bodyPr/>
          <a:lstStyle/>
          <a:p>
            <a:fld id="{DA8069C0-214C-4A4F-A48A-033E203F2B34}" type="slidenum">
              <a:rPr lang="es-PE" smtClean="0"/>
              <a:t>‹Nº›</a:t>
            </a:fld>
            <a:endParaRPr lang="es-PE"/>
          </a:p>
        </p:txBody>
      </p:sp>
    </p:spTree>
    <p:extLst>
      <p:ext uri="{BB962C8B-B14F-4D97-AF65-F5344CB8AC3E}">
        <p14:creationId xmlns:p14="http://schemas.microsoft.com/office/powerpoint/2010/main" val="2006713570"/>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Columna de imagen 3">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4200"/>
            </a:lvl1pPr>
          </a:lstStyle>
          <a:p>
            <a:r>
              <a:rPr lang="es-ES" smtClean="0"/>
              <a:t>Haga clic para modificar el estilo de título del patrón</a:t>
            </a:r>
            <a:endParaRPr lang="en-US" dirty="0"/>
          </a:p>
        </p:txBody>
      </p:sp>
      <p:sp>
        <p:nvSpPr>
          <p:cNvPr id="3" name="Text Placeholder 2"/>
          <p:cNvSpPr>
            <a:spLocks noGrp="1"/>
          </p:cNvSpPr>
          <p:nvPr>
            <p:ph type="body" idx="1"/>
          </p:nvPr>
        </p:nvSpPr>
        <p:spPr>
          <a:xfrm>
            <a:off x="652463" y="4250949"/>
            <a:ext cx="2940050" cy="576262"/>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smtClean="0"/>
              <a:t>Haga clic para modificar el estilo de texto del patrón</a:t>
            </a:r>
          </a:p>
        </p:txBody>
      </p:sp>
      <p:sp>
        <p:nvSpPr>
          <p:cNvPr id="29" name="Picture Placeholder 2"/>
          <p:cNvSpPr>
            <a:spLocks noGrp="1" noChangeAspect="1"/>
          </p:cNvSpPr>
          <p:nvPr>
            <p:ph type="pic" idx="15"/>
          </p:nvPr>
        </p:nvSpPr>
        <p:spPr>
          <a:xfrm>
            <a:off x="652463" y="2209800"/>
            <a:ext cx="2940050"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s-ES" smtClean="0"/>
              <a:t>Haga clic en el icono para agregar una imagen</a:t>
            </a:r>
            <a:endParaRPr lang="en-US" dirty="0"/>
          </a:p>
        </p:txBody>
      </p:sp>
      <p:sp>
        <p:nvSpPr>
          <p:cNvPr id="22" name="Text Placeholder 3"/>
          <p:cNvSpPr>
            <a:spLocks noGrp="1"/>
          </p:cNvSpPr>
          <p:nvPr>
            <p:ph type="body" sz="half" idx="18"/>
          </p:nvPr>
        </p:nvSpPr>
        <p:spPr>
          <a:xfrm>
            <a:off x="652463" y="4827211"/>
            <a:ext cx="2940050"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smtClean="0"/>
              <a:t>Haga clic para modificar el estilo de texto del patrón</a:t>
            </a:r>
          </a:p>
        </p:txBody>
      </p:sp>
      <p:sp>
        <p:nvSpPr>
          <p:cNvPr id="5" name="Text Placeholder 4"/>
          <p:cNvSpPr>
            <a:spLocks noGrp="1"/>
          </p:cNvSpPr>
          <p:nvPr>
            <p:ph type="body" sz="quarter" idx="3"/>
          </p:nvPr>
        </p:nvSpPr>
        <p:spPr>
          <a:xfrm>
            <a:off x="3889375" y="4250949"/>
            <a:ext cx="2930525" cy="576262"/>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smtClean="0"/>
              <a:t>Haga clic para modificar el estilo de texto del patrón</a:t>
            </a:r>
          </a:p>
        </p:txBody>
      </p:sp>
      <p:sp>
        <p:nvSpPr>
          <p:cNvPr id="30" name="Picture Placeholder 2"/>
          <p:cNvSpPr>
            <a:spLocks noGrp="1" noChangeAspect="1"/>
          </p:cNvSpPr>
          <p:nvPr>
            <p:ph type="pic" idx="21"/>
          </p:nvPr>
        </p:nvSpPr>
        <p:spPr>
          <a:xfrm>
            <a:off x="3889374" y="2209800"/>
            <a:ext cx="2930525"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s-ES" smtClean="0"/>
              <a:t>Haga clic en el icono para agregar una imagen</a:t>
            </a:r>
            <a:endParaRPr lang="en-US" dirty="0"/>
          </a:p>
        </p:txBody>
      </p:sp>
      <p:sp>
        <p:nvSpPr>
          <p:cNvPr id="23" name="Text Placeholder 3"/>
          <p:cNvSpPr>
            <a:spLocks noGrp="1"/>
          </p:cNvSpPr>
          <p:nvPr>
            <p:ph type="body" sz="half" idx="19"/>
          </p:nvPr>
        </p:nvSpPr>
        <p:spPr>
          <a:xfrm>
            <a:off x="3888022" y="4827210"/>
            <a:ext cx="2934406"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smtClean="0"/>
              <a:t>Haga clic para modificar el estilo de texto del patrón</a:t>
            </a:r>
          </a:p>
        </p:txBody>
      </p:sp>
      <p:sp>
        <p:nvSpPr>
          <p:cNvPr id="14" name="Text Placeholder 4"/>
          <p:cNvSpPr>
            <a:spLocks noGrp="1"/>
          </p:cNvSpPr>
          <p:nvPr>
            <p:ph type="body" sz="quarter" idx="13"/>
          </p:nvPr>
        </p:nvSpPr>
        <p:spPr>
          <a:xfrm>
            <a:off x="7124700" y="4250949"/>
            <a:ext cx="2932113" cy="576262"/>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smtClean="0"/>
              <a:t>Haga clic para modificar el estilo de texto del patrón</a:t>
            </a:r>
          </a:p>
        </p:txBody>
      </p:sp>
      <p:sp>
        <p:nvSpPr>
          <p:cNvPr id="31" name="Picture Placeholder 2"/>
          <p:cNvSpPr>
            <a:spLocks noGrp="1" noChangeAspect="1"/>
          </p:cNvSpPr>
          <p:nvPr>
            <p:ph type="pic" idx="22"/>
          </p:nvPr>
        </p:nvSpPr>
        <p:spPr>
          <a:xfrm>
            <a:off x="7124699" y="2209800"/>
            <a:ext cx="2932113"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s-ES" smtClean="0"/>
              <a:t>Haga clic en el icono para agregar una imagen</a:t>
            </a:r>
            <a:endParaRPr lang="en-US" dirty="0"/>
          </a:p>
        </p:txBody>
      </p:sp>
      <p:sp>
        <p:nvSpPr>
          <p:cNvPr id="24" name="Text Placeholder 3"/>
          <p:cNvSpPr>
            <a:spLocks noGrp="1"/>
          </p:cNvSpPr>
          <p:nvPr>
            <p:ph type="body" sz="half" idx="20"/>
          </p:nvPr>
        </p:nvSpPr>
        <p:spPr>
          <a:xfrm>
            <a:off x="7124575" y="4827208"/>
            <a:ext cx="2935997"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smtClean="0"/>
              <a:t>Haga clic para modificar el estilo de texto del patrón</a:t>
            </a:r>
          </a:p>
        </p:txBody>
      </p:sp>
      <p:cxnSp>
        <p:nvCxnSpPr>
          <p:cNvPr id="17" name="Straight Connector 16"/>
          <p:cNvCxnSpPr/>
          <p:nvPr/>
        </p:nvCxnSpPr>
        <p:spPr>
          <a:xfrm>
            <a:off x="3726142" y="2133600"/>
            <a:ext cx="0" cy="3962400"/>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cxnSp>
        <p:nvCxnSpPr>
          <p:cNvPr id="18" name="Straight Connector 17"/>
          <p:cNvCxnSpPr/>
          <p:nvPr/>
        </p:nvCxnSpPr>
        <p:spPr>
          <a:xfrm>
            <a:off x="6962227" y="2133600"/>
            <a:ext cx="0" cy="3966882"/>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3"/>
          <p:cNvSpPr>
            <a:spLocks noGrp="1"/>
          </p:cNvSpPr>
          <p:nvPr>
            <p:ph type="dt" sz="half" idx="10"/>
          </p:nvPr>
        </p:nvSpPr>
        <p:spPr/>
        <p:txBody>
          <a:bodyPr/>
          <a:lstStyle/>
          <a:p>
            <a:fld id="{6F579CEF-6068-4F0E-82DE-019DD24B6433}" type="datetimeFigureOut">
              <a:rPr lang="es-PE" smtClean="0"/>
              <a:t>30/11/2015</a:t>
            </a:fld>
            <a:endParaRPr lang="es-PE"/>
          </a:p>
        </p:txBody>
      </p:sp>
      <p:sp>
        <p:nvSpPr>
          <p:cNvPr id="4" name="Footer Placeholder 4"/>
          <p:cNvSpPr>
            <a:spLocks noGrp="1"/>
          </p:cNvSpPr>
          <p:nvPr>
            <p:ph type="ftr" sz="quarter" idx="11"/>
          </p:nvPr>
        </p:nvSpPr>
        <p:spPr/>
        <p:txBody>
          <a:bodyPr/>
          <a:lstStyle/>
          <a:p>
            <a:endParaRPr lang="es-PE"/>
          </a:p>
        </p:txBody>
      </p:sp>
      <p:sp>
        <p:nvSpPr>
          <p:cNvPr id="6" name="Slide Number Placeholder 5"/>
          <p:cNvSpPr>
            <a:spLocks noGrp="1"/>
          </p:cNvSpPr>
          <p:nvPr>
            <p:ph type="sldNum" sz="quarter" idx="12"/>
          </p:nvPr>
        </p:nvSpPr>
        <p:spPr/>
        <p:txBody>
          <a:bodyPr/>
          <a:lstStyle/>
          <a:p>
            <a:fld id="{DA8069C0-214C-4A4F-A48A-033E203F2B34}" type="slidenum">
              <a:rPr lang="es-PE" smtClean="0"/>
              <a:t>‹Nº›</a:t>
            </a:fld>
            <a:endParaRPr lang="es-PE"/>
          </a:p>
        </p:txBody>
      </p:sp>
    </p:spTree>
    <p:extLst>
      <p:ext uri="{BB962C8B-B14F-4D97-AF65-F5344CB8AC3E}">
        <p14:creationId xmlns:p14="http://schemas.microsoft.com/office/powerpoint/2010/main" val="2835835553"/>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smtClean="0"/>
              <a:t>Haga clic para modificar el estilo de título del patrón</a:t>
            </a:r>
            <a:endParaRPr lang="en-US" dirty="0"/>
          </a:p>
        </p:txBody>
      </p:sp>
      <p:sp>
        <p:nvSpPr>
          <p:cNvPr id="3" name="Vertical Text Placeholder 2"/>
          <p:cNvSpPr>
            <a:spLocks noGrp="1"/>
          </p:cNvSpPr>
          <p:nvPr>
            <p:ph type="body" orient="vert" idx="1"/>
          </p:nvPr>
        </p:nvSpPr>
        <p:spPr/>
        <p:txBody>
          <a:bodyPr vert="eaVert" anchor="t" anchorCtr="0"/>
          <a:lstStyle/>
          <a:p>
            <a:pPr lvl="0"/>
            <a:r>
              <a:rPr lang="es-ES" smtClean="0"/>
              <a:t>Haga clic para modificar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n-US" dirty="0"/>
          </a:p>
        </p:txBody>
      </p:sp>
      <p:sp>
        <p:nvSpPr>
          <p:cNvPr id="4" name="Date Placeholder 3"/>
          <p:cNvSpPr>
            <a:spLocks noGrp="1"/>
          </p:cNvSpPr>
          <p:nvPr>
            <p:ph type="dt" sz="half" idx="10"/>
          </p:nvPr>
        </p:nvSpPr>
        <p:spPr/>
        <p:txBody>
          <a:bodyPr/>
          <a:lstStyle/>
          <a:p>
            <a:fld id="{6F579CEF-6068-4F0E-82DE-019DD24B6433}" type="datetimeFigureOut">
              <a:rPr lang="es-PE" smtClean="0"/>
              <a:t>30/11/2015</a:t>
            </a:fld>
            <a:endParaRPr lang="es-PE"/>
          </a:p>
        </p:txBody>
      </p:sp>
      <p:sp>
        <p:nvSpPr>
          <p:cNvPr id="5" name="Footer Placeholder 4"/>
          <p:cNvSpPr>
            <a:spLocks noGrp="1"/>
          </p:cNvSpPr>
          <p:nvPr>
            <p:ph type="ftr" sz="quarter" idx="11"/>
          </p:nvPr>
        </p:nvSpPr>
        <p:spPr/>
        <p:txBody>
          <a:bodyPr/>
          <a:lstStyle/>
          <a:p>
            <a:endParaRPr lang="es-PE"/>
          </a:p>
        </p:txBody>
      </p:sp>
      <p:sp>
        <p:nvSpPr>
          <p:cNvPr id="6" name="Slide Number Placeholder 5"/>
          <p:cNvSpPr>
            <a:spLocks noGrp="1"/>
          </p:cNvSpPr>
          <p:nvPr>
            <p:ph type="sldNum" sz="quarter" idx="12"/>
          </p:nvPr>
        </p:nvSpPr>
        <p:spPr/>
        <p:txBody>
          <a:bodyPr/>
          <a:lstStyle/>
          <a:p>
            <a:fld id="{DA8069C0-214C-4A4F-A48A-033E203F2B34}" type="slidenum">
              <a:rPr lang="es-PE" smtClean="0"/>
              <a:t>‹Nº›</a:t>
            </a:fld>
            <a:endParaRPr lang="es-PE"/>
          </a:p>
        </p:txBody>
      </p:sp>
    </p:spTree>
    <p:extLst>
      <p:ext uri="{BB962C8B-B14F-4D97-AF65-F5344CB8AC3E}">
        <p14:creationId xmlns:p14="http://schemas.microsoft.com/office/powerpoint/2010/main" val="355363506"/>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304212" y="430213"/>
            <a:ext cx="1752601" cy="5826125"/>
          </a:xfrm>
        </p:spPr>
        <p:txBody>
          <a:bodyPr vert="eaVert" anchor="b" anchorCtr="0"/>
          <a:lstStyle/>
          <a:p>
            <a:r>
              <a:rPr lang="es-ES" smtClean="0"/>
              <a:t>Haga clic para modificar el estilo de título del patrón</a:t>
            </a:r>
            <a:endParaRPr lang="en-US" dirty="0"/>
          </a:p>
        </p:txBody>
      </p:sp>
      <p:sp>
        <p:nvSpPr>
          <p:cNvPr id="3" name="Vertical Text Placeholder 2"/>
          <p:cNvSpPr>
            <a:spLocks noGrp="1"/>
          </p:cNvSpPr>
          <p:nvPr>
            <p:ph type="body" orient="vert" idx="1"/>
          </p:nvPr>
        </p:nvSpPr>
        <p:spPr>
          <a:xfrm>
            <a:off x="652463" y="887414"/>
            <a:ext cx="7423149" cy="5368924"/>
          </a:xfrm>
        </p:spPr>
        <p:txBody>
          <a:bodyPr vert="eaVert"/>
          <a:lstStyle/>
          <a:p>
            <a:pPr lvl="0"/>
            <a:r>
              <a:rPr lang="es-ES" smtClean="0"/>
              <a:t>Haga clic para modificar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n-US" dirty="0"/>
          </a:p>
        </p:txBody>
      </p:sp>
      <p:sp>
        <p:nvSpPr>
          <p:cNvPr id="4" name="Date Placeholder 3"/>
          <p:cNvSpPr>
            <a:spLocks noGrp="1"/>
          </p:cNvSpPr>
          <p:nvPr>
            <p:ph type="dt" sz="half" idx="10"/>
          </p:nvPr>
        </p:nvSpPr>
        <p:spPr/>
        <p:txBody>
          <a:bodyPr/>
          <a:lstStyle/>
          <a:p>
            <a:fld id="{6F579CEF-6068-4F0E-82DE-019DD24B6433}" type="datetimeFigureOut">
              <a:rPr lang="es-PE" smtClean="0"/>
              <a:t>30/11/2015</a:t>
            </a:fld>
            <a:endParaRPr lang="es-PE"/>
          </a:p>
        </p:txBody>
      </p:sp>
      <p:sp>
        <p:nvSpPr>
          <p:cNvPr id="5" name="Footer Placeholder 4"/>
          <p:cNvSpPr>
            <a:spLocks noGrp="1"/>
          </p:cNvSpPr>
          <p:nvPr>
            <p:ph type="ftr" sz="quarter" idx="11"/>
          </p:nvPr>
        </p:nvSpPr>
        <p:spPr/>
        <p:txBody>
          <a:bodyPr/>
          <a:lstStyle/>
          <a:p>
            <a:endParaRPr lang="es-PE"/>
          </a:p>
        </p:txBody>
      </p:sp>
      <p:sp>
        <p:nvSpPr>
          <p:cNvPr id="6" name="Slide Number Placeholder 5"/>
          <p:cNvSpPr>
            <a:spLocks noGrp="1"/>
          </p:cNvSpPr>
          <p:nvPr>
            <p:ph type="sldNum" sz="quarter" idx="12"/>
          </p:nvPr>
        </p:nvSpPr>
        <p:spPr/>
        <p:txBody>
          <a:bodyPr/>
          <a:lstStyle/>
          <a:p>
            <a:fld id="{DA8069C0-214C-4A4F-A48A-033E203F2B34}" type="slidenum">
              <a:rPr lang="es-PE" smtClean="0"/>
              <a:t>‹Nº›</a:t>
            </a:fld>
            <a:endParaRPr lang="es-PE"/>
          </a:p>
        </p:txBody>
      </p:sp>
    </p:spTree>
    <p:extLst>
      <p:ext uri="{BB962C8B-B14F-4D97-AF65-F5344CB8AC3E}">
        <p14:creationId xmlns:p14="http://schemas.microsoft.com/office/powerpoint/2010/main" val="51946061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21" Type="http://schemas.openxmlformats.org/officeDocument/2006/relationships/image" Target="../media/image4.png"/><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image" Target="../media/image3.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2.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image" Target="../media/image5.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pic>
        <p:nvPicPr>
          <p:cNvPr id="8" name="Picture 7"/>
          <p:cNvPicPr>
            <a:picLocks noChangeAspect="1"/>
          </p:cNvPicPr>
          <p:nvPr/>
        </p:nvPicPr>
        <p:blipFill rotWithShape="1">
          <a:blip r:embed="rId19">
            <a:extLst>
              <a:ext uri="{28A0092B-C50C-407E-A947-70E740481C1C}">
                <a14:useLocalDpi xmlns:a14="http://schemas.microsoft.com/office/drawing/2010/main" val="0"/>
              </a:ext>
            </a:extLst>
          </a:blip>
          <a:srcRect l="3613"/>
          <a:stretch/>
        </p:blipFill>
        <p:spPr>
          <a:xfrm>
            <a:off x="0" y="2669685"/>
            <a:ext cx="4037012" cy="4188315"/>
          </a:xfrm>
          <a:prstGeom prst="rect">
            <a:avLst/>
          </a:prstGeom>
        </p:spPr>
      </p:pic>
      <p:pic>
        <p:nvPicPr>
          <p:cNvPr id="7" name="Picture 6"/>
          <p:cNvPicPr>
            <a:picLocks noChangeAspect="1"/>
          </p:cNvPicPr>
          <p:nvPr/>
        </p:nvPicPr>
        <p:blipFill rotWithShape="1">
          <a:blip r:embed="rId20">
            <a:extLst>
              <a:ext uri="{28A0092B-C50C-407E-A947-70E740481C1C}">
                <a14:useLocalDpi xmlns:a14="http://schemas.microsoft.com/office/drawing/2010/main" val="0"/>
              </a:ext>
            </a:extLst>
          </a:blip>
          <a:srcRect l="35640"/>
          <a:stretch/>
        </p:blipFill>
        <p:spPr>
          <a:xfrm>
            <a:off x="0" y="2892347"/>
            <a:ext cx="1522412" cy="2365453"/>
          </a:xfrm>
          <a:prstGeom prst="rect">
            <a:avLst/>
          </a:prstGeom>
        </p:spPr>
      </p:pic>
      <p:sp>
        <p:nvSpPr>
          <p:cNvPr id="16" name="Oval 15"/>
          <p:cNvSpPr/>
          <p:nvPr/>
        </p:nvSpPr>
        <p:spPr>
          <a:xfrm>
            <a:off x="8609012" y="1676400"/>
            <a:ext cx="2819400" cy="2819400"/>
          </a:xfrm>
          <a:prstGeom prst="ellipse">
            <a:avLst/>
          </a:prstGeom>
          <a:gradFill flip="none" rotWithShape="1">
            <a:gsLst>
              <a:gs pos="0">
                <a:schemeClr val="accent1">
                  <a:lumMod val="60000"/>
                  <a:lumOff val="40000"/>
                  <a:alpha val="7000"/>
                </a:schemeClr>
              </a:gs>
              <a:gs pos="69000">
                <a:schemeClr val="accent1">
                  <a:lumMod val="60000"/>
                  <a:lumOff val="40000"/>
                  <a:alpha val="0"/>
                </a:schemeClr>
              </a:gs>
              <a:gs pos="36000">
                <a:schemeClr val="accent1">
                  <a:lumMod val="60000"/>
                  <a:lumOff val="40000"/>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pic>
        <p:nvPicPr>
          <p:cNvPr id="9" name="Picture 8"/>
          <p:cNvPicPr>
            <a:picLocks noChangeAspect="1"/>
          </p:cNvPicPr>
          <p:nvPr/>
        </p:nvPicPr>
        <p:blipFill rotWithShape="1">
          <a:blip r:embed="rId21">
            <a:extLst>
              <a:ext uri="{28A0092B-C50C-407E-A947-70E740481C1C}">
                <a14:useLocalDpi xmlns:a14="http://schemas.microsoft.com/office/drawing/2010/main" val="0"/>
              </a:ext>
            </a:extLst>
          </a:blip>
          <a:srcRect t="28713"/>
          <a:stretch/>
        </p:blipFill>
        <p:spPr>
          <a:xfrm>
            <a:off x="8000197" y="0"/>
            <a:ext cx="1603387" cy="1143000"/>
          </a:xfrm>
          <a:prstGeom prst="rect">
            <a:avLst/>
          </a:prstGeom>
        </p:spPr>
      </p:pic>
      <p:pic>
        <p:nvPicPr>
          <p:cNvPr id="10" name="Picture 9"/>
          <p:cNvPicPr>
            <a:picLocks noChangeAspect="1"/>
          </p:cNvPicPr>
          <p:nvPr/>
        </p:nvPicPr>
        <p:blipFill rotWithShape="1">
          <a:blip r:embed="rId22">
            <a:extLst>
              <a:ext uri="{28A0092B-C50C-407E-A947-70E740481C1C}">
                <a14:useLocalDpi xmlns:a14="http://schemas.microsoft.com/office/drawing/2010/main" val="0"/>
              </a:ext>
            </a:extLst>
          </a:blip>
          <a:srcRect b="24199"/>
          <a:stretch/>
        </p:blipFill>
        <p:spPr>
          <a:xfrm>
            <a:off x="8609012" y="6092866"/>
            <a:ext cx="993734" cy="765134"/>
          </a:xfrm>
          <a:prstGeom prst="rect">
            <a:avLst/>
          </a:prstGeom>
        </p:spPr>
      </p:pic>
      <p:sp>
        <p:nvSpPr>
          <p:cNvPr id="14" name="Rectangle 13"/>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2" name="Title Placeholder 1"/>
          <p:cNvSpPr>
            <a:spLocks noGrp="1"/>
          </p:cNvSpPr>
          <p:nvPr>
            <p:ph type="title"/>
          </p:nvPr>
        </p:nvSpPr>
        <p:spPr>
          <a:xfrm>
            <a:off x="646111" y="452718"/>
            <a:ext cx="9404723" cy="1400530"/>
          </a:xfrm>
          <a:prstGeom prst="rect">
            <a:avLst/>
          </a:prstGeom>
        </p:spPr>
        <p:txBody>
          <a:bodyPr vert="horz" lIns="91440" tIns="45720" rIns="91440" bIns="45720" rtlCol="0" anchor="t">
            <a:noAutofit/>
          </a:bodyPr>
          <a:lstStyle/>
          <a:p>
            <a:r>
              <a:rPr lang="es-ES" smtClean="0"/>
              <a:t>Haga clic para modificar el estilo de título del patrón</a:t>
            </a:r>
            <a:endParaRPr lang="en-US" dirty="0"/>
          </a:p>
        </p:txBody>
      </p:sp>
      <p:sp>
        <p:nvSpPr>
          <p:cNvPr id="3" name="Text Placeholder 2"/>
          <p:cNvSpPr>
            <a:spLocks noGrp="1"/>
          </p:cNvSpPr>
          <p:nvPr>
            <p:ph type="body" idx="1"/>
          </p:nvPr>
        </p:nvSpPr>
        <p:spPr>
          <a:xfrm>
            <a:off x="1103312" y="2052918"/>
            <a:ext cx="8946541" cy="4195481"/>
          </a:xfrm>
          <a:prstGeom prst="rect">
            <a:avLst/>
          </a:prstGeom>
        </p:spPr>
        <p:txBody>
          <a:bodyPr vert="horz" lIns="91440" tIns="45720" rIns="91440" bIns="45720" rtlCol="0">
            <a:normAutofit/>
          </a:bodyPr>
          <a:lstStyle/>
          <a:p>
            <a:pPr lvl="0"/>
            <a:r>
              <a:rPr lang="es-ES" smtClean="0"/>
              <a:t>Haga clic para modificar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n-US" dirty="0"/>
          </a:p>
        </p:txBody>
      </p:sp>
      <p:sp>
        <p:nvSpPr>
          <p:cNvPr id="4" name="Date Placeholder 3"/>
          <p:cNvSpPr>
            <a:spLocks noGrp="1"/>
          </p:cNvSpPr>
          <p:nvPr>
            <p:ph type="dt" sz="half" idx="2"/>
          </p:nvPr>
        </p:nvSpPr>
        <p:spPr>
          <a:xfrm rot="5400000">
            <a:off x="10155639" y="1790701"/>
            <a:ext cx="990599" cy="304799"/>
          </a:xfrm>
          <a:prstGeom prst="rect">
            <a:avLst/>
          </a:prstGeom>
        </p:spPr>
        <p:txBody>
          <a:bodyPr vert="horz" lIns="91440" tIns="45720" rIns="91440" bIns="45720" rtlCol="0" anchor="t"/>
          <a:lstStyle>
            <a:lvl1pPr algn="l">
              <a:defRPr sz="1100" b="0" i="0">
                <a:solidFill>
                  <a:schemeClr val="tx1">
                    <a:tint val="75000"/>
                    <a:alpha val="60000"/>
                  </a:schemeClr>
                </a:solidFill>
              </a:defRPr>
            </a:lvl1pPr>
          </a:lstStyle>
          <a:p>
            <a:fld id="{6F579CEF-6068-4F0E-82DE-019DD24B6433}" type="datetimeFigureOut">
              <a:rPr lang="es-PE" smtClean="0"/>
              <a:t>30/11/2015</a:t>
            </a:fld>
            <a:endParaRPr lang="es-PE"/>
          </a:p>
        </p:txBody>
      </p:sp>
      <p:sp>
        <p:nvSpPr>
          <p:cNvPr id="5" name="Footer Placeholder 4"/>
          <p:cNvSpPr>
            <a:spLocks noGrp="1"/>
          </p:cNvSpPr>
          <p:nvPr>
            <p:ph type="ftr" sz="quarter" idx="3"/>
          </p:nvPr>
        </p:nvSpPr>
        <p:spPr>
          <a:xfrm rot="5400000">
            <a:off x="8951573" y="3225297"/>
            <a:ext cx="3859795" cy="304801"/>
          </a:xfrm>
          <a:prstGeom prst="rect">
            <a:avLst/>
          </a:prstGeom>
        </p:spPr>
        <p:txBody>
          <a:bodyPr vert="horz" lIns="91440" tIns="45720" rIns="91440" bIns="45720" rtlCol="0" anchor="b"/>
          <a:lstStyle>
            <a:lvl1pPr algn="l">
              <a:defRPr sz="1100" b="0" i="0">
                <a:solidFill>
                  <a:schemeClr val="tx1">
                    <a:tint val="75000"/>
                    <a:alpha val="60000"/>
                  </a:schemeClr>
                </a:solidFill>
              </a:defRPr>
            </a:lvl1pPr>
          </a:lstStyle>
          <a:p>
            <a:endParaRPr lang="es-PE"/>
          </a:p>
        </p:txBody>
      </p:sp>
      <p:sp>
        <p:nvSpPr>
          <p:cNvPr id="6" name="Slide Number Placeholder 5"/>
          <p:cNvSpPr>
            <a:spLocks noGrp="1"/>
          </p:cNvSpPr>
          <p:nvPr>
            <p:ph type="sldNum" sz="quarter" idx="4"/>
          </p:nvPr>
        </p:nvSpPr>
        <p:spPr>
          <a:xfrm>
            <a:off x="10352540" y="295729"/>
            <a:ext cx="838199" cy="767687"/>
          </a:xfrm>
          <a:prstGeom prst="rect">
            <a:avLst/>
          </a:prstGeom>
        </p:spPr>
        <p:txBody>
          <a:bodyPr vert="horz" lIns="91440" tIns="45720" rIns="91440" bIns="45720" rtlCol="0" anchor="b"/>
          <a:lstStyle>
            <a:lvl1pPr algn="ctr">
              <a:defRPr sz="2800" b="0" i="0">
                <a:solidFill>
                  <a:schemeClr val="tx1">
                    <a:tint val="75000"/>
                  </a:schemeClr>
                </a:solidFill>
              </a:defRPr>
            </a:lvl1pPr>
          </a:lstStyle>
          <a:p>
            <a:fld id="{DA8069C0-214C-4A4F-A48A-033E203F2B34}" type="slidenum">
              <a:rPr lang="es-PE" smtClean="0"/>
              <a:t>‹Nº›</a:t>
            </a:fld>
            <a:endParaRPr lang="es-PE"/>
          </a:p>
        </p:txBody>
      </p:sp>
    </p:spTree>
    <p:extLst>
      <p:ext uri="{BB962C8B-B14F-4D97-AF65-F5344CB8AC3E}">
        <p14:creationId xmlns:p14="http://schemas.microsoft.com/office/powerpoint/2010/main" val="3940055346"/>
      </p:ext>
    </p:extLst>
  </p:cSld>
  <p:clrMap bg1="dk1" tx1="lt1" bg2="dk2" tx2="lt2" accent1="accent1" accent2="accent2" accent3="accent3" accent4="accent4" accent5="accent5" accent6="accent6" hlink="hlink" folHlink="folHlink"/>
  <p:sldLayoutIdLst>
    <p:sldLayoutId id="2147483733" r:id="rId1"/>
    <p:sldLayoutId id="2147483734" r:id="rId2"/>
    <p:sldLayoutId id="2147483735" r:id="rId3"/>
    <p:sldLayoutId id="2147483736" r:id="rId4"/>
    <p:sldLayoutId id="2147483737" r:id="rId5"/>
    <p:sldLayoutId id="2147483738" r:id="rId6"/>
    <p:sldLayoutId id="2147483739" r:id="rId7"/>
    <p:sldLayoutId id="2147483740" r:id="rId8"/>
    <p:sldLayoutId id="2147483741" r:id="rId9"/>
    <p:sldLayoutId id="2147483742" r:id="rId10"/>
    <p:sldLayoutId id="2147483743" r:id="rId11"/>
    <p:sldLayoutId id="2147483744" r:id="rId12"/>
    <p:sldLayoutId id="2147483745" r:id="rId13"/>
    <p:sldLayoutId id="2147483746" r:id="rId14"/>
    <p:sldLayoutId id="2147483747" r:id="rId15"/>
    <p:sldLayoutId id="2147483748" r:id="rId16"/>
    <p:sldLayoutId id="2147483749" r:id="rId17"/>
  </p:sldLayoutIdLst>
  <p:txStyles>
    <p:titleStyle>
      <a:lvl1pPr algn="l" defTabSz="457200" rtl="0" eaLnBrk="1" latinLnBrk="0" hangingPunct="1">
        <a:spcBef>
          <a:spcPct val="0"/>
        </a:spcBef>
        <a:buNone/>
        <a:defRPr sz="4200" b="0" i="0" kern="1200">
          <a:solidFill>
            <a:schemeClr val="tx2"/>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2000" b="0" i="0" kern="1200">
          <a:solidFill>
            <a:schemeClr val="tx1"/>
          </a:solidFill>
          <a:latin typeface="+mj-lt"/>
          <a:ea typeface="+mj-ea"/>
          <a:cs typeface="+mj-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800" b="0" i="0" kern="1200">
          <a:solidFill>
            <a:schemeClr val="tx1"/>
          </a:solidFill>
          <a:latin typeface="+mj-lt"/>
          <a:ea typeface="+mj-ea"/>
          <a:cs typeface="+mj-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600" b="0" i="0" kern="1200">
          <a:solidFill>
            <a:schemeClr val="tx1"/>
          </a:solidFill>
          <a:latin typeface="+mj-lt"/>
          <a:ea typeface="+mj-ea"/>
          <a:cs typeface="+mj-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400" b="0" i="0" kern="1200">
          <a:solidFill>
            <a:schemeClr val="tx1"/>
          </a:solidFill>
          <a:latin typeface="+mj-lt"/>
          <a:ea typeface="+mj-ea"/>
          <a:cs typeface="+mj-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400" b="0" i="0" kern="1200">
          <a:solidFill>
            <a:schemeClr val="tx1"/>
          </a:solidFill>
          <a:latin typeface="+mj-lt"/>
          <a:ea typeface="+mj-ea"/>
          <a:cs typeface="+mj-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400" b="0" i="0" kern="1200">
          <a:solidFill>
            <a:schemeClr val="tx1"/>
          </a:solidFill>
          <a:latin typeface="+mj-lt"/>
          <a:ea typeface="+mj-ea"/>
          <a:cs typeface="+mj-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400" b="0" i="0" kern="1200">
          <a:solidFill>
            <a:schemeClr val="tx1"/>
          </a:solidFill>
          <a:latin typeface="+mj-lt"/>
          <a:ea typeface="+mj-ea"/>
          <a:cs typeface="+mj-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400" b="0" i="0" kern="1200">
          <a:solidFill>
            <a:schemeClr val="tx1"/>
          </a:solidFill>
          <a:latin typeface="+mj-lt"/>
          <a:ea typeface="+mj-ea"/>
          <a:cs typeface="+mj-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400" b="0" i="0" kern="1200">
          <a:solidFill>
            <a:schemeClr val="tx1"/>
          </a:solidFill>
          <a:latin typeface="+mj-lt"/>
          <a:ea typeface="+mj-ea"/>
          <a:cs typeface="+mj-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7.emf"/><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3" Type="http://schemas.openxmlformats.org/officeDocument/2006/relationships/image" Target="../media/image22.emf"/><Relationship Id="rId2" Type="http://schemas.openxmlformats.org/officeDocument/2006/relationships/image" Target="../media/image21.emf"/><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2" Type="http://schemas.openxmlformats.org/officeDocument/2006/relationships/image" Target="../media/image22.emf"/><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21.emf"/><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image" Target="../media/image27.png"/><Relationship Id="rId1" Type="http://schemas.openxmlformats.org/officeDocument/2006/relationships/slideLayout" Target="../slideLayouts/slideLayout1.xml"/><Relationship Id="rId5" Type="http://schemas.openxmlformats.org/officeDocument/2006/relationships/image" Target="../media/image30.png"/><Relationship Id="rId4" Type="http://schemas.openxmlformats.org/officeDocument/2006/relationships/image" Target="../media/image29.png"/></Relationships>
</file>

<file path=ppt/slides/_rels/slide28.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image" Target="../media/image260.png"/><Relationship Id="rId1" Type="http://schemas.openxmlformats.org/officeDocument/2006/relationships/slideLayout" Target="../slideLayouts/slideLayout2.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29.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image" Target="../media/image31.emf"/><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image" Target="../media/image300.png"/><Relationship Id="rId2" Type="http://schemas.openxmlformats.org/officeDocument/2006/relationships/image" Target="../media/image290.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image" Target="../media/image33.emf"/><Relationship Id="rId2" Type="http://schemas.openxmlformats.org/officeDocument/2006/relationships/image" Target="../media/image31.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image" Target="../media/image34.jpe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image" Target="../media/image350.pn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image" Target="../media/image36.pn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image" Target="../media/image37.pn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image" Target="../media/image39.pn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image" Target="../media/image41.png"/><Relationship Id="rId1" Type="http://schemas.openxmlformats.org/officeDocument/2006/relationships/slideLayout" Target="../slideLayouts/slideLayout2.xml"/><Relationship Id="rId4" Type="http://schemas.openxmlformats.org/officeDocument/2006/relationships/image" Target="../media/image43.png"/></Relationships>
</file>

<file path=ppt/slides/_rels/slide39.xml.rels><?xml version="1.0" encoding="UTF-8" standalone="yes"?>
<Relationships xmlns="http://schemas.openxmlformats.org/package/2006/relationships"><Relationship Id="rId3" Type="http://schemas.openxmlformats.org/officeDocument/2006/relationships/image" Target="../media/image45.png"/><Relationship Id="rId2" Type="http://schemas.openxmlformats.org/officeDocument/2006/relationships/image" Target="../media/image44.png"/><Relationship Id="rId1" Type="http://schemas.openxmlformats.org/officeDocument/2006/relationships/slideLayout" Target="../slideLayouts/slideLayout2.xml"/><Relationship Id="rId4" Type="http://schemas.openxmlformats.org/officeDocument/2006/relationships/image" Target="../media/image46.png"/></Relationships>
</file>

<file path=ppt/slides/_rels/slide40.xml.rels><?xml version="1.0" encoding="UTF-8" standalone="yes"?>
<Relationships xmlns="http://schemas.openxmlformats.org/package/2006/relationships"><Relationship Id="rId2" Type="http://schemas.openxmlformats.org/officeDocument/2006/relationships/image" Target="../media/image47.png"/><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3" Type="http://schemas.openxmlformats.org/officeDocument/2006/relationships/image" Target="../media/image48.jpeg"/><Relationship Id="rId2" Type="http://schemas.openxmlformats.org/officeDocument/2006/relationships/hyperlink" Target="https://www.pce-instruments.com/espanol/instrumento-medida/medidor/viscosimetro-pce-instruments-viscos_metro-pce-rvi-4-vp-20-det_2684423.htm?_list=kat&amp;_listpos=7" TargetMode="Externa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image" Target="../media/image49.jpeg"/><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3" Type="http://schemas.openxmlformats.org/officeDocument/2006/relationships/hyperlink" Target="https://www.pce-instruments.com/espanol/laboratorio/instrumento-de-laboratorio/viscosimetro-pce-instruments-viscos_metro-de-copa-pce-127-det_2201864.htm?_list=kat&amp;_listpos=1" TargetMode="External"/><Relationship Id="rId2" Type="http://schemas.openxmlformats.org/officeDocument/2006/relationships/notesSlide" Target="../notesSlides/notesSlide1.xml"/><Relationship Id="rId1" Type="http://schemas.openxmlformats.org/officeDocument/2006/relationships/slideLayout" Target="../slideLayouts/slideLayout4.xml"/><Relationship Id="rId4" Type="http://schemas.openxmlformats.org/officeDocument/2006/relationships/image" Target="../media/image50.jpeg"/></Relationships>
</file>

<file path=ppt/slides/_rels/slide44.xml.rels><?xml version="1.0" encoding="UTF-8" standalone="yes"?>
<Relationships xmlns="http://schemas.openxmlformats.org/package/2006/relationships"><Relationship Id="rId3" Type="http://schemas.openxmlformats.org/officeDocument/2006/relationships/image" Target="../media/image51.jpeg"/><Relationship Id="rId2" Type="http://schemas.openxmlformats.org/officeDocument/2006/relationships/hyperlink" Target="https://www.pce-instruments.com/espanol/laboratorio/instrumento-de-laboratorio/viscosimetro-pce-instruments-viscos_metro-de-copa-pce-128-det_2201862.htm?_list=kat&amp;_listpos=2" TargetMode="External"/><Relationship Id="rId1" Type="http://schemas.openxmlformats.org/officeDocument/2006/relationships/slideLayout" Target="../slideLayouts/slideLayout4.xml"/></Relationships>
</file>

<file path=ppt/slides/_rels/slide45.xml.rels><?xml version="1.0" encoding="UTF-8" standalone="yes"?>
<Relationships xmlns="http://schemas.openxmlformats.org/package/2006/relationships"><Relationship Id="rId3" Type="http://schemas.openxmlformats.org/officeDocument/2006/relationships/image" Target="../media/image52.jpeg"/><Relationship Id="rId2" Type="http://schemas.openxmlformats.org/officeDocument/2006/relationships/hyperlink" Target="https://www.pce-instruments.com/espanol/instrumento-medida/medidor/viscosimetro-pce-instruments-viscos_metro-anal_gico-pce-rvi-1-det_287673.htm?_list=kat&amp;_listpos=3" TargetMode="External"/><Relationship Id="rId1" Type="http://schemas.openxmlformats.org/officeDocument/2006/relationships/slideLayout" Target="../slideLayouts/slideLayout4.xml"/></Relationships>
</file>

<file path=ppt/slides/_rels/slide46.xml.rels><?xml version="1.0" encoding="UTF-8" standalone="yes"?>
<Relationships xmlns="http://schemas.openxmlformats.org/package/2006/relationships"><Relationship Id="rId3" Type="http://schemas.openxmlformats.org/officeDocument/2006/relationships/hyperlink" Target="https://www.pce-instruments.com/espanol/instrumento-medida/medidor/viscosimetro-pce-instruments-viscos_metro-pce-rvi-6-det_1836235.htm?_list=kat&amp;_listpos=4" TargetMode="External"/><Relationship Id="rId2" Type="http://schemas.openxmlformats.org/officeDocument/2006/relationships/notesSlide" Target="../notesSlides/notesSlide2.xml"/><Relationship Id="rId1" Type="http://schemas.openxmlformats.org/officeDocument/2006/relationships/slideLayout" Target="../slideLayouts/slideLayout4.xml"/><Relationship Id="rId4" Type="http://schemas.openxmlformats.org/officeDocument/2006/relationships/image" Target="../media/image53.jpeg"/></Relationships>
</file>

<file path=ppt/slides/_rels/slide47.xml.rels><?xml version="1.0" encoding="UTF-8" standalone="yes"?>
<Relationships xmlns="http://schemas.openxmlformats.org/package/2006/relationships"><Relationship Id="rId3" Type="http://schemas.openxmlformats.org/officeDocument/2006/relationships/hyperlink" Target="https://www.pce-instruments.com/espanol/instrumento-medida/medidor/viscosimetro-pce-holding-gmbh-viscos_metro-m_vil-pce-rvi-3-vp-20-det_356563.htm?_list=kat&amp;_listpos=5" TargetMode="External"/><Relationship Id="rId2" Type="http://schemas.openxmlformats.org/officeDocument/2006/relationships/notesSlide" Target="../notesSlides/notesSlide3.xml"/><Relationship Id="rId1" Type="http://schemas.openxmlformats.org/officeDocument/2006/relationships/slideLayout" Target="../slideLayouts/slideLayout4.xml"/><Relationship Id="rId4" Type="http://schemas.openxmlformats.org/officeDocument/2006/relationships/image" Target="../media/image54.jpeg"/></Relationships>
</file>

<file path=ppt/slides/_rels/slide48.xml.rels><?xml version="1.0" encoding="UTF-8" standalone="yes"?>
<Relationships xmlns="http://schemas.openxmlformats.org/package/2006/relationships"><Relationship Id="rId3" Type="http://schemas.openxmlformats.org/officeDocument/2006/relationships/image" Target="../media/image48.jpeg"/><Relationship Id="rId2" Type="http://schemas.openxmlformats.org/officeDocument/2006/relationships/hyperlink" Target="https://www.pce-instruments.com/espanol/instrumento-medida/medidor/viscosimetro-pce-instruments-viscos_metro-pce-rvi-4-vp-20-det_2684423.htm?_list=kat&amp;_listpos=7" TargetMode="External"/><Relationship Id="rId1" Type="http://schemas.openxmlformats.org/officeDocument/2006/relationships/slideLayout" Target="../slideLayouts/slideLayout4.xml"/></Relationships>
</file>

<file path=ppt/slides/_rels/slide49.xml.rels><?xml version="1.0" encoding="UTF-8" standalone="yes"?>
<Relationships xmlns="http://schemas.openxmlformats.org/package/2006/relationships"><Relationship Id="rId3" Type="http://schemas.openxmlformats.org/officeDocument/2006/relationships/image" Target="../media/image48.jpeg"/><Relationship Id="rId2" Type="http://schemas.openxmlformats.org/officeDocument/2006/relationships/hyperlink" Target="https://www.pce-instruments.com/espanol/instrumento-medida/medidor/viscosimetro-pce-instruments-viscos_metro-pce-rvi-4-vp-60-det_2684425.htm?_list=kat&amp;_listpos=8" TargetMode="External"/><Relationship Id="rId1" Type="http://schemas.openxmlformats.org/officeDocument/2006/relationships/slideLayout" Target="../slideLayouts/slideLayout4.xml"/></Relationships>
</file>

<file path=ppt/slides/_rels/slide50.xml.rels><?xml version="1.0" encoding="UTF-8" standalone="yes"?>
<Relationships xmlns="http://schemas.openxmlformats.org/package/2006/relationships"><Relationship Id="rId3" Type="http://schemas.openxmlformats.org/officeDocument/2006/relationships/image" Target="../media/image55.jpeg"/><Relationship Id="rId2" Type="http://schemas.openxmlformats.org/officeDocument/2006/relationships/hyperlink" Target="https://www.pce-instruments.com/espanol/instrumento-medida/medidor/viscosimetro-pce-instruments-viscos_metro-pce-rvi-7-det_2776210.htm?_list=kat&amp;_listpos=9" TargetMode="External"/><Relationship Id="rId1" Type="http://schemas.openxmlformats.org/officeDocument/2006/relationships/slideLayout" Target="../slideLayouts/slideLayout4.xml"/></Relationships>
</file>

<file path=ppt/slides/_rels/slide51.xml.rels><?xml version="1.0" encoding="UTF-8" standalone="yes"?>
<Relationships xmlns="http://schemas.openxmlformats.org/package/2006/relationships"><Relationship Id="rId3" Type="http://schemas.openxmlformats.org/officeDocument/2006/relationships/image" Target="../media/image56.jpeg"/><Relationship Id="rId2" Type="http://schemas.openxmlformats.org/officeDocument/2006/relationships/hyperlink" Target="https://www.pce-instruments.com/espanol/instrumento-medida/medidor/viscosimetro-pce-instruments-viscos_metro-de-rotaci_n-pce-rvi-2-v1r-det_313720.htm?_list=kat&amp;_listpos=11" TargetMode="External"/><Relationship Id="rId1" Type="http://schemas.openxmlformats.org/officeDocument/2006/relationships/slideLayout" Target="../slideLayouts/slideLayout4.xml"/></Relationships>
</file>

<file path=ppt/slides/_rels/slide52.xml.rels><?xml version="1.0" encoding="UTF-8" standalone="yes"?>
<Relationships xmlns="http://schemas.openxmlformats.org/package/2006/relationships"><Relationship Id="rId3" Type="http://schemas.openxmlformats.org/officeDocument/2006/relationships/image" Target="../media/image57.jpeg"/><Relationship Id="rId2" Type="http://schemas.openxmlformats.org/officeDocument/2006/relationships/hyperlink" Target="https://www.pce-instruments.com/espanol/instrumento-medida/medidor/viscosimetro-pce-instruments-viscos_metro-pce-rvi-5-det_2760932.htm?_list=kat&amp;_listpos=12" TargetMode="External"/><Relationship Id="rId1" Type="http://schemas.openxmlformats.org/officeDocument/2006/relationships/slideLayout" Target="../slideLayouts/slideLayout4.xml"/></Relationships>
</file>

<file path=ppt/slides/_rels/slide53.xml.rels><?xml version="1.0" encoding="UTF-8" standalone="yes"?>
<Relationships xmlns="http://schemas.openxmlformats.org/package/2006/relationships"><Relationship Id="rId3" Type="http://schemas.openxmlformats.org/officeDocument/2006/relationships/hyperlink" Target="https://www.pce-instruments.com/espanol/instrumento-medida/medidor/viscosimetro-endecotts-limited-viscos_metro-zxcon-extended-det_404637.htm?_list=kat&amp;_listpos=14" TargetMode="External"/><Relationship Id="rId2" Type="http://schemas.openxmlformats.org/officeDocument/2006/relationships/hyperlink" Target="https://www.pce-instruments.com/espanol/instrumento-medida/medidor/viscosimetro-endecotts-limited-viscos_metro-zxcon-det_404635.htm?_list=kat&amp;_listpos=13" TargetMode="External"/><Relationship Id="rId1" Type="http://schemas.openxmlformats.org/officeDocument/2006/relationships/slideLayout" Target="../slideLayouts/slideLayout4.xml"/><Relationship Id="rId4" Type="http://schemas.openxmlformats.org/officeDocument/2006/relationships/image" Target="../media/image58.jpeg"/></Relationships>
</file>

<file path=ppt/slides/_rels/slide54.xml.rels><?xml version="1.0" encoding="UTF-8" standalone="yes"?>
<Relationships xmlns="http://schemas.openxmlformats.org/package/2006/relationships"><Relationship Id="rId3" Type="http://schemas.openxmlformats.org/officeDocument/2006/relationships/image" Target="../media/image59.jpeg"/><Relationship Id="rId2" Type="http://schemas.openxmlformats.org/officeDocument/2006/relationships/hyperlink" Target="https://www.pce-instruments.com/espanol/instrumento-medida/medidor/viscosimetro-erichsen-gmbh-co.-kg-viscos_metro-cuptimer-243-t-1-clase-de-referencia-det_404654.htm?_list=kat&amp;_listpos=17" TargetMode="External"/><Relationship Id="rId1" Type="http://schemas.openxmlformats.org/officeDocument/2006/relationships/slideLayout" Target="../slideLayouts/slideLayout4.xml"/></Relationships>
</file>

<file path=ppt/slides/_rels/slide55.xml.rels><?xml version="1.0" encoding="UTF-8" standalone="yes"?>
<Relationships xmlns="http://schemas.openxmlformats.org/package/2006/relationships"><Relationship Id="rId3" Type="http://schemas.openxmlformats.org/officeDocument/2006/relationships/image" Target="../media/image60.jpeg"/><Relationship Id="rId2" Type="http://schemas.openxmlformats.org/officeDocument/2006/relationships/hyperlink" Target="https://www.pce-instruments.com/espanol/instrumento-medida/medidor/viscosimetro-hydramotion-viscos_metro-viscolite-d15-det_404646.htm?_list=kat&amp;_listpos=21" TargetMode="External"/><Relationship Id="rId1" Type="http://schemas.openxmlformats.org/officeDocument/2006/relationships/slideLayout" Target="../slideLayouts/slideLayout4.xml"/></Relationships>
</file>

<file path=ppt/slides/_rels/slide56.xml.rels><?xml version="1.0" encoding="UTF-8" standalone="yes"?>
<Relationships xmlns="http://schemas.openxmlformats.org/package/2006/relationships"><Relationship Id="rId3" Type="http://schemas.openxmlformats.org/officeDocument/2006/relationships/image" Target="../media/image61.jpeg"/><Relationship Id="rId2" Type="http://schemas.openxmlformats.org/officeDocument/2006/relationships/hyperlink" Target="https://www.pce-instruments.com/espanol/instrumento-medida/medidor/viscosimetro-lemis-baltic-viscos_metro-lemis-vm-250.1-det_404736.htm?_list=kat&amp;_listpos=23" TargetMode="External"/><Relationship Id="rId1" Type="http://schemas.openxmlformats.org/officeDocument/2006/relationships/slideLayout" Target="../slideLayouts/slideLayout4.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8.xml.rels><?xml version="1.0" encoding="UTF-8" standalone="yes"?>
<Relationships xmlns="http://schemas.openxmlformats.org/package/2006/relationships"><Relationship Id="rId3" Type="http://schemas.openxmlformats.org/officeDocument/2006/relationships/image" Target="../media/image62.png"/><Relationship Id="rId2" Type="http://schemas.openxmlformats.org/officeDocument/2006/relationships/image" Target="../media/image180.png"/><Relationship Id="rId1" Type="http://schemas.openxmlformats.org/officeDocument/2006/relationships/slideLayout" Target="../slideLayouts/slideLayout2.xml"/><Relationship Id="rId4" Type="http://schemas.openxmlformats.org/officeDocument/2006/relationships/image" Target="../media/image63.png"/></Relationships>
</file>

<file path=ppt/slides/_rels/slide59.xml.rels><?xml version="1.0" encoding="UTF-8" standalone="yes"?>
<Relationships xmlns="http://schemas.openxmlformats.org/package/2006/relationships"><Relationship Id="rId3" Type="http://schemas.openxmlformats.org/officeDocument/2006/relationships/image" Target="../media/image220.png"/><Relationship Id="rId2" Type="http://schemas.openxmlformats.org/officeDocument/2006/relationships/image" Target="../media/image64.png"/><Relationship Id="rId1" Type="http://schemas.openxmlformats.org/officeDocument/2006/relationships/slideLayout" Target="../slideLayouts/slideLayout2.xml"/><Relationship Id="rId4" Type="http://schemas.openxmlformats.org/officeDocument/2006/relationships/image" Target="../media/image65.png"/></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2" Type="http://schemas.openxmlformats.org/officeDocument/2006/relationships/image" Target="../media/image66.png"/><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2" Type="http://schemas.openxmlformats.org/officeDocument/2006/relationships/image" Target="../media/image67.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ctrTitle"/>
          </p:nvPr>
        </p:nvSpPr>
        <p:spPr>
          <a:xfrm>
            <a:off x="1524000" y="1070518"/>
            <a:ext cx="9144000" cy="1123602"/>
          </a:xfrm>
        </p:spPr>
        <p:txBody>
          <a:bodyPr/>
          <a:lstStyle/>
          <a:p>
            <a:r>
              <a:rPr lang="es-PE" dirty="0" smtClean="0"/>
              <a:t>VISCOSIDAD</a:t>
            </a:r>
            <a:endParaRPr lang="es-PE" dirty="0"/>
          </a:p>
        </p:txBody>
      </p:sp>
      <p:sp>
        <p:nvSpPr>
          <p:cNvPr id="3" name="Subtítulo 2"/>
          <p:cNvSpPr>
            <a:spLocks noGrp="1"/>
          </p:cNvSpPr>
          <p:nvPr>
            <p:ph type="subTitle" idx="1"/>
          </p:nvPr>
        </p:nvSpPr>
        <p:spPr>
          <a:xfrm>
            <a:off x="1011043" y="2397706"/>
            <a:ext cx="10809249" cy="2575738"/>
          </a:xfrm>
        </p:spPr>
        <p:txBody>
          <a:bodyPr>
            <a:normAutofit/>
          </a:bodyPr>
          <a:lstStyle/>
          <a:p>
            <a:pPr algn="just"/>
            <a:r>
              <a:rPr lang="es-PE" dirty="0"/>
              <a:t>El concepto de viscosidad nació con Newton, cuando en su obra "</a:t>
            </a:r>
            <a:r>
              <a:rPr lang="es-PE" dirty="0" err="1"/>
              <a:t>Philosophiae</a:t>
            </a:r>
            <a:r>
              <a:rPr lang="es-PE" dirty="0"/>
              <a:t> </a:t>
            </a:r>
            <a:r>
              <a:rPr lang="es-PE" dirty="0" err="1"/>
              <a:t>Naturalis</a:t>
            </a:r>
            <a:r>
              <a:rPr lang="es-PE" dirty="0"/>
              <a:t>. Principia </a:t>
            </a:r>
            <a:r>
              <a:rPr lang="es-PE" dirty="0" err="1"/>
              <a:t>Matematica</a:t>
            </a:r>
            <a:r>
              <a:rPr lang="es-PE" dirty="0"/>
              <a:t>"  afirmó que la resistencia ejercida, y que surge a partir de una falta en el deslizamiento de un fluido, si el resto de factores se mantienen, es proporcional a la velocidad a la que las partes de un fluido son separadas entre sí. </a:t>
            </a:r>
          </a:p>
        </p:txBody>
      </p:sp>
      <p:pic>
        <p:nvPicPr>
          <p:cNvPr id="4" name="Imagen 3"/>
          <p:cNvPicPr/>
          <p:nvPr/>
        </p:nvPicPr>
        <p:blipFill rotWithShape="1">
          <a:blip r:embed="rId2"/>
          <a:srcRect l="69326" t="69097" r="6239" b="19383"/>
          <a:stretch/>
        </p:blipFill>
        <p:spPr bwMode="auto">
          <a:xfrm>
            <a:off x="1162885" y="4520540"/>
            <a:ext cx="5252782" cy="1312980"/>
          </a:xfrm>
          <a:prstGeom prst="rect">
            <a:avLst/>
          </a:prstGeom>
          <a:ln>
            <a:noFill/>
          </a:ln>
          <a:extLst>
            <a:ext uri="{53640926-AAD7-44D8-BBD7-CCE9431645EC}">
              <a14:shadowObscured xmlns:a14="http://schemas.microsoft.com/office/drawing/2010/main"/>
            </a:ext>
          </a:extLst>
        </p:spPr>
      </p:pic>
      <p:pic>
        <p:nvPicPr>
          <p:cNvPr id="5" name="Imagen 4"/>
          <p:cNvPicPr>
            <a:picLocks noChangeAspect="1"/>
          </p:cNvPicPr>
          <p:nvPr/>
        </p:nvPicPr>
        <p:blipFill>
          <a:blip r:embed="rId3"/>
          <a:stretch>
            <a:fillRect/>
          </a:stretch>
        </p:blipFill>
        <p:spPr>
          <a:xfrm>
            <a:off x="7206845" y="3892446"/>
            <a:ext cx="4613447" cy="2865193"/>
          </a:xfrm>
          <a:prstGeom prst="rect">
            <a:avLst/>
          </a:prstGeom>
        </p:spPr>
      </p:pic>
    </p:spTree>
    <p:extLst>
      <p:ext uri="{BB962C8B-B14F-4D97-AF65-F5344CB8AC3E}">
        <p14:creationId xmlns:p14="http://schemas.microsoft.com/office/powerpoint/2010/main" val="1483276120"/>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Marcador de contenido 2"/>
          <p:cNvSpPr>
            <a:spLocks noGrp="1"/>
          </p:cNvSpPr>
          <p:nvPr>
            <p:ph idx="1"/>
          </p:nvPr>
        </p:nvSpPr>
        <p:spPr>
          <a:xfrm>
            <a:off x="838201" y="379141"/>
            <a:ext cx="8997176" cy="6110869"/>
          </a:xfrm>
        </p:spPr>
        <p:txBody>
          <a:bodyPr>
            <a:normAutofit/>
          </a:bodyPr>
          <a:lstStyle/>
          <a:p>
            <a:pPr algn="just"/>
            <a:r>
              <a:rPr lang="es-PE" dirty="0"/>
              <a:t>Los fluidos de alta viscosidad presentan una cierta resistencia a fluir </a:t>
            </a:r>
          </a:p>
          <a:p>
            <a:pPr algn="just"/>
            <a:r>
              <a:rPr lang="es-PE" dirty="0" smtClean="0"/>
              <a:t>los fluidos de </a:t>
            </a:r>
            <a:r>
              <a:rPr lang="es-PE" dirty="0"/>
              <a:t>baja viscosidad fluyen con facilidad</a:t>
            </a:r>
            <a:r>
              <a:rPr lang="es-PE" dirty="0" smtClean="0"/>
              <a:t>.</a:t>
            </a:r>
          </a:p>
          <a:p>
            <a:pPr algn="just"/>
            <a:r>
              <a:rPr lang="es-PE" dirty="0" smtClean="0"/>
              <a:t> </a:t>
            </a:r>
            <a:r>
              <a:rPr lang="es-PE" dirty="0"/>
              <a:t>La fuerza con la que una capa de fluido en movimiento arrastra consigo a las capas adyacentes de fluido determina su viscosidad. </a:t>
            </a:r>
          </a:p>
          <a:p>
            <a:pPr algn="just"/>
            <a:r>
              <a:rPr lang="es-PE" dirty="0"/>
              <a:t> La medida de la viscosidad se expresa comúnmente con dos sistemas de unidades SAYBOLT (SUS) o en el sistema métrico CENTISTOKES (CST). </a:t>
            </a:r>
            <a:endParaRPr lang="es-PE" dirty="0" smtClean="0"/>
          </a:p>
          <a:p>
            <a:pPr algn="just"/>
            <a:r>
              <a:rPr lang="es-PE" dirty="0"/>
              <a:t>La viscosidad de un fluido Newtoniano se suele representar con la letra griega </a:t>
            </a:r>
            <a:r>
              <a:rPr lang="es-PE" dirty="0" smtClean="0"/>
              <a:t>μ.</a:t>
            </a:r>
          </a:p>
          <a:p>
            <a:pPr algn="just"/>
            <a:r>
              <a:rPr lang="es-PE" dirty="0" smtClean="0"/>
              <a:t>para </a:t>
            </a:r>
            <a:r>
              <a:rPr lang="es-PE" dirty="0"/>
              <a:t>fluidos no Newtonianos la viscosidad aparente se suele representar entonces con la letra griega η.  </a:t>
            </a:r>
          </a:p>
          <a:p>
            <a:endParaRPr lang="es-PE" dirty="0"/>
          </a:p>
        </p:txBody>
      </p:sp>
    </p:spTree>
    <p:extLst>
      <p:ext uri="{BB962C8B-B14F-4D97-AF65-F5344CB8AC3E}">
        <p14:creationId xmlns:p14="http://schemas.microsoft.com/office/powerpoint/2010/main" val="3968291570"/>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normAutofit/>
          </a:bodyPr>
          <a:lstStyle/>
          <a:p>
            <a:pPr algn="ctr"/>
            <a:r>
              <a:rPr lang="es-PE" b="1" dirty="0"/>
              <a:t>Valores </a:t>
            </a:r>
            <a:r>
              <a:rPr lang="es-PE" b="1" dirty="0" smtClean="0"/>
              <a:t>de viscosidad para diversos materiales.</a:t>
            </a:r>
            <a:endParaRPr lang="es-PE" b="1" dirty="0"/>
          </a:p>
        </p:txBody>
      </p:sp>
      <p:pic>
        <p:nvPicPr>
          <p:cNvPr id="4" name="Imagen 3"/>
          <p:cNvPicPr>
            <a:picLocks noChangeAspect="1"/>
          </p:cNvPicPr>
          <p:nvPr/>
        </p:nvPicPr>
        <p:blipFill>
          <a:blip r:embed="rId2"/>
          <a:stretch>
            <a:fillRect/>
          </a:stretch>
        </p:blipFill>
        <p:spPr>
          <a:xfrm>
            <a:off x="3523785" y="2093706"/>
            <a:ext cx="4793940" cy="4332440"/>
          </a:xfrm>
          <a:prstGeom prst="rect">
            <a:avLst/>
          </a:prstGeom>
        </p:spPr>
      </p:pic>
    </p:spTree>
    <p:extLst>
      <p:ext uri="{BB962C8B-B14F-4D97-AF65-F5344CB8AC3E}">
        <p14:creationId xmlns:p14="http://schemas.microsoft.com/office/powerpoint/2010/main" val="1710338640"/>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838200" y="1825625"/>
            <a:ext cx="10515600" cy="1325563"/>
          </a:xfrm>
        </p:spPr>
        <p:txBody>
          <a:bodyPr>
            <a:normAutofit/>
          </a:bodyPr>
          <a:lstStyle/>
          <a:p>
            <a:r>
              <a:rPr lang="es-PE" sz="4000" dirty="0" smtClean="0"/>
              <a:t>FLUIDO NEWTONIANO</a:t>
            </a:r>
            <a:endParaRPr lang="es-PE" sz="4000" dirty="0"/>
          </a:p>
        </p:txBody>
      </p:sp>
      <p:sp>
        <p:nvSpPr>
          <p:cNvPr id="3" name="Marcador de contenido 2"/>
          <p:cNvSpPr>
            <a:spLocks noGrp="1"/>
          </p:cNvSpPr>
          <p:nvPr>
            <p:ph idx="1"/>
          </p:nvPr>
        </p:nvSpPr>
        <p:spPr>
          <a:xfrm>
            <a:off x="838200" y="2985352"/>
            <a:ext cx="6499302" cy="4351338"/>
          </a:xfrm>
        </p:spPr>
        <p:txBody>
          <a:bodyPr/>
          <a:lstStyle/>
          <a:p>
            <a:pPr marL="0" indent="0" algn="just">
              <a:buNone/>
            </a:pPr>
            <a:r>
              <a:rPr lang="es-PE" dirty="0"/>
              <a:t>fluido cuyo valor de viscosidad, a una presión y temperatura dadas, es único para cualquier velocidad de cizalla, siendo independiente del tiempo de aplicación de la cizalla.</a:t>
            </a:r>
          </a:p>
          <a:p>
            <a:pPr marL="0" indent="0" algn="just">
              <a:buNone/>
            </a:pPr>
            <a:r>
              <a:rPr lang="es-PE" dirty="0"/>
              <a:t>Para líquidos Newtonianos, la viscosidad también se denomina coeficiente de viscosidad. </a:t>
            </a:r>
          </a:p>
        </p:txBody>
      </p:sp>
      <p:pic>
        <p:nvPicPr>
          <p:cNvPr id="4" name="Imagen 3"/>
          <p:cNvPicPr>
            <a:picLocks noChangeAspect="1"/>
          </p:cNvPicPr>
          <p:nvPr/>
        </p:nvPicPr>
        <p:blipFill>
          <a:blip r:embed="rId2"/>
          <a:stretch>
            <a:fillRect/>
          </a:stretch>
        </p:blipFill>
        <p:spPr>
          <a:xfrm>
            <a:off x="7401804" y="2488406"/>
            <a:ext cx="4440408" cy="3800843"/>
          </a:xfrm>
          <a:prstGeom prst="rect">
            <a:avLst/>
          </a:prstGeom>
        </p:spPr>
      </p:pic>
      <p:sp>
        <p:nvSpPr>
          <p:cNvPr id="5" name="Título 1"/>
          <p:cNvSpPr txBox="1">
            <a:spLocks/>
          </p:cNvSpPr>
          <p:nvPr/>
        </p:nvSpPr>
        <p:spPr>
          <a:xfrm>
            <a:off x="347546" y="417144"/>
            <a:ext cx="10515600"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s-PE" b="1" dirty="0" smtClean="0"/>
              <a:t>CLASIFICACIÓN DE LOS FLUJOS VISCOSOS</a:t>
            </a:r>
            <a:endParaRPr lang="es-PE" b="1" dirty="0"/>
          </a:p>
        </p:txBody>
      </p:sp>
    </p:spTree>
    <p:extLst>
      <p:ext uri="{BB962C8B-B14F-4D97-AF65-F5344CB8AC3E}">
        <p14:creationId xmlns:p14="http://schemas.microsoft.com/office/powerpoint/2010/main" val="3134798255"/>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838200" y="500062"/>
            <a:ext cx="10515600" cy="1325563"/>
          </a:xfrm>
        </p:spPr>
        <p:txBody>
          <a:bodyPr>
            <a:normAutofit/>
          </a:bodyPr>
          <a:lstStyle/>
          <a:p>
            <a:r>
              <a:rPr lang="es-PE" sz="4000" dirty="0" smtClean="0"/>
              <a:t>FLUIDOS NO NEWTONIANOS </a:t>
            </a:r>
            <a:endParaRPr lang="es-PE" sz="4000" dirty="0"/>
          </a:p>
        </p:txBody>
      </p:sp>
      <p:sp>
        <p:nvSpPr>
          <p:cNvPr id="3" name="Marcador de contenido 2"/>
          <p:cNvSpPr>
            <a:spLocks noGrp="1"/>
          </p:cNvSpPr>
          <p:nvPr>
            <p:ph idx="1"/>
          </p:nvPr>
        </p:nvSpPr>
        <p:spPr>
          <a:xfrm>
            <a:off x="838200" y="1825625"/>
            <a:ext cx="5584902" cy="4351338"/>
          </a:xfrm>
        </p:spPr>
        <p:txBody>
          <a:bodyPr/>
          <a:lstStyle/>
          <a:p>
            <a:pPr marL="0" lvl="0" indent="0" algn="just">
              <a:buNone/>
            </a:pPr>
            <a:r>
              <a:rPr lang="es-PE" dirty="0" smtClean="0"/>
              <a:t>Aquellos </a:t>
            </a:r>
            <a:r>
              <a:rPr lang="es-PE" dirty="0"/>
              <a:t>cuya relación esfuerzo de corte y gradiente de deformación no es </a:t>
            </a:r>
            <a:r>
              <a:rPr lang="es-PE" dirty="0" smtClean="0"/>
              <a:t>lineal.se deforma en la dirección de la fuerza aplicada. </a:t>
            </a:r>
            <a:r>
              <a:rPr lang="es-PE" dirty="0"/>
              <a:t>Los fluidos no newtonianos pueden ser </a:t>
            </a:r>
            <a:r>
              <a:rPr lang="es-PE" dirty="0" err="1"/>
              <a:t>viscoelásticos</a:t>
            </a:r>
            <a:r>
              <a:rPr lang="es-PE" dirty="0"/>
              <a:t> o </a:t>
            </a:r>
            <a:r>
              <a:rPr lang="es-PE" dirty="0" err="1"/>
              <a:t>viscoinelásticos</a:t>
            </a:r>
            <a:r>
              <a:rPr lang="es-PE" dirty="0"/>
              <a:t>. </a:t>
            </a:r>
          </a:p>
          <a:p>
            <a:pPr marL="0" indent="0" algn="just">
              <a:buNone/>
            </a:pPr>
            <a:r>
              <a:rPr lang="es-PE" dirty="0" smtClean="0"/>
              <a:t>Ejemplos: pinturas, barnices, soluciones de polímeros, mermeladas, jaleas, manteca, salsas, etc.</a:t>
            </a:r>
            <a:endParaRPr lang="es-PE" dirty="0"/>
          </a:p>
        </p:txBody>
      </p:sp>
      <p:pic>
        <p:nvPicPr>
          <p:cNvPr id="4" name="Imagen 3"/>
          <p:cNvPicPr>
            <a:picLocks noChangeAspect="1"/>
          </p:cNvPicPr>
          <p:nvPr/>
        </p:nvPicPr>
        <p:blipFill>
          <a:blip r:embed="rId2"/>
          <a:stretch>
            <a:fillRect/>
          </a:stretch>
        </p:blipFill>
        <p:spPr>
          <a:xfrm>
            <a:off x="7062219" y="1825625"/>
            <a:ext cx="4569898" cy="4351338"/>
          </a:xfrm>
          <a:prstGeom prst="rect">
            <a:avLst/>
          </a:prstGeom>
        </p:spPr>
      </p:pic>
    </p:spTree>
    <p:extLst>
      <p:ext uri="{BB962C8B-B14F-4D97-AF65-F5344CB8AC3E}">
        <p14:creationId xmlns:p14="http://schemas.microsoft.com/office/powerpoint/2010/main" val="987643896"/>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860503" y="2662276"/>
            <a:ext cx="10515600" cy="1325563"/>
          </a:xfrm>
        </p:spPr>
        <p:txBody>
          <a:bodyPr/>
          <a:lstStyle/>
          <a:p>
            <a:pPr lvl="0" algn="ctr"/>
            <a:r>
              <a:rPr lang="es-PE" dirty="0"/>
              <a:t>VARIACIONES DE LA VISCOSIDAD</a:t>
            </a:r>
          </a:p>
        </p:txBody>
      </p:sp>
    </p:spTree>
    <p:extLst>
      <p:ext uri="{BB962C8B-B14F-4D97-AF65-F5344CB8AC3E}">
        <p14:creationId xmlns:p14="http://schemas.microsoft.com/office/powerpoint/2010/main" val="1132281857"/>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838200" y="721964"/>
            <a:ext cx="10515600" cy="1325563"/>
          </a:xfrm>
        </p:spPr>
        <p:txBody>
          <a:bodyPr>
            <a:normAutofit fontScale="90000"/>
          </a:bodyPr>
          <a:lstStyle/>
          <a:p>
            <a:pPr marL="742950" lvl="0" indent="-742950">
              <a:buFont typeface="+mj-lt"/>
              <a:buAutoNum type="alphaLcParenR"/>
            </a:pPr>
            <a:r>
              <a:rPr lang="es-PE" dirty="0"/>
              <a:t>Variación de la viscosidad con el tiempo de aplicación de la cizalla.  </a:t>
            </a:r>
            <a:br>
              <a:rPr lang="es-PE" dirty="0"/>
            </a:br>
            <a:endParaRPr lang="es-PE" dirty="0"/>
          </a:p>
        </p:txBody>
      </p:sp>
      <p:sp>
        <p:nvSpPr>
          <p:cNvPr id="3" name="Marcador de contenido 2"/>
          <p:cNvSpPr>
            <a:spLocks noGrp="1"/>
          </p:cNvSpPr>
          <p:nvPr>
            <p:ph idx="1"/>
          </p:nvPr>
        </p:nvSpPr>
        <p:spPr/>
        <p:txBody>
          <a:bodyPr/>
          <a:lstStyle/>
          <a:p>
            <a:pPr algn="just"/>
            <a:r>
              <a:rPr lang="es-PE" dirty="0"/>
              <a:t>conforme aumenta el tiempo de aplicación de la </a:t>
            </a:r>
            <a:r>
              <a:rPr lang="es-PE" dirty="0" smtClean="0"/>
              <a:t>deformación: </a:t>
            </a:r>
            <a:r>
              <a:rPr lang="es-PE" dirty="0"/>
              <a:t>Si el valor de esta viscosidad disminuye es el caso de un fluido </a:t>
            </a:r>
            <a:r>
              <a:rPr lang="es-PE" dirty="0" smtClean="0"/>
              <a:t>tixotrópico(</a:t>
            </a:r>
            <a:r>
              <a:rPr lang="es-PE" dirty="0"/>
              <a:t>pastas de almidón, gelatinas, mahonesas, pinturas, adhesivos</a:t>
            </a:r>
            <a:r>
              <a:rPr lang="es-PE" dirty="0" smtClean="0"/>
              <a:t>), </a:t>
            </a:r>
            <a:r>
              <a:rPr lang="es-PE" dirty="0"/>
              <a:t>mientras que si aumenta es un fluido </a:t>
            </a:r>
            <a:r>
              <a:rPr lang="es-PE" dirty="0" err="1"/>
              <a:t>reopéctico</a:t>
            </a:r>
            <a:r>
              <a:rPr lang="es-PE" dirty="0"/>
              <a:t>.</a:t>
            </a:r>
          </a:p>
          <a:p>
            <a:endParaRPr lang="es-PE" dirty="0"/>
          </a:p>
        </p:txBody>
      </p:sp>
      <p:pic>
        <p:nvPicPr>
          <p:cNvPr id="4" name="Imagen 3"/>
          <p:cNvPicPr>
            <a:picLocks noChangeAspect="1"/>
          </p:cNvPicPr>
          <p:nvPr/>
        </p:nvPicPr>
        <p:blipFill>
          <a:blip r:embed="rId2"/>
          <a:stretch>
            <a:fillRect/>
          </a:stretch>
        </p:blipFill>
        <p:spPr>
          <a:xfrm>
            <a:off x="1057042" y="3732852"/>
            <a:ext cx="3686200" cy="2444111"/>
          </a:xfrm>
          <a:prstGeom prst="rect">
            <a:avLst/>
          </a:prstGeom>
        </p:spPr>
      </p:pic>
      <p:pic>
        <p:nvPicPr>
          <p:cNvPr id="5" name="Imagen 4"/>
          <p:cNvPicPr>
            <a:picLocks noChangeAspect="1"/>
          </p:cNvPicPr>
          <p:nvPr/>
        </p:nvPicPr>
        <p:blipFill>
          <a:blip r:embed="rId3"/>
          <a:stretch>
            <a:fillRect/>
          </a:stretch>
        </p:blipFill>
        <p:spPr>
          <a:xfrm>
            <a:off x="6779942" y="3732852"/>
            <a:ext cx="3869949" cy="2898726"/>
          </a:xfrm>
          <a:prstGeom prst="rect">
            <a:avLst/>
          </a:prstGeom>
        </p:spPr>
      </p:pic>
    </p:spTree>
    <p:extLst>
      <p:ext uri="{BB962C8B-B14F-4D97-AF65-F5344CB8AC3E}">
        <p14:creationId xmlns:p14="http://schemas.microsoft.com/office/powerpoint/2010/main" val="596138099"/>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normAutofit/>
          </a:bodyPr>
          <a:lstStyle/>
          <a:p>
            <a:pPr algn="just"/>
            <a:r>
              <a:rPr lang="es-PE" dirty="0" smtClean="0"/>
              <a:t>b)Variación </a:t>
            </a:r>
            <a:r>
              <a:rPr lang="es-PE" dirty="0"/>
              <a:t>de la viscosidad con la temperatura</a:t>
            </a:r>
          </a:p>
        </p:txBody>
      </p:sp>
      <p:sp>
        <p:nvSpPr>
          <p:cNvPr id="3" name="Marcador de contenido 2"/>
          <p:cNvSpPr>
            <a:spLocks noGrp="1"/>
          </p:cNvSpPr>
          <p:nvPr>
            <p:ph idx="1"/>
          </p:nvPr>
        </p:nvSpPr>
        <p:spPr>
          <a:xfrm>
            <a:off x="838200" y="1825625"/>
            <a:ext cx="6097859" cy="4351338"/>
          </a:xfrm>
        </p:spPr>
        <p:txBody>
          <a:bodyPr/>
          <a:lstStyle/>
          <a:p>
            <a:pPr algn="just"/>
            <a:r>
              <a:rPr lang="es-PE" dirty="0"/>
              <a:t>La mayoría de los materiales disminuyen su viscosidad con la </a:t>
            </a:r>
            <a:r>
              <a:rPr lang="es-PE" dirty="0" smtClean="0"/>
              <a:t>temperatura.</a:t>
            </a:r>
          </a:p>
          <a:p>
            <a:pPr algn="just"/>
            <a:r>
              <a:rPr lang="es-PE" dirty="0"/>
              <a:t>Respecto a los polímeros, la dependencia con la temperatura que estos presentan es lógicamente una función de la estructura y del tipo del polímero estudiado.</a:t>
            </a:r>
          </a:p>
          <a:p>
            <a:pPr marL="0" indent="0">
              <a:buNone/>
            </a:pPr>
            <a:endParaRPr lang="es-PE" dirty="0"/>
          </a:p>
        </p:txBody>
      </p:sp>
      <p:pic>
        <p:nvPicPr>
          <p:cNvPr id="5" name="Imagen 4"/>
          <p:cNvPicPr>
            <a:picLocks noChangeAspect="1"/>
          </p:cNvPicPr>
          <p:nvPr/>
        </p:nvPicPr>
        <p:blipFill>
          <a:blip r:embed="rId2"/>
          <a:stretch>
            <a:fillRect/>
          </a:stretch>
        </p:blipFill>
        <p:spPr>
          <a:xfrm>
            <a:off x="8053139" y="1521289"/>
            <a:ext cx="3300661" cy="4960009"/>
          </a:xfrm>
          <a:prstGeom prst="rect">
            <a:avLst/>
          </a:prstGeom>
        </p:spPr>
      </p:pic>
    </p:spTree>
    <p:extLst>
      <p:ext uri="{BB962C8B-B14F-4D97-AF65-F5344CB8AC3E}">
        <p14:creationId xmlns:p14="http://schemas.microsoft.com/office/powerpoint/2010/main" val="873018253"/>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PE" dirty="0" smtClean="0"/>
              <a:t>c) </a:t>
            </a:r>
            <a:r>
              <a:rPr lang="es-PE" dirty="0"/>
              <a:t>Variación de la viscosidad con la presión</a:t>
            </a:r>
          </a:p>
        </p:txBody>
      </p:sp>
      <p:sp>
        <p:nvSpPr>
          <p:cNvPr id="3" name="Marcador de contenido 2"/>
          <p:cNvSpPr>
            <a:spLocks noGrp="1"/>
          </p:cNvSpPr>
          <p:nvPr>
            <p:ph idx="1"/>
          </p:nvPr>
        </p:nvSpPr>
        <p:spPr/>
        <p:txBody>
          <a:bodyPr/>
          <a:lstStyle/>
          <a:p>
            <a:pPr algn="just"/>
            <a:r>
              <a:rPr lang="es-PE" dirty="0"/>
              <a:t>La viscosidad de los líquidos aumenta exponencialmente con la presión. El agua por debajo de 30ºC es la única excepción, en la que disminuye en un primer momento, a continuación del cual el comportamiento es normal. </a:t>
            </a:r>
            <a:endParaRPr lang="es-PE" dirty="0" smtClean="0"/>
          </a:p>
          <a:p>
            <a:pPr algn="just"/>
            <a:r>
              <a:rPr lang="es-PE" dirty="0"/>
              <a:t>Las presiones soportadas por lubricantes en engranajes son del orden de 1GPa, mientras que en las perforadoras que operan a profundidad han de soportar presiones de aproximadamente 20 </a:t>
            </a:r>
            <a:r>
              <a:rPr lang="es-PE" dirty="0" err="1"/>
              <a:t>MPa</a:t>
            </a:r>
            <a:endParaRPr lang="es-PE" dirty="0"/>
          </a:p>
        </p:txBody>
      </p:sp>
    </p:spTree>
    <p:extLst>
      <p:ext uri="{BB962C8B-B14F-4D97-AF65-F5344CB8AC3E}">
        <p14:creationId xmlns:p14="http://schemas.microsoft.com/office/powerpoint/2010/main" val="1547454671"/>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normAutofit/>
          </a:bodyPr>
          <a:lstStyle/>
          <a:p>
            <a:pPr lvl="0" algn="ctr"/>
            <a:r>
              <a:rPr lang="es-PE" dirty="0"/>
              <a:t>PROPIEDADES DE LA VISCOSIDAD </a:t>
            </a:r>
            <a:br>
              <a:rPr lang="es-PE" dirty="0"/>
            </a:br>
            <a:endParaRPr lang="es-PE" dirty="0"/>
          </a:p>
        </p:txBody>
      </p:sp>
      <p:sp>
        <p:nvSpPr>
          <p:cNvPr id="3" name="Marcador de contenido 2"/>
          <p:cNvSpPr>
            <a:spLocks noGrp="1"/>
          </p:cNvSpPr>
          <p:nvPr>
            <p:ph idx="1"/>
          </p:nvPr>
        </p:nvSpPr>
        <p:spPr/>
        <p:txBody>
          <a:bodyPr>
            <a:normAutofit/>
          </a:bodyPr>
          <a:lstStyle/>
          <a:p>
            <a:pPr lvl="0" algn="just"/>
            <a:r>
              <a:rPr lang="es-PE" dirty="0"/>
              <a:t>La viscosidad absoluta de todos los fluidos es prácticamente independiente de la presión en el rango de valores que se encuentran en el campo de la ingeniería.   </a:t>
            </a:r>
          </a:p>
          <a:p>
            <a:pPr lvl="0" algn="just"/>
            <a:r>
              <a:rPr lang="es-PE" dirty="0"/>
              <a:t>La viscosidad cinemática de los gases varía con la presión debido los cambios de densidad.   </a:t>
            </a:r>
          </a:p>
          <a:p>
            <a:pPr lvl="0" algn="just"/>
            <a:r>
              <a:rPr lang="es-PE" dirty="0"/>
              <a:t>En un gas hay gran movilidad y muy poca cohesión, sin embargo las moléculas chocan y de aquí que se origina la viscosidad; al aumentar la temperatura la temperatura aumenta el movimiento aleatorio y por ende la viscosidad.</a:t>
            </a:r>
          </a:p>
          <a:p>
            <a:endParaRPr lang="es-PE" dirty="0"/>
          </a:p>
        </p:txBody>
      </p:sp>
    </p:spTree>
    <p:extLst>
      <p:ext uri="{BB962C8B-B14F-4D97-AF65-F5344CB8AC3E}">
        <p14:creationId xmlns:p14="http://schemas.microsoft.com/office/powerpoint/2010/main" val="3448541364"/>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645130" y="-29210"/>
            <a:ext cx="9404723" cy="1400530"/>
          </a:xfrm>
        </p:spPr>
        <p:txBody>
          <a:bodyPr>
            <a:normAutofit fontScale="90000"/>
          </a:bodyPr>
          <a:lstStyle/>
          <a:p>
            <a:pPr algn="ctr"/>
            <a:r>
              <a:rPr lang="es-PE" dirty="0"/>
              <a:t> </a:t>
            </a:r>
            <a:br>
              <a:rPr lang="es-PE" dirty="0"/>
            </a:br>
            <a:r>
              <a:rPr lang="es-PE" b="1" dirty="0"/>
              <a:t>CALCULO DE LA VISCOSIDAD</a:t>
            </a:r>
            <a:r>
              <a:rPr lang="es-PE" dirty="0"/>
              <a:t/>
            </a:r>
            <a:br>
              <a:rPr lang="es-PE" dirty="0"/>
            </a:br>
            <a:endParaRPr lang="es-PE" dirty="0"/>
          </a:p>
        </p:txBody>
      </p:sp>
      <p:sp>
        <p:nvSpPr>
          <p:cNvPr id="3" name="Marcador de contenido 2"/>
          <p:cNvSpPr>
            <a:spLocks noGrp="1"/>
          </p:cNvSpPr>
          <p:nvPr>
            <p:ph idx="1"/>
          </p:nvPr>
        </p:nvSpPr>
        <p:spPr>
          <a:xfrm>
            <a:off x="974523" y="1486248"/>
            <a:ext cx="8946541" cy="4195481"/>
          </a:xfrm>
        </p:spPr>
        <p:txBody>
          <a:bodyPr/>
          <a:lstStyle/>
          <a:p>
            <a:pPr marL="0" lvl="0" indent="0">
              <a:buNone/>
            </a:pPr>
            <a:r>
              <a:rPr lang="es-PE" dirty="0" smtClean="0"/>
              <a:t>a) </a:t>
            </a:r>
            <a:r>
              <a:rPr lang="es-PE" dirty="0"/>
              <a:t>Viscosidad de gases </a:t>
            </a:r>
          </a:p>
          <a:p>
            <a:pPr marL="0" indent="0">
              <a:buNone/>
            </a:pPr>
            <a:endParaRPr lang="es-PE" dirty="0"/>
          </a:p>
        </p:txBody>
      </p:sp>
      <p:pic>
        <p:nvPicPr>
          <p:cNvPr id="4" name="Imagen 3"/>
          <p:cNvPicPr>
            <a:picLocks noChangeAspect="1"/>
          </p:cNvPicPr>
          <p:nvPr/>
        </p:nvPicPr>
        <p:blipFill>
          <a:blip r:embed="rId2"/>
          <a:stretch>
            <a:fillRect/>
          </a:stretch>
        </p:blipFill>
        <p:spPr>
          <a:xfrm>
            <a:off x="1940313" y="2347831"/>
            <a:ext cx="7841344" cy="4205283"/>
          </a:xfrm>
          <a:prstGeom prst="rect">
            <a:avLst/>
          </a:prstGeom>
        </p:spPr>
      </p:pic>
    </p:spTree>
    <p:extLst>
      <p:ext uri="{BB962C8B-B14F-4D97-AF65-F5344CB8AC3E}">
        <p14:creationId xmlns:p14="http://schemas.microsoft.com/office/powerpoint/2010/main" val="367319531"/>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Marcador de contenido 2"/>
          <p:cNvSpPr>
            <a:spLocks noGrp="1"/>
          </p:cNvSpPr>
          <p:nvPr>
            <p:ph idx="1"/>
          </p:nvPr>
        </p:nvSpPr>
        <p:spPr>
          <a:xfrm>
            <a:off x="682083" y="621293"/>
            <a:ext cx="10515600" cy="4351338"/>
          </a:xfrm>
        </p:spPr>
        <p:txBody>
          <a:bodyPr/>
          <a:lstStyle/>
          <a:p>
            <a:pPr marL="0" lvl="0" indent="0">
              <a:buNone/>
            </a:pPr>
            <a:r>
              <a:rPr lang="es-PE" dirty="0" smtClean="0"/>
              <a:t>b) </a:t>
            </a:r>
            <a:r>
              <a:rPr lang="es-PE" dirty="0"/>
              <a:t>Viscosidad de </a:t>
            </a:r>
            <a:r>
              <a:rPr lang="es-PE" dirty="0" smtClean="0"/>
              <a:t>líquidos </a:t>
            </a:r>
            <a:endParaRPr lang="es-PE" dirty="0"/>
          </a:p>
          <a:p>
            <a:pPr marL="0" indent="0">
              <a:buNone/>
            </a:pPr>
            <a:endParaRPr lang="es-PE" dirty="0"/>
          </a:p>
        </p:txBody>
      </p:sp>
      <p:pic>
        <p:nvPicPr>
          <p:cNvPr id="4" name="Imagen 3"/>
          <p:cNvPicPr>
            <a:picLocks noChangeAspect="1"/>
          </p:cNvPicPr>
          <p:nvPr/>
        </p:nvPicPr>
        <p:blipFill>
          <a:blip r:embed="rId2"/>
          <a:stretch>
            <a:fillRect/>
          </a:stretch>
        </p:blipFill>
        <p:spPr>
          <a:xfrm>
            <a:off x="853267" y="1255175"/>
            <a:ext cx="9796224" cy="4811089"/>
          </a:xfrm>
          <a:prstGeom prst="rect">
            <a:avLst/>
          </a:prstGeom>
        </p:spPr>
      </p:pic>
    </p:spTree>
    <p:extLst>
      <p:ext uri="{BB962C8B-B14F-4D97-AF65-F5344CB8AC3E}">
        <p14:creationId xmlns:p14="http://schemas.microsoft.com/office/powerpoint/2010/main" val="69169627"/>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2 CuadroTexto"/>
          <p:cNvSpPr txBox="1"/>
          <p:nvPr/>
        </p:nvSpPr>
        <p:spPr>
          <a:xfrm>
            <a:off x="1919536" y="548680"/>
            <a:ext cx="8352928" cy="5355312"/>
          </a:xfrm>
          <a:prstGeom prst="rect">
            <a:avLst/>
          </a:prstGeom>
          <a:noFill/>
        </p:spPr>
        <p:txBody>
          <a:bodyPr wrap="square" rtlCol="0">
            <a:spAutoFit/>
          </a:bodyPr>
          <a:lstStyle/>
          <a:p>
            <a:pPr algn="just"/>
            <a:r>
              <a:rPr lang="es-DO" dirty="0"/>
              <a:t>LA CAPILARIDAD es el producto de la unión de tres fuerzas que intervienen en un líquido contenido en un recipiente. Estas tres fuerzas son las tuerzas de cohesión, la tensión superficial y la fuerza de adhesión.</a:t>
            </a:r>
            <a:endParaRPr lang="es-PE" dirty="0"/>
          </a:p>
          <a:p>
            <a:pPr algn="just"/>
            <a:r>
              <a:rPr lang="es-DO" dirty="0"/>
              <a:t> </a:t>
            </a:r>
            <a:endParaRPr lang="es-PE" dirty="0"/>
          </a:p>
          <a:p>
            <a:pPr algn="just"/>
            <a:r>
              <a:rPr lang="es-DO" dirty="0"/>
              <a:t>La fuerza de cohesión se debe al intercambio de las moléculas dentro de un fluido debido a que este intercambio se da desde abajo hasta arriba. Existen moléculas en la superficie que no tienen con quien realizar el intercambio; por ello se crea una capa de Stress o tensión en la superficie del fluido que es lo que se denomina TENSIÓN SUPERFICIAL.</a:t>
            </a:r>
            <a:endParaRPr lang="es-PE" dirty="0"/>
          </a:p>
          <a:p>
            <a:pPr algn="just"/>
            <a:r>
              <a:rPr lang="es-DO" dirty="0"/>
              <a:t> </a:t>
            </a:r>
            <a:endParaRPr lang="es-PE" dirty="0"/>
          </a:p>
          <a:p>
            <a:pPr algn="just"/>
            <a:r>
              <a:rPr lang="es-DO" dirty="0"/>
              <a:t>Por medio a esta TENSIÓN SUPERFICIAL es que existe el denominado “Menisco”, que no es más que la pequeña capa de moléculas formada por la tensión. La capilaridad o el ascenso capilar (h) se puede obtener mediante la fórmula siguiente.</a:t>
            </a:r>
            <a:endParaRPr lang="es-PE" dirty="0"/>
          </a:p>
          <a:p>
            <a:r>
              <a:rPr lang="es-DO" dirty="0"/>
              <a:t>  </a:t>
            </a:r>
            <a:endParaRPr lang="es-PE" dirty="0"/>
          </a:p>
          <a:p>
            <a:r>
              <a:rPr lang="es-DO" dirty="0"/>
              <a:t>La altura a la cual un líquido es elevado en  un tubo capilar es inversamente proporcional al radio del tubo. La capilaridad es la responsable del rápido mojado y la retención de líquidos en telas y papeles absorbentes.</a:t>
            </a:r>
            <a:endParaRPr lang="es-PE" dirty="0"/>
          </a:p>
          <a:p>
            <a:endParaRPr lang="es-PE" dirty="0"/>
          </a:p>
          <a:p>
            <a:endParaRPr lang="es-PE" dirty="0"/>
          </a:p>
        </p:txBody>
      </p:sp>
    </p:spTree>
    <p:extLst>
      <p:ext uri="{BB962C8B-B14F-4D97-AF65-F5344CB8AC3E}">
        <p14:creationId xmlns:p14="http://schemas.microsoft.com/office/powerpoint/2010/main" val="3818689196"/>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CuadroTexto"/>
          <p:cNvSpPr txBox="1"/>
          <p:nvPr/>
        </p:nvSpPr>
        <p:spPr>
          <a:xfrm>
            <a:off x="1775520" y="231468"/>
            <a:ext cx="4680520" cy="5632311"/>
          </a:xfrm>
          <a:prstGeom prst="rect">
            <a:avLst/>
          </a:prstGeom>
          <a:noFill/>
        </p:spPr>
        <p:txBody>
          <a:bodyPr wrap="square" rtlCol="0">
            <a:spAutoFit/>
          </a:bodyPr>
          <a:lstStyle/>
          <a:p>
            <a:r>
              <a:rPr lang="es-ES" b="1" dirty="0"/>
              <a:t>VISCOSÍMETROS CAPILARES</a:t>
            </a:r>
            <a:endParaRPr lang="es-ES" dirty="0"/>
          </a:p>
          <a:p>
            <a:pPr algn="just"/>
            <a:r>
              <a:rPr lang="es-ES" dirty="0"/>
              <a:t>Un viscosímetro capilar consta esencialmente de cuatro partes: un depósito del fluido, un capilar de dimensiones conocidas, un dispositivo de control y medida de la presión aplicada y un dispositivo para determinar la velocidad de flujo. Los viscosímetros comerciales pueden dividirse en dos tipos principales: los viscosímetros de cilindro-pistón y los de capilar de vidrio En la figura se muestran dos recipientes conectados por un tubo largo de diámetro pequeño, conocido como </a:t>
            </a:r>
            <a:r>
              <a:rPr lang="es-ES" b="1" dirty="0"/>
              <a:t>tubo capila</a:t>
            </a:r>
            <a:r>
              <a:rPr lang="es-ES" b="1" i="1" dirty="0"/>
              <a:t>r. </a:t>
            </a:r>
            <a:r>
              <a:rPr lang="es-ES" dirty="0"/>
              <a:t>Conforme el fluido fluye a través del tubo con una velocidad constante, el sistema pierde algo de energía, ocasionando una caída de presión que puede ser medida utilizando un manómetro. La magnitud de la caída de presión está relacionada con la viscosidad del fluido mediante la siguiente ecuación</a:t>
            </a:r>
            <a:endParaRPr lang="es-PE" dirty="0"/>
          </a:p>
        </p:txBody>
      </p:sp>
      <p:pic>
        <p:nvPicPr>
          <p:cNvPr id="3" name="2 Imagen"/>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456040" y="914049"/>
            <a:ext cx="3983966" cy="5179247"/>
          </a:xfrm>
          <a:prstGeom prst="rect">
            <a:avLst/>
          </a:prstGeom>
        </p:spPr>
      </p:pic>
    </p:spTree>
    <p:extLst>
      <p:ext uri="{BB962C8B-B14F-4D97-AF65-F5344CB8AC3E}">
        <p14:creationId xmlns:p14="http://schemas.microsoft.com/office/powerpoint/2010/main" val="37678546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1 Imagen"/>
          <p:cNvPicPr/>
          <p:nvPr/>
        </p:nvPicPr>
        <p:blipFill>
          <a:blip r:embed="rId2">
            <a:extLst>
              <a:ext uri="{28A0092B-C50C-407E-A947-70E740481C1C}">
                <a14:useLocalDpi xmlns:a14="http://schemas.microsoft.com/office/drawing/2010/main" val="0"/>
              </a:ext>
            </a:extLst>
          </a:blip>
          <a:srcRect/>
          <a:stretch>
            <a:fillRect/>
          </a:stretch>
        </p:blipFill>
        <p:spPr bwMode="auto">
          <a:xfrm>
            <a:off x="1991544" y="332657"/>
            <a:ext cx="1807210" cy="576064"/>
          </a:xfrm>
          <a:prstGeom prst="rect">
            <a:avLst/>
          </a:prstGeom>
          <a:noFill/>
          <a:ln w="9525">
            <a:solidFill>
              <a:srgbClr val="000000"/>
            </a:solidFill>
            <a:miter lim="800000"/>
            <a:headEnd/>
            <a:tailEnd/>
          </a:ln>
        </p:spPr>
      </p:pic>
      <p:sp>
        <p:nvSpPr>
          <p:cNvPr id="3" name="2 CuadroTexto"/>
          <p:cNvSpPr txBox="1"/>
          <p:nvPr/>
        </p:nvSpPr>
        <p:spPr>
          <a:xfrm>
            <a:off x="4871864" y="330229"/>
            <a:ext cx="5638586" cy="5632311"/>
          </a:xfrm>
          <a:prstGeom prst="rect">
            <a:avLst/>
          </a:prstGeom>
          <a:noFill/>
        </p:spPr>
        <p:txBody>
          <a:bodyPr wrap="square" rtlCol="0">
            <a:spAutoFit/>
          </a:bodyPr>
          <a:lstStyle/>
          <a:p>
            <a:pPr algn="just"/>
            <a:r>
              <a:rPr lang="es-ES" b="1" dirty="0"/>
              <a:t>Viscosímetros estándar calibrados capilares de vidrio</a:t>
            </a:r>
            <a:endParaRPr lang="es-ES" dirty="0"/>
          </a:p>
          <a:p>
            <a:pPr algn="just"/>
            <a:r>
              <a:rPr lang="es-ES" dirty="0"/>
              <a:t>viscosímetros estándar calibrados capilares de vidrio para medir la viscosidad cinemática de líquidos transparentes y opacos: En las figuras se muestran dos de los tipos de</a:t>
            </a:r>
            <a:r>
              <a:rPr lang="es-ES" b="1" dirty="0"/>
              <a:t> </a:t>
            </a:r>
            <a:r>
              <a:rPr lang="es-ES" dirty="0"/>
              <a:t>viscosímetros analizados en la norma. viscosímetros estándar calibrados capilares de vidrio para medir la viscosidad cinemática de líquidos transparentes y opacos: En las figuras se muestran dos de los tipos de</a:t>
            </a:r>
            <a:r>
              <a:rPr lang="es-ES" b="1" dirty="0"/>
              <a:t> </a:t>
            </a:r>
            <a:r>
              <a:rPr lang="es-ES" dirty="0"/>
              <a:t>viscosímetros analizados en la norma. En la figura también se muestra un baño disponible comercialmente, para contener los tubos y mantener las temperaturas de prueba en todo el espacio del baño.</a:t>
            </a:r>
            <a:endParaRPr lang="es-PE" dirty="0"/>
          </a:p>
          <a:p>
            <a:pPr algn="just"/>
            <a:r>
              <a:rPr lang="es-ES" dirty="0"/>
              <a:t>Para preparar la prueba de viscosidad, el tubo viscosímetro es cargado con una cantidad específica de fluido de prueba.  Después de estabilizarse en la temperatura de prueba, se saca mediante succión el líquido a través del bulbo y se le deja ligeramente por encima de la marca de regulación superior. Se retira la succión y se permite al líquido fluir bajo el efecto.</a:t>
            </a:r>
            <a:endParaRPr lang="es-PE" dirty="0"/>
          </a:p>
          <a:p>
            <a:endParaRPr lang="es-PE" dirty="0"/>
          </a:p>
        </p:txBody>
      </p:sp>
      <p:pic>
        <p:nvPicPr>
          <p:cNvPr id="4" name="3 Imagen"/>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773966" y="1358209"/>
            <a:ext cx="3025890" cy="4842669"/>
          </a:xfrm>
          <a:prstGeom prst="rect">
            <a:avLst/>
          </a:prstGeom>
        </p:spPr>
      </p:pic>
    </p:spTree>
    <p:extLst>
      <p:ext uri="{BB962C8B-B14F-4D97-AF65-F5344CB8AC3E}">
        <p14:creationId xmlns:p14="http://schemas.microsoft.com/office/powerpoint/2010/main" val="47702369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CuadroTexto"/>
          <p:cNvSpPr txBox="1"/>
          <p:nvPr/>
        </p:nvSpPr>
        <p:spPr>
          <a:xfrm>
            <a:off x="1847528" y="920910"/>
            <a:ext cx="3960440" cy="4247317"/>
          </a:xfrm>
          <a:prstGeom prst="rect">
            <a:avLst/>
          </a:prstGeom>
          <a:noFill/>
        </p:spPr>
        <p:txBody>
          <a:bodyPr wrap="square" rtlCol="0">
            <a:spAutoFit/>
          </a:bodyPr>
          <a:lstStyle/>
          <a:p>
            <a:r>
              <a:rPr lang="es-ES" b="1" dirty="0"/>
              <a:t>Viscosímetros de pistón</a:t>
            </a:r>
            <a:endParaRPr lang="es-PE" dirty="0"/>
          </a:p>
          <a:p>
            <a:pPr algn="just"/>
            <a:r>
              <a:rPr lang="es-ES" dirty="0"/>
              <a:t>En estos viscosímetros el fluido es obligado a salir del depósito, a través de un tubo o capilar, por medio de un pistón accionado por un dispositivo mecánico, neumático o hidráulico. Las datos que se obtienen son la diferencia de presión entre dos puntos, y el gasto, o velocidad de flujo volumétrico, que se evalúa a partir de la velocidad de flujo másico. El ángulo formado entre el depósito y el capilar (ángulo de entrada) es importante para evitar la  formación de turbulencias en los fluidos viscoelásticos</a:t>
            </a:r>
            <a:endParaRPr lang="es-PE" dirty="0"/>
          </a:p>
        </p:txBody>
      </p:sp>
      <p:pic>
        <p:nvPicPr>
          <p:cNvPr id="3" name="2 Imagen"/>
          <p:cNvPicPr/>
          <p:nvPr/>
        </p:nvPicPr>
        <p:blipFill>
          <a:blip r:embed="rId2">
            <a:extLst>
              <a:ext uri="{28A0092B-C50C-407E-A947-70E740481C1C}">
                <a14:useLocalDpi xmlns:a14="http://schemas.microsoft.com/office/drawing/2010/main" val="0"/>
              </a:ext>
            </a:extLst>
          </a:blip>
          <a:srcRect/>
          <a:stretch>
            <a:fillRect/>
          </a:stretch>
        </p:blipFill>
        <p:spPr bwMode="auto">
          <a:xfrm>
            <a:off x="6168008" y="920910"/>
            <a:ext cx="3888432" cy="4740338"/>
          </a:xfrm>
          <a:prstGeom prst="rect">
            <a:avLst/>
          </a:prstGeom>
          <a:noFill/>
          <a:ln>
            <a:noFill/>
          </a:ln>
        </p:spPr>
      </p:pic>
    </p:spTree>
    <p:extLst>
      <p:ext uri="{BB962C8B-B14F-4D97-AF65-F5344CB8AC3E}">
        <p14:creationId xmlns:p14="http://schemas.microsoft.com/office/powerpoint/2010/main" val="322695910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CuadroTexto"/>
          <p:cNvSpPr txBox="1"/>
          <p:nvPr/>
        </p:nvSpPr>
        <p:spPr>
          <a:xfrm>
            <a:off x="5807968" y="404665"/>
            <a:ext cx="4536504" cy="5078313"/>
          </a:xfrm>
          <a:prstGeom prst="rect">
            <a:avLst/>
          </a:prstGeom>
          <a:noFill/>
        </p:spPr>
        <p:txBody>
          <a:bodyPr wrap="square" rtlCol="0">
            <a:spAutoFit/>
          </a:bodyPr>
          <a:lstStyle/>
          <a:p>
            <a:pPr algn="just"/>
            <a:r>
              <a:rPr lang="es-ES" b="1" dirty="0"/>
              <a:t>VISCOSÍMETROS ROTATORIOS</a:t>
            </a:r>
            <a:endParaRPr lang="es-PE" dirty="0"/>
          </a:p>
          <a:p>
            <a:pPr algn="just"/>
            <a:endParaRPr lang="es-ES" dirty="0"/>
          </a:p>
          <a:p>
            <a:pPr algn="just"/>
            <a:r>
              <a:rPr lang="es-ES" dirty="0"/>
              <a:t>El primer viscosímetro de este tipo fue desarrollado por Couette en 1890. Se trataba de un viscosímetro de cilindros coaxiales. Consistía en un vaso rotatorio con un cilindro interior sostenido por un alambre de torsión que descansaba en un cojinete en el fondo del recipiente (van Wazer et al., 1963).</a:t>
            </a:r>
          </a:p>
          <a:p>
            <a:pPr algn="just"/>
            <a:r>
              <a:rPr lang="es-ES" dirty="0"/>
              <a:t>Los viscosímetros rotatorios utilizan el movimiento giratorio para conseguir un flujo de cizalla simple. Este tipo de instrumentos puede ser de dos clases, según la forma de inducir el flujo: de velocidad de cizalla controlada ("controlled shear rate", CSR, o simplemente CR y de esfuerzo de cizalla controlado ("controlled shear stress", CSS, o simplemente CS. </a:t>
            </a:r>
            <a:endParaRPr lang="es-PE" dirty="0"/>
          </a:p>
        </p:txBody>
      </p:sp>
      <p:pic>
        <p:nvPicPr>
          <p:cNvPr id="4" name="3 Imagen"/>
          <p:cNvPicPr/>
          <p:nvPr/>
        </p:nvPicPr>
        <p:blipFill>
          <a:blip r:embed="rId2">
            <a:extLst>
              <a:ext uri="{28A0092B-C50C-407E-A947-70E740481C1C}">
                <a14:useLocalDpi xmlns:a14="http://schemas.microsoft.com/office/drawing/2010/main" val="0"/>
              </a:ext>
            </a:extLst>
          </a:blip>
          <a:srcRect/>
          <a:stretch>
            <a:fillRect/>
          </a:stretch>
        </p:blipFill>
        <p:spPr bwMode="auto">
          <a:xfrm>
            <a:off x="1703512" y="548680"/>
            <a:ext cx="4104456" cy="5256584"/>
          </a:xfrm>
          <a:prstGeom prst="rect">
            <a:avLst/>
          </a:prstGeom>
          <a:noFill/>
          <a:ln>
            <a:noFill/>
          </a:ln>
        </p:spPr>
      </p:pic>
    </p:spTree>
    <p:extLst>
      <p:ext uri="{BB962C8B-B14F-4D97-AF65-F5344CB8AC3E}">
        <p14:creationId xmlns:p14="http://schemas.microsoft.com/office/powerpoint/2010/main" val="372049387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CuadroTexto"/>
          <p:cNvSpPr txBox="1"/>
          <p:nvPr/>
        </p:nvSpPr>
        <p:spPr>
          <a:xfrm>
            <a:off x="1703512" y="188641"/>
            <a:ext cx="5688632" cy="1200329"/>
          </a:xfrm>
          <a:prstGeom prst="rect">
            <a:avLst/>
          </a:prstGeom>
          <a:noFill/>
        </p:spPr>
        <p:txBody>
          <a:bodyPr wrap="square" rtlCol="0">
            <a:spAutoFit/>
          </a:bodyPr>
          <a:lstStyle/>
          <a:p>
            <a:pPr algn="just"/>
            <a:r>
              <a:rPr lang="es-ES" dirty="0"/>
              <a:t>El aparato que se muestra en la figura (a) mide la viscosidad utilizando la definición de viscosidad dinámica dada en la ecuación</a:t>
            </a:r>
          </a:p>
          <a:p>
            <a:endParaRPr lang="es-PE" dirty="0"/>
          </a:p>
        </p:txBody>
      </p:sp>
      <p:pic>
        <p:nvPicPr>
          <p:cNvPr id="3" name="2 Imagen"/>
          <p:cNvPicPr/>
          <p:nvPr/>
        </p:nvPicPr>
        <p:blipFill>
          <a:blip r:embed="rId2">
            <a:extLst>
              <a:ext uri="{28A0092B-C50C-407E-A947-70E740481C1C}">
                <a14:useLocalDpi xmlns:a14="http://schemas.microsoft.com/office/drawing/2010/main" val="0"/>
              </a:ext>
            </a:extLst>
          </a:blip>
          <a:srcRect/>
          <a:stretch>
            <a:fillRect/>
          </a:stretch>
        </p:blipFill>
        <p:spPr bwMode="auto">
          <a:xfrm>
            <a:off x="3647729" y="1196753"/>
            <a:ext cx="1556385" cy="357441"/>
          </a:xfrm>
          <a:prstGeom prst="rect">
            <a:avLst/>
          </a:prstGeom>
          <a:noFill/>
          <a:ln w="28575">
            <a:solidFill>
              <a:srgbClr val="000000"/>
            </a:solidFill>
            <a:miter lim="800000"/>
            <a:headEnd/>
            <a:tailEnd/>
          </a:ln>
        </p:spPr>
      </p:pic>
      <p:sp>
        <p:nvSpPr>
          <p:cNvPr id="4" name="3 CuadroTexto"/>
          <p:cNvSpPr txBox="1"/>
          <p:nvPr/>
        </p:nvSpPr>
        <p:spPr>
          <a:xfrm>
            <a:off x="1703512" y="1700809"/>
            <a:ext cx="5688632" cy="4524315"/>
          </a:xfrm>
          <a:prstGeom prst="rect">
            <a:avLst/>
          </a:prstGeom>
          <a:noFill/>
        </p:spPr>
        <p:txBody>
          <a:bodyPr wrap="square" rtlCol="0">
            <a:spAutoFit/>
          </a:bodyPr>
          <a:lstStyle/>
          <a:p>
            <a:pPr algn="just"/>
            <a:r>
              <a:rPr lang="es-ES" dirty="0"/>
              <a:t>Se hace girar el tambor exterior a una velocidad angular constante, </a:t>
            </a:r>
            <a:r>
              <a:rPr lang="es-ES" dirty="0">
                <a:sym typeface="Symbol"/>
              </a:rPr>
              <a:t></a:t>
            </a:r>
            <a:r>
              <a:rPr lang="es-ES" b="1" i="1" dirty="0"/>
              <a:t>, </a:t>
            </a:r>
            <a:r>
              <a:rPr lang="es-ES" dirty="0"/>
              <a:t>mientras que el tambor interior se mantiene estacionario. Por consiguiente, el fluido que está en contacto con el tambor giratorio tiene una velocidad lineal, v. conocida, mientras que el fluido que está en contacto con el tambor interior tiene una velocidad cero.  Si conocemos el espacio, ∆y, de la muestra de fluido, entonces podemos calcular el término ∆vl∆y de la ecuación. Se pone una consideración especial al fluido que se encuentra en el fondo del tambor, pues su velocidad no es uniforme en todos los puntos. Debido a la viscosidad del fluido, se presenta una fuerza de arrastre sobre la superficie del tambor interior que ocasiona el desarrollo de un torque cuya magnitud puede medirse con un torquímetro sensible. La magnitud de dicho torque es una medida de la tensión de corte, </a:t>
            </a:r>
            <a:r>
              <a:rPr lang="es-ES" dirty="0">
                <a:sym typeface="Symbol"/>
              </a:rPr>
              <a:t></a:t>
            </a:r>
            <a:r>
              <a:rPr lang="es-ES" dirty="0"/>
              <a:t>, del fluido</a:t>
            </a:r>
            <a:endParaRPr lang="es-PE" dirty="0"/>
          </a:p>
        </p:txBody>
      </p:sp>
      <p:pic>
        <p:nvPicPr>
          <p:cNvPr id="5" name="4 Imagen"/>
          <p:cNvPicPr/>
          <p:nvPr/>
        </p:nvPicPr>
        <p:blipFill>
          <a:blip r:embed="rId3">
            <a:extLst>
              <a:ext uri="{28A0092B-C50C-407E-A947-70E740481C1C}">
                <a14:useLocalDpi xmlns:a14="http://schemas.microsoft.com/office/drawing/2010/main" val="0"/>
              </a:ext>
            </a:extLst>
          </a:blip>
          <a:srcRect/>
          <a:stretch>
            <a:fillRect/>
          </a:stretch>
        </p:blipFill>
        <p:spPr bwMode="auto">
          <a:xfrm>
            <a:off x="7392144" y="332656"/>
            <a:ext cx="3024336" cy="5688632"/>
          </a:xfrm>
          <a:prstGeom prst="rect">
            <a:avLst/>
          </a:prstGeom>
          <a:noFill/>
          <a:ln>
            <a:noFill/>
          </a:ln>
        </p:spPr>
      </p:pic>
    </p:spTree>
    <p:extLst>
      <p:ext uri="{BB962C8B-B14F-4D97-AF65-F5344CB8AC3E}">
        <p14:creationId xmlns:p14="http://schemas.microsoft.com/office/powerpoint/2010/main" val="300986080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lang="es-PE" dirty="0" smtClean="0"/>
              <a:t>VISCOSIMETROS ROTATORIOS</a:t>
            </a:r>
            <a:endParaRPr lang="es-PE" dirty="0"/>
          </a:p>
        </p:txBody>
      </p:sp>
      <p:pic>
        <p:nvPicPr>
          <p:cNvPr id="4" name="Marcador de contenido 3"/>
          <p:cNvPicPr>
            <a:picLocks noGrp="1"/>
          </p:cNvPicPr>
          <p:nvPr>
            <p:ph idx="1"/>
          </p:nvPr>
        </p:nvPicPr>
        <p:blipFill>
          <a:blip r:embed="rId2">
            <a:extLst>
              <a:ext uri="{28A0092B-C50C-407E-A947-70E740481C1C}">
                <a14:useLocalDpi xmlns:a14="http://schemas.microsoft.com/office/drawing/2010/main" val="0"/>
              </a:ext>
            </a:extLst>
          </a:blip>
          <a:stretch>
            <a:fillRect/>
          </a:stretch>
        </p:blipFill>
        <p:spPr bwMode="auto">
          <a:xfrm>
            <a:off x="4127443" y="2052638"/>
            <a:ext cx="2898890" cy="4195762"/>
          </a:xfrm>
          <a:prstGeom prst="rect">
            <a:avLst/>
          </a:prstGeom>
          <a:noFill/>
          <a:ln>
            <a:noFill/>
          </a:ln>
        </p:spPr>
      </p:pic>
    </p:spTree>
    <p:extLst>
      <p:ext uri="{BB962C8B-B14F-4D97-AF65-F5344CB8AC3E}">
        <p14:creationId xmlns:p14="http://schemas.microsoft.com/office/powerpoint/2010/main" val="2854703291"/>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ctrTitle"/>
          </p:nvPr>
        </p:nvSpPr>
        <p:spPr>
          <a:xfrm>
            <a:off x="2207568" y="1052737"/>
            <a:ext cx="7772400" cy="1470025"/>
          </a:xfrm>
        </p:spPr>
        <p:txBody>
          <a:bodyPr/>
          <a:lstStyle/>
          <a:p>
            <a:r>
              <a:rPr lang="es-PE" dirty="0" smtClean="0"/>
              <a:t>Principio que utiliza:</a:t>
            </a:r>
            <a:endParaRPr lang="es-PE" dirty="0"/>
          </a:p>
        </p:txBody>
      </p:sp>
      <p:sp>
        <p:nvSpPr>
          <p:cNvPr id="3" name="Subtítulo 2"/>
          <p:cNvSpPr>
            <a:spLocks noGrp="1"/>
          </p:cNvSpPr>
          <p:nvPr>
            <p:ph type="subTitle" idx="1"/>
          </p:nvPr>
        </p:nvSpPr>
        <p:spPr/>
        <p:txBody>
          <a:bodyPr/>
          <a:lstStyle/>
          <a:p>
            <a:endParaRPr lang="es-PE" dirty="0"/>
          </a:p>
        </p:txBody>
      </p:sp>
      <p:pic>
        <p:nvPicPr>
          <p:cNvPr id="4" name="Imagen 3"/>
          <p:cNvPicPr/>
          <p:nvPr/>
        </p:nvPicPr>
        <p:blipFill>
          <a:blip r:embed="rId2">
            <a:extLst>
              <a:ext uri="{28A0092B-C50C-407E-A947-70E740481C1C}">
                <a14:useLocalDpi xmlns:a14="http://schemas.microsoft.com/office/drawing/2010/main" val="0"/>
              </a:ext>
            </a:extLst>
          </a:blip>
          <a:srcRect/>
          <a:stretch>
            <a:fillRect/>
          </a:stretch>
        </p:blipFill>
        <p:spPr bwMode="auto">
          <a:xfrm>
            <a:off x="4473588" y="2950098"/>
            <a:ext cx="3240360" cy="936103"/>
          </a:xfrm>
          <a:prstGeom prst="rect">
            <a:avLst/>
          </a:prstGeom>
          <a:noFill/>
          <a:ln w="28575">
            <a:solidFill>
              <a:srgbClr val="000000"/>
            </a:solidFill>
            <a:miter lim="800000"/>
            <a:headEnd/>
            <a:tailEnd/>
          </a:ln>
        </p:spPr>
      </p:pic>
    </p:spTree>
    <p:extLst>
      <p:ext uri="{BB962C8B-B14F-4D97-AF65-F5344CB8AC3E}">
        <p14:creationId xmlns:p14="http://schemas.microsoft.com/office/powerpoint/2010/main" val="264835435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ctrTitle"/>
          </p:nvPr>
        </p:nvSpPr>
        <p:spPr>
          <a:xfrm>
            <a:off x="2208213" y="3072372"/>
            <a:ext cx="7772400" cy="1470025"/>
          </a:xfrm>
        </p:spPr>
        <p:txBody>
          <a:bodyPr>
            <a:normAutofit fontScale="90000"/>
          </a:bodyPr>
          <a:lstStyle/>
          <a:p>
            <a:r>
              <a:rPr lang="es-PE" dirty="0" smtClean="0"/>
              <a:t>Viscosímetros Rotacionales mas utilizados:</a:t>
            </a:r>
            <a:br>
              <a:rPr lang="es-PE" dirty="0" smtClean="0"/>
            </a:br>
            <a:endParaRPr lang="es-PE" dirty="0"/>
          </a:p>
        </p:txBody>
      </p:sp>
      <p:sp>
        <p:nvSpPr>
          <p:cNvPr id="3" name="Subtítulo 2"/>
          <p:cNvSpPr>
            <a:spLocks noGrp="1"/>
          </p:cNvSpPr>
          <p:nvPr>
            <p:ph type="subTitle" idx="1"/>
          </p:nvPr>
        </p:nvSpPr>
        <p:spPr>
          <a:xfrm>
            <a:off x="1051924" y="4111687"/>
            <a:ext cx="8825658" cy="861420"/>
          </a:xfrm>
        </p:spPr>
        <p:txBody>
          <a:bodyPr>
            <a:noAutofit/>
          </a:bodyPr>
          <a:lstStyle/>
          <a:p>
            <a:pPr marL="457200" indent="-457200" algn="l">
              <a:buFont typeface="Arial" panose="020B0604020202020204" pitchFamily="34" charset="0"/>
              <a:buChar char="•"/>
            </a:pPr>
            <a:r>
              <a:rPr lang="es-PE" dirty="0" smtClean="0">
                <a:solidFill>
                  <a:schemeClr val="bg2">
                    <a:lumMod val="20000"/>
                    <a:lumOff val="80000"/>
                  </a:schemeClr>
                </a:solidFill>
              </a:rPr>
              <a:t>Viscosímetros de Cilindros Concéntricos</a:t>
            </a:r>
          </a:p>
          <a:p>
            <a:pPr marL="457200" indent="-457200" algn="l">
              <a:buFont typeface="Arial" panose="020B0604020202020204" pitchFamily="34" charset="0"/>
              <a:buChar char="•"/>
            </a:pPr>
            <a:r>
              <a:rPr lang="es-PE" dirty="0" smtClean="0">
                <a:solidFill>
                  <a:schemeClr val="bg2">
                    <a:lumMod val="20000"/>
                    <a:lumOff val="80000"/>
                  </a:schemeClr>
                </a:solidFill>
              </a:rPr>
              <a:t>Viscosímetros de placas paralelas</a:t>
            </a:r>
          </a:p>
          <a:p>
            <a:pPr marL="457200" indent="-457200" algn="l">
              <a:buFont typeface="Arial" panose="020B0604020202020204" pitchFamily="34" charset="0"/>
              <a:buChar char="•"/>
            </a:pPr>
            <a:r>
              <a:rPr lang="es-PE" dirty="0" smtClean="0">
                <a:solidFill>
                  <a:schemeClr val="bg2">
                    <a:lumMod val="20000"/>
                    <a:lumOff val="80000"/>
                  </a:schemeClr>
                </a:solidFill>
              </a:rPr>
              <a:t>Viscosímetros Cono- Placa</a:t>
            </a:r>
            <a:endParaRPr lang="es-PE" dirty="0">
              <a:solidFill>
                <a:schemeClr val="bg2">
                  <a:lumMod val="20000"/>
                  <a:lumOff val="80000"/>
                </a:schemeClr>
              </a:solidFill>
            </a:endParaRPr>
          </a:p>
        </p:txBody>
      </p:sp>
    </p:spTree>
    <p:extLst>
      <p:ext uri="{BB962C8B-B14F-4D97-AF65-F5344CB8AC3E}">
        <p14:creationId xmlns:p14="http://schemas.microsoft.com/office/powerpoint/2010/main" val="159532364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ctrTitle"/>
          </p:nvPr>
        </p:nvSpPr>
        <p:spPr>
          <a:xfrm>
            <a:off x="575478" y="3161440"/>
            <a:ext cx="7772400" cy="1470025"/>
          </a:xfrm>
        </p:spPr>
        <p:txBody>
          <a:bodyPr>
            <a:normAutofit fontScale="90000"/>
          </a:bodyPr>
          <a:lstStyle/>
          <a:p>
            <a:r>
              <a:rPr lang="es-PE" dirty="0">
                <a:solidFill>
                  <a:schemeClr val="bg2">
                    <a:lumMod val="20000"/>
                    <a:lumOff val="80000"/>
                  </a:schemeClr>
                </a:solidFill>
              </a:rPr>
              <a:t>Viscosímetros de Cilindros Concéntricos</a:t>
            </a:r>
            <a:r>
              <a:rPr lang="es-PE" dirty="0">
                <a:solidFill>
                  <a:schemeClr val="tx2">
                    <a:lumMod val="50000"/>
                  </a:schemeClr>
                </a:solidFill>
              </a:rPr>
              <a:t/>
            </a:r>
            <a:br>
              <a:rPr lang="es-PE" dirty="0">
                <a:solidFill>
                  <a:schemeClr val="tx2">
                    <a:lumMod val="50000"/>
                  </a:schemeClr>
                </a:solidFill>
              </a:rPr>
            </a:br>
            <a:endParaRPr lang="es-PE" dirty="0"/>
          </a:p>
        </p:txBody>
      </p:sp>
      <p:sp>
        <p:nvSpPr>
          <p:cNvPr id="3" name="Subtítulo 2"/>
          <p:cNvSpPr>
            <a:spLocks noGrp="1"/>
          </p:cNvSpPr>
          <p:nvPr>
            <p:ph type="subTitle" idx="1"/>
          </p:nvPr>
        </p:nvSpPr>
        <p:spPr/>
        <p:txBody>
          <a:bodyPr/>
          <a:lstStyle/>
          <a:p>
            <a:endParaRPr lang="es-PE" dirty="0"/>
          </a:p>
        </p:txBody>
      </p:sp>
      <p:pic>
        <p:nvPicPr>
          <p:cNvPr id="4" name="Imagen 3"/>
          <p:cNvPicPr/>
          <p:nvPr/>
        </p:nvPicPr>
        <p:blipFill rotWithShape="1">
          <a:blip r:embed="rId2"/>
          <a:srcRect l="39905" t="35813" r="32329" b="15541"/>
          <a:stretch/>
        </p:blipFill>
        <p:spPr bwMode="auto">
          <a:xfrm>
            <a:off x="7768400" y="2453101"/>
            <a:ext cx="3456383" cy="3786559"/>
          </a:xfrm>
          <a:prstGeom prst="rect">
            <a:avLst/>
          </a:prstGeom>
          <a:ln>
            <a:noFill/>
          </a:ln>
          <a:extLst>
            <a:ext uri="{53640926-AAD7-44D8-BBD7-CCE9431645EC}">
              <a14:shadowObscured xmlns:a14="http://schemas.microsoft.com/office/drawing/2010/main"/>
            </a:ext>
          </a:extLst>
        </p:spPr>
      </p:pic>
    </p:spTree>
    <p:extLst>
      <p:ext uri="{BB962C8B-B14F-4D97-AF65-F5344CB8AC3E}">
        <p14:creationId xmlns:p14="http://schemas.microsoft.com/office/powerpoint/2010/main" val="3989328439"/>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PE" dirty="0" smtClean="0"/>
              <a:t>Viscosímetro de Placas paralelas </a:t>
            </a:r>
            <a:endParaRPr lang="es-PE" dirty="0"/>
          </a:p>
        </p:txBody>
      </p:sp>
      <p:pic>
        <p:nvPicPr>
          <p:cNvPr id="4" name="Marcador de contenido 3"/>
          <p:cNvPicPr>
            <a:picLocks noGrp="1"/>
          </p:cNvPicPr>
          <p:nvPr>
            <p:ph idx="1"/>
          </p:nvPr>
        </p:nvPicPr>
        <p:blipFill rotWithShape="1">
          <a:blip r:embed="rId2"/>
          <a:srcRect l="28586" t="21677" r="20998" b="22766"/>
          <a:stretch/>
        </p:blipFill>
        <p:spPr bwMode="auto">
          <a:xfrm>
            <a:off x="2462033" y="1853248"/>
            <a:ext cx="7094092" cy="4533363"/>
          </a:xfrm>
          <a:prstGeom prst="rect">
            <a:avLst/>
          </a:prstGeom>
          <a:ln>
            <a:noFill/>
          </a:ln>
          <a:extLst>
            <a:ext uri="{53640926-AAD7-44D8-BBD7-CCE9431645EC}">
              <a14:shadowObscured xmlns:a14="http://schemas.microsoft.com/office/drawing/2010/main"/>
            </a:ext>
          </a:extLst>
        </p:spPr>
      </p:pic>
    </p:spTree>
    <p:extLst>
      <p:ext uri="{BB962C8B-B14F-4D97-AF65-F5344CB8AC3E}">
        <p14:creationId xmlns:p14="http://schemas.microsoft.com/office/powerpoint/2010/main" val="682271796"/>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PE" dirty="0" smtClean="0"/>
              <a:t>Viscosímetros de Cono-Placa</a:t>
            </a:r>
            <a:endParaRPr lang="es-PE" dirty="0"/>
          </a:p>
        </p:txBody>
      </p:sp>
      <p:pic>
        <p:nvPicPr>
          <p:cNvPr id="4" name="Marcador de contenido 3"/>
          <p:cNvPicPr>
            <a:picLocks noGrp="1"/>
          </p:cNvPicPr>
          <p:nvPr>
            <p:ph idx="1"/>
          </p:nvPr>
        </p:nvPicPr>
        <p:blipFill rotWithShape="1">
          <a:blip r:embed="rId2"/>
          <a:srcRect l="32902" t="29964" r="24278" b="9567"/>
          <a:stretch/>
        </p:blipFill>
        <p:spPr bwMode="auto">
          <a:xfrm>
            <a:off x="2859110" y="1584101"/>
            <a:ext cx="6284890" cy="4765183"/>
          </a:xfrm>
          <a:prstGeom prst="rect">
            <a:avLst/>
          </a:prstGeom>
          <a:ln>
            <a:noFill/>
          </a:ln>
          <a:extLst>
            <a:ext uri="{53640926-AAD7-44D8-BBD7-CCE9431645EC}">
              <a14:shadowObscured xmlns:a14="http://schemas.microsoft.com/office/drawing/2010/main"/>
            </a:ext>
          </a:extLst>
        </p:spPr>
      </p:pic>
    </p:spTree>
    <p:extLst>
      <p:ext uri="{BB962C8B-B14F-4D97-AF65-F5344CB8AC3E}">
        <p14:creationId xmlns:p14="http://schemas.microsoft.com/office/powerpoint/2010/main" val="2076895891"/>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ctrTitle"/>
          </p:nvPr>
        </p:nvSpPr>
        <p:spPr>
          <a:xfrm>
            <a:off x="345397" y="1970622"/>
            <a:ext cx="7772400" cy="1470025"/>
          </a:xfrm>
        </p:spPr>
        <p:txBody>
          <a:bodyPr>
            <a:normAutofit fontScale="90000"/>
          </a:bodyPr>
          <a:lstStyle/>
          <a:p>
            <a:r>
              <a:rPr lang="es-ES" dirty="0" smtClean="0"/>
              <a:t>Viscosímetros Ultrasónicos o de Vibración</a:t>
            </a:r>
            <a:endParaRPr lang="es-PE" dirty="0"/>
          </a:p>
        </p:txBody>
      </p:sp>
      <p:sp>
        <p:nvSpPr>
          <p:cNvPr id="3" name="2 Subtítulo"/>
          <p:cNvSpPr>
            <a:spLocks noGrp="1"/>
          </p:cNvSpPr>
          <p:nvPr>
            <p:ph type="subTitle" idx="1"/>
          </p:nvPr>
        </p:nvSpPr>
        <p:spPr/>
        <p:txBody>
          <a:bodyPr/>
          <a:lstStyle/>
          <a:p>
            <a:endParaRPr lang="es-PE" dirty="0"/>
          </a:p>
        </p:txBody>
      </p:sp>
      <p:pic>
        <p:nvPicPr>
          <p:cNvPr id="4" name="Picture 19"/>
          <p:cNvPicPr/>
          <p:nvPr/>
        </p:nvPicPr>
        <p:blipFill>
          <a:blip r:embed="rId2">
            <a:extLst>
              <a:ext uri="{28A0092B-C50C-407E-A947-70E740481C1C}">
                <a14:useLocalDpi xmlns:a14="http://schemas.microsoft.com/office/drawing/2010/main" val="0"/>
              </a:ext>
            </a:extLst>
          </a:blip>
          <a:stretch>
            <a:fillRect/>
          </a:stretch>
        </p:blipFill>
        <p:spPr>
          <a:xfrm>
            <a:off x="7662929" y="2266836"/>
            <a:ext cx="3983060" cy="4299913"/>
          </a:xfrm>
          <a:prstGeom prst="rect">
            <a:avLst/>
          </a:prstGeom>
        </p:spPr>
      </p:pic>
    </p:spTree>
    <p:extLst>
      <p:ext uri="{BB962C8B-B14F-4D97-AF65-F5344CB8AC3E}">
        <p14:creationId xmlns:p14="http://schemas.microsoft.com/office/powerpoint/2010/main" val="2753780776"/>
      </p:ext>
    </p:extLst>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ctrTitle"/>
          </p:nvPr>
        </p:nvSpPr>
        <p:spPr>
          <a:xfrm>
            <a:off x="1210630" y="453263"/>
            <a:ext cx="7772400" cy="1470025"/>
          </a:xfrm>
        </p:spPr>
        <p:txBody>
          <a:bodyPr/>
          <a:lstStyle/>
          <a:p>
            <a:r>
              <a:rPr lang="es-ES" dirty="0" smtClean="0">
                <a:solidFill>
                  <a:schemeClr val="accent1">
                    <a:lumMod val="75000"/>
                  </a:schemeClr>
                </a:solidFill>
                <a:effectLst>
                  <a:outerShdw blurRad="38100" dist="38100" dir="2700000" algn="tl">
                    <a:srgbClr val="000000">
                      <a:alpha val="43137"/>
                    </a:srgbClr>
                  </a:outerShdw>
                </a:effectLst>
              </a:rPr>
              <a:t>Características</a:t>
            </a:r>
            <a:endParaRPr lang="es-PE" dirty="0">
              <a:solidFill>
                <a:schemeClr val="accent1">
                  <a:lumMod val="75000"/>
                </a:schemeClr>
              </a:solidFill>
              <a:effectLst>
                <a:outerShdw blurRad="38100" dist="38100" dir="2700000" algn="tl">
                  <a:srgbClr val="000000">
                    <a:alpha val="43137"/>
                  </a:srgbClr>
                </a:outerShdw>
              </a:effectLst>
            </a:endParaRPr>
          </a:p>
        </p:txBody>
      </p:sp>
      <p:sp>
        <p:nvSpPr>
          <p:cNvPr id="3" name="2 Subtítulo"/>
          <p:cNvSpPr>
            <a:spLocks noGrp="1"/>
          </p:cNvSpPr>
          <p:nvPr>
            <p:ph type="subTitle" idx="1"/>
          </p:nvPr>
        </p:nvSpPr>
        <p:spPr>
          <a:xfrm>
            <a:off x="2855639" y="2492896"/>
            <a:ext cx="8838377" cy="3024336"/>
          </a:xfrm>
        </p:spPr>
        <p:txBody>
          <a:bodyPr>
            <a:noAutofit/>
          </a:bodyPr>
          <a:lstStyle/>
          <a:p>
            <a:pPr marL="457200" indent="-457200" algn="l">
              <a:buFont typeface="Arial" pitchFamily="34" charset="0"/>
              <a:buChar char="•"/>
            </a:pPr>
            <a:r>
              <a:rPr lang="es-ES" sz="2800" dirty="0" smtClean="0">
                <a:solidFill>
                  <a:schemeClr val="bg2">
                    <a:lumMod val="20000"/>
                    <a:lumOff val="80000"/>
                  </a:schemeClr>
                </a:solidFill>
              </a:rPr>
              <a:t>Requieren menos mantenimiento</a:t>
            </a:r>
          </a:p>
          <a:p>
            <a:pPr marL="457200" indent="-457200" algn="l">
              <a:buFont typeface="Arial" pitchFamily="34" charset="0"/>
              <a:buChar char="•"/>
            </a:pPr>
            <a:r>
              <a:rPr lang="es-ES" sz="2800" dirty="0" smtClean="0">
                <a:solidFill>
                  <a:schemeClr val="bg2">
                    <a:lumMod val="20000"/>
                    <a:lumOff val="80000"/>
                  </a:schemeClr>
                </a:solidFill>
              </a:rPr>
              <a:t>No tiene pieza móvil</a:t>
            </a:r>
          </a:p>
          <a:p>
            <a:pPr marL="457200" indent="-457200" algn="l">
              <a:buFont typeface="Arial" pitchFamily="34" charset="0"/>
              <a:buChar char="•"/>
            </a:pPr>
            <a:r>
              <a:rPr lang="es-ES" sz="2800" dirty="0" smtClean="0">
                <a:solidFill>
                  <a:schemeClr val="bg2">
                    <a:lumMod val="20000"/>
                    <a:lumOff val="80000"/>
                  </a:schemeClr>
                </a:solidFill>
              </a:rPr>
              <a:t>No requiere mucho mantenimiento</a:t>
            </a:r>
          </a:p>
          <a:p>
            <a:pPr marL="457200" indent="-457200" algn="l">
              <a:buFont typeface="Arial" pitchFamily="34" charset="0"/>
              <a:buChar char="•"/>
            </a:pPr>
            <a:r>
              <a:rPr lang="es-ES" sz="2800" dirty="0" smtClean="0">
                <a:solidFill>
                  <a:schemeClr val="bg2">
                    <a:lumMod val="20000"/>
                    <a:lumOff val="80000"/>
                  </a:schemeClr>
                </a:solidFill>
              </a:rPr>
              <a:t>Ninguna pieza es débil, y si son débiles son pequeñas</a:t>
            </a:r>
            <a:endParaRPr lang="es-PE" sz="2800" dirty="0">
              <a:solidFill>
                <a:schemeClr val="bg2">
                  <a:lumMod val="20000"/>
                  <a:lumOff val="80000"/>
                </a:schemeClr>
              </a:solidFill>
            </a:endParaRPr>
          </a:p>
        </p:txBody>
      </p:sp>
    </p:spTree>
    <p:extLst>
      <p:ext uri="{BB962C8B-B14F-4D97-AF65-F5344CB8AC3E}">
        <p14:creationId xmlns:p14="http://schemas.microsoft.com/office/powerpoint/2010/main" val="1827031706"/>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ctrTitle"/>
          </p:nvPr>
        </p:nvSpPr>
        <p:spPr>
          <a:xfrm>
            <a:off x="1758556" y="988343"/>
            <a:ext cx="7860119" cy="2991229"/>
          </a:xfrm>
        </p:spPr>
        <p:txBody>
          <a:bodyPr/>
          <a:lstStyle/>
          <a:p>
            <a:pPr algn="ctr"/>
            <a:r>
              <a:rPr lang="es-PE" dirty="0" smtClean="0"/>
              <a:t>Viscosímetros discontinuos</a:t>
            </a:r>
            <a:endParaRPr lang="es-PE" dirty="0"/>
          </a:p>
        </p:txBody>
      </p:sp>
      <p:pic>
        <p:nvPicPr>
          <p:cNvPr id="4" name="Imagen 3"/>
          <p:cNvPicPr>
            <a:picLocks noChangeAspect="1"/>
          </p:cNvPicPr>
          <p:nvPr/>
        </p:nvPicPr>
        <p:blipFill rotWithShape="1">
          <a:blip r:embed="rId2"/>
          <a:srcRect l="22100" t="18787" r="47372" b="29756"/>
          <a:stretch/>
        </p:blipFill>
        <p:spPr>
          <a:xfrm>
            <a:off x="8609235" y="3704546"/>
            <a:ext cx="2372835" cy="3153454"/>
          </a:xfrm>
          <a:prstGeom prst="rect">
            <a:avLst/>
          </a:prstGeom>
        </p:spPr>
      </p:pic>
      <p:pic>
        <p:nvPicPr>
          <p:cNvPr id="5" name="Imagen 4"/>
          <p:cNvPicPr>
            <a:picLocks noChangeAspect="1"/>
          </p:cNvPicPr>
          <p:nvPr/>
        </p:nvPicPr>
        <p:blipFill>
          <a:blip r:embed="rId3"/>
          <a:stretch>
            <a:fillRect/>
          </a:stretch>
        </p:blipFill>
        <p:spPr>
          <a:xfrm>
            <a:off x="8982723" y="395913"/>
            <a:ext cx="2486025" cy="1828800"/>
          </a:xfrm>
          <a:prstGeom prst="rect">
            <a:avLst/>
          </a:prstGeom>
        </p:spPr>
      </p:pic>
      <p:pic>
        <p:nvPicPr>
          <p:cNvPr id="6" name="Imagen 5"/>
          <p:cNvPicPr>
            <a:picLocks noChangeAspect="1"/>
          </p:cNvPicPr>
          <p:nvPr/>
        </p:nvPicPr>
        <p:blipFill>
          <a:blip r:embed="rId4"/>
          <a:stretch>
            <a:fillRect/>
          </a:stretch>
        </p:blipFill>
        <p:spPr>
          <a:xfrm>
            <a:off x="2157801" y="4152387"/>
            <a:ext cx="4323382" cy="2507689"/>
          </a:xfrm>
          <a:prstGeom prst="rect">
            <a:avLst/>
          </a:prstGeom>
        </p:spPr>
      </p:pic>
      <p:pic>
        <p:nvPicPr>
          <p:cNvPr id="7" name="Imagen 6"/>
          <p:cNvPicPr>
            <a:picLocks noChangeAspect="1"/>
          </p:cNvPicPr>
          <p:nvPr/>
        </p:nvPicPr>
        <p:blipFill>
          <a:blip r:embed="rId5"/>
          <a:stretch>
            <a:fillRect/>
          </a:stretch>
        </p:blipFill>
        <p:spPr>
          <a:xfrm>
            <a:off x="395161" y="191295"/>
            <a:ext cx="2085975" cy="2876550"/>
          </a:xfrm>
          <a:prstGeom prst="rect">
            <a:avLst/>
          </a:prstGeom>
        </p:spPr>
      </p:pic>
    </p:spTree>
    <p:extLst>
      <p:ext uri="{BB962C8B-B14F-4D97-AF65-F5344CB8AC3E}">
        <p14:creationId xmlns:p14="http://schemas.microsoft.com/office/powerpoint/2010/main" val="3355800174"/>
      </p:ext>
    </p:extLst>
  </p:cSld>
  <p:clrMapOvr>
    <a:masterClrMapping/>
  </p:clrMapOvr>
  <mc:AlternateContent xmlns:mc="http://schemas.openxmlformats.org/markup-compatibility/2006" xmlns:p14="http://schemas.microsoft.com/office/powerpoint/2010/main">
    <mc:Choice Requires="p14">
      <p:transition spd="slow" p14:dur="2000" advClick="0" advTm="1000"/>
    </mc:Choice>
    <mc:Fallback xmlns="">
      <p:transition spd="slow" advClick="0" advTm="1000"/>
    </mc:Fallback>
  </mc:AlternateContent>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2495601" y="-8899"/>
            <a:ext cx="7429499" cy="1478570"/>
          </a:xfrm>
        </p:spPr>
        <p:txBody>
          <a:bodyPr/>
          <a:lstStyle/>
          <a:p>
            <a:r>
              <a:rPr lang="es-PE" dirty="0" smtClean="0"/>
              <a:t>Viscosidad cinemática</a:t>
            </a:r>
            <a:endParaRPr lang="es-PE" dirty="0"/>
          </a:p>
        </p:txBody>
      </p:sp>
      <mc:AlternateContent xmlns:mc="http://schemas.openxmlformats.org/markup-compatibility/2006" xmlns:a14="http://schemas.microsoft.com/office/drawing/2010/main">
        <mc:Choice Requires="a14">
          <p:sp>
            <p:nvSpPr>
              <p:cNvPr id="3" name="Marcador de contenido 2"/>
              <p:cNvSpPr>
                <a:spLocks noGrp="1"/>
              </p:cNvSpPr>
              <p:nvPr>
                <p:ph idx="1"/>
              </p:nvPr>
            </p:nvSpPr>
            <p:spPr>
              <a:xfrm>
                <a:off x="2380060" y="1723120"/>
                <a:ext cx="7429499" cy="459433"/>
              </a:xfrm>
            </p:spPr>
            <p:style>
              <a:lnRef idx="1">
                <a:schemeClr val="accent2"/>
              </a:lnRef>
              <a:fillRef idx="2">
                <a:schemeClr val="accent2"/>
              </a:fillRef>
              <a:effectRef idx="1">
                <a:schemeClr val="accent2"/>
              </a:effectRef>
              <a:fontRef idx="minor">
                <a:schemeClr val="dk1"/>
              </a:fontRef>
            </p:style>
            <p:txBody>
              <a:bodyPr>
                <a:normAutofit/>
              </a:bodyPr>
              <a:lstStyle/>
              <a:p>
                <a14:m>
                  <m:oMath xmlns:m="http://schemas.openxmlformats.org/officeDocument/2006/math">
                    <m:r>
                      <a:rPr lang="es-PE" sz="2000" i="1">
                        <a:latin typeface="Cambria Math" panose="02040503050406030204" pitchFamily="18" charset="0"/>
                      </a:rPr>
                      <m:t>𝑣𝑖𝑠𝑐𝑜𝑠𝑖𝑑𝑎𝑑</m:t>
                    </m:r>
                    <m:r>
                      <a:rPr lang="es-PE" sz="2000" i="1">
                        <a:latin typeface="Cambria Math" panose="02040503050406030204" pitchFamily="18" charset="0"/>
                      </a:rPr>
                      <m:t> </m:t>
                    </m:r>
                    <m:r>
                      <a:rPr lang="es-PE" sz="2000" i="1">
                        <a:latin typeface="Cambria Math" panose="02040503050406030204" pitchFamily="18" charset="0"/>
                      </a:rPr>
                      <m:t>𝑐𝑖𝑛𝑒𝑚𝑎𝑡𝑖𝑐𝑎</m:t>
                    </m:r>
                    <m:r>
                      <a:rPr lang="es-PE" sz="2000" i="1">
                        <a:latin typeface="Cambria Math" panose="02040503050406030204" pitchFamily="18" charset="0"/>
                      </a:rPr>
                      <m:t>=</m:t>
                    </m:r>
                    <m:r>
                      <a:rPr lang="es-PE" sz="2000" i="1">
                        <a:latin typeface="Cambria Math" panose="02040503050406030204" pitchFamily="18" charset="0"/>
                      </a:rPr>
                      <m:t>𝑣𝑖𝑠𝑐𝑜𝑠𝑖𝑑𝑎𝑑</m:t>
                    </m:r>
                    <m:r>
                      <a:rPr lang="es-PE" sz="2000" i="1">
                        <a:latin typeface="Cambria Math" panose="02040503050406030204" pitchFamily="18" charset="0"/>
                      </a:rPr>
                      <m:t> </m:t>
                    </m:r>
                    <m:r>
                      <a:rPr lang="es-PE" sz="2000" i="1">
                        <a:latin typeface="Cambria Math" panose="02040503050406030204" pitchFamily="18" charset="0"/>
                      </a:rPr>
                      <m:t>𝑑𝑖𝑛𝑎𝑚𝑖𝑐𝑎</m:t>
                    </m:r>
                    <m:r>
                      <a:rPr lang="es-PE" sz="2000" i="1">
                        <a:latin typeface="Cambria Math" panose="02040503050406030204" pitchFamily="18" charset="0"/>
                      </a:rPr>
                      <m:t>/</m:t>
                    </m:r>
                    <m:r>
                      <a:rPr lang="es-PE" sz="2000" i="1">
                        <a:latin typeface="Cambria Math" panose="02040503050406030204" pitchFamily="18" charset="0"/>
                      </a:rPr>
                      <m:t>𝑑𝑒𝑛𝑠𝑖𝑑𝑎𝑑</m:t>
                    </m:r>
                  </m:oMath>
                </a14:m>
                <a:endParaRPr lang="es-PE" sz="2000" dirty="0"/>
              </a:p>
            </p:txBody>
          </p:sp>
        </mc:Choice>
        <mc:Fallback xmlns="">
          <p:sp>
            <p:nvSpPr>
              <p:cNvPr id="3" name="Marcador de contenido 2"/>
              <p:cNvSpPr>
                <a:spLocks noGrp="1" noRot="1" noChangeAspect="1" noMove="1" noResize="1" noEditPoints="1" noAdjustHandles="1" noChangeArrowheads="1" noChangeShapeType="1" noTextEdit="1"/>
              </p:cNvSpPr>
              <p:nvPr>
                <p:ph idx="1"/>
              </p:nvPr>
            </p:nvSpPr>
            <p:spPr>
              <a:xfrm>
                <a:off x="2380060" y="1723120"/>
                <a:ext cx="7429499" cy="459433"/>
              </a:xfrm>
              <a:blipFill rotWithShape="0">
                <a:blip r:embed="rId2"/>
                <a:stretch>
                  <a:fillRect l="-246" b="-7792"/>
                </a:stretch>
              </a:blipFill>
            </p:spPr>
            <p:txBody>
              <a:bodyPr/>
              <a:lstStyle/>
              <a:p>
                <a:r>
                  <a:rPr lang="es-PE">
                    <a:noFill/>
                  </a:rPr>
                  <a:t> </a:t>
                </a:r>
              </a:p>
            </p:txBody>
          </p:sp>
        </mc:Fallback>
      </mc:AlternateContent>
      <p:sp>
        <p:nvSpPr>
          <p:cNvPr id="12" name="Rectángulo 11"/>
          <p:cNvSpPr/>
          <p:nvPr/>
        </p:nvSpPr>
        <p:spPr>
          <a:xfrm>
            <a:off x="1919536" y="2492896"/>
            <a:ext cx="1728192" cy="288032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PE" dirty="0"/>
              <a:t>Se cuantifica midiendo que tarda en fluir un lubricante por el </a:t>
            </a:r>
            <a:r>
              <a:rPr lang="es-PE" dirty="0" err="1"/>
              <a:t>tubov</a:t>
            </a:r>
            <a:endParaRPr lang="es-PE" dirty="0"/>
          </a:p>
        </p:txBody>
      </p:sp>
      <p:sp>
        <p:nvSpPr>
          <p:cNvPr id="14" name="Rectángulo 13"/>
          <p:cNvSpPr/>
          <p:nvPr/>
        </p:nvSpPr>
        <p:spPr>
          <a:xfrm>
            <a:off x="2002043" y="2578360"/>
            <a:ext cx="1728192" cy="288032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PE" b="1" dirty="0">
                <a:solidFill>
                  <a:schemeClr val="bg1">
                    <a:lumMod val="65000"/>
                    <a:lumOff val="35000"/>
                  </a:schemeClr>
                </a:solidFill>
              </a:rPr>
              <a:t>Se cuantifica midiendo que tarda en fluir un lubricante por el tubo, bajo la fuerza de la gravedad</a:t>
            </a:r>
          </a:p>
        </p:txBody>
      </p:sp>
      <p:graphicFrame>
        <p:nvGraphicFramePr>
          <p:cNvPr id="17" name="Diagrama 16"/>
          <p:cNvGraphicFramePr/>
          <p:nvPr>
            <p:extLst/>
          </p:nvPr>
        </p:nvGraphicFramePr>
        <p:xfrm>
          <a:off x="4079776" y="2492896"/>
          <a:ext cx="6096000" cy="406400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18" name="Flecha derecha 17"/>
          <p:cNvSpPr/>
          <p:nvPr/>
        </p:nvSpPr>
        <p:spPr>
          <a:xfrm>
            <a:off x="4151784" y="3789040"/>
            <a:ext cx="1080120" cy="648072"/>
          </a:xfrm>
          <a:prstGeom prst="rightArrow">
            <a:avLst/>
          </a:prstGeom>
          <a:effectLst>
            <a:softEdge rad="31750"/>
          </a:effectLst>
        </p:spPr>
        <p:style>
          <a:lnRef idx="1">
            <a:schemeClr val="accent5"/>
          </a:lnRef>
          <a:fillRef idx="2">
            <a:schemeClr val="accent5"/>
          </a:fillRef>
          <a:effectRef idx="1">
            <a:schemeClr val="accent5"/>
          </a:effectRef>
          <a:fontRef idx="minor">
            <a:schemeClr val="dk1"/>
          </a:fontRef>
        </p:style>
        <p:txBody>
          <a:bodyPr rtlCol="0" anchor="ctr"/>
          <a:lstStyle/>
          <a:p>
            <a:pPr algn="ctr"/>
            <a:endParaRPr lang="es-PE"/>
          </a:p>
        </p:txBody>
      </p:sp>
    </p:spTree>
    <p:extLst>
      <p:ext uri="{BB962C8B-B14F-4D97-AF65-F5344CB8AC3E}">
        <p14:creationId xmlns:p14="http://schemas.microsoft.com/office/powerpoint/2010/main" val="1042680436"/>
      </p:ext>
    </p:extLst>
  </p:cSld>
  <p:clrMapOvr>
    <a:masterClrMapping/>
  </p:clrMapOvr>
  <mc:AlternateContent xmlns:mc="http://schemas.openxmlformats.org/markup-compatibility/2006" xmlns:p14="http://schemas.microsoft.com/office/powerpoint/2010/main">
    <mc:Choice Requires="p14">
      <p:transition spd="slow" p14:dur="2000" advClick="0" advTm="1000"/>
    </mc:Choice>
    <mc:Fallback xmlns="">
      <p:transition spd="slow" advClick="0" advTm="1000"/>
    </mc:Fallback>
  </mc:AlternateContent>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a:xfrm>
            <a:off x="2698949" y="188640"/>
            <a:ext cx="7429499" cy="1478570"/>
          </a:xfrm>
        </p:spPr>
        <p:txBody>
          <a:bodyPr/>
          <a:lstStyle/>
          <a:p>
            <a:r>
              <a:rPr lang="es-PE" dirty="0" smtClean="0"/>
              <a:t>BASADO EN</a:t>
            </a:r>
            <a:endParaRPr lang="es-PE" dirty="0"/>
          </a:p>
        </p:txBody>
      </p:sp>
      <p:pic>
        <p:nvPicPr>
          <p:cNvPr id="2050" name="Picture 2"/>
          <p:cNvPicPr>
            <a:picLocks noGrp="1" noChangeAspect="1" noChangeArrowheads="1"/>
          </p:cNvPicPr>
          <p:nvPr>
            <p:ph idx="1"/>
          </p:nvPr>
        </p:nvPicPr>
        <p:blipFill rotWithShape="1">
          <a:blip r:embed="rId2" cstate="print">
            <a:extLst>
              <a:ext uri="{28A0092B-C50C-407E-A947-70E740481C1C}">
                <a14:useLocalDpi xmlns:a14="http://schemas.microsoft.com/office/drawing/2010/main" val="0"/>
              </a:ext>
            </a:extLst>
          </a:blip>
          <a:stretch/>
        </p:blipFill>
        <p:spPr bwMode="auto">
          <a:xfrm>
            <a:off x="832291" y="340687"/>
            <a:ext cx="8169589" cy="3783038"/>
          </a:xfrm>
          <a:prstGeom prst="round2DiagRect">
            <a:avLst>
              <a:gd name="adj1" fmla="val 16667"/>
              <a:gd name="adj2" fmla="val 0"/>
            </a:avLst>
          </a:prstGeom>
          <a:solidFill>
            <a:srgbClr val="FFFF00"/>
          </a:solidFill>
          <a:ln w="88900" cap="sq">
            <a:solidFill>
              <a:srgbClr val="FFFFFF"/>
            </a:solidFill>
            <a:miter lim="800000"/>
          </a:ln>
          <a:effectLst>
            <a:glow rad="228600">
              <a:schemeClr val="accent1">
                <a:satMod val="175000"/>
                <a:alpha val="40000"/>
              </a:schemeClr>
            </a:glow>
            <a:outerShdw dist="35921" dir="2700000" algn="ctr" rotWithShape="0">
              <a:schemeClr val="bg2"/>
            </a:outerShdw>
          </a:effectLst>
          <a:extLst/>
        </p:spPr>
      </p:pic>
      <p:pic>
        <p:nvPicPr>
          <p:cNvPr id="5"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221015" y="4365938"/>
            <a:ext cx="9661249" cy="23702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470794346"/>
      </p:ext>
    </p:extLst>
  </p:cSld>
  <p:clrMapOvr>
    <a:masterClrMapping/>
  </p:clrMapOvr>
  <mc:AlternateContent xmlns:mc="http://schemas.openxmlformats.org/markup-compatibility/2006" xmlns:p14="http://schemas.microsoft.com/office/powerpoint/2010/main">
    <mc:Choice Requires="p14">
      <p:transition spd="slow" p14:dur="2000" advClick="0" advTm="1000"/>
    </mc:Choice>
    <mc:Fallback xmlns="">
      <p:transition spd="slow" advClick="0" advTm="1000"/>
    </mc:Fallback>
  </mc:AlternateContent>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a:xfrm>
            <a:off x="3431705" y="260648"/>
            <a:ext cx="7429499" cy="1478570"/>
          </a:xfrm>
        </p:spPr>
        <p:txBody>
          <a:bodyPr/>
          <a:lstStyle/>
          <a:p>
            <a:r>
              <a:rPr lang="es-PE" dirty="0" smtClean="0"/>
              <a:t>UNIDADES DE MEDICION</a:t>
            </a:r>
            <a:endParaRPr lang="es-PE" dirty="0"/>
          </a:p>
        </p:txBody>
      </p:sp>
      <p:sp>
        <p:nvSpPr>
          <p:cNvPr id="3" name="2 Marcador de contenido"/>
          <p:cNvSpPr>
            <a:spLocks noGrp="1"/>
          </p:cNvSpPr>
          <p:nvPr>
            <p:ph idx="1"/>
          </p:nvPr>
        </p:nvSpPr>
        <p:spPr>
          <a:xfrm>
            <a:off x="1981200" y="1600201"/>
            <a:ext cx="8229600" cy="820688"/>
          </a:xfrm>
        </p:spPr>
        <p:style>
          <a:lnRef idx="1">
            <a:schemeClr val="accent2"/>
          </a:lnRef>
          <a:fillRef idx="2">
            <a:schemeClr val="accent2"/>
          </a:fillRef>
          <a:effectRef idx="1">
            <a:schemeClr val="accent2"/>
          </a:effectRef>
          <a:fontRef idx="minor">
            <a:schemeClr val="dk1"/>
          </a:fontRef>
        </p:style>
        <p:txBody>
          <a:bodyPr>
            <a:normAutofit fontScale="92500" lnSpcReduction="10000"/>
          </a:bodyPr>
          <a:lstStyle/>
          <a:p>
            <a:r>
              <a:rPr lang="es-PE" sz="1800" dirty="0"/>
              <a:t>Si la viscosidad se expresa en función del tiempo que un volumen determinado del fluido emplea para pasar a través de un orificio o de un tubo capilar</a:t>
            </a:r>
          </a:p>
        </p:txBody>
      </p:sp>
      <mc:AlternateContent xmlns:mc="http://schemas.openxmlformats.org/markup-compatibility/2006" xmlns:a14="http://schemas.microsoft.com/office/drawing/2010/main">
        <mc:Choice Requires="a14">
          <p:sp>
            <p:nvSpPr>
              <p:cNvPr id="4" name="Trapecio 3"/>
              <p:cNvSpPr/>
              <p:nvPr/>
            </p:nvSpPr>
            <p:spPr>
              <a:xfrm>
                <a:off x="4259796" y="2635556"/>
                <a:ext cx="4464496" cy="1755681"/>
              </a:xfrm>
              <a:prstGeom prst="trapezoid">
                <a:avLst/>
              </a:prstGeom>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s-PE" sz="2400" i="1">
                          <a:latin typeface="Cambria Math" panose="02040503050406030204" pitchFamily="18" charset="0"/>
                        </a:rPr>
                        <m:t>𝑆𝑇𝑂𝐾𝐸</m:t>
                      </m:r>
                      <m:r>
                        <a:rPr lang="es-PE" sz="2400" i="1">
                          <a:latin typeface="Cambria Math"/>
                        </a:rPr>
                        <m:t>  </m:t>
                      </m:r>
                      <m:r>
                        <a:rPr lang="es-PE" sz="2400" i="1">
                          <a:latin typeface="Cambria Math"/>
                        </a:rPr>
                        <m:t>𝑒𝑛</m:t>
                      </m:r>
                      <m:r>
                        <a:rPr lang="es-PE" sz="2400" i="1">
                          <a:latin typeface="Cambria Math"/>
                        </a:rPr>
                        <m:t>  </m:t>
                      </m:r>
                      <m:r>
                        <a:rPr lang="es-PE" sz="2400" i="1">
                          <a:latin typeface="Cambria Math"/>
                        </a:rPr>
                        <m:t>𝐶𝐺𝑆</m:t>
                      </m:r>
                      <m:r>
                        <a:rPr lang="es-PE" sz="2400" i="1">
                          <a:latin typeface="Cambria Math" panose="02040503050406030204" pitchFamily="18" charset="0"/>
                        </a:rPr>
                        <m:t>=</m:t>
                      </m:r>
                      <m:f>
                        <m:fPr>
                          <m:ctrlPr>
                            <a:rPr lang="es-PE" sz="2400" i="1">
                              <a:latin typeface="Cambria Math" panose="02040503050406030204" pitchFamily="18" charset="0"/>
                            </a:rPr>
                          </m:ctrlPr>
                        </m:fPr>
                        <m:num>
                          <m:sSup>
                            <m:sSupPr>
                              <m:ctrlPr>
                                <a:rPr lang="es-PE" sz="2400" i="1">
                                  <a:latin typeface="Cambria Math" panose="02040503050406030204" pitchFamily="18" charset="0"/>
                                </a:rPr>
                              </m:ctrlPr>
                            </m:sSupPr>
                            <m:e>
                              <m:r>
                                <a:rPr lang="es-PE" sz="2400" i="1">
                                  <a:latin typeface="Cambria Math" panose="02040503050406030204" pitchFamily="18" charset="0"/>
                                </a:rPr>
                                <m:t>𝑐𝑚</m:t>
                              </m:r>
                            </m:e>
                            <m:sup>
                              <m:r>
                                <a:rPr lang="es-PE" sz="2400" i="1">
                                  <a:latin typeface="Cambria Math" panose="02040503050406030204" pitchFamily="18" charset="0"/>
                                </a:rPr>
                                <m:t>2</m:t>
                              </m:r>
                            </m:sup>
                          </m:sSup>
                        </m:num>
                        <m:den>
                          <m:r>
                            <a:rPr lang="es-PE" sz="2400" i="1">
                              <a:latin typeface="Cambria Math" panose="02040503050406030204" pitchFamily="18" charset="0"/>
                            </a:rPr>
                            <m:t>𝑠𝑒𝑔𝑢𝑛𝑑𝑜</m:t>
                          </m:r>
                        </m:den>
                      </m:f>
                      <m:r>
                        <a:rPr lang="es-PE" sz="2400" i="1">
                          <a:latin typeface="Cambria Math"/>
                        </a:rPr>
                        <m:t>    </m:t>
                      </m:r>
                      <m:r>
                        <a:rPr lang="es-PE" sz="2400" i="1">
                          <a:latin typeface="Cambria Math"/>
                        </a:rPr>
                        <m:t>𝑒𝑛</m:t>
                      </m:r>
                      <m:r>
                        <a:rPr lang="es-PE" sz="2400" i="1">
                          <a:latin typeface="Cambria Math"/>
                        </a:rPr>
                        <m:t> </m:t>
                      </m:r>
                      <m:r>
                        <a:rPr lang="es-PE" sz="2400" i="1">
                          <a:latin typeface="Cambria Math"/>
                        </a:rPr>
                        <m:t>𝑆𝐼</m:t>
                      </m:r>
                    </m:oMath>
                  </m:oMathPara>
                </a14:m>
                <a:endParaRPr lang="es-PE" sz="2400" dirty="0"/>
              </a:p>
            </p:txBody>
          </p:sp>
        </mc:Choice>
        <mc:Fallback xmlns="">
          <p:sp>
            <p:nvSpPr>
              <p:cNvPr id="4" name="Trapecio 3"/>
              <p:cNvSpPr>
                <a:spLocks noRot="1" noChangeAspect="1" noMove="1" noResize="1" noEditPoints="1" noAdjustHandles="1" noChangeArrowheads="1" noChangeShapeType="1" noTextEdit="1"/>
              </p:cNvSpPr>
              <p:nvPr/>
            </p:nvSpPr>
            <p:spPr>
              <a:xfrm>
                <a:off x="4259796" y="2635556"/>
                <a:ext cx="4464496" cy="1755681"/>
              </a:xfrm>
              <a:prstGeom prst="trapezoid">
                <a:avLst/>
              </a:prstGeom>
              <a:blipFill rotWithShape="0">
                <a:blip r:embed="rId2"/>
                <a:stretch>
                  <a:fillRect/>
                </a:stretch>
              </a:blipFill>
            </p:spPr>
            <p:txBody>
              <a:bodyPr/>
              <a:lstStyle/>
              <a:p>
                <a:r>
                  <a:rPr lang="es-PE">
                    <a:noFill/>
                  </a:rPr>
                  <a:t> </a:t>
                </a:r>
              </a:p>
            </p:txBody>
          </p:sp>
        </mc:Fallback>
      </mc:AlternateContent>
      <mc:AlternateContent xmlns:mc="http://schemas.openxmlformats.org/markup-compatibility/2006" xmlns:a14="http://schemas.microsoft.com/office/drawing/2010/main">
        <mc:Choice Requires="a14">
          <p:sp>
            <p:nvSpPr>
              <p:cNvPr id="5" name="4 Proceso predefinido"/>
              <p:cNvSpPr/>
              <p:nvPr/>
            </p:nvSpPr>
            <p:spPr>
              <a:xfrm>
                <a:off x="3245108" y="4671645"/>
                <a:ext cx="6552728" cy="1800200"/>
              </a:xfrm>
              <a:prstGeom prst="flowChartPredefinedProcess">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PE" sz="2000" dirty="0"/>
                  <a:t>SISTEMA CGS:</a:t>
                </a:r>
              </a:p>
              <a:p>
                <a:pPr algn="ctr"/>
                <a:r>
                  <a:rPr lang="es-PE" sz="2000" dirty="0"/>
                  <a:t>1 STOKES=100 </a:t>
                </a:r>
                <a:r>
                  <a:rPr lang="es-PE" sz="2000" dirty="0" err="1"/>
                  <a:t>centistokes</a:t>
                </a:r>
                <a:r>
                  <a:rPr lang="es-PE" sz="2000" dirty="0"/>
                  <a:t>=</a:t>
                </a:r>
                <a14:m>
                  <m:oMath xmlns:m="http://schemas.openxmlformats.org/officeDocument/2006/math">
                    <m:f>
                      <m:fPr>
                        <m:ctrlPr>
                          <a:rPr lang="es-PE" sz="2000" i="1">
                            <a:latin typeface="Cambria Math" panose="02040503050406030204" pitchFamily="18" charset="0"/>
                          </a:rPr>
                        </m:ctrlPr>
                      </m:fPr>
                      <m:num>
                        <m:sSup>
                          <m:sSupPr>
                            <m:ctrlPr>
                              <a:rPr lang="es-PE" sz="2000" i="1">
                                <a:latin typeface="Cambria Math" panose="02040503050406030204" pitchFamily="18" charset="0"/>
                              </a:rPr>
                            </m:ctrlPr>
                          </m:sSupPr>
                          <m:e>
                            <m:r>
                              <a:rPr lang="es-PE" sz="2000" i="1">
                                <a:latin typeface="Cambria Math"/>
                              </a:rPr>
                              <m:t>𝑐𝑚</m:t>
                            </m:r>
                          </m:e>
                          <m:sup>
                            <m:r>
                              <a:rPr lang="es-PE" sz="2000" i="1">
                                <a:latin typeface="Cambria Math"/>
                              </a:rPr>
                              <m:t>2</m:t>
                            </m:r>
                          </m:sup>
                        </m:sSup>
                      </m:num>
                      <m:den>
                        <m:r>
                          <a:rPr lang="es-PE" sz="2000" i="1">
                            <a:latin typeface="Cambria Math"/>
                          </a:rPr>
                          <m:t>𝑠</m:t>
                        </m:r>
                      </m:den>
                    </m:f>
                  </m:oMath>
                </a14:m>
                <a:r>
                  <a:rPr lang="es-PE" sz="2000" dirty="0"/>
                  <a:t>=0.0001</a:t>
                </a:r>
                <a14:m>
                  <m:oMath xmlns:m="http://schemas.openxmlformats.org/officeDocument/2006/math">
                    <m:f>
                      <m:fPr>
                        <m:ctrlPr>
                          <a:rPr lang="es-PE" sz="2000" i="1">
                            <a:latin typeface="Cambria Math" panose="02040503050406030204" pitchFamily="18" charset="0"/>
                          </a:rPr>
                        </m:ctrlPr>
                      </m:fPr>
                      <m:num>
                        <m:sSup>
                          <m:sSupPr>
                            <m:ctrlPr>
                              <a:rPr lang="es-PE" sz="2000" i="1">
                                <a:latin typeface="Cambria Math" panose="02040503050406030204" pitchFamily="18" charset="0"/>
                              </a:rPr>
                            </m:ctrlPr>
                          </m:sSupPr>
                          <m:e>
                            <m:r>
                              <a:rPr lang="es-PE" sz="2000" i="1">
                                <a:latin typeface="Cambria Math"/>
                              </a:rPr>
                              <m:t>𝑚</m:t>
                            </m:r>
                          </m:e>
                          <m:sup>
                            <m:r>
                              <a:rPr lang="es-PE" sz="2000" i="1">
                                <a:latin typeface="Cambria Math"/>
                              </a:rPr>
                              <m:t>2</m:t>
                            </m:r>
                          </m:sup>
                        </m:sSup>
                      </m:num>
                      <m:den>
                        <m:r>
                          <a:rPr lang="es-PE" sz="2000" i="1">
                            <a:latin typeface="Cambria Math"/>
                          </a:rPr>
                          <m:t>𝑠</m:t>
                        </m:r>
                      </m:den>
                    </m:f>
                  </m:oMath>
                </a14:m>
                <a:endParaRPr lang="es-PE" sz="2000" dirty="0"/>
              </a:p>
            </p:txBody>
          </p:sp>
        </mc:Choice>
        <mc:Fallback xmlns="">
          <p:sp>
            <p:nvSpPr>
              <p:cNvPr id="5" name="4 Proceso predefinido"/>
              <p:cNvSpPr>
                <a:spLocks noRot="1" noChangeAspect="1" noMove="1" noResize="1" noEditPoints="1" noAdjustHandles="1" noChangeArrowheads="1" noChangeShapeType="1" noTextEdit="1"/>
              </p:cNvSpPr>
              <p:nvPr/>
            </p:nvSpPr>
            <p:spPr>
              <a:xfrm>
                <a:off x="3245108" y="4671645"/>
                <a:ext cx="6552728" cy="1800200"/>
              </a:xfrm>
              <a:prstGeom prst="flowChartPredefinedProcess">
                <a:avLst/>
              </a:prstGeom>
              <a:blipFill rotWithShape="0">
                <a:blip r:embed="rId3"/>
                <a:stretch>
                  <a:fillRect/>
                </a:stretch>
              </a:blipFill>
            </p:spPr>
            <p:txBody>
              <a:bodyPr/>
              <a:lstStyle/>
              <a:p>
                <a:r>
                  <a:rPr lang="es-PE">
                    <a:noFill/>
                  </a:rPr>
                  <a:t> </a:t>
                </a:r>
              </a:p>
            </p:txBody>
          </p:sp>
        </mc:Fallback>
      </mc:AlternateContent>
    </p:spTree>
    <p:extLst>
      <p:ext uri="{BB962C8B-B14F-4D97-AF65-F5344CB8AC3E}">
        <p14:creationId xmlns:p14="http://schemas.microsoft.com/office/powerpoint/2010/main" val="2324338080"/>
      </p:ext>
    </p:extLst>
  </p:cSld>
  <p:clrMapOvr>
    <a:masterClrMapping/>
  </p:clrMapOvr>
  <mc:AlternateContent xmlns:mc="http://schemas.openxmlformats.org/markup-compatibility/2006" xmlns:p14="http://schemas.microsoft.com/office/powerpoint/2010/main">
    <mc:Choice Requires="p14">
      <p:transition spd="slow" p14:dur="2000" advClick="0" advTm="1000"/>
    </mc:Choice>
    <mc:Fallback xmlns="">
      <p:transition spd="slow" advClick="0" advTm="1000"/>
    </mc:Fallback>
  </mc:AlternateContent>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1 Título"/>
          <p:cNvSpPr>
            <a:spLocks noGrp="1"/>
          </p:cNvSpPr>
          <p:nvPr>
            <p:ph type="title"/>
          </p:nvPr>
        </p:nvSpPr>
        <p:spPr>
          <a:xfrm>
            <a:off x="2380061" y="618518"/>
            <a:ext cx="7429499" cy="1478570"/>
          </a:xfrm>
        </p:spPr>
        <p:txBody>
          <a:bodyPr/>
          <a:lstStyle/>
          <a:p>
            <a:r>
              <a:rPr lang="es-PE" dirty="0">
                <a:latin typeface="Exotc350 Bd BT" panose="04030805050B02020A03" pitchFamily="82" charset="0"/>
              </a:rPr>
              <a:t>1</a:t>
            </a:r>
            <a:r>
              <a:rPr lang="es-PE" dirty="0" smtClean="0">
                <a:latin typeface="Exotc350 Bd BT" panose="04030805050B02020A03" pitchFamily="82" charset="0"/>
              </a:rPr>
              <a:t>.-VISCOSIMETRO SAYBOLT</a:t>
            </a:r>
            <a:endParaRPr lang="es-PE" dirty="0">
              <a:latin typeface="Exotc350 Bd BT" panose="04030805050B02020A03" pitchFamily="82" charset="0"/>
            </a:endParaRPr>
          </a:p>
        </p:txBody>
      </p:sp>
      <p:sp>
        <p:nvSpPr>
          <p:cNvPr id="6" name="2 Marcador de contenido"/>
          <p:cNvSpPr>
            <a:spLocks noGrp="1"/>
          </p:cNvSpPr>
          <p:nvPr>
            <p:ph idx="1"/>
          </p:nvPr>
        </p:nvSpPr>
        <p:spPr>
          <a:xfrm>
            <a:off x="2075571" y="2225810"/>
            <a:ext cx="4003972" cy="1683569"/>
          </a:xfrm>
        </p:spPr>
        <p:style>
          <a:lnRef idx="1">
            <a:schemeClr val="accent6"/>
          </a:lnRef>
          <a:fillRef idx="2">
            <a:schemeClr val="accent6"/>
          </a:fillRef>
          <a:effectRef idx="1">
            <a:schemeClr val="accent6"/>
          </a:effectRef>
          <a:fontRef idx="minor">
            <a:schemeClr val="dk1"/>
          </a:fontRef>
        </p:style>
        <p:txBody>
          <a:bodyPr>
            <a:normAutofit/>
          </a:bodyPr>
          <a:lstStyle/>
          <a:p>
            <a:r>
              <a:rPr lang="es-PE" dirty="0"/>
              <a:t>ESCALA </a:t>
            </a:r>
            <a:r>
              <a:rPr lang="es-PE" dirty="0" smtClean="0"/>
              <a:t>SAYBOLT</a:t>
            </a:r>
            <a:endParaRPr lang="es-PE" dirty="0"/>
          </a:p>
          <a:p>
            <a:r>
              <a:rPr lang="es-PE" dirty="0"/>
              <a:t>PAIS: </a:t>
            </a:r>
            <a:r>
              <a:rPr lang="es-PE" dirty="0" smtClean="0"/>
              <a:t>ESTADOA UNIDOS</a:t>
            </a:r>
            <a:endParaRPr lang="es-PE" dirty="0"/>
          </a:p>
          <a:p>
            <a:r>
              <a:rPr lang="es-PE" dirty="0" err="1"/>
              <a:t>UNIDAD:tiempo</a:t>
            </a:r>
            <a:r>
              <a:rPr lang="es-PE" dirty="0"/>
              <a:t> en segundos</a:t>
            </a:r>
          </a:p>
          <a:p>
            <a:pPr marL="0" indent="0">
              <a:buNone/>
            </a:pPr>
            <a:endParaRPr lang="es-PE" dirty="0"/>
          </a:p>
        </p:txBody>
      </p:sp>
      <mc:AlternateContent xmlns:mc="http://schemas.openxmlformats.org/markup-compatibility/2006" xmlns:a14="http://schemas.microsoft.com/office/drawing/2010/main">
        <mc:Choice Requires="a14">
          <p:sp>
            <p:nvSpPr>
              <p:cNvPr id="7" name="2 Marcador de contenido"/>
              <p:cNvSpPr txBox="1">
                <a:spLocks/>
              </p:cNvSpPr>
              <p:nvPr/>
            </p:nvSpPr>
            <p:spPr>
              <a:xfrm>
                <a:off x="2380061" y="4724583"/>
                <a:ext cx="7429499" cy="1584176"/>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ormAutofit fontScale="92500"/>
              </a:bodyPr>
              <a:lstStyle>
                <a:lvl1pPr marL="228600" indent="-228600" algn="l" defTabSz="914400" rtl="0" eaLnBrk="1" latinLnBrk="0" hangingPunct="1">
                  <a:lnSpc>
                    <a:spcPct val="120000"/>
                  </a:lnSpc>
                  <a:spcBef>
                    <a:spcPts val="1000"/>
                  </a:spcBef>
                  <a:buSzPct val="125000"/>
                  <a:buFont typeface="Arial" panose="020B0604020202020204" pitchFamily="34" charset="0"/>
                  <a:buChar char="•"/>
                  <a:defRPr sz="2400" kern="1200">
                    <a:solidFill>
                      <a:schemeClr val="dk1"/>
                    </a:solidFill>
                    <a:latin typeface="+mn-lt"/>
                    <a:ea typeface="+mn-ea"/>
                    <a:cs typeface="+mn-cs"/>
                  </a:defRPr>
                </a:lvl1pPr>
                <a:lvl2pPr marL="685800" indent="-228600" algn="l" defTabSz="914400" rtl="0" eaLnBrk="1" latinLnBrk="0" hangingPunct="1">
                  <a:lnSpc>
                    <a:spcPct val="120000"/>
                  </a:lnSpc>
                  <a:spcBef>
                    <a:spcPts val="500"/>
                  </a:spcBef>
                  <a:buSzPct val="125000"/>
                  <a:buFont typeface="Arial" panose="020B0604020202020204" pitchFamily="34" charset="0"/>
                  <a:buChar char="•"/>
                  <a:defRPr sz="2000" kern="1200">
                    <a:solidFill>
                      <a:schemeClr val="dk1"/>
                    </a:solidFill>
                    <a:latin typeface="+mn-lt"/>
                    <a:ea typeface="+mn-ea"/>
                    <a:cs typeface="+mn-cs"/>
                  </a:defRPr>
                </a:lvl2pPr>
                <a:lvl3pPr marL="1143000" indent="-228600" algn="l" defTabSz="914400" rtl="0" eaLnBrk="1" latinLnBrk="0" hangingPunct="1">
                  <a:lnSpc>
                    <a:spcPct val="120000"/>
                  </a:lnSpc>
                  <a:spcBef>
                    <a:spcPts val="500"/>
                  </a:spcBef>
                  <a:buSzPct val="125000"/>
                  <a:buFont typeface="Arial" panose="020B0604020202020204" pitchFamily="34" charset="0"/>
                  <a:buChar char="•"/>
                  <a:defRPr sz="1800" kern="1200">
                    <a:solidFill>
                      <a:schemeClr val="dk1"/>
                    </a:solidFill>
                    <a:latin typeface="+mn-lt"/>
                    <a:ea typeface="+mn-ea"/>
                    <a:cs typeface="+mn-cs"/>
                  </a:defRPr>
                </a:lvl3pPr>
                <a:lvl4pPr marL="16002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dk1"/>
                    </a:solidFill>
                    <a:latin typeface="+mn-lt"/>
                    <a:ea typeface="+mn-ea"/>
                    <a:cs typeface="+mn-cs"/>
                  </a:defRPr>
                </a:lvl4pPr>
                <a:lvl5pPr marL="20574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dk1"/>
                    </a:solidFill>
                    <a:latin typeface="+mn-lt"/>
                    <a:ea typeface="+mn-ea"/>
                    <a:cs typeface="+mn-cs"/>
                  </a:defRPr>
                </a:lvl5pPr>
                <a:lvl6pPr marL="25146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dk1"/>
                    </a:solidFill>
                    <a:latin typeface="+mn-lt"/>
                    <a:ea typeface="+mn-ea"/>
                    <a:cs typeface="+mn-cs"/>
                  </a:defRPr>
                </a:lvl6pPr>
                <a:lvl7pPr marL="29718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dk1"/>
                    </a:solidFill>
                    <a:latin typeface="+mn-lt"/>
                    <a:ea typeface="+mn-ea"/>
                    <a:cs typeface="+mn-cs"/>
                  </a:defRPr>
                </a:lvl7pPr>
                <a:lvl8pPr marL="34290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dk1"/>
                    </a:solidFill>
                    <a:latin typeface="+mn-lt"/>
                    <a:ea typeface="+mn-ea"/>
                    <a:cs typeface="+mn-cs"/>
                  </a:defRPr>
                </a:lvl8pPr>
                <a:lvl9pPr marL="38862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dk1"/>
                    </a:solidFill>
                    <a:latin typeface="+mn-lt"/>
                    <a:ea typeface="+mn-ea"/>
                    <a:cs typeface="+mn-cs"/>
                  </a:defRPr>
                </a:lvl9pPr>
              </a:lstStyle>
              <a:p>
                <a:r>
                  <a:rPr lang="es-PE" dirty="0"/>
                  <a:t>El tiempo que tarda 60 </a:t>
                </a:r>
                <a14:m>
                  <m:oMath xmlns:m="http://schemas.openxmlformats.org/officeDocument/2006/math">
                    <m:sSup>
                      <m:sSupPr>
                        <m:ctrlPr>
                          <a:rPr lang="es-PE" i="1">
                            <a:latin typeface="Cambria Math" panose="02040503050406030204" pitchFamily="18" charset="0"/>
                          </a:rPr>
                        </m:ctrlPr>
                      </m:sSupPr>
                      <m:e>
                        <m:r>
                          <a:rPr lang="es-PE" i="1">
                            <a:latin typeface="Cambria Math" panose="02040503050406030204" pitchFamily="18" charset="0"/>
                          </a:rPr>
                          <m:t>𝑐𝑚</m:t>
                        </m:r>
                      </m:e>
                      <m:sup>
                        <m:r>
                          <a:rPr lang="es-PE" i="1">
                            <a:latin typeface="Cambria Math" panose="02040503050406030204" pitchFamily="18" charset="0"/>
                          </a:rPr>
                          <m:t>3</m:t>
                        </m:r>
                      </m:sup>
                    </m:sSup>
                  </m:oMath>
                </a14:m>
                <a:r>
                  <a:rPr lang="es-PE" dirty="0"/>
                  <a:t>de aceite en pasar a través del orificio calibrado de un viscosímetro universal SAYBOLT a una temperatura determinada</a:t>
                </a:r>
              </a:p>
              <a:p>
                <a:endParaRPr lang="es-PE" dirty="0"/>
              </a:p>
            </p:txBody>
          </p:sp>
        </mc:Choice>
        <mc:Fallback xmlns="">
          <p:sp>
            <p:nvSpPr>
              <p:cNvPr id="7" name="2 Marcador de contenido"/>
              <p:cNvSpPr txBox="1">
                <a:spLocks noRot="1" noChangeAspect="1" noMove="1" noResize="1" noEditPoints="1" noAdjustHandles="1" noChangeArrowheads="1" noChangeShapeType="1" noTextEdit="1"/>
              </p:cNvSpPr>
              <p:nvPr/>
            </p:nvSpPr>
            <p:spPr>
              <a:xfrm>
                <a:off x="2380061" y="4724583"/>
                <a:ext cx="7429499" cy="1584176"/>
              </a:xfrm>
              <a:prstGeom prst="rect">
                <a:avLst/>
              </a:prstGeom>
              <a:blipFill rotWithShape="0">
                <a:blip r:embed="rId2"/>
                <a:stretch>
                  <a:fillRect l="-1310" t="-3817" r="-410"/>
                </a:stretch>
              </a:blipFill>
            </p:spPr>
            <p:txBody>
              <a:bodyPr/>
              <a:lstStyle/>
              <a:p>
                <a:r>
                  <a:rPr lang="es-PE">
                    <a:noFill/>
                  </a:rPr>
                  <a:t> </a:t>
                </a:r>
              </a:p>
            </p:txBody>
          </p:sp>
        </mc:Fallback>
      </mc:AlternateContent>
      <p:pic>
        <p:nvPicPr>
          <p:cNvPr id="8" name="Marcador de contenido 3"/>
          <p:cNvPicPr>
            <a:picLocks noChangeAspect="1"/>
          </p:cNvPicPr>
          <p:nvPr/>
        </p:nvPicPr>
        <p:blipFill>
          <a:blip r:embed="rId3"/>
          <a:stretch>
            <a:fillRect/>
          </a:stretch>
        </p:blipFill>
        <p:spPr>
          <a:xfrm>
            <a:off x="6384034" y="1770086"/>
            <a:ext cx="4001591" cy="2595019"/>
          </a:xfrm>
          <a:prstGeom prst="rect">
            <a:avLst/>
          </a:prstGeom>
        </p:spPr>
      </p:pic>
    </p:spTree>
    <p:extLst>
      <p:ext uri="{BB962C8B-B14F-4D97-AF65-F5344CB8AC3E}">
        <p14:creationId xmlns:p14="http://schemas.microsoft.com/office/powerpoint/2010/main" val="1003111729"/>
      </p:ext>
    </p:extLst>
  </p:cSld>
  <p:clrMapOvr>
    <a:masterClrMapping/>
  </p:clrMapOvr>
  <mc:AlternateContent xmlns:mc="http://schemas.openxmlformats.org/markup-compatibility/2006" xmlns:p14="http://schemas.microsoft.com/office/powerpoint/2010/main">
    <mc:Choice Requires="p14">
      <p:transition spd="slow" p14:dur="2000" advClick="0" advTm="1000"/>
    </mc:Choice>
    <mc:Fallback xmlns="">
      <p:transition spd="slow" advClick="0" advTm="1000"/>
    </mc:Fallback>
  </mc:AlternateContent>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2 Marcador de contenido"/>
          <p:cNvSpPr>
            <a:spLocks noGrp="1"/>
          </p:cNvSpPr>
          <p:nvPr>
            <p:ph idx="1"/>
          </p:nvPr>
        </p:nvSpPr>
        <p:spPr>
          <a:xfrm>
            <a:off x="2063552" y="620688"/>
            <a:ext cx="8229600" cy="1872208"/>
          </a:xfrm>
        </p:spPr>
        <p:style>
          <a:lnRef idx="1">
            <a:schemeClr val="accent4"/>
          </a:lnRef>
          <a:fillRef idx="3">
            <a:schemeClr val="accent4"/>
          </a:fillRef>
          <a:effectRef idx="2">
            <a:schemeClr val="accent4"/>
          </a:effectRef>
          <a:fontRef idx="minor">
            <a:schemeClr val="lt1"/>
          </a:fontRef>
        </p:style>
        <p:txBody>
          <a:bodyPr/>
          <a:lstStyle/>
          <a:p>
            <a:r>
              <a:rPr lang="es-PE" dirty="0"/>
              <a:t>La facilidad con que un fluido fluye a través de un orificio de diámetro pequeño es una indicación de su viscosidad. Éste es el principio sobre el cual está basado el viscosímetro de </a:t>
            </a:r>
            <a:r>
              <a:rPr lang="es-PE" dirty="0" err="1"/>
              <a:t>Saybolt</a:t>
            </a:r>
            <a:r>
              <a:rPr lang="es-PE" dirty="0"/>
              <a:t>.</a:t>
            </a:r>
          </a:p>
          <a:p>
            <a:endParaRPr lang="es-PE" dirty="0"/>
          </a:p>
        </p:txBody>
      </p:sp>
      <p:pic>
        <p:nvPicPr>
          <p:cNvPr id="6146" name="Picture 2" descr="https://html1-f.scribdassets.com/5r7v7520ow3zmwjp/images/12-364930b4eb.jp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855641" y="3068959"/>
            <a:ext cx="2591941" cy="3116380"/>
          </a:xfrm>
          <a:prstGeom prst="rect">
            <a:avLst/>
          </a:prstGeom>
          <a:noFill/>
          <a:extLst>
            <a:ext uri="{909E8E84-426E-40DD-AFC4-6F175D3DCCD1}">
              <a14:hiddenFill xmlns:a14="http://schemas.microsoft.com/office/drawing/2010/main">
                <a:solidFill>
                  <a:srgbClr val="FFFFFF"/>
                </a:solidFill>
              </a14:hiddenFill>
            </a:ext>
          </a:extLst>
        </p:spPr>
      </p:pic>
      <p:pic>
        <p:nvPicPr>
          <p:cNvPr id="5" name="Imagen 4"/>
          <p:cNvPicPr>
            <a:picLocks noChangeAspect="1"/>
          </p:cNvPicPr>
          <p:nvPr/>
        </p:nvPicPr>
        <p:blipFill>
          <a:blip r:embed="rId3"/>
          <a:stretch>
            <a:fillRect/>
          </a:stretch>
        </p:blipFill>
        <p:spPr>
          <a:xfrm>
            <a:off x="6182399" y="3422238"/>
            <a:ext cx="3619500" cy="2409825"/>
          </a:xfrm>
          <a:prstGeom prst="rect">
            <a:avLst/>
          </a:prstGeom>
        </p:spPr>
      </p:pic>
    </p:spTree>
    <p:extLst>
      <p:ext uri="{BB962C8B-B14F-4D97-AF65-F5344CB8AC3E}">
        <p14:creationId xmlns:p14="http://schemas.microsoft.com/office/powerpoint/2010/main" val="3387037668"/>
      </p:ext>
    </p:extLst>
  </p:cSld>
  <p:clrMapOvr>
    <a:masterClrMapping/>
  </p:clrMapOvr>
  <mc:AlternateContent xmlns:mc="http://schemas.openxmlformats.org/markup-compatibility/2006" xmlns:p14="http://schemas.microsoft.com/office/powerpoint/2010/main">
    <mc:Choice Requires="p14">
      <p:transition spd="slow" p14:dur="2000" advClick="0" advTm="1000"/>
    </mc:Choice>
    <mc:Fallback xmlns="">
      <p:transition spd="slow" advClick="0" advTm="1000"/>
    </mc:Fallback>
  </mc:AlternateContent>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p:txBody>
          <a:bodyPr>
            <a:normAutofit/>
          </a:bodyPr>
          <a:lstStyle/>
          <a:p>
            <a:r>
              <a:rPr lang="es-PE" dirty="0" smtClean="0"/>
              <a:t>Ventajas</a:t>
            </a:r>
            <a:br>
              <a:rPr lang="es-PE" dirty="0" smtClean="0"/>
            </a:br>
            <a:endParaRPr lang="es-PE" dirty="0"/>
          </a:p>
        </p:txBody>
      </p:sp>
      <p:sp>
        <p:nvSpPr>
          <p:cNvPr id="3" name="2 Marcador de contenido"/>
          <p:cNvSpPr>
            <a:spLocks noGrp="1"/>
          </p:cNvSpPr>
          <p:nvPr>
            <p:ph idx="1"/>
          </p:nvPr>
        </p:nvSpPr>
        <p:spPr>
          <a:xfrm>
            <a:off x="2351585" y="1628801"/>
            <a:ext cx="7429499" cy="2187625"/>
          </a:xfrm>
        </p:spPr>
        <p:style>
          <a:lnRef idx="1">
            <a:schemeClr val="accent5"/>
          </a:lnRef>
          <a:fillRef idx="3">
            <a:schemeClr val="accent5"/>
          </a:fillRef>
          <a:effectRef idx="2">
            <a:schemeClr val="accent5"/>
          </a:effectRef>
          <a:fontRef idx="minor">
            <a:schemeClr val="lt1"/>
          </a:fontRef>
        </p:style>
        <p:txBody>
          <a:bodyPr>
            <a:normAutofit/>
          </a:bodyPr>
          <a:lstStyle/>
          <a:p>
            <a:r>
              <a:rPr lang="es-PE" dirty="0" smtClean="0"/>
              <a:t> Con este Viscosímetro se pueden lograr mediciones de viscosidad cinemática en un amplio intervalo de temperaturas y observar cómo afectan estas variaciones a la viscosidad del aceite.</a:t>
            </a:r>
          </a:p>
          <a:p>
            <a:pPr marL="0" indent="0">
              <a:buNone/>
            </a:pPr>
            <a:r>
              <a:rPr lang="es-PE" dirty="0" smtClean="0"/>
              <a:t> </a:t>
            </a:r>
            <a:endParaRPr lang="es-PE" dirty="0"/>
          </a:p>
        </p:txBody>
      </p:sp>
    </p:spTree>
    <p:extLst>
      <p:ext uri="{BB962C8B-B14F-4D97-AF65-F5344CB8AC3E}">
        <p14:creationId xmlns:p14="http://schemas.microsoft.com/office/powerpoint/2010/main" val="2218247161"/>
      </p:ext>
    </p:extLst>
  </p:cSld>
  <p:clrMapOvr>
    <a:masterClrMapping/>
  </p:clrMapOvr>
  <mc:AlternateContent xmlns:mc="http://schemas.openxmlformats.org/markup-compatibility/2006" xmlns:p14="http://schemas.microsoft.com/office/powerpoint/2010/main">
    <mc:Choice Requires="p14">
      <p:transition spd="slow" p14:dur="2000" advClick="0" advTm="1000"/>
    </mc:Choice>
    <mc:Fallback xmlns="">
      <p:transition spd="slow" advClick="0" advTm="1000"/>
    </mc:Fallback>
  </mc:AlternateContent>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lang="es-PE" dirty="0" smtClean="0">
                <a:latin typeface="Exotc350 Bd BT" panose="04030805050B02020A03" pitchFamily="82" charset="0"/>
              </a:rPr>
              <a:t>2.-VISCOSIMETRO REDWOD</a:t>
            </a:r>
            <a:endParaRPr lang="es-PE" dirty="0">
              <a:latin typeface="Exotc350 Bd BT" panose="04030805050B02020A03" pitchFamily="82" charset="0"/>
            </a:endParaRPr>
          </a:p>
        </p:txBody>
      </p:sp>
      <p:sp>
        <p:nvSpPr>
          <p:cNvPr id="3" name="2 Marcador de contenido"/>
          <p:cNvSpPr>
            <a:spLocks noGrp="1"/>
          </p:cNvSpPr>
          <p:nvPr>
            <p:ph idx="1"/>
          </p:nvPr>
        </p:nvSpPr>
        <p:spPr>
          <a:xfrm>
            <a:off x="2380061" y="2249488"/>
            <a:ext cx="4003972" cy="1683569"/>
          </a:xfrm>
        </p:spPr>
        <p:style>
          <a:lnRef idx="1">
            <a:schemeClr val="accent6"/>
          </a:lnRef>
          <a:fillRef idx="2">
            <a:schemeClr val="accent6"/>
          </a:fillRef>
          <a:effectRef idx="1">
            <a:schemeClr val="accent6"/>
          </a:effectRef>
          <a:fontRef idx="minor">
            <a:schemeClr val="dk1"/>
          </a:fontRef>
        </p:style>
        <p:txBody>
          <a:bodyPr>
            <a:normAutofit/>
          </a:bodyPr>
          <a:lstStyle/>
          <a:p>
            <a:r>
              <a:rPr lang="es-PE" dirty="0"/>
              <a:t>ESCALA REDWOOD</a:t>
            </a:r>
          </a:p>
          <a:p>
            <a:r>
              <a:rPr lang="es-PE" dirty="0"/>
              <a:t>PAIS: Gran Bretaña</a:t>
            </a:r>
          </a:p>
          <a:p>
            <a:r>
              <a:rPr lang="es-PE" dirty="0" err="1"/>
              <a:t>UNIDAD:tiempo</a:t>
            </a:r>
            <a:r>
              <a:rPr lang="es-PE" dirty="0"/>
              <a:t> en segundos</a:t>
            </a:r>
          </a:p>
          <a:p>
            <a:pPr marL="0" indent="0">
              <a:buNone/>
            </a:pPr>
            <a:endParaRPr lang="es-PE" dirty="0"/>
          </a:p>
        </p:txBody>
      </p:sp>
      <mc:AlternateContent xmlns:mc="http://schemas.openxmlformats.org/markup-compatibility/2006" xmlns:a14="http://schemas.microsoft.com/office/drawing/2010/main">
        <mc:Choice Requires="a14">
          <p:sp>
            <p:nvSpPr>
              <p:cNvPr id="4" name="2 Marcador de contenido"/>
              <p:cNvSpPr txBox="1">
                <a:spLocks/>
              </p:cNvSpPr>
              <p:nvPr/>
            </p:nvSpPr>
            <p:spPr>
              <a:xfrm>
                <a:off x="2380061" y="4365104"/>
                <a:ext cx="7429499" cy="1584176"/>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ormAutofit fontScale="92500" lnSpcReduction="10000"/>
              </a:bodyPr>
              <a:lstStyle>
                <a:lvl1pPr marL="228600" indent="-228600" algn="l" defTabSz="914400" rtl="0" eaLnBrk="1" latinLnBrk="0" hangingPunct="1">
                  <a:lnSpc>
                    <a:spcPct val="120000"/>
                  </a:lnSpc>
                  <a:spcBef>
                    <a:spcPts val="1000"/>
                  </a:spcBef>
                  <a:buSzPct val="125000"/>
                  <a:buFont typeface="Arial" panose="020B0604020202020204" pitchFamily="34" charset="0"/>
                  <a:buChar char="•"/>
                  <a:defRPr sz="2400" kern="1200">
                    <a:solidFill>
                      <a:schemeClr val="dk1"/>
                    </a:solidFill>
                    <a:latin typeface="+mn-lt"/>
                    <a:ea typeface="+mn-ea"/>
                    <a:cs typeface="+mn-cs"/>
                  </a:defRPr>
                </a:lvl1pPr>
                <a:lvl2pPr marL="685800" indent="-228600" algn="l" defTabSz="914400" rtl="0" eaLnBrk="1" latinLnBrk="0" hangingPunct="1">
                  <a:lnSpc>
                    <a:spcPct val="120000"/>
                  </a:lnSpc>
                  <a:spcBef>
                    <a:spcPts val="500"/>
                  </a:spcBef>
                  <a:buSzPct val="125000"/>
                  <a:buFont typeface="Arial" panose="020B0604020202020204" pitchFamily="34" charset="0"/>
                  <a:buChar char="•"/>
                  <a:defRPr sz="2000" kern="1200">
                    <a:solidFill>
                      <a:schemeClr val="dk1"/>
                    </a:solidFill>
                    <a:latin typeface="+mn-lt"/>
                    <a:ea typeface="+mn-ea"/>
                    <a:cs typeface="+mn-cs"/>
                  </a:defRPr>
                </a:lvl2pPr>
                <a:lvl3pPr marL="1143000" indent="-228600" algn="l" defTabSz="914400" rtl="0" eaLnBrk="1" latinLnBrk="0" hangingPunct="1">
                  <a:lnSpc>
                    <a:spcPct val="120000"/>
                  </a:lnSpc>
                  <a:spcBef>
                    <a:spcPts val="500"/>
                  </a:spcBef>
                  <a:buSzPct val="125000"/>
                  <a:buFont typeface="Arial" panose="020B0604020202020204" pitchFamily="34" charset="0"/>
                  <a:buChar char="•"/>
                  <a:defRPr sz="1800" kern="1200">
                    <a:solidFill>
                      <a:schemeClr val="dk1"/>
                    </a:solidFill>
                    <a:latin typeface="+mn-lt"/>
                    <a:ea typeface="+mn-ea"/>
                    <a:cs typeface="+mn-cs"/>
                  </a:defRPr>
                </a:lvl3pPr>
                <a:lvl4pPr marL="16002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dk1"/>
                    </a:solidFill>
                    <a:latin typeface="+mn-lt"/>
                    <a:ea typeface="+mn-ea"/>
                    <a:cs typeface="+mn-cs"/>
                  </a:defRPr>
                </a:lvl4pPr>
                <a:lvl5pPr marL="20574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dk1"/>
                    </a:solidFill>
                    <a:latin typeface="+mn-lt"/>
                    <a:ea typeface="+mn-ea"/>
                    <a:cs typeface="+mn-cs"/>
                  </a:defRPr>
                </a:lvl5pPr>
                <a:lvl6pPr marL="25146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dk1"/>
                    </a:solidFill>
                    <a:latin typeface="+mn-lt"/>
                    <a:ea typeface="+mn-ea"/>
                    <a:cs typeface="+mn-cs"/>
                  </a:defRPr>
                </a:lvl6pPr>
                <a:lvl7pPr marL="29718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dk1"/>
                    </a:solidFill>
                    <a:latin typeface="+mn-lt"/>
                    <a:ea typeface="+mn-ea"/>
                    <a:cs typeface="+mn-cs"/>
                  </a:defRPr>
                </a:lvl7pPr>
                <a:lvl8pPr marL="34290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dk1"/>
                    </a:solidFill>
                    <a:latin typeface="+mn-lt"/>
                    <a:ea typeface="+mn-ea"/>
                    <a:cs typeface="+mn-cs"/>
                  </a:defRPr>
                </a:lvl8pPr>
                <a:lvl9pPr marL="38862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dk1"/>
                    </a:solidFill>
                    <a:latin typeface="+mn-lt"/>
                    <a:ea typeface="+mn-ea"/>
                    <a:cs typeface="+mn-cs"/>
                  </a:defRPr>
                </a:lvl9pPr>
              </a:lstStyle>
              <a:p>
                <a:r>
                  <a:rPr lang="es-PE" dirty="0"/>
                  <a:t>El tiempo que tarda 50 </a:t>
                </a:r>
                <a14:m>
                  <m:oMath xmlns:m="http://schemas.openxmlformats.org/officeDocument/2006/math">
                    <m:sSup>
                      <m:sSupPr>
                        <m:ctrlPr>
                          <a:rPr lang="es-PE" i="1">
                            <a:latin typeface="Cambria Math" panose="02040503050406030204" pitchFamily="18" charset="0"/>
                          </a:rPr>
                        </m:ctrlPr>
                      </m:sSupPr>
                      <m:e>
                        <m:r>
                          <a:rPr lang="es-PE" i="1">
                            <a:latin typeface="Cambria Math" panose="02040503050406030204" pitchFamily="18" charset="0"/>
                          </a:rPr>
                          <m:t>𝑐𝑚</m:t>
                        </m:r>
                      </m:e>
                      <m:sup>
                        <m:r>
                          <a:rPr lang="es-PE" i="1">
                            <a:latin typeface="Cambria Math" panose="02040503050406030204" pitchFamily="18" charset="0"/>
                          </a:rPr>
                          <m:t>3</m:t>
                        </m:r>
                      </m:sup>
                    </m:sSup>
                  </m:oMath>
                </a14:m>
                <a:r>
                  <a:rPr lang="es-PE" dirty="0"/>
                  <a:t> de aceite en pasar a través del orificio calibrado de un viscosímetro universal </a:t>
                </a:r>
                <a:r>
                  <a:rPr lang="es-PE" dirty="0" err="1"/>
                  <a:t>redwood</a:t>
                </a:r>
                <a:r>
                  <a:rPr lang="es-PE" dirty="0"/>
                  <a:t> a una temperatura determinada</a:t>
                </a:r>
              </a:p>
              <a:p>
                <a:endParaRPr lang="es-PE" dirty="0"/>
              </a:p>
            </p:txBody>
          </p:sp>
        </mc:Choice>
        <mc:Fallback xmlns="">
          <p:sp>
            <p:nvSpPr>
              <p:cNvPr id="4" name="2 Marcador de contenido"/>
              <p:cNvSpPr txBox="1">
                <a:spLocks noRot="1" noChangeAspect="1" noMove="1" noResize="1" noEditPoints="1" noAdjustHandles="1" noChangeArrowheads="1" noChangeShapeType="1" noTextEdit="1"/>
              </p:cNvSpPr>
              <p:nvPr/>
            </p:nvSpPr>
            <p:spPr>
              <a:xfrm>
                <a:off x="2380061" y="4365104"/>
                <a:ext cx="7429499" cy="1584176"/>
              </a:xfrm>
              <a:prstGeom prst="rect">
                <a:avLst/>
              </a:prstGeom>
              <a:blipFill rotWithShape="0">
                <a:blip r:embed="rId2"/>
                <a:stretch>
                  <a:fillRect l="-1310" t="-5725" b="-4580"/>
                </a:stretch>
              </a:blipFill>
            </p:spPr>
            <p:txBody>
              <a:bodyPr/>
              <a:lstStyle/>
              <a:p>
                <a:r>
                  <a:rPr lang="es-PE">
                    <a:noFill/>
                  </a:rPr>
                  <a:t> </a:t>
                </a:r>
              </a:p>
            </p:txBody>
          </p:sp>
        </mc:Fallback>
      </mc:AlternateContent>
    </p:spTree>
    <p:extLst>
      <p:ext uri="{BB962C8B-B14F-4D97-AF65-F5344CB8AC3E}">
        <p14:creationId xmlns:p14="http://schemas.microsoft.com/office/powerpoint/2010/main" val="2612968981"/>
      </p:ext>
    </p:extLst>
  </p:cSld>
  <p:clrMapOvr>
    <a:masterClrMapping/>
  </p:clrMapOvr>
  <mc:AlternateContent xmlns:mc="http://schemas.openxmlformats.org/markup-compatibility/2006" xmlns:p14="http://schemas.microsoft.com/office/powerpoint/2010/main">
    <mc:Choice Requires="p14">
      <p:transition spd="slow" p14:dur="2000" advClick="0" advTm="1000"/>
    </mc:Choice>
    <mc:Fallback xmlns="">
      <p:transition spd="slow" advClick="0" advTm="1000"/>
    </mc:Fallback>
  </mc:AlternateContent>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endParaRPr lang="es-PE"/>
          </a:p>
        </p:txBody>
      </p:sp>
      <p:sp>
        <p:nvSpPr>
          <p:cNvPr id="3" name="Marcador de contenido 2"/>
          <p:cNvSpPr>
            <a:spLocks noGrp="1"/>
          </p:cNvSpPr>
          <p:nvPr>
            <p:ph idx="1"/>
          </p:nvPr>
        </p:nvSpPr>
        <p:spPr/>
        <p:txBody>
          <a:bodyPr/>
          <a:lstStyle/>
          <a:p>
            <a:endParaRPr lang="es-PE" dirty="0"/>
          </a:p>
        </p:txBody>
      </p:sp>
      <p:pic>
        <p:nvPicPr>
          <p:cNvPr id="1026" name="Picture 2"/>
          <p:cNvPicPr>
            <a:picLocks noChangeAspect="1" noChangeArrowheads="1"/>
          </p:cNvPicPr>
          <p:nvPr/>
        </p:nvPicPr>
        <p:blipFill rotWithShape="1">
          <a:blip r:embed="rId2">
            <a:extLst>
              <a:ext uri="{28A0092B-C50C-407E-A947-70E740481C1C}">
                <a14:useLocalDpi xmlns:a14="http://schemas.microsoft.com/office/drawing/2010/main" val="0"/>
              </a:ext>
            </a:extLst>
          </a:blip>
          <a:srcRect b="32568"/>
          <a:stretch/>
        </p:blipFill>
        <p:spPr bwMode="auto">
          <a:xfrm>
            <a:off x="1571221" y="154545"/>
            <a:ext cx="8729859" cy="655534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394750862"/>
      </p:ext>
    </p:extLst>
  </p:cSld>
  <p:clrMapOvr>
    <a:masterClrMapping/>
  </p:clrMapOvr>
  <mc:AlternateContent xmlns:mc="http://schemas.openxmlformats.org/markup-compatibility/2006" xmlns:p14="http://schemas.microsoft.com/office/powerpoint/2010/main">
    <mc:Choice Requires="p14">
      <p:transition spd="slow" p14:dur="2000" advClick="0" advTm="1000"/>
    </mc:Choice>
    <mc:Fallback xmlns="">
      <p:transition spd="slow" advClick="0" advTm="1000"/>
    </mc:Fallback>
  </mc:AlternateContent>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a:xfrm>
            <a:off x="2423593" y="299958"/>
            <a:ext cx="7429499" cy="1478570"/>
          </a:xfrm>
        </p:spPr>
        <p:txBody>
          <a:bodyPr/>
          <a:lstStyle/>
          <a:p>
            <a:r>
              <a:rPr lang="es-PE" dirty="0" smtClean="0">
                <a:latin typeface="Exotc350 Bd BT" panose="04030805050B02020A03" pitchFamily="82" charset="0"/>
              </a:rPr>
              <a:t>3.-VISCOSIMETRO ENGLER</a:t>
            </a:r>
            <a:endParaRPr lang="es-PE" dirty="0">
              <a:latin typeface="Exotc350 Bd BT" panose="04030805050B02020A03" pitchFamily="82" charset="0"/>
            </a:endParaRPr>
          </a:p>
        </p:txBody>
      </p:sp>
      <mc:AlternateContent xmlns:mc="http://schemas.openxmlformats.org/markup-compatibility/2006" xmlns:a14="http://schemas.microsoft.com/office/drawing/2010/main">
        <mc:Choice Requires="a14">
          <p:sp>
            <p:nvSpPr>
              <p:cNvPr id="3" name="2 Marcador de contenido"/>
              <p:cNvSpPr>
                <a:spLocks noGrp="1"/>
              </p:cNvSpPr>
              <p:nvPr>
                <p:ph idx="1"/>
              </p:nvPr>
            </p:nvSpPr>
            <p:spPr>
              <a:xfrm>
                <a:off x="2495601" y="4725144"/>
                <a:ext cx="7429499" cy="1440160"/>
              </a:xfrm>
            </p:spPr>
            <p:style>
              <a:lnRef idx="1">
                <a:schemeClr val="accent1"/>
              </a:lnRef>
              <a:fillRef idx="2">
                <a:schemeClr val="accent1"/>
              </a:fillRef>
              <a:effectRef idx="1">
                <a:schemeClr val="accent1"/>
              </a:effectRef>
              <a:fontRef idx="minor">
                <a:schemeClr val="dk1"/>
              </a:fontRef>
            </p:style>
            <p:txBody>
              <a:bodyPr>
                <a:normAutofit/>
              </a:bodyPr>
              <a:lstStyle/>
              <a:p>
                <a:pPr marL="0" indent="0">
                  <a:buNone/>
                </a:pPr>
                <a:r>
                  <a:rPr lang="es-PE" dirty="0" smtClean="0"/>
                  <a:t>El </a:t>
                </a:r>
                <a:r>
                  <a:rPr lang="es-PE" dirty="0"/>
                  <a:t>tiempo que tarda 200 ml del fluido y 200ml </a:t>
                </a:r>
                <a:r>
                  <a:rPr lang="es-PE" dirty="0" smtClean="0"/>
                  <a:t>-</a:t>
                </a:r>
                <a14:m>
                  <m:oMath xmlns:m="http://schemas.openxmlformats.org/officeDocument/2006/math">
                    <m:sSup>
                      <m:sSupPr>
                        <m:ctrlPr>
                          <a:rPr lang="es-PE" i="1">
                            <a:latin typeface="Cambria Math" panose="02040503050406030204" pitchFamily="18" charset="0"/>
                          </a:rPr>
                        </m:ctrlPr>
                      </m:sSupPr>
                      <m:e>
                        <m:r>
                          <a:rPr lang="es-PE" i="1">
                            <a:latin typeface="Cambria Math" panose="02040503050406030204" pitchFamily="18" charset="0"/>
                          </a:rPr>
                          <m:t>𝑐𝑚</m:t>
                        </m:r>
                      </m:e>
                      <m:sup>
                        <m:r>
                          <a:rPr lang="es-PE" i="1">
                            <a:latin typeface="Cambria Math" panose="02040503050406030204" pitchFamily="18" charset="0"/>
                          </a:rPr>
                          <m:t>3</m:t>
                        </m:r>
                      </m:sup>
                    </m:sSup>
                  </m:oMath>
                </a14:m>
                <a:r>
                  <a:rPr lang="es-PE" dirty="0" smtClean="0"/>
                  <a:t>de </a:t>
                </a:r>
                <a:r>
                  <a:rPr lang="es-PE" dirty="0"/>
                  <a:t>agua  en pasar a  la misma temperatura  por un viscosímetro  </a:t>
                </a:r>
                <a:r>
                  <a:rPr lang="es-PE" dirty="0" err="1"/>
                  <a:t>engler</a:t>
                </a:r>
                <a:r>
                  <a:rPr lang="es-PE" dirty="0"/>
                  <a:t> normalizado ,expresado en grados </a:t>
                </a:r>
                <a:r>
                  <a:rPr lang="es-PE" dirty="0" err="1"/>
                  <a:t>engler</a:t>
                </a:r>
                <a:r>
                  <a:rPr lang="es-PE" dirty="0"/>
                  <a:t>.</a:t>
                </a:r>
              </a:p>
              <a:p>
                <a:endParaRPr lang="es-PE" dirty="0"/>
              </a:p>
            </p:txBody>
          </p:sp>
        </mc:Choice>
        <mc:Fallback xmlns="">
          <p:sp>
            <p:nvSpPr>
              <p:cNvPr id="3" name="2 Marcador de contenido"/>
              <p:cNvSpPr>
                <a:spLocks noGrp="1" noRot="1" noChangeAspect="1" noMove="1" noResize="1" noEditPoints="1" noAdjustHandles="1" noChangeArrowheads="1" noChangeShapeType="1" noTextEdit="1"/>
              </p:cNvSpPr>
              <p:nvPr>
                <p:ph idx="1"/>
              </p:nvPr>
            </p:nvSpPr>
            <p:spPr>
              <a:xfrm>
                <a:off x="2495601" y="4725144"/>
                <a:ext cx="7429499" cy="1440160"/>
              </a:xfrm>
              <a:blipFill rotWithShape="0">
                <a:blip r:embed="rId2"/>
                <a:stretch>
                  <a:fillRect l="-737" t="-2101" r="-1884"/>
                </a:stretch>
              </a:blipFill>
            </p:spPr>
            <p:txBody>
              <a:bodyPr/>
              <a:lstStyle/>
              <a:p>
                <a:r>
                  <a:rPr lang="es-PE">
                    <a:noFill/>
                  </a:rPr>
                  <a:t> </a:t>
                </a:r>
              </a:p>
            </p:txBody>
          </p:sp>
        </mc:Fallback>
      </mc:AlternateContent>
      <p:sp>
        <p:nvSpPr>
          <p:cNvPr id="4" name="2 Marcador de contenido"/>
          <p:cNvSpPr txBox="1">
            <a:spLocks/>
          </p:cNvSpPr>
          <p:nvPr/>
        </p:nvSpPr>
        <p:spPr>
          <a:xfrm>
            <a:off x="2033885" y="2106621"/>
            <a:ext cx="4176464" cy="1800200"/>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ormAutofit fontScale="92500" lnSpcReduction="20000"/>
          </a:bodyPr>
          <a:lstStyle>
            <a:lvl1pPr marL="228600" indent="-228600" algn="l" defTabSz="914400" rtl="0" eaLnBrk="1" latinLnBrk="0" hangingPunct="1">
              <a:lnSpc>
                <a:spcPct val="120000"/>
              </a:lnSpc>
              <a:spcBef>
                <a:spcPts val="1000"/>
              </a:spcBef>
              <a:buSzPct val="125000"/>
              <a:buFont typeface="Arial" panose="020B0604020202020204" pitchFamily="34" charset="0"/>
              <a:buChar char="•"/>
              <a:defRPr sz="2400" kern="1200">
                <a:solidFill>
                  <a:schemeClr val="dk1"/>
                </a:solidFill>
                <a:latin typeface="+mn-lt"/>
                <a:ea typeface="+mn-ea"/>
                <a:cs typeface="+mn-cs"/>
              </a:defRPr>
            </a:lvl1pPr>
            <a:lvl2pPr marL="685800" indent="-228600" algn="l" defTabSz="914400" rtl="0" eaLnBrk="1" latinLnBrk="0" hangingPunct="1">
              <a:lnSpc>
                <a:spcPct val="120000"/>
              </a:lnSpc>
              <a:spcBef>
                <a:spcPts val="500"/>
              </a:spcBef>
              <a:buSzPct val="125000"/>
              <a:buFont typeface="Arial" panose="020B0604020202020204" pitchFamily="34" charset="0"/>
              <a:buChar char="•"/>
              <a:defRPr sz="2000" kern="1200">
                <a:solidFill>
                  <a:schemeClr val="dk1"/>
                </a:solidFill>
                <a:latin typeface="+mn-lt"/>
                <a:ea typeface="+mn-ea"/>
                <a:cs typeface="+mn-cs"/>
              </a:defRPr>
            </a:lvl2pPr>
            <a:lvl3pPr marL="1143000" indent="-228600" algn="l" defTabSz="914400" rtl="0" eaLnBrk="1" latinLnBrk="0" hangingPunct="1">
              <a:lnSpc>
                <a:spcPct val="120000"/>
              </a:lnSpc>
              <a:spcBef>
                <a:spcPts val="500"/>
              </a:spcBef>
              <a:buSzPct val="125000"/>
              <a:buFont typeface="Arial" panose="020B0604020202020204" pitchFamily="34" charset="0"/>
              <a:buChar char="•"/>
              <a:defRPr sz="1800" kern="1200">
                <a:solidFill>
                  <a:schemeClr val="dk1"/>
                </a:solidFill>
                <a:latin typeface="+mn-lt"/>
                <a:ea typeface="+mn-ea"/>
                <a:cs typeface="+mn-cs"/>
              </a:defRPr>
            </a:lvl3pPr>
            <a:lvl4pPr marL="16002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dk1"/>
                </a:solidFill>
                <a:latin typeface="+mn-lt"/>
                <a:ea typeface="+mn-ea"/>
                <a:cs typeface="+mn-cs"/>
              </a:defRPr>
            </a:lvl4pPr>
            <a:lvl5pPr marL="20574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dk1"/>
                </a:solidFill>
                <a:latin typeface="+mn-lt"/>
                <a:ea typeface="+mn-ea"/>
                <a:cs typeface="+mn-cs"/>
              </a:defRPr>
            </a:lvl5pPr>
            <a:lvl6pPr marL="25146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dk1"/>
                </a:solidFill>
                <a:latin typeface="+mn-lt"/>
                <a:ea typeface="+mn-ea"/>
                <a:cs typeface="+mn-cs"/>
              </a:defRPr>
            </a:lvl6pPr>
            <a:lvl7pPr marL="29718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dk1"/>
                </a:solidFill>
                <a:latin typeface="+mn-lt"/>
                <a:ea typeface="+mn-ea"/>
                <a:cs typeface="+mn-cs"/>
              </a:defRPr>
            </a:lvl7pPr>
            <a:lvl8pPr marL="34290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dk1"/>
                </a:solidFill>
                <a:latin typeface="+mn-lt"/>
                <a:ea typeface="+mn-ea"/>
                <a:cs typeface="+mn-cs"/>
              </a:defRPr>
            </a:lvl8pPr>
            <a:lvl9pPr marL="38862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dk1"/>
                </a:solidFill>
                <a:latin typeface="+mn-lt"/>
                <a:ea typeface="+mn-ea"/>
                <a:cs typeface="+mn-cs"/>
              </a:defRPr>
            </a:lvl9pPr>
          </a:lstStyle>
          <a:p>
            <a:r>
              <a:rPr lang="es-PE" dirty="0"/>
              <a:t>ESCALA ENGLER</a:t>
            </a:r>
          </a:p>
          <a:p>
            <a:r>
              <a:rPr lang="es-PE" dirty="0"/>
              <a:t>PAIS: Europa</a:t>
            </a:r>
          </a:p>
          <a:p>
            <a:r>
              <a:rPr lang="es-PE" dirty="0"/>
              <a:t>UNIDAD: tiempo en segundos</a:t>
            </a:r>
          </a:p>
          <a:p>
            <a:pPr marL="0" indent="0">
              <a:buNone/>
            </a:pPr>
            <a:endParaRPr lang="es-PE" dirty="0"/>
          </a:p>
        </p:txBody>
      </p:sp>
      <p:pic>
        <p:nvPicPr>
          <p:cNvPr id="5" name="Imagen 4"/>
          <p:cNvPicPr>
            <a:picLocks noChangeAspect="1"/>
          </p:cNvPicPr>
          <p:nvPr/>
        </p:nvPicPr>
        <p:blipFill rotWithShape="1">
          <a:blip r:embed="rId3"/>
          <a:srcRect l="30707" t="30400" r="31100" b="48600"/>
          <a:stretch/>
        </p:blipFill>
        <p:spPr>
          <a:xfrm>
            <a:off x="5930894" y="2268757"/>
            <a:ext cx="4772167" cy="1475928"/>
          </a:xfrm>
          <a:prstGeom prst="rect">
            <a:avLst/>
          </a:prstGeom>
        </p:spPr>
      </p:pic>
    </p:spTree>
    <p:extLst>
      <p:ext uri="{BB962C8B-B14F-4D97-AF65-F5344CB8AC3E}">
        <p14:creationId xmlns:p14="http://schemas.microsoft.com/office/powerpoint/2010/main" val="497053146"/>
      </p:ext>
    </p:extLst>
  </p:cSld>
  <p:clrMapOvr>
    <a:masterClrMapping/>
  </p:clrMapOvr>
  <mc:AlternateContent xmlns:mc="http://schemas.openxmlformats.org/markup-compatibility/2006" xmlns:p14="http://schemas.microsoft.com/office/powerpoint/2010/main">
    <mc:Choice Requires="p14">
      <p:transition spd="slow" p14:dur="2000" advClick="0" advTm="1000"/>
    </mc:Choice>
    <mc:Fallback xmlns="">
      <p:transition spd="slow" advClick="0" advTm="1000"/>
    </mc:Fallback>
  </mc:AlternateContent>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2495601" y="404664"/>
            <a:ext cx="7429499" cy="1478570"/>
          </a:xfrm>
        </p:spPr>
        <p:style>
          <a:lnRef idx="2">
            <a:schemeClr val="accent6"/>
          </a:lnRef>
          <a:fillRef idx="1">
            <a:schemeClr val="lt1"/>
          </a:fillRef>
          <a:effectRef idx="0">
            <a:schemeClr val="accent6"/>
          </a:effectRef>
          <a:fontRef idx="minor">
            <a:schemeClr val="dk1"/>
          </a:fontRef>
        </p:style>
        <p:txBody>
          <a:bodyPr/>
          <a:lstStyle/>
          <a:p>
            <a:r>
              <a:rPr lang="es-PE" dirty="0"/>
              <a:t>6,000,000 </a:t>
            </a:r>
            <a:r>
              <a:rPr lang="es-PE" dirty="0" err="1"/>
              <a:t>cps</a:t>
            </a:r>
            <a:r>
              <a:rPr lang="es-PE" dirty="0"/>
              <a:t> RV-6M </a:t>
            </a:r>
            <a:r>
              <a:rPr lang="es-PE" dirty="0" err="1"/>
              <a:t>engler</a:t>
            </a:r>
            <a:r>
              <a:rPr lang="es-PE" dirty="0"/>
              <a:t> </a:t>
            </a:r>
          </a:p>
        </p:txBody>
      </p:sp>
      <p:pic>
        <p:nvPicPr>
          <p:cNvPr id="4" name="Marcador de contenido 3"/>
          <p:cNvPicPr>
            <a:picLocks noGrp="1" noChangeAspect="1"/>
          </p:cNvPicPr>
          <p:nvPr>
            <p:ph idx="1"/>
          </p:nvPr>
        </p:nvPicPr>
        <p:blipFill rotWithShape="1">
          <a:blip r:embed="rId2"/>
          <a:srcRect l="14867" t="32530" r="50824" b="18675"/>
          <a:stretch/>
        </p:blipFill>
        <p:spPr>
          <a:xfrm>
            <a:off x="1631504" y="2080578"/>
            <a:ext cx="3670920" cy="4562069"/>
          </a:xfrm>
          <a:prstGeom prst="rect">
            <a:avLst/>
          </a:prstGeom>
        </p:spPr>
      </p:pic>
      <p:pic>
        <p:nvPicPr>
          <p:cNvPr id="8" name="Imagen 7"/>
          <p:cNvPicPr>
            <a:picLocks noChangeAspect="1"/>
          </p:cNvPicPr>
          <p:nvPr/>
        </p:nvPicPr>
        <p:blipFill rotWithShape="1">
          <a:blip r:embed="rId3"/>
          <a:srcRect l="30702" t="15170" r="18673" b="5366"/>
          <a:stretch/>
        </p:blipFill>
        <p:spPr>
          <a:xfrm>
            <a:off x="5302424" y="2080577"/>
            <a:ext cx="5192960" cy="4562069"/>
          </a:xfrm>
          <a:prstGeom prst="rect">
            <a:avLst/>
          </a:prstGeom>
        </p:spPr>
      </p:pic>
    </p:spTree>
    <p:extLst>
      <p:ext uri="{BB962C8B-B14F-4D97-AF65-F5344CB8AC3E}">
        <p14:creationId xmlns:p14="http://schemas.microsoft.com/office/powerpoint/2010/main" val="3336601582"/>
      </p:ext>
    </p:extLst>
  </p:cSld>
  <p:clrMapOvr>
    <a:masterClrMapping/>
  </p:clrMapOvr>
  <mc:AlternateContent xmlns:mc="http://schemas.openxmlformats.org/markup-compatibility/2006" xmlns:p14="http://schemas.microsoft.com/office/powerpoint/2010/main">
    <mc:Choice Requires="p14">
      <p:transition spd="slow" p14:dur="2000" advClick="0" advTm="1000"/>
    </mc:Choice>
    <mc:Fallback xmlns="">
      <p:transition spd="slow" advClick="0" advTm="1000"/>
    </mc:Fallback>
  </mc:AlternateContent>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Marcador de contenido 3"/>
          <p:cNvPicPr>
            <a:picLocks noGrp="1" noChangeAspect="1"/>
          </p:cNvPicPr>
          <p:nvPr>
            <p:ph idx="1"/>
          </p:nvPr>
        </p:nvPicPr>
        <p:blipFill rotWithShape="1">
          <a:blip r:embed="rId2"/>
          <a:srcRect l="30878" t="12198" r="24520" b="10540"/>
          <a:stretch/>
        </p:blipFill>
        <p:spPr>
          <a:xfrm>
            <a:off x="1991544" y="332656"/>
            <a:ext cx="3240360" cy="3157274"/>
          </a:xfrm>
          <a:prstGeom prst="rect">
            <a:avLst/>
          </a:prstGeom>
        </p:spPr>
      </p:pic>
      <p:pic>
        <p:nvPicPr>
          <p:cNvPr id="5" name="Imagen 4"/>
          <p:cNvPicPr>
            <a:picLocks noChangeAspect="1"/>
          </p:cNvPicPr>
          <p:nvPr/>
        </p:nvPicPr>
        <p:blipFill rotWithShape="1">
          <a:blip r:embed="rId3"/>
          <a:srcRect l="30152" t="12409" r="22847" b="49754"/>
          <a:stretch/>
        </p:blipFill>
        <p:spPr>
          <a:xfrm>
            <a:off x="5699448" y="618518"/>
            <a:ext cx="4616304" cy="2090402"/>
          </a:xfrm>
          <a:prstGeom prst="rect">
            <a:avLst/>
          </a:prstGeom>
        </p:spPr>
      </p:pic>
      <p:pic>
        <p:nvPicPr>
          <p:cNvPr id="6" name="Imagen 5"/>
          <p:cNvPicPr>
            <a:picLocks noChangeAspect="1"/>
          </p:cNvPicPr>
          <p:nvPr/>
        </p:nvPicPr>
        <p:blipFill rotWithShape="1">
          <a:blip r:embed="rId4"/>
          <a:srcRect l="24328" t="8009" r="18908" b="5494"/>
          <a:stretch/>
        </p:blipFill>
        <p:spPr>
          <a:xfrm>
            <a:off x="5683628" y="2780928"/>
            <a:ext cx="4536505" cy="3888432"/>
          </a:xfrm>
          <a:prstGeom prst="rect">
            <a:avLst/>
          </a:prstGeom>
        </p:spPr>
      </p:pic>
      <p:sp>
        <p:nvSpPr>
          <p:cNvPr id="8" name="Rectángulo 7"/>
          <p:cNvSpPr/>
          <p:nvPr/>
        </p:nvSpPr>
        <p:spPr>
          <a:xfrm>
            <a:off x="2567608" y="4077072"/>
            <a:ext cx="2880320" cy="1296144"/>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PE" dirty="0"/>
              <a:t>HOJA DE ESPECIFICACIONES</a:t>
            </a:r>
          </a:p>
        </p:txBody>
      </p:sp>
    </p:spTree>
    <p:extLst>
      <p:ext uri="{BB962C8B-B14F-4D97-AF65-F5344CB8AC3E}">
        <p14:creationId xmlns:p14="http://schemas.microsoft.com/office/powerpoint/2010/main" val="1877321693"/>
      </p:ext>
    </p:extLst>
  </p:cSld>
  <p:clrMapOvr>
    <a:masterClrMapping/>
  </p:clrMapOvr>
  <mc:AlternateContent xmlns:mc="http://schemas.openxmlformats.org/markup-compatibility/2006" xmlns:p14="http://schemas.microsoft.com/office/powerpoint/2010/main">
    <mc:Choice Requires="p14">
      <p:transition spd="slow" p14:dur="2000" advClick="0" advTm="1000"/>
    </mc:Choice>
    <mc:Fallback xmlns="">
      <p:transition spd="slow" advClick="0" advTm="1000"/>
    </mc:Fallback>
  </mc:AlternateContent>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lang="es-PE" dirty="0" smtClean="0"/>
              <a:t>RELACION</a:t>
            </a:r>
            <a:endParaRPr lang="es-PE" dirty="0"/>
          </a:p>
        </p:txBody>
      </p:sp>
      <mc:AlternateContent xmlns:mc="http://schemas.openxmlformats.org/markup-compatibility/2006" xmlns:a14="http://schemas.microsoft.com/office/drawing/2010/main">
        <mc:Choice Requires="a14">
          <p:sp>
            <p:nvSpPr>
              <p:cNvPr id="3" name="2 Marcador de contenido"/>
              <p:cNvSpPr>
                <a:spLocks noGrp="1"/>
              </p:cNvSpPr>
              <p:nvPr>
                <p:ph idx="1"/>
              </p:nvPr>
            </p:nvSpPr>
            <p:spPr>
              <a:xfrm>
                <a:off x="1981200" y="1600201"/>
                <a:ext cx="8229600" cy="2188840"/>
              </a:xfrm>
            </p:spPr>
            <p:txBody>
              <a:bodyPr/>
              <a:lstStyle/>
              <a:p>
                <a:r>
                  <a:rPr lang="es-PE" dirty="0"/>
                  <a:t>Existen una relación entre la viscosidad </a:t>
                </a:r>
                <a:r>
                  <a:rPr lang="es-PE" dirty="0" err="1"/>
                  <a:t>cinematica</a:t>
                </a:r>
                <a:r>
                  <a:rPr lang="es-PE" dirty="0"/>
                  <a:t> y las unidades anteriores.</a:t>
                </a:r>
              </a:p>
              <a:p>
                <a14:m>
                  <m:oMath xmlns:m="http://schemas.openxmlformats.org/officeDocument/2006/math">
                    <m:r>
                      <a:rPr lang="es-PE" i="1">
                        <a:latin typeface="Cambria Math"/>
                      </a:rPr>
                      <m:t>𝑣</m:t>
                    </m:r>
                    <m:r>
                      <a:rPr lang="es-PE" i="1">
                        <a:latin typeface="Cambria Math"/>
                      </a:rPr>
                      <m:t>=</m:t>
                    </m:r>
                    <m:r>
                      <a:rPr lang="es-PE" i="1">
                        <a:latin typeface="Cambria Math"/>
                      </a:rPr>
                      <m:t>𝐴</m:t>
                    </m:r>
                    <m:r>
                      <a:rPr lang="es-PE" i="1">
                        <a:latin typeface="Cambria Math"/>
                      </a:rPr>
                      <m:t>∗</m:t>
                    </m:r>
                    <m:r>
                      <a:rPr lang="es-PE" i="1">
                        <a:latin typeface="Cambria Math"/>
                      </a:rPr>
                      <m:t>𝑡</m:t>
                    </m:r>
                    <m:r>
                      <a:rPr lang="es-PE" i="1">
                        <a:latin typeface="Cambria Math"/>
                      </a:rPr>
                      <m:t>−</m:t>
                    </m:r>
                    <m:f>
                      <m:fPr>
                        <m:ctrlPr>
                          <a:rPr lang="es-PE" i="1">
                            <a:latin typeface="Cambria Math" panose="02040503050406030204" pitchFamily="18" charset="0"/>
                          </a:rPr>
                        </m:ctrlPr>
                      </m:fPr>
                      <m:num>
                        <m:r>
                          <a:rPr lang="es-PE" i="1">
                            <a:latin typeface="Cambria Math"/>
                          </a:rPr>
                          <m:t>𝐵</m:t>
                        </m:r>
                      </m:num>
                      <m:den>
                        <m:r>
                          <a:rPr lang="es-PE" i="1">
                            <a:latin typeface="Cambria Math"/>
                          </a:rPr>
                          <m:t>𝑡</m:t>
                        </m:r>
                      </m:den>
                    </m:f>
                  </m:oMath>
                </a14:m>
                <a:endParaRPr lang="es-PE" dirty="0"/>
              </a:p>
              <a:p>
                <a:endParaRPr lang="es-PE" dirty="0"/>
              </a:p>
            </p:txBody>
          </p:sp>
        </mc:Choice>
        <mc:Fallback xmlns="">
          <p:sp>
            <p:nvSpPr>
              <p:cNvPr id="3" name="2 Marcador de contenido"/>
              <p:cNvSpPr>
                <a:spLocks noGrp="1" noRot="1" noChangeAspect="1" noMove="1" noResize="1" noEditPoints="1" noAdjustHandles="1" noChangeArrowheads="1" noChangeShapeType="1" noTextEdit="1"/>
              </p:cNvSpPr>
              <p:nvPr>
                <p:ph idx="1"/>
              </p:nvPr>
            </p:nvSpPr>
            <p:spPr>
              <a:xfrm>
                <a:off x="1981200" y="1600201"/>
                <a:ext cx="8229600" cy="2188840"/>
              </a:xfrm>
              <a:blipFill rotWithShape="0">
                <a:blip r:embed="rId2"/>
                <a:stretch>
                  <a:fillRect l="-296"/>
                </a:stretch>
              </a:blipFill>
            </p:spPr>
            <p:txBody>
              <a:bodyPr/>
              <a:lstStyle/>
              <a:p>
                <a:r>
                  <a:rPr lang="es-PE">
                    <a:noFill/>
                  </a:rPr>
                  <a:t> </a:t>
                </a:r>
              </a:p>
            </p:txBody>
          </p:sp>
        </mc:Fallback>
      </mc:AlternateContent>
      <p:pic>
        <p:nvPicPr>
          <p:cNvPr id="4" name="3 Imagen" descr="C:\Users\tec\Pictures\Instrumentación industrial - Antonio Creus Solé - Google Libros_files\books_002.png"/>
          <p:cNvPicPr/>
          <p:nvPr/>
        </p:nvPicPr>
        <p:blipFill rotWithShape="1">
          <a:blip r:embed="rId3">
            <a:extLst>
              <a:ext uri="{28A0092B-C50C-407E-A947-70E740481C1C}">
                <a14:useLocalDpi xmlns:a14="http://schemas.microsoft.com/office/drawing/2010/main" val="0"/>
              </a:ext>
            </a:extLst>
          </a:blip>
          <a:srcRect l="7460" t="73336" r="7282" b="14126"/>
          <a:stretch/>
        </p:blipFill>
        <p:spPr bwMode="auto">
          <a:xfrm>
            <a:off x="2530413" y="5157192"/>
            <a:ext cx="7128792" cy="1368152"/>
          </a:xfrm>
          <a:prstGeom prst="rect">
            <a:avLst/>
          </a:prstGeom>
          <a:noFill/>
          <a:ln>
            <a:noFill/>
          </a:ln>
          <a:extLst>
            <a:ext uri="{53640926-AAD7-44D8-BBD7-CCE9431645EC}">
              <a14:shadowObscured xmlns:a14="http://schemas.microsoft.com/office/drawing/2010/main"/>
            </a:ext>
          </a:extLst>
        </p:spPr>
      </p:pic>
      <p:pic>
        <p:nvPicPr>
          <p:cNvPr id="5" name="Imagen 4"/>
          <p:cNvPicPr>
            <a:picLocks noChangeAspect="1"/>
          </p:cNvPicPr>
          <p:nvPr/>
        </p:nvPicPr>
        <p:blipFill rotWithShape="1">
          <a:blip r:embed="rId4"/>
          <a:srcRect l="31494" t="21301" r="32676" b="26900"/>
          <a:stretch/>
        </p:blipFill>
        <p:spPr>
          <a:xfrm>
            <a:off x="5879977" y="2097248"/>
            <a:ext cx="3762905" cy="3059944"/>
          </a:xfrm>
          <a:prstGeom prst="rect">
            <a:avLst/>
          </a:prstGeom>
        </p:spPr>
      </p:pic>
    </p:spTree>
    <p:extLst>
      <p:ext uri="{BB962C8B-B14F-4D97-AF65-F5344CB8AC3E}">
        <p14:creationId xmlns:p14="http://schemas.microsoft.com/office/powerpoint/2010/main" val="3524472647"/>
      </p:ext>
    </p:extLst>
  </p:cSld>
  <p:clrMapOvr>
    <a:masterClrMapping/>
  </p:clrMapOvr>
  <mc:AlternateContent xmlns:mc="http://schemas.openxmlformats.org/markup-compatibility/2006" xmlns:p14="http://schemas.microsoft.com/office/powerpoint/2010/main">
    <mc:Choice Requires="p14">
      <p:transition spd="slow" p14:dur="2000" advClick="0" advTm="1000"/>
    </mc:Choice>
    <mc:Fallback xmlns="">
      <p:transition spd="slow" advClick="0" advTm="1000"/>
    </mc:Fallback>
  </mc:AlternateContent>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endParaRPr lang="es-PE"/>
          </a:p>
        </p:txBody>
      </p:sp>
      <p:sp>
        <p:nvSpPr>
          <p:cNvPr id="5" name="Marcador de contenido 4"/>
          <p:cNvSpPr>
            <a:spLocks noGrp="1"/>
          </p:cNvSpPr>
          <p:nvPr>
            <p:ph idx="1"/>
          </p:nvPr>
        </p:nvSpPr>
        <p:spPr/>
        <p:txBody>
          <a:bodyPr/>
          <a:lstStyle/>
          <a:p>
            <a:endParaRPr lang="es-PE"/>
          </a:p>
        </p:txBody>
      </p:sp>
      <p:pic>
        <p:nvPicPr>
          <p:cNvPr id="6" name="Imagen 5"/>
          <p:cNvPicPr>
            <a:picLocks noChangeAspect="1"/>
          </p:cNvPicPr>
          <p:nvPr/>
        </p:nvPicPr>
        <p:blipFill>
          <a:blip r:embed="rId2"/>
          <a:stretch>
            <a:fillRect/>
          </a:stretch>
        </p:blipFill>
        <p:spPr>
          <a:xfrm>
            <a:off x="1524000" y="0"/>
            <a:ext cx="9144000" cy="6858000"/>
          </a:xfrm>
          <a:prstGeom prst="rect">
            <a:avLst/>
          </a:prstGeom>
        </p:spPr>
      </p:pic>
    </p:spTree>
    <p:extLst>
      <p:ext uri="{BB962C8B-B14F-4D97-AF65-F5344CB8AC3E}">
        <p14:creationId xmlns:p14="http://schemas.microsoft.com/office/powerpoint/2010/main" val="599694549"/>
      </p:ext>
    </p:extLst>
  </p:cSld>
  <p:clrMapOvr>
    <a:masterClrMapping/>
  </p:clrMapOvr>
  <mc:AlternateContent xmlns:mc="http://schemas.openxmlformats.org/markup-compatibility/2006" xmlns:p14="http://schemas.microsoft.com/office/powerpoint/2010/main">
    <mc:Choice Requires="p14">
      <p:transition spd="slow" p14:dur="2000" advClick="0" advTm="3000"/>
    </mc:Choice>
    <mc:Fallback xmlns="">
      <p:transition spd="slow" advClick="0" advTm="3000"/>
    </mc:Fallback>
  </mc:AlternateContent>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a:xfrm>
            <a:off x="257578" y="891910"/>
            <a:ext cx="8863810" cy="1400530"/>
          </a:xfrm>
        </p:spPr>
        <p:txBody>
          <a:bodyPr/>
          <a:lstStyle/>
          <a:p>
            <a:r>
              <a:rPr lang="es-PE" sz="8000" dirty="0" smtClean="0"/>
              <a:t>VISCOSIMETROS COMERCIALES</a:t>
            </a:r>
            <a:endParaRPr lang="es-PE" sz="8000" dirty="0"/>
          </a:p>
        </p:txBody>
      </p:sp>
      <p:pic>
        <p:nvPicPr>
          <p:cNvPr id="4" name="Marcador de contenido 4" descr="Viscosímetro PCE-RVI 4 VP 20 ">
            <a:hlinkClick r:id="rId2"/>
          </p:cNvPr>
          <p:cNvPicPr>
            <a:picLocks noGrp="1"/>
          </p:cNvPicPr>
          <p:nvPr>
            <p:ph idx="1"/>
          </p:nvPr>
        </p:nvPicPr>
        <p:blipFill>
          <a:blip r:embed="rId3">
            <a:extLst>
              <a:ext uri="{28A0092B-C50C-407E-A947-70E740481C1C}">
                <a14:useLocalDpi xmlns:a14="http://schemas.microsoft.com/office/drawing/2010/main" val="0"/>
              </a:ext>
            </a:extLst>
          </a:blip>
          <a:stretch>
            <a:fillRect/>
          </a:stretch>
        </p:blipFill>
        <p:spPr bwMode="auto">
          <a:xfrm>
            <a:off x="8075053" y="2292440"/>
            <a:ext cx="3762845" cy="4108573"/>
          </a:xfrm>
          <a:prstGeom prst="rect">
            <a:avLst/>
          </a:prstGeom>
          <a:ln>
            <a:noFill/>
          </a:ln>
          <a:effectLst>
            <a:softEdge rad="112500"/>
          </a:effectLst>
        </p:spPr>
      </p:pic>
    </p:spTree>
    <p:extLst>
      <p:ext uri="{BB962C8B-B14F-4D97-AF65-F5344CB8AC3E}">
        <p14:creationId xmlns:p14="http://schemas.microsoft.com/office/powerpoint/2010/main" val="1052512760"/>
      </p:ext>
    </p:extLst>
  </p:cSld>
  <p:clrMapOvr>
    <a:masterClrMapping/>
  </p:clrMapOvr>
  <mc:AlternateContent xmlns:mc="http://schemas.openxmlformats.org/markup-compatibility/2006" xmlns:p14="http://schemas.microsoft.com/office/powerpoint/2010/main">
    <mc:Choice Requires="p14">
      <p:transition spd="slow" p14:dur="2000" advClick="0" advTm="1000"/>
    </mc:Choice>
    <mc:Fallback xmlns="">
      <p:transition spd="slow" advClick="0" advTm="1000"/>
    </mc:Fallback>
  </mc:AlternateContent>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PE" dirty="0" smtClean="0"/>
              <a:t>VISCOSIMETROS: MODELO PCE</a:t>
            </a:r>
            <a:endParaRPr lang="es-ES" dirty="0"/>
          </a:p>
        </p:txBody>
      </p:sp>
      <p:sp>
        <p:nvSpPr>
          <p:cNvPr id="3" name="Marcador de contenido 2"/>
          <p:cNvSpPr>
            <a:spLocks noGrp="1"/>
          </p:cNvSpPr>
          <p:nvPr>
            <p:ph idx="1"/>
          </p:nvPr>
        </p:nvSpPr>
        <p:spPr>
          <a:xfrm>
            <a:off x="1097280" y="1845734"/>
            <a:ext cx="6475497" cy="4023360"/>
          </a:xfrm>
        </p:spPr>
        <p:txBody>
          <a:bodyPr>
            <a:normAutofit fontScale="92500" lnSpcReduction="10000"/>
          </a:bodyPr>
          <a:lstStyle/>
          <a:p>
            <a:r>
              <a:rPr lang="es-ES" dirty="0"/>
              <a:t>Los diferentes tipos de viscosímetro son aparatos que detectan la dureza, también llamada viscosidad, de diferentes fluidos. Un </a:t>
            </a:r>
            <a:r>
              <a:rPr lang="es-ES" dirty="0" err="1"/>
              <a:t>viscosimetro</a:t>
            </a:r>
            <a:r>
              <a:rPr lang="es-ES" dirty="0"/>
              <a:t> se utiliza sobre todo en laboratorios, pero también es necesario en procesos de control para ayudar en el control de dichos procesos. </a:t>
            </a:r>
          </a:p>
          <a:p>
            <a:r>
              <a:rPr lang="es-ES" dirty="0"/>
              <a:t>Existen diferentes tipos de viscosímetro para determinar la viscosidad. Se diferencian en los principios de funcionamiento. Hoy en día se encuentran diferentes tipos de </a:t>
            </a:r>
            <a:r>
              <a:rPr lang="es-ES" dirty="0" err="1"/>
              <a:t>viscosimetro</a:t>
            </a:r>
            <a:r>
              <a:rPr lang="es-ES" dirty="0"/>
              <a:t> en muchas aplicaciones, que cumplen con diferentes propósitos de medición. Existen varios modelos de </a:t>
            </a:r>
            <a:r>
              <a:rPr lang="es-ES" dirty="0" err="1"/>
              <a:t>viscosimetro</a:t>
            </a:r>
            <a:r>
              <a:rPr lang="es-ES" dirty="0"/>
              <a:t> que se utilizan para mediciones sencillas de un punto.</a:t>
            </a:r>
          </a:p>
          <a:p>
            <a:endParaRPr lang="es-ES" dirty="0"/>
          </a:p>
        </p:txBody>
      </p:sp>
      <p:pic>
        <p:nvPicPr>
          <p:cNvPr id="10" name="Imagen 9" descr="Viscosímetro"/>
          <p:cNvPicPr/>
          <p:nvPr/>
        </p:nvPicPr>
        <p:blipFill>
          <a:blip r:embed="rId2">
            <a:extLst>
              <a:ext uri="{28A0092B-C50C-407E-A947-70E740481C1C}">
                <a14:useLocalDpi xmlns:a14="http://schemas.microsoft.com/office/drawing/2010/main" val="0"/>
              </a:ext>
            </a:extLst>
          </a:blip>
          <a:srcRect/>
          <a:stretch>
            <a:fillRect/>
          </a:stretch>
        </p:blipFill>
        <p:spPr bwMode="auto">
          <a:xfrm>
            <a:off x="8137932" y="1962889"/>
            <a:ext cx="3017748" cy="2712143"/>
          </a:xfrm>
          <a:prstGeom prst="rect">
            <a:avLst/>
          </a:prstGeom>
          <a:noFill/>
          <a:ln>
            <a:noFill/>
          </a:ln>
        </p:spPr>
      </p:pic>
    </p:spTree>
    <p:extLst>
      <p:ext uri="{BB962C8B-B14F-4D97-AF65-F5344CB8AC3E}">
        <p14:creationId xmlns:p14="http://schemas.microsoft.com/office/powerpoint/2010/main" val="276537265"/>
      </p:ext>
    </p:extLst>
  </p:cSld>
  <p:clrMapOvr>
    <a:masterClrMapping/>
  </p:clrMapOvr>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ítulo 3"/>
          <p:cNvSpPr>
            <a:spLocks noGrp="1"/>
          </p:cNvSpPr>
          <p:nvPr>
            <p:ph type="title"/>
          </p:nvPr>
        </p:nvSpPr>
        <p:spPr/>
        <p:txBody>
          <a:bodyPr/>
          <a:lstStyle/>
          <a:p>
            <a:r>
              <a:rPr lang="es-ES" b="1" dirty="0">
                <a:hlinkClick r:id="rId3"/>
              </a:rPr>
              <a:t>Viscosímetro de copa PCE-127</a:t>
            </a:r>
            <a:endParaRPr lang="es-ES" dirty="0"/>
          </a:p>
        </p:txBody>
      </p:sp>
      <p:sp>
        <p:nvSpPr>
          <p:cNvPr id="5" name="Marcador de contenido 4"/>
          <p:cNvSpPr>
            <a:spLocks noGrp="1"/>
          </p:cNvSpPr>
          <p:nvPr>
            <p:ph sz="half" idx="1"/>
          </p:nvPr>
        </p:nvSpPr>
        <p:spPr>
          <a:xfrm>
            <a:off x="1097280" y="2125014"/>
            <a:ext cx="4937760" cy="4023360"/>
          </a:xfrm>
        </p:spPr>
        <p:txBody>
          <a:bodyPr/>
          <a:lstStyle/>
          <a:p>
            <a:r>
              <a:rPr lang="es-ES" dirty="0"/>
              <a:t>El viscosímetro de copa DIN es un medidor para determinar la viscosidad de líquidos. El </a:t>
            </a:r>
            <a:r>
              <a:rPr lang="es-ES" dirty="0" err="1"/>
              <a:t>viscosimetro</a:t>
            </a:r>
            <a:r>
              <a:rPr lang="es-ES" dirty="0"/>
              <a:t> de copa se aplica a menudo en la industria y los laboratorios de investigación. </a:t>
            </a:r>
          </a:p>
          <a:p>
            <a:r>
              <a:rPr lang="es-ES" dirty="0"/>
              <a:t/>
            </a:r>
            <a:br>
              <a:rPr lang="es-ES" dirty="0"/>
            </a:br>
            <a:r>
              <a:rPr lang="es-ES" dirty="0"/>
              <a:t>- Capacidad: 100 ml </a:t>
            </a:r>
            <a:br>
              <a:rPr lang="es-ES" dirty="0"/>
            </a:br>
            <a:r>
              <a:rPr lang="es-ES" dirty="0"/>
              <a:t>- Ø de la boquilla: 4 mm (± 0,02 mm) </a:t>
            </a:r>
            <a:br>
              <a:rPr lang="es-ES" dirty="0"/>
            </a:br>
            <a:r>
              <a:rPr lang="es-ES" dirty="0"/>
              <a:t>- Material: aluminio anodizado </a:t>
            </a:r>
            <a:br>
              <a:rPr lang="es-ES" dirty="0"/>
            </a:br>
            <a:r>
              <a:rPr lang="es-ES" dirty="0"/>
              <a:t>- Normativa: DIN 53211</a:t>
            </a:r>
          </a:p>
          <a:p>
            <a:endParaRPr lang="es-ES" dirty="0"/>
          </a:p>
        </p:txBody>
      </p:sp>
      <p:pic>
        <p:nvPicPr>
          <p:cNvPr id="7" name="Marcador de contenido 6" descr="Viscosímetro de copa PCE-127 ">
            <a:hlinkClick r:id="rId3"/>
          </p:cNvPr>
          <p:cNvPicPr>
            <a:picLocks noGrp="1"/>
          </p:cNvPicPr>
          <p:nvPr>
            <p:ph sz="half" idx="2"/>
          </p:nvPr>
        </p:nvPicPr>
        <p:blipFill>
          <a:blip r:embed="rId4">
            <a:extLst>
              <a:ext uri="{28A0092B-C50C-407E-A947-70E740481C1C}">
                <a14:useLocalDpi xmlns:a14="http://schemas.microsoft.com/office/drawing/2010/main" val="0"/>
              </a:ext>
            </a:extLst>
          </a:blip>
          <a:stretch>
            <a:fillRect/>
          </a:stretch>
        </p:blipFill>
        <p:spPr bwMode="auto">
          <a:xfrm>
            <a:off x="7131888" y="2125014"/>
            <a:ext cx="3596213" cy="3563110"/>
          </a:xfrm>
          <a:prstGeom prst="rect">
            <a:avLst/>
          </a:prstGeom>
          <a:noFill/>
          <a:ln>
            <a:noFill/>
          </a:ln>
        </p:spPr>
      </p:pic>
    </p:spTree>
    <p:extLst>
      <p:ext uri="{BB962C8B-B14F-4D97-AF65-F5344CB8AC3E}">
        <p14:creationId xmlns:p14="http://schemas.microsoft.com/office/powerpoint/2010/main" val="3442006860"/>
      </p:ext>
    </p:extLst>
  </p:cSld>
  <p:clrMapOvr>
    <a:masterClrMapping/>
  </p:clrMapOvr>
  <p:timing>
    <p:tnLst>
      <p:par>
        <p:cTn id="1" dur="indefinite" restart="never" nodeType="tmRoot"/>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ítulo 3"/>
          <p:cNvSpPr>
            <a:spLocks noGrp="1"/>
          </p:cNvSpPr>
          <p:nvPr>
            <p:ph type="title"/>
          </p:nvPr>
        </p:nvSpPr>
        <p:spPr/>
        <p:txBody>
          <a:bodyPr/>
          <a:lstStyle/>
          <a:p>
            <a:r>
              <a:rPr lang="es-ES" b="1" dirty="0">
                <a:hlinkClick r:id="rId2"/>
              </a:rPr>
              <a:t>Viscosímetro de copa PCE-128</a:t>
            </a:r>
            <a:endParaRPr lang="es-ES" dirty="0"/>
          </a:p>
        </p:txBody>
      </p:sp>
      <p:pic>
        <p:nvPicPr>
          <p:cNvPr id="7" name="Marcador de contenido 6" descr="Viscosímetro de copa PCE-128 ">
            <a:hlinkClick r:id="rId2"/>
          </p:cNvPr>
          <p:cNvPicPr>
            <a:picLocks noGrp="1"/>
          </p:cNvPicPr>
          <p:nvPr>
            <p:ph sz="half" idx="1"/>
          </p:nvPr>
        </p:nvPicPr>
        <p:blipFill>
          <a:blip r:embed="rId3">
            <a:extLst>
              <a:ext uri="{28A0092B-C50C-407E-A947-70E740481C1C}">
                <a14:useLocalDpi xmlns:a14="http://schemas.microsoft.com/office/drawing/2010/main" val="0"/>
              </a:ext>
            </a:extLst>
          </a:blip>
          <a:stretch>
            <a:fillRect/>
          </a:stretch>
        </p:blipFill>
        <p:spPr bwMode="auto">
          <a:xfrm>
            <a:off x="839294" y="2168578"/>
            <a:ext cx="3607595" cy="3385187"/>
          </a:xfrm>
          <a:prstGeom prst="rect">
            <a:avLst/>
          </a:prstGeom>
          <a:noFill/>
          <a:ln>
            <a:noFill/>
          </a:ln>
        </p:spPr>
      </p:pic>
      <p:sp>
        <p:nvSpPr>
          <p:cNvPr id="6" name="Marcador de contenido 5"/>
          <p:cNvSpPr>
            <a:spLocks noGrp="1"/>
          </p:cNvSpPr>
          <p:nvPr>
            <p:ph sz="half" idx="2"/>
          </p:nvPr>
        </p:nvSpPr>
        <p:spPr>
          <a:xfrm>
            <a:off x="5589431" y="1845735"/>
            <a:ext cx="5566249" cy="4023360"/>
          </a:xfrm>
        </p:spPr>
        <p:txBody>
          <a:bodyPr>
            <a:normAutofit lnSpcReduction="10000"/>
          </a:bodyPr>
          <a:lstStyle/>
          <a:p>
            <a:r>
              <a:rPr lang="es-ES" dirty="0"/>
              <a:t>El viscosímetro de copa ISO es apto para determinar el tiempo de vaciado de líquidos newtonianos o casi newtonianos, y suele utilizarse habitualmente en laboratorios y en la producción industrial. Para su manejo hay que cerrar la boquilla y verter el producto a medir en el </a:t>
            </a:r>
            <a:r>
              <a:rPr lang="es-ES" dirty="0" err="1"/>
              <a:t>viscosimetro</a:t>
            </a:r>
            <a:r>
              <a:rPr lang="es-ES" dirty="0"/>
              <a:t> de copa. </a:t>
            </a:r>
          </a:p>
          <a:p>
            <a:r>
              <a:rPr lang="es-ES" dirty="0"/>
              <a:t/>
            </a:r>
            <a:br>
              <a:rPr lang="es-ES" dirty="0"/>
            </a:br>
            <a:r>
              <a:rPr lang="es-ES" dirty="0"/>
              <a:t>- Rango de medición: 7 ... 2.000 </a:t>
            </a:r>
            <a:r>
              <a:rPr lang="es-ES" dirty="0" err="1"/>
              <a:t>cS</a:t>
            </a:r>
            <a:r>
              <a:rPr lang="es-ES" dirty="0"/>
              <a:t> t </a:t>
            </a:r>
            <a:br>
              <a:rPr lang="es-ES" dirty="0"/>
            </a:br>
            <a:r>
              <a:rPr lang="es-ES" dirty="0"/>
              <a:t>- Ø de la boquilla: 3 / 4 / 5 / 6 / 8 mm </a:t>
            </a:r>
            <a:br>
              <a:rPr lang="es-ES" dirty="0"/>
            </a:br>
            <a:r>
              <a:rPr lang="es-ES" dirty="0"/>
              <a:t>- Material: aluminio anodizado y acero inoxidable </a:t>
            </a:r>
            <a:br>
              <a:rPr lang="es-ES" dirty="0"/>
            </a:br>
            <a:r>
              <a:rPr lang="es-ES" dirty="0"/>
              <a:t>- Normativa: ISO 2431, DIN 53224, EN 535, ASTM D5125</a:t>
            </a:r>
          </a:p>
          <a:p>
            <a:endParaRPr lang="es-ES" dirty="0"/>
          </a:p>
        </p:txBody>
      </p:sp>
    </p:spTree>
    <p:extLst>
      <p:ext uri="{BB962C8B-B14F-4D97-AF65-F5344CB8AC3E}">
        <p14:creationId xmlns:p14="http://schemas.microsoft.com/office/powerpoint/2010/main" val="10124237"/>
      </p:ext>
    </p:extLst>
  </p:cSld>
  <p:clrMapOvr>
    <a:masterClrMapping/>
  </p:clrMapOvr>
  <p:timing>
    <p:tnLst>
      <p:par>
        <p:cTn id="1" dur="indefinite" restart="never" nodeType="tmRoot"/>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ES" b="1" dirty="0">
                <a:hlinkClick r:id="rId2"/>
              </a:rPr>
              <a:t>Viscosímetro analógico PCE-RVI 1</a:t>
            </a:r>
            <a:endParaRPr lang="es-ES" dirty="0"/>
          </a:p>
        </p:txBody>
      </p:sp>
      <p:sp>
        <p:nvSpPr>
          <p:cNvPr id="3" name="Marcador de contenido 2"/>
          <p:cNvSpPr>
            <a:spLocks noGrp="1"/>
          </p:cNvSpPr>
          <p:nvPr>
            <p:ph sz="half" idx="1"/>
          </p:nvPr>
        </p:nvSpPr>
        <p:spPr>
          <a:xfrm>
            <a:off x="1097279" y="2292438"/>
            <a:ext cx="5355036" cy="3576655"/>
          </a:xfrm>
        </p:spPr>
        <p:txBody>
          <a:bodyPr>
            <a:normAutofit/>
          </a:bodyPr>
          <a:lstStyle/>
          <a:p>
            <a:r>
              <a:rPr lang="es-ES" dirty="0"/>
              <a:t>El viscosímetro de rotación le permite al usuario detectar de forma rápida la viscosidad en el control de producción. Este </a:t>
            </a:r>
            <a:r>
              <a:rPr lang="es-ES" dirty="0" err="1"/>
              <a:t>viscosimetro</a:t>
            </a:r>
            <a:r>
              <a:rPr lang="es-ES" dirty="0"/>
              <a:t> es robusto, de fácil manejo y de uso móvil. </a:t>
            </a:r>
            <a:br>
              <a:rPr lang="es-ES" dirty="0"/>
            </a:br>
            <a:r>
              <a:rPr lang="es-ES" dirty="0"/>
              <a:t/>
            </a:r>
            <a:br>
              <a:rPr lang="es-ES" dirty="0"/>
            </a:br>
            <a:r>
              <a:rPr lang="es-ES" dirty="0"/>
              <a:t>- Rangos de medición: 10 ... 100.000 </a:t>
            </a:r>
            <a:r>
              <a:rPr lang="es-ES" dirty="0" err="1"/>
              <a:t>mPa.s</a:t>
            </a:r>
            <a:r>
              <a:rPr lang="es-ES" dirty="0"/>
              <a:t> </a:t>
            </a:r>
            <a:br>
              <a:rPr lang="es-ES" dirty="0"/>
            </a:br>
            <a:r>
              <a:rPr lang="es-ES" dirty="0"/>
              <a:t>- Precisión: ±5 % (con líquido de Newton) </a:t>
            </a:r>
            <a:br>
              <a:rPr lang="es-ES" dirty="0"/>
            </a:br>
            <a:r>
              <a:rPr lang="es-ES" dirty="0"/>
              <a:t>- Rotores / Husillos: Nº 1 - 4 </a:t>
            </a:r>
            <a:br>
              <a:rPr lang="es-ES" dirty="0"/>
            </a:br>
            <a:r>
              <a:rPr lang="es-ES" dirty="0"/>
              <a:t>- Velocidad de rotación: 6 / 12 / 30 / 60 minutos</a:t>
            </a:r>
          </a:p>
          <a:p>
            <a:endParaRPr lang="es-ES" dirty="0"/>
          </a:p>
        </p:txBody>
      </p:sp>
      <p:pic>
        <p:nvPicPr>
          <p:cNvPr id="5" name="Marcador de contenido 4" descr="Viscosímetro analógico PCE-RVI 1 ">
            <a:hlinkClick r:id="rId2"/>
          </p:cNvPr>
          <p:cNvPicPr>
            <a:picLocks noGrp="1"/>
          </p:cNvPicPr>
          <p:nvPr>
            <p:ph sz="half" idx="2"/>
          </p:nvPr>
        </p:nvPicPr>
        <p:blipFill>
          <a:blip r:embed="rId3">
            <a:extLst>
              <a:ext uri="{28A0092B-C50C-407E-A947-70E740481C1C}">
                <a14:useLocalDpi xmlns:a14="http://schemas.microsoft.com/office/drawing/2010/main" val="0"/>
              </a:ext>
            </a:extLst>
          </a:blip>
          <a:stretch>
            <a:fillRect/>
          </a:stretch>
        </p:blipFill>
        <p:spPr bwMode="auto">
          <a:xfrm>
            <a:off x="7080373" y="2034811"/>
            <a:ext cx="4175762" cy="3834282"/>
          </a:xfrm>
          <a:prstGeom prst="rect">
            <a:avLst/>
          </a:prstGeom>
          <a:noFill/>
          <a:ln>
            <a:noFill/>
          </a:ln>
        </p:spPr>
      </p:pic>
    </p:spTree>
    <p:extLst>
      <p:ext uri="{BB962C8B-B14F-4D97-AF65-F5344CB8AC3E}">
        <p14:creationId xmlns:p14="http://schemas.microsoft.com/office/powerpoint/2010/main" val="339605735"/>
      </p:ext>
    </p:extLst>
  </p:cSld>
  <p:clrMapOvr>
    <a:masterClrMapping/>
  </p:clrMapOvr>
  <p:timing>
    <p:tnLst>
      <p:par>
        <p:cTn id="1" dur="indefinite" restart="never" nodeType="tmRoot"/>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ES" b="1" dirty="0">
                <a:hlinkClick r:id="rId3"/>
              </a:rPr>
              <a:t>Viscosímetro PCE-RVI 6</a:t>
            </a:r>
            <a:endParaRPr lang="es-ES" dirty="0"/>
          </a:p>
        </p:txBody>
      </p:sp>
      <p:pic>
        <p:nvPicPr>
          <p:cNvPr id="5" name="Marcador de contenido 4" descr="Viscosímetro PCE-RVI 6 ">
            <a:hlinkClick r:id="rId3"/>
          </p:cNvPr>
          <p:cNvPicPr>
            <a:picLocks noGrp="1"/>
          </p:cNvPicPr>
          <p:nvPr>
            <p:ph sz="half" idx="1"/>
          </p:nvPr>
        </p:nvPicPr>
        <p:blipFill>
          <a:blip r:embed="rId4">
            <a:extLst>
              <a:ext uri="{28A0092B-C50C-407E-A947-70E740481C1C}">
                <a14:useLocalDpi xmlns:a14="http://schemas.microsoft.com/office/drawing/2010/main" val="0"/>
              </a:ext>
            </a:extLst>
          </a:blip>
          <a:srcRect/>
          <a:stretch>
            <a:fillRect/>
          </a:stretch>
        </p:blipFill>
        <p:spPr bwMode="auto">
          <a:xfrm>
            <a:off x="903887" y="2204916"/>
            <a:ext cx="3011991" cy="3072765"/>
          </a:xfrm>
          <a:prstGeom prst="rect">
            <a:avLst/>
          </a:prstGeom>
          <a:noFill/>
          <a:ln>
            <a:noFill/>
          </a:ln>
        </p:spPr>
      </p:pic>
      <p:sp>
        <p:nvSpPr>
          <p:cNvPr id="4" name="Marcador de contenido 3"/>
          <p:cNvSpPr>
            <a:spLocks noGrp="1"/>
          </p:cNvSpPr>
          <p:nvPr>
            <p:ph sz="half" idx="2"/>
          </p:nvPr>
        </p:nvSpPr>
        <p:spPr>
          <a:xfrm>
            <a:off x="4531698" y="1511559"/>
            <a:ext cx="7280857" cy="4814595"/>
          </a:xfrm>
        </p:spPr>
        <p:txBody>
          <a:bodyPr>
            <a:normAutofit fontScale="92500"/>
          </a:bodyPr>
          <a:lstStyle/>
          <a:p>
            <a:r>
              <a:rPr lang="es-ES" sz="2400" dirty="0"/>
              <a:t>El viscosímetro Krebs PCE-RVI sirve para medir la viscosidad de pintura, lacas y otro tipo de revestimientos. A pesas de su tamaño puede usar el viscosímetro Krebs en diferentes entornos. Se trata de equipo de instalación fija que dispone de un pie pesado y una carcasa robusta. El viscosímetro Krebs se usa por ejemplo para controles calidad en procesos de fabricación.</a:t>
            </a:r>
            <a:br>
              <a:rPr lang="es-ES" sz="2400" dirty="0"/>
            </a:br>
            <a:r>
              <a:rPr lang="es-ES" sz="2400" dirty="0"/>
              <a:t/>
            </a:r>
            <a:br>
              <a:rPr lang="es-ES" sz="2400" dirty="0"/>
            </a:br>
            <a:r>
              <a:rPr lang="es-ES" sz="2400" dirty="0"/>
              <a:t>- Desviación de la medición: ±1,5 % del fondo escala</a:t>
            </a:r>
            <a:br>
              <a:rPr lang="es-ES" sz="2400" dirty="0"/>
            </a:br>
            <a:r>
              <a:rPr lang="es-ES" sz="2400" dirty="0"/>
              <a:t>- Reproducibilidad: ±1,0 % del fondo escala</a:t>
            </a:r>
            <a:br>
              <a:rPr lang="es-ES" sz="2400" dirty="0"/>
            </a:br>
            <a:r>
              <a:rPr lang="es-ES" sz="2400" dirty="0"/>
              <a:t>- Velocidad de la hélice: 200 r.p.m. ±0,5</a:t>
            </a:r>
            <a:br>
              <a:rPr lang="es-ES" sz="2400" dirty="0"/>
            </a:br>
            <a:r>
              <a:rPr lang="es-ES" sz="2400" dirty="0"/>
              <a:t>- Volumen de la probeta: aprox. 600 ml</a:t>
            </a:r>
          </a:p>
          <a:p>
            <a:endParaRPr lang="es-ES" dirty="0"/>
          </a:p>
        </p:txBody>
      </p:sp>
    </p:spTree>
    <p:extLst>
      <p:ext uri="{BB962C8B-B14F-4D97-AF65-F5344CB8AC3E}">
        <p14:creationId xmlns:p14="http://schemas.microsoft.com/office/powerpoint/2010/main" val="19860766"/>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ES" b="1" dirty="0">
                <a:hlinkClick r:id="rId3"/>
              </a:rPr>
              <a:t>Viscosímetro móvil PCE-RVI 3 VP 20</a:t>
            </a:r>
            <a:endParaRPr lang="es-ES" dirty="0"/>
          </a:p>
        </p:txBody>
      </p:sp>
      <p:sp>
        <p:nvSpPr>
          <p:cNvPr id="3" name="Marcador de contenido 2"/>
          <p:cNvSpPr>
            <a:spLocks noGrp="1"/>
          </p:cNvSpPr>
          <p:nvPr>
            <p:ph sz="half" idx="1"/>
          </p:nvPr>
        </p:nvSpPr>
        <p:spPr>
          <a:xfrm>
            <a:off x="1097279" y="2038916"/>
            <a:ext cx="4937760" cy="3830177"/>
          </a:xfrm>
        </p:spPr>
        <p:txBody>
          <a:bodyPr>
            <a:normAutofit/>
          </a:bodyPr>
          <a:lstStyle/>
          <a:p>
            <a:r>
              <a:rPr lang="es-ES" dirty="0"/>
              <a:t>El viscosímetro móvil flexible PCE-RVI 3 es especialmente apto para un control rápido de la viscosidad de diferentes líquidos. El </a:t>
            </a:r>
            <a:r>
              <a:rPr lang="es-ES" dirty="0" err="1"/>
              <a:t>viscosimetro</a:t>
            </a:r>
            <a:r>
              <a:rPr lang="es-ES" dirty="0"/>
              <a:t> </a:t>
            </a:r>
            <a:r>
              <a:rPr lang="es-ES" dirty="0" err="1"/>
              <a:t>movil</a:t>
            </a:r>
            <a:r>
              <a:rPr lang="es-ES" dirty="0"/>
              <a:t> determina la viscosidad en base del método de </a:t>
            </a:r>
            <a:r>
              <a:rPr lang="es-ES" dirty="0" err="1"/>
              <a:t>Brookfield</a:t>
            </a:r>
            <a:r>
              <a:rPr lang="es-ES" dirty="0"/>
              <a:t>, muy frecuente y fijado como método de medición estándar en muchas empresas. </a:t>
            </a:r>
            <a:br>
              <a:rPr lang="es-ES" dirty="0"/>
            </a:br>
            <a:r>
              <a:rPr lang="es-ES" dirty="0"/>
              <a:t/>
            </a:r>
            <a:br>
              <a:rPr lang="es-ES" dirty="0"/>
            </a:br>
            <a:r>
              <a:rPr lang="es-ES" dirty="0"/>
              <a:t>- Método </a:t>
            </a:r>
            <a:r>
              <a:rPr lang="es-ES" dirty="0" err="1"/>
              <a:t>Brookfield</a:t>
            </a:r>
            <a:r>
              <a:rPr lang="es-ES" dirty="0"/>
              <a:t> </a:t>
            </a:r>
            <a:br>
              <a:rPr lang="es-ES" dirty="0"/>
            </a:br>
            <a:r>
              <a:rPr lang="es-ES" dirty="0"/>
              <a:t>- Número fijo de revoluciones </a:t>
            </a:r>
            <a:br>
              <a:rPr lang="es-ES" dirty="0"/>
            </a:br>
            <a:r>
              <a:rPr lang="es-ES" dirty="0"/>
              <a:t>- Funcionamiento durante 24 horas</a:t>
            </a:r>
          </a:p>
          <a:p>
            <a:endParaRPr lang="es-ES" dirty="0"/>
          </a:p>
        </p:txBody>
      </p:sp>
      <p:pic>
        <p:nvPicPr>
          <p:cNvPr id="5" name="Marcador de contenido 4" descr="Viscosímetro móvil PCE-RVI 3 VP 20 ">
            <a:hlinkClick r:id="rId3"/>
          </p:cNvPr>
          <p:cNvPicPr>
            <a:picLocks noGrp="1"/>
          </p:cNvPicPr>
          <p:nvPr>
            <p:ph sz="half" idx="2"/>
          </p:nvPr>
        </p:nvPicPr>
        <p:blipFill>
          <a:blip r:embed="rId4">
            <a:extLst>
              <a:ext uri="{28A0092B-C50C-407E-A947-70E740481C1C}">
                <a14:useLocalDpi xmlns:a14="http://schemas.microsoft.com/office/drawing/2010/main" val="0"/>
              </a:ext>
            </a:extLst>
          </a:blip>
          <a:stretch>
            <a:fillRect/>
          </a:stretch>
        </p:blipFill>
        <p:spPr bwMode="auto">
          <a:xfrm>
            <a:off x="7202589" y="1738647"/>
            <a:ext cx="3950516" cy="3994687"/>
          </a:xfrm>
          <a:prstGeom prst="rect">
            <a:avLst/>
          </a:prstGeom>
          <a:noFill/>
          <a:ln>
            <a:noFill/>
          </a:ln>
        </p:spPr>
      </p:pic>
    </p:spTree>
    <p:extLst>
      <p:ext uri="{BB962C8B-B14F-4D97-AF65-F5344CB8AC3E}">
        <p14:creationId xmlns:p14="http://schemas.microsoft.com/office/powerpoint/2010/main" val="1245961073"/>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ES" b="1" dirty="0">
                <a:hlinkClick r:id="rId2"/>
              </a:rPr>
              <a:t>Viscosímetro PCE-RVI 4 VP 20</a:t>
            </a:r>
            <a:endParaRPr lang="es-ES" dirty="0"/>
          </a:p>
        </p:txBody>
      </p:sp>
      <p:pic>
        <p:nvPicPr>
          <p:cNvPr id="5" name="Marcador de contenido 4" descr="Viscosímetro PCE-RVI 4 VP 20 ">
            <a:hlinkClick r:id="rId2"/>
          </p:cNvPr>
          <p:cNvPicPr>
            <a:picLocks noGrp="1"/>
          </p:cNvPicPr>
          <p:nvPr>
            <p:ph sz="half" idx="1"/>
          </p:nvPr>
        </p:nvPicPr>
        <p:blipFill>
          <a:blip r:embed="rId3">
            <a:extLst>
              <a:ext uri="{28A0092B-C50C-407E-A947-70E740481C1C}">
                <a14:useLocalDpi xmlns:a14="http://schemas.microsoft.com/office/drawing/2010/main" val="0"/>
              </a:ext>
            </a:extLst>
          </a:blip>
          <a:stretch>
            <a:fillRect/>
          </a:stretch>
        </p:blipFill>
        <p:spPr bwMode="auto">
          <a:xfrm>
            <a:off x="1122630" y="2228045"/>
            <a:ext cx="3607595" cy="3758674"/>
          </a:xfrm>
          <a:prstGeom prst="rect">
            <a:avLst/>
          </a:prstGeom>
          <a:noFill/>
          <a:ln>
            <a:noFill/>
          </a:ln>
        </p:spPr>
      </p:pic>
      <p:sp>
        <p:nvSpPr>
          <p:cNvPr id="4" name="Marcador de contenido 3"/>
          <p:cNvSpPr>
            <a:spLocks noGrp="1"/>
          </p:cNvSpPr>
          <p:nvPr>
            <p:ph sz="half" idx="2"/>
          </p:nvPr>
        </p:nvSpPr>
        <p:spPr>
          <a:xfrm>
            <a:off x="5821251" y="2228045"/>
            <a:ext cx="5334429" cy="3641050"/>
          </a:xfrm>
        </p:spPr>
        <p:txBody>
          <a:bodyPr>
            <a:normAutofit lnSpcReduction="10000"/>
          </a:bodyPr>
          <a:lstStyle/>
          <a:p>
            <a:r>
              <a:rPr lang="es-ES" dirty="0"/>
              <a:t>Nuestro viscosímetro portátil PCE-RVI 4 VP 20 es un instrumento de medición especial para la comprobación de sustancias viscosas según el método </a:t>
            </a:r>
            <a:r>
              <a:rPr lang="es-ES" dirty="0" err="1"/>
              <a:t>Brookfield</a:t>
            </a:r>
            <a:r>
              <a:rPr lang="es-ES" dirty="0"/>
              <a:t>. El </a:t>
            </a:r>
            <a:r>
              <a:rPr lang="es-ES" dirty="0" err="1"/>
              <a:t>viscrosimetro</a:t>
            </a:r>
            <a:r>
              <a:rPr lang="es-ES" dirty="0"/>
              <a:t> es adecuado para su transporte debido a su bajo peso para realizar diferentes mediciones. </a:t>
            </a:r>
          </a:p>
          <a:p>
            <a:r>
              <a:rPr lang="es-ES" dirty="0"/>
              <a:t/>
            </a:r>
            <a:br>
              <a:rPr lang="es-ES" dirty="0"/>
            </a:br>
            <a:r>
              <a:rPr lang="es-ES" dirty="0"/>
              <a:t>- Rango de viscosidad: 200 ... 200000 </a:t>
            </a:r>
            <a:r>
              <a:rPr lang="es-ES" dirty="0" err="1"/>
              <a:t>mPa·s</a:t>
            </a:r>
            <a:r>
              <a:rPr lang="es-ES" dirty="0"/>
              <a:t/>
            </a:r>
            <a:br>
              <a:rPr lang="es-ES" dirty="0"/>
            </a:br>
            <a:r>
              <a:rPr lang="es-ES" dirty="0"/>
              <a:t>- Velocidad: 20 rpm </a:t>
            </a:r>
            <a:br>
              <a:rPr lang="es-ES" dirty="0"/>
            </a:br>
            <a:r>
              <a:rPr lang="es-ES" dirty="0"/>
              <a:t>- Método </a:t>
            </a:r>
            <a:r>
              <a:rPr lang="es-ES" dirty="0" err="1"/>
              <a:t>Brookfield</a:t>
            </a:r>
            <a:r>
              <a:rPr lang="es-ES" dirty="0"/>
              <a:t> </a:t>
            </a:r>
            <a:br>
              <a:rPr lang="es-ES" dirty="0"/>
            </a:br>
            <a:r>
              <a:rPr lang="es-ES" dirty="0"/>
              <a:t>- Velocidad fija </a:t>
            </a:r>
            <a:br>
              <a:rPr lang="es-ES" dirty="0"/>
            </a:br>
            <a:r>
              <a:rPr lang="es-ES" dirty="0"/>
              <a:t>- El envío incluye juego de husillos R2 ... R7 </a:t>
            </a:r>
          </a:p>
          <a:p>
            <a:endParaRPr lang="es-ES" dirty="0"/>
          </a:p>
        </p:txBody>
      </p:sp>
    </p:spTree>
    <p:extLst>
      <p:ext uri="{BB962C8B-B14F-4D97-AF65-F5344CB8AC3E}">
        <p14:creationId xmlns:p14="http://schemas.microsoft.com/office/powerpoint/2010/main" val="4056374847"/>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ES" dirty="0"/>
              <a:t>Viscosímetro PCE-RVI 4 VP </a:t>
            </a:r>
            <a:r>
              <a:rPr lang="es-ES" dirty="0" smtClean="0"/>
              <a:t>60</a:t>
            </a:r>
            <a:endParaRPr lang="es-ES" dirty="0"/>
          </a:p>
        </p:txBody>
      </p:sp>
      <p:sp>
        <p:nvSpPr>
          <p:cNvPr id="3" name="Marcador de contenido 2"/>
          <p:cNvSpPr>
            <a:spLocks noGrp="1"/>
          </p:cNvSpPr>
          <p:nvPr>
            <p:ph sz="half" idx="1"/>
          </p:nvPr>
        </p:nvSpPr>
        <p:spPr>
          <a:xfrm>
            <a:off x="1097279" y="2112134"/>
            <a:ext cx="4937760" cy="3756959"/>
          </a:xfrm>
        </p:spPr>
        <p:txBody>
          <a:bodyPr>
            <a:normAutofit fontScale="92500" lnSpcReduction="10000"/>
          </a:bodyPr>
          <a:lstStyle/>
          <a:p>
            <a:r>
              <a:rPr lang="es-ES" dirty="0"/>
              <a:t>Nuestro viscosímetro portátil PCE-RVI 4 VP 60 es un instrumento de medición especial para la comprobación de sustancias viscosas según el método </a:t>
            </a:r>
            <a:r>
              <a:rPr lang="es-ES" dirty="0" err="1"/>
              <a:t>Brookfield</a:t>
            </a:r>
            <a:r>
              <a:rPr lang="es-ES" dirty="0"/>
              <a:t>. El </a:t>
            </a:r>
            <a:r>
              <a:rPr lang="es-ES" dirty="0" err="1"/>
              <a:t>viscrosimetro</a:t>
            </a:r>
            <a:r>
              <a:rPr lang="es-ES" dirty="0"/>
              <a:t> es adecuado para su transporte debido a su bajo peso para realizar diferentes mediciones. </a:t>
            </a:r>
          </a:p>
          <a:p>
            <a:r>
              <a:rPr lang="es-ES" dirty="0"/>
              <a:t/>
            </a:r>
            <a:br>
              <a:rPr lang="es-ES" dirty="0"/>
            </a:br>
            <a:r>
              <a:rPr lang="es-ES" dirty="0"/>
              <a:t>- Rango de viscosidad: 66 ... 66600 </a:t>
            </a:r>
            <a:r>
              <a:rPr lang="es-ES" dirty="0" err="1"/>
              <a:t>mPa·s</a:t>
            </a:r>
            <a:r>
              <a:rPr lang="es-ES" dirty="0"/>
              <a:t> </a:t>
            </a:r>
            <a:br>
              <a:rPr lang="es-ES" dirty="0"/>
            </a:br>
            <a:r>
              <a:rPr lang="es-ES" dirty="0"/>
              <a:t>- Velocidad: 60 rpm </a:t>
            </a:r>
            <a:br>
              <a:rPr lang="es-ES" dirty="0"/>
            </a:br>
            <a:r>
              <a:rPr lang="es-ES" dirty="0"/>
              <a:t>- Método </a:t>
            </a:r>
            <a:r>
              <a:rPr lang="es-ES" dirty="0" err="1"/>
              <a:t>Brookfield</a:t>
            </a:r>
            <a:r>
              <a:rPr lang="es-ES" dirty="0"/>
              <a:t> </a:t>
            </a:r>
            <a:br>
              <a:rPr lang="es-ES" dirty="0"/>
            </a:br>
            <a:r>
              <a:rPr lang="es-ES" dirty="0"/>
              <a:t>- Velocidad fija </a:t>
            </a:r>
            <a:br>
              <a:rPr lang="es-ES" dirty="0"/>
            </a:br>
            <a:r>
              <a:rPr lang="es-ES" dirty="0"/>
              <a:t>- El envío incluye juego de husillos R2 ... R7 </a:t>
            </a:r>
          </a:p>
          <a:p>
            <a:endParaRPr lang="es-ES" dirty="0"/>
          </a:p>
        </p:txBody>
      </p:sp>
      <p:pic>
        <p:nvPicPr>
          <p:cNvPr id="5" name="Marcador de contenido 4" descr="Viscosímetro PCE-RVI 4 VP 60 ">
            <a:hlinkClick r:id="rId2"/>
          </p:cNvPr>
          <p:cNvPicPr>
            <a:picLocks noGrp="1"/>
          </p:cNvPicPr>
          <p:nvPr>
            <p:ph sz="half" idx="2"/>
          </p:nvPr>
        </p:nvPicPr>
        <p:blipFill>
          <a:blip r:embed="rId3">
            <a:extLst>
              <a:ext uri="{28A0092B-C50C-407E-A947-70E740481C1C}">
                <a14:useLocalDpi xmlns:a14="http://schemas.microsoft.com/office/drawing/2010/main" val="0"/>
              </a:ext>
            </a:extLst>
          </a:blip>
          <a:stretch>
            <a:fillRect/>
          </a:stretch>
        </p:blipFill>
        <p:spPr bwMode="auto">
          <a:xfrm>
            <a:off x="7119009" y="1917641"/>
            <a:ext cx="3931063" cy="4052507"/>
          </a:xfrm>
          <a:prstGeom prst="rect">
            <a:avLst/>
          </a:prstGeom>
          <a:noFill/>
          <a:ln>
            <a:noFill/>
          </a:ln>
        </p:spPr>
      </p:pic>
    </p:spTree>
    <p:extLst>
      <p:ext uri="{BB962C8B-B14F-4D97-AF65-F5344CB8AC3E}">
        <p14:creationId xmlns:p14="http://schemas.microsoft.com/office/powerpoint/2010/main" val="3377063546"/>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ES" b="1" dirty="0">
                <a:hlinkClick r:id="rId2"/>
              </a:rPr>
              <a:t>Viscosímetro PCE-RVI 7</a:t>
            </a:r>
            <a:endParaRPr lang="es-ES" dirty="0"/>
          </a:p>
        </p:txBody>
      </p:sp>
      <p:pic>
        <p:nvPicPr>
          <p:cNvPr id="5" name="Marcador de contenido 4" descr="Viscosímetro PCE-RVI 7 ">
            <a:hlinkClick r:id="rId2"/>
          </p:cNvPr>
          <p:cNvPicPr>
            <a:picLocks noGrp="1"/>
          </p:cNvPicPr>
          <p:nvPr>
            <p:ph sz="half" idx="1"/>
          </p:nvPr>
        </p:nvPicPr>
        <p:blipFill>
          <a:blip r:embed="rId3">
            <a:extLst>
              <a:ext uri="{28A0092B-C50C-407E-A947-70E740481C1C}">
                <a14:useLocalDpi xmlns:a14="http://schemas.microsoft.com/office/drawing/2010/main" val="0"/>
              </a:ext>
            </a:extLst>
          </a:blip>
          <a:srcRect/>
          <a:stretch>
            <a:fillRect/>
          </a:stretch>
        </p:blipFill>
        <p:spPr bwMode="auto">
          <a:xfrm>
            <a:off x="1378040" y="2129070"/>
            <a:ext cx="3387143" cy="3460361"/>
          </a:xfrm>
          <a:prstGeom prst="rect">
            <a:avLst/>
          </a:prstGeom>
          <a:noFill/>
          <a:ln>
            <a:noFill/>
          </a:ln>
        </p:spPr>
      </p:pic>
      <p:sp>
        <p:nvSpPr>
          <p:cNvPr id="4" name="Marcador de contenido 3"/>
          <p:cNvSpPr>
            <a:spLocks noGrp="1"/>
          </p:cNvSpPr>
          <p:nvPr>
            <p:ph sz="half" idx="2"/>
          </p:nvPr>
        </p:nvSpPr>
        <p:spPr>
          <a:xfrm>
            <a:off x="5241701" y="2129069"/>
            <a:ext cx="5913979" cy="3740025"/>
          </a:xfrm>
        </p:spPr>
        <p:txBody>
          <a:bodyPr>
            <a:normAutofit fontScale="92500" lnSpcReduction="10000"/>
          </a:bodyPr>
          <a:lstStyle/>
          <a:p>
            <a:r>
              <a:rPr lang="es-ES" dirty="0"/>
              <a:t>El viscosímetro es un instrumento de medición para el análisis de medios líquidos. El </a:t>
            </a:r>
            <a:r>
              <a:rPr lang="es-ES" dirty="0" err="1"/>
              <a:t>viscosimetro</a:t>
            </a:r>
            <a:r>
              <a:rPr lang="es-ES" dirty="0"/>
              <a:t> PCE-RVI 7 permite una medición precisa y flexible de diferentes productos. El peso ínfimo del viscosímetro permite medir en diferentes lugares. Se trata de un equipo ya montado, al que sólo le tendrá que montar el husillo correspondiente e introducir la pilas. </a:t>
            </a:r>
          </a:p>
          <a:p>
            <a:r>
              <a:rPr lang="es-ES" dirty="0"/>
              <a:t/>
            </a:r>
            <a:br>
              <a:rPr lang="es-ES" dirty="0"/>
            </a:br>
            <a:r>
              <a:rPr lang="es-ES" dirty="0"/>
              <a:t>- Lectura en </a:t>
            </a:r>
            <a:r>
              <a:rPr lang="es-ES" dirty="0" err="1"/>
              <a:t>milli</a:t>
            </a:r>
            <a:r>
              <a:rPr lang="es-ES" dirty="0"/>
              <a:t>-Pascal-segundo y </a:t>
            </a:r>
            <a:r>
              <a:rPr lang="es-ES" dirty="0" err="1"/>
              <a:t>deci</a:t>
            </a:r>
            <a:r>
              <a:rPr lang="es-ES" dirty="0"/>
              <a:t>-Pascal-segundo (</a:t>
            </a:r>
            <a:r>
              <a:rPr lang="es-ES" dirty="0" err="1"/>
              <a:t>dPas</a:t>
            </a:r>
            <a:r>
              <a:rPr lang="es-ES" dirty="0"/>
              <a:t>)</a:t>
            </a:r>
            <a:br>
              <a:rPr lang="es-ES" dirty="0"/>
            </a:br>
            <a:r>
              <a:rPr lang="es-ES" dirty="0"/>
              <a:t>- Velocidad de giro fija (62,5 rpm) </a:t>
            </a:r>
            <a:br>
              <a:rPr lang="es-ES" dirty="0"/>
            </a:br>
            <a:r>
              <a:rPr lang="es-ES" dirty="0"/>
              <a:t>- Tiempo operativo largo (24 ... 30 h)</a:t>
            </a:r>
            <a:br>
              <a:rPr lang="es-ES" dirty="0"/>
            </a:br>
            <a:r>
              <a:rPr lang="es-ES" dirty="0"/>
              <a:t>- Husillos R1 ... R3 incluido en el envío </a:t>
            </a:r>
          </a:p>
          <a:p>
            <a:endParaRPr lang="es-ES" dirty="0"/>
          </a:p>
        </p:txBody>
      </p:sp>
    </p:spTree>
    <p:extLst>
      <p:ext uri="{BB962C8B-B14F-4D97-AF65-F5344CB8AC3E}">
        <p14:creationId xmlns:p14="http://schemas.microsoft.com/office/powerpoint/2010/main" val="3256942193"/>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1097280" y="0"/>
            <a:ext cx="10058400" cy="1450757"/>
          </a:xfrm>
        </p:spPr>
        <p:txBody>
          <a:bodyPr/>
          <a:lstStyle/>
          <a:p>
            <a:r>
              <a:rPr lang="es-ES" b="1" dirty="0">
                <a:hlinkClick r:id="rId2"/>
              </a:rPr>
              <a:t>Viscosímetro de rotación PCE-RVI 2 V1R</a:t>
            </a:r>
            <a:endParaRPr lang="es-ES" dirty="0"/>
          </a:p>
        </p:txBody>
      </p:sp>
      <p:sp>
        <p:nvSpPr>
          <p:cNvPr id="3" name="Marcador de contenido 2"/>
          <p:cNvSpPr>
            <a:spLocks noGrp="1"/>
          </p:cNvSpPr>
          <p:nvPr>
            <p:ph sz="half" idx="1"/>
          </p:nvPr>
        </p:nvSpPr>
        <p:spPr>
          <a:xfrm>
            <a:off x="528035" y="1764406"/>
            <a:ext cx="7302320" cy="3744080"/>
          </a:xfrm>
        </p:spPr>
        <p:txBody>
          <a:bodyPr>
            <a:noAutofit/>
          </a:bodyPr>
          <a:lstStyle/>
          <a:p>
            <a:r>
              <a:rPr lang="es-ES" sz="1600" dirty="0"/>
              <a:t>Con el viscosímetro de rotación PCE-RVI 2 puede determinar la viscosidad de un líquido con precisión. Para ello, el </a:t>
            </a:r>
            <a:r>
              <a:rPr lang="es-ES" sz="1600" dirty="0" err="1"/>
              <a:t>viscosimetro</a:t>
            </a:r>
            <a:r>
              <a:rPr lang="es-ES" sz="1600" dirty="0"/>
              <a:t> de </a:t>
            </a:r>
            <a:r>
              <a:rPr lang="es-ES" sz="1600" dirty="0" err="1"/>
              <a:t>rotacion</a:t>
            </a:r>
            <a:r>
              <a:rPr lang="es-ES" sz="1600" dirty="0"/>
              <a:t> mide la resistencia mecánica de un líquido que actúa en contra del movimiento de rotación de un cilindro. El torque resultante proporciona un valor de viscosidad referente a la geometría del cilindro, que se puede indicar, según modelo de viscosímetro de rotación, en el rango entre 3 – 13.000.000 </a:t>
            </a:r>
            <a:r>
              <a:rPr lang="es-ES" sz="1600" dirty="0" err="1"/>
              <a:t>mPa·s</a:t>
            </a:r>
            <a:r>
              <a:rPr lang="es-ES" sz="1600" dirty="0"/>
              <a:t>, con una precisión de ±1 %. Además, el viscosímetro de rotación mide la temperatura del líquido de prueba y la muestra, junto a otros parámetros como el número de revoluciones del husillo, el husillo seleccionado o el rango de medición establecidos, en la pantalla LCD de 4 líneas.</a:t>
            </a:r>
            <a:br>
              <a:rPr lang="es-ES" sz="1600" dirty="0"/>
            </a:br>
            <a:r>
              <a:rPr lang="es-ES" sz="1600" dirty="0"/>
              <a:t/>
            </a:r>
            <a:br>
              <a:rPr lang="es-ES" sz="1600" dirty="0"/>
            </a:br>
            <a:r>
              <a:rPr lang="es-ES" sz="1600" dirty="0"/>
              <a:t>- DIN ISO 2555 </a:t>
            </a:r>
            <a:br>
              <a:rPr lang="es-ES" sz="1600" dirty="0"/>
            </a:br>
            <a:r>
              <a:rPr lang="es-ES" sz="1600" dirty="0"/>
              <a:t>- 19 niveles de revoluciones </a:t>
            </a:r>
            <a:br>
              <a:rPr lang="es-ES" sz="1600" dirty="0"/>
            </a:br>
            <a:r>
              <a:rPr lang="es-ES" sz="1600" dirty="0"/>
              <a:t>- Interfaz RS-232 </a:t>
            </a:r>
            <a:br>
              <a:rPr lang="es-ES" sz="1600" dirty="0"/>
            </a:br>
            <a:r>
              <a:rPr lang="es-ES" sz="1600" dirty="0"/>
              <a:t>- Software incluido en el envío</a:t>
            </a:r>
          </a:p>
        </p:txBody>
      </p:sp>
      <p:pic>
        <p:nvPicPr>
          <p:cNvPr id="5" name="Marcador de contenido 4" descr="Viscosímetro de rotación PCE-RVI 2 V1R ">
            <a:hlinkClick r:id="rId2"/>
          </p:cNvPr>
          <p:cNvPicPr>
            <a:picLocks noGrp="1"/>
          </p:cNvPicPr>
          <p:nvPr>
            <p:ph sz="half" idx="2"/>
          </p:nvPr>
        </p:nvPicPr>
        <p:blipFill>
          <a:blip r:embed="rId3">
            <a:extLst>
              <a:ext uri="{28A0092B-C50C-407E-A947-70E740481C1C}">
                <a14:useLocalDpi xmlns:a14="http://schemas.microsoft.com/office/drawing/2010/main" val="0"/>
              </a:ext>
            </a:extLst>
          </a:blip>
          <a:stretch>
            <a:fillRect/>
          </a:stretch>
        </p:blipFill>
        <p:spPr bwMode="auto">
          <a:xfrm>
            <a:off x="8232898" y="1764406"/>
            <a:ext cx="3409603" cy="4342416"/>
          </a:xfrm>
          <a:prstGeom prst="rect">
            <a:avLst/>
          </a:prstGeom>
          <a:noFill/>
          <a:ln>
            <a:noFill/>
          </a:ln>
        </p:spPr>
      </p:pic>
    </p:spTree>
    <p:extLst>
      <p:ext uri="{BB962C8B-B14F-4D97-AF65-F5344CB8AC3E}">
        <p14:creationId xmlns:p14="http://schemas.microsoft.com/office/powerpoint/2010/main" val="1597288982"/>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ES" b="1" dirty="0">
                <a:hlinkClick r:id="rId2"/>
              </a:rPr>
              <a:t>Viscosímetro PCE-RVI 5</a:t>
            </a:r>
            <a:endParaRPr lang="es-ES" dirty="0"/>
          </a:p>
        </p:txBody>
      </p:sp>
      <p:pic>
        <p:nvPicPr>
          <p:cNvPr id="6" name="Marcador de contenido 5" descr="Viscosímetro PCE-RVI 5 ">
            <a:hlinkClick r:id="rId2"/>
          </p:cNvPr>
          <p:cNvPicPr>
            <a:picLocks noGrp="1"/>
          </p:cNvPicPr>
          <p:nvPr>
            <p:ph sz="half" idx="1"/>
          </p:nvPr>
        </p:nvPicPr>
        <p:blipFill>
          <a:blip r:embed="rId3">
            <a:extLst>
              <a:ext uri="{28A0092B-C50C-407E-A947-70E740481C1C}">
                <a14:useLocalDpi xmlns:a14="http://schemas.microsoft.com/office/drawing/2010/main" val="0"/>
              </a:ext>
            </a:extLst>
          </a:blip>
          <a:srcRect/>
          <a:stretch>
            <a:fillRect/>
          </a:stretch>
        </p:blipFill>
        <p:spPr bwMode="auto">
          <a:xfrm>
            <a:off x="1249251" y="2123726"/>
            <a:ext cx="3166537" cy="3072765"/>
          </a:xfrm>
          <a:prstGeom prst="rect">
            <a:avLst/>
          </a:prstGeom>
          <a:noFill/>
          <a:ln>
            <a:noFill/>
          </a:ln>
        </p:spPr>
      </p:pic>
      <p:sp>
        <p:nvSpPr>
          <p:cNvPr id="4" name="Marcador de contenido 3"/>
          <p:cNvSpPr>
            <a:spLocks noGrp="1"/>
          </p:cNvSpPr>
          <p:nvPr>
            <p:ph sz="half" idx="2"/>
          </p:nvPr>
        </p:nvSpPr>
        <p:spPr>
          <a:xfrm>
            <a:off x="5383369" y="2123725"/>
            <a:ext cx="5772311" cy="3745369"/>
          </a:xfrm>
        </p:spPr>
        <p:txBody>
          <a:bodyPr>
            <a:normAutofit/>
          </a:bodyPr>
          <a:lstStyle/>
          <a:p>
            <a:r>
              <a:rPr lang="es-ES" dirty="0"/>
              <a:t>El viscosímetro Krebs opera de forma totalmente automatizada. El </a:t>
            </a:r>
            <a:r>
              <a:rPr lang="es-ES" dirty="0" err="1"/>
              <a:t>viscosimetro</a:t>
            </a:r>
            <a:r>
              <a:rPr lang="es-ES" dirty="0"/>
              <a:t> Krebs mide en las unidades KU, g y cp. El viscosímetro Krebs se usa sobre todo en la fabricación y control de pinturas, recubrimientos, adhesivos y muestras pastosas. </a:t>
            </a:r>
          </a:p>
          <a:p>
            <a:r>
              <a:rPr lang="es-ES" dirty="0"/>
              <a:t/>
            </a:r>
            <a:br>
              <a:rPr lang="es-ES" dirty="0"/>
            </a:br>
            <a:r>
              <a:rPr lang="es-ES" dirty="0"/>
              <a:t>- Medición en unidades: KU, g, </a:t>
            </a:r>
            <a:r>
              <a:rPr lang="es-ES" dirty="0" err="1"/>
              <a:t>cP</a:t>
            </a:r>
            <a:r>
              <a:rPr lang="es-ES" dirty="0"/>
              <a:t> </a:t>
            </a:r>
            <a:br>
              <a:rPr lang="es-ES" dirty="0"/>
            </a:br>
            <a:r>
              <a:rPr lang="es-ES" dirty="0"/>
              <a:t>- Pantalla LCD brillante </a:t>
            </a:r>
            <a:br>
              <a:rPr lang="es-ES" dirty="0"/>
            </a:br>
            <a:r>
              <a:rPr lang="es-ES" dirty="0"/>
              <a:t>- Interfaz RS-232</a:t>
            </a:r>
            <a:br>
              <a:rPr lang="es-ES" dirty="0"/>
            </a:br>
            <a:r>
              <a:rPr lang="es-ES" dirty="0"/>
              <a:t>- Medición automática o manual </a:t>
            </a:r>
          </a:p>
          <a:p>
            <a:endParaRPr lang="es-ES" dirty="0"/>
          </a:p>
        </p:txBody>
      </p:sp>
    </p:spTree>
    <p:extLst>
      <p:ext uri="{BB962C8B-B14F-4D97-AF65-F5344CB8AC3E}">
        <p14:creationId xmlns:p14="http://schemas.microsoft.com/office/powerpoint/2010/main" val="3105518149"/>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ES" b="1" dirty="0">
                <a:hlinkClick r:id="rId2"/>
              </a:rPr>
              <a:t>Viscosímetro ZXCON</a:t>
            </a:r>
            <a:endParaRPr lang="es-ES" dirty="0"/>
          </a:p>
        </p:txBody>
      </p:sp>
      <p:sp>
        <p:nvSpPr>
          <p:cNvPr id="3" name="Marcador de contenido 2"/>
          <p:cNvSpPr>
            <a:spLocks noGrp="1"/>
          </p:cNvSpPr>
          <p:nvPr>
            <p:ph sz="half" idx="1"/>
          </p:nvPr>
        </p:nvSpPr>
        <p:spPr>
          <a:xfrm>
            <a:off x="1097278" y="1845734"/>
            <a:ext cx="5986101" cy="4023360"/>
          </a:xfrm>
        </p:spPr>
        <p:txBody>
          <a:bodyPr>
            <a:normAutofit fontScale="92500" lnSpcReduction="20000"/>
          </a:bodyPr>
          <a:lstStyle/>
          <a:p>
            <a:r>
              <a:rPr lang="es-ES" dirty="0"/>
              <a:t>El viscosímetro </a:t>
            </a:r>
            <a:r>
              <a:rPr lang="es-ES" dirty="0" err="1"/>
              <a:t>Bostwick</a:t>
            </a:r>
            <a:r>
              <a:rPr lang="es-ES" dirty="0"/>
              <a:t> ZXCON permite un procedimiento de medición rápido y sencillo para determinar las propiedades de flujo de sustancias fluidas viscosas. Con el </a:t>
            </a:r>
            <a:r>
              <a:rPr lang="es-ES" dirty="0" err="1"/>
              <a:t>tester</a:t>
            </a:r>
            <a:r>
              <a:rPr lang="es-ES" dirty="0"/>
              <a:t> de viscosidad </a:t>
            </a:r>
            <a:r>
              <a:rPr lang="es-ES" dirty="0" err="1"/>
              <a:t>Bostwick</a:t>
            </a:r>
            <a:r>
              <a:rPr lang="es-ES" dirty="0"/>
              <a:t> se determina en un proceso de comparación física el recorrido de flujo en un tiempo determinado de un líquido que se extiende o de un material pastoso. Este procedimiento de medida empleado con el viscosímetro </a:t>
            </a:r>
            <a:r>
              <a:rPr lang="es-ES" dirty="0" err="1"/>
              <a:t>Bostwick</a:t>
            </a:r>
            <a:r>
              <a:rPr lang="es-ES" dirty="0"/>
              <a:t> ZXCON también se conoce como test de </a:t>
            </a:r>
            <a:r>
              <a:rPr lang="es-ES" dirty="0" err="1"/>
              <a:t>Bostwick</a:t>
            </a:r>
            <a:r>
              <a:rPr lang="es-ES" dirty="0"/>
              <a:t>. El </a:t>
            </a:r>
            <a:r>
              <a:rPr lang="es-ES" dirty="0" err="1"/>
              <a:t>viscosimetro</a:t>
            </a:r>
            <a:r>
              <a:rPr lang="es-ES" dirty="0"/>
              <a:t> de </a:t>
            </a:r>
            <a:r>
              <a:rPr lang="es-ES" dirty="0" err="1"/>
              <a:t>Bostwick</a:t>
            </a:r>
            <a:r>
              <a:rPr lang="es-ES" dirty="0"/>
              <a:t> se compone de una bandeja dividida mediante una corredera vertical en dos cámaras de tamaño diferente.</a:t>
            </a:r>
            <a:br>
              <a:rPr lang="es-ES" dirty="0"/>
            </a:br>
            <a:r>
              <a:rPr lang="es-ES" dirty="0"/>
              <a:t/>
            </a:r>
            <a:br>
              <a:rPr lang="es-ES" dirty="0"/>
            </a:br>
            <a:r>
              <a:rPr lang="es-ES" dirty="0"/>
              <a:t>- Uso portátil </a:t>
            </a:r>
            <a:br>
              <a:rPr lang="es-ES" dirty="0"/>
            </a:br>
            <a:r>
              <a:rPr lang="es-ES" dirty="0"/>
              <a:t>- Cantidad de muestra pequeña </a:t>
            </a:r>
            <a:br>
              <a:rPr lang="es-ES" dirty="0"/>
            </a:br>
            <a:r>
              <a:rPr lang="es-ES" dirty="0"/>
              <a:t>- Fácil de manejar</a:t>
            </a:r>
          </a:p>
          <a:p>
            <a:endParaRPr lang="es-ES" dirty="0"/>
          </a:p>
        </p:txBody>
      </p:sp>
      <p:pic>
        <p:nvPicPr>
          <p:cNvPr id="5" name="Marcador de contenido 4" descr="Viscosímetro ZXCON Extended ">
            <a:hlinkClick r:id="rId3"/>
          </p:cNvPr>
          <p:cNvPicPr>
            <a:picLocks noGrp="1"/>
          </p:cNvPicPr>
          <p:nvPr>
            <p:ph sz="half" idx="2"/>
          </p:nvPr>
        </p:nvPicPr>
        <p:blipFill>
          <a:blip r:embed="rId4">
            <a:extLst>
              <a:ext uri="{28A0092B-C50C-407E-A947-70E740481C1C}">
                <a14:useLocalDpi xmlns:a14="http://schemas.microsoft.com/office/drawing/2010/main" val="0"/>
              </a:ext>
            </a:extLst>
          </a:blip>
          <a:stretch>
            <a:fillRect/>
          </a:stretch>
        </p:blipFill>
        <p:spPr bwMode="auto">
          <a:xfrm>
            <a:off x="7823592" y="1974706"/>
            <a:ext cx="3496938" cy="3772929"/>
          </a:xfrm>
          <a:prstGeom prst="rect">
            <a:avLst/>
          </a:prstGeom>
          <a:noFill/>
          <a:ln>
            <a:noFill/>
          </a:ln>
        </p:spPr>
      </p:pic>
    </p:spTree>
    <p:extLst>
      <p:ext uri="{BB962C8B-B14F-4D97-AF65-F5344CB8AC3E}">
        <p14:creationId xmlns:p14="http://schemas.microsoft.com/office/powerpoint/2010/main" val="4172056526"/>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ES" b="1" dirty="0">
                <a:hlinkClick r:id="rId2"/>
              </a:rPr>
              <a:t>Viscosímetro CUPTIMER 243 T-1 (CLASE DE REFERENCIA)</a:t>
            </a:r>
            <a:endParaRPr lang="es-ES" dirty="0"/>
          </a:p>
        </p:txBody>
      </p:sp>
      <p:pic>
        <p:nvPicPr>
          <p:cNvPr id="5" name="Marcador de contenido 4" descr="Viscosímetro CUPTIMER 243 T-1 (CLASE DE REFERENCIA) ">
            <a:hlinkClick r:id="rId2"/>
          </p:cNvPr>
          <p:cNvPicPr>
            <a:picLocks noGrp="1"/>
          </p:cNvPicPr>
          <p:nvPr>
            <p:ph sz="half" idx="1"/>
          </p:nvPr>
        </p:nvPicPr>
        <p:blipFill>
          <a:blip r:embed="rId3">
            <a:extLst>
              <a:ext uri="{28A0092B-C50C-407E-A947-70E740481C1C}">
                <a14:useLocalDpi xmlns:a14="http://schemas.microsoft.com/office/drawing/2010/main" val="0"/>
              </a:ext>
            </a:extLst>
          </a:blip>
          <a:srcRect/>
          <a:stretch>
            <a:fillRect/>
          </a:stretch>
        </p:blipFill>
        <p:spPr bwMode="auto">
          <a:xfrm>
            <a:off x="824248" y="2086378"/>
            <a:ext cx="3578661" cy="3363667"/>
          </a:xfrm>
          <a:prstGeom prst="rect">
            <a:avLst/>
          </a:prstGeom>
          <a:noFill/>
          <a:ln>
            <a:noFill/>
          </a:ln>
        </p:spPr>
      </p:pic>
      <p:sp>
        <p:nvSpPr>
          <p:cNvPr id="4" name="Marcador de contenido 3"/>
          <p:cNvSpPr>
            <a:spLocks noGrp="1"/>
          </p:cNvSpPr>
          <p:nvPr>
            <p:ph sz="half" idx="2"/>
          </p:nvPr>
        </p:nvSpPr>
        <p:spPr>
          <a:xfrm>
            <a:off x="4958366" y="2086377"/>
            <a:ext cx="6197314" cy="4005329"/>
          </a:xfrm>
        </p:spPr>
        <p:txBody>
          <a:bodyPr>
            <a:normAutofit fontScale="85000" lnSpcReduction="10000"/>
          </a:bodyPr>
          <a:lstStyle/>
          <a:p>
            <a:r>
              <a:rPr lang="es-ES" dirty="0"/>
              <a:t>Estación electrónica que determina de manera exacta el tiempo de flujo en el viscosímetro de copa normalizado para la determinación de la medida de viscosidad. El CUPTIMER 243 T se </a:t>
            </a:r>
            <a:r>
              <a:rPr lang="es-ES" dirty="0" err="1"/>
              <a:t>envá</a:t>
            </a:r>
            <a:r>
              <a:rPr lang="es-ES" dirty="0"/>
              <a:t> con un certificado de fábrica M según la norma DIN 55 350-18, que contiene la siguiente información: Resultado de la comprobación de función del viscosímetro de copa, precisión del equipo de medida de tiempo, instrumentación de control insertados con estándares de calibración, autentificación del producto, fecha, nombre del comprobador.</a:t>
            </a:r>
            <a:br>
              <a:rPr lang="es-ES" dirty="0"/>
            </a:br>
            <a:r>
              <a:rPr lang="es-ES" dirty="0"/>
              <a:t>El significado de Sistema de medición de la estación para </a:t>
            </a:r>
            <a:r>
              <a:rPr lang="es-ES" dirty="0" err="1"/>
              <a:t>viscosimetro</a:t>
            </a:r>
            <a:r>
              <a:rPr lang="es-ES" dirty="0"/>
              <a:t> de copa de la clase de referencia. </a:t>
            </a:r>
            <a:br>
              <a:rPr lang="es-ES" dirty="0"/>
            </a:br>
            <a:r>
              <a:rPr lang="es-ES" dirty="0"/>
              <a:t/>
            </a:r>
            <a:br>
              <a:rPr lang="es-ES" dirty="0"/>
            </a:br>
            <a:r>
              <a:rPr lang="es-ES" dirty="0"/>
              <a:t>- Desarrollo de la medición automático con muestreo óptico del chorro de flujo</a:t>
            </a:r>
            <a:br>
              <a:rPr lang="es-ES" dirty="0"/>
            </a:br>
            <a:r>
              <a:rPr lang="es-ES" dirty="0"/>
              <a:t>- Tiempos de flujo hasta 1000 s con una resolución de hasta 0,01 s en pantalla LCD</a:t>
            </a:r>
            <a:br>
              <a:rPr lang="es-ES" dirty="0"/>
            </a:br>
            <a:r>
              <a:rPr lang="es-ES" dirty="0"/>
              <a:t>- Adecuado para cualquier fluido (aceite de calibración transparente y barnices opacos)</a:t>
            </a:r>
          </a:p>
          <a:p>
            <a:endParaRPr lang="es-ES" dirty="0"/>
          </a:p>
        </p:txBody>
      </p:sp>
    </p:spTree>
    <p:extLst>
      <p:ext uri="{BB962C8B-B14F-4D97-AF65-F5344CB8AC3E}">
        <p14:creationId xmlns:p14="http://schemas.microsoft.com/office/powerpoint/2010/main" val="3555449444"/>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ES" b="1" dirty="0">
                <a:hlinkClick r:id="rId2"/>
              </a:rPr>
              <a:t>Viscosímetro </a:t>
            </a:r>
            <a:r>
              <a:rPr lang="es-ES" b="1" dirty="0" err="1">
                <a:hlinkClick r:id="rId2"/>
              </a:rPr>
              <a:t>Viscolite</a:t>
            </a:r>
            <a:r>
              <a:rPr lang="es-ES" b="1" dirty="0">
                <a:hlinkClick r:id="rId2"/>
              </a:rPr>
              <a:t> d15</a:t>
            </a:r>
            <a:endParaRPr lang="es-ES" dirty="0"/>
          </a:p>
        </p:txBody>
      </p:sp>
      <p:sp>
        <p:nvSpPr>
          <p:cNvPr id="3" name="Marcador de contenido 2"/>
          <p:cNvSpPr>
            <a:spLocks noGrp="1"/>
          </p:cNvSpPr>
          <p:nvPr>
            <p:ph sz="half" idx="1"/>
          </p:nvPr>
        </p:nvSpPr>
        <p:spPr>
          <a:xfrm>
            <a:off x="1097278" y="1845733"/>
            <a:ext cx="5625493" cy="4503551"/>
          </a:xfrm>
        </p:spPr>
        <p:txBody>
          <a:bodyPr>
            <a:normAutofit lnSpcReduction="10000"/>
          </a:bodyPr>
          <a:lstStyle/>
          <a:p>
            <a:r>
              <a:rPr lang="es-ES" dirty="0"/>
              <a:t>El viscosímetro </a:t>
            </a:r>
            <a:r>
              <a:rPr lang="es-ES" dirty="0" err="1"/>
              <a:t>Viscolite</a:t>
            </a:r>
            <a:r>
              <a:rPr lang="es-ES" dirty="0"/>
              <a:t> ofrece al usuario una medición móvil absoluta de la viscosidad: Medidor para aplicación móvil. La construcción robusta permite usar este tipo de instrumentación en ambientes industriales muy adversos. La medida de la viscosidad se puede realizar en casi cualquier medio líquido. El manejo y la lectura del viscosímetro portátil </a:t>
            </a:r>
            <a:r>
              <a:rPr lang="es-ES" dirty="0" err="1"/>
              <a:t>Viscolite</a:t>
            </a:r>
            <a:r>
              <a:rPr lang="es-ES" dirty="0"/>
              <a:t> es sencillo. Además del clásico uso en el laboratorio o laboratorio de producción el </a:t>
            </a:r>
            <a:r>
              <a:rPr lang="es-ES" dirty="0" err="1"/>
              <a:t>Viscolite</a:t>
            </a:r>
            <a:r>
              <a:rPr lang="es-ES" dirty="0"/>
              <a:t> se puede utilizar en cualquier lugar de forma rápida y móvil para comprobar la viscosidad.</a:t>
            </a:r>
            <a:br>
              <a:rPr lang="es-ES" dirty="0"/>
            </a:br>
            <a:r>
              <a:rPr lang="es-ES" dirty="0"/>
              <a:t/>
            </a:r>
            <a:br>
              <a:rPr lang="es-ES" dirty="0"/>
            </a:br>
            <a:r>
              <a:rPr lang="es-ES" dirty="0"/>
              <a:t>- Rango de medición: 0 ... 5000 </a:t>
            </a:r>
            <a:r>
              <a:rPr lang="es-ES" dirty="0" err="1"/>
              <a:t>cP</a:t>
            </a:r>
            <a:r>
              <a:rPr lang="es-ES" dirty="0"/>
              <a:t/>
            </a:r>
            <a:br>
              <a:rPr lang="es-ES" dirty="0"/>
            </a:br>
            <a:r>
              <a:rPr lang="es-ES" dirty="0"/>
              <a:t>- Reproducibilidad: mejor que 1 %</a:t>
            </a:r>
            <a:br>
              <a:rPr lang="es-ES" dirty="0"/>
            </a:br>
            <a:r>
              <a:rPr lang="es-ES" dirty="0"/>
              <a:t>- Rango de temperatura: –20 ... +120 °C</a:t>
            </a:r>
          </a:p>
          <a:p>
            <a:endParaRPr lang="es-ES" dirty="0"/>
          </a:p>
        </p:txBody>
      </p:sp>
      <p:pic>
        <p:nvPicPr>
          <p:cNvPr id="5" name="Marcador de contenido 4" descr="Viscosímetro Viscolite d15 ">
            <a:hlinkClick r:id="rId2"/>
          </p:cNvPr>
          <p:cNvPicPr>
            <a:picLocks noGrp="1"/>
          </p:cNvPicPr>
          <p:nvPr>
            <p:ph sz="half" idx="2"/>
          </p:nvPr>
        </p:nvPicPr>
        <p:blipFill>
          <a:blip r:embed="rId3">
            <a:extLst>
              <a:ext uri="{28A0092B-C50C-407E-A947-70E740481C1C}">
                <a14:useLocalDpi xmlns:a14="http://schemas.microsoft.com/office/drawing/2010/main" val="0"/>
              </a:ext>
            </a:extLst>
          </a:blip>
          <a:stretch>
            <a:fillRect/>
          </a:stretch>
        </p:blipFill>
        <p:spPr bwMode="auto">
          <a:xfrm>
            <a:off x="7505375" y="2060619"/>
            <a:ext cx="4046974" cy="3810135"/>
          </a:xfrm>
          <a:prstGeom prst="rect">
            <a:avLst/>
          </a:prstGeom>
          <a:noFill/>
          <a:ln>
            <a:noFill/>
          </a:ln>
        </p:spPr>
      </p:pic>
    </p:spTree>
    <p:extLst>
      <p:ext uri="{BB962C8B-B14F-4D97-AF65-F5344CB8AC3E}">
        <p14:creationId xmlns:p14="http://schemas.microsoft.com/office/powerpoint/2010/main" val="3272508821"/>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ES" b="1" dirty="0">
                <a:hlinkClick r:id="rId2"/>
              </a:rPr>
              <a:t>Viscosímetro LEMIS VM-250.1</a:t>
            </a:r>
            <a:endParaRPr lang="es-ES" dirty="0"/>
          </a:p>
        </p:txBody>
      </p:sp>
      <p:pic>
        <p:nvPicPr>
          <p:cNvPr id="5" name="Marcador de contenido 4" descr="Viscosímetro LEMIS VM-250.1 ">
            <a:hlinkClick r:id="rId2"/>
          </p:cNvPr>
          <p:cNvPicPr>
            <a:picLocks noGrp="1"/>
          </p:cNvPicPr>
          <p:nvPr>
            <p:ph sz="half" idx="1"/>
          </p:nvPr>
        </p:nvPicPr>
        <p:blipFill>
          <a:blip r:embed="rId3">
            <a:extLst>
              <a:ext uri="{28A0092B-C50C-407E-A947-70E740481C1C}">
                <a14:useLocalDpi xmlns:a14="http://schemas.microsoft.com/office/drawing/2010/main" val="0"/>
              </a:ext>
            </a:extLst>
          </a:blip>
          <a:srcRect/>
          <a:stretch>
            <a:fillRect/>
          </a:stretch>
        </p:blipFill>
        <p:spPr bwMode="auto">
          <a:xfrm>
            <a:off x="788187" y="2073499"/>
            <a:ext cx="3421539" cy="3813980"/>
          </a:xfrm>
          <a:prstGeom prst="rect">
            <a:avLst/>
          </a:prstGeom>
          <a:noFill/>
          <a:ln>
            <a:noFill/>
          </a:ln>
        </p:spPr>
      </p:pic>
      <p:sp>
        <p:nvSpPr>
          <p:cNvPr id="4" name="Marcador de contenido 3"/>
          <p:cNvSpPr>
            <a:spLocks noGrp="1"/>
          </p:cNvSpPr>
          <p:nvPr>
            <p:ph sz="half" idx="2"/>
          </p:nvPr>
        </p:nvSpPr>
        <p:spPr>
          <a:xfrm>
            <a:off x="4932608" y="2073499"/>
            <a:ext cx="6223072" cy="4031086"/>
          </a:xfrm>
        </p:spPr>
        <p:txBody>
          <a:bodyPr>
            <a:normAutofit fontScale="92500" lnSpcReduction="20000"/>
          </a:bodyPr>
          <a:lstStyle/>
          <a:p>
            <a:r>
              <a:rPr lang="es-ES" dirty="0"/>
              <a:t>El viscosímetro de mano portátil, equipado con una sonda de inmersión, es excepcional para la determinación de la viscosidad en recipientes (hasta 6 m de profundidad). Además el </a:t>
            </a:r>
            <a:r>
              <a:rPr lang="es-ES" dirty="0" err="1"/>
              <a:t>tester</a:t>
            </a:r>
            <a:r>
              <a:rPr lang="es-ES" dirty="0"/>
              <a:t> de mano se puede aplicar directamente sin la preparación de muestras. Una vez sumergida la sonda de </a:t>
            </a:r>
            <a:r>
              <a:rPr lang="es-ES" dirty="0" err="1"/>
              <a:t>medicda</a:t>
            </a:r>
            <a:r>
              <a:rPr lang="es-ES" dirty="0"/>
              <a:t>, se mide simultáneamente la viscosidad y la temperatura. 1980 valores de medición (incl. fecha y hora) pueden almacenarse en este tipo de instrumentación y si se desea transferir los valores, lo puede realizar mediante la interfaz Bluetooth integrada a un PC o portátil.</a:t>
            </a:r>
            <a:br>
              <a:rPr lang="es-ES" dirty="0"/>
            </a:br>
            <a:r>
              <a:rPr lang="es-ES" dirty="0"/>
              <a:t/>
            </a:r>
            <a:br>
              <a:rPr lang="es-ES" dirty="0"/>
            </a:br>
            <a:r>
              <a:rPr lang="es-ES" dirty="0"/>
              <a:t>- Rango de medición viscosidad dinámica: 2000 </a:t>
            </a:r>
            <a:r>
              <a:rPr lang="es-ES" dirty="0" err="1"/>
              <a:t>mPa·s</a:t>
            </a:r>
            <a:r>
              <a:rPr lang="es-ES" dirty="0"/>
              <a:t> (</a:t>
            </a:r>
            <a:r>
              <a:rPr lang="es-ES" dirty="0" err="1"/>
              <a:t>cP</a:t>
            </a:r>
            <a:r>
              <a:rPr lang="es-ES" dirty="0"/>
              <a:t>)</a:t>
            </a:r>
            <a:br>
              <a:rPr lang="es-ES" dirty="0"/>
            </a:br>
            <a:r>
              <a:rPr lang="es-ES" dirty="0"/>
              <a:t>- Rango de medición temperatura: -40… +85°C (-40... +185°F)</a:t>
            </a:r>
            <a:br>
              <a:rPr lang="es-ES" dirty="0"/>
            </a:br>
            <a:r>
              <a:rPr lang="es-ES" dirty="0"/>
              <a:t>- Profundidad máxima de inmersión: 6 m (20 pies)</a:t>
            </a:r>
          </a:p>
          <a:p>
            <a:endParaRPr lang="es-ES" dirty="0"/>
          </a:p>
        </p:txBody>
      </p:sp>
    </p:spTree>
    <p:extLst>
      <p:ext uri="{BB962C8B-B14F-4D97-AF65-F5344CB8AC3E}">
        <p14:creationId xmlns:p14="http://schemas.microsoft.com/office/powerpoint/2010/main" val="2390606873"/>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ctrTitle"/>
          </p:nvPr>
        </p:nvSpPr>
        <p:spPr/>
        <p:txBody>
          <a:bodyPr/>
          <a:lstStyle/>
          <a:p>
            <a:r>
              <a:rPr lang="es-PE" dirty="0" smtClean="0"/>
              <a:t>INVESTIGACIONES</a:t>
            </a:r>
            <a:endParaRPr lang="es-PE" dirty="0"/>
          </a:p>
        </p:txBody>
      </p:sp>
    </p:spTree>
    <p:extLst>
      <p:ext uri="{BB962C8B-B14F-4D97-AF65-F5344CB8AC3E}">
        <p14:creationId xmlns:p14="http://schemas.microsoft.com/office/powerpoint/2010/main" val="1657797303"/>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838200" y="365126"/>
            <a:ext cx="10515600" cy="1151948"/>
          </a:xfrm>
        </p:spPr>
        <p:txBody>
          <a:bodyPr>
            <a:normAutofit fontScale="90000"/>
          </a:bodyPr>
          <a:lstStyle/>
          <a:p>
            <a:pPr algn="ctr"/>
            <a:r>
              <a:rPr lang="es-PE" sz="2800" b="1" dirty="0"/>
              <a:t>VISCOSÍMETROS DE TUBO PARA FLUIDOS DE LA INDUSTRIA AZUCARERA</a:t>
            </a:r>
            <a:r>
              <a:rPr lang="es-PE" sz="2800" dirty="0"/>
              <a:t/>
            </a:r>
            <a:br>
              <a:rPr lang="es-PE" sz="2800" dirty="0"/>
            </a:br>
            <a:r>
              <a:rPr lang="es-PE" sz="2800" b="1" dirty="0"/>
              <a:t>Armando A. Díaz García, Isolina Ávila Martínez</a:t>
            </a:r>
            <a:r>
              <a:rPr lang="es-PE" sz="2800" dirty="0"/>
              <a:t/>
            </a:r>
            <a:br>
              <a:rPr lang="es-PE" sz="2800" dirty="0"/>
            </a:br>
            <a:r>
              <a:rPr lang="es-PE" sz="2800" b="1" dirty="0"/>
              <a:t>		Universidad de Oriente</a:t>
            </a:r>
            <a:endParaRPr lang="es-PE" sz="2800" dirty="0"/>
          </a:p>
        </p:txBody>
      </p:sp>
      <mc:AlternateContent xmlns:mc="http://schemas.openxmlformats.org/markup-compatibility/2006" xmlns:a14="http://schemas.microsoft.com/office/drawing/2010/main">
        <mc:Choice Requires="a14">
          <p:sp>
            <p:nvSpPr>
              <p:cNvPr id="4" name="Rectángulo 3"/>
              <p:cNvSpPr/>
              <p:nvPr/>
            </p:nvSpPr>
            <p:spPr>
              <a:xfrm>
                <a:off x="510862" y="2001008"/>
                <a:ext cx="6096000" cy="3139321"/>
              </a:xfrm>
              <a:prstGeom prst="rect">
                <a:avLst/>
              </a:prstGeom>
            </p:spPr>
            <p:txBody>
              <a:bodyPr>
                <a:spAutoFit/>
              </a:bodyPr>
              <a:lstStyle/>
              <a:p>
                <a:pPr algn="just"/>
                <a:r>
                  <a:rPr lang="es-PE" dirty="0" smtClean="0">
                    <a:solidFill>
                      <a:srgbClr val="000000"/>
                    </a:solidFill>
                    <a:effectLst/>
                    <a:latin typeface="Arial" panose="020B0604020202020204" pitchFamily="34" charset="0"/>
                    <a:ea typeface="Calibri" panose="020F0502020204030204" pitchFamily="34" charset="0"/>
                  </a:rPr>
                  <a:t>En el presente trabajo se propone el uso de un viscosímetro para la determinación de la viscosidad de productos en la industria azucarera. Para ello una vez calibrado el viscosímetro de cono invertido, se procedió a la determinación de la viscosidad del guarapo, utilizando el tubo II de diámetro 2.1 mm, tomándose 6 muestras de guarapo y haciéndose las determinaciones a la temperatura ambiente (27,5 °C). La viscosidad fue calculada utilizando la ecuación </a:t>
                </a:r>
                <a14:m>
                  <m:oMath xmlns:m="http://schemas.openxmlformats.org/officeDocument/2006/math">
                    <m:r>
                      <a:rPr lang="es-PE" i="1">
                        <a:solidFill>
                          <a:srgbClr val="000000"/>
                        </a:solidFill>
                        <a:effectLst/>
                        <a:latin typeface="Cambria Math" panose="02040503050406030204" pitchFamily="18" charset="0"/>
                        <a:ea typeface="Calibri" panose="020F0502020204030204" pitchFamily="34" charset="0"/>
                        <a:cs typeface="Arial" panose="020B0604020202020204" pitchFamily="34" charset="0"/>
                      </a:rPr>
                      <m:t> </m:t>
                    </m:r>
                    <m:r>
                      <a:rPr lang="es-PE" i="1">
                        <a:solidFill>
                          <a:srgbClr val="000000"/>
                        </a:solidFill>
                        <a:effectLst/>
                        <a:latin typeface="Cambria Math" panose="02040503050406030204" pitchFamily="18" charset="0"/>
                        <a:ea typeface="Calibri" panose="020F0502020204030204" pitchFamily="34" charset="0"/>
                        <a:cs typeface="Arial" panose="020B0604020202020204" pitchFamily="34" charset="0"/>
                      </a:rPr>
                      <m:t>𝑢</m:t>
                    </m:r>
                    <m:r>
                      <a:rPr lang="es-PE" i="1">
                        <a:solidFill>
                          <a:srgbClr val="000000"/>
                        </a:solidFill>
                        <a:effectLst/>
                        <a:latin typeface="Cambria Math" panose="02040503050406030204" pitchFamily="18" charset="0"/>
                        <a:ea typeface="Calibri" panose="020F0502020204030204" pitchFamily="34" charset="0"/>
                        <a:cs typeface="Arial" panose="020B0604020202020204" pitchFamily="34" charset="0"/>
                      </a:rPr>
                      <m:t>=1260</m:t>
                    </m:r>
                    <m:sSup>
                      <m:sSupPr>
                        <m:ctrlPr>
                          <a:rPr lang="es-PE" i="1">
                            <a:solidFill>
                              <a:srgbClr val="000000"/>
                            </a:solidFill>
                            <a:effectLst/>
                            <a:latin typeface="Cambria Math" panose="02040503050406030204" pitchFamily="18" charset="0"/>
                            <a:cs typeface="Arial" panose="020B0604020202020204" pitchFamily="34" charset="0"/>
                          </a:rPr>
                        </m:ctrlPr>
                      </m:sSupPr>
                      <m:e>
                        <m:r>
                          <a:rPr lang="es-PE" i="1">
                            <a:solidFill>
                              <a:srgbClr val="000000"/>
                            </a:solidFill>
                            <a:effectLst/>
                            <a:latin typeface="Cambria Math" panose="02040503050406030204" pitchFamily="18" charset="0"/>
                            <a:ea typeface="Calibri" panose="020F0502020204030204" pitchFamily="34" charset="0"/>
                            <a:cs typeface="Arial" panose="020B0604020202020204" pitchFamily="34" charset="0"/>
                          </a:rPr>
                          <m:t>𝐷</m:t>
                        </m:r>
                      </m:e>
                      <m:sup>
                        <m:r>
                          <a:rPr lang="es-PE" i="1">
                            <a:solidFill>
                              <a:srgbClr val="000000"/>
                            </a:solidFill>
                            <a:effectLst/>
                            <a:latin typeface="Cambria Math" panose="02040503050406030204" pitchFamily="18" charset="0"/>
                            <a:ea typeface="Calibri" panose="020F0502020204030204" pitchFamily="34" charset="0"/>
                            <a:cs typeface="Arial" panose="020B0604020202020204" pitchFamily="34" charset="0"/>
                          </a:rPr>
                          <m:t>4</m:t>
                        </m:r>
                      </m:sup>
                    </m:sSup>
                    <m:r>
                      <a:rPr lang="es-PE" i="1">
                        <a:solidFill>
                          <a:srgbClr val="000000"/>
                        </a:solidFill>
                        <a:effectLst/>
                        <a:latin typeface="Cambria Math" panose="02040503050406030204" pitchFamily="18" charset="0"/>
                        <a:ea typeface="Calibri" panose="020F0502020204030204" pitchFamily="34" charset="0"/>
                        <a:cs typeface="Arial" panose="020B0604020202020204" pitchFamily="34" charset="0"/>
                      </a:rPr>
                      <m:t>𝜌</m:t>
                    </m:r>
                    <m:r>
                      <a:rPr lang="es-PE" i="1">
                        <a:solidFill>
                          <a:srgbClr val="000000"/>
                        </a:solidFill>
                        <a:effectLst/>
                        <a:latin typeface="Cambria Math" panose="02040503050406030204" pitchFamily="18" charset="0"/>
                        <a:ea typeface="Calibri" panose="020F0502020204030204" pitchFamily="34" charset="0"/>
                        <a:cs typeface="Arial" panose="020B0604020202020204" pitchFamily="34" charset="0"/>
                      </a:rPr>
                      <m:t>.</m:t>
                    </m:r>
                    <m:r>
                      <a:rPr lang="es-PE" i="1">
                        <a:solidFill>
                          <a:srgbClr val="000000"/>
                        </a:solidFill>
                        <a:effectLst/>
                        <a:latin typeface="Cambria Math" panose="02040503050406030204" pitchFamily="18" charset="0"/>
                        <a:ea typeface="Calibri" panose="020F0502020204030204" pitchFamily="34" charset="0"/>
                        <a:cs typeface="Arial" panose="020B0604020202020204" pitchFamily="34" charset="0"/>
                      </a:rPr>
                      <m:t>𝑡</m:t>
                    </m:r>
                  </m:oMath>
                </a14:m>
                <a:r>
                  <a:rPr lang="es-PE" dirty="0">
                    <a:solidFill>
                      <a:srgbClr val="000000"/>
                    </a:solidFill>
                    <a:effectLst/>
                    <a:latin typeface="Arial" panose="020B0604020202020204" pitchFamily="34" charset="0"/>
                    <a:ea typeface="Calibri" panose="020F0502020204030204" pitchFamily="34" charset="0"/>
                  </a:rPr>
                  <a:t>, la densidad del guarapo fue determinada utilizando técnicas pignométricas. </a:t>
                </a:r>
                <a:endParaRPr lang="es-PE" dirty="0"/>
              </a:p>
            </p:txBody>
          </p:sp>
        </mc:Choice>
        <mc:Fallback xmlns="">
          <p:sp>
            <p:nvSpPr>
              <p:cNvPr id="4" name="Rectángulo 3"/>
              <p:cNvSpPr>
                <a:spLocks noRot="1" noChangeAspect="1" noMove="1" noResize="1" noEditPoints="1" noAdjustHandles="1" noChangeArrowheads="1" noChangeShapeType="1" noTextEdit="1"/>
              </p:cNvSpPr>
              <p:nvPr/>
            </p:nvSpPr>
            <p:spPr>
              <a:xfrm>
                <a:off x="510862" y="2001008"/>
                <a:ext cx="6096000" cy="3139321"/>
              </a:xfrm>
              <a:prstGeom prst="rect">
                <a:avLst/>
              </a:prstGeom>
              <a:blipFill rotWithShape="0">
                <a:blip r:embed="rId2"/>
                <a:stretch>
                  <a:fillRect l="-900" t="-971" r="-800" b="-1942"/>
                </a:stretch>
              </a:blipFill>
            </p:spPr>
            <p:txBody>
              <a:bodyPr/>
              <a:lstStyle/>
              <a:p>
                <a:r>
                  <a:rPr lang="es-PE">
                    <a:noFill/>
                  </a:rPr>
                  <a:t> </a:t>
                </a:r>
              </a:p>
            </p:txBody>
          </p:sp>
        </mc:Fallback>
      </mc:AlternateContent>
      <p:sp>
        <p:nvSpPr>
          <p:cNvPr id="5" name="Rectángulo 4"/>
          <p:cNvSpPr/>
          <p:nvPr/>
        </p:nvSpPr>
        <p:spPr>
          <a:xfrm>
            <a:off x="510862" y="5140329"/>
            <a:ext cx="6096000" cy="923330"/>
          </a:xfrm>
          <a:prstGeom prst="rect">
            <a:avLst/>
          </a:prstGeom>
        </p:spPr>
        <p:txBody>
          <a:bodyPr>
            <a:spAutoFit/>
          </a:bodyPr>
          <a:lstStyle/>
          <a:p>
            <a:pPr algn="just"/>
            <a:r>
              <a:rPr lang="es-PE" dirty="0" smtClean="0">
                <a:solidFill>
                  <a:srgbClr val="000000"/>
                </a:solidFill>
                <a:effectLst/>
                <a:latin typeface="Arial" panose="020B0604020202020204" pitchFamily="34" charset="0"/>
                <a:ea typeface="Calibri" panose="020F0502020204030204" pitchFamily="34" charset="0"/>
              </a:rPr>
              <a:t>Los resultados de la medición, los cuales reflejan que la viscosidad del guarapo es muy similar a la de las soluciones de sacarosa puras.</a:t>
            </a:r>
            <a:endParaRPr lang="es-PE" dirty="0"/>
          </a:p>
        </p:txBody>
      </p:sp>
      <p:pic>
        <p:nvPicPr>
          <p:cNvPr id="6" name="Imagen 5"/>
          <p:cNvPicPr>
            <a:picLocks noChangeAspect="1"/>
          </p:cNvPicPr>
          <p:nvPr/>
        </p:nvPicPr>
        <p:blipFill rotWithShape="1">
          <a:blip r:embed="rId3"/>
          <a:srcRect l="6598" t="16178" r="67390" b="27485"/>
          <a:stretch/>
        </p:blipFill>
        <p:spPr>
          <a:xfrm>
            <a:off x="6651588" y="1981083"/>
            <a:ext cx="3352799" cy="4082576"/>
          </a:xfrm>
          <a:prstGeom prst="rect">
            <a:avLst/>
          </a:prstGeom>
          <a:ln>
            <a:solidFill>
              <a:srgbClr val="FFC000"/>
            </a:solidFill>
          </a:ln>
        </p:spPr>
      </p:pic>
      <p:pic>
        <p:nvPicPr>
          <p:cNvPr id="7" name="Imagen 6"/>
          <p:cNvPicPr>
            <a:picLocks noChangeAspect="1"/>
          </p:cNvPicPr>
          <p:nvPr/>
        </p:nvPicPr>
        <p:blipFill rotWithShape="1">
          <a:blip r:embed="rId4"/>
          <a:srcRect l="15019" t="50368" r="68213" b="15772"/>
          <a:stretch/>
        </p:blipFill>
        <p:spPr>
          <a:xfrm>
            <a:off x="10177670" y="2502417"/>
            <a:ext cx="1881808" cy="2136501"/>
          </a:xfrm>
          <a:prstGeom prst="rect">
            <a:avLst/>
          </a:prstGeom>
        </p:spPr>
      </p:pic>
    </p:spTree>
    <p:extLst>
      <p:ext uri="{BB962C8B-B14F-4D97-AF65-F5344CB8AC3E}">
        <p14:creationId xmlns:p14="http://schemas.microsoft.com/office/powerpoint/2010/main" val="147760628"/>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Imagen 3"/>
          <p:cNvPicPr>
            <a:picLocks noChangeAspect="1"/>
          </p:cNvPicPr>
          <p:nvPr/>
        </p:nvPicPr>
        <p:blipFill rotWithShape="1">
          <a:blip r:embed="rId2"/>
          <a:srcRect l="13920" t="45641" r="28511" b="18569"/>
          <a:stretch/>
        </p:blipFill>
        <p:spPr>
          <a:xfrm>
            <a:off x="2173358" y="740394"/>
            <a:ext cx="7540065" cy="2635455"/>
          </a:xfrm>
          <a:prstGeom prst="rect">
            <a:avLst/>
          </a:prstGeom>
        </p:spPr>
      </p:pic>
      <p:sp>
        <p:nvSpPr>
          <p:cNvPr id="5" name="CuadroTexto 4"/>
          <p:cNvSpPr txBox="1"/>
          <p:nvPr/>
        </p:nvSpPr>
        <p:spPr>
          <a:xfrm>
            <a:off x="477079" y="371062"/>
            <a:ext cx="4877874" cy="369332"/>
          </a:xfrm>
          <a:prstGeom prst="rect">
            <a:avLst/>
          </a:prstGeom>
          <a:noFill/>
        </p:spPr>
        <p:txBody>
          <a:bodyPr wrap="square" rtlCol="0">
            <a:spAutoFit/>
          </a:bodyPr>
          <a:lstStyle/>
          <a:p>
            <a:r>
              <a:rPr lang="es-PE" dirty="0" smtClean="0"/>
              <a:t>Valores experimentales obtenidos para el guarapo</a:t>
            </a:r>
            <a:endParaRPr lang="es-PE" dirty="0"/>
          </a:p>
        </p:txBody>
      </p:sp>
      <mc:AlternateContent xmlns:mc="http://schemas.openxmlformats.org/markup-compatibility/2006" xmlns:a14="http://schemas.microsoft.com/office/drawing/2010/main">
        <mc:Choice Requires="a14">
          <p:sp>
            <p:nvSpPr>
              <p:cNvPr id="6" name="Rectángulo 5"/>
              <p:cNvSpPr/>
              <p:nvPr/>
            </p:nvSpPr>
            <p:spPr>
              <a:xfrm>
                <a:off x="728870" y="3473512"/>
                <a:ext cx="11065564" cy="830997"/>
              </a:xfrm>
              <a:prstGeom prst="rect">
                <a:avLst/>
              </a:prstGeom>
            </p:spPr>
            <p:txBody>
              <a:bodyPr wrap="square">
                <a:spAutoFit/>
              </a:bodyPr>
              <a:lstStyle/>
              <a:p>
                <a:pPr algn="just"/>
                <a:r>
                  <a:rPr lang="es-PE" sz="1600" dirty="0" smtClean="0">
                    <a:solidFill>
                      <a:srgbClr val="000000"/>
                    </a:solidFill>
                    <a:effectLst/>
                    <a:latin typeface="Arial" panose="020B0604020202020204" pitchFamily="34" charset="0"/>
                    <a:ea typeface="Calibri" panose="020F0502020204030204" pitchFamily="34" charset="0"/>
                  </a:rPr>
                  <a:t>Se realizó el mismo procedimiento para medir la viscosidad de la meladura fue obtenida utilizando el tubo III, de diámetro 2.8 de mm por lo que la ecuación utilizada es </a:t>
                </a:r>
                <a14:m>
                  <m:oMath xmlns:m="http://schemas.openxmlformats.org/officeDocument/2006/math">
                    <m:r>
                      <a:rPr lang="es-PE" sz="1600" i="1">
                        <a:solidFill>
                          <a:srgbClr val="000000"/>
                        </a:solidFill>
                        <a:effectLst/>
                        <a:latin typeface="Cambria Math" panose="02040503050406030204" pitchFamily="18" charset="0"/>
                        <a:ea typeface="Calibri" panose="020F0502020204030204" pitchFamily="34" charset="0"/>
                        <a:cs typeface="Arial" panose="020B0604020202020204" pitchFamily="34" charset="0"/>
                      </a:rPr>
                      <m:t>𝑢</m:t>
                    </m:r>
                    <m:r>
                      <a:rPr lang="es-PE" sz="1600" i="1">
                        <a:solidFill>
                          <a:srgbClr val="000000"/>
                        </a:solidFill>
                        <a:effectLst/>
                        <a:latin typeface="Cambria Math" panose="02040503050406030204" pitchFamily="18" charset="0"/>
                        <a:ea typeface="Calibri" panose="020F0502020204030204" pitchFamily="34" charset="0"/>
                        <a:cs typeface="Arial" panose="020B0604020202020204" pitchFamily="34" charset="0"/>
                      </a:rPr>
                      <m:t>=1.15</m:t>
                    </m:r>
                    <m:sSup>
                      <m:sSupPr>
                        <m:ctrlPr>
                          <a:rPr lang="es-PE" sz="1600" i="1">
                            <a:solidFill>
                              <a:srgbClr val="000000"/>
                            </a:solidFill>
                            <a:effectLst/>
                            <a:latin typeface="Cambria Math" panose="02040503050406030204" pitchFamily="18" charset="0"/>
                            <a:cs typeface="Arial" panose="020B0604020202020204" pitchFamily="34" charset="0"/>
                          </a:rPr>
                        </m:ctrlPr>
                      </m:sSupPr>
                      <m:e>
                        <m:r>
                          <a:rPr lang="es-PE" sz="1600" i="1">
                            <a:solidFill>
                              <a:srgbClr val="000000"/>
                            </a:solidFill>
                            <a:effectLst/>
                            <a:latin typeface="Cambria Math" panose="02040503050406030204" pitchFamily="18" charset="0"/>
                            <a:ea typeface="Calibri" panose="020F0502020204030204" pitchFamily="34" charset="0"/>
                            <a:cs typeface="Arial" panose="020B0604020202020204" pitchFamily="34" charset="0"/>
                          </a:rPr>
                          <m:t>𝑥</m:t>
                        </m:r>
                        <m:r>
                          <a:rPr lang="es-PE" sz="1600" i="1">
                            <a:solidFill>
                              <a:srgbClr val="000000"/>
                            </a:solidFill>
                            <a:effectLst/>
                            <a:latin typeface="Cambria Math" panose="02040503050406030204" pitchFamily="18" charset="0"/>
                            <a:ea typeface="Calibri" panose="020F0502020204030204" pitchFamily="34" charset="0"/>
                            <a:cs typeface="Arial" panose="020B0604020202020204" pitchFamily="34" charset="0"/>
                          </a:rPr>
                          <m:t>10</m:t>
                        </m:r>
                      </m:e>
                      <m:sup>
                        <m:r>
                          <a:rPr lang="es-PE" sz="1600" i="1">
                            <a:solidFill>
                              <a:srgbClr val="000000"/>
                            </a:solidFill>
                            <a:effectLst/>
                            <a:latin typeface="Cambria Math" panose="02040503050406030204" pitchFamily="18" charset="0"/>
                            <a:ea typeface="Calibri" panose="020F0502020204030204" pitchFamily="34" charset="0"/>
                            <a:cs typeface="Arial" panose="020B0604020202020204" pitchFamily="34" charset="0"/>
                          </a:rPr>
                          <m:t>−7</m:t>
                        </m:r>
                      </m:sup>
                    </m:sSup>
                    <m:r>
                      <a:rPr lang="es-PE" sz="1600" i="1">
                        <a:solidFill>
                          <a:srgbClr val="000000"/>
                        </a:solidFill>
                        <a:effectLst/>
                        <a:latin typeface="Cambria Math" panose="02040503050406030204" pitchFamily="18" charset="0"/>
                        <a:ea typeface="Calibri" panose="020F0502020204030204" pitchFamily="34" charset="0"/>
                        <a:cs typeface="Arial" panose="020B0604020202020204" pitchFamily="34" charset="0"/>
                      </a:rPr>
                      <m:t>𝜌</m:t>
                    </m:r>
                    <m:r>
                      <a:rPr lang="es-PE" sz="1600" i="1">
                        <a:solidFill>
                          <a:srgbClr val="000000"/>
                        </a:solidFill>
                        <a:effectLst/>
                        <a:latin typeface="Cambria Math" panose="02040503050406030204" pitchFamily="18" charset="0"/>
                        <a:ea typeface="Calibri" panose="020F0502020204030204" pitchFamily="34" charset="0"/>
                        <a:cs typeface="Arial" panose="020B0604020202020204" pitchFamily="34" charset="0"/>
                      </a:rPr>
                      <m:t>.</m:t>
                    </m:r>
                    <m:r>
                      <a:rPr lang="es-PE" sz="1600" i="1">
                        <a:solidFill>
                          <a:srgbClr val="000000"/>
                        </a:solidFill>
                        <a:effectLst/>
                        <a:latin typeface="Cambria Math" panose="02040503050406030204" pitchFamily="18" charset="0"/>
                        <a:ea typeface="Calibri" panose="020F0502020204030204" pitchFamily="34" charset="0"/>
                        <a:cs typeface="Arial" panose="020B0604020202020204" pitchFamily="34" charset="0"/>
                      </a:rPr>
                      <m:t>𝑡</m:t>
                    </m:r>
                  </m:oMath>
                </a14:m>
                <a:r>
                  <a:rPr lang="es-PE" sz="1600" dirty="0">
                    <a:solidFill>
                      <a:srgbClr val="000000"/>
                    </a:solidFill>
                    <a:effectLst/>
                    <a:latin typeface="Arial" panose="020B0604020202020204" pitchFamily="34" charset="0"/>
                    <a:ea typeface="Calibri" panose="020F0502020204030204" pitchFamily="34" charset="0"/>
                  </a:rPr>
                  <a:t> .Los resultados obtenidos concuerdan con los valores de viscosidad para soluciones de sacarosa pura, dados en la literatura, a la misma concentración y temperatura.</a:t>
                </a:r>
                <a:endParaRPr lang="es-PE" sz="1600" dirty="0"/>
              </a:p>
            </p:txBody>
          </p:sp>
        </mc:Choice>
        <mc:Fallback xmlns="">
          <p:sp>
            <p:nvSpPr>
              <p:cNvPr id="6" name="Rectángulo 5"/>
              <p:cNvSpPr>
                <a:spLocks noRot="1" noChangeAspect="1" noMove="1" noResize="1" noEditPoints="1" noAdjustHandles="1" noChangeArrowheads="1" noChangeShapeType="1" noTextEdit="1"/>
              </p:cNvSpPr>
              <p:nvPr/>
            </p:nvSpPr>
            <p:spPr>
              <a:xfrm>
                <a:off x="728870" y="3473512"/>
                <a:ext cx="11065564" cy="830997"/>
              </a:xfrm>
              <a:prstGeom prst="rect">
                <a:avLst/>
              </a:prstGeom>
              <a:blipFill rotWithShape="0">
                <a:blip r:embed="rId3"/>
                <a:stretch>
                  <a:fillRect l="-331" t="-2206" r="-275" b="-8088"/>
                </a:stretch>
              </a:blipFill>
            </p:spPr>
            <p:txBody>
              <a:bodyPr/>
              <a:lstStyle/>
              <a:p>
                <a:r>
                  <a:rPr lang="es-PE">
                    <a:noFill/>
                  </a:rPr>
                  <a:t> </a:t>
                </a:r>
              </a:p>
            </p:txBody>
          </p:sp>
        </mc:Fallback>
      </mc:AlternateContent>
      <p:pic>
        <p:nvPicPr>
          <p:cNvPr id="7" name="Imagen 6"/>
          <p:cNvPicPr>
            <a:picLocks noChangeAspect="1"/>
          </p:cNvPicPr>
          <p:nvPr/>
        </p:nvPicPr>
        <p:blipFill rotWithShape="1">
          <a:blip r:embed="rId4"/>
          <a:srcRect l="12722" t="23233" r="30547" b="41803"/>
          <a:stretch/>
        </p:blipFill>
        <p:spPr>
          <a:xfrm>
            <a:off x="2331961" y="4402172"/>
            <a:ext cx="7381462" cy="1974289"/>
          </a:xfrm>
          <a:prstGeom prst="rect">
            <a:avLst/>
          </a:prstGeom>
        </p:spPr>
      </p:pic>
    </p:spTree>
    <p:extLst>
      <p:ext uri="{BB962C8B-B14F-4D97-AF65-F5344CB8AC3E}">
        <p14:creationId xmlns:p14="http://schemas.microsoft.com/office/powerpoint/2010/main" val="882372310"/>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PE" b="1" dirty="0" smtClean="0"/>
              <a:t>CONCLUSIÓN</a:t>
            </a:r>
            <a:r>
              <a:rPr lang="es-PE" dirty="0" smtClean="0"/>
              <a:t> </a:t>
            </a:r>
            <a:endParaRPr lang="es-PE" dirty="0"/>
          </a:p>
        </p:txBody>
      </p:sp>
      <p:sp>
        <p:nvSpPr>
          <p:cNvPr id="3" name="Marcador de contenido 2"/>
          <p:cNvSpPr>
            <a:spLocks noGrp="1"/>
          </p:cNvSpPr>
          <p:nvPr>
            <p:ph idx="1"/>
          </p:nvPr>
        </p:nvSpPr>
        <p:spPr/>
        <p:txBody>
          <a:bodyPr>
            <a:normAutofit fontScale="85000" lnSpcReduction="20000"/>
          </a:bodyPr>
          <a:lstStyle/>
          <a:p>
            <a:pPr algn="just">
              <a:buFont typeface="Wingdings" panose="05000000000000000000" pitchFamily="2" charset="2"/>
              <a:buChar char="ü"/>
            </a:pPr>
            <a:r>
              <a:rPr lang="es-PE" sz="2600" dirty="0" smtClean="0"/>
              <a:t>Del </a:t>
            </a:r>
            <a:r>
              <a:rPr lang="es-PE" sz="2600" dirty="0"/>
              <a:t>trabajo realizado se concluye que con el viscosímetro de cono invertido es posible determinar las viscosidades de productos intermedios de la industria azucarera, tales como meladuras y guarapo, de manera eficaz, rápida y </a:t>
            </a:r>
            <a:r>
              <a:rPr lang="es-PE" sz="2600" dirty="0" smtClean="0"/>
              <a:t>sencilla.</a:t>
            </a:r>
          </a:p>
          <a:p>
            <a:pPr algn="just">
              <a:buFont typeface="Wingdings" panose="05000000000000000000" pitchFamily="2" charset="2"/>
              <a:buChar char="ü"/>
            </a:pPr>
            <a:r>
              <a:rPr lang="es-PE" sz="2600" dirty="0" smtClean="0"/>
              <a:t>La </a:t>
            </a:r>
            <a:r>
              <a:rPr lang="es-PE" sz="2600" dirty="0"/>
              <a:t>viscosidad del guarapo estudiado es similar a la de las soluciones de sacarosa pura a la misma concentración y temperatura. Los valores observados a la temperatura ambiente y 18 ° Brix como promedio tuvieron una viscosidad cercana a 1,60 </a:t>
            </a:r>
            <a:r>
              <a:rPr lang="es-PE" sz="2600" dirty="0" smtClean="0"/>
              <a:t>centipoises.</a:t>
            </a:r>
          </a:p>
          <a:p>
            <a:pPr algn="just">
              <a:buFont typeface="Wingdings" panose="05000000000000000000" pitchFamily="2" charset="2"/>
              <a:buChar char="ü"/>
            </a:pPr>
            <a:r>
              <a:rPr lang="es-PE" sz="2600" dirty="0" smtClean="0"/>
              <a:t>La </a:t>
            </a:r>
            <a:r>
              <a:rPr lang="es-PE" sz="2600" dirty="0"/>
              <a:t>viscosidad de la meladura es similar a la de las soluciones de sacarosa pura a la misma concentración y temperatura. Los valores observados a la temperatura ambiente varían notablemente con el Brix, en el caso estudiado las viscosidades medidas estuvieron entre 30 y 70 centipoises.</a:t>
            </a:r>
          </a:p>
          <a:p>
            <a:endParaRPr lang="es-PE" dirty="0"/>
          </a:p>
        </p:txBody>
      </p:sp>
    </p:spTree>
    <p:extLst>
      <p:ext uri="{BB962C8B-B14F-4D97-AF65-F5344CB8AC3E}">
        <p14:creationId xmlns:p14="http://schemas.microsoft.com/office/powerpoint/2010/main" val="2715737360"/>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ángulo 3"/>
          <p:cNvSpPr/>
          <p:nvPr/>
        </p:nvSpPr>
        <p:spPr>
          <a:xfrm>
            <a:off x="927279" y="259624"/>
            <a:ext cx="10122794" cy="1351396"/>
          </a:xfrm>
          <a:prstGeom prst="rect">
            <a:avLst/>
          </a:prstGeom>
        </p:spPr>
        <p:txBody>
          <a:bodyPr wrap="square">
            <a:spAutoFit/>
          </a:bodyPr>
          <a:lstStyle/>
          <a:p>
            <a:pPr algn="ctr">
              <a:lnSpc>
                <a:spcPct val="107000"/>
              </a:lnSpc>
              <a:spcAft>
                <a:spcPts val="800"/>
              </a:spcAft>
            </a:pPr>
            <a:r>
              <a:rPr lang="es-PE" sz="1600" b="1" dirty="0" smtClean="0">
                <a:effectLst/>
                <a:latin typeface="Arial" panose="020B0604020202020204" pitchFamily="34" charset="0"/>
                <a:ea typeface="Calibri" panose="020F0502020204030204" pitchFamily="34" charset="0"/>
                <a:cs typeface="Times New Roman" panose="02020603050405020304" pitchFamily="18" charset="0"/>
              </a:rPr>
              <a:t>DISEÑO, CONSTRUCCIÓN Y VALIDACIÓN DE UN VISCOSÍMETRO DE CAÍDA DE BOLA PARA MEDIR VISCOSIDADES DINÁMICAS DE PRODUCTOS LÍQUIDOS ALIMENTICIOS</a:t>
            </a:r>
            <a:endParaRPr lang="es-PE" sz="1400" dirty="0" smtClean="0">
              <a:effectLst/>
              <a:latin typeface="Calibri" panose="020F0502020204030204" pitchFamily="34" charset="0"/>
              <a:ea typeface="Calibri" panose="020F0502020204030204" pitchFamily="34" charset="0"/>
              <a:cs typeface="Times New Roman" panose="02020603050405020304" pitchFamily="18" charset="0"/>
            </a:endParaRPr>
          </a:p>
          <a:p>
            <a:pPr algn="ctr">
              <a:lnSpc>
                <a:spcPct val="107000"/>
              </a:lnSpc>
              <a:spcAft>
                <a:spcPts val="800"/>
              </a:spcAft>
            </a:pPr>
            <a:r>
              <a:rPr lang="es-PE" sz="1600" b="1" dirty="0" smtClean="0">
                <a:effectLst/>
                <a:latin typeface="Arial" panose="020B0604020202020204" pitchFamily="34" charset="0"/>
                <a:ea typeface="Calibri" panose="020F0502020204030204" pitchFamily="34" charset="0"/>
                <a:cs typeface="Times New Roman" panose="02020603050405020304" pitchFamily="18" charset="0"/>
              </a:rPr>
              <a:t>Diana Fernanda Abril Valencia, Edgar Mauricio Vargas Solano</a:t>
            </a:r>
            <a:endParaRPr lang="es-PE" sz="1400" dirty="0" smtClean="0">
              <a:effectLst/>
              <a:latin typeface="Calibri" panose="020F0502020204030204" pitchFamily="34" charset="0"/>
              <a:ea typeface="Calibri" panose="020F0502020204030204" pitchFamily="34" charset="0"/>
              <a:cs typeface="Times New Roman" panose="02020603050405020304" pitchFamily="18" charset="0"/>
            </a:endParaRPr>
          </a:p>
          <a:p>
            <a:pPr algn="ctr">
              <a:lnSpc>
                <a:spcPct val="107000"/>
              </a:lnSpc>
              <a:spcAft>
                <a:spcPts val="800"/>
              </a:spcAft>
            </a:pPr>
            <a:r>
              <a:rPr lang="es-PE" sz="1600" b="1" dirty="0" smtClean="0">
                <a:effectLst/>
                <a:latin typeface="Arial" panose="020B0604020202020204" pitchFamily="34" charset="0"/>
                <a:ea typeface="Calibri" panose="020F0502020204030204" pitchFamily="34" charset="0"/>
                <a:cs typeface="Times New Roman" panose="02020603050405020304" pitchFamily="18" charset="0"/>
              </a:rPr>
              <a:t>Universidad Jorge Tadeo Lozano- Colombia</a:t>
            </a:r>
            <a:endParaRPr lang="es-PE" sz="14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5" name="Rectángulo 4"/>
          <p:cNvSpPr/>
          <p:nvPr/>
        </p:nvSpPr>
        <p:spPr>
          <a:xfrm>
            <a:off x="382074" y="2183344"/>
            <a:ext cx="6598274" cy="4307846"/>
          </a:xfrm>
          <a:prstGeom prst="rect">
            <a:avLst/>
          </a:prstGeom>
        </p:spPr>
        <p:txBody>
          <a:bodyPr wrap="square">
            <a:spAutoFit/>
          </a:bodyPr>
          <a:lstStyle/>
          <a:p>
            <a:pPr algn="just">
              <a:lnSpc>
                <a:spcPct val="107000"/>
              </a:lnSpc>
              <a:spcAft>
                <a:spcPts val="800"/>
              </a:spcAft>
            </a:pPr>
            <a:r>
              <a:rPr lang="es-PE" sz="1600" dirty="0" smtClean="0">
                <a:effectLst/>
                <a:latin typeface="Arial" panose="020B0604020202020204" pitchFamily="34" charset="0"/>
                <a:ea typeface="Calibri" panose="020F0502020204030204" pitchFamily="34" charset="0"/>
                <a:cs typeface="Times New Roman" panose="02020603050405020304" pitchFamily="18" charset="0"/>
              </a:rPr>
              <a:t>El objetivo del presente trabajo fue diseñar, construir y validar un viscosímetro de caída de bola de gran versatilidad, siguiendo las normas DIN 53015 y ASTM D1343-95 y que sea útil para apoyar la docencia e investigación al programa de ingeniería de alimentos de la Universidad Jorge Tadeo Lozano, en el que se pueda observar el comportamiento de los fluidos alimenticios newtonianos con respecto al tiempo y se pueda evidenciar y comprobar la ley de Stokes; además se elaboraron los diagramas de construcción, un manual de operación y mantenimiento una práctica de laboratorio.</a:t>
            </a:r>
            <a:r>
              <a:rPr lang="es-PE" sz="1400" dirty="0" smtClean="0">
                <a:effectLst/>
                <a:latin typeface="Calibri" panose="020F0502020204030204" pitchFamily="34" charset="0"/>
                <a:ea typeface="Calibri" panose="020F0502020204030204" pitchFamily="34" charset="0"/>
                <a:cs typeface="Times New Roman" panose="02020603050405020304" pitchFamily="18" charset="0"/>
              </a:rPr>
              <a:t> </a:t>
            </a:r>
            <a:r>
              <a:rPr lang="es-PE" sz="1600" dirty="0" smtClean="0">
                <a:effectLst/>
                <a:latin typeface="Arial" panose="020B0604020202020204" pitchFamily="34" charset="0"/>
                <a:ea typeface="Calibri" panose="020F0502020204030204" pitchFamily="34" charset="0"/>
                <a:cs typeface="Times New Roman" panose="02020603050405020304" pitchFamily="18" charset="0"/>
              </a:rPr>
              <a:t>Se utilizó para la validación del equipo cuatro sustancias de densidad y viscosidad conocidas (patrones), las cuales fueron evaluadas una temperatura de 20 °C. Se encontraron experimentalmente dos constantes para cada una de las esferas evaluadas; dichos valores al ser multiplicados por la ecuación propia del viscosímetro arroja resultados de viscosidad dinámica muy confiables estadísticamente para ciertos rangos de viscosidad dinámica.</a:t>
            </a:r>
            <a:endParaRPr lang="es-PE" sz="1400" dirty="0">
              <a:effectLst/>
              <a:latin typeface="Calibri" panose="020F0502020204030204" pitchFamily="34" charset="0"/>
              <a:ea typeface="Calibri" panose="020F0502020204030204" pitchFamily="34" charset="0"/>
              <a:cs typeface="Times New Roman" panose="02020603050405020304" pitchFamily="18" charset="0"/>
            </a:endParaRPr>
          </a:p>
        </p:txBody>
      </p:sp>
      <p:pic>
        <p:nvPicPr>
          <p:cNvPr id="6" name="Imagen 5"/>
          <p:cNvPicPr>
            <a:picLocks noChangeAspect="1"/>
          </p:cNvPicPr>
          <p:nvPr/>
        </p:nvPicPr>
        <p:blipFill rotWithShape="1">
          <a:blip r:embed="rId2"/>
          <a:srcRect l="19480" t="18442" r="16379" b="16065"/>
          <a:stretch/>
        </p:blipFill>
        <p:spPr>
          <a:xfrm>
            <a:off x="7122016" y="2627292"/>
            <a:ext cx="4881093" cy="3033588"/>
          </a:xfrm>
          <a:prstGeom prst="rect">
            <a:avLst/>
          </a:prstGeom>
          <a:solidFill>
            <a:schemeClr val="accent2"/>
          </a:solidFill>
          <a:ln>
            <a:solidFill>
              <a:srgbClr val="FFC000"/>
            </a:solidFill>
          </a:ln>
        </p:spPr>
      </p:pic>
    </p:spTree>
    <p:extLst>
      <p:ext uri="{BB962C8B-B14F-4D97-AF65-F5344CB8AC3E}">
        <p14:creationId xmlns:p14="http://schemas.microsoft.com/office/powerpoint/2010/main" val="1055543557"/>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ángulo 3"/>
          <p:cNvSpPr/>
          <p:nvPr/>
        </p:nvSpPr>
        <p:spPr>
          <a:xfrm>
            <a:off x="652529" y="806647"/>
            <a:ext cx="6096000" cy="2862322"/>
          </a:xfrm>
          <a:prstGeom prst="rect">
            <a:avLst/>
          </a:prstGeom>
        </p:spPr>
        <p:txBody>
          <a:bodyPr>
            <a:spAutoFit/>
          </a:bodyPr>
          <a:lstStyle/>
          <a:p>
            <a:pPr algn="just"/>
            <a:r>
              <a:rPr lang="es-PE" dirty="0" smtClean="0"/>
              <a:t>El equipo consta de una base estabilizadora provista de tornillos móviles para lograr un nivel óptimo y evitar que el desnivel sea una fuerza que afecte la trayectoria de la esfera e influya en la media, además de una columna móvil que le permite al conjunto tener movimiento en el eje vertical y una columna giratoria que permite un movimiento circular de 360°. El viscosímetro se encuentra dotado de 9 esferas de densidades y dimensiones conocidas con las cuales se realizan las mediciones.</a:t>
            </a:r>
          </a:p>
          <a:p>
            <a:endParaRPr lang="es-PE" dirty="0"/>
          </a:p>
        </p:txBody>
      </p:sp>
      <p:pic>
        <p:nvPicPr>
          <p:cNvPr id="5" name="Imagen 4"/>
          <p:cNvPicPr>
            <a:picLocks noChangeAspect="1"/>
          </p:cNvPicPr>
          <p:nvPr/>
        </p:nvPicPr>
        <p:blipFill rotWithShape="1">
          <a:blip r:embed="rId2"/>
          <a:srcRect l="25023" t="24427" r="23011" b="32439"/>
          <a:stretch/>
        </p:blipFill>
        <p:spPr>
          <a:xfrm>
            <a:off x="7147775" y="806647"/>
            <a:ext cx="4470806" cy="2086377"/>
          </a:xfrm>
          <a:prstGeom prst="rect">
            <a:avLst/>
          </a:prstGeom>
        </p:spPr>
      </p:pic>
      <p:sp>
        <p:nvSpPr>
          <p:cNvPr id="6" name="Rectángulo 5"/>
          <p:cNvSpPr/>
          <p:nvPr/>
        </p:nvSpPr>
        <p:spPr>
          <a:xfrm>
            <a:off x="794197" y="5024581"/>
            <a:ext cx="10603606" cy="923330"/>
          </a:xfrm>
          <a:prstGeom prst="rect">
            <a:avLst/>
          </a:prstGeom>
        </p:spPr>
        <p:txBody>
          <a:bodyPr wrap="square">
            <a:spAutoFit/>
          </a:bodyPr>
          <a:lstStyle/>
          <a:p>
            <a:pPr algn="just"/>
            <a:r>
              <a:rPr lang="es-PE" dirty="0" smtClean="0">
                <a:effectLst/>
                <a:latin typeface="Arial" panose="020B0604020202020204" pitchFamily="34" charset="0"/>
                <a:ea typeface="Calibri" panose="020F0502020204030204" pitchFamily="34" charset="0"/>
              </a:rPr>
              <a:t>Se diseñó, construyó y se validó un viscosímetro de caída de bola con ingeniería y mano de obra local que permite medir viscosidades confiablemente de alimentos líquidos translúcidos en un rango de viscosidades entre 0,0636 y 1,123 </a:t>
            </a:r>
            <a:r>
              <a:rPr lang="es-PE" dirty="0" err="1" smtClean="0">
                <a:effectLst/>
                <a:latin typeface="Arial" panose="020B0604020202020204" pitchFamily="34" charset="0"/>
                <a:ea typeface="Calibri" panose="020F0502020204030204" pitchFamily="34" charset="0"/>
              </a:rPr>
              <a:t>Pa</a:t>
            </a:r>
            <a:r>
              <a:rPr lang="es-PE" dirty="0" smtClean="0">
                <a:effectLst/>
                <a:latin typeface="Arial" panose="020B0604020202020204" pitchFamily="34" charset="0"/>
                <a:ea typeface="Calibri" panose="020F0502020204030204" pitchFamily="34" charset="0"/>
              </a:rPr>
              <a:t>*s, utilizando las constantes encontradas en este trabajo</a:t>
            </a:r>
            <a:r>
              <a:rPr lang="es-PE" b="1" dirty="0" smtClean="0">
                <a:effectLst/>
                <a:latin typeface="Arial" panose="020B0604020202020204" pitchFamily="34" charset="0"/>
                <a:ea typeface="Calibri" panose="020F0502020204030204" pitchFamily="34" charset="0"/>
              </a:rPr>
              <a:t>. </a:t>
            </a:r>
            <a:endParaRPr lang="es-PE" dirty="0"/>
          </a:p>
        </p:txBody>
      </p:sp>
      <p:sp>
        <p:nvSpPr>
          <p:cNvPr id="7" name="Rectángulo 6"/>
          <p:cNvSpPr/>
          <p:nvPr/>
        </p:nvSpPr>
        <p:spPr>
          <a:xfrm>
            <a:off x="4885894" y="4310215"/>
            <a:ext cx="1736373" cy="369332"/>
          </a:xfrm>
          <a:prstGeom prst="rect">
            <a:avLst/>
          </a:prstGeom>
        </p:spPr>
        <p:txBody>
          <a:bodyPr wrap="none">
            <a:spAutoFit/>
          </a:bodyPr>
          <a:lstStyle/>
          <a:p>
            <a:r>
              <a:rPr lang="es-PE" b="1" dirty="0" smtClean="0">
                <a:effectLst/>
                <a:latin typeface="Arial" panose="020B0604020202020204" pitchFamily="34" charset="0"/>
                <a:ea typeface="Calibri" panose="020F0502020204030204" pitchFamily="34" charset="0"/>
              </a:rPr>
              <a:t>CONCLUSIÓN</a:t>
            </a:r>
            <a:endParaRPr lang="es-PE" dirty="0"/>
          </a:p>
        </p:txBody>
      </p:sp>
    </p:spTree>
    <p:extLst>
      <p:ext uri="{BB962C8B-B14F-4D97-AF65-F5344CB8AC3E}">
        <p14:creationId xmlns:p14="http://schemas.microsoft.com/office/powerpoint/2010/main" val="4278846873"/>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Ion">
  <a:themeElements>
    <a:clrScheme name="Ion">
      <a:dk1>
        <a:sysClr val="windowText" lastClr="000000"/>
      </a:dk1>
      <a:lt1>
        <a:sysClr val="window" lastClr="FFFFFF"/>
      </a:lt1>
      <a:dk2>
        <a:srgbClr val="EE5818"/>
      </a:dk2>
      <a:lt2>
        <a:srgbClr val="EBEBEB"/>
      </a:lt2>
      <a:accent1>
        <a:srgbClr val="F5A408"/>
      </a:accent1>
      <a:accent2>
        <a:srgbClr val="FA731A"/>
      </a:accent2>
      <a:accent3>
        <a:srgbClr val="AB9281"/>
      </a:accent3>
      <a:accent4>
        <a:srgbClr val="A18CD0"/>
      </a:accent4>
      <a:accent5>
        <a:srgbClr val="8EBBD2"/>
      </a:accent5>
      <a:accent6>
        <a:srgbClr val="ACC995"/>
      </a:accent6>
      <a:hlink>
        <a:srgbClr val="FAC96A"/>
      </a:hlink>
      <a:folHlink>
        <a:srgbClr val="FCDB9B"/>
      </a:folHlink>
    </a:clrScheme>
    <a:fontScheme name="Ion">
      <a:majorFont>
        <a:latin typeface="Century Gothic" panose="020B0502020202020204"/>
        <a:ea typeface=""/>
        <a:cs typeface=""/>
        <a:font script="Jpan" typeface="メイリオ"/>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entury Gothic" panose="020B050202020202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Ion">
      <a:fillStyleLst>
        <a:solidFill>
          <a:schemeClr val="phClr"/>
        </a:solidFill>
        <a:gradFill rotWithShape="1">
          <a:gsLst>
            <a:gs pos="0">
              <a:schemeClr val="phClr">
                <a:tint val="64000"/>
                <a:lumMod val="118000"/>
              </a:schemeClr>
            </a:gs>
            <a:gs pos="100000">
              <a:schemeClr val="phClr">
                <a:tint val="92000"/>
                <a:alpha val="100000"/>
                <a:lumMod val="110000"/>
              </a:schemeClr>
            </a:gs>
          </a:gsLst>
          <a:lin ang="5400000" scaled="0"/>
        </a:gradFill>
        <a:gradFill rotWithShape="1">
          <a:gsLst>
            <a:gs pos="0">
              <a:schemeClr val="phClr">
                <a:tint val="98000"/>
                <a:lumMod val="114000"/>
              </a:schemeClr>
            </a:gs>
            <a:gs pos="100000">
              <a:schemeClr val="phClr">
                <a:shade val="90000"/>
                <a:lumMod val="84000"/>
              </a:schemeClr>
            </a:gs>
          </a:gsLst>
          <a:lin ang="5400000" scaled="0"/>
        </a:gradFill>
      </a:fillStyleLst>
      <a:lnStyleLst>
        <a:ln w="9525" cap="rnd" cmpd="sng" algn="ctr">
          <a:solidFill>
            <a:schemeClr val="phClr"/>
          </a:solidFill>
          <a:prstDash val="solid"/>
        </a:ln>
        <a:ln w="19050" cap="rnd" cmpd="sng" algn="ctr">
          <a:solidFill>
            <a:schemeClr val="phClr"/>
          </a:solidFill>
          <a:prstDash val="solid"/>
        </a:ln>
        <a:ln w="28575" cap="rnd" cmpd="sng" algn="ctr">
          <a:solidFill>
            <a:schemeClr val="phClr"/>
          </a:solidFill>
          <a:prstDash val="solid"/>
        </a:ln>
      </a:lnStyleLst>
      <a:effectStyleLst>
        <a:effectStyle>
          <a:effectLst/>
        </a:effectStyle>
        <a:effectStyle>
          <a:effectLst>
            <a:outerShdw blurRad="38100" dist="25400" dir="5400000" rotWithShape="0">
              <a:srgbClr val="000000">
                <a:alpha val="45000"/>
              </a:srgbClr>
            </a:outerShdw>
          </a:effectLst>
        </a:effectStyle>
        <a:effectStyle>
          <a:effectLst>
            <a:outerShdw blurRad="63500" dist="38100" dir="5400000" rotWithShape="0">
              <a:srgbClr val="000000">
                <a:alpha val="60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8000"/>
                <a:hueMod val="104000"/>
                <a:satMod val="128000"/>
                <a:lumMod val="104000"/>
              </a:schemeClr>
            </a:gs>
            <a:gs pos="100000">
              <a:schemeClr val="phClr">
                <a:shade val="76000"/>
                <a:hueMod val="89000"/>
                <a:satMod val="164000"/>
                <a:lumMod val="68000"/>
              </a:schemeClr>
            </a:gs>
          </a:gsLst>
          <a:path path="circle">
            <a:fillToRect l="45000" t="65000" r="125000" b="100000"/>
          </a:path>
        </a:gradFill>
        <a:blipFill rotWithShape="1">
          <a:blip xmlns:r="http://schemas.openxmlformats.org/officeDocument/2006/relationships" r:embed="rId1">
            <a:duotone>
              <a:schemeClr val="phClr">
                <a:shade val="42000"/>
                <a:hueMod val="42000"/>
                <a:satMod val="124000"/>
                <a:lumMod val="62000"/>
              </a:schemeClr>
              <a:schemeClr val="phClr">
                <a:tint val="96000"/>
                <a:satMod val="130000"/>
              </a:schemeClr>
            </a:duotone>
          </a:blip>
          <a:stretch/>
        </a:blipFill>
      </a:bgFillStyleLst>
    </a:fmtScheme>
  </a:themeElements>
  <a:objectDefaults/>
  <a:extraClrSchemeLst/>
  <a:extLst>
    <a:ext uri="{05A4C25C-085E-4340-85A3-A5531E510DB2}">
      <thm15:themeFamily xmlns:thm15="http://schemas.microsoft.com/office/thememl/2012/main" name="Ion" id="{B8441ADB-2E43-4AF7-B97A-BD870242C6A8}" vid="{5A2F9111-B2DB-470C-BA56-608F9B658826}"/>
    </a:ext>
  </a:extLst>
</a:theme>
</file>

<file path=ppt/theme/theme2.xml><?xml version="1.0" encoding="utf-8"?>
<a:theme xmlns:a="http://schemas.openxmlformats.org/drawingml/2006/main" name="Tema de Offic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106</TotalTime>
  <Words>3457</Words>
  <Application>Microsoft Office PowerPoint</Application>
  <PresentationFormat>Panorámica</PresentationFormat>
  <Paragraphs>173</Paragraphs>
  <Slides>62</Slides>
  <Notes>3</Notes>
  <HiddenSlides>0</HiddenSlides>
  <MMClips>0</MMClips>
  <ScaleCrop>false</ScaleCrop>
  <HeadingPairs>
    <vt:vector size="6" baseType="variant">
      <vt:variant>
        <vt:lpstr>Fuentes usadas</vt:lpstr>
      </vt:variant>
      <vt:variant>
        <vt:i4>9</vt:i4>
      </vt:variant>
      <vt:variant>
        <vt:lpstr>Tema</vt:lpstr>
      </vt:variant>
      <vt:variant>
        <vt:i4>1</vt:i4>
      </vt:variant>
      <vt:variant>
        <vt:lpstr>Títulos de diapositiva</vt:lpstr>
      </vt:variant>
      <vt:variant>
        <vt:i4>62</vt:i4>
      </vt:variant>
    </vt:vector>
  </HeadingPairs>
  <TitlesOfParts>
    <vt:vector size="72" baseType="lpstr">
      <vt:lpstr>Arial</vt:lpstr>
      <vt:lpstr>Calibri</vt:lpstr>
      <vt:lpstr>Cambria Math</vt:lpstr>
      <vt:lpstr>Century Gothic</vt:lpstr>
      <vt:lpstr>Exotc350 Bd BT</vt:lpstr>
      <vt:lpstr>Symbol</vt:lpstr>
      <vt:lpstr>Times New Roman</vt:lpstr>
      <vt:lpstr>Wingdings</vt:lpstr>
      <vt:lpstr>Wingdings 3</vt:lpstr>
      <vt:lpstr>Ion</vt:lpstr>
      <vt:lpstr>VISCOSIDAD</vt:lpstr>
      <vt:lpstr>Presentación de PowerPoint</vt:lpstr>
      <vt:lpstr>Valores de viscosidad para diversos materiales.</vt:lpstr>
      <vt:lpstr>FLUIDO NEWTONIANO</vt:lpstr>
      <vt:lpstr>FLUIDOS NO NEWTONIANOS </vt:lpstr>
      <vt:lpstr>VARIACIONES DE LA VISCOSIDAD</vt:lpstr>
      <vt:lpstr>Variación de la viscosidad con el tiempo de aplicación de la cizalla.   </vt:lpstr>
      <vt:lpstr>b)Variación de la viscosidad con la temperatura</vt:lpstr>
      <vt:lpstr>c) Variación de la viscosidad con la presión</vt:lpstr>
      <vt:lpstr>PROPIEDADES DE LA VISCOSIDAD  </vt:lpstr>
      <vt:lpstr>  CALCULO DE LA VISCOSIDAD </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VISCOSIMETROS ROTATORIOS</vt:lpstr>
      <vt:lpstr>Principio que utiliza:</vt:lpstr>
      <vt:lpstr>Viscosímetros Rotacionales mas utilizados: </vt:lpstr>
      <vt:lpstr>Viscosímetros de Cilindros Concéntricos </vt:lpstr>
      <vt:lpstr>Viscosímetro de Placas paralelas </vt:lpstr>
      <vt:lpstr>Viscosímetros de Cono-Placa</vt:lpstr>
      <vt:lpstr>Viscosímetros Ultrasónicos o de Vibración</vt:lpstr>
      <vt:lpstr>Características</vt:lpstr>
      <vt:lpstr>Viscosímetros discontinuos</vt:lpstr>
      <vt:lpstr>Viscosidad cinemática</vt:lpstr>
      <vt:lpstr>BASADO EN</vt:lpstr>
      <vt:lpstr>UNIDADES DE MEDICION</vt:lpstr>
      <vt:lpstr>1.-VISCOSIMETRO SAYBOLT</vt:lpstr>
      <vt:lpstr>Presentación de PowerPoint</vt:lpstr>
      <vt:lpstr>Ventajas </vt:lpstr>
      <vt:lpstr>2.-VISCOSIMETRO REDWOD</vt:lpstr>
      <vt:lpstr>Presentación de PowerPoint</vt:lpstr>
      <vt:lpstr>3.-VISCOSIMETRO ENGLER</vt:lpstr>
      <vt:lpstr>6,000,000 cps RV-6M engler </vt:lpstr>
      <vt:lpstr>Presentación de PowerPoint</vt:lpstr>
      <vt:lpstr>RELACION</vt:lpstr>
      <vt:lpstr>Presentación de PowerPoint</vt:lpstr>
      <vt:lpstr>VISCOSIMETROS COMERCIALES</vt:lpstr>
      <vt:lpstr>VISCOSIMETROS: MODELO PCE</vt:lpstr>
      <vt:lpstr>Viscosímetro de copa PCE-127</vt:lpstr>
      <vt:lpstr>Viscosímetro de copa PCE-128</vt:lpstr>
      <vt:lpstr>Viscosímetro analógico PCE-RVI 1</vt:lpstr>
      <vt:lpstr>Viscosímetro PCE-RVI 6</vt:lpstr>
      <vt:lpstr>Viscosímetro móvil PCE-RVI 3 VP 20</vt:lpstr>
      <vt:lpstr>Viscosímetro PCE-RVI 4 VP 20</vt:lpstr>
      <vt:lpstr>Viscosímetro PCE-RVI 4 VP 60</vt:lpstr>
      <vt:lpstr>Viscosímetro PCE-RVI 7</vt:lpstr>
      <vt:lpstr>Viscosímetro de rotación PCE-RVI 2 V1R</vt:lpstr>
      <vt:lpstr>Viscosímetro PCE-RVI 5</vt:lpstr>
      <vt:lpstr>Viscosímetro ZXCON</vt:lpstr>
      <vt:lpstr>Viscosímetro CUPTIMER 243 T-1 (CLASE DE REFERENCIA)</vt:lpstr>
      <vt:lpstr>Viscosímetro Viscolite d15</vt:lpstr>
      <vt:lpstr>Viscosímetro LEMIS VM-250.1</vt:lpstr>
      <vt:lpstr>INVESTIGACIONES</vt:lpstr>
      <vt:lpstr>VISCOSÍMETROS DE TUBO PARA FLUIDOS DE LA INDUSTRIA AZUCARERA Armando A. Díaz García, Isolina Ávila Martínez   Universidad de Oriente</vt:lpstr>
      <vt:lpstr>Presentación de PowerPoint</vt:lpstr>
      <vt:lpstr>CONCLUSIÓN </vt:lpstr>
      <vt:lpstr>Presentación de PowerPoint</vt:lpstr>
      <vt:lpstr>Presentación de PowerPoint</vt:lpstr>
    </vt:vector>
  </TitlesOfParts>
  <Company>Hewlett-Packard</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VISCOSIDAD</dc:title>
  <dc:creator>edith jakeline torre valladolid</dc:creator>
  <cp:lastModifiedBy>Admin</cp:lastModifiedBy>
  <cp:revision>10</cp:revision>
  <dcterms:created xsi:type="dcterms:W3CDTF">2015-11-23T11:25:16Z</dcterms:created>
  <dcterms:modified xsi:type="dcterms:W3CDTF">2015-11-30T09:14:03Z</dcterms:modified>
</cp:coreProperties>
</file>