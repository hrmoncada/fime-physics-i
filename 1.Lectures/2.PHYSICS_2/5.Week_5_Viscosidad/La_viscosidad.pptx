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74" y="-1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1"/>
      </p:bgRef>
    </p:bg>
    <p:spTree>
      <p:nvGrpSpPr>
        <p:cNvPr id="1" name=""/>
        <p:cNvGrpSpPr/>
        <p:nvPr/>
      </p:nvGrpSpPr>
      <p:grpSpPr>
        <a:xfrm>
          <a:off x="0" y="0"/>
          <a:ext cx="0" cy="0"/>
          <a:chOff x="0" y="0"/>
          <a:chExt cx="0" cy="0"/>
        </a:xfrm>
      </p:grpSpPr>
      <p:sp>
        <p:nvSpPr>
          <p:cNvPr id="8" name="7 Título"/>
          <p:cNvSpPr>
            <a:spLocks noGrp="1"/>
          </p:cNvSpPr>
          <p:nvPr>
            <p:ph type="ctrTitle"/>
          </p:nvPr>
        </p:nvSpPr>
        <p:spPr>
          <a:xfrm>
            <a:off x="2286000" y="3124200"/>
            <a:ext cx="6172200" cy="1894362"/>
          </a:xfrm>
        </p:spPr>
        <p:txBody>
          <a:bodyPr/>
          <a:lstStyle>
            <a:lvl1pPr>
              <a:defRPr b="1"/>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bwMode="auto">
          <a:xfrm rot="5400000">
            <a:off x="7764621" y="1174097"/>
            <a:ext cx="2286000" cy="381000"/>
          </a:xfrm>
        </p:spPr>
        <p:txBody>
          <a:bodyPr/>
          <a:lstStyle/>
          <a:p>
            <a:fld id="{87B37503-1A18-46E8-943C-9B9F32781A2F}" type="datetimeFigureOut">
              <a:rPr lang="es-ES" smtClean="0"/>
              <a:t>21/05/2018</a:t>
            </a:fld>
            <a:endParaRPr lang="es-ES"/>
          </a:p>
        </p:txBody>
      </p:sp>
      <p:sp>
        <p:nvSpPr>
          <p:cNvPr id="17" name="16 Marcador de pie de página"/>
          <p:cNvSpPr>
            <a:spLocks noGrp="1"/>
          </p:cNvSpPr>
          <p:nvPr>
            <p:ph type="ftr" sz="quarter" idx="11"/>
          </p:nvPr>
        </p:nvSpPr>
        <p:spPr bwMode="auto">
          <a:xfrm rot="5400000">
            <a:off x="7077269" y="4181669"/>
            <a:ext cx="3657600" cy="384048"/>
          </a:xfrm>
        </p:spPr>
        <p:txBody>
          <a:bodyPr/>
          <a:lstStyle/>
          <a:p>
            <a:endParaRPr lang="es-ES"/>
          </a:p>
        </p:txBody>
      </p:sp>
      <p:sp>
        <p:nvSpPr>
          <p:cNvPr id="10"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Conector recto"/>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Elipse"/>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Elipse"/>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Marcador de número de diapositiva"/>
          <p:cNvSpPr>
            <a:spLocks noGrp="1"/>
          </p:cNvSpPr>
          <p:nvPr>
            <p:ph type="sldNum" sz="quarter" idx="12"/>
          </p:nvPr>
        </p:nvSpPr>
        <p:spPr bwMode="auto">
          <a:xfrm>
            <a:off x="1325544" y="4928702"/>
            <a:ext cx="609600" cy="517524"/>
          </a:xfrm>
        </p:spPr>
        <p:txBody>
          <a:bodyPr/>
          <a:lstStyle/>
          <a:p>
            <a:fld id="{E7EFDA24-B083-4539-BCAC-6EF97ED1AEE4}"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8" name="7 Marcador de contenido"/>
          <p:cNvSpPr>
            <a:spLocks noGrp="1"/>
          </p:cNvSpPr>
          <p:nvPr>
            <p:ph sz="quarter" idx="1"/>
          </p:nvPr>
        </p:nvSpPr>
        <p:spPr>
          <a:xfrm>
            <a:off x="457200" y="1600200"/>
            <a:ext cx="7467600" cy="487375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4"/>
          </p:nvPr>
        </p:nvSpPr>
        <p:spPr/>
        <p:txBody>
          <a:bodyPr rtlCol="0"/>
          <a:lstStyle/>
          <a:p>
            <a:fld id="{87B37503-1A18-46E8-943C-9B9F32781A2F}" type="datetimeFigureOut">
              <a:rPr lang="es-ES" smtClean="0"/>
              <a:t>21/05/2018</a:t>
            </a:fld>
            <a:endParaRPr lang="es-ES"/>
          </a:p>
        </p:txBody>
      </p:sp>
      <p:sp>
        <p:nvSpPr>
          <p:cNvPr id="9" name="8 Marcador de número de diapositiva"/>
          <p:cNvSpPr>
            <a:spLocks noGrp="1"/>
          </p:cNvSpPr>
          <p:nvPr>
            <p:ph type="sldNum" sz="quarter" idx="15"/>
          </p:nvPr>
        </p:nvSpPr>
        <p:spPr/>
        <p:txBody>
          <a:bodyPr rtlCol="0"/>
          <a:lstStyle/>
          <a:p>
            <a:fld id="{E7EFDA24-B083-4539-BCAC-6EF97ED1AEE4}" type="slidenum">
              <a:rPr lang="es-ES" smtClean="0"/>
              <a:t>‹Nº›</a:t>
            </a:fld>
            <a:endParaRPr lang="es-ES"/>
          </a:p>
        </p:txBody>
      </p:sp>
      <p:sp>
        <p:nvSpPr>
          <p:cNvPr id="10" name="9 Marcador de pie de página"/>
          <p:cNvSpPr>
            <a:spLocks noGrp="1"/>
          </p:cNvSpPr>
          <p:nvPr>
            <p:ph type="ftr" sz="quarter" idx="16"/>
          </p:nvPr>
        </p:nvSpPr>
        <p:spPr/>
        <p:txBody>
          <a:bodyPr rtlCol="0"/>
          <a:lstStyle/>
          <a:p>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bwMode="auto">
          <a:xfrm rot="5400000">
            <a:off x="7763256" y="1170432"/>
            <a:ext cx="2286000" cy="381000"/>
          </a:xfrm>
        </p:spPr>
        <p:txBody>
          <a:bodyPr/>
          <a:lstStyle/>
          <a:p>
            <a:fld id="{87B37503-1A18-46E8-943C-9B9F32781A2F}" type="datetimeFigureOut">
              <a:rPr lang="es-ES" smtClean="0"/>
              <a:t>21/05/2018</a:t>
            </a:fld>
            <a:endParaRPr lang="es-ES"/>
          </a:p>
        </p:txBody>
      </p:sp>
      <p:sp>
        <p:nvSpPr>
          <p:cNvPr id="5" name="4 Marcador de pie de página"/>
          <p:cNvSpPr>
            <a:spLocks noGrp="1"/>
          </p:cNvSpPr>
          <p:nvPr>
            <p:ph type="ftr" sz="quarter" idx="11"/>
          </p:nvPr>
        </p:nvSpPr>
        <p:spPr bwMode="auto">
          <a:xfrm rot="5400000">
            <a:off x="7077456" y="4178808"/>
            <a:ext cx="3657600" cy="384048"/>
          </a:xfrm>
        </p:spPr>
        <p:txBody>
          <a:bodyPr/>
          <a:lstStyle/>
          <a:p>
            <a:endParaRPr lang="es-ES"/>
          </a:p>
        </p:txBody>
      </p:sp>
      <p:sp>
        <p:nvSpPr>
          <p:cNvPr id="9"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Elipse"/>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Elipse"/>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Conector recto"/>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número de diapositiva"/>
          <p:cNvSpPr>
            <a:spLocks noGrp="1"/>
          </p:cNvSpPr>
          <p:nvPr>
            <p:ph type="sldNum" sz="quarter" idx="12"/>
          </p:nvPr>
        </p:nvSpPr>
        <p:spPr bwMode="auto">
          <a:xfrm>
            <a:off x="1340616" y="4928702"/>
            <a:ext cx="609600" cy="517524"/>
          </a:xfrm>
        </p:spPr>
        <p:txBody>
          <a:bodyPr/>
          <a:lstStyle/>
          <a:p>
            <a:fld id="{E7EFDA24-B083-4539-BCAC-6EF97ED1AEE4}" type="slidenum">
              <a:rPr lang="es-ES" smtClean="0"/>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87B37503-1A18-46E8-943C-9B9F32781A2F}" type="datetimeFigureOut">
              <a:rPr lang="es-ES" smtClean="0"/>
              <a:t>21/05/2018</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E7EFDA24-B083-4539-BCAC-6EF97ED1AEE4}" type="slidenum">
              <a:rPr lang="es-ES" smtClean="0"/>
              <a:t>‹Nº›</a:t>
            </a:fld>
            <a:endParaRPr lang="es-ES"/>
          </a:p>
        </p:txBody>
      </p:sp>
      <p:sp>
        <p:nvSpPr>
          <p:cNvPr id="9" name="8 Marcador de contenido"/>
          <p:cNvSpPr>
            <a:spLocks noGrp="1"/>
          </p:cNvSpPr>
          <p:nvPr>
            <p:ph sz="quarter" idx="1"/>
          </p:nvPr>
        </p:nvSpPr>
        <p:spPr>
          <a:xfrm>
            <a:off x="457200"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270248"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nchor="b"/>
          <a:lstStyle>
            <a:lvl1pPr>
              <a:defRPr/>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87B37503-1A18-46E8-943C-9B9F32781A2F}" type="datetimeFigureOut">
              <a:rPr lang="es-ES" smtClean="0"/>
              <a:t>21/05/2018</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E7EFDA24-B083-4539-BCAC-6EF97ED1AEE4}" type="slidenum">
              <a:rPr lang="es-ES" smtClean="0"/>
              <a:t>‹Nº›</a:t>
            </a:fld>
            <a:endParaRPr lang="es-ES"/>
          </a:p>
        </p:txBody>
      </p:sp>
      <p:sp>
        <p:nvSpPr>
          <p:cNvPr id="11" name="10 Marcador de contenido"/>
          <p:cNvSpPr>
            <a:spLocks noGrp="1"/>
          </p:cNvSpPr>
          <p:nvPr>
            <p:ph sz="quarter" idx="2"/>
          </p:nvPr>
        </p:nvSpPr>
        <p:spPr>
          <a:xfrm>
            <a:off x="457200"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371975"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6" name="5 Marcador de fecha"/>
          <p:cNvSpPr>
            <a:spLocks noGrp="1"/>
          </p:cNvSpPr>
          <p:nvPr>
            <p:ph type="dt" sz="half" idx="10"/>
          </p:nvPr>
        </p:nvSpPr>
        <p:spPr/>
        <p:txBody>
          <a:bodyPr rtlCol="0"/>
          <a:lstStyle/>
          <a:p>
            <a:fld id="{87B37503-1A18-46E8-943C-9B9F32781A2F}" type="datetimeFigureOut">
              <a:rPr lang="es-ES" smtClean="0"/>
              <a:t>21/05/2018</a:t>
            </a:fld>
            <a:endParaRPr lang="es-ES"/>
          </a:p>
        </p:txBody>
      </p:sp>
      <p:sp>
        <p:nvSpPr>
          <p:cNvPr id="7" name="6 Marcador de número de diapositiva"/>
          <p:cNvSpPr>
            <a:spLocks noGrp="1"/>
          </p:cNvSpPr>
          <p:nvPr>
            <p:ph type="sldNum" sz="quarter" idx="11"/>
          </p:nvPr>
        </p:nvSpPr>
        <p:spPr/>
        <p:txBody>
          <a:bodyPr rtlCol="0"/>
          <a:lstStyle/>
          <a:p>
            <a:fld id="{E7EFDA24-B083-4539-BCAC-6EF97ED1AEE4}" type="slidenum">
              <a:rPr lang="es-ES" smtClean="0"/>
              <a:t>‹Nº›</a:t>
            </a:fld>
            <a:endParaRPr lang="es-ES"/>
          </a:p>
        </p:txBody>
      </p:sp>
      <p:sp>
        <p:nvSpPr>
          <p:cNvPr id="8" name="7 Marcador de pie de página"/>
          <p:cNvSpPr>
            <a:spLocks noGrp="1"/>
          </p:cNvSpPr>
          <p:nvPr>
            <p:ph type="ftr" sz="quarter" idx="12"/>
          </p:nvPr>
        </p:nvSpPr>
        <p:spPr/>
        <p:txBody>
          <a:bodyPr rtlCol="0"/>
          <a:lstStyle/>
          <a:p>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37503-1A18-46E8-943C-9B9F32781A2F}" type="datetimeFigureOut">
              <a:rPr lang="es-ES" smtClean="0"/>
              <a:t>21/05/2018</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E7EFDA24-B083-4539-BCAC-6EF97ED1AEE4}"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Título"/>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Marcador de contenido"/>
          <p:cNvSpPr>
            <a:spLocks noGrp="1"/>
          </p:cNvSpPr>
          <p:nvPr>
            <p:ph sz="quarter" idx="1"/>
          </p:nvPr>
        </p:nvSpPr>
        <p:spPr>
          <a:xfrm>
            <a:off x="304800" y="274320"/>
            <a:ext cx="5638800" cy="6327648"/>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1" name="20 Marcador de fecha"/>
          <p:cNvSpPr>
            <a:spLocks noGrp="1"/>
          </p:cNvSpPr>
          <p:nvPr>
            <p:ph type="dt" sz="half" idx="14"/>
          </p:nvPr>
        </p:nvSpPr>
        <p:spPr/>
        <p:txBody>
          <a:bodyPr rtlCol="0"/>
          <a:lstStyle/>
          <a:p>
            <a:fld id="{87B37503-1A18-46E8-943C-9B9F32781A2F}" type="datetimeFigureOut">
              <a:rPr lang="es-ES" smtClean="0"/>
              <a:t>21/05/2018</a:t>
            </a:fld>
            <a:endParaRPr lang="es-ES"/>
          </a:p>
        </p:txBody>
      </p:sp>
      <p:sp>
        <p:nvSpPr>
          <p:cNvPr id="22" name="21 Marcador de número de diapositiva"/>
          <p:cNvSpPr>
            <a:spLocks noGrp="1"/>
          </p:cNvSpPr>
          <p:nvPr>
            <p:ph type="sldNum" sz="quarter" idx="15"/>
          </p:nvPr>
        </p:nvSpPr>
        <p:spPr/>
        <p:txBody>
          <a:bodyPr rtlCol="0"/>
          <a:lstStyle/>
          <a:p>
            <a:fld id="{E7EFDA24-B083-4539-BCAC-6EF97ED1AEE4}" type="slidenum">
              <a:rPr lang="es-ES" smtClean="0"/>
              <a:t>‹Nº›</a:t>
            </a:fld>
            <a:endParaRPr lang="es-ES"/>
          </a:p>
        </p:txBody>
      </p:sp>
      <p:sp>
        <p:nvSpPr>
          <p:cNvPr id="23" name="22 Marcador de pie de página"/>
          <p:cNvSpPr>
            <a:spLocks noGrp="1"/>
          </p:cNvSpPr>
          <p:nvPr>
            <p:ph type="ftr" sz="quarter" idx="16"/>
          </p:nvPr>
        </p:nvSpPr>
        <p:spPr/>
        <p:txBody>
          <a:bodyPr rtlCol="0"/>
          <a:lstStyle/>
          <a:p>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rot="5400000">
            <a:off x="3350133" y="3200400"/>
            <a:ext cx="6309360" cy="457200"/>
          </a:xfrm>
        </p:spPr>
        <p:txBody>
          <a:bodyPr anchor="b"/>
          <a:lstStyle>
            <a:lvl1pPr algn="l">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10"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Marcador de fecha"/>
          <p:cNvSpPr>
            <a:spLocks noGrp="1"/>
          </p:cNvSpPr>
          <p:nvPr>
            <p:ph type="dt" sz="half" idx="10"/>
          </p:nvPr>
        </p:nvSpPr>
        <p:spPr/>
        <p:txBody>
          <a:bodyPr rtlCol="0"/>
          <a:lstStyle/>
          <a:p>
            <a:fld id="{87B37503-1A18-46E8-943C-9B9F32781A2F}" type="datetimeFigureOut">
              <a:rPr lang="es-ES" smtClean="0"/>
              <a:t>21/05/2018</a:t>
            </a:fld>
            <a:endParaRPr lang="es-ES"/>
          </a:p>
        </p:txBody>
      </p:sp>
      <p:sp>
        <p:nvSpPr>
          <p:cNvPr id="18" name="17 Marcador de número de diapositiva"/>
          <p:cNvSpPr>
            <a:spLocks noGrp="1"/>
          </p:cNvSpPr>
          <p:nvPr>
            <p:ph type="sldNum" sz="quarter" idx="11"/>
          </p:nvPr>
        </p:nvSpPr>
        <p:spPr/>
        <p:txBody>
          <a:bodyPr rtlCol="0"/>
          <a:lstStyle/>
          <a:p>
            <a:fld id="{E7EFDA24-B083-4539-BCAC-6EF97ED1AEE4}" type="slidenum">
              <a:rPr lang="es-ES" smtClean="0"/>
              <a:t>‹Nº›</a:t>
            </a:fld>
            <a:endParaRPr lang="es-ES"/>
          </a:p>
        </p:txBody>
      </p:sp>
      <p:sp>
        <p:nvSpPr>
          <p:cNvPr id="21" name="20 Marcador de pie de página"/>
          <p:cNvSpPr>
            <a:spLocks noGrp="1"/>
          </p:cNvSpPr>
          <p:nvPr>
            <p:ph type="ftr" sz="quarter" idx="12"/>
          </p:nvPr>
        </p:nvSpPr>
        <p:spPr/>
        <p:txBody>
          <a:bodyPr rtlCol="0"/>
          <a:lstStyle/>
          <a:p>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87B37503-1A18-46E8-943C-9B9F32781A2F}" type="datetimeFigureOut">
              <a:rPr lang="es-ES" smtClean="0"/>
              <a:t>21/05/2018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7EFDA24-B083-4539-BCAC-6EF97ED1AEE4}"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87B37503-1A18-46E8-943C-9B9F32781A2F}" type="datetimeFigureOut">
              <a:rPr lang="es-ES" smtClean="0"/>
              <a:t>21/05/2018</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7EFDA24-B083-4539-BCAC-6EF97ED1AEE4}"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87B37503-1A18-46E8-943C-9B9F32781A2F}" type="datetimeFigureOut">
              <a:rPr lang="es-ES" smtClean="0"/>
              <a:t>21/05/2018</a:t>
            </a:fld>
            <a:endParaRPr lang="es-ES"/>
          </a:p>
        </p:txBody>
      </p:sp>
      <p:sp>
        <p:nvSpPr>
          <p:cNvPr id="3" name="2 Marcador de pie de página"/>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s-ES"/>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Marcador de número de diapositiva"/>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E7EFDA24-B083-4539-BCAC-6EF97ED1AEE4}"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11560" y="404665"/>
            <a:ext cx="7772400" cy="936104"/>
          </a:xfrm>
        </p:spPr>
        <p:txBody>
          <a:bodyPr/>
          <a:lstStyle/>
          <a:p>
            <a:r>
              <a:rPr lang="es-ES" dirty="0" smtClean="0">
                <a:solidFill>
                  <a:srgbClr val="FF0000"/>
                </a:solidFill>
              </a:rPr>
              <a:t>La viscosidad </a:t>
            </a:r>
            <a:endParaRPr lang="es-ES" dirty="0">
              <a:solidFill>
                <a:srgbClr val="FF0000"/>
              </a:solidFill>
            </a:endParaRPr>
          </a:p>
        </p:txBody>
      </p:sp>
      <p:sp>
        <p:nvSpPr>
          <p:cNvPr id="3" name="2 Subtítulo"/>
          <p:cNvSpPr>
            <a:spLocks noGrp="1"/>
          </p:cNvSpPr>
          <p:nvPr>
            <p:ph type="subTitle" idx="1"/>
          </p:nvPr>
        </p:nvSpPr>
        <p:spPr>
          <a:xfrm>
            <a:off x="1115616" y="1628800"/>
            <a:ext cx="6656784" cy="4010000"/>
          </a:xfrm>
        </p:spPr>
        <p:txBody>
          <a:bodyPr>
            <a:noAutofit/>
          </a:bodyPr>
          <a:lstStyle/>
          <a:p>
            <a:pPr algn="l"/>
            <a:r>
              <a:rPr lang="es-ES" sz="1400" b="1" dirty="0" smtClean="0">
                <a:solidFill>
                  <a:schemeClr val="tx1"/>
                </a:solidFill>
              </a:rPr>
              <a:t>INTEGRANTES : </a:t>
            </a:r>
          </a:p>
          <a:p>
            <a:pPr marL="457200" indent="-457200" algn="l">
              <a:buFont typeface="Arial" panose="020B0604020202020204" pitchFamily="34" charset="0"/>
              <a:buChar char="•"/>
            </a:pPr>
            <a:r>
              <a:rPr lang="es-ES" sz="1400" b="1" dirty="0" smtClean="0">
                <a:solidFill>
                  <a:schemeClr val="tx1"/>
                </a:solidFill>
              </a:rPr>
              <a:t>FREDY RAMIREZ PACHECO</a:t>
            </a:r>
          </a:p>
          <a:p>
            <a:pPr marL="457200" indent="-457200" algn="l">
              <a:buFont typeface="Arial" panose="020B0604020202020204" pitchFamily="34" charset="0"/>
              <a:buChar char="•"/>
            </a:pPr>
            <a:r>
              <a:rPr lang="es-ES" sz="1400" b="1" dirty="0" smtClean="0">
                <a:solidFill>
                  <a:schemeClr val="tx1"/>
                </a:solidFill>
              </a:rPr>
              <a:t>RUTH  MAMANI RAMOS</a:t>
            </a:r>
          </a:p>
          <a:p>
            <a:pPr marL="457200" indent="-457200" algn="l">
              <a:buFont typeface="Arial" panose="020B0604020202020204" pitchFamily="34" charset="0"/>
              <a:buChar char="•"/>
            </a:pPr>
            <a:r>
              <a:rPr lang="es-ES" sz="1400" b="1" dirty="0" smtClean="0">
                <a:solidFill>
                  <a:schemeClr val="tx1"/>
                </a:solidFill>
              </a:rPr>
              <a:t>JOEL ASENCIO MAMANI</a:t>
            </a:r>
          </a:p>
          <a:p>
            <a:pPr marL="457200" indent="-457200" algn="l">
              <a:buFont typeface="Arial" panose="020B0604020202020204" pitchFamily="34" charset="0"/>
              <a:buChar char="•"/>
            </a:pPr>
            <a:r>
              <a:rPr lang="es-ES" sz="1400" b="1" dirty="0" smtClean="0">
                <a:solidFill>
                  <a:schemeClr val="tx1"/>
                </a:solidFill>
              </a:rPr>
              <a:t>RONY CHIPANA FLORES </a:t>
            </a:r>
          </a:p>
          <a:p>
            <a:pPr algn="l"/>
            <a:endParaRPr lang="es-ES" sz="1400" b="1" dirty="0" smtClean="0">
              <a:solidFill>
                <a:schemeClr val="tx1"/>
              </a:solidFill>
            </a:endParaRPr>
          </a:p>
          <a:p>
            <a:pPr algn="l"/>
            <a:r>
              <a:rPr lang="es-ES" sz="1400" b="1" dirty="0" smtClean="0">
                <a:solidFill>
                  <a:schemeClr val="tx1"/>
                </a:solidFill>
              </a:rPr>
              <a:t>CARRERA :  Ing. AMBIENTAL  </a:t>
            </a:r>
          </a:p>
          <a:p>
            <a:pPr algn="l"/>
            <a:endParaRPr lang="es-ES" sz="1400" b="1" dirty="0">
              <a:solidFill>
                <a:schemeClr val="tx1"/>
              </a:solidFill>
            </a:endParaRPr>
          </a:p>
          <a:p>
            <a:pPr algn="l"/>
            <a:r>
              <a:rPr lang="es-ES" sz="1400" b="1" dirty="0" smtClean="0">
                <a:solidFill>
                  <a:schemeClr val="tx1"/>
                </a:solidFill>
              </a:rPr>
              <a:t>DOCENTE :  Dr. WILLIAMS ALMANZA QUISPE</a:t>
            </a:r>
          </a:p>
          <a:p>
            <a:pPr algn="l"/>
            <a:endParaRPr lang="es-ES" sz="1400" b="1" dirty="0">
              <a:solidFill>
                <a:schemeClr val="tx1"/>
              </a:solidFill>
            </a:endParaRPr>
          </a:p>
          <a:p>
            <a:pPr algn="l"/>
            <a:r>
              <a:rPr lang="es-ES" sz="1400" b="1" dirty="0" smtClean="0">
                <a:solidFill>
                  <a:schemeClr val="tx1"/>
                </a:solidFill>
              </a:rPr>
              <a:t>CICLO:   v  -  `` B``</a:t>
            </a:r>
          </a:p>
          <a:p>
            <a:pPr marL="457200" indent="-457200" algn="l">
              <a:buFont typeface="Arial" panose="020B0604020202020204" pitchFamily="34" charset="0"/>
              <a:buChar char="•"/>
            </a:pPr>
            <a:endParaRPr lang="es-ES" sz="1400" b="1" dirty="0" smtClean="0">
              <a:solidFill>
                <a:schemeClr val="tx1"/>
              </a:solidFill>
            </a:endParaRPr>
          </a:p>
          <a:p>
            <a:r>
              <a:rPr lang="es-ES" sz="1400" b="1" dirty="0" smtClean="0">
                <a:solidFill>
                  <a:schemeClr val="tx1"/>
                </a:solidFill>
              </a:rPr>
              <a:t>MOQUEGUA – PERÚ </a:t>
            </a:r>
          </a:p>
          <a:p>
            <a:r>
              <a:rPr lang="es-ES" sz="1400" b="1" dirty="0" smtClean="0">
                <a:solidFill>
                  <a:schemeClr val="tx1"/>
                </a:solidFill>
              </a:rPr>
              <a:t>2018</a:t>
            </a:r>
            <a:endParaRPr lang="es-ES" sz="1400" b="1" dirty="0">
              <a:solidFill>
                <a:schemeClr val="tx1"/>
              </a:solidFill>
            </a:endParaRPr>
          </a:p>
        </p:txBody>
      </p:sp>
    </p:spTree>
    <p:extLst>
      <p:ext uri="{BB962C8B-B14F-4D97-AF65-F5344CB8AC3E}">
        <p14:creationId xmlns:p14="http://schemas.microsoft.com/office/powerpoint/2010/main" val="26360337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solidFill>
                  <a:srgbClr val="FF0000"/>
                </a:solidFill>
              </a:rPr>
              <a:t>QUE ES LA VISCOSIDAD</a:t>
            </a:r>
            <a:endParaRPr lang="es-ES" dirty="0">
              <a:solidFill>
                <a:srgbClr val="FF0000"/>
              </a:solidFill>
            </a:endParaRPr>
          </a:p>
        </p:txBody>
      </p:sp>
      <p:sp>
        <p:nvSpPr>
          <p:cNvPr id="3" name="2 Marcador de contenido"/>
          <p:cNvSpPr>
            <a:spLocks noGrp="1"/>
          </p:cNvSpPr>
          <p:nvPr>
            <p:ph sz="quarter" idx="1"/>
          </p:nvPr>
        </p:nvSpPr>
        <p:spPr>
          <a:xfrm>
            <a:off x="683568" y="2213960"/>
            <a:ext cx="3822192" cy="3447288"/>
          </a:xfrm>
        </p:spPr>
        <p:txBody>
          <a:bodyPr>
            <a:normAutofit fontScale="92500"/>
          </a:bodyPr>
          <a:lstStyle/>
          <a:p>
            <a:pPr>
              <a:buFont typeface="Wingdings" panose="05000000000000000000" pitchFamily="2" charset="2"/>
              <a:buChar char="v"/>
            </a:pPr>
            <a:r>
              <a:rPr lang="es-ES" dirty="0" smtClean="0"/>
              <a:t> Es la magnitud física que mide  la resistencia interna  al flujo de un fluido.</a:t>
            </a:r>
          </a:p>
          <a:p>
            <a:pPr>
              <a:buFont typeface="Wingdings" panose="05000000000000000000" pitchFamily="2" charset="2"/>
              <a:buChar char="v"/>
            </a:pPr>
            <a:r>
              <a:rPr lang="es-ES" dirty="0" smtClean="0"/>
              <a:t>Las resistencias  es producto  de las fuerzas de interacción  de las moléculas que se deslizan unas contra otras.</a:t>
            </a:r>
            <a:endParaRPr lang="es-ES" dirty="0"/>
          </a:p>
        </p:txBody>
      </p:sp>
      <p:pic>
        <p:nvPicPr>
          <p:cNvPr id="1027" name="Picture 3"/>
          <p:cNvPicPr>
            <a:picLocks noGrp="1" noChangeAspect="1" noChangeArrowheads="1"/>
          </p:cNvPicPr>
          <p:nvPr>
            <p:ph sz="quarter" idx="2"/>
          </p:nvPr>
        </p:nvPicPr>
        <p:blipFill rotWithShape="1">
          <a:blip r:embed="rId2">
            <a:extLst>
              <a:ext uri="{28A0092B-C50C-407E-A947-70E740481C1C}">
                <a14:useLocalDpi xmlns:a14="http://schemas.microsoft.com/office/drawing/2010/main" val="0"/>
              </a:ext>
            </a:extLst>
          </a:blip>
          <a:srcRect l="35913" t="65603" r="31556" b="9162"/>
          <a:stretch/>
        </p:blipFill>
        <p:spPr bwMode="auto">
          <a:xfrm>
            <a:off x="5004048" y="1988840"/>
            <a:ext cx="3096344" cy="194171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3413383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smtClean="0">
                <a:solidFill>
                  <a:srgbClr val="FF0000"/>
                </a:solidFill>
              </a:rPr>
              <a:t>COMO PODEMOS APRECIARLA</a:t>
            </a:r>
            <a:endParaRPr lang="es-ES" dirty="0">
              <a:solidFill>
                <a:srgbClr val="FF0000"/>
              </a:solidFill>
            </a:endParaRPr>
          </a:p>
        </p:txBody>
      </p:sp>
      <p:sp>
        <p:nvSpPr>
          <p:cNvPr id="3" name="2 Marcador de contenido"/>
          <p:cNvSpPr>
            <a:spLocks noGrp="1"/>
          </p:cNvSpPr>
          <p:nvPr>
            <p:ph sz="quarter" idx="1"/>
          </p:nvPr>
        </p:nvSpPr>
        <p:spPr>
          <a:xfrm>
            <a:off x="676655" y="1916832"/>
            <a:ext cx="3822192" cy="4209648"/>
          </a:xfrm>
        </p:spPr>
        <p:txBody>
          <a:bodyPr>
            <a:normAutofit fontScale="92500"/>
          </a:bodyPr>
          <a:lstStyle/>
          <a:p>
            <a:pPr algn="just"/>
            <a:r>
              <a:rPr lang="es-ES" dirty="0" smtClean="0"/>
              <a:t>Una forma de apreciarla la viscosidad de un fluido es observando la facilidad  o dificultad que este tiene para adaptarse ala forma de un recipiente  o a fluir por un conducto. Como por ejemplo: la miel , el aceite  son mas viscosos. Y los menos viscosos son los gases . </a:t>
            </a:r>
            <a:endParaRPr lang="es-ES" dirty="0"/>
          </a:p>
        </p:txBody>
      </p:sp>
      <p:pic>
        <p:nvPicPr>
          <p:cNvPr id="5"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4645025" y="2060849"/>
            <a:ext cx="3822700" cy="33938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5 Rectángulo"/>
          <p:cNvSpPr/>
          <p:nvPr/>
        </p:nvSpPr>
        <p:spPr>
          <a:xfrm>
            <a:off x="4788024" y="5553236"/>
            <a:ext cx="3168352"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smtClean="0">
                <a:solidFill>
                  <a:srgbClr val="FF0000"/>
                </a:solidFill>
                <a:latin typeface="Aharoni" panose="02010803020104030203" pitchFamily="2" charset="-79"/>
                <a:cs typeface="Aharoni" panose="02010803020104030203" pitchFamily="2" charset="-79"/>
              </a:rPr>
              <a:t>La miel</a:t>
            </a:r>
            <a:endParaRPr lang="es-ES" sz="2400" dirty="0">
              <a:solidFill>
                <a:srgbClr val="FF0000"/>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0038966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solidFill>
                  <a:srgbClr val="FF0000"/>
                </a:solidFill>
              </a:rPr>
              <a:t>Variedad de la viscosidad</a:t>
            </a:r>
            <a:endParaRPr lang="es-ES" dirty="0">
              <a:solidFill>
                <a:srgbClr val="FF0000"/>
              </a:solidFill>
            </a:endParaRPr>
          </a:p>
        </p:txBody>
      </p:sp>
      <p:sp>
        <p:nvSpPr>
          <p:cNvPr id="3" name="2 Marcador de contenido"/>
          <p:cNvSpPr>
            <a:spLocks noGrp="1"/>
          </p:cNvSpPr>
          <p:nvPr>
            <p:ph sz="quarter" idx="1"/>
          </p:nvPr>
        </p:nvSpPr>
        <p:spPr>
          <a:xfrm>
            <a:off x="683568" y="2204864"/>
            <a:ext cx="3822192" cy="3672408"/>
          </a:xfrm>
        </p:spPr>
        <p:txBody>
          <a:bodyPr>
            <a:normAutofit fontScale="85000" lnSpcReduction="20000"/>
          </a:bodyPr>
          <a:lstStyle/>
          <a:p>
            <a:pPr marL="301943" lvl="1" indent="0">
              <a:buNone/>
            </a:pPr>
            <a:r>
              <a:rPr lang="es-ES_tradnl" sz="2400" b="1" dirty="0"/>
              <a:t>Viscosidad </a:t>
            </a:r>
            <a:r>
              <a:rPr lang="es-ES_tradnl" sz="2400" b="1" dirty="0" smtClean="0"/>
              <a:t>dinámica</a:t>
            </a:r>
          </a:p>
          <a:p>
            <a:pPr marL="301943" lvl="1" indent="0">
              <a:buNone/>
            </a:pPr>
            <a:endParaRPr lang="es-ES" sz="2400" b="1" dirty="0"/>
          </a:p>
          <a:p>
            <a:pPr marL="0" indent="0">
              <a:buNone/>
            </a:pPr>
            <a:r>
              <a:rPr lang="es-ES_tradnl" dirty="0"/>
              <a:t>Cuando un fluido se mueve, se desarrolla en él una tensión de corte, cuya magnitud depende de la viscosidad del fluido </a:t>
            </a:r>
            <a:r>
              <a:rPr lang="es-ES_tradnl" i="1" dirty="0"/>
              <a:t>(</a:t>
            </a:r>
            <a:r>
              <a:rPr lang="es-ES_tradnl" i="1" dirty="0" err="1"/>
              <a:t>Mott</a:t>
            </a:r>
            <a:r>
              <a:rPr lang="es-ES_tradnl" i="1" dirty="0"/>
              <a:t>, 1975. Pág. ).</a:t>
            </a:r>
            <a:endParaRPr lang="es-ES" sz="2000" dirty="0"/>
          </a:p>
          <a:p>
            <a:pPr marL="0" indent="0">
              <a:buNone/>
            </a:pPr>
            <a:r>
              <a:rPr lang="es-ES_tradnl" dirty="0"/>
              <a:t>Esto nos lleva al método común de definir la magnitud de la viscosidad para mediciones en términos de flujo simple </a:t>
            </a:r>
            <a:r>
              <a:rPr lang="es-ES_tradnl" i="1" dirty="0"/>
              <a:t>(</a:t>
            </a:r>
            <a:r>
              <a:rPr lang="es-ES_tradnl" i="1" dirty="0" err="1"/>
              <a:t>Daily</a:t>
            </a:r>
            <a:r>
              <a:rPr lang="es-ES_tradnl" i="1" dirty="0"/>
              <a:t>, 1975. Pág. </a:t>
            </a:r>
            <a:r>
              <a:rPr lang="es-ES_tradnl" i="1" dirty="0" smtClean="0"/>
              <a:t>).</a:t>
            </a:r>
            <a:endParaRPr lang="es-ES" sz="2000" dirty="0"/>
          </a:p>
        </p:txBody>
      </p:sp>
      <mc:AlternateContent xmlns:mc="http://schemas.openxmlformats.org/markup-compatibility/2006" xmlns:a14="http://schemas.microsoft.com/office/drawing/2010/main">
        <mc:Choice Requires="a14">
          <p:sp>
            <p:nvSpPr>
              <p:cNvPr id="4" name="3 Marcador de contenido"/>
              <p:cNvSpPr>
                <a:spLocks noGrp="1"/>
              </p:cNvSpPr>
              <p:nvPr>
                <p:ph sz="quarter" idx="2"/>
              </p:nvPr>
            </p:nvSpPr>
            <p:spPr>
              <a:xfrm>
                <a:off x="4645152" y="2060848"/>
                <a:ext cx="3822192" cy="4065632"/>
              </a:xfrm>
            </p:spPr>
            <p:txBody>
              <a:bodyPr>
                <a:normAutofit fontScale="85000" lnSpcReduction="20000"/>
              </a:bodyPr>
              <a:lstStyle/>
              <a:p>
                <a:pPr marL="0" indent="0">
                  <a:buNone/>
                </a:pPr>
                <a:endParaRPr lang="es-ES_tradnl" i="1" dirty="0" smtClean="0">
                  <a:latin typeface="Cambria Math"/>
                </a:endParaRPr>
              </a:p>
              <a:p>
                <a:pPr marL="0" indent="0">
                  <a:buNone/>
                </a:pPr>
                <a:r>
                  <a:rPr lang="es-ES_tradnl" dirty="0"/>
                  <a:t>Unidad de la viscosidad dinámica</a:t>
                </a:r>
                <a:r>
                  <a:rPr lang="es-ES_tradnl" dirty="0" smtClean="0"/>
                  <a:t>:</a:t>
                </a:r>
              </a:p>
              <a:p>
                <a:pPr marL="0" indent="0">
                  <a:buNone/>
                </a:pPr>
                <a:endParaRPr lang="es-ES" sz="2000" dirty="0"/>
              </a:p>
              <a:p>
                <a:pPr marL="0" indent="0" algn="ctr">
                  <a:buNone/>
                </a:pPr>
                <a:r>
                  <a:rPr lang="es-ES_tradnl" dirty="0"/>
                  <a:t> </a:t>
                </a:r>
                <a:r>
                  <a:rPr lang="es-ES_tradnl" dirty="0" smtClean="0"/>
                  <a:t>Sistema Internacional : N.s/</a:t>
                </a:r>
                <a14:m>
                  <m:oMath xmlns:m="http://schemas.openxmlformats.org/officeDocument/2006/math">
                    <m:sSup>
                      <m:sSupPr>
                        <m:ctrlPr>
                          <a:rPr lang="es-ES_tradnl" i="1" smtClean="0">
                            <a:latin typeface="Cambria Math"/>
                          </a:rPr>
                        </m:ctrlPr>
                      </m:sSupPr>
                      <m:e>
                        <m:r>
                          <a:rPr lang="es-ES" b="0" i="1" smtClean="0">
                            <a:latin typeface="Cambria Math"/>
                          </a:rPr>
                          <m:t>𝑚</m:t>
                        </m:r>
                      </m:e>
                      <m:sup>
                        <m:r>
                          <a:rPr lang="es-ES_tradnl" i="1" smtClean="0">
                            <a:latin typeface="Cambria Math"/>
                          </a:rPr>
                          <m:t>2</m:t>
                        </m:r>
                      </m:sup>
                    </m:sSup>
                  </m:oMath>
                </a14:m>
                <a:endParaRPr lang="es-ES_tradnl" i="1" dirty="0">
                  <a:latin typeface="Cambria Math"/>
                </a:endParaRPr>
              </a:p>
              <a:p>
                <a:pPr marL="0" indent="0">
                  <a:buNone/>
                </a:pPr>
                <a14:m>
                  <m:oMath xmlns:m="http://schemas.openxmlformats.org/officeDocument/2006/math">
                    <m:r>
                      <a:rPr lang="es-ES_tradnl" i="1">
                        <a:latin typeface="Cambria Math"/>
                      </a:rPr>
                      <m:t>1</m:t>
                    </m:r>
                    <m:f>
                      <m:fPr>
                        <m:ctrlPr>
                          <a:rPr lang="es-ES" i="1">
                            <a:latin typeface="Cambria Math"/>
                          </a:rPr>
                        </m:ctrlPr>
                      </m:fPr>
                      <m:num>
                        <m:r>
                          <a:rPr lang="es-ES_tradnl" i="1">
                            <a:latin typeface="Cambria Math"/>
                          </a:rPr>
                          <m:t>1</m:t>
                        </m:r>
                        <m:r>
                          <a:rPr lang="es-ES_tradnl" i="1">
                            <a:latin typeface="Cambria Math"/>
                          </a:rPr>
                          <m:t>𝑔</m:t>
                        </m:r>
                      </m:num>
                      <m:den>
                        <m:r>
                          <a:rPr lang="es-ES_tradnl" i="1">
                            <a:latin typeface="Cambria Math"/>
                          </a:rPr>
                          <m:t>𝑐𝑚</m:t>
                        </m:r>
                        <m:r>
                          <a:rPr lang="es-ES_tradnl" i="1">
                            <a:latin typeface="Cambria Math"/>
                          </a:rPr>
                          <m:t>.</m:t>
                        </m:r>
                        <m:r>
                          <a:rPr lang="es-ES_tradnl" i="1">
                            <a:latin typeface="Cambria Math"/>
                          </a:rPr>
                          <m:t>𝑠</m:t>
                        </m:r>
                      </m:den>
                    </m:f>
                    <m:r>
                      <a:rPr lang="es-ES_tradnl" i="1">
                        <a:latin typeface="Cambria Math"/>
                      </a:rPr>
                      <m:t>=1 </m:t>
                    </m:r>
                    <m:r>
                      <a:rPr lang="es-ES_tradnl" i="1">
                        <a:latin typeface="Cambria Math"/>
                      </a:rPr>
                      <m:t>𝑝𝑜𝑖𝑠𝑒</m:t>
                    </m:r>
                    <m:r>
                      <a:rPr lang="es-ES_tradnl" i="1">
                        <a:latin typeface="Cambria Math"/>
                      </a:rPr>
                      <m:t> (</m:t>
                    </m:r>
                    <m:r>
                      <a:rPr lang="es-ES_tradnl" i="1">
                        <a:latin typeface="Cambria Math"/>
                      </a:rPr>
                      <m:t>𝑝</m:t>
                    </m:r>
                    <m:r>
                      <a:rPr lang="es-ES_tradnl" i="1">
                        <a:latin typeface="Cambria Math"/>
                      </a:rPr>
                      <m:t>)</m:t>
                    </m:r>
                  </m:oMath>
                </a14:m>
                <a:r>
                  <a:rPr lang="es-ES_tradnl" dirty="0" smtClean="0"/>
                  <a:t>…. </a:t>
                </a:r>
                <a:r>
                  <a:rPr lang="es-ES_tradnl" dirty="0"/>
                  <a:t>(6)</a:t>
                </a:r>
                <a:endParaRPr lang="es-ES" sz="1800" dirty="0"/>
              </a:p>
              <a:p>
                <a:endParaRPr lang="es-ES" dirty="0"/>
              </a:p>
            </p:txBody>
          </p:sp>
        </mc:Choice>
        <mc:Fallback xmlns="">
          <p:sp>
            <p:nvSpPr>
              <p:cNvPr id="4" name="3 Marcador de contenido"/>
              <p:cNvSpPr>
                <a:spLocks noGrp="1" noRot="1" noChangeAspect="1" noMove="1" noResize="1" noEditPoints="1" noAdjustHandles="1" noChangeArrowheads="1" noChangeShapeType="1" noTextEdit="1"/>
              </p:cNvSpPr>
              <p:nvPr>
                <p:ph sz="quarter" idx="2"/>
              </p:nvPr>
            </p:nvSpPr>
            <p:spPr>
              <a:xfrm>
                <a:off x="4645152" y="2060848"/>
                <a:ext cx="3822192" cy="4065632"/>
              </a:xfrm>
              <a:blipFill rotWithShape="1">
                <a:blip r:embed="rId2"/>
                <a:stretch>
                  <a:fillRect l="-1595"/>
                </a:stretch>
              </a:blipFill>
            </p:spPr>
            <p:txBody>
              <a:bodyPr/>
              <a:lstStyle/>
              <a:p>
                <a:r>
                  <a:rPr lang="es-ES">
                    <a:noFill/>
                  </a:rPr>
                  <a:t> </a:t>
                </a:r>
              </a:p>
            </p:txBody>
          </p:sp>
        </mc:Fallback>
      </mc:AlternateContent>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0882" t="56452" r="67921" b="24193"/>
          <a:stretch/>
        </p:blipFill>
        <p:spPr bwMode="auto">
          <a:xfrm>
            <a:off x="4598509" y="4293096"/>
            <a:ext cx="3948244" cy="17268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52778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38328"/>
            <a:ext cx="8229600" cy="1074448"/>
          </a:xfrm>
        </p:spPr>
        <p:txBody>
          <a:bodyPr>
            <a:normAutofit/>
          </a:bodyPr>
          <a:lstStyle/>
          <a:p>
            <a:pPr lvl="1" algn="ctr" rtl="0">
              <a:spcBef>
                <a:spcPct val="0"/>
              </a:spcBef>
            </a:pPr>
            <a:r>
              <a:rPr lang="es-ES_tradnl" sz="2800" b="1" dirty="0">
                <a:solidFill>
                  <a:srgbClr val="C00000"/>
                </a:solidFill>
                <a:latin typeface="Aharoni" panose="02010803020104030203" pitchFamily="2" charset="-79"/>
                <a:cs typeface="Aharoni" panose="02010803020104030203" pitchFamily="2" charset="-79"/>
              </a:rPr>
              <a:t>Viscosidad cinemática</a:t>
            </a:r>
            <a:r>
              <a:rPr lang="es-ES" sz="2800" b="1" dirty="0">
                <a:solidFill>
                  <a:srgbClr val="C00000"/>
                </a:solidFill>
                <a:latin typeface="Aharoni" panose="02010803020104030203" pitchFamily="2" charset="-79"/>
                <a:cs typeface="Aharoni" panose="02010803020104030203" pitchFamily="2" charset="-79"/>
              </a:rPr>
              <a:t/>
            </a:r>
            <a:br>
              <a:rPr lang="es-ES" sz="2800" b="1" dirty="0">
                <a:solidFill>
                  <a:srgbClr val="C00000"/>
                </a:solidFill>
                <a:latin typeface="Aharoni" panose="02010803020104030203" pitchFamily="2" charset="-79"/>
                <a:cs typeface="Aharoni" panose="02010803020104030203" pitchFamily="2" charset="-79"/>
              </a:rPr>
            </a:br>
            <a:endParaRPr lang="es-ES" sz="2800" dirty="0">
              <a:solidFill>
                <a:srgbClr val="C00000"/>
              </a:solidFill>
              <a:latin typeface="Aharoni" panose="02010803020104030203" pitchFamily="2" charset="-79"/>
              <a:cs typeface="Aharoni" panose="02010803020104030203" pitchFamily="2" charset="-79"/>
            </a:endParaRPr>
          </a:p>
        </p:txBody>
      </p:sp>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676655" y="1700808"/>
                <a:ext cx="3822192" cy="4425672"/>
              </a:xfrm>
            </p:spPr>
            <p:txBody>
              <a:bodyPr>
                <a:normAutofit/>
              </a:bodyPr>
              <a:lstStyle/>
              <a:p>
                <a:r>
                  <a:rPr lang="es-ES_tradnl" dirty="0"/>
                  <a:t>La relación de la ecuación pertenece frecuentemente cuando trabajamos con dinámica de fluidos.</a:t>
                </a:r>
                <a:endParaRPr lang="es-ES" dirty="0"/>
              </a:p>
              <a:p>
                <a:pPr marL="0" indent="0" algn="ctr">
                  <a:buNone/>
                </a:pPr>
                <a14:m>
                  <m:oMath xmlns:m="http://schemas.openxmlformats.org/officeDocument/2006/math">
                    <m:r>
                      <a:rPr lang="es-ES_tradnl" sz="2800" b="1" i="1">
                        <a:latin typeface="Cambria Math"/>
                      </a:rPr>
                      <m:t>𝒗</m:t>
                    </m:r>
                    <m:r>
                      <a:rPr lang="es-ES_tradnl" sz="2800" b="1" i="1">
                        <a:latin typeface="Cambria Math"/>
                      </a:rPr>
                      <m:t>=</m:t>
                    </m:r>
                    <m:f>
                      <m:fPr>
                        <m:ctrlPr>
                          <a:rPr lang="es-ES" sz="2800" b="1" i="1">
                            <a:latin typeface="Cambria Math"/>
                          </a:rPr>
                        </m:ctrlPr>
                      </m:fPr>
                      <m:num>
                        <m:r>
                          <a:rPr lang="es-ES_tradnl" sz="2800" b="1" i="1">
                            <a:latin typeface="Cambria Math"/>
                          </a:rPr>
                          <m:t>𝝁</m:t>
                        </m:r>
                      </m:num>
                      <m:den>
                        <m:r>
                          <a:rPr lang="es-ES_tradnl" sz="2800" b="1" i="1">
                            <a:latin typeface="Cambria Math"/>
                          </a:rPr>
                          <m:t>𝝆</m:t>
                        </m:r>
                      </m:den>
                    </m:f>
                  </m:oMath>
                </a14:m>
                <a:r>
                  <a:rPr lang="es-ES_tradnl" sz="2800" b="1" dirty="0"/>
                  <a:t>  </a:t>
                </a:r>
                <a:endParaRPr lang="es-ES_tradnl" sz="2800" b="1" dirty="0" smtClean="0"/>
              </a:p>
              <a:p>
                <a:pPr marL="0" indent="0">
                  <a:buNone/>
                </a:pPr>
                <a:r>
                  <a:rPr lang="es-ES_tradnl" i="1" dirty="0" smtClean="0"/>
                  <a:t>Dónde</a:t>
                </a:r>
                <a:r>
                  <a:rPr lang="es-ES_tradnl" i="1" dirty="0"/>
                  <a:t>: </a:t>
                </a:r>
                <a:endParaRPr lang="es-ES" dirty="0"/>
              </a:p>
              <a:p>
                <a:pPr marL="0" indent="0">
                  <a:buNone/>
                </a:pPr>
                <a14:m>
                  <m:oMathPara xmlns:m="http://schemas.openxmlformats.org/officeDocument/2006/math">
                    <m:oMathParaPr>
                      <m:jc m:val="centerGroup"/>
                    </m:oMathParaPr>
                    <m:oMath xmlns:m="http://schemas.openxmlformats.org/officeDocument/2006/math">
                      <m:r>
                        <a:rPr lang="es-ES_tradnl" i="1" cap="all">
                          <a:latin typeface="Cambria Math"/>
                        </a:rPr>
                        <m:t>𝑣</m:t>
                      </m:r>
                      <m:r>
                        <a:rPr lang="es-ES_tradnl" i="1" cap="all">
                          <a:latin typeface="Cambria Math"/>
                        </a:rPr>
                        <m:t>=</m:t>
                      </m:r>
                      <m:r>
                        <a:rPr lang="es-ES_tradnl" i="1" cap="all">
                          <a:latin typeface="Cambria Math"/>
                        </a:rPr>
                        <m:t>𝑣𝑖𝑠𝑐𝑜𝑠𝑖𝑑𝑎𝑑</m:t>
                      </m:r>
                      <m:r>
                        <a:rPr lang="es-ES_tradnl" i="1" cap="all">
                          <a:latin typeface="Cambria Math"/>
                        </a:rPr>
                        <m:t> </m:t>
                      </m:r>
                      <m:r>
                        <a:rPr lang="es-ES_tradnl" i="1" cap="all">
                          <a:latin typeface="Cambria Math"/>
                        </a:rPr>
                        <m:t>𝑐𝑖𝑛𝑒𝑚𝑎𝑡𝑖𝑐𝑎</m:t>
                      </m:r>
                    </m:oMath>
                  </m:oMathPara>
                </a14:m>
                <a:endParaRPr lang="es-ES" dirty="0"/>
              </a:p>
              <a:p>
                <a:pPr marL="0" indent="0">
                  <a:buNone/>
                </a:pPr>
                <a14:m>
                  <m:oMathPara xmlns:m="http://schemas.openxmlformats.org/officeDocument/2006/math">
                    <m:oMathParaPr>
                      <m:jc m:val="centerGroup"/>
                    </m:oMathParaPr>
                    <m:oMath xmlns:m="http://schemas.openxmlformats.org/officeDocument/2006/math">
                      <m:r>
                        <a:rPr lang="es-ES_tradnl" i="1">
                          <a:latin typeface="Cambria Math"/>
                        </a:rPr>
                        <m:t>𝜇</m:t>
                      </m:r>
                      <m:r>
                        <a:rPr lang="es-ES_tradnl" i="1">
                          <a:latin typeface="Cambria Math"/>
                        </a:rPr>
                        <m:t>=</m:t>
                      </m:r>
                      <m:r>
                        <a:rPr lang="es-ES_tradnl" i="1">
                          <a:latin typeface="Cambria Math"/>
                        </a:rPr>
                        <m:t>𝑣𝑖𝑠𝑐𝑜𝑠𝑖𝑑𝑎𝑑</m:t>
                      </m:r>
                      <m:r>
                        <a:rPr lang="es-ES_tradnl" i="1">
                          <a:latin typeface="Cambria Math"/>
                        </a:rPr>
                        <m:t> </m:t>
                      </m:r>
                      <m:r>
                        <a:rPr lang="es-ES_tradnl" i="1">
                          <a:latin typeface="Cambria Math"/>
                        </a:rPr>
                        <m:t>𝑑𝑖𝑛𝑎𝑚𝑖𝑐𝑎</m:t>
                      </m:r>
                    </m:oMath>
                  </m:oMathPara>
                </a14:m>
                <a:endParaRPr lang="es-ES" dirty="0" smtClean="0"/>
              </a:p>
              <a:p>
                <a:pPr marL="0" indent="0">
                  <a:buNone/>
                </a:pPr>
                <a14:m>
                  <m:oMathPara xmlns:m="http://schemas.openxmlformats.org/officeDocument/2006/math">
                    <m:oMathParaPr>
                      <m:jc m:val="centerGroup"/>
                    </m:oMathParaPr>
                    <m:oMath xmlns:m="http://schemas.openxmlformats.org/officeDocument/2006/math">
                      <m:r>
                        <a:rPr lang="es-ES_tradnl" i="1">
                          <a:latin typeface="Cambria Math"/>
                        </a:rPr>
                        <m:t>𝜌</m:t>
                      </m:r>
                      <m:r>
                        <a:rPr lang="es-ES_tradnl" i="1">
                          <a:latin typeface="Cambria Math"/>
                        </a:rPr>
                        <m:t>=</m:t>
                      </m:r>
                      <m:r>
                        <a:rPr lang="es-ES_tradnl" i="1">
                          <a:latin typeface="Cambria Math"/>
                        </a:rPr>
                        <m:t>𝑑𝑒𝑛𝑠𝑖𝑑𝑎𝑑</m:t>
                      </m:r>
                      <m:r>
                        <a:rPr lang="es-ES_tradnl" i="1">
                          <a:latin typeface="Cambria Math"/>
                        </a:rPr>
                        <m:t> </m:t>
                      </m:r>
                      <m:r>
                        <a:rPr lang="es-ES_tradnl" i="1">
                          <a:latin typeface="Cambria Math"/>
                        </a:rPr>
                        <m:t>𝑑𝑒𝑙</m:t>
                      </m:r>
                      <m:r>
                        <a:rPr lang="es-ES_tradnl" i="1">
                          <a:latin typeface="Cambria Math"/>
                        </a:rPr>
                        <m:t> </m:t>
                      </m:r>
                      <m:r>
                        <a:rPr lang="es-ES_tradnl" i="1">
                          <a:latin typeface="Cambria Math"/>
                        </a:rPr>
                        <m:t>𝑓𝑙𝑢𝑖𝑑𝑜</m:t>
                      </m:r>
                    </m:oMath>
                  </m:oMathPara>
                </a14:m>
                <a:endParaRPr lang="es-ES" dirty="0"/>
              </a:p>
              <a:p>
                <a:pPr marL="0" indent="0">
                  <a:buNone/>
                </a:pPr>
                <a:endParaRPr lang="es-ES" dirty="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676655" y="1700808"/>
                <a:ext cx="3822192" cy="4425672"/>
              </a:xfrm>
              <a:blipFill rotWithShape="1">
                <a:blip r:embed="rId2"/>
                <a:stretch>
                  <a:fillRect l="-2392" t="-1102" r="-255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3 Marcador de contenido"/>
              <p:cNvSpPr>
                <a:spLocks noGrp="1"/>
              </p:cNvSpPr>
              <p:nvPr>
                <p:ph sz="quarter" idx="2"/>
              </p:nvPr>
            </p:nvSpPr>
            <p:spPr>
              <a:xfrm>
                <a:off x="4645152" y="1700808"/>
                <a:ext cx="3822192" cy="4425672"/>
              </a:xfrm>
            </p:spPr>
            <p:txBody>
              <a:bodyPr>
                <a:normAutofit/>
              </a:bodyPr>
              <a:lstStyle/>
              <a:p>
                <a:pPr marL="0" indent="0">
                  <a:buNone/>
                </a:pPr>
                <a:r>
                  <a:rPr lang="es-ES_tradnl" dirty="0" smtClean="0"/>
                  <a:t>Unidad de la viscosidad cinemática:</a:t>
                </a:r>
              </a:p>
              <a:p>
                <a:pPr marL="0" indent="0">
                  <a:buNone/>
                </a:pPr>
                <a:endParaRPr lang="es-ES_tradnl" dirty="0" smtClean="0"/>
              </a:p>
              <a:p>
                <a:pPr marL="0" indent="0" algn="ctr">
                  <a:buNone/>
                </a:pPr>
                <a:r>
                  <a:rPr lang="es-ES" dirty="0" smtClean="0"/>
                  <a:t>   Sistema Internacional : </a:t>
                </a:r>
                <a14:m>
                  <m:oMath xmlns:m="http://schemas.openxmlformats.org/officeDocument/2006/math">
                    <m:sSup>
                      <m:sSupPr>
                        <m:ctrlPr>
                          <a:rPr lang="es-ES" i="1" smtClean="0">
                            <a:latin typeface="Cambria Math"/>
                          </a:rPr>
                        </m:ctrlPr>
                      </m:sSupPr>
                      <m:e>
                        <m:r>
                          <a:rPr lang="es-ES" b="0" i="1" smtClean="0">
                            <a:latin typeface="Cambria Math"/>
                          </a:rPr>
                          <m:t>𝑚</m:t>
                        </m:r>
                        <m:r>
                          <a:rPr lang="es-ES" b="0" i="1" smtClean="0">
                            <a:latin typeface="Cambria Math"/>
                          </a:rPr>
                          <m:t>/</m:t>
                        </m:r>
                        <m:r>
                          <a:rPr lang="es-ES" b="0" i="1" smtClean="0">
                            <a:latin typeface="Cambria Math"/>
                          </a:rPr>
                          <m:t>𝑠</m:t>
                        </m:r>
                      </m:e>
                      <m:sup>
                        <m:r>
                          <a:rPr lang="es-ES" i="1" smtClean="0">
                            <a:latin typeface="Cambria Math"/>
                          </a:rPr>
                          <m:t>2</m:t>
                        </m:r>
                      </m:sup>
                    </m:sSup>
                  </m:oMath>
                </a14:m>
                <a:endParaRPr lang="es-ES" i="1" dirty="0" smtClean="0">
                  <a:latin typeface="Cambria Math"/>
                </a:endParaRPr>
              </a:p>
              <a:p>
                <a:pPr marL="0" indent="0">
                  <a:buNone/>
                </a:pPr>
                <a14:m>
                  <m:oMathPara xmlns:m="http://schemas.openxmlformats.org/officeDocument/2006/math">
                    <m:oMathParaPr>
                      <m:jc m:val="centerGroup"/>
                    </m:oMathParaPr>
                    <m:oMath xmlns:m="http://schemas.openxmlformats.org/officeDocument/2006/math">
                      <m:r>
                        <a:rPr lang="es-ES_tradnl" i="1" cap="all">
                          <a:latin typeface="Cambria Math"/>
                        </a:rPr>
                        <m:t>1 </m:t>
                      </m:r>
                      <m:r>
                        <a:rPr lang="es-ES_tradnl" i="1" cap="all">
                          <a:latin typeface="Cambria Math"/>
                        </a:rPr>
                        <m:t>𝑠𝑡𝑜𝑘𝑒</m:t>
                      </m:r>
                      <m:r>
                        <a:rPr lang="es-ES_tradnl" i="1" cap="all">
                          <a:latin typeface="Cambria Math"/>
                        </a:rPr>
                        <m:t>=100 </m:t>
                      </m:r>
                      <m:r>
                        <a:rPr lang="es-ES_tradnl" i="1" cap="all">
                          <a:latin typeface="Cambria Math"/>
                        </a:rPr>
                        <m:t>𝑐𝑒𝑛𝑡𝑖𝑠𝑡𝑜𝑘𝑒</m:t>
                      </m:r>
                    </m:oMath>
                  </m:oMathPara>
                </a14:m>
                <a:endParaRPr lang="es-ES" i="1" cap="all" dirty="0" smtClean="0"/>
              </a:p>
              <a:p>
                <a:pPr marL="0" indent="0">
                  <a:buNone/>
                </a:pPr>
                <a14:m>
                  <m:oMathPara xmlns:m="http://schemas.openxmlformats.org/officeDocument/2006/math">
                    <m:oMathParaPr>
                      <m:jc m:val="centerGroup"/>
                    </m:oMathParaPr>
                    <m:oMath xmlns:m="http://schemas.openxmlformats.org/officeDocument/2006/math">
                      <m:r>
                        <a:rPr lang="es-ES_tradnl" i="1" cap="all">
                          <a:latin typeface="Cambria Math"/>
                        </a:rPr>
                        <m:t>=</m:t>
                      </m:r>
                      <m:f>
                        <m:fPr>
                          <m:ctrlPr>
                            <a:rPr lang="es-ES" i="1" cap="all">
                              <a:latin typeface="Cambria Math"/>
                            </a:rPr>
                          </m:ctrlPr>
                        </m:fPr>
                        <m:num>
                          <m:sSup>
                            <m:sSupPr>
                              <m:ctrlPr>
                                <a:rPr lang="es-ES" i="1" cap="all">
                                  <a:latin typeface="Cambria Math"/>
                                </a:rPr>
                              </m:ctrlPr>
                            </m:sSupPr>
                            <m:e>
                              <m:r>
                                <a:rPr lang="es-ES_tradnl" i="1" cap="all">
                                  <a:latin typeface="Cambria Math"/>
                                </a:rPr>
                                <m:t>𝑐𝑚</m:t>
                              </m:r>
                            </m:e>
                            <m:sup>
                              <m:r>
                                <a:rPr lang="es-ES_tradnl" i="1" cap="all">
                                  <a:latin typeface="Cambria Math"/>
                                </a:rPr>
                                <m:t>2</m:t>
                              </m:r>
                            </m:sup>
                          </m:sSup>
                        </m:num>
                        <m:den>
                          <m:r>
                            <a:rPr lang="es-ES_tradnl" i="1" cap="all">
                              <a:latin typeface="Cambria Math"/>
                            </a:rPr>
                            <m:t>𝑠</m:t>
                          </m:r>
                        </m:den>
                      </m:f>
                    </m:oMath>
                  </m:oMathPara>
                </a14:m>
                <a:endParaRPr lang="es-ES" dirty="0"/>
              </a:p>
              <a:p>
                <a:endParaRPr lang="es-ES" dirty="0"/>
              </a:p>
            </p:txBody>
          </p:sp>
        </mc:Choice>
        <mc:Fallback xmlns="">
          <p:sp>
            <p:nvSpPr>
              <p:cNvPr id="4" name="3 Marcador de contenido"/>
              <p:cNvSpPr>
                <a:spLocks noGrp="1" noRot="1" noChangeAspect="1" noMove="1" noResize="1" noEditPoints="1" noAdjustHandles="1" noChangeArrowheads="1" noChangeShapeType="1" noTextEdit="1"/>
              </p:cNvSpPr>
              <p:nvPr>
                <p:ph sz="quarter" idx="2"/>
              </p:nvPr>
            </p:nvSpPr>
            <p:spPr>
              <a:xfrm>
                <a:off x="4645152" y="1700808"/>
                <a:ext cx="3822192" cy="4425672"/>
              </a:xfrm>
              <a:blipFill rotWithShape="1">
                <a:blip r:embed="rId3"/>
                <a:stretch>
                  <a:fillRect l="-2392" t="-1102" r="-3349"/>
                </a:stretch>
              </a:blipFill>
            </p:spPr>
            <p:txBody>
              <a:bodyPr/>
              <a:lstStyle/>
              <a:p>
                <a:r>
                  <a:rPr lang="es-ES">
                    <a:noFill/>
                  </a:rPr>
                  <a:t> </a:t>
                </a:r>
              </a:p>
            </p:txBody>
          </p:sp>
        </mc:Fallback>
      </mc:AlternateContent>
      <p:pic>
        <p:nvPicPr>
          <p:cNvPr id="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11293" t="55241" r="75192" b="29375"/>
          <a:stretch/>
        </p:blipFill>
        <p:spPr bwMode="auto">
          <a:xfrm>
            <a:off x="4932040" y="4886022"/>
            <a:ext cx="2736304" cy="1661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32112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solidFill>
                  <a:srgbClr val="C00000"/>
                </a:solidFill>
              </a:rPr>
              <a:t>Como se mide la viscosidad</a:t>
            </a:r>
            <a:endParaRPr lang="es-ES" dirty="0">
              <a:solidFill>
                <a:srgbClr val="C00000"/>
              </a:solidFill>
            </a:endParaRPr>
          </a:p>
        </p:txBody>
      </p:sp>
      <p:sp>
        <p:nvSpPr>
          <p:cNvPr id="3" name="2 Marcador de contenido"/>
          <p:cNvSpPr>
            <a:spLocks noGrp="1"/>
          </p:cNvSpPr>
          <p:nvPr>
            <p:ph sz="quarter" idx="1"/>
          </p:nvPr>
        </p:nvSpPr>
        <p:spPr>
          <a:xfrm>
            <a:off x="683568" y="1628800"/>
            <a:ext cx="3822192" cy="4425672"/>
          </a:xfrm>
        </p:spPr>
        <p:txBody>
          <a:bodyPr>
            <a:normAutofit/>
          </a:bodyPr>
          <a:lstStyle/>
          <a:p>
            <a:pPr marL="0" indent="0">
              <a:buNone/>
            </a:pPr>
            <a:endParaRPr lang="es-ES" dirty="0" smtClean="0"/>
          </a:p>
          <a:p>
            <a:pPr marL="0" indent="0">
              <a:buNone/>
            </a:pPr>
            <a:endParaRPr lang="es-ES" dirty="0"/>
          </a:p>
          <a:p>
            <a:r>
              <a:rPr lang="es-ES" dirty="0" smtClean="0"/>
              <a:t>La viscometro es un instrumento  empleado para medir  las viscosidades  y algunos otros parámetros de flujo de un fluido .</a:t>
            </a:r>
          </a:p>
          <a:p>
            <a:endParaRPr lang="es-ES" dirty="0"/>
          </a:p>
        </p:txBody>
      </p:sp>
      <p:pic>
        <p:nvPicPr>
          <p:cNvPr id="3074"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tretch>
            <a:fillRect/>
          </a:stretch>
        </p:blipFill>
        <p:spPr bwMode="auto">
          <a:xfrm>
            <a:off x="4483627" y="1600200"/>
            <a:ext cx="3231095"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15146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14400" y="836712"/>
            <a:ext cx="8229600" cy="576064"/>
          </a:xfrm>
        </p:spPr>
        <p:txBody>
          <a:bodyPr>
            <a:normAutofit fontScale="90000"/>
          </a:bodyPr>
          <a:lstStyle/>
          <a:p>
            <a:pPr lvl="0"/>
            <a:r>
              <a:rPr lang="es-ES_tradnl" b="1" dirty="0">
                <a:solidFill>
                  <a:srgbClr val="FF0000"/>
                </a:solidFill>
              </a:rPr>
              <a:t>Fluidos viscosos</a:t>
            </a:r>
            <a:r>
              <a:rPr lang="es-ES" b="1" dirty="0">
                <a:solidFill>
                  <a:srgbClr val="FF0000"/>
                </a:solidFill>
              </a:rPr>
              <a:t/>
            </a:r>
            <a:br>
              <a:rPr lang="es-ES" b="1" dirty="0">
                <a:solidFill>
                  <a:srgbClr val="FF0000"/>
                </a:solidFill>
              </a:rPr>
            </a:br>
            <a:endParaRPr lang="es-ES" dirty="0">
              <a:solidFill>
                <a:srgbClr val="FF0000"/>
              </a:solidFill>
            </a:endParaRPr>
          </a:p>
        </p:txBody>
      </p:sp>
      <p:sp>
        <p:nvSpPr>
          <p:cNvPr id="3" name="2 Marcador de contenido"/>
          <p:cNvSpPr>
            <a:spLocks noGrp="1"/>
          </p:cNvSpPr>
          <p:nvPr>
            <p:ph sz="quarter" idx="1"/>
          </p:nvPr>
        </p:nvSpPr>
        <p:spPr>
          <a:xfrm>
            <a:off x="676655" y="1700808"/>
            <a:ext cx="3822192" cy="4425672"/>
          </a:xfrm>
        </p:spPr>
        <p:txBody>
          <a:bodyPr>
            <a:normAutofit/>
          </a:bodyPr>
          <a:lstStyle/>
          <a:p>
            <a:pPr marL="0" indent="0" algn="ctr">
              <a:buNone/>
            </a:pPr>
            <a:r>
              <a:rPr lang="es-ES_tradnl" dirty="0" smtClean="0"/>
              <a:t>El estudio </a:t>
            </a:r>
            <a:r>
              <a:rPr lang="es-ES_tradnl" dirty="0"/>
              <a:t>de la deformación y las características del flujo de las sustancias se denominan reología (campo que estudia la viscosidad de los fluidos). Es importante saber si un fluido es newtoniano y no newtoniano </a:t>
            </a:r>
            <a:r>
              <a:rPr lang="es-ES_tradnl" i="1" dirty="0"/>
              <a:t>(</a:t>
            </a:r>
            <a:r>
              <a:rPr lang="es-ES_tradnl" i="1" dirty="0" err="1"/>
              <a:t>Mott</a:t>
            </a:r>
            <a:r>
              <a:rPr lang="es-ES_tradnl" i="1" dirty="0"/>
              <a:t>, 1996).</a:t>
            </a:r>
            <a:endParaRPr lang="es-ES" dirty="0"/>
          </a:p>
          <a:p>
            <a:pPr algn="ctr"/>
            <a:endParaRPr lang="es-ES" dirty="0"/>
          </a:p>
        </p:txBody>
      </p:sp>
      <p:pic>
        <p:nvPicPr>
          <p:cNvPr id="4098"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tretch>
            <a:fillRect/>
          </a:stretch>
        </p:blipFill>
        <p:spPr bwMode="auto">
          <a:xfrm>
            <a:off x="5238750" y="1340768"/>
            <a:ext cx="2857500" cy="3116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06541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solidFill>
                  <a:srgbClr val="FF0000"/>
                </a:solidFill>
              </a:rPr>
              <a:t>Fluido </a:t>
            </a:r>
            <a:r>
              <a:rPr lang="es-ES_tradnl" b="1" dirty="0">
                <a:solidFill>
                  <a:srgbClr val="FF0000"/>
                </a:solidFill>
              </a:rPr>
              <a:t>newtoniano</a:t>
            </a:r>
            <a:endParaRPr lang="es-ES" b="1" dirty="0">
              <a:solidFill>
                <a:srgbClr val="FF0000"/>
              </a:solidFill>
            </a:endParaRPr>
          </a:p>
        </p:txBody>
      </p:sp>
      <p:sp>
        <p:nvSpPr>
          <p:cNvPr id="3" name="2 Marcador de contenido"/>
          <p:cNvSpPr>
            <a:spLocks noGrp="1"/>
          </p:cNvSpPr>
          <p:nvPr>
            <p:ph sz="quarter" idx="1"/>
          </p:nvPr>
        </p:nvSpPr>
        <p:spPr>
          <a:xfrm>
            <a:off x="676655" y="1844824"/>
            <a:ext cx="3822192" cy="4281656"/>
          </a:xfrm>
        </p:spPr>
        <p:txBody>
          <a:bodyPr>
            <a:normAutofit fontScale="92500" lnSpcReduction="10000"/>
          </a:bodyPr>
          <a:lstStyle/>
          <a:p>
            <a:pPr marL="0" indent="0" algn="ctr">
              <a:buNone/>
            </a:pPr>
            <a:r>
              <a:rPr lang="es-ES_tradnl" dirty="0"/>
              <a:t>Los newtonianos son fluidos en los que el deslizamiento relativo de los elementos al circular uno sobre otro es proporcional al esfuerzo cortante sobre el fluido. Todos los gases, agua líquida y líquidos de moléculas sencillas, amoniaco, alcohol, benceno, petróleo, cloroformo, butano, etc. son fluidos newtonianos</a:t>
            </a:r>
            <a:endParaRPr lang="es-ES" dirty="0"/>
          </a:p>
        </p:txBody>
      </p:sp>
      <p:pic>
        <p:nvPicPr>
          <p:cNvPr id="5122"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5004048" y="1772816"/>
            <a:ext cx="2952328"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04000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b="1" dirty="0" smtClean="0">
                <a:solidFill>
                  <a:srgbClr val="FF0000"/>
                </a:solidFill>
              </a:rPr>
              <a:t>FLUIDOS NO NEWTONIANO</a:t>
            </a:r>
            <a:endParaRPr lang="es-ES" b="1" dirty="0">
              <a:solidFill>
                <a:srgbClr val="FF0000"/>
              </a:solidFill>
            </a:endParaRPr>
          </a:p>
        </p:txBody>
      </p:sp>
      <p:sp>
        <p:nvSpPr>
          <p:cNvPr id="3" name="2 Marcador de contenido"/>
          <p:cNvSpPr>
            <a:spLocks noGrp="1"/>
          </p:cNvSpPr>
          <p:nvPr>
            <p:ph sz="quarter" idx="1"/>
          </p:nvPr>
        </p:nvSpPr>
        <p:spPr>
          <a:xfrm>
            <a:off x="676655" y="1628800"/>
            <a:ext cx="3822192" cy="4497680"/>
          </a:xfrm>
        </p:spPr>
        <p:txBody>
          <a:bodyPr>
            <a:normAutofit lnSpcReduction="10000"/>
          </a:bodyPr>
          <a:lstStyle/>
          <a:p>
            <a:r>
              <a:rPr lang="es-ES_tradnl" dirty="0"/>
              <a:t>Un fluido no newtoniano se describe como el esfuerzo cortante es directamente proporcional a la velocidad de deformación, o sea la viscosidad es constante e independiente de la velocidad de deformación (Ramiro B, 2003). </a:t>
            </a:r>
            <a:endParaRPr lang="es-ES" dirty="0"/>
          </a:p>
          <a:p>
            <a:endParaRPr lang="es-ES" dirty="0"/>
          </a:p>
        </p:txBody>
      </p:sp>
      <p:pic>
        <p:nvPicPr>
          <p:cNvPr id="6146"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4788024" y="1916832"/>
            <a:ext cx="3816424" cy="273630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5220072" y="4797152"/>
            <a:ext cx="3384376" cy="1224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b="1" dirty="0" smtClean="0">
              <a:solidFill>
                <a:srgbClr val="FF0000"/>
              </a:solidFill>
            </a:endParaRPr>
          </a:p>
          <a:p>
            <a:pPr algn="ctr"/>
            <a:endParaRPr lang="es-ES_tradnl" b="1" dirty="0">
              <a:solidFill>
                <a:srgbClr val="FF0000"/>
              </a:solidFill>
            </a:endParaRPr>
          </a:p>
          <a:p>
            <a:pPr algn="ctr"/>
            <a:r>
              <a:rPr lang="es-ES_tradnl" b="1" dirty="0" smtClean="0">
                <a:solidFill>
                  <a:srgbClr val="FF0000"/>
                </a:solidFill>
              </a:rPr>
              <a:t>Figura </a:t>
            </a:r>
            <a:r>
              <a:rPr lang="es-ES_tradnl" b="1" dirty="0">
                <a:solidFill>
                  <a:srgbClr val="FF0000"/>
                </a:solidFill>
              </a:rPr>
              <a:t>Nº 07. </a:t>
            </a:r>
            <a:r>
              <a:rPr lang="es-ES_tradnl" dirty="0">
                <a:solidFill>
                  <a:srgbClr val="FF0000"/>
                </a:solidFill>
              </a:rPr>
              <a:t>Comportamiento reologico de los fluidos no newtonianos </a:t>
            </a:r>
            <a:endParaRPr lang="es-ES" dirty="0">
              <a:solidFill>
                <a:srgbClr val="FF0000"/>
              </a:solidFill>
            </a:endParaRPr>
          </a:p>
          <a:p>
            <a:r>
              <a:rPr lang="es-ES_tradnl" dirty="0"/>
              <a:t> </a:t>
            </a:r>
            <a:endParaRPr lang="es-ES" dirty="0"/>
          </a:p>
          <a:p>
            <a:pPr algn="ctr"/>
            <a:endParaRPr lang="es-ES" dirty="0"/>
          </a:p>
        </p:txBody>
      </p:sp>
    </p:spTree>
    <p:extLst>
      <p:ext uri="{BB962C8B-B14F-4D97-AF65-F5344CB8AC3E}">
        <p14:creationId xmlns:p14="http://schemas.microsoft.com/office/powerpoint/2010/main" val="37140479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a:solidFill>
                  <a:srgbClr val="FF0000"/>
                </a:solidFill>
              </a:rPr>
              <a:t>Ley de Newton</a:t>
            </a:r>
            <a:endParaRPr lang="es-ES" dirty="0">
              <a:solidFill>
                <a:srgbClr val="FF0000"/>
              </a:solidFill>
            </a:endParaRPr>
          </a:p>
        </p:txBody>
      </p:sp>
      <p:sp>
        <p:nvSpPr>
          <p:cNvPr id="3" name="2 Marcador de contenido"/>
          <p:cNvSpPr>
            <a:spLocks noGrp="1"/>
          </p:cNvSpPr>
          <p:nvPr>
            <p:ph sz="quarter" idx="1"/>
          </p:nvPr>
        </p:nvSpPr>
        <p:spPr>
          <a:xfrm>
            <a:off x="676655" y="1700808"/>
            <a:ext cx="3822192" cy="4425672"/>
          </a:xfrm>
        </p:spPr>
        <p:txBody>
          <a:bodyPr>
            <a:normAutofit fontScale="77500" lnSpcReduction="20000"/>
          </a:bodyPr>
          <a:lstStyle/>
          <a:p>
            <a:r>
              <a:rPr lang="es-ES_tradnl" dirty="0"/>
              <a:t>Para un flujo bien ordenado en el que las partículas de fluido se mueven en las líneas rectas y paralelas (flujo paralelo), la ley establece que para ciertos fluidos conocidos como fluido newtonianos, el esfuerzo cortante sobre una interfaz tangente a la dirección de flujo es proporcional a la tasa de cambio de la velocidad con respecto a la distancia, donde la diferenciación se toma en una dirección normal a la interfaz </a:t>
            </a:r>
            <a:r>
              <a:rPr lang="es-ES_tradnl" i="1" dirty="0"/>
              <a:t>(</a:t>
            </a:r>
            <a:r>
              <a:rPr lang="es-ES_tradnl" i="1" dirty="0" err="1"/>
              <a:t>Shames</a:t>
            </a:r>
            <a:r>
              <a:rPr lang="es-ES_tradnl" i="1" dirty="0"/>
              <a:t>, 1995).</a:t>
            </a:r>
            <a:endParaRPr lang="es-ES" dirty="0"/>
          </a:p>
          <a:p>
            <a:endParaRPr lang="es-ES" dirty="0"/>
          </a:p>
        </p:txBody>
      </p:sp>
      <p:sp>
        <p:nvSpPr>
          <p:cNvPr id="4" name="3 Marcador de contenido"/>
          <p:cNvSpPr>
            <a:spLocks noGrp="1"/>
          </p:cNvSpPr>
          <p:nvPr>
            <p:ph sz="quarter" idx="2"/>
          </p:nvPr>
        </p:nvSpPr>
        <p:spPr>
          <a:xfrm>
            <a:off x="4645152" y="1844824"/>
            <a:ext cx="3822192" cy="4281656"/>
          </a:xfrm>
        </p:spPr>
        <p:txBody>
          <a:bodyPr>
            <a:normAutofit fontScale="77500" lnSpcReduction="20000"/>
          </a:bodyPr>
          <a:lstStyle/>
          <a:p>
            <a:pPr marL="0" indent="0">
              <a:buNone/>
            </a:pPr>
            <a:r>
              <a:rPr lang="es-ES_tradnl" dirty="0" smtClean="0"/>
              <a:t>Esta </a:t>
            </a:r>
            <a:r>
              <a:rPr lang="es-ES_tradnl" dirty="0"/>
              <a:t>ecuación, que establece que la fuerza cortante por área unitaria es proporcional al negativo del gradiente de velocidad. </a:t>
            </a:r>
            <a:r>
              <a:rPr lang="es-ES_tradnl" i="1" dirty="0"/>
              <a:t>(</a:t>
            </a:r>
            <a:r>
              <a:rPr lang="es-ES_tradnl" i="1" dirty="0" err="1"/>
              <a:t>Bird</a:t>
            </a:r>
            <a:r>
              <a:rPr lang="es-ES_tradnl" i="1" dirty="0"/>
              <a:t>, 2006</a:t>
            </a:r>
            <a:r>
              <a:rPr lang="es-ES_tradnl" i="1" dirty="0" smtClean="0"/>
              <a:t>)</a:t>
            </a:r>
          </a:p>
          <a:p>
            <a:pPr marL="0" indent="0">
              <a:buNone/>
            </a:pPr>
            <a:endParaRPr lang="es-ES" dirty="0" smtClean="0"/>
          </a:p>
          <a:p>
            <a:pPr marL="0" indent="0">
              <a:buNone/>
            </a:pPr>
            <a:endParaRPr lang="es-ES" dirty="0"/>
          </a:p>
          <a:p>
            <a:pPr marL="0" indent="0">
              <a:buNone/>
            </a:pPr>
            <a:endParaRPr lang="es-ES" dirty="0" smtClean="0"/>
          </a:p>
          <a:p>
            <a:pPr marL="0" indent="0">
              <a:buNone/>
            </a:pPr>
            <a:endParaRPr lang="es-ES" dirty="0"/>
          </a:p>
          <a:p>
            <a:pPr marL="0" indent="0">
              <a:buNone/>
            </a:pPr>
            <a:r>
              <a:rPr lang="es-ES" sz="1400" dirty="0" smtClean="0">
                <a:latin typeface="Arial" panose="020B0604020202020204" pitchFamily="34" charset="0"/>
                <a:cs typeface="Arial" panose="020B0604020202020204" pitchFamily="34" charset="0"/>
              </a:rPr>
              <a:t>T=  es el esfuerzo</a:t>
            </a:r>
          </a:p>
          <a:p>
            <a:pPr marL="0" indent="0">
              <a:buNone/>
            </a:pPr>
            <a:r>
              <a:rPr lang="es-ES" sz="1400" dirty="0" smtClean="0">
                <a:latin typeface="Arial" panose="020B0604020202020204" pitchFamily="34" charset="0"/>
                <a:cs typeface="Arial" panose="020B0604020202020204" pitchFamily="34" charset="0"/>
              </a:rPr>
              <a:t>F= fuerza</a:t>
            </a:r>
          </a:p>
          <a:p>
            <a:pPr marL="0" indent="0">
              <a:buNone/>
            </a:pPr>
            <a:r>
              <a:rPr lang="es-ES" sz="1400" dirty="0" smtClean="0">
                <a:latin typeface="Arial" panose="020B0604020202020204" pitchFamily="34" charset="0"/>
                <a:cs typeface="Arial" panose="020B0604020202020204" pitchFamily="34" charset="0"/>
              </a:rPr>
              <a:t>A= área</a:t>
            </a:r>
          </a:p>
          <a:p>
            <a:pPr marL="0" indent="0">
              <a:buNone/>
            </a:pPr>
            <a:r>
              <a:rPr lang="el-GR" sz="1400" dirty="0">
                <a:latin typeface="Arial" panose="020B0604020202020204" pitchFamily="34" charset="0"/>
                <a:cs typeface="Arial" panose="020B0604020202020204" pitchFamily="34" charset="0"/>
              </a:rPr>
              <a:t>μ</a:t>
            </a:r>
            <a:r>
              <a:rPr lang="el-GR" sz="1400" dirty="0" smtClean="0">
                <a:latin typeface="Arial" panose="020B0604020202020204" pitchFamily="34" charset="0"/>
                <a:cs typeface="Arial" panose="020B0604020202020204" pitchFamily="34" charset="0"/>
              </a:rPr>
              <a:t>,</a:t>
            </a:r>
            <a:r>
              <a:rPr lang="es-ES" sz="1400" dirty="0" smtClean="0">
                <a:latin typeface="Arial" panose="020B0604020202020204" pitchFamily="34" charset="0"/>
                <a:cs typeface="Arial" panose="020B0604020202020204" pitchFamily="34" charset="0"/>
              </a:rPr>
              <a:t>= constante de proporcionalidad </a:t>
            </a:r>
            <a:endParaRPr lang="es-ES" sz="1400" dirty="0">
              <a:latin typeface="Arial" panose="020B0604020202020204" pitchFamily="34" charset="0"/>
              <a:cs typeface="Arial" panose="020B0604020202020204" pitchFamily="34" charset="0"/>
            </a:endParaRPr>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0489" t="67351" r="23953" b="17840"/>
          <a:stretch/>
        </p:blipFill>
        <p:spPr bwMode="auto">
          <a:xfrm>
            <a:off x="4716016" y="3212976"/>
            <a:ext cx="3726357" cy="1083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95914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a:solidFill>
                  <a:srgbClr val="FF0000"/>
                </a:solidFill>
              </a:rPr>
              <a:t>Ley de Stokes</a:t>
            </a:r>
            <a:endParaRPr lang="es-ES" dirty="0">
              <a:solidFill>
                <a:srgbClr val="FF0000"/>
              </a:solidFill>
            </a:endParaRPr>
          </a:p>
        </p:txBody>
      </p:sp>
      <p:sp>
        <p:nvSpPr>
          <p:cNvPr id="3" name="2 Marcador de contenido"/>
          <p:cNvSpPr>
            <a:spLocks noGrp="1"/>
          </p:cNvSpPr>
          <p:nvPr>
            <p:ph sz="quarter" idx="1"/>
          </p:nvPr>
        </p:nvSpPr>
        <p:spPr>
          <a:xfrm>
            <a:off x="676655" y="1700808"/>
            <a:ext cx="3822192" cy="4425672"/>
          </a:xfrm>
        </p:spPr>
        <p:txBody>
          <a:bodyPr>
            <a:normAutofit fontScale="92500"/>
          </a:bodyPr>
          <a:lstStyle/>
          <a:p>
            <a:endParaRPr lang="es-ES_tradnl" dirty="0" smtClean="0"/>
          </a:p>
          <a:p>
            <a:endParaRPr lang="es-ES_tradnl" dirty="0"/>
          </a:p>
          <a:p>
            <a:r>
              <a:rPr lang="es-ES_tradnl" dirty="0" smtClean="0"/>
              <a:t>La </a:t>
            </a:r>
            <a:r>
              <a:rPr lang="es-ES_tradnl" dirty="0"/>
              <a:t>resistencia al movimiento de los cuerpos esféricos de un fluido viscoso, es directamente proporcional al radio del cuerpo, a su velocidad y al coeficiente de viscosidad del medio </a:t>
            </a:r>
            <a:r>
              <a:rPr lang="es-ES_tradnl" i="1" dirty="0"/>
              <a:t>(S. Burbano, 2003-Pag. 281).</a:t>
            </a:r>
            <a:endParaRPr lang="es-ES" dirty="0"/>
          </a:p>
          <a:p>
            <a:endParaRPr lang="es-ES" dirty="0"/>
          </a:p>
        </p:txBody>
      </p:sp>
      <mc:AlternateContent xmlns:mc="http://schemas.openxmlformats.org/markup-compatibility/2006" xmlns:a14="http://schemas.microsoft.com/office/drawing/2010/main">
        <mc:Choice Requires="a14">
          <p:sp>
            <p:nvSpPr>
              <p:cNvPr id="4" name="3 Marcador de contenido"/>
              <p:cNvSpPr>
                <a:spLocks noGrp="1"/>
              </p:cNvSpPr>
              <p:nvPr>
                <p:ph sz="quarter" idx="2"/>
              </p:nvPr>
            </p:nvSpPr>
            <p:spPr>
              <a:xfrm>
                <a:off x="4645152" y="1844824"/>
                <a:ext cx="3822192" cy="4281656"/>
              </a:xfrm>
            </p:spPr>
            <p:txBody>
              <a:bodyPr>
                <a:normAutofit fontScale="92500"/>
              </a:bodyPr>
              <a:lstStyle/>
              <a:p>
                <a:r>
                  <a:rPr lang="es-ES_tradnl" sz="1800" dirty="0"/>
                  <a:t>Donde </a:t>
                </a:r>
                <a14:m>
                  <m:oMath xmlns:m="http://schemas.openxmlformats.org/officeDocument/2006/math">
                    <m:r>
                      <a:rPr lang="es-ES_tradnl" sz="1800" i="1">
                        <a:latin typeface="Cambria Math"/>
                      </a:rPr>
                      <m:t>𝜂</m:t>
                    </m:r>
                  </m:oMath>
                </a14:m>
                <a:r>
                  <a:rPr lang="es-ES_tradnl" sz="1800" dirty="0"/>
                  <a:t> es el coeficiente de viscosidad del fluido, o viscosidad absoluta, </a:t>
                </a:r>
                <a14:m>
                  <m:oMath xmlns:m="http://schemas.openxmlformats.org/officeDocument/2006/math">
                    <m:r>
                      <a:rPr lang="es-ES_tradnl" sz="1800" i="1">
                        <a:latin typeface="Cambria Math"/>
                      </a:rPr>
                      <m:t>𝑟</m:t>
                    </m:r>
                  </m:oMath>
                </a14:m>
                <a:r>
                  <a:rPr lang="es-ES_tradnl" sz="1800" dirty="0"/>
                  <a:t> el radio de la esfera y la </a:t>
                </a:r>
                <a14:m>
                  <m:oMath xmlns:m="http://schemas.openxmlformats.org/officeDocument/2006/math">
                    <m:r>
                      <a:rPr lang="es-ES_tradnl" sz="1800" i="1">
                        <a:latin typeface="Cambria Math"/>
                      </a:rPr>
                      <m:t>𝑣</m:t>
                    </m:r>
                  </m:oMath>
                </a14:m>
                <a:r>
                  <a:rPr lang="es-ES_tradnl" sz="1800" dirty="0"/>
                  <a:t> es la velocidad de la misma con respecto al fluido </a:t>
                </a:r>
                <a:r>
                  <a:rPr lang="es-ES_tradnl" sz="1800" i="1" dirty="0"/>
                  <a:t>(Rodríguez, Pérez y Camus, </a:t>
                </a:r>
                <a:r>
                  <a:rPr lang="es-ES_tradnl" sz="1800" i="1" dirty="0" smtClean="0"/>
                  <a:t>2000).</a:t>
                </a:r>
              </a:p>
              <a:p>
                <a:endParaRPr lang="es-ES_tradnl" sz="1800" i="1" dirty="0"/>
              </a:p>
              <a:p>
                <a:pPr marL="0" indent="0">
                  <a:buNone/>
                </a:pPr>
                <a14:m>
                  <m:oMathPara xmlns:m="http://schemas.openxmlformats.org/officeDocument/2006/math">
                    <m:oMathParaPr>
                      <m:jc m:val="centerGroup"/>
                    </m:oMathParaPr>
                    <m:oMath xmlns:m="http://schemas.openxmlformats.org/officeDocument/2006/math">
                      <m:sSub>
                        <m:sSubPr>
                          <m:ctrlPr>
                            <a:rPr lang="es-ES" sz="2400" i="1" cap="all">
                              <a:latin typeface="Cambria Math"/>
                            </a:rPr>
                          </m:ctrlPr>
                        </m:sSubPr>
                        <m:e>
                          <m:r>
                            <a:rPr lang="es-ES_tradnl" sz="2400" i="1" cap="all">
                              <a:latin typeface="Cambria Math"/>
                            </a:rPr>
                            <m:t>𝐹</m:t>
                          </m:r>
                        </m:e>
                        <m:sub>
                          <m:r>
                            <a:rPr lang="es-ES_tradnl" sz="2400" i="1" cap="all">
                              <a:latin typeface="Cambria Math"/>
                            </a:rPr>
                            <m:t>𝑟</m:t>
                          </m:r>
                        </m:sub>
                      </m:sSub>
                      <m:r>
                        <a:rPr lang="es-ES_tradnl" sz="2400" i="1" cap="all">
                          <a:latin typeface="Cambria Math"/>
                        </a:rPr>
                        <m:t>=6</m:t>
                      </m:r>
                      <m:r>
                        <a:rPr lang="es-ES_tradnl" sz="2400" i="1" cap="all">
                          <a:latin typeface="Cambria Math"/>
                        </a:rPr>
                        <m:t>𝜋</m:t>
                      </m:r>
                      <m:r>
                        <a:rPr lang="es-ES_tradnl" sz="2400" i="1" cap="all">
                          <a:latin typeface="Cambria Math"/>
                        </a:rPr>
                        <m:t>.</m:t>
                      </m:r>
                      <m:r>
                        <a:rPr lang="es-ES_tradnl" sz="2400" i="1" cap="all">
                          <a:latin typeface="Cambria Math"/>
                        </a:rPr>
                        <m:t>𝜂</m:t>
                      </m:r>
                      <m:r>
                        <a:rPr lang="es-ES_tradnl" sz="2400" i="1" cap="all">
                          <a:latin typeface="Cambria Math"/>
                        </a:rPr>
                        <m:t>.</m:t>
                      </m:r>
                      <m:r>
                        <a:rPr lang="es-ES_tradnl" sz="2400" i="1" cap="all">
                          <a:latin typeface="Cambria Math"/>
                        </a:rPr>
                        <m:t>𝑟</m:t>
                      </m:r>
                      <m:r>
                        <a:rPr lang="es-ES_tradnl" sz="2400" i="1" cap="all">
                          <a:latin typeface="Cambria Math"/>
                        </a:rPr>
                        <m:t>.</m:t>
                      </m:r>
                      <m:r>
                        <a:rPr lang="es-ES_tradnl" sz="2400" i="1" cap="all">
                          <a:latin typeface="Cambria Math"/>
                        </a:rPr>
                        <m:t>𝑣</m:t>
                      </m:r>
                    </m:oMath>
                  </m:oMathPara>
                </a14:m>
                <a:endParaRPr lang="es-ES_tradnl" sz="1800" i="1" dirty="0" smtClean="0"/>
              </a:p>
              <a:p>
                <a:r>
                  <a:rPr lang="es-ES" sz="1800" dirty="0" smtClean="0"/>
                  <a:t>Fr= fuerza resultante</a:t>
                </a:r>
              </a:p>
              <a:p>
                <a14:m>
                  <m:oMath xmlns:m="http://schemas.openxmlformats.org/officeDocument/2006/math">
                    <m:r>
                      <a:rPr lang="es-ES_tradnl" sz="1800" i="1">
                        <a:latin typeface="Cambria Math"/>
                      </a:rPr>
                      <m:t>𝜂</m:t>
                    </m:r>
                  </m:oMath>
                </a14:m>
                <a:r>
                  <a:rPr lang="es-ES_tradnl" sz="1800" dirty="0"/>
                  <a:t> es el coeficiente de </a:t>
                </a:r>
                <a:r>
                  <a:rPr lang="es-ES_tradnl" sz="1800" dirty="0" smtClean="0"/>
                  <a:t>viscosidad</a:t>
                </a:r>
              </a:p>
              <a:p>
                <a14:m>
                  <m:oMath xmlns:m="http://schemas.openxmlformats.org/officeDocument/2006/math">
                    <m:r>
                      <a:rPr lang="es-ES_tradnl" sz="1800" i="1" cap="all">
                        <a:latin typeface="Cambria Math"/>
                      </a:rPr>
                      <m:t>𝑣</m:t>
                    </m:r>
                  </m:oMath>
                </a14:m>
                <a:r>
                  <a:rPr lang="es-ES" sz="1800" dirty="0" smtClean="0"/>
                  <a:t>  = velocidad</a:t>
                </a:r>
              </a:p>
              <a:p>
                <a:endParaRPr lang="es-ES" sz="1800" dirty="0"/>
              </a:p>
            </p:txBody>
          </p:sp>
        </mc:Choice>
        <mc:Fallback xmlns="">
          <p:sp>
            <p:nvSpPr>
              <p:cNvPr id="4" name="3 Marcador de contenido"/>
              <p:cNvSpPr>
                <a:spLocks noGrp="1" noRot="1" noChangeAspect="1" noMove="1" noResize="1" noEditPoints="1" noAdjustHandles="1" noChangeArrowheads="1" noChangeShapeType="1" noTextEdit="1"/>
              </p:cNvSpPr>
              <p:nvPr>
                <p:ph sz="quarter" idx="2"/>
              </p:nvPr>
            </p:nvSpPr>
            <p:spPr>
              <a:xfrm>
                <a:off x="4645152" y="1844824"/>
                <a:ext cx="3822192" cy="4281656"/>
              </a:xfrm>
              <a:blipFill rotWithShape="1">
                <a:blip r:embed="rId2"/>
                <a:stretch>
                  <a:fillRect t="-285" r="-1595"/>
                </a:stretch>
              </a:blipFill>
            </p:spPr>
            <p:txBody>
              <a:bodyPr/>
              <a:lstStyle/>
              <a:p>
                <a:r>
                  <a:rPr lang="es-ES">
                    <a:noFill/>
                  </a:rPr>
                  <a:t> </a:t>
                </a:r>
              </a:p>
            </p:txBody>
          </p:sp>
        </mc:Fallback>
      </mc:AlternateContent>
    </p:spTree>
    <p:extLst>
      <p:ext uri="{BB962C8B-B14F-4D97-AF65-F5344CB8AC3E}">
        <p14:creationId xmlns:p14="http://schemas.microsoft.com/office/powerpoint/2010/main" val="19087322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ctr"/>
            <a:r>
              <a:rPr lang="es-PE" dirty="0">
                <a:solidFill>
                  <a:srgbClr val="FF0000"/>
                </a:solidFill>
              </a:rPr>
              <a:t>Ley de Poiseuille</a:t>
            </a:r>
            <a:endParaRPr lang="es-ES" dirty="0">
              <a:solidFill>
                <a:srgbClr val="FF0000"/>
              </a:solidFill>
            </a:endParaRPr>
          </a:p>
        </p:txBody>
      </p:sp>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676655" y="1772816"/>
                <a:ext cx="3822192" cy="4353664"/>
              </a:xfrm>
            </p:spPr>
            <p:txBody>
              <a:bodyPr>
                <a:normAutofit fontScale="92500" lnSpcReduction="20000"/>
              </a:bodyPr>
              <a:lstStyle/>
              <a:p>
                <a:r>
                  <a:rPr lang="es-ES_tradnl" dirty="0">
                    <a:solidFill>
                      <a:schemeClr val="tx1"/>
                    </a:solidFill>
                  </a:rPr>
                  <a:t>La viscosidad dificulta el análisis del flujo de fluidos, por ejemplo, cuando un fluido fluye por una tubería, hay fricción entre el líquido y las paredes, por lo que la velocidad del fluido es mayor hacia el centro del tubo. En la práctica, este efecto influye en la tasa media del flujo. </a:t>
                </a:r>
                <a:endParaRPr lang="es-ES" dirty="0">
                  <a:solidFill>
                    <a:schemeClr val="tx1"/>
                  </a:solidFill>
                </a:endParaRPr>
              </a:p>
              <a:p>
                <a:endParaRPr lang="es-ES" dirty="0" smtClean="0"/>
              </a:p>
              <a:p>
                <a:r>
                  <a:rPr lang="es-ES_tradnl" dirty="0"/>
                  <a:t>La unidad SI si la tasa de flujo es  </a:t>
                </a:r>
                <a14:m>
                  <m:oMath xmlns:m="http://schemas.openxmlformats.org/officeDocument/2006/math">
                    <m:f>
                      <m:fPr>
                        <m:type m:val="skw"/>
                        <m:ctrlPr>
                          <a:rPr lang="es-ES" i="1">
                            <a:latin typeface="Cambria Math"/>
                          </a:rPr>
                        </m:ctrlPr>
                      </m:fPr>
                      <m:num>
                        <m:sSup>
                          <m:sSupPr>
                            <m:ctrlPr>
                              <a:rPr lang="es-ES" i="1">
                                <a:latin typeface="Cambria Math"/>
                              </a:rPr>
                            </m:ctrlPr>
                          </m:sSupPr>
                          <m:e>
                            <m:r>
                              <a:rPr lang="es-ES_tradnl" i="1">
                                <a:latin typeface="Cambria Math"/>
                              </a:rPr>
                              <m:t>𝑚</m:t>
                            </m:r>
                          </m:e>
                          <m:sup>
                            <m:r>
                              <a:rPr lang="es-ES_tradnl" i="1">
                                <a:latin typeface="Cambria Math"/>
                              </a:rPr>
                              <m:t>3</m:t>
                            </m:r>
                          </m:sup>
                        </m:sSup>
                      </m:num>
                      <m:den>
                        <m:r>
                          <a:rPr lang="es-ES_tradnl" i="1">
                            <a:latin typeface="Cambria Math"/>
                          </a:rPr>
                          <m:t>𝑠</m:t>
                        </m:r>
                      </m:den>
                    </m:f>
                  </m:oMath>
                </a14:m>
                <a:r>
                  <a:rPr lang="es-ES_tradnl" dirty="0"/>
                  <a:t>.</a:t>
                </a:r>
                <a:endParaRPr lang="es-ES" dirty="0"/>
              </a:p>
              <a:p>
                <a:endParaRPr lang="es-ES" dirty="0"/>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676655" y="1772816"/>
                <a:ext cx="3822192" cy="4353664"/>
              </a:xfrm>
              <a:blipFill rotWithShape="1">
                <a:blip r:embed="rId2"/>
                <a:stretch>
                  <a:fillRect l="-478" t="-2381" r="-2711" b="-140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3 Marcador de contenido"/>
              <p:cNvSpPr>
                <a:spLocks noGrp="1"/>
              </p:cNvSpPr>
              <p:nvPr>
                <p:ph sz="quarter" idx="2"/>
              </p:nvPr>
            </p:nvSpPr>
            <p:spPr>
              <a:xfrm>
                <a:off x="4645152" y="1772816"/>
                <a:ext cx="3822192" cy="4353664"/>
              </a:xfrm>
            </p:spPr>
            <p:txBody>
              <a:bodyPr>
                <a:normAutofit fontScale="92500" lnSpcReduction="20000"/>
              </a:bodyPr>
              <a:lstStyle/>
              <a:p>
                <a:pPr marL="0" indent="0" algn="ctr">
                  <a:buNone/>
                </a:pPr>
                <a14:m>
                  <m:oMathPara xmlns:m="http://schemas.openxmlformats.org/officeDocument/2006/math">
                    <m:oMathParaPr>
                      <m:jc m:val="centerGroup"/>
                    </m:oMathParaPr>
                    <m:oMath xmlns:m="http://schemas.openxmlformats.org/officeDocument/2006/math">
                      <m:r>
                        <a:rPr lang="es-ES_tradnl" sz="1800" i="1" smtClean="0">
                          <a:latin typeface="Cambria Math"/>
                        </a:rPr>
                        <m:t>𝑄</m:t>
                      </m:r>
                      <m:r>
                        <a:rPr lang="es-ES_tradnl" sz="1800" i="1" smtClean="0">
                          <a:latin typeface="Cambria Math"/>
                        </a:rPr>
                        <m:t>= </m:t>
                      </m:r>
                      <m:f>
                        <m:fPr>
                          <m:ctrlPr>
                            <a:rPr lang="es-ES" sz="1800" i="1">
                              <a:latin typeface="Cambria Math"/>
                            </a:rPr>
                          </m:ctrlPr>
                        </m:fPr>
                        <m:num>
                          <m:r>
                            <m:rPr>
                              <m:sty m:val="p"/>
                            </m:rPr>
                            <a:rPr lang="es-ES_tradnl" sz="1800">
                              <a:latin typeface="Cambria Math"/>
                            </a:rPr>
                            <m:t>Δ</m:t>
                          </m:r>
                          <m:r>
                            <a:rPr lang="es-ES_tradnl" sz="1800" i="1">
                              <a:latin typeface="Cambria Math"/>
                            </a:rPr>
                            <m:t>𝑉</m:t>
                          </m:r>
                        </m:num>
                        <m:den>
                          <m:r>
                            <m:rPr>
                              <m:sty m:val="p"/>
                            </m:rPr>
                            <a:rPr lang="es-ES_tradnl" sz="1800">
                              <a:latin typeface="Cambria Math"/>
                            </a:rPr>
                            <m:t>Δ</m:t>
                          </m:r>
                          <m:r>
                            <a:rPr lang="es-ES_tradnl" sz="1800" i="1">
                              <a:latin typeface="Cambria Math"/>
                            </a:rPr>
                            <m:t>𝑡</m:t>
                          </m:r>
                        </m:den>
                      </m:f>
                      <m:r>
                        <a:rPr lang="es-ES_tradnl" sz="1800" i="1">
                          <a:latin typeface="Cambria Math"/>
                        </a:rPr>
                        <m:t> −→ </m:t>
                      </m:r>
                      <m:r>
                        <m:rPr>
                          <m:sty m:val="p"/>
                        </m:rPr>
                        <a:rPr lang="es-ES_tradnl" sz="1800">
                          <a:latin typeface="Cambria Math"/>
                        </a:rPr>
                        <m:t>Δ</m:t>
                      </m:r>
                      <m:r>
                        <a:rPr lang="es-ES_tradnl" sz="1800" i="1">
                          <a:latin typeface="Cambria Math"/>
                        </a:rPr>
                        <m:t>𝑝</m:t>
                      </m:r>
                      <m:r>
                        <a:rPr lang="es-ES_tradnl" sz="1800" i="1">
                          <a:latin typeface="Cambria Math"/>
                        </a:rPr>
                        <m:t>= </m:t>
                      </m:r>
                      <m:f>
                        <m:fPr>
                          <m:ctrlPr>
                            <a:rPr lang="es-ES" sz="1800" i="1">
                              <a:latin typeface="Cambria Math"/>
                            </a:rPr>
                          </m:ctrlPr>
                        </m:fPr>
                        <m:num>
                          <m:r>
                            <a:rPr lang="es-ES_tradnl" sz="1800" i="1">
                              <a:latin typeface="Cambria Math"/>
                            </a:rPr>
                            <m:t>8</m:t>
                          </m:r>
                          <m:r>
                            <a:rPr lang="es-ES_tradnl" sz="1800" i="1">
                              <a:latin typeface="Cambria Math"/>
                            </a:rPr>
                            <m:t>𝜂</m:t>
                          </m:r>
                          <m:r>
                            <a:rPr lang="es-ES_tradnl" sz="1800" i="1">
                              <a:latin typeface="Cambria Math"/>
                            </a:rPr>
                            <m:t> </m:t>
                          </m:r>
                          <m:r>
                            <a:rPr lang="es-ES_tradnl" sz="1800" i="1">
                              <a:latin typeface="Cambria Math"/>
                            </a:rPr>
                            <m:t>𝐿</m:t>
                          </m:r>
                          <m:r>
                            <a:rPr lang="es-ES_tradnl" sz="1800" i="1">
                              <a:latin typeface="Cambria Math"/>
                            </a:rPr>
                            <m:t>. </m:t>
                          </m:r>
                          <m:r>
                            <a:rPr lang="es-ES_tradnl" sz="1800" i="1">
                              <a:latin typeface="Cambria Math"/>
                            </a:rPr>
                            <m:t>𝑄</m:t>
                          </m:r>
                        </m:num>
                        <m:den>
                          <m:r>
                            <a:rPr lang="es-ES_tradnl" sz="1800" i="1">
                              <a:latin typeface="Cambria Math"/>
                            </a:rPr>
                            <m:t>𝜋</m:t>
                          </m:r>
                          <m:r>
                            <a:rPr lang="es-ES_tradnl" sz="1800" i="1">
                              <a:latin typeface="Cambria Math"/>
                            </a:rPr>
                            <m:t> . </m:t>
                          </m:r>
                          <m:sSup>
                            <m:sSupPr>
                              <m:ctrlPr>
                                <a:rPr lang="es-ES" sz="1800" i="1">
                                  <a:latin typeface="Cambria Math"/>
                                </a:rPr>
                              </m:ctrlPr>
                            </m:sSupPr>
                            <m:e>
                              <m:r>
                                <a:rPr lang="es-ES_tradnl" sz="1800" i="1">
                                  <a:latin typeface="Cambria Math"/>
                                </a:rPr>
                                <m:t>𝑟</m:t>
                              </m:r>
                            </m:e>
                            <m:sup>
                              <m:r>
                                <a:rPr lang="es-ES_tradnl" sz="1800" i="1">
                                  <a:latin typeface="Cambria Math"/>
                                </a:rPr>
                                <m:t>4</m:t>
                              </m:r>
                            </m:sup>
                          </m:sSup>
                        </m:den>
                      </m:f>
                    </m:oMath>
                  </m:oMathPara>
                </a14:m>
                <a:endParaRPr lang="es-ES_tradnl" sz="1800" b="1" cap="all" dirty="0" smtClean="0">
                  <a:solidFill>
                    <a:schemeClr val="tx1"/>
                  </a:solidFill>
                </a:endParaRPr>
              </a:p>
              <a:p>
                <a:pPr marL="0" indent="0" algn="ctr">
                  <a:buNone/>
                </a:pPr>
                <a:endParaRPr lang="es-ES_tradnl" cap="all" dirty="0"/>
              </a:p>
              <a:p>
                <a:pPr marL="0" indent="0" algn="ctr">
                  <a:buNone/>
                </a:pPr>
                <a:r>
                  <a:rPr lang="es-ES" dirty="0" smtClean="0">
                    <a:solidFill>
                      <a:schemeClr val="tx1"/>
                    </a:solidFill>
                  </a:rPr>
                  <a:t>Donde:</a:t>
                </a:r>
              </a:p>
              <a:p>
                <a:pPr marL="0" indent="0">
                  <a:buNone/>
                </a:pPr>
                <a14:m>
                  <m:oMath xmlns:m="http://schemas.openxmlformats.org/officeDocument/2006/math">
                    <m:r>
                      <a:rPr lang="es-ES_tradnl" i="1" cap="all">
                        <a:latin typeface="Cambria Math"/>
                      </a:rPr>
                      <m:t>𝑄</m:t>
                    </m:r>
                  </m:oMath>
                </a14:m>
                <a:r>
                  <a:rPr lang="es-ES" dirty="0" smtClean="0"/>
                  <a:t>= el cauda del liquido </a:t>
                </a:r>
              </a:p>
              <a:p>
                <a:pPr marL="0" indent="0">
                  <a:buNone/>
                </a:pPr>
                <a14:m>
                  <m:oMath xmlns:m="http://schemas.openxmlformats.org/officeDocument/2006/math">
                    <m:r>
                      <a:rPr lang="es-ES_tradnl" i="1" cap="all">
                        <a:latin typeface="Cambria Math"/>
                      </a:rPr>
                      <m:t>𝐴</m:t>
                    </m:r>
                  </m:oMath>
                </a14:m>
                <a:r>
                  <a:rPr lang="es-ES" dirty="0" smtClean="0"/>
                  <a:t>= área</a:t>
                </a:r>
              </a:p>
              <a:p>
                <a:pPr marL="0" indent="0">
                  <a:buNone/>
                </a:pPr>
                <a14:m>
                  <m:oMath xmlns:m="http://schemas.openxmlformats.org/officeDocument/2006/math">
                    <m:r>
                      <a:rPr lang="es-ES_tradnl" i="1" cap="all">
                        <a:latin typeface="Cambria Math"/>
                      </a:rPr>
                      <m:t>𝑣</m:t>
                    </m:r>
                  </m:oMath>
                </a14:m>
                <a:r>
                  <a:rPr lang="es-ES" dirty="0" smtClean="0"/>
                  <a:t>= velocidad</a:t>
                </a:r>
              </a:p>
              <a:p>
                <a:pPr marL="0" indent="0">
                  <a:buNone/>
                </a:pPr>
                <a14:m>
                  <m:oMath xmlns:m="http://schemas.openxmlformats.org/officeDocument/2006/math">
                    <m:r>
                      <a:rPr lang="es-ES_tradnl" sz="1600" b="1" i="1" cap="all">
                        <a:latin typeface="Cambria Math"/>
                      </a:rPr>
                      <m:t>𝜟</m:t>
                    </m:r>
                    <m:r>
                      <a:rPr lang="es-ES_tradnl" sz="1600" b="1" i="1" cap="all">
                        <a:latin typeface="Cambria Math"/>
                      </a:rPr>
                      <m:t>𝑽</m:t>
                    </m:r>
                  </m:oMath>
                </a14:m>
                <a:r>
                  <a:rPr lang="es-ES" dirty="0" smtClean="0"/>
                  <a:t>= variación de velocidad</a:t>
                </a:r>
              </a:p>
              <a:p>
                <a:pPr marL="0" indent="0">
                  <a:buNone/>
                </a:pPr>
                <a14:m>
                  <m:oMathPara xmlns:m="http://schemas.openxmlformats.org/officeDocument/2006/math">
                    <m:oMathParaPr>
                      <m:jc m:val="left"/>
                    </m:oMathParaPr>
                    <m:oMath xmlns:m="http://schemas.openxmlformats.org/officeDocument/2006/math">
                      <m:r>
                        <a:rPr lang="es-ES_tradnl" sz="1600" i="1" smtClean="0">
                          <a:latin typeface="Cambria Math"/>
                          <a:ea typeface="Cambria Math"/>
                        </a:rPr>
                        <m:t>∆</m:t>
                      </m:r>
                      <m:r>
                        <a:rPr lang="es-ES" sz="1600" b="0" i="1" smtClean="0">
                          <a:latin typeface="Cambria Math"/>
                          <a:ea typeface="Cambria Math"/>
                        </a:rPr>
                        <m:t>𝑡</m:t>
                      </m:r>
                      <m:r>
                        <a:rPr lang="es-ES" sz="1600" b="0" i="1" smtClean="0">
                          <a:latin typeface="Cambria Math"/>
                          <a:ea typeface="Cambria Math"/>
                        </a:rPr>
                        <m:t>=</m:t>
                      </m:r>
                      <m:r>
                        <a:rPr lang="es-ES" sz="1600" b="0" i="1" smtClean="0">
                          <a:latin typeface="Cambria Math"/>
                          <a:ea typeface="Cambria Math"/>
                        </a:rPr>
                        <m:t>𝑣𝑎𝑟𝑖𝑎𝑐𝑖𝑜𝑛</m:t>
                      </m:r>
                      <m:r>
                        <a:rPr lang="es-ES" sz="1600" b="0" i="1" smtClean="0">
                          <a:latin typeface="Cambria Math"/>
                          <a:ea typeface="Cambria Math"/>
                        </a:rPr>
                        <m:t> </m:t>
                      </m:r>
                      <m:r>
                        <a:rPr lang="es-ES" sz="1600" b="0" i="1" smtClean="0">
                          <a:latin typeface="Cambria Math"/>
                          <a:ea typeface="Cambria Math"/>
                        </a:rPr>
                        <m:t>𝑑𝑒</m:t>
                      </m:r>
                      <m:r>
                        <a:rPr lang="es-ES" sz="1600" b="0" i="1" smtClean="0">
                          <a:latin typeface="Cambria Math"/>
                          <a:ea typeface="Cambria Math"/>
                        </a:rPr>
                        <m:t> </m:t>
                      </m:r>
                      <m:r>
                        <a:rPr lang="es-ES" sz="1600" b="0" i="1" smtClean="0">
                          <a:latin typeface="Cambria Math"/>
                          <a:ea typeface="Cambria Math"/>
                        </a:rPr>
                        <m:t>𝑡𝑖𝑒𝑚𝑝𝑜</m:t>
                      </m:r>
                    </m:oMath>
                  </m:oMathPara>
                </a14:m>
                <a:endParaRPr lang="es-ES" sz="1600" b="0" dirty="0" smtClean="0">
                  <a:ea typeface="Cambria Math"/>
                </a:endParaRPr>
              </a:p>
              <a:p>
                <a:pPr marL="0" indent="0">
                  <a:buNone/>
                </a:pPr>
                <a14:m>
                  <m:oMath xmlns:m="http://schemas.openxmlformats.org/officeDocument/2006/math">
                    <m:r>
                      <a:rPr lang="es-ES_tradnl" sz="1600" i="1">
                        <a:latin typeface="Cambria Math"/>
                      </a:rPr>
                      <m:t>𝜂</m:t>
                    </m:r>
                  </m:oMath>
                </a14:m>
                <a:r>
                  <a:rPr lang="es-ES" dirty="0" smtClean="0"/>
                  <a:t>= es la viscosidad del fluido </a:t>
                </a:r>
              </a:p>
              <a:p>
                <a:pPr marL="0" indent="0">
                  <a:buNone/>
                </a:pPr>
                <a:r>
                  <a:rPr lang="es-ES" dirty="0" smtClean="0"/>
                  <a:t>L= longitud del tubo</a:t>
                </a:r>
                <a:endParaRPr lang="es-ES" dirty="0">
                  <a:solidFill>
                    <a:schemeClr val="tx1"/>
                  </a:solidFill>
                </a:endParaRPr>
              </a:p>
              <a:p>
                <a:endParaRPr lang="es-ES" dirty="0">
                  <a:solidFill>
                    <a:schemeClr val="tx1"/>
                  </a:solidFill>
                </a:endParaRPr>
              </a:p>
            </p:txBody>
          </p:sp>
        </mc:Choice>
        <mc:Fallback xmlns="">
          <p:sp>
            <p:nvSpPr>
              <p:cNvPr id="4" name="3 Marcador de contenido"/>
              <p:cNvSpPr>
                <a:spLocks noGrp="1" noRot="1" noChangeAspect="1" noMove="1" noResize="1" noEditPoints="1" noAdjustHandles="1" noChangeArrowheads="1" noChangeShapeType="1" noTextEdit="1"/>
              </p:cNvSpPr>
              <p:nvPr>
                <p:ph sz="quarter" idx="2"/>
              </p:nvPr>
            </p:nvSpPr>
            <p:spPr>
              <a:xfrm>
                <a:off x="4645152" y="1772816"/>
                <a:ext cx="3822192" cy="4353664"/>
              </a:xfrm>
              <a:blipFill rotWithShape="1">
                <a:blip r:embed="rId3"/>
                <a:stretch>
                  <a:fillRect l="-1914" r="-3668"/>
                </a:stretch>
              </a:blipFill>
            </p:spPr>
            <p:txBody>
              <a:bodyPr/>
              <a:lstStyle/>
              <a:p>
                <a:r>
                  <a:rPr lang="es-ES">
                    <a:noFill/>
                  </a:rPr>
                  <a:t> </a:t>
                </a:r>
              </a:p>
            </p:txBody>
          </p:sp>
        </mc:Fallback>
      </mc:AlternateContent>
    </p:spTree>
    <p:extLst>
      <p:ext uri="{BB962C8B-B14F-4D97-AF65-F5344CB8AC3E}">
        <p14:creationId xmlns:p14="http://schemas.microsoft.com/office/powerpoint/2010/main" val="22936448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33887"/>
            <a:ext cx="7242048" cy="1850464"/>
          </a:xfrm>
        </p:spPr>
        <p:txBody>
          <a:bodyPr>
            <a:normAutofit/>
          </a:bodyPr>
          <a:lstStyle/>
          <a:p>
            <a:pPr lvl="1"/>
            <a:r>
              <a:rPr lang="es-ES_tradnl" sz="2000" b="1" dirty="0">
                <a:solidFill>
                  <a:srgbClr val="FF0000"/>
                </a:solidFill>
              </a:rPr>
              <a:t>Variación de la viscosidad con la </a:t>
            </a:r>
            <a:r>
              <a:rPr lang="es-ES_tradnl" sz="2000" b="1" dirty="0" smtClean="0">
                <a:solidFill>
                  <a:srgbClr val="FF0000"/>
                </a:solidFill>
              </a:rPr>
              <a:t>temperatura</a:t>
            </a:r>
            <a:r>
              <a:rPr lang="es-ES_tradnl" sz="1600" b="1" dirty="0" smtClean="0">
                <a:solidFill>
                  <a:srgbClr val="FF0000"/>
                </a:solidFill>
              </a:rPr>
              <a:t/>
            </a:r>
            <a:br>
              <a:rPr lang="es-ES_tradnl" sz="1600" b="1" dirty="0" smtClean="0">
                <a:solidFill>
                  <a:srgbClr val="FF0000"/>
                </a:solidFill>
              </a:rPr>
            </a:br>
            <a:r>
              <a:rPr lang="es-ES_tradnl" sz="1600" dirty="0" smtClean="0">
                <a:solidFill>
                  <a:schemeClr val="tx1"/>
                </a:solidFill>
              </a:rPr>
              <a:t>Todos </a:t>
            </a:r>
            <a:r>
              <a:rPr lang="es-ES_tradnl" sz="1600" dirty="0">
                <a:solidFill>
                  <a:schemeClr val="tx1"/>
                </a:solidFill>
              </a:rPr>
              <a:t>los fluidos exhiben este comportamiento hasta cierto punto, observe que la viscosidad se traza en una escala logarítmica debido al gran rango de valores numéricos. Los gases se comportan de manera diferente a los líquidos ya que su viscosidad aumenta conforme se incrementa la Temperatura</a:t>
            </a:r>
            <a:r>
              <a:rPr lang="es-ES_tradnl" sz="1400" dirty="0"/>
              <a:t>.</a:t>
            </a:r>
            <a:endParaRPr lang="es-ES" sz="1400" dirty="0"/>
          </a:p>
        </p:txBody>
      </p:sp>
      <p:sp>
        <p:nvSpPr>
          <p:cNvPr id="3" name="2 Marcador de contenido"/>
          <p:cNvSpPr>
            <a:spLocks noGrp="1"/>
          </p:cNvSpPr>
          <p:nvPr>
            <p:ph sz="quarter" idx="1"/>
          </p:nvPr>
        </p:nvSpPr>
        <p:spPr>
          <a:xfrm>
            <a:off x="676655" y="1916832"/>
            <a:ext cx="3822192" cy="4209648"/>
          </a:xfrm>
        </p:spPr>
        <p:txBody>
          <a:bodyPr>
            <a:normAutofit lnSpcReduction="10000"/>
          </a:bodyPr>
          <a:lstStyle/>
          <a:p>
            <a:pPr marL="274320" lvl="2" indent="-274320"/>
            <a:r>
              <a:rPr lang="es-ES_tradnl" sz="2200" b="1" dirty="0">
                <a:solidFill>
                  <a:srgbClr val="FF0000"/>
                </a:solidFill>
              </a:rPr>
              <a:t>Índice de la viscosidad.</a:t>
            </a:r>
            <a:endParaRPr lang="es-ES" sz="2200" b="1" dirty="0">
              <a:solidFill>
                <a:srgbClr val="FF0000"/>
              </a:solidFill>
            </a:endParaRPr>
          </a:p>
          <a:p>
            <a:pPr marL="0" indent="0">
              <a:buNone/>
            </a:pPr>
            <a:r>
              <a:rPr lang="es-ES_tradnl" sz="1900" dirty="0">
                <a:solidFill>
                  <a:schemeClr val="tx1"/>
                </a:solidFill>
                <a:latin typeface="Times New Roman" panose="02020603050405020304" pitchFamily="18" charset="0"/>
                <a:cs typeface="Times New Roman" panose="02020603050405020304" pitchFamily="18" charset="0"/>
              </a:rPr>
              <a:t>El índice de viscosidad proporciona una medida de la forma en que la viscosidad de un fluido cambia con la temperatura, en ocasiones este índice se conoce como VI. Esto es especialmente importante para los aceites lubricantes y fluidos hidráulicos utilizados en los equipos que deben operar a temperaturas muy extremas</a:t>
            </a:r>
            <a:endParaRPr lang="es-ES" sz="19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3 Marcador de contenido"/>
              <p:cNvSpPr>
                <a:spLocks noGrp="1"/>
              </p:cNvSpPr>
              <p:nvPr>
                <p:ph sz="quarter" idx="2"/>
              </p:nvPr>
            </p:nvSpPr>
            <p:spPr>
              <a:xfrm>
                <a:off x="4499992" y="2060848"/>
                <a:ext cx="3822192" cy="4065632"/>
              </a:xfrm>
            </p:spPr>
            <p:txBody>
              <a:bodyPr>
                <a:normAutofit lnSpcReduction="10000"/>
              </a:bodyPr>
              <a:lstStyle/>
              <a:p>
                <a:pPr marL="0" indent="0" algn="ctr">
                  <a:buNone/>
                </a:pPr>
                <a14:m>
                  <m:oMathPara xmlns:m="http://schemas.openxmlformats.org/officeDocument/2006/math">
                    <m:oMathParaPr>
                      <m:jc m:val="centerGroup"/>
                    </m:oMathParaPr>
                    <m:oMath xmlns:m="http://schemas.openxmlformats.org/officeDocument/2006/math">
                      <m:r>
                        <a:rPr lang="es-ES_tradnl" sz="1800" b="1" i="1" cap="all" smtClean="0">
                          <a:solidFill>
                            <a:schemeClr val="tx1"/>
                          </a:solidFill>
                          <a:latin typeface="Cambria Math"/>
                        </a:rPr>
                        <m:t>𝑽𝑰</m:t>
                      </m:r>
                      <m:r>
                        <a:rPr lang="es-ES" sz="1800" b="1" i="1" cap="all" smtClean="0">
                          <a:solidFill>
                            <a:schemeClr val="tx1"/>
                          </a:solidFill>
                          <a:latin typeface="Cambria Math"/>
                        </a:rPr>
                        <m:t>=</m:t>
                      </m:r>
                      <m:r>
                        <a:rPr lang="es-ES_tradnl" sz="1800" b="1" i="1" cap="all" smtClean="0">
                          <a:solidFill>
                            <a:schemeClr val="tx1"/>
                          </a:solidFill>
                          <a:latin typeface="Cambria Math"/>
                        </a:rPr>
                        <m:t> </m:t>
                      </m:r>
                      <m:f>
                        <m:fPr>
                          <m:ctrlPr>
                            <a:rPr lang="es-ES" sz="1800" b="1" i="1" cap="all">
                              <a:solidFill>
                                <a:schemeClr val="tx1"/>
                              </a:solidFill>
                              <a:latin typeface="Cambria Math"/>
                            </a:rPr>
                          </m:ctrlPr>
                        </m:fPr>
                        <m:num>
                          <m:r>
                            <a:rPr lang="es-ES_tradnl" sz="1800" b="1" i="1" cap="all">
                              <a:solidFill>
                                <a:schemeClr val="tx1"/>
                              </a:solidFill>
                              <a:latin typeface="Cambria Math"/>
                            </a:rPr>
                            <m:t>𝑳</m:t>
                          </m:r>
                          <m:r>
                            <a:rPr lang="es-ES_tradnl" sz="1800" b="1" i="1" cap="all">
                              <a:solidFill>
                                <a:schemeClr val="tx1"/>
                              </a:solidFill>
                              <a:latin typeface="Cambria Math"/>
                            </a:rPr>
                            <m:t>−</m:t>
                          </m:r>
                          <m:r>
                            <a:rPr lang="es-ES_tradnl" sz="1800" b="1" i="1" cap="all">
                              <a:solidFill>
                                <a:schemeClr val="tx1"/>
                              </a:solidFill>
                              <a:latin typeface="Cambria Math"/>
                            </a:rPr>
                            <m:t>𝑽</m:t>
                          </m:r>
                        </m:num>
                        <m:den>
                          <m:r>
                            <a:rPr lang="es-ES_tradnl" sz="1800" b="1" i="1" cap="all">
                              <a:solidFill>
                                <a:schemeClr val="tx1"/>
                              </a:solidFill>
                              <a:latin typeface="Cambria Math"/>
                            </a:rPr>
                            <m:t>𝑳</m:t>
                          </m:r>
                          <m:r>
                            <a:rPr lang="es-ES_tradnl" sz="1800" b="1" i="1" cap="all">
                              <a:solidFill>
                                <a:schemeClr val="tx1"/>
                              </a:solidFill>
                              <a:latin typeface="Cambria Math"/>
                            </a:rPr>
                            <m:t>−</m:t>
                          </m:r>
                          <m:r>
                            <a:rPr lang="es-ES_tradnl" sz="1800" b="1" i="1" cap="all">
                              <a:solidFill>
                                <a:schemeClr val="tx1"/>
                              </a:solidFill>
                              <a:latin typeface="Cambria Math"/>
                            </a:rPr>
                            <m:t>𝑯</m:t>
                          </m:r>
                        </m:den>
                      </m:f>
                      <m:r>
                        <a:rPr lang="es-ES_tradnl" sz="1800" b="1" i="1" cap="all">
                          <a:solidFill>
                            <a:schemeClr val="tx1"/>
                          </a:solidFill>
                          <a:latin typeface="Cambria Math"/>
                        </a:rPr>
                        <m:t> </m:t>
                      </m:r>
                      <m:r>
                        <a:rPr lang="es-ES_tradnl" sz="1800" b="1" i="1" cap="all">
                          <a:solidFill>
                            <a:schemeClr val="tx1"/>
                          </a:solidFill>
                          <a:latin typeface="Cambria Math"/>
                        </a:rPr>
                        <m:t>𝒙</m:t>
                      </m:r>
                      <m:r>
                        <a:rPr lang="es-ES_tradnl" sz="1800" b="1" i="1" cap="all">
                          <a:solidFill>
                            <a:schemeClr val="tx1"/>
                          </a:solidFill>
                          <a:latin typeface="Cambria Math"/>
                        </a:rPr>
                        <m:t> </m:t>
                      </m:r>
                      <m:r>
                        <a:rPr lang="es-ES_tradnl" sz="1800" b="1" i="1" cap="all">
                          <a:solidFill>
                            <a:schemeClr val="tx1"/>
                          </a:solidFill>
                          <a:latin typeface="Cambria Math"/>
                        </a:rPr>
                        <m:t>𝟏𝟎𝟎</m:t>
                      </m:r>
                    </m:oMath>
                  </m:oMathPara>
                </a14:m>
                <a:endParaRPr lang="es-ES" sz="1800" b="1" i="1" cap="all" dirty="0" smtClean="0">
                  <a:solidFill>
                    <a:schemeClr val="tx1"/>
                  </a:solidFill>
                </a:endParaRPr>
              </a:p>
              <a:p>
                <a:pPr algn="ctr"/>
                <a:r>
                  <a:rPr lang="es-ES_tradnl" sz="1800" i="1" cap="all" dirty="0">
                    <a:solidFill>
                      <a:schemeClr val="tx1"/>
                    </a:solidFill>
                  </a:rPr>
                  <a:t>v = </a:t>
                </a:r>
                <a:r>
                  <a:rPr lang="es-ES_tradnl" sz="1800" i="1" dirty="0">
                    <a:solidFill>
                      <a:schemeClr val="tx1"/>
                    </a:solidFill>
                  </a:rPr>
                  <a:t>viscosidad cinemática a 40ºc del aceite de prueba.</a:t>
                </a:r>
                <a:endParaRPr lang="es-ES" sz="1800" dirty="0">
                  <a:solidFill>
                    <a:schemeClr val="tx1"/>
                  </a:solidFill>
                </a:endParaRPr>
              </a:p>
              <a:p>
                <a:r>
                  <a:rPr lang="es-ES_tradnl" sz="1800" i="1" cap="all" dirty="0">
                    <a:solidFill>
                      <a:schemeClr val="tx1"/>
                    </a:solidFill>
                  </a:rPr>
                  <a:t>L = </a:t>
                </a:r>
                <a:r>
                  <a:rPr lang="es-ES_tradnl" sz="1800" i="1" dirty="0">
                    <a:solidFill>
                      <a:schemeClr val="tx1"/>
                    </a:solidFill>
                  </a:rPr>
                  <a:t>viscosidad cinemática a 40ºc de un aceite estándar de 0 vi que tiene la misma viscosidad a 100ºc que el aceite de prueba.</a:t>
                </a:r>
                <a:endParaRPr lang="es-ES" sz="1800" dirty="0">
                  <a:solidFill>
                    <a:schemeClr val="tx1"/>
                  </a:solidFill>
                </a:endParaRPr>
              </a:p>
              <a:p>
                <a:r>
                  <a:rPr lang="es-ES_tradnl" sz="1800" i="1" cap="all" dirty="0">
                    <a:solidFill>
                      <a:schemeClr val="tx1"/>
                    </a:solidFill>
                  </a:rPr>
                  <a:t>H = </a:t>
                </a:r>
                <a:r>
                  <a:rPr lang="es-ES_tradnl" sz="1800" i="1" dirty="0">
                    <a:solidFill>
                      <a:schemeClr val="tx1"/>
                    </a:solidFill>
                  </a:rPr>
                  <a:t>viscosidad cinemática a 40ºc de un aceite estándar de 100 vi que tiene la misma viscosidad a 100ºc que el aceite de prueba.</a:t>
                </a:r>
                <a:endParaRPr lang="es-ES" dirty="0">
                  <a:solidFill>
                    <a:schemeClr val="tx1"/>
                  </a:solidFill>
                </a:endParaRPr>
              </a:p>
              <a:p>
                <a:endParaRPr lang="es-ES" dirty="0">
                  <a:solidFill>
                    <a:schemeClr val="tx1"/>
                  </a:solidFill>
                </a:endParaRPr>
              </a:p>
            </p:txBody>
          </p:sp>
        </mc:Choice>
        <mc:Fallback xmlns="">
          <p:sp>
            <p:nvSpPr>
              <p:cNvPr id="4" name="3 Marcador de contenido"/>
              <p:cNvSpPr>
                <a:spLocks noGrp="1" noRot="1" noChangeAspect="1" noMove="1" noResize="1" noEditPoints="1" noAdjustHandles="1" noChangeArrowheads="1" noChangeShapeType="1" noTextEdit="1"/>
              </p:cNvSpPr>
              <p:nvPr>
                <p:ph sz="quarter" idx="2"/>
              </p:nvPr>
            </p:nvSpPr>
            <p:spPr>
              <a:xfrm>
                <a:off x="4499992" y="2060848"/>
                <a:ext cx="3822192" cy="4065632"/>
              </a:xfrm>
              <a:blipFill rotWithShape="1">
                <a:blip r:embed="rId2"/>
                <a:stretch>
                  <a:fillRect r="-2073"/>
                </a:stretch>
              </a:blipFill>
            </p:spPr>
            <p:txBody>
              <a:bodyPr/>
              <a:lstStyle/>
              <a:p>
                <a:r>
                  <a:rPr lang="es-ES">
                    <a:noFill/>
                  </a:rPr>
                  <a:t> </a:t>
                </a:r>
              </a:p>
            </p:txBody>
          </p:sp>
        </mc:Fallback>
      </mc:AlternateContent>
    </p:spTree>
    <p:extLst>
      <p:ext uri="{BB962C8B-B14F-4D97-AF65-F5344CB8AC3E}">
        <p14:creationId xmlns:p14="http://schemas.microsoft.com/office/powerpoint/2010/main" val="6755255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Autofit/>
          </a:bodyPr>
          <a:lstStyle/>
          <a:p>
            <a:r>
              <a:rPr lang="es-PE" sz="2800" u="sng" dirty="0">
                <a:solidFill>
                  <a:srgbClr val="FF0000"/>
                </a:solidFill>
              </a:rPr>
              <a:t>Teoría molecular de la viscosidad de gases a baja densidad</a:t>
            </a:r>
            <a:endParaRPr lang="es-ES" sz="2800" u="sng" dirty="0">
              <a:solidFill>
                <a:srgbClr val="FF0000"/>
              </a:solidFill>
            </a:endParaRPr>
          </a:p>
        </p:txBody>
      </p:sp>
      <p:sp>
        <p:nvSpPr>
          <p:cNvPr id="3" name="2 Marcador de contenido"/>
          <p:cNvSpPr>
            <a:spLocks noGrp="1"/>
          </p:cNvSpPr>
          <p:nvPr>
            <p:ph sz="quarter" idx="1"/>
          </p:nvPr>
        </p:nvSpPr>
        <p:spPr>
          <a:xfrm>
            <a:off x="676655" y="1988840"/>
            <a:ext cx="3822192" cy="4137640"/>
          </a:xfrm>
        </p:spPr>
        <p:txBody>
          <a:bodyPr>
            <a:normAutofit lnSpcReduction="10000"/>
          </a:bodyPr>
          <a:lstStyle/>
          <a:p>
            <a:r>
              <a:rPr lang="es-ES_tradnl" sz="1800" dirty="0">
                <a:solidFill>
                  <a:schemeClr val="tx1"/>
                </a:solidFill>
              </a:rPr>
              <a:t>Las viscosidades de los gases a baja densidad se han estudiado ampliamente tanto en el aspecto experimental como teórico. Con el fin de ilustrar el mecanismo de transporte de cantidad de movimiento.</a:t>
            </a:r>
            <a:endParaRPr lang="es-ES" sz="1800" dirty="0">
              <a:solidFill>
                <a:schemeClr val="tx1"/>
              </a:solidFill>
            </a:endParaRPr>
          </a:p>
          <a:p>
            <a:r>
              <a:rPr lang="es-ES_tradnl" sz="1800" dirty="0">
                <a:solidFill>
                  <a:schemeClr val="tx1"/>
                </a:solidFill>
              </a:rPr>
              <a:t>Para adquirir una mejor compresión del concepto transporte de cantidad de movimiento molecular, analizaremos este mecanismo de transporte desde el punto, vista de una teoría cinética elemental de los gases.</a:t>
            </a:r>
            <a:endParaRPr lang="es-ES" sz="1800" dirty="0">
              <a:solidFill>
                <a:schemeClr val="tx1"/>
              </a:solidFill>
            </a:endParaRPr>
          </a:p>
          <a:p>
            <a:endParaRPr lang="es-ES" sz="1800" u="sng" dirty="0">
              <a:solidFill>
                <a:schemeClr val="tx1"/>
              </a:solidFill>
            </a:endParaRPr>
          </a:p>
        </p:txBody>
      </p:sp>
      <mc:AlternateContent xmlns:mc="http://schemas.openxmlformats.org/markup-compatibility/2006" xmlns:a14="http://schemas.microsoft.com/office/drawing/2010/main">
        <mc:Choice Requires="a14">
          <p:sp>
            <p:nvSpPr>
              <p:cNvPr id="4" name="3 Marcador de contenido"/>
              <p:cNvSpPr>
                <a:spLocks noGrp="1"/>
              </p:cNvSpPr>
              <p:nvPr>
                <p:ph sz="quarter" idx="2"/>
              </p:nvPr>
            </p:nvSpPr>
            <p:spPr>
              <a:xfrm>
                <a:off x="4645152" y="2060848"/>
                <a:ext cx="3822192" cy="4065632"/>
              </a:xfrm>
            </p:spPr>
            <p:txBody>
              <a:bodyPr>
                <a:normAutofit/>
              </a:bodyPr>
              <a:lstStyle/>
              <a:p>
                <a:pPr marL="0" indent="0" algn="ctr">
                  <a:buNone/>
                </a:pPr>
                <a14:m>
                  <m:oMathPara xmlns:m="http://schemas.openxmlformats.org/officeDocument/2006/math">
                    <m:oMathParaPr>
                      <m:jc m:val="centerGroup"/>
                    </m:oMathParaPr>
                    <m:oMath xmlns:m="http://schemas.openxmlformats.org/officeDocument/2006/math">
                      <m:acc>
                        <m:accPr>
                          <m:chr m:val="̅"/>
                          <m:ctrlPr>
                            <a:rPr lang="es-ES" sz="2000" i="1" cap="all" smtClean="0">
                              <a:solidFill>
                                <a:schemeClr val="tx1"/>
                              </a:solidFill>
                              <a:latin typeface="Cambria Math"/>
                            </a:rPr>
                          </m:ctrlPr>
                        </m:accPr>
                        <m:e>
                          <m:r>
                            <a:rPr lang="es-ES_tradnl" sz="2000" i="1" cap="all">
                              <a:solidFill>
                                <a:schemeClr val="tx1"/>
                              </a:solidFill>
                              <a:latin typeface="Cambria Math"/>
                            </a:rPr>
                            <m:t>𝑢</m:t>
                          </m:r>
                        </m:e>
                      </m:acc>
                      <m:r>
                        <a:rPr lang="es-ES_tradnl" sz="2000" i="1" cap="all">
                          <a:solidFill>
                            <a:schemeClr val="tx1"/>
                          </a:solidFill>
                          <a:latin typeface="Cambria Math"/>
                        </a:rPr>
                        <m:t>= </m:t>
                      </m:r>
                      <m:rad>
                        <m:radPr>
                          <m:degHide m:val="on"/>
                          <m:ctrlPr>
                            <a:rPr lang="es-ES" sz="2000" i="1" cap="all">
                              <a:solidFill>
                                <a:schemeClr val="tx1"/>
                              </a:solidFill>
                              <a:latin typeface="Cambria Math"/>
                            </a:rPr>
                          </m:ctrlPr>
                        </m:radPr>
                        <m:deg/>
                        <m:e>
                          <m:f>
                            <m:fPr>
                              <m:ctrlPr>
                                <a:rPr lang="es-ES" sz="2000" i="1" cap="all">
                                  <a:solidFill>
                                    <a:schemeClr val="tx1"/>
                                  </a:solidFill>
                                  <a:latin typeface="Cambria Math"/>
                                </a:rPr>
                              </m:ctrlPr>
                            </m:fPr>
                            <m:num>
                              <m:r>
                                <a:rPr lang="es-ES_tradnl" sz="2000" i="1" cap="all">
                                  <a:solidFill>
                                    <a:schemeClr val="tx1"/>
                                  </a:solidFill>
                                  <a:latin typeface="Cambria Math"/>
                                </a:rPr>
                                <m:t>8</m:t>
                              </m:r>
                              <m:r>
                                <a:rPr lang="es-ES_tradnl" sz="2000" i="1" cap="all">
                                  <a:solidFill>
                                    <a:schemeClr val="tx1"/>
                                  </a:solidFill>
                                  <a:latin typeface="Cambria Math"/>
                                </a:rPr>
                                <m:t>𝑘𝑇</m:t>
                              </m:r>
                            </m:num>
                            <m:den>
                              <m:r>
                                <a:rPr lang="es-ES_tradnl" sz="2000" i="1" cap="all">
                                  <a:solidFill>
                                    <a:schemeClr val="tx1"/>
                                  </a:solidFill>
                                  <a:latin typeface="Cambria Math"/>
                                </a:rPr>
                                <m:t>𝜋</m:t>
                              </m:r>
                              <m:r>
                                <a:rPr lang="es-ES_tradnl" sz="2000" i="1" cap="all">
                                  <a:solidFill>
                                    <a:schemeClr val="tx1"/>
                                  </a:solidFill>
                                  <a:latin typeface="Cambria Math"/>
                                </a:rPr>
                                <m:t>𝑚</m:t>
                              </m:r>
                            </m:den>
                          </m:f>
                        </m:e>
                      </m:rad>
                    </m:oMath>
                  </m:oMathPara>
                </a14:m>
                <a:endParaRPr lang="es-ES" dirty="0">
                  <a:solidFill>
                    <a:schemeClr val="tx1"/>
                  </a:solidFill>
                </a:endParaRPr>
              </a:p>
              <a:p>
                <a:pPr marL="0" indent="0">
                  <a:buNone/>
                </a:pPr>
                <a:r>
                  <a:rPr lang="es-ES" sz="2000" dirty="0" smtClean="0"/>
                  <a:t>Donde:</a:t>
                </a:r>
              </a:p>
              <a:p>
                <a:r>
                  <a:rPr lang="es-ES_tradnl" sz="2000" i="1" dirty="0"/>
                  <a:t>k </a:t>
                </a:r>
                <a:r>
                  <a:rPr lang="es-ES_tradnl" sz="2000" dirty="0"/>
                  <a:t>es la constante de </a:t>
                </a:r>
                <a:r>
                  <a:rPr lang="es-ES_tradnl" sz="2000" dirty="0" err="1"/>
                  <a:t>Boltzman</a:t>
                </a:r>
                <a:r>
                  <a:rPr lang="es-ES_tradnl" sz="2000" dirty="0" smtClean="0"/>
                  <a:t>.</a:t>
                </a:r>
              </a:p>
              <a:p>
                <a14:m>
                  <m:oMath xmlns:m="http://schemas.openxmlformats.org/officeDocument/2006/math">
                    <m:acc>
                      <m:accPr>
                        <m:chr m:val="̅"/>
                        <m:ctrlPr>
                          <a:rPr lang="es-ES" sz="2000" i="1" cap="all">
                            <a:solidFill>
                              <a:schemeClr val="tx1"/>
                            </a:solidFill>
                            <a:latin typeface="Cambria Math"/>
                          </a:rPr>
                        </m:ctrlPr>
                      </m:accPr>
                      <m:e>
                        <m:r>
                          <a:rPr lang="es-ES_tradnl" sz="2000" i="1" cap="all">
                            <a:solidFill>
                              <a:schemeClr val="tx1"/>
                            </a:solidFill>
                            <a:latin typeface="Cambria Math"/>
                          </a:rPr>
                          <m:t>𝑢</m:t>
                        </m:r>
                      </m:e>
                    </m:acc>
                  </m:oMath>
                </a14:m>
                <a:r>
                  <a:rPr lang="es-ES" sz="2000" dirty="0" smtClean="0"/>
                  <a:t>= viscosidad de un gas.</a:t>
                </a:r>
              </a:p>
              <a:p>
                <a:r>
                  <a:rPr lang="es-ES" sz="2000" dirty="0" smtClean="0"/>
                  <a:t>M= masa</a:t>
                </a:r>
              </a:p>
              <a:p>
                <a:r>
                  <a:rPr lang="es-ES" sz="2000" dirty="0" smtClean="0"/>
                  <a:t>T= temperatura</a:t>
                </a:r>
              </a:p>
              <a:p>
                <a:pPr marL="0" indent="0">
                  <a:buNone/>
                </a:pPr>
                <a:endParaRPr lang="es-ES" sz="2000" dirty="0"/>
              </a:p>
            </p:txBody>
          </p:sp>
        </mc:Choice>
        <mc:Fallback xmlns="">
          <p:sp>
            <p:nvSpPr>
              <p:cNvPr id="4" name="3 Marcador de contenido"/>
              <p:cNvSpPr>
                <a:spLocks noGrp="1" noRot="1" noChangeAspect="1" noMove="1" noResize="1" noEditPoints="1" noAdjustHandles="1" noChangeArrowheads="1" noChangeShapeType="1" noTextEdit="1"/>
              </p:cNvSpPr>
              <p:nvPr>
                <p:ph sz="quarter" idx="2"/>
              </p:nvPr>
            </p:nvSpPr>
            <p:spPr>
              <a:xfrm>
                <a:off x="4645152" y="2060848"/>
                <a:ext cx="3822192" cy="4065632"/>
              </a:xfrm>
              <a:blipFill rotWithShape="1">
                <a:blip r:embed="rId2"/>
                <a:stretch>
                  <a:fillRect l="-1595"/>
                </a:stretch>
              </a:blipFill>
            </p:spPr>
            <p:txBody>
              <a:bodyPr/>
              <a:lstStyle/>
              <a:p>
                <a:r>
                  <a:rPr lang="es-ES">
                    <a:noFill/>
                  </a:rPr>
                  <a:t> </a:t>
                </a:r>
              </a:p>
            </p:txBody>
          </p:sp>
        </mc:Fallback>
      </mc:AlternateContent>
    </p:spTree>
    <p:extLst>
      <p:ext uri="{BB962C8B-B14F-4D97-AF65-F5344CB8AC3E}">
        <p14:creationId xmlns:p14="http://schemas.microsoft.com/office/powerpoint/2010/main" val="40605390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38328"/>
            <a:ext cx="8229600" cy="930432"/>
          </a:xfrm>
        </p:spPr>
        <p:txBody>
          <a:bodyPr>
            <a:normAutofit/>
          </a:bodyPr>
          <a:lstStyle/>
          <a:p>
            <a:pPr lvl="1" algn="ctr"/>
            <a:r>
              <a:rPr lang="es-ES_tradnl" sz="2400" b="1" dirty="0">
                <a:solidFill>
                  <a:srgbClr val="FF0000"/>
                </a:solidFill>
              </a:rPr>
              <a:t>Variación de la viscosidad con la </a:t>
            </a:r>
            <a:r>
              <a:rPr lang="es-ES_tradnl" sz="2400" b="1" dirty="0" smtClean="0">
                <a:solidFill>
                  <a:srgbClr val="FF0000"/>
                </a:solidFill>
              </a:rPr>
              <a:t>presión y temperatura </a:t>
            </a:r>
            <a:endParaRPr lang="es-ES" sz="2400" b="1" dirty="0">
              <a:solidFill>
                <a:srgbClr val="FF0000"/>
              </a:solidFill>
            </a:endParaRPr>
          </a:p>
        </p:txBody>
      </p:sp>
      <p:sp>
        <p:nvSpPr>
          <p:cNvPr id="3" name="2 Marcador de contenido"/>
          <p:cNvSpPr>
            <a:spLocks noGrp="1"/>
          </p:cNvSpPr>
          <p:nvPr>
            <p:ph sz="quarter" idx="1"/>
          </p:nvPr>
        </p:nvSpPr>
        <p:spPr>
          <a:xfrm>
            <a:off x="676655" y="1412776"/>
            <a:ext cx="3822192" cy="4713704"/>
          </a:xfrm>
        </p:spPr>
        <p:txBody>
          <a:bodyPr>
            <a:normAutofit/>
          </a:bodyPr>
          <a:lstStyle/>
          <a:p>
            <a:r>
              <a:rPr lang="es-ES" dirty="0" smtClean="0">
                <a:solidFill>
                  <a:schemeClr val="tx1"/>
                </a:solidFill>
              </a:rPr>
              <a:t>En los líquidos hay una relación exponencial  entre la presión y la temperatura.</a:t>
            </a:r>
          </a:p>
          <a:p>
            <a:r>
              <a:rPr lang="es-ES" dirty="0" smtClean="0"/>
              <a:t>A mayor presión  ,mayor temperatura menor viscosidad.</a:t>
            </a:r>
          </a:p>
          <a:p>
            <a:endParaRPr lang="es-ES" dirty="0" smtClean="0">
              <a:solidFill>
                <a:schemeClr val="tx1"/>
              </a:solidFill>
            </a:endParaRPr>
          </a:p>
          <a:p>
            <a:r>
              <a:rPr lang="es-ES" dirty="0" smtClean="0">
                <a:solidFill>
                  <a:schemeClr val="tx1"/>
                </a:solidFill>
              </a:rPr>
              <a:t>Una pequeña  variación de temperatura es igual a gran variación de la viscosidad.</a:t>
            </a:r>
          </a:p>
          <a:p>
            <a:endParaRPr lang="es-ES" dirty="0">
              <a:solidFill>
                <a:schemeClr val="tx1"/>
              </a:solidFill>
            </a:endParaRPr>
          </a:p>
        </p:txBody>
      </p:sp>
      <p:pic>
        <p:nvPicPr>
          <p:cNvPr id="7170" name="Picture 2"/>
          <p:cNvPicPr>
            <a:picLocks noGrp="1" noChangeAspect="1" noChangeArrowheads="1"/>
          </p:cNvPicPr>
          <p:nvPr>
            <p:ph sz="quarter" idx="2"/>
          </p:nvPr>
        </p:nvPicPr>
        <p:blipFill rotWithShape="1">
          <a:blip r:embed="rId2">
            <a:extLst>
              <a:ext uri="{28A0092B-C50C-407E-A947-70E740481C1C}">
                <a14:useLocalDpi xmlns:a14="http://schemas.microsoft.com/office/drawing/2010/main" val="0"/>
              </a:ext>
            </a:extLst>
          </a:blip>
          <a:srcRect l="11084" t="9746" r="5659" b="20996"/>
          <a:stretch/>
        </p:blipFill>
        <p:spPr bwMode="auto">
          <a:xfrm>
            <a:off x="4860032" y="1700808"/>
            <a:ext cx="3510063" cy="2808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53566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620688"/>
            <a:ext cx="8229600" cy="786416"/>
          </a:xfrm>
        </p:spPr>
        <p:txBody>
          <a:bodyPr>
            <a:noAutofit/>
          </a:bodyPr>
          <a:lstStyle/>
          <a:p>
            <a:pPr lvl="2" algn="ctr" rtl="0">
              <a:spcBef>
                <a:spcPct val="0"/>
              </a:spcBef>
            </a:pPr>
            <a:r>
              <a:rPr lang="es-ES_tradnl" sz="3200" b="1" dirty="0">
                <a:solidFill>
                  <a:srgbClr val="FF0000"/>
                </a:solidFill>
              </a:rPr>
              <a:t>La ecuación de Barus y Kuss:</a:t>
            </a:r>
            <a:r>
              <a:rPr lang="es-ES" sz="3200" b="1" dirty="0">
                <a:solidFill>
                  <a:srgbClr val="FF0000"/>
                </a:solidFill>
              </a:rPr>
              <a:t/>
            </a:r>
            <a:br>
              <a:rPr lang="es-ES" sz="3200" b="1" dirty="0">
                <a:solidFill>
                  <a:srgbClr val="FF0000"/>
                </a:solidFill>
              </a:rPr>
            </a:br>
            <a:endParaRPr lang="es-ES" sz="3200" dirty="0">
              <a:solidFill>
                <a:srgbClr val="FF0000"/>
              </a:solidFill>
            </a:endParaRPr>
          </a:p>
        </p:txBody>
      </p:sp>
      <p:sp>
        <p:nvSpPr>
          <p:cNvPr id="3" name="2 Marcador de contenido"/>
          <p:cNvSpPr>
            <a:spLocks noGrp="1"/>
          </p:cNvSpPr>
          <p:nvPr>
            <p:ph sz="quarter" idx="1"/>
          </p:nvPr>
        </p:nvSpPr>
        <p:spPr>
          <a:xfrm>
            <a:off x="676655" y="1340768"/>
            <a:ext cx="3822192" cy="4785712"/>
          </a:xfrm>
        </p:spPr>
        <p:txBody>
          <a:bodyPr/>
          <a:lstStyle/>
          <a:p>
            <a:pPr algn="ctr"/>
            <a:r>
              <a:rPr lang="es-PE" sz="3200" b="1" dirty="0"/>
              <a:t>µ = µ</a:t>
            </a:r>
            <a:r>
              <a:rPr lang="es-PE" sz="3200" b="1" baseline="-25000" dirty="0"/>
              <a:t>0</a:t>
            </a:r>
            <a:r>
              <a:rPr lang="es-PE" sz="3200" b="1" dirty="0"/>
              <a:t>. е</a:t>
            </a:r>
            <a:r>
              <a:rPr lang="es-PE" sz="3200" b="1" baseline="30000" dirty="0"/>
              <a:t>(αP</a:t>
            </a:r>
            <a:r>
              <a:rPr lang="es-PE" sz="3200" b="1" baseline="30000" dirty="0" smtClean="0"/>
              <a:t>)</a:t>
            </a:r>
          </a:p>
          <a:p>
            <a:endParaRPr lang="es-ES" dirty="0"/>
          </a:p>
          <a:p>
            <a:pPr marL="0" indent="0">
              <a:buNone/>
            </a:pPr>
            <a:r>
              <a:rPr lang="es-PE" dirty="0"/>
              <a:t>Dónde: </a:t>
            </a:r>
            <a:endParaRPr lang="es-ES" dirty="0"/>
          </a:p>
          <a:p>
            <a:r>
              <a:rPr lang="es-PE" sz="1800" dirty="0"/>
              <a:t>µ</a:t>
            </a:r>
            <a:r>
              <a:rPr lang="es-PE" sz="1800" baseline="-25000" dirty="0"/>
              <a:t>0 = </a:t>
            </a:r>
            <a:r>
              <a:rPr lang="es-PE" sz="1800" dirty="0"/>
              <a:t>viscosidad a presión atmosférica.</a:t>
            </a:r>
            <a:endParaRPr lang="es-ES" sz="1800" dirty="0"/>
          </a:p>
          <a:p>
            <a:r>
              <a:rPr lang="es-PE" sz="1800" dirty="0"/>
              <a:t>µ = Viscosidad a la Presión P</a:t>
            </a:r>
            <a:endParaRPr lang="es-ES" sz="1800" dirty="0"/>
          </a:p>
          <a:p>
            <a:r>
              <a:rPr lang="es-PE" sz="1800" dirty="0"/>
              <a:t>α = Es un parámetro que según Worster equivalen a:</a:t>
            </a:r>
            <a:endParaRPr lang="es-ES" sz="1800" dirty="0"/>
          </a:p>
          <a:p>
            <a:r>
              <a:rPr lang="es-PE" sz="1800" dirty="0"/>
              <a:t>α = (0,6 + 0,965 x logµ) x 10</a:t>
            </a:r>
            <a:r>
              <a:rPr lang="es-PE" sz="1800" baseline="30000" dirty="0"/>
              <a:t>3</a:t>
            </a:r>
            <a:endParaRPr lang="es-ES" sz="1800" dirty="0"/>
          </a:p>
          <a:p>
            <a:endParaRPr lang="es-ES" dirty="0"/>
          </a:p>
        </p:txBody>
      </p:sp>
      <p:sp>
        <p:nvSpPr>
          <p:cNvPr id="4" name="3 Marcador de contenido"/>
          <p:cNvSpPr>
            <a:spLocks noGrp="1"/>
          </p:cNvSpPr>
          <p:nvPr>
            <p:ph sz="quarter" idx="2"/>
          </p:nvPr>
        </p:nvSpPr>
        <p:spPr>
          <a:xfrm>
            <a:off x="4645152" y="1412776"/>
            <a:ext cx="3822192" cy="4713704"/>
          </a:xfrm>
        </p:spPr>
        <p:txBody>
          <a:bodyPr/>
          <a:lstStyle/>
          <a:p>
            <a:r>
              <a:rPr lang="es-PE" sz="3200" b="1" dirty="0"/>
              <a:t>V</a:t>
            </a:r>
            <a:r>
              <a:rPr lang="es-PE" sz="3200" b="1" baseline="-25000" dirty="0"/>
              <a:t>p</a:t>
            </a:r>
            <a:r>
              <a:rPr lang="es-PE" sz="3200" b="1" dirty="0"/>
              <a:t> = V</a:t>
            </a:r>
            <a:r>
              <a:rPr lang="es-PE" sz="3200" b="1" baseline="-25000" dirty="0"/>
              <a:t>0</a:t>
            </a:r>
            <a:r>
              <a:rPr lang="es-PE" sz="3200" b="1" dirty="0"/>
              <a:t> ( 1 + a.p</a:t>
            </a:r>
            <a:r>
              <a:rPr lang="es-PE" sz="3200" b="1" dirty="0" smtClean="0"/>
              <a:t>)</a:t>
            </a:r>
          </a:p>
          <a:p>
            <a:endParaRPr lang="es-PE" dirty="0" smtClean="0"/>
          </a:p>
          <a:p>
            <a:pPr marL="0" indent="0">
              <a:buNone/>
            </a:pPr>
            <a:r>
              <a:rPr lang="es-ES" dirty="0" smtClean="0"/>
              <a:t>Donde:</a:t>
            </a:r>
            <a:endParaRPr lang="es-ES" dirty="0"/>
          </a:p>
          <a:p>
            <a:r>
              <a:rPr lang="es-PE" sz="1800" dirty="0"/>
              <a:t>V</a:t>
            </a:r>
            <a:r>
              <a:rPr lang="es-PE" sz="1800" baseline="-25000" dirty="0"/>
              <a:t>p </a:t>
            </a:r>
            <a:r>
              <a:rPr lang="es-PE" sz="1800" dirty="0"/>
              <a:t>= viscosidad absoluta o cinemática a presión (p) en kg/cm</a:t>
            </a:r>
            <a:r>
              <a:rPr lang="es-PE" sz="1800" baseline="30000" dirty="0"/>
              <a:t>2</a:t>
            </a:r>
            <a:endParaRPr lang="es-ES" sz="1800" dirty="0"/>
          </a:p>
          <a:p>
            <a:r>
              <a:rPr lang="es-PE" sz="1800" dirty="0"/>
              <a:t>V</a:t>
            </a:r>
            <a:r>
              <a:rPr lang="es-PE" sz="1800" baseline="-25000" dirty="0"/>
              <a:t>0</a:t>
            </a:r>
            <a:r>
              <a:rPr lang="es-PE" sz="1800" dirty="0"/>
              <a:t> = Viscosidad de la presión atmosférica.</a:t>
            </a:r>
            <a:endParaRPr lang="es-ES" sz="1800" dirty="0"/>
          </a:p>
          <a:p>
            <a:r>
              <a:rPr lang="es-PE" sz="1800" dirty="0"/>
              <a:t>a = coeficiente de dilatación; 0,0003 para los aceites minerales</a:t>
            </a:r>
            <a:endParaRPr lang="es-ES" sz="1800" dirty="0"/>
          </a:p>
          <a:p>
            <a:r>
              <a:rPr lang="es-PE" sz="1800" dirty="0"/>
              <a:t>p = Presión del aceite en kg/cm</a:t>
            </a:r>
            <a:r>
              <a:rPr lang="es-PE" sz="1800" baseline="30000" dirty="0"/>
              <a:t>2</a:t>
            </a:r>
            <a:endParaRPr lang="es-ES" sz="1800" dirty="0"/>
          </a:p>
          <a:p>
            <a:endParaRPr lang="es-ES" dirty="0"/>
          </a:p>
        </p:txBody>
      </p:sp>
    </p:spTree>
    <p:extLst>
      <p:ext uri="{BB962C8B-B14F-4D97-AF65-F5344CB8AC3E}">
        <p14:creationId xmlns:p14="http://schemas.microsoft.com/office/powerpoint/2010/main" val="11285376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pPr algn="ctr"/>
            <a:r>
              <a:rPr lang="es-ES" sz="4000" cap="none" dirty="0" smtClean="0">
                <a:solidFill>
                  <a:srgbClr val="FF0000"/>
                </a:solidFill>
              </a:rPr>
              <a:t>conclusión</a:t>
            </a:r>
            <a:endParaRPr lang="es-ES" sz="4000" cap="none" dirty="0">
              <a:solidFill>
                <a:srgbClr val="FF0000"/>
              </a:solidFill>
            </a:endParaRPr>
          </a:p>
        </p:txBody>
      </p:sp>
      <p:sp>
        <p:nvSpPr>
          <p:cNvPr id="2" name="1 Marcador de contenido"/>
          <p:cNvSpPr>
            <a:spLocks noGrp="1"/>
          </p:cNvSpPr>
          <p:nvPr>
            <p:ph sz="quarter" idx="1"/>
          </p:nvPr>
        </p:nvSpPr>
        <p:spPr>
          <a:xfrm>
            <a:off x="2051720" y="1700808"/>
            <a:ext cx="4680520" cy="3312368"/>
          </a:xfrm>
        </p:spPr>
        <p:txBody>
          <a:bodyPr>
            <a:normAutofit fontScale="77500" lnSpcReduction="20000"/>
          </a:bodyPr>
          <a:lstStyle/>
          <a:p>
            <a:pPr>
              <a:buFont typeface="Wingdings" panose="05000000000000000000" pitchFamily="2" charset="2"/>
              <a:buChar char="§"/>
            </a:pPr>
            <a:r>
              <a:rPr lang="es-ES" dirty="0"/>
              <a:t>Las viscosidades de los líquidos se pueden calcular a partir de las densidades que se calculan para cada </a:t>
            </a:r>
            <a:r>
              <a:rPr lang="es-ES" dirty="0" smtClean="0"/>
              <a:t>temperatura.</a:t>
            </a:r>
            <a:endParaRPr lang="es-ES" dirty="0"/>
          </a:p>
          <a:p>
            <a:pPr>
              <a:buFont typeface="Wingdings" panose="05000000000000000000" pitchFamily="2" charset="2"/>
              <a:buChar char="§"/>
            </a:pPr>
            <a:r>
              <a:rPr lang="es-ES" dirty="0" smtClean="0"/>
              <a:t>A </a:t>
            </a:r>
            <a:r>
              <a:rPr lang="es-ES" dirty="0"/>
              <a:t>mayor temperatura el valor de la viscosidad va a disminuir</a:t>
            </a:r>
            <a:r>
              <a:rPr lang="es-ES" dirty="0" smtClean="0"/>
              <a:t>.</a:t>
            </a:r>
          </a:p>
          <a:p>
            <a:pPr>
              <a:buFont typeface="Wingdings" panose="05000000000000000000" pitchFamily="2" charset="2"/>
              <a:buChar char="§"/>
            </a:pPr>
            <a:r>
              <a:rPr lang="es-ES" dirty="0"/>
              <a:t>Con el viscosímetro de </a:t>
            </a:r>
            <a:r>
              <a:rPr lang="es-ES" dirty="0" err="1"/>
              <a:t>Ostwald</a:t>
            </a:r>
            <a:r>
              <a:rPr lang="es-ES" dirty="0"/>
              <a:t> se pueden determinar adecuadamente los tiempos en los que el liquido va a pasar de un punto A </a:t>
            </a:r>
            <a:r>
              <a:rPr lang="es-ES" dirty="0" err="1"/>
              <a:t>a</a:t>
            </a:r>
            <a:r>
              <a:rPr lang="es-ES" dirty="0"/>
              <a:t> un punto B.</a:t>
            </a:r>
            <a:br>
              <a:rPr lang="es-ES" dirty="0"/>
            </a:br>
            <a:r>
              <a:rPr lang="es-ES" dirty="0"/>
              <a:t/>
            </a:r>
            <a:br>
              <a:rPr lang="es-ES" dirty="0"/>
            </a:br>
            <a:endParaRPr lang="es-ES" dirty="0"/>
          </a:p>
        </p:txBody>
      </p:sp>
    </p:spTree>
    <p:extLst>
      <p:ext uri="{BB962C8B-B14F-4D97-AF65-F5344CB8AC3E}">
        <p14:creationId xmlns:p14="http://schemas.microsoft.com/office/powerpoint/2010/main" val="54593907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1493</TotalTime>
  <Words>1292</Words>
  <Application>Microsoft Office PowerPoint</Application>
  <PresentationFormat>Presentación en pantalla (4:3)</PresentationFormat>
  <Paragraphs>132</Paragraphs>
  <Slides>17</Slides>
  <Notes>0</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Mirador</vt:lpstr>
      <vt:lpstr>La viscosidad </vt:lpstr>
      <vt:lpstr>QUE ES LA VISCOSIDAD</vt:lpstr>
      <vt:lpstr>COMO PODEMOS APRECIARLA</vt:lpstr>
      <vt:lpstr>Variedad de la viscosidad</vt:lpstr>
      <vt:lpstr>Viscosidad cinemática </vt:lpstr>
      <vt:lpstr>Como se mide la viscosidad</vt:lpstr>
      <vt:lpstr>Fluidos viscosos </vt:lpstr>
      <vt:lpstr>Fluido newtoniano</vt:lpstr>
      <vt:lpstr>FLUIDOS NO NEWTONIANO</vt:lpstr>
      <vt:lpstr>Ley de Newton</vt:lpstr>
      <vt:lpstr>Ley de Stokes</vt:lpstr>
      <vt:lpstr>Ley de Poiseuille</vt:lpstr>
      <vt:lpstr>Variación de la viscosidad con la temperatura Todos los fluidos exhiben este comportamiento hasta cierto punto, observe que la viscosidad se traza en una escala logarítmica debido al gran rango de valores numéricos. Los gases se comportan de manera diferente a los líquidos ya que su viscosidad aumenta conforme se incrementa la Temperatura.</vt:lpstr>
      <vt:lpstr>Teoría molecular de la viscosidad de gases a baja densidad</vt:lpstr>
      <vt:lpstr>Variación de la viscosidad con la presión y temperatura </vt:lpstr>
      <vt:lpstr>La ecuación de Barus y Kuss: </vt:lpstr>
      <vt:lpstr>conclusión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viscosidad</dc:title>
  <dc:creator>SERVER</dc:creator>
  <cp:lastModifiedBy>SERVER</cp:lastModifiedBy>
  <cp:revision>26</cp:revision>
  <dcterms:created xsi:type="dcterms:W3CDTF">2018-05-19T18:27:23Z</dcterms:created>
  <dcterms:modified xsi:type="dcterms:W3CDTF">2018-05-21T18:30:43Z</dcterms:modified>
</cp:coreProperties>
</file>