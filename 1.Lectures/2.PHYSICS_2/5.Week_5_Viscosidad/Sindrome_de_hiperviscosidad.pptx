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132AE-5958-43BB-B30F-0C930E3A178D}" type="datetimeFigureOut">
              <a:rPr lang="es-AR" smtClean="0"/>
              <a:t>12/5/2019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85B99C-B8AD-49B4-AD25-0795B8DB5005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132AE-5958-43BB-B30F-0C930E3A178D}" type="datetimeFigureOut">
              <a:rPr lang="es-AR" smtClean="0"/>
              <a:t>12/5/2019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99C-B8AD-49B4-AD25-0795B8DB5005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132AE-5958-43BB-B30F-0C930E3A178D}" type="datetimeFigureOut">
              <a:rPr lang="es-AR" smtClean="0"/>
              <a:t>12/5/2019</a:t>
            </a:fld>
            <a:endParaRPr lang="es-AR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485B99C-B8AD-49B4-AD25-0795B8DB5005}" type="slidenum">
              <a:rPr lang="es-AR" smtClean="0"/>
              <a:t>‹Nº›</a:t>
            </a:fld>
            <a:endParaRPr lang="es-A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A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132AE-5958-43BB-B30F-0C930E3A178D}" type="datetimeFigureOut">
              <a:rPr lang="es-AR" smtClean="0"/>
              <a:t>12/5/2019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99C-B8AD-49B4-AD25-0795B8DB5005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132AE-5958-43BB-B30F-0C930E3A178D}" type="datetimeFigureOut">
              <a:rPr lang="es-AR" smtClean="0"/>
              <a:t>12/5/2019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99C-B8AD-49B4-AD25-0795B8DB5005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132AE-5958-43BB-B30F-0C930E3A178D}" type="datetimeFigureOut">
              <a:rPr lang="es-AR" smtClean="0"/>
              <a:t>12/5/2019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99C-B8AD-49B4-AD25-0795B8DB5005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132AE-5958-43BB-B30F-0C930E3A178D}" type="datetimeFigureOut">
              <a:rPr lang="es-AR" smtClean="0"/>
              <a:t>12/5/2019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99C-B8AD-49B4-AD25-0795B8DB5005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132AE-5958-43BB-B30F-0C930E3A178D}" type="datetimeFigureOut">
              <a:rPr lang="es-AR" smtClean="0"/>
              <a:t>12/5/2019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99C-B8AD-49B4-AD25-0795B8DB5005}" type="slidenum">
              <a:rPr lang="es-AR" smtClean="0"/>
              <a:t>‹Nº›</a:t>
            </a:fld>
            <a:endParaRPr lang="es-AR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132AE-5958-43BB-B30F-0C930E3A178D}" type="datetimeFigureOut">
              <a:rPr lang="es-AR" smtClean="0"/>
              <a:t>12/5/2019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85B99C-B8AD-49B4-AD25-0795B8DB5005}" type="slidenum">
              <a:rPr lang="es-AR" smtClean="0"/>
              <a:t>‹Nº›</a:t>
            </a:fld>
            <a:endParaRPr lang="es-AR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132AE-5958-43BB-B30F-0C930E3A178D}" type="datetimeFigureOut">
              <a:rPr lang="es-AR" smtClean="0"/>
              <a:t>12/5/2019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99C-B8AD-49B4-AD25-0795B8DB5005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132AE-5958-43BB-B30F-0C930E3A178D}" type="datetimeFigureOut">
              <a:rPr lang="es-AR" smtClean="0"/>
              <a:t>12/5/2019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99C-B8AD-49B4-AD25-0795B8DB5005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0BC132AE-5958-43BB-B30F-0C930E3A178D}" type="datetimeFigureOut">
              <a:rPr lang="es-AR" smtClean="0"/>
              <a:t>12/5/2019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D485B99C-B8AD-49B4-AD25-0795B8DB5005}" type="slidenum">
              <a:rPr lang="es-AR" smtClean="0"/>
              <a:t>‹Nº›</a:t>
            </a:fld>
            <a:endParaRPr lang="es-AR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es.wikipedia.org/wiki/Sangre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sz="3200" b="1" dirty="0"/>
              <a:t>Síndrome de </a:t>
            </a:r>
            <a:r>
              <a:rPr lang="es-AR" sz="3200" b="1" dirty="0" err="1"/>
              <a:t>hiperviscosidad</a:t>
            </a:r>
            <a:endParaRPr lang="es-AR" sz="32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s-AR" dirty="0" smtClean="0"/>
              <a:t>-Vittorio falco-</a:t>
            </a:r>
          </a:p>
          <a:p>
            <a:pPr algn="ctr"/>
            <a:r>
              <a:rPr lang="es-AR" dirty="0" smtClean="0"/>
              <a:t>UA Cesar </a:t>
            </a:r>
            <a:r>
              <a:rPr lang="es-AR" dirty="0" err="1" smtClean="0"/>
              <a:t>Milstein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632340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11560" y="692696"/>
            <a:ext cx="7920880" cy="5544616"/>
          </a:xfrm>
        </p:spPr>
        <p:txBody>
          <a:bodyPr/>
          <a:lstStyle/>
          <a:p>
            <a:r>
              <a:rPr lang="es-AR" sz="2800" dirty="0"/>
              <a:t>El síndrome de </a:t>
            </a:r>
            <a:r>
              <a:rPr lang="es-AR" sz="2800" dirty="0" err="1"/>
              <a:t>hiperviscosidad</a:t>
            </a:r>
            <a:r>
              <a:rPr lang="es-AR" sz="2800" dirty="0"/>
              <a:t> es un grupo de síntomas desencadenados por el aumento de viscosidad de la </a:t>
            </a:r>
            <a:r>
              <a:rPr lang="es-AR" sz="2800" dirty="0" smtClean="0">
                <a:hlinkClick r:id="rId2" tooltip="Sangre"/>
              </a:rPr>
              <a:t>sangre</a:t>
            </a:r>
            <a:r>
              <a:rPr lang="es-AR" sz="2800" dirty="0" smtClean="0"/>
              <a:t>. </a:t>
            </a:r>
            <a:br>
              <a:rPr lang="es-AR" sz="2800" dirty="0" smtClean="0"/>
            </a:br>
            <a:r>
              <a:rPr lang="es-AR" sz="2800" dirty="0"/>
              <a:t/>
            </a:r>
            <a:br>
              <a:rPr lang="es-AR" sz="2800" dirty="0"/>
            </a:br>
            <a:r>
              <a:rPr lang="es-AR" sz="2800" dirty="0"/>
              <a:t>Los síntomas aparecen por lo general cuando </a:t>
            </a:r>
            <a:r>
              <a:rPr lang="es-AR" sz="2800" dirty="0" smtClean="0"/>
              <a:t>la </a:t>
            </a:r>
            <a:r>
              <a:rPr lang="es-AR" sz="2800" dirty="0"/>
              <a:t>viscosidad del suero es &gt;4.0 </a:t>
            </a:r>
            <a:r>
              <a:rPr lang="es-AR" sz="2800" dirty="0" err="1"/>
              <a:t>centipoises</a:t>
            </a:r>
            <a:r>
              <a:rPr lang="es-AR" sz="2800" dirty="0"/>
              <a:t> </a:t>
            </a:r>
            <a:endParaRPr lang="es-AR" sz="28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755576" y="116632"/>
            <a:ext cx="6858000" cy="914400"/>
          </a:xfrm>
        </p:spPr>
        <p:txBody>
          <a:bodyPr>
            <a:normAutofit/>
          </a:bodyPr>
          <a:lstStyle/>
          <a:p>
            <a:r>
              <a:rPr lang="es-AR" sz="3600" dirty="0" smtClean="0"/>
              <a:t>Definición</a:t>
            </a:r>
            <a:endParaRPr lang="es-AR" sz="3600" dirty="0"/>
          </a:p>
        </p:txBody>
      </p:sp>
    </p:spTree>
    <p:extLst>
      <p:ext uri="{BB962C8B-B14F-4D97-AF65-F5344CB8AC3E}">
        <p14:creationId xmlns:p14="http://schemas.microsoft.com/office/powerpoint/2010/main" val="3861523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-685800"/>
            <a:ext cx="5791200" cy="1371600"/>
          </a:xfrm>
        </p:spPr>
        <p:txBody>
          <a:bodyPr/>
          <a:lstStyle/>
          <a:p>
            <a:r>
              <a:rPr lang="es-AR" dirty="0" smtClean="0"/>
              <a:t>Causas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itchFamily="34" charset="0"/>
              <a:buChar char="•"/>
            </a:pPr>
            <a:r>
              <a:rPr lang="es-AR" b="0" dirty="0"/>
              <a:t>I</a:t>
            </a:r>
            <a:r>
              <a:rPr lang="es-AR" b="0" dirty="0" smtClean="0"/>
              <a:t>ncremento </a:t>
            </a:r>
            <a:r>
              <a:rPr lang="es-AR" b="0" dirty="0"/>
              <a:t>en las proteínas séricas </a:t>
            </a:r>
            <a:endParaRPr lang="es-AR" b="0" dirty="0" smtClean="0"/>
          </a:p>
          <a:p>
            <a:pPr marL="342900" indent="-342900">
              <a:buFont typeface="Arial" pitchFamily="34" charset="0"/>
              <a:buChar char="•"/>
            </a:pPr>
            <a:endParaRPr lang="es-AR" b="0" dirty="0"/>
          </a:p>
          <a:p>
            <a:endParaRPr lang="es-AR" b="0" dirty="0" smtClean="0"/>
          </a:p>
          <a:p>
            <a:pPr marL="342900" indent="-342900">
              <a:buFont typeface="Arial" pitchFamily="34" charset="0"/>
              <a:buChar char="•"/>
            </a:pPr>
            <a:endParaRPr lang="es-AR" b="0" dirty="0" smtClean="0"/>
          </a:p>
          <a:p>
            <a:pPr marL="342900" indent="-342900">
              <a:buFont typeface="Arial" pitchFamily="34" charset="0"/>
              <a:buChar char="•"/>
            </a:pPr>
            <a:endParaRPr lang="es-AR" b="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s-AR" b="0" dirty="0" smtClean="0"/>
              <a:t>Aumento </a:t>
            </a:r>
            <a:r>
              <a:rPr lang="es-AR" b="0" dirty="0"/>
              <a:t>en los elementos celulares de la </a:t>
            </a:r>
            <a:r>
              <a:rPr lang="es-AR" b="0" dirty="0" smtClean="0"/>
              <a:t>sangre</a:t>
            </a:r>
          </a:p>
          <a:p>
            <a:pPr marL="342900" indent="-342900">
              <a:buFont typeface="Arial" pitchFamily="34" charset="0"/>
              <a:buChar char="•"/>
            </a:pPr>
            <a:endParaRPr lang="es-AR" dirty="0"/>
          </a:p>
        </p:txBody>
      </p:sp>
      <p:sp>
        <p:nvSpPr>
          <p:cNvPr id="5" name="4 Flecha derecha"/>
          <p:cNvSpPr/>
          <p:nvPr/>
        </p:nvSpPr>
        <p:spPr>
          <a:xfrm>
            <a:off x="1475656" y="2492896"/>
            <a:ext cx="1512168" cy="6480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6 Rectángulo"/>
          <p:cNvSpPr/>
          <p:nvPr/>
        </p:nvSpPr>
        <p:spPr>
          <a:xfrm>
            <a:off x="3995936" y="2348880"/>
            <a:ext cx="4608512" cy="12241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arenR"/>
            </a:pPr>
            <a:r>
              <a:rPr lang="es-AR" sz="2400" dirty="0" err="1">
                <a:solidFill>
                  <a:srgbClr val="FF0000"/>
                </a:solidFill>
              </a:rPr>
              <a:t>G</a:t>
            </a:r>
            <a:r>
              <a:rPr lang="es-AR" sz="2400" dirty="0" err="1" smtClean="0">
                <a:solidFill>
                  <a:srgbClr val="FF0000"/>
                </a:solidFill>
              </a:rPr>
              <a:t>amapatías</a:t>
            </a:r>
            <a:r>
              <a:rPr lang="es-AR" sz="2400" dirty="0" smtClean="0">
                <a:solidFill>
                  <a:srgbClr val="FF0000"/>
                </a:solidFill>
              </a:rPr>
              <a:t> </a:t>
            </a:r>
            <a:r>
              <a:rPr lang="es-AR" sz="2400" dirty="0">
                <a:solidFill>
                  <a:srgbClr val="FF0000"/>
                </a:solidFill>
              </a:rPr>
              <a:t>monoclonales</a:t>
            </a:r>
            <a:r>
              <a:rPr lang="es-AR" sz="2400" dirty="0"/>
              <a:t> </a:t>
            </a:r>
            <a:endParaRPr lang="es-AR" sz="2400" dirty="0" smtClean="0"/>
          </a:p>
          <a:p>
            <a:pPr marL="342900" indent="-342900" algn="ctr">
              <a:buAutoNum type="arabicParenR"/>
            </a:pPr>
            <a:r>
              <a:rPr lang="es-AR" sz="2400" dirty="0" smtClean="0">
                <a:solidFill>
                  <a:srgbClr val="FF0000"/>
                </a:solidFill>
              </a:rPr>
              <a:t>Mieloma </a:t>
            </a:r>
            <a:r>
              <a:rPr lang="es-AR" sz="2400" dirty="0" err="1" smtClean="0">
                <a:solidFill>
                  <a:srgbClr val="FF0000"/>
                </a:solidFill>
              </a:rPr>
              <a:t>multipe</a:t>
            </a:r>
            <a:endParaRPr lang="es-AR" sz="2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8" name="7 Flecha derecha"/>
          <p:cNvSpPr/>
          <p:nvPr/>
        </p:nvSpPr>
        <p:spPr>
          <a:xfrm>
            <a:off x="1482196" y="4653136"/>
            <a:ext cx="1512168" cy="6480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8 Rectángulo"/>
          <p:cNvSpPr/>
          <p:nvPr/>
        </p:nvSpPr>
        <p:spPr>
          <a:xfrm>
            <a:off x="3995936" y="4382438"/>
            <a:ext cx="4608512" cy="12241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arenR"/>
            </a:pPr>
            <a:r>
              <a:rPr lang="es-AR" sz="2800" dirty="0" err="1" smtClean="0">
                <a:solidFill>
                  <a:srgbClr val="FF0000"/>
                </a:solidFill>
              </a:rPr>
              <a:t>Policitemia</a:t>
            </a:r>
            <a:r>
              <a:rPr lang="es-AR" sz="2800" dirty="0"/>
              <a:t> </a:t>
            </a:r>
            <a:endParaRPr lang="es-AR" sz="2800" dirty="0" smtClean="0"/>
          </a:p>
          <a:p>
            <a:pPr marL="342900" indent="-342900" algn="ctr">
              <a:buAutoNum type="arabicParenR"/>
            </a:pPr>
            <a:r>
              <a:rPr lang="es-AR" sz="2800" dirty="0" smtClean="0">
                <a:solidFill>
                  <a:srgbClr val="FF0000"/>
                </a:solidFill>
              </a:rPr>
              <a:t>Leucemia</a:t>
            </a:r>
            <a:endParaRPr lang="es-AR" sz="28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38332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-531440"/>
            <a:ext cx="5791200" cy="1371600"/>
          </a:xfrm>
        </p:spPr>
        <p:txBody>
          <a:bodyPr/>
          <a:lstStyle/>
          <a:p>
            <a:r>
              <a:rPr lang="es-AR" dirty="0" smtClean="0"/>
              <a:t>Síntomas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836712"/>
            <a:ext cx="7620000" cy="5289451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s-AR" dirty="0" smtClean="0"/>
              <a:t>Epistaxis, sangrado de encías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s-AR" dirty="0" smtClean="0"/>
              <a:t>Visión borrosa, diplopía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s-AR" dirty="0" smtClean="0"/>
              <a:t>Cefalea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s-AR" dirty="0" smtClean="0"/>
              <a:t>Mareo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s-AR" dirty="0" smtClean="0"/>
              <a:t>Vértigo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s-AR" dirty="0" err="1" smtClean="0"/>
              <a:t>Nistagmus</a:t>
            </a:r>
            <a:r>
              <a:rPr lang="es-AR" dirty="0" smtClean="0"/>
              <a:t>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s-AR" dirty="0" smtClean="0"/>
              <a:t>Hipoacusia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s-AR" dirty="0" smtClean="0"/>
              <a:t>Ataxia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s-AR" dirty="0" smtClean="0"/>
              <a:t>Parestesias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s-AR" dirty="0" smtClean="0"/>
              <a:t>Somnolencia, Estupor, Coma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s-AR" dirty="0" smtClean="0"/>
              <a:t>Hemorragia SNC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s-AR" dirty="0" smtClean="0"/>
              <a:t>Insuficiencia cardiaca </a:t>
            </a:r>
          </a:p>
          <a:p>
            <a:pPr marL="342900" indent="-342900">
              <a:buFont typeface="Arial" pitchFamily="34" charset="0"/>
              <a:buChar char="•"/>
            </a:pPr>
            <a:endParaRPr lang="es-AR" dirty="0" smtClean="0"/>
          </a:p>
          <a:p>
            <a:pPr marL="342900" indent="-342900">
              <a:buFont typeface="Arial" pitchFamily="34" charset="0"/>
              <a:buChar char="•"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845804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67544" y="116632"/>
            <a:ext cx="7772400" cy="1066800"/>
          </a:xfrm>
        </p:spPr>
        <p:txBody>
          <a:bodyPr>
            <a:normAutofit fontScale="85000" lnSpcReduction="20000"/>
          </a:bodyPr>
          <a:lstStyle/>
          <a:p>
            <a:r>
              <a:rPr lang="es-AR" sz="3600" dirty="0" smtClean="0"/>
              <a:t>Tratamiento</a:t>
            </a:r>
          </a:p>
          <a:p>
            <a:r>
              <a:rPr lang="es-AR" sz="3600" dirty="0" smtClean="0"/>
              <a:t> </a:t>
            </a:r>
            <a:r>
              <a:rPr lang="es-AR" sz="1800" dirty="0" smtClean="0"/>
              <a:t>en MIELOMA MÚLTIPLE</a:t>
            </a:r>
            <a:endParaRPr lang="es-AR" sz="3600" dirty="0"/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609600" y="1600200"/>
            <a:ext cx="7994848" cy="37010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b="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2000" dirty="0" smtClean="0"/>
              <a:t>1 </a:t>
            </a:r>
            <a:r>
              <a:rPr lang="es-AR" sz="2000" dirty="0" err="1" smtClean="0"/>
              <a:t>Plasmaféresis</a:t>
            </a:r>
            <a:r>
              <a:rPr lang="es-AR" sz="2000" dirty="0" smtClean="0"/>
              <a:t>: Disminuir componente </a:t>
            </a:r>
            <a:r>
              <a:rPr lang="es-AR" sz="2000" dirty="0" err="1" smtClean="0"/>
              <a:t>Ig</a:t>
            </a:r>
            <a:r>
              <a:rPr lang="es-AR" sz="2000" dirty="0" smtClean="0"/>
              <a:t> aumentado y transfusión de plasma</a:t>
            </a:r>
          </a:p>
          <a:p>
            <a:endParaRPr lang="es-AR" sz="2000" dirty="0"/>
          </a:p>
          <a:p>
            <a:r>
              <a:rPr lang="es-AR" sz="2000" dirty="0" smtClean="0"/>
              <a:t>2 Transfusión sanguínea: Disminuir </a:t>
            </a:r>
            <a:r>
              <a:rPr lang="es-AR" sz="2000" dirty="0" err="1" smtClean="0"/>
              <a:t>hiperviscosidad</a:t>
            </a:r>
            <a:r>
              <a:rPr lang="es-AR" sz="2000" dirty="0" smtClean="0"/>
              <a:t> por aumento del volumen </a:t>
            </a:r>
            <a:r>
              <a:rPr lang="es-AR" sz="2000" dirty="0" err="1" smtClean="0"/>
              <a:t>eritrocitario</a:t>
            </a:r>
            <a:r>
              <a:rPr lang="es-AR" sz="2000" dirty="0" smtClean="0"/>
              <a:t>, mejorar hipoxia </a:t>
            </a:r>
          </a:p>
          <a:p>
            <a:endParaRPr lang="es-AR" sz="2000" dirty="0"/>
          </a:p>
          <a:p>
            <a:r>
              <a:rPr lang="es-AR" sz="2000" dirty="0" smtClean="0"/>
              <a:t>3 Quimioterapia: disminuir producción de IG</a:t>
            </a:r>
          </a:p>
          <a:p>
            <a:r>
              <a:rPr lang="es-AR" sz="2000" dirty="0" smtClean="0"/>
              <a:t>           </a:t>
            </a:r>
            <a:br>
              <a:rPr lang="es-AR" sz="2000" dirty="0" smtClean="0"/>
            </a:br>
            <a:endParaRPr lang="es-AR" sz="2000" dirty="0"/>
          </a:p>
        </p:txBody>
      </p:sp>
    </p:spTree>
    <p:extLst>
      <p:ext uri="{BB962C8B-B14F-4D97-AF65-F5344CB8AC3E}">
        <p14:creationId xmlns:p14="http://schemas.microsoft.com/office/powerpoint/2010/main" val="19130635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encial">
  <a:themeElements>
    <a:clrScheme name="Esenc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enc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enc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40</TotalTime>
  <Words>92</Words>
  <Application>Microsoft Office PowerPoint</Application>
  <PresentationFormat>Presentación en pantalla (4:3)</PresentationFormat>
  <Paragraphs>37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6" baseType="lpstr">
      <vt:lpstr>Esencial</vt:lpstr>
      <vt:lpstr>Síndrome de hiperviscosidad</vt:lpstr>
      <vt:lpstr>El síndrome de hiperviscosidad es un grupo de síntomas desencadenados por el aumento de viscosidad de la sangre.   Los síntomas aparecen por lo general cuando la viscosidad del suero es &gt;4.0 centipoises </vt:lpstr>
      <vt:lpstr>Causas</vt:lpstr>
      <vt:lpstr>Síntomas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Síndrome de hiperviscosidad</dc:title>
  <dc:creator>HP</dc:creator>
  <cp:lastModifiedBy>HP</cp:lastModifiedBy>
  <cp:revision>4</cp:revision>
  <dcterms:created xsi:type="dcterms:W3CDTF">2019-05-12T20:17:13Z</dcterms:created>
  <dcterms:modified xsi:type="dcterms:W3CDTF">2019-05-12T20:57:14Z</dcterms:modified>
</cp:coreProperties>
</file>