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453A453D-F96C-4D36-BD53-0AE3B27DD20F}" type="datetimeFigureOut">
              <a:rPr lang="es-MX" smtClean="0"/>
              <a:pPr/>
              <a:t>06/11/2013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680A02C-91E1-4C4C-B84F-49D6FCE68F11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s.slideshare.net/n.ando/viscosidad-13201627" TargetMode="External"/><Relationship Id="rId2" Type="http://schemas.openxmlformats.org/officeDocument/2006/relationships/hyperlink" Target="http://fisicaprofetito.blogspot.mx/2011/02/viscosidad-equipo1-404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s.slideshare.net/higinioflores50/calculo-de-la-viscosidad-y-comportamiento-de-los-fluidos" TargetMode="External"/><Relationship Id="rId4" Type="http://schemas.openxmlformats.org/officeDocument/2006/relationships/hyperlink" Target="http://tecnolibro.com/Formulas-Hidrodinamica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 rot="2047131">
            <a:off x="4300735" y="2705819"/>
            <a:ext cx="4913580" cy="1824344"/>
          </a:xfrm>
        </p:spPr>
        <p:txBody>
          <a:bodyPr>
            <a:noAutofit/>
          </a:bodyPr>
          <a:lstStyle/>
          <a:p>
            <a:r>
              <a:rPr lang="es-MX" sz="6400" dirty="0" smtClean="0"/>
              <a:t>Viscosidad</a:t>
            </a:r>
            <a:endParaRPr lang="es-MX" sz="6400" dirty="0"/>
          </a:p>
        </p:txBody>
      </p:sp>
    </p:spTree>
    <p:extLst>
      <p:ext uri="{BB962C8B-B14F-4D97-AF65-F5344CB8AC3E}">
        <p14:creationId xmlns:p14="http://schemas.microsoft.com/office/powerpoint/2010/main" xmlns="" val="388071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260648"/>
            <a:ext cx="7024744" cy="1143000"/>
          </a:xfrm>
        </p:spPr>
        <p:txBody>
          <a:bodyPr/>
          <a:lstStyle/>
          <a:p>
            <a:r>
              <a:rPr lang="es-MX" dirty="0" smtClean="0"/>
              <a:t>¿Que es? 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484784"/>
            <a:ext cx="7920880" cy="2952328"/>
          </a:xfrm>
        </p:spPr>
        <p:txBody>
          <a:bodyPr>
            <a:normAutofit/>
          </a:bodyPr>
          <a:lstStyle/>
          <a:p>
            <a:r>
              <a:rPr lang="es-MX" dirty="0"/>
              <a:t> La viscosidad </a:t>
            </a:r>
            <a:r>
              <a:rPr lang="es-MX" dirty="0" smtClean="0"/>
              <a:t>es </a:t>
            </a:r>
            <a:r>
              <a:rPr lang="es-MX" dirty="0"/>
              <a:t>la resistencia que ejercen los fluidos al ser deformado cuando este se aplica </a:t>
            </a:r>
            <a:r>
              <a:rPr lang="es-MX" dirty="0" smtClean="0"/>
              <a:t>un esfuerzo. </a:t>
            </a:r>
            <a:endParaRPr lang="es-MX" dirty="0"/>
          </a:p>
          <a:p>
            <a:r>
              <a:rPr lang="es-MX" dirty="0" smtClean="0"/>
              <a:t>La </a:t>
            </a:r>
            <a:r>
              <a:rPr lang="es-MX" dirty="0"/>
              <a:t>viscosidad de un fluido depende de su </a:t>
            </a:r>
            <a:r>
              <a:rPr lang="es-MX" dirty="0" smtClean="0"/>
              <a:t>temperatura</a:t>
            </a:r>
            <a:r>
              <a:rPr lang="es-MX" dirty="0"/>
              <a:t>. </a:t>
            </a:r>
            <a:r>
              <a:rPr lang="es-MX" dirty="0" smtClean="0"/>
              <a:t>Es </a:t>
            </a:r>
            <a:r>
              <a:rPr lang="es-MX" dirty="0"/>
              <a:t>por eso que en los líquidos a mayor temperatura la viscosidad </a:t>
            </a:r>
            <a:r>
              <a:rPr lang="es-MX" dirty="0" smtClean="0"/>
              <a:t>disminuye.</a:t>
            </a:r>
            <a:endParaRPr lang="es-MX" dirty="0"/>
          </a:p>
        </p:txBody>
      </p:sp>
      <p:pic>
        <p:nvPicPr>
          <p:cNvPr id="1026" name="Picture 2" descr="http://www.widman.biz/images_boletin/effecto-viscosidade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79599"/>
            <a:ext cx="4429854" cy="258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noticiasdelaciencia.com/upload/img/periodico/img_694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176710"/>
            <a:ext cx="3190875" cy="239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1921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980728"/>
            <a:ext cx="4176464" cy="511256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  Si la viscosidad fuera muy grande, el rozamiento entre capas </a:t>
            </a:r>
            <a:r>
              <a:rPr lang="es-ES" dirty="0" smtClean="0"/>
              <a:t>lo sería </a:t>
            </a:r>
            <a:r>
              <a:rPr lang="es-ES" dirty="0"/>
              <a:t>también, lo que significa que éstas no podrían moverse unas respecto de </a:t>
            </a:r>
            <a:r>
              <a:rPr lang="es-ES" dirty="0" smtClean="0"/>
              <a:t>otras, </a:t>
            </a:r>
            <a:r>
              <a:rPr lang="es-ES" dirty="0"/>
              <a:t>es decir, estaríamos ante un sólido. Si por el contrario la viscosidad fuera cero, estaríamos ante un </a:t>
            </a:r>
            <a:r>
              <a:rPr lang="es-ES" dirty="0" smtClean="0"/>
              <a:t>superfluido que </a:t>
            </a:r>
            <a:r>
              <a:rPr lang="es-ES" dirty="0"/>
              <a:t>presenta propiedades notables como escapar de los recipientes aunque no estén llenos.</a:t>
            </a:r>
            <a:endParaRPr lang="es-MX" dirty="0"/>
          </a:p>
        </p:txBody>
      </p:sp>
      <p:sp>
        <p:nvSpPr>
          <p:cNvPr id="4" name="AutoShape 2" descr="data:image/jpeg;base64,/9j/4AAQSkZJRgABAQAAAQABAAD/2wCEAAkGBxQSEhUSEhQUFBQVFBQUFRQUFBQUFRAUFBQWFhQUFBQYHCggGBolHBQUITEhJSkrLi4uFx8zODMsNygtLiwBCgoKDg0OGhAQGiwkHyQsLCwsLCwsLCwsLCwsLC0sLCwsLCwsLCwsLCwsLCwsLCwsLCwsLCwsLCwsLCwsLCwsLP/AABEIARoAswMBIgACEQEDEQH/xAAbAAABBQEBAAAAAAAAAAAAAAACAAEDBAUGB//EADgQAAIBAgQDBQYGAQQDAAAAAAABAgMRBBIhMQVBUQYiYXGBEyMykbHBUmJyodHw4TNCgvEUFST/xAAbAQADAQEBAQEAAAAAAAAAAAABAgMABAUGB//EACwRAAICAgICAAUBCQAAAAAAAAABAhEDIRIxBEEFEzJhcSIzNEJRUoGh0fD/2gAMAwEAAhEDEQA/AOSzDXGHPHP01CuJMVhWCghqQVwUg4oIrCidf2Al3qi8Iv6nJWOp7Av3s/0L6jY/qRw/EN+PL/vZ1nENmeZ1o95+bPUMbHQ81xUbVJL8z+pbKeZ8Je5EMCZAxiOkRPYZIgkwEOgikikM5AZhXCLQ7kA5gykRykawqINSoVakyWoV5ispFEM2RqIchJCDN6CsIjuxAJUSNCSCcRRiE6xIdIdRHsE1iigkhkSRRgBQR1XYOPvp/o+6OVR1fYBe+n+j7ofH9SOLz/3eX4OxxcdDzfitO1aa8bnpuKWh53x+Nq8vFItlPH+FyrI19jPTEIRE90JCTBuM2YFCbBkxXAkzBoaUgXIGUgGwWNxFKRDUkHJkMhWMkBJEepIRsVhaHzoRG7iFsXgXWOh3AexQqCIdoYwR4hoCJKkYDCgdX2B/1p/o+6OWgjp+w0rV5eMH9UPD6kcXnbwS/B2+K2PPe1C976fc9AxUtDgu0y94vJ/Uvl6PD+G6zL+5kJDyY6GsQPoRkDccBsA1CbI5BNgNmCkDJkMpBTZGKOkNMjDkwLgGoGQCDAYrNQ4hsyGBQOJqSiC4krQ1ioiZC4gtE1gXAA6YEUTRBUQ0jBYSNzsjUtiF4xkvv9jDNLs9O2Ip+dvmmGPZzeSrxSX2Z6FiZaHEdo/jXkzsq70OO7R/FH1+x0ZOj5/4f+2RlpEcwlMaRE+hRGwGG2RtgHQ1wJsKRHJgGSBYA7YwB6BkASsjAFAMjkSSI5GGRG2IVxCjG4xmghWKHMgLCSDYyRhgbCsEMwBGsWeGztVpv88fqitcPDy70X0a+phJq4tHptVaHH9qF8L8Wdk13TlO1cO5fpJHVk6PmfCdZ4/k5qMg5SKzkFGRz2fSuJKwLjOQDZjIU5EDZI2RtCsogbj3FYYwR7gsdoYxrI2RtErAYRkwPZiHYghs2riBTCAREMOMzBBaEkE2R5wG2M9B4S1XmgGJGM+j1mC7q8kc72mo3pS8r/I6WlrFeSMni1K8WuqOuXR8hjlxyJ/yZ5u2MpCqqza6MjOQ+vW0SuYzZBuHmMaiSTAE2MEwmCEhmjGsTGcRXCTCK2yGwFRWJJSI5u4BkyNiGaEAazZiw0yJBhEHuA2M2NmANQMpDjCijBYWR2uMiSjGc3aMb6W0WxZjwyqv9khlFvojLIo9s9Pw3wR8l9Cnjo6Mt4B+7j+lfQgxaOn0fJP6jzDjFLJVl0vf5lByO04jQTk7xUul1d+hnYnDxjK0KcJLTVxa1tro31uiPy72fQ4PLXBJrZziYrnRYhQjFPLBt3vFQacbbXfjrsVHClL8j8dY/wCBXCjoj5KfoyUx3Iu1+FyWtrrrHVFOdFi00VjOMumR38R84zpsAwwTY2YRcq8JqqOdrRK7V+8l5BSb6FlOMe2UGM9RDLqAIfsH1ERuqxAtGqRqRYVwIhGHoZsGQmwWYJIr21LWDwWfvSdoeG8n0RDhqEpO399DpMNSa7sUrKLTvFPf4mr7PxWpSEbOTyMzgqXYWHw+VRSSUJa2jKOa17O71s/NFt4N6tXtrZPV25XfXYmwPD7u97JF+txClTVt2jo9HlSk+WtsucMl7uPlYbFEfDcSpxzLZt/sS4gB52RVJnPYxWlcpK6lqrK97dTT4hTOfq4mUX5Cp0dvirkqQeO62MtzSaaumtVbdNbMPF4yT0epnymxJS2epjxOtluhVnB5oye+z+5q4zCQqRjJShncc0oxd3HVrvaaPT9zEpVW9LXNJU5JxntZLb6MK2JOLjJO6Zn18M47r15FScOqOlxmMjLVxS0SywWmitez5u12UIzU/hpqCXPnL15egvBeho53W0U+H4CWZTt3Yu92um1lzNbH4+Cg4xlmqNNW1tGUtH6/wHQr7p7Wb56JK97nKSbTvcLfFaBCPzpXL0RzGuFVaexESO4VxDMQDGsO2CmE0Yo9ANk1Glm8hqFLM7fNmzgqChHO14RXV9RoxsjlyqCJcPRVJXfxNaL8K/ks/wDlT01bsrK7vlW9l4asrRg56v8ArK+JrO+VPzZa+KOBQeSW+zUXEmob76aczNlUbepBKpy6DZwOZaOBROq7M1+7KPR3+a/wbNRnLdmKnfkvD6P/ACdM5Bi7R4vmQ45WUcWtDmOKws7/ADOpxLMHiVPNoBg8WfCaZgVJJkDijY/9bC28v2IqkIQdkvnqLxfs9xZY/wAJm0Kbv9C3SxrjuTRoxk76ry5FXFU8srPVPZjJUI5Kbpl6lWjLXntbqXsTTyxsuX1sZmEppyjbqi3xLEctryKJ6OWcf1JIkoYCaoTbazTTVr6pL+fscfU3szqsPi3rGfK1vFPYHG8MhWV4rLLqtn5onKNlsWX5bfL2chIEs16DjJxe6KzIUeinfQmIVxGCaiDiuXUZFjBrXN0MhpOkXsDhLtRXPfy5mlKn7SWWO0dPQbg0NJVHpfux+5ep08jclbVP0OiEdHk5slzoaU0rQy3js3s14oy8Rw9X7stPFal7BO6lJ82DWndjNJrZoOUH+kpx4cucvkienhYLlfz/AICjqyanTFUUPLJJ9ssYGdprRJbaGu2ZNOnZ3NFT0Gao8zyltMhxDMjFGrXZl4oRnPArxV4mfi0aNLZooV3djej1cMrVkeGZLjcPmjoPQpGhTpBUbQ8507RzuGqOEulmW8dLPlaNPGcNjNXWkuT/AJMyKabjJWaBTWg81P8AUuwa1VK1/J+RsYKpGSffilZu7TeZraKtzfiZ1bDZqbkt07fNGfmknGCajqo95pLXnJ8kZ62LxUlSYXaGKzKXVamJWiavFFKzzcnlvraVr6pvdGdODtqmvNNEp9nZhdRSKwh7iJnQaRv1uH+z9jSt7ycVKfhm+FfJFLgOC9tiaVP8U0vRa/RHQzqf/dPNynKCvyy92P7IeCIeRlqXFelf+ieMVFKFtIrXxfMixdSEYxULrNs9Wky7aKbv4kFenHXLt06M6EeZFq7ZBBWjYijC7JKT0bDwsb6gLvVhUaBbp4cOjSL8KNrX5jpEJzK8aAFaFjShTIsZS7oXHRzTdox6syhXZerRKdSJFkUiCmU60dTQpR1KtaFpNeJvR2ePLtE+Do3NFYbQi4dTNyNHQvBC5Z0zFlGxX4jgs8brdbfwbOIwxWcdLBcRVP2jmqcmlKL5albGQblGcelrrk+pq4yl3lJepRxNb2UbrfWxJrWzqjK3aIJxtJRcpT53k72fVFjF0o+znmWmXm7623WnUUa0JRUpqUbq6urXXVN7owuJ8Qc3lWkFsuvixHJJDwxvJL8GaxDMRznpnX9jcWqeMozlspavpmTjf0ubfEYZuIVMiv72T6q0d35bnJcMqZasJbWnG/lfU6bDYi+LqtO6lKpZ9byevyKQeq+5yeVCsjyL+mv8mlVs2/7Yq06dllXnqXoaK9l43KsrX09S6PPxsqVNC9g4aIqV46mpg4bGXZab0W6NMuQiDSgWIookcUpA2Bqq6aHqTsQe0u7BbAlZl16ZSqUzarUylUpEGIUqVLUp4qHfl5m1Qo6mViV7yXmzFsPbL/DIm/Tp6GLwuJ0lGnoXh0SyvZRq0yjiKJs1qZn4mI4kWc/Vp3ujku0FXvZVy0+erOzxMlG7ey1ZxFSn7Sq5Pa9367Ihl6PQ8Z75P0C4uNJttt20TekV4fNmXUZq8Qq3g/RGS9jnkejh2m2RtiHuIQsaZrYDEZZRl5Mx0XcPPTyNFjZY2jtq+MfsrRayyaey0fg+RXy2s1qnu77FDhks9NxfoRxahVilmirJSzvd21atyvsdCkeT8pRbSNN6yNnDUzDpvXquT6o6HB7DolldIuU4hzY8EDVRU47tlSq7slwuH1uHhqN2a0aFkCtWDJl46MqrRKk8Obk6JH7Ai0IsiM7C4Q5evH301+Z/U72NOxy2JwXvW7bvUNaK4citljhFDU6ONPQrcMwmVami0WgqRzZclspVoGbioGxVRkcUrRpxc5OySuxgwdnHdp61lkW89/0rc5n4VY0cdX9pUc3u9l+GPJFGpuc0tuz18SqKRncQnokU6hLVeaTfLl5EMyEns9HGqVACHcvAQChpJk9Cdn5kA9xUVkrN/htTLLwehqYzD5lZ+j6HOYetszqMBVUo35lYs83PFp2Y1OU6csq36PRS6o7LhFa8U9vDmjK9gpO7S0LWEm4v+/uVicmafJHSUx5wKWDx8ZPLez8efkzTii6PPlcWLAw1NSMTPpKzNCnIf0cuZtuxpUiOUCwyOaJuJFSZXmVaOEvLM/QvezuSKNgqJX5lLQEYDSJJMwOM9pKVFNR95P8ADF6J/mly/djNpAhGU3SLfFMdCjBzqOy5dZPolzZ51xzjEq8rvSKfdgnovF9WQcY4nOtLNUd3sktIwXSKKvstP3TJOVnqYcKgrfZFGLk3Zac2UeKVFFZVu9zQrV8sckf+2ZOKp27z1bIyZ34Y7tlJaIiaDlIBkTvQOUQ4jBNAbMHLQjkIXLGHrWfga/D8Zld1tzRgk2HrWGTI5MakjvqUlK0k9H+xMro5fh2NtzN2GOUld78y8WeTlxNMu0oLlvyNClUnThGSkpNtpwe8Uud+hiwbWt735lqGM5N28SvI5JwZsUeOR2nFx8VqjQw/FqT2qR9Xb6nMVKb8Giq6CXIKmRlgiz0CljIbqUX6oldZPmvmjzOo+iBhTUpJSeVc3Zyt5JB+YSfhruz0ypWjFXk0l1bSMXHdqaENIv2kukdvWRy+Llh4wcYQqVJNfHUllUfGMI/dmLKiwcxsfix92aXEuO1K88spuML62u4r/ivi9THm3zZPCMVu/lqBVyt7X89vkK2dsUlpdFdUc3el8P8AtW2bx8vEVWqrWSS+wVefNsysVj1qo6k2y8IuT0SYiooavcyK1VydxVG225EUibZ3Y8fEBCY4hSwNxCsMCwmlNDMkAmAtYL0ATHuCYJZo1mjUwuO6mHmDjMZMhkxKR1+ExfR+hfhNM4iniWtmzTwnFraPUopHDk8Z+jrqUnHZpod4tPSxgx4gnsw4cQturj2jkeNmzdLVL5larP0Ky4lHyI6mKT5gsCgyWpURUq1AKmIXUqVcfFczWOsbZNIhqVkijW4j0KdbEXA5Fo4G+yxicTfTV+RnZxOb5AXEbOuEFFDykRthNkcmKyiQQw1xRAOHcQsg4LBRebI5smaIZIxVEaCaBaEmYI9hWGbEYA4aYFxxhGGpO+5ao15dSncOEgolJWW5V31BdV9SHMPnGsTggZzfUiciSbuRSFGSI2MHJ2I2wDDSYI7EjBGZHINgyQAg2HTsKwMkYJJ7UREIxjZsRyRKtgKhhyvIBBDMDQwwaQIYUBisNcPkQsIgVwoAwDiYVh3EkNIkjzGJsBojkTS5eRC9jMK7IJsjTFLdgVhStFmMbodQCobIMNEmyGUSGoizMirGNZBcUhMaQo4LY4w5rM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4" descr="data:image/jpeg;base64,/9j/4AAQSkZJRgABAQAAAQABAAD/2wCEAAkGBxQSEhUSEhQUFBQVFBQUFRQUFBQUFRAUFBQWFhQUFBQYHCggGBolHBQUITEhJSkrLi4uFx8zODMsNygtLiwBCgoKDg0OGhAQGiwkHyQsLCwsLCwsLCwsLCwsLC0sLCwsLCwsLCwsLCwsLCwsLCwsLCwsLCwsLCwsLCwsLCwsLP/AABEIARoAswMBIgACEQEDEQH/xAAbAAABBQEBAAAAAAAAAAAAAAACAAEDBAUGB//EADgQAAIBAgQDBQYGAQQDAAAAAAABAgMRBBIhMQVBUQYiYXGBEyMykbHBUmJyodHw4TNCgvEUFST/xAAbAQADAQEBAQEAAAAAAAAAAAABAgMABAUGB//EACwRAAICAgICAAUBCQAAAAAAAAABAhEDIRIxBEEFEzJhcSIzNEJRUoGh0fD/2gAMAwEAAhEDEQA/AOSzDXGHPHP01CuJMVhWCghqQVwUg4oIrCidf2Al3qi8Iv6nJWOp7Av3s/0L6jY/qRw/EN+PL/vZ1nENmeZ1o95+bPUMbHQ81xUbVJL8z+pbKeZ8Je5EMCZAxiOkRPYZIgkwEOgikikM5AZhXCLQ7kA5gykRykawqINSoVakyWoV5ispFEM2RqIchJCDN6CsIjuxAJUSNCSCcRRiE6xIdIdRHsE1iigkhkSRRgBQR1XYOPvp/o+6OVR1fYBe+n+j7ofH9SOLz/3eX4OxxcdDzfitO1aa8bnpuKWh53x+Nq8vFItlPH+FyrI19jPTEIRE90JCTBuM2YFCbBkxXAkzBoaUgXIGUgGwWNxFKRDUkHJkMhWMkBJEepIRsVhaHzoRG7iFsXgXWOh3AexQqCIdoYwR4hoCJKkYDCgdX2B/1p/o+6OWgjp+w0rV5eMH9UPD6kcXnbwS/B2+K2PPe1C976fc9AxUtDgu0y94vJ/Uvl6PD+G6zL+5kJDyY6GsQPoRkDccBsA1CbI5BNgNmCkDJkMpBTZGKOkNMjDkwLgGoGQCDAYrNQ4hsyGBQOJqSiC4krQ1ioiZC4gtE1gXAA6YEUTRBUQ0jBYSNzsjUtiF4xkvv9jDNLs9O2Ip+dvmmGPZzeSrxSX2Z6FiZaHEdo/jXkzsq70OO7R/FH1+x0ZOj5/4f+2RlpEcwlMaRE+hRGwGG2RtgHQ1wJsKRHJgGSBYA7YwB6BkASsjAFAMjkSSI5GGRG2IVxCjG4xmghWKHMgLCSDYyRhgbCsEMwBGsWeGztVpv88fqitcPDy70X0a+phJq4tHptVaHH9qF8L8Wdk13TlO1cO5fpJHVk6PmfCdZ4/k5qMg5SKzkFGRz2fSuJKwLjOQDZjIU5EDZI2RtCsogbj3FYYwR7gsdoYxrI2RtErAYRkwPZiHYghs2riBTCAREMOMzBBaEkE2R5wG2M9B4S1XmgGJGM+j1mC7q8kc72mo3pS8r/I6WlrFeSMni1K8WuqOuXR8hjlxyJ/yZ5u2MpCqqza6MjOQ+vW0SuYzZBuHmMaiSTAE2MEwmCEhmjGsTGcRXCTCK2yGwFRWJJSI5u4BkyNiGaEAazZiw0yJBhEHuA2M2NmANQMpDjCijBYWR2uMiSjGc3aMb6W0WxZjwyqv9khlFvojLIo9s9Pw3wR8l9Cnjo6Mt4B+7j+lfQgxaOn0fJP6jzDjFLJVl0vf5lByO04jQTk7xUul1d+hnYnDxjK0KcJLTVxa1tro31uiPy72fQ4PLXBJrZziYrnRYhQjFPLBt3vFQacbbXfjrsVHClL8j8dY/wCBXCjoj5KfoyUx3Iu1+FyWtrrrHVFOdFi00VjOMumR38R84zpsAwwTY2YRcq8JqqOdrRK7V+8l5BSb6FlOMe2UGM9RDLqAIfsH1ERuqxAtGqRqRYVwIhGHoZsGQmwWYJIr21LWDwWfvSdoeG8n0RDhqEpO399DpMNSa7sUrKLTvFPf4mr7PxWpSEbOTyMzgqXYWHw+VRSSUJa2jKOa17O71s/NFt4N6tXtrZPV25XfXYmwPD7u97JF+txClTVt2jo9HlSk+WtsucMl7uPlYbFEfDcSpxzLZt/sS4gB52RVJnPYxWlcpK6lqrK97dTT4hTOfq4mUX5Cp0dvirkqQeO62MtzSaaumtVbdNbMPF4yT0epnymxJS2epjxOtluhVnB5oye+z+5q4zCQqRjJShncc0oxd3HVrvaaPT9zEpVW9LXNJU5JxntZLb6MK2JOLjJO6Zn18M47r15FScOqOlxmMjLVxS0SywWmitez5u12UIzU/hpqCXPnL15egvBeho53W0U+H4CWZTt3Yu92um1lzNbH4+Cg4xlmqNNW1tGUtH6/wHQr7p7Wb56JK97nKSbTvcLfFaBCPzpXL0RzGuFVaexESO4VxDMQDGsO2CmE0Yo9ANk1Glm8hqFLM7fNmzgqChHO14RXV9RoxsjlyqCJcPRVJXfxNaL8K/ks/wDlT01bsrK7vlW9l4asrRg56v8ArK+JrO+VPzZa+KOBQeSW+zUXEmob76aczNlUbepBKpy6DZwOZaOBROq7M1+7KPR3+a/wbNRnLdmKnfkvD6P/ACdM5Bi7R4vmQ45WUcWtDmOKws7/ADOpxLMHiVPNoBg8WfCaZgVJJkDijY/9bC28v2IqkIQdkvnqLxfs9xZY/wAJm0Kbv9C3SxrjuTRoxk76ry5FXFU8srPVPZjJUI5Kbpl6lWjLXntbqXsTTyxsuX1sZmEppyjbqi3xLEctryKJ6OWcf1JIkoYCaoTbazTTVr6pL+fscfU3szqsPi3rGfK1vFPYHG8MhWV4rLLqtn5onKNlsWX5bfL2chIEs16DjJxe6KzIUeinfQmIVxGCaiDiuXUZFjBrXN0MhpOkXsDhLtRXPfy5mlKn7SWWO0dPQbg0NJVHpfux+5ep08jclbVP0OiEdHk5slzoaU0rQy3js3s14oy8Rw9X7stPFal7BO6lJ82DWndjNJrZoOUH+kpx4cucvkienhYLlfz/AICjqyanTFUUPLJJ9ssYGdprRJbaGu2ZNOnZ3NFT0Gao8zyltMhxDMjFGrXZl4oRnPArxV4mfi0aNLZooV3djej1cMrVkeGZLjcPmjoPQpGhTpBUbQ8507RzuGqOEulmW8dLPlaNPGcNjNXWkuT/AJMyKabjJWaBTWg81P8AUuwa1VK1/J+RsYKpGSffilZu7TeZraKtzfiZ1bDZqbkt07fNGfmknGCajqo95pLXnJ8kZ62LxUlSYXaGKzKXVamJWiavFFKzzcnlvraVr6pvdGdODtqmvNNEp9nZhdRSKwh7iJnQaRv1uH+z9jSt7ycVKfhm+FfJFLgOC9tiaVP8U0vRa/RHQzqf/dPNynKCvyy92P7IeCIeRlqXFelf+ieMVFKFtIrXxfMixdSEYxULrNs9Wky7aKbv4kFenHXLt06M6EeZFq7ZBBWjYijC7JKT0bDwsb6gLvVhUaBbp4cOjSL8KNrX5jpEJzK8aAFaFjShTIsZS7oXHRzTdox6syhXZerRKdSJFkUiCmU60dTQpR1KtaFpNeJvR2ePLtE+Do3NFYbQi4dTNyNHQvBC5Z0zFlGxX4jgs8brdbfwbOIwxWcdLBcRVP2jmqcmlKL5albGQblGcelrrk+pq4yl3lJepRxNb2UbrfWxJrWzqjK3aIJxtJRcpT53k72fVFjF0o+znmWmXm7623WnUUa0JRUpqUbq6urXXVN7owuJ8Qc3lWkFsuvixHJJDwxvJL8GaxDMRznpnX9jcWqeMozlspavpmTjf0ubfEYZuIVMiv72T6q0d35bnJcMqZasJbWnG/lfU6bDYi+LqtO6lKpZ9byevyKQeq+5yeVCsjyL+mv8mlVs2/7Yq06dllXnqXoaK9l43KsrX09S6PPxsqVNC9g4aIqV46mpg4bGXZab0W6NMuQiDSgWIookcUpA2Bqq6aHqTsQe0u7BbAlZl16ZSqUzarUylUpEGIUqVLUp4qHfl5m1Qo6mViV7yXmzFsPbL/DIm/Tp6GLwuJ0lGnoXh0SyvZRq0yjiKJs1qZn4mI4kWc/Vp3ujku0FXvZVy0+erOzxMlG7ey1ZxFSn7Sq5Pa9367Ihl6PQ8Z75P0C4uNJttt20TekV4fNmXUZq8Qq3g/RGS9jnkejh2m2RtiHuIQsaZrYDEZZRl5Mx0XcPPTyNFjZY2jtq+MfsrRayyaey0fg+RXy2s1qnu77FDhks9NxfoRxahVilmirJSzvd21atyvsdCkeT8pRbSNN6yNnDUzDpvXquT6o6HB7DolldIuU4hzY8EDVRU47tlSq7slwuH1uHhqN2a0aFkCtWDJl46MqrRKk8Obk6JH7Ai0IsiM7C4Q5evH301+Z/U72NOxy2JwXvW7bvUNaK4citljhFDU6ONPQrcMwmVami0WgqRzZclspVoGbioGxVRkcUrRpxc5OySuxgwdnHdp61lkW89/0rc5n4VY0cdX9pUc3u9l+GPJFGpuc0tuz18SqKRncQnokU6hLVeaTfLl5EMyEns9HGqVACHcvAQChpJk9Cdn5kA9xUVkrN/htTLLwehqYzD5lZ+j6HOYetszqMBVUo35lYs83PFp2Y1OU6csq36PRS6o7LhFa8U9vDmjK9gpO7S0LWEm4v+/uVicmafJHSUx5wKWDx8ZPLez8efkzTii6PPlcWLAw1NSMTPpKzNCnIf0cuZtuxpUiOUCwyOaJuJFSZXmVaOEvLM/QvezuSKNgqJX5lLQEYDSJJMwOM9pKVFNR95P8ADF6J/mly/djNpAhGU3SLfFMdCjBzqOy5dZPolzZ51xzjEq8rvSKfdgnovF9WQcY4nOtLNUd3sktIwXSKKvstP3TJOVnqYcKgrfZFGLk3Zac2UeKVFFZVu9zQrV8sckf+2ZOKp27z1bIyZ34Y7tlJaIiaDlIBkTvQOUQ4jBNAbMHLQjkIXLGHrWfga/D8Zld1tzRgk2HrWGTI5MakjvqUlK0k9H+xMro5fh2NtzN2GOUld78y8WeTlxNMu0oLlvyNClUnThGSkpNtpwe8Uud+hiwbWt735lqGM5N28SvI5JwZsUeOR2nFx8VqjQw/FqT2qR9Xb6nMVKb8Giq6CXIKmRlgiz0CljIbqUX6oldZPmvmjzOo+iBhTUpJSeVc3Zyt5JB+YSfhruz0ypWjFXk0l1bSMXHdqaENIv2kukdvWRy+Llh4wcYQqVJNfHUllUfGMI/dmLKiwcxsfix92aXEuO1K88spuML62u4r/ivi9THm3zZPCMVu/lqBVyt7X89vkK2dsUlpdFdUc3el8P8AtW2bx8vEVWqrWSS+wVefNsysVj1qo6k2y8IuT0SYiooavcyK1VydxVG225EUibZ3Y8fEBCY4hSwNxCsMCwmlNDMkAmAtYL0ATHuCYJZo1mjUwuO6mHmDjMZMhkxKR1+ExfR+hfhNM4iniWtmzTwnFraPUopHDk8Z+jrqUnHZpod4tPSxgx4gnsw4cQturj2jkeNmzdLVL5larP0Ky4lHyI6mKT5gsCgyWpURUq1AKmIXUqVcfFczWOsbZNIhqVkijW4j0KdbEXA5Fo4G+yxicTfTV+RnZxOb5AXEbOuEFFDykRthNkcmKyiQQw1xRAOHcQsg4LBRebI5smaIZIxVEaCaBaEmYI9hWGbEYA4aYFxxhGGpO+5ao15dSncOEgolJWW5V31BdV9SHMPnGsTggZzfUiciSbuRSFGSI2MHJ2I2wDDSYI7EjBGZHINgyQAg2HTsKwMkYJJ7UREIxjZsRyRKtgKhhyvIBBDMDQwwaQIYUBisNcPkQsIgVwoAwDiYVh3EkNIkjzGJsBojkTS5eRC9jMK7IJsjTFLdgVhStFmMbodQCobIMNEmyGUSGoizMirGNZBcUhMaQo4LY4w5rMf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6" name="AutoShape 6" descr="data:image/jpeg;base64,/9j/4AAQSkZJRgABAQAAAQABAAD/2wCEAAkGBxQSEhUSEhQUFBQVFBQUFRQUFBQUFRAUFBQWFhQUFBQYHCggGBolHBQUITEhJSkrLi4uFx8zODMsNygtLiwBCgoKDg0OGhAQGiwkHyQsLCwsLCwsLCwsLCwsLC0sLCwsLCwsLCwsLCwsLCwsLCwsLCwsLCwsLCwsLCwsLCwsLP/AABEIARoAswMBIgACEQEDEQH/xAAbAAABBQEBAAAAAAAAAAAAAAACAAEDBAUGB//EADgQAAIBAgQDBQYGAQQDAAAAAAABAgMRBBIhMQVBUQYiYXGBEyMykbHBUmJyodHw4TNCgvEUFST/xAAbAQADAQEBAQEAAAAAAAAAAAABAgMABAUGB//EACwRAAICAgICAAUBCQAAAAAAAAABAhEDIRIxBEEFEzJhcSIzNEJRUoGh0fD/2gAMAwEAAhEDEQA/AOSzDXGHPHP01CuJMVhWCghqQVwUg4oIrCidf2Al3qi8Iv6nJWOp7Av3s/0L6jY/qRw/EN+PL/vZ1nENmeZ1o95+bPUMbHQ81xUbVJL8z+pbKeZ8Je5EMCZAxiOkRPYZIgkwEOgikikM5AZhXCLQ7kA5gykRykawqINSoVakyWoV5ispFEM2RqIchJCDN6CsIjuxAJUSNCSCcRRiE6xIdIdRHsE1iigkhkSRRgBQR1XYOPvp/o+6OVR1fYBe+n+j7ofH9SOLz/3eX4OxxcdDzfitO1aa8bnpuKWh53x+Nq8vFItlPH+FyrI19jPTEIRE90JCTBuM2YFCbBkxXAkzBoaUgXIGUgGwWNxFKRDUkHJkMhWMkBJEepIRsVhaHzoRG7iFsXgXWOh3AexQqCIdoYwR4hoCJKkYDCgdX2B/1p/o+6OWgjp+w0rV5eMH9UPD6kcXnbwS/B2+K2PPe1C976fc9AxUtDgu0y94vJ/Uvl6PD+G6zL+5kJDyY6GsQPoRkDccBsA1CbI5BNgNmCkDJkMpBTZGKOkNMjDkwLgGoGQCDAYrNQ4hsyGBQOJqSiC4krQ1ioiZC4gtE1gXAA6YEUTRBUQ0jBYSNzsjUtiF4xkvv9jDNLs9O2Ip+dvmmGPZzeSrxSX2Z6FiZaHEdo/jXkzsq70OO7R/FH1+x0ZOj5/4f+2RlpEcwlMaRE+hRGwGG2RtgHQ1wJsKRHJgGSBYA7YwB6BkASsjAFAMjkSSI5GGRG2IVxCjG4xmghWKHMgLCSDYyRhgbCsEMwBGsWeGztVpv88fqitcPDy70X0a+phJq4tHptVaHH9qF8L8Wdk13TlO1cO5fpJHVk6PmfCdZ4/k5qMg5SKzkFGRz2fSuJKwLjOQDZjIU5EDZI2RtCsogbj3FYYwR7gsdoYxrI2RtErAYRkwPZiHYghs2riBTCAREMOMzBBaEkE2R5wG2M9B4S1XmgGJGM+j1mC7q8kc72mo3pS8r/I6WlrFeSMni1K8WuqOuXR8hjlxyJ/yZ5u2MpCqqza6MjOQ+vW0SuYzZBuHmMaiSTAE2MEwmCEhmjGsTGcRXCTCK2yGwFRWJJSI5u4BkyNiGaEAazZiw0yJBhEHuA2M2NmANQMpDjCijBYWR2uMiSjGc3aMb6W0WxZjwyqv9khlFvojLIo9s9Pw3wR8l9Cnjo6Mt4B+7j+lfQgxaOn0fJP6jzDjFLJVl0vf5lByO04jQTk7xUul1d+hnYnDxjK0KcJLTVxa1tro31uiPy72fQ4PLXBJrZziYrnRYhQjFPLBt3vFQacbbXfjrsVHClL8j8dY/wCBXCjoj5KfoyUx3Iu1+FyWtrrrHVFOdFi00VjOMumR38R84zpsAwwTY2YRcq8JqqOdrRK7V+8l5BSb6FlOMe2UGM9RDLqAIfsH1ERuqxAtGqRqRYVwIhGHoZsGQmwWYJIr21LWDwWfvSdoeG8n0RDhqEpO399DpMNSa7sUrKLTvFPf4mr7PxWpSEbOTyMzgqXYWHw+VRSSUJa2jKOa17O71s/NFt4N6tXtrZPV25XfXYmwPD7u97JF+txClTVt2jo9HlSk+WtsucMl7uPlYbFEfDcSpxzLZt/sS4gB52RVJnPYxWlcpK6lqrK97dTT4hTOfq4mUX5Cp0dvirkqQeO62MtzSaaumtVbdNbMPF4yT0epnymxJS2epjxOtluhVnB5oye+z+5q4zCQqRjJShncc0oxd3HVrvaaPT9zEpVW9LXNJU5JxntZLb6MK2JOLjJO6Zn18M47r15FScOqOlxmMjLVxS0SywWmitez5u12UIzU/hpqCXPnL15egvBeho53W0U+H4CWZTt3Yu92um1lzNbH4+Cg4xlmqNNW1tGUtH6/wHQr7p7Wb56JK97nKSbTvcLfFaBCPzpXL0RzGuFVaexESO4VxDMQDGsO2CmE0Yo9ANk1Glm8hqFLM7fNmzgqChHO14RXV9RoxsjlyqCJcPRVJXfxNaL8K/ks/wDlT01bsrK7vlW9l4asrRg56v8ArK+JrO+VPzZa+KOBQeSW+zUXEmob76aczNlUbepBKpy6DZwOZaOBROq7M1+7KPR3+a/wbNRnLdmKnfkvD6P/ACdM5Bi7R4vmQ45WUcWtDmOKws7/ADOpxLMHiVPNoBg8WfCaZgVJJkDijY/9bC28v2IqkIQdkvnqLxfs9xZY/wAJm0Kbv9C3SxrjuTRoxk76ry5FXFU8srPVPZjJUI5Kbpl6lWjLXntbqXsTTyxsuX1sZmEppyjbqi3xLEctryKJ6OWcf1JIkoYCaoTbazTTVr6pL+fscfU3szqsPi3rGfK1vFPYHG8MhWV4rLLqtn5onKNlsWX5bfL2chIEs16DjJxe6KzIUeinfQmIVxGCaiDiuXUZFjBrXN0MhpOkXsDhLtRXPfy5mlKn7SWWO0dPQbg0NJVHpfux+5ep08jclbVP0OiEdHk5slzoaU0rQy3js3s14oy8Rw9X7stPFal7BO6lJ82DWndjNJrZoOUH+kpx4cucvkienhYLlfz/AICjqyanTFUUPLJJ9ssYGdprRJbaGu2ZNOnZ3NFT0Gao8zyltMhxDMjFGrXZl4oRnPArxV4mfi0aNLZooV3djej1cMrVkeGZLjcPmjoPQpGhTpBUbQ8507RzuGqOEulmW8dLPlaNPGcNjNXWkuT/AJMyKabjJWaBTWg81P8AUuwa1VK1/J+RsYKpGSffilZu7TeZraKtzfiZ1bDZqbkt07fNGfmknGCajqo95pLXnJ8kZ62LxUlSYXaGKzKXVamJWiavFFKzzcnlvraVr6pvdGdODtqmvNNEp9nZhdRSKwh7iJnQaRv1uH+z9jSt7ycVKfhm+FfJFLgOC9tiaVP8U0vRa/RHQzqf/dPNynKCvyy92P7IeCIeRlqXFelf+ieMVFKFtIrXxfMixdSEYxULrNs9Wky7aKbv4kFenHXLt06M6EeZFq7ZBBWjYijC7JKT0bDwsb6gLvVhUaBbp4cOjSL8KNrX5jpEJzK8aAFaFjShTIsZS7oXHRzTdox6syhXZerRKdSJFkUiCmU60dTQpR1KtaFpNeJvR2ePLtE+Do3NFYbQi4dTNyNHQvBC5Z0zFlGxX4jgs8brdbfwbOIwxWcdLBcRVP2jmqcmlKL5albGQblGcelrrk+pq4yl3lJepRxNb2UbrfWxJrWzqjK3aIJxtJRcpT53k72fVFjF0o+znmWmXm7623WnUUa0JRUpqUbq6urXXVN7owuJ8Qc3lWkFsuvixHJJDwxvJL8GaxDMRznpnX9jcWqeMozlspavpmTjf0ubfEYZuIVMiv72T6q0d35bnJcMqZasJbWnG/lfU6bDYi+LqtO6lKpZ9byevyKQeq+5yeVCsjyL+mv8mlVs2/7Yq06dllXnqXoaK9l43KsrX09S6PPxsqVNC9g4aIqV46mpg4bGXZab0W6NMuQiDSgWIookcUpA2Bqq6aHqTsQe0u7BbAlZl16ZSqUzarUylUpEGIUqVLUp4qHfl5m1Qo6mViV7yXmzFsPbL/DIm/Tp6GLwuJ0lGnoXh0SyvZRq0yjiKJs1qZn4mI4kWc/Vp3ujku0FXvZVy0+erOzxMlG7ey1ZxFSn7Sq5Pa9367Ihl6PQ8Z75P0C4uNJttt20TekV4fNmXUZq8Qq3g/RGS9jnkejh2m2RtiHuIQsaZrYDEZZRl5Mx0XcPPTyNFjZY2jtq+MfsrRayyaey0fg+RXy2s1qnu77FDhks9NxfoRxahVilmirJSzvd21atyvsdCkeT8pRbSNN6yNnDUzDpvXquT6o6HB7DolldIuU4hzY8EDVRU47tlSq7slwuH1uHhqN2a0aFkCtWDJl46MqrRKk8Obk6JH7Ai0IsiM7C4Q5evH301+Z/U72NOxy2JwXvW7bvUNaK4citljhFDU6ONPQrcMwmVami0WgqRzZclspVoGbioGxVRkcUrRpxc5OySuxgwdnHdp61lkW89/0rc5n4VY0cdX9pUc3u9l+GPJFGpuc0tuz18SqKRncQnokU6hLVeaTfLl5EMyEns9HGqVACHcvAQChpJk9Cdn5kA9xUVkrN/htTLLwehqYzD5lZ+j6HOYetszqMBVUo35lYs83PFp2Y1OU6csq36PRS6o7LhFa8U9vDmjK9gpO7S0LWEm4v+/uVicmafJHSUx5wKWDx8ZPLez8efkzTii6PPlcWLAw1NSMTPpKzNCnIf0cuZtuxpUiOUCwyOaJuJFSZXmVaOEvLM/QvezuSKNgqJX5lLQEYDSJJMwOM9pKVFNR95P8ADF6J/mly/djNpAhGU3SLfFMdCjBzqOy5dZPolzZ51xzjEq8rvSKfdgnovF9WQcY4nOtLNUd3sktIwXSKKvstP3TJOVnqYcKgrfZFGLk3Zac2UeKVFFZVu9zQrV8sckf+2ZOKp27z1bIyZ34Y7tlJaIiaDlIBkTvQOUQ4jBNAbMHLQjkIXLGHrWfga/D8Zld1tzRgk2HrWGTI5MakjvqUlK0k9H+xMro5fh2NtzN2GOUld78y8WeTlxNMu0oLlvyNClUnThGSkpNtpwe8Uud+hiwbWt735lqGM5N28SvI5JwZsUeOR2nFx8VqjQw/FqT2qR9Xb6nMVKb8Giq6CXIKmRlgiz0CljIbqUX6oldZPmvmjzOo+iBhTUpJSeVc3Zyt5JB+YSfhruz0ypWjFXk0l1bSMXHdqaENIv2kukdvWRy+Llh4wcYQqVJNfHUllUfGMI/dmLKiwcxsfix92aXEuO1K88spuML62u4r/ivi9THm3zZPCMVu/lqBVyt7X89vkK2dsUlpdFdUc3el8P8AtW2bx8vEVWqrWSS+wVefNsysVj1qo6k2y8IuT0SYiooavcyK1VydxVG225EUibZ3Y8fEBCY4hSwNxCsMCwmlNDMkAmAtYL0ATHuCYJZo1mjUwuO6mHmDjMZMhkxKR1+ExfR+hfhNM4iniWtmzTwnFraPUopHDk8Z+jrqUnHZpod4tPSxgx4gnsw4cQturj2jkeNmzdLVL5larP0Ky4lHyI6mKT5gsCgyWpURUq1AKmIXUqVcfFczWOsbZNIhqVkijW4j0KdbEXA5Fo4G+yxicTfTV+RnZxOb5AXEbOuEFFDykRthNkcmKyiQQw1xRAOHcQsg4LBRebI5smaIZIxVEaCaBaEmYI9hWGbEYA4aYFxxhGGpO+5ao15dSncOEgolJWW5V31BdV9SHMPnGsTggZzfUiciSbuRSFGSI2MHJ2I2wDDSYI7EjBGZHINgyQAg2HTsKwMkYJJ7UREIxjZsRyRKtgKhhyvIBBDMDQwwaQIYUBisNcPkQsIgVwoAwDiYVh3EkNIkjzGJsBojkTS5eRC9jMK7IJsjTFLdgVhStFmMbodQCobIMNEmyGUSGoizMirGNZBcUhMaQo4LY4w5rMf/2Q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6" name="Picture 8" descr="http://weblogs.clarin.com/data/dsno/archives/LiquidSculpture116865-thumb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69265" y="980728"/>
            <a:ext cx="3524250" cy="276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tp://upload.wikimedia.org/wikipedia/commons/1/11/Drop_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99773" y="3284984"/>
            <a:ext cx="2053619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39419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328835"/>
            <a:ext cx="6637468" cy="905912"/>
          </a:xfrm>
        </p:spPr>
        <p:txBody>
          <a:bodyPr>
            <a:normAutofit/>
          </a:bodyPr>
          <a:lstStyle/>
          <a:p>
            <a:pPr algn="ctr"/>
            <a:r>
              <a:rPr lang="es-MX" sz="4800" dirty="0" smtClean="0"/>
              <a:t>Tipos de Viscosidad</a:t>
            </a:r>
            <a:endParaRPr lang="es-MX" sz="4800" dirty="0"/>
          </a:p>
        </p:txBody>
      </p:sp>
      <p:sp>
        <p:nvSpPr>
          <p:cNvPr id="5" name="4 CuadroTexto"/>
          <p:cNvSpPr txBox="1"/>
          <p:nvPr/>
        </p:nvSpPr>
        <p:spPr>
          <a:xfrm>
            <a:off x="467544" y="1268760"/>
            <a:ext cx="612068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s-MX" sz="2000" dirty="0"/>
              <a:t>Viscosidad Dinámica</a:t>
            </a:r>
            <a:r>
              <a:rPr lang="es-MX" sz="2000" dirty="0" smtClean="0"/>
              <a:t>: </a:t>
            </a:r>
            <a:r>
              <a:rPr lang="es-MX" sz="2000" dirty="0"/>
              <a:t> La tensión de corte de un fluido se desarrolla cuando este se encuentra en movimiento y su magnitud depende de la viscosidad del fluido. Se puede definir a la tensión de corte como la fuerza requerida para deslizar una capa de área unitaria de una sustancia sobre otra capa de la misma sustancia</a:t>
            </a:r>
            <a:r>
              <a:rPr lang="es-MX" sz="2000" dirty="0" smtClean="0"/>
              <a:t>. Unidad de medida </a:t>
            </a:r>
            <a:r>
              <a:rPr lang="es-MX" sz="2000" dirty="0"/>
              <a:t>Pascal segundo (</a:t>
            </a:r>
            <a:r>
              <a:rPr lang="es-MX" sz="2000" dirty="0" err="1"/>
              <a:t>Pa.s</a:t>
            </a:r>
            <a:r>
              <a:rPr lang="es-MX" sz="2000" dirty="0"/>
              <a:t>) o también Newton segundo por metro cuadrado (</a:t>
            </a:r>
            <a:r>
              <a:rPr lang="es-MX" sz="2000" dirty="0" err="1"/>
              <a:t>N.s</a:t>
            </a:r>
            <a:r>
              <a:rPr lang="es-MX" sz="2000" dirty="0"/>
              <a:t>/m2), o </a:t>
            </a:r>
            <a:r>
              <a:rPr lang="es-MX" sz="2000" dirty="0" smtClean="0"/>
              <a:t>(</a:t>
            </a:r>
            <a:r>
              <a:rPr lang="es-MX" sz="2000" dirty="0"/>
              <a:t>kg/ms).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s-MX" sz="2000" dirty="0"/>
              <a:t>Viscosidad Cinemática</a:t>
            </a:r>
            <a:r>
              <a:rPr lang="es-MX" sz="2000" dirty="0" smtClean="0"/>
              <a:t>: Es el cociente </a:t>
            </a:r>
            <a:r>
              <a:rPr lang="es-MX" sz="2000" dirty="0"/>
              <a:t>entre la viscosidad dinámica de un fluido y su densidad. Debido a que la viscosidad dinámica y la densidad son propiedades del </a:t>
            </a:r>
            <a:r>
              <a:rPr lang="es-MX" sz="2000" dirty="0" smtClean="0"/>
              <a:t>fluido. Unidad de Medida </a:t>
            </a:r>
            <a:r>
              <a:rPr lang="es-MX" sz="2000" dirty="0"/>
              <a:t>metro cuadrado por segundo (m2/s</a:t>
            </a:r>
            <a:r>
              <a:rPr lang="es-MX" sz="2000" dirty="0" smtClean="0"/>
              <a:t>).</a:t>
            </a:r>
            <a:endParaRPr lang="es-MX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04393" y="1234747"/>
            <a:ext cx="2639607" cy="2141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85479" y="3806317"/>
            <a:ext cx="2658521" cy="232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78056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188640"/>
            <a:ext cx="6637468" cy="977920"/>
          </a:xfrm>
        </p:spPr>
        <p:txBody>
          <a:bodyPr>
            <a:normAutofit/>
          </a:bodyPr>
          <a:lstStyle/>
          <a:p>
            <a:r>
              <a:rPr lang="es-MX" sz="4800" dirty="0" smtClean="0"/>
              <a:t>Fórmulas</a:t>
            </a:r>
            <a:endParaRPr lang="es-MX" sz="4800" dirty="0"/>
          </a:p>
        </p:txBody>
      </p:sp>
      <p:sp>
        <p:nvSpPr>
          <p:cNvPr id="4" name="3 CuadroTexto"/>
          <p:cNvSpPr txBox="1"/>
          <p:nvPr/>
        </p:nvSpPr>
        <p:spPr>
          <a:xfrm>
            <a:off x="539552" y="1340768"/>
            <a:ext cx="81369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smtClean="0"/>
              <a:t>Viscosidad</a:t>
            </a:r>
          </a:p>
          <a:p>
            <a:endParaRPr lang="es-MX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46150336"/>
              </p:ext>
            </p:extLst>
          </p:nvPr>
        </p:nvGraphicFramePr>
        <p:xfrm>
          <a:off x="594512" y="1774306"/>
          <a:ext cx="8117948" cy="1173480"/>
        </p:xfrm>
        <a:graphic>
          <a:graphicData uri="http://schemas.openxmlformats.org/drawingml/2006/table">
            <a:tbl>
              <a:tblPr/>
              <a:tblGrid>
                <a:gridCol w="3149396"/>
                <a:gridCol w="4968552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lang="es-MX" sz="1800" dirty="0"/>
                        <a:t>(fuerza de rozamiento interno entre dos capas de fluido) F=</a:t>
                      </a:r>
                      <a:r>
                        <a:rPr lang="es-MX" sz="18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η</a:t>
                      </a:r>
                      <a:r>
                        <a:rPr lang="es-MX" sz="1800" dirty="0" err="1"/>
                        <a:t>.S.</a:t>
                      </a:r>
                      <a:r>
                        <a:rPr lang="es-MX" sz="1800" dirty="0" err="1">
                          <a:effectLst/>
                          <a:latin typeface="Symbol"/>
                        </a:rPr>
                        <a:t>D</a:t>
                      </a:r>
                      <a:r>
                        <a:rPr lang="es-MX" sz="1800" dirty="0" err="1"/>
                        <a:t>V</a:t>
                      </a:r>
                      <a:r>
                        <a:rPr lang="es-MX" sz="1800" dirty="0"/>
                        <a:t>/</a:t>
                      </a:r>
                      <a:r>
                        <a:rPr lang="es-MX" sz="1800" dirty="0" err="1">
                          <a:effectLst/>
                          <a:latin typeface="Symbol"/>
                        </a:rPr>
                        <a:t>D</a:t>
                      </a:r>
                      <a:r>
                        <a:rPr lang="es-MX" sz="1800" dirty="0" err="1"/>
                        <a:t>h</a:t>
                      </a:r>
                      <a:endParaRPr lang="es-MX" sz="1800" dirty="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η</a:t>
                      </a:r>
                      <a:r>
                        <a:rPr lang="el-GR" sz="1800" dirty="0"/>
                        <a:t>=</a:t>
                      </a:r>
                      <a:r>
                        <a:rPr lang="es-MX" sz="1800" dirty="0" smtClean="0"/>
                        <a:t>coeficiente</a:t>
                      </a:r>
                      <a:r>
                        <a:rPr lang="es-MX" sz="1800" baseline="0" dirty="0" smtClean="0"/>
                        <a:t> de </a:t>
                      </a:r>
                      <a:r>
                        <a:rPr lang="es-MX" sz="1800" dirty="0" smtClean="0"/>
                        <a:t>viscosidad</a:t>
                      </a:r>
                      <a:r>
                        <a:rPr lang="es-MX" sz="1800" baseline="0" dirty="0" smtClean="0"/>
                        <a:t> </a:t>
                      </a:r>
                      <a:r>
                        <a:rPr lang="es-MX" sz="1800" dirty="0" smtClean="0"/>
                        <a:t>dinámica</a:t>
                      </a:r>
                    </a:p>
                    <a:p>
                      <a:r>
                        <a:rPr lang="es-MX" sz="1800" dirty="0" smtClean="0"/>
                        <a:t>S=superficie</a:t>
                      </a:r>
                      <a:r>
                        <a:rPr lang="es-MX" sz="1800" baseline="0" dirty="0" smtClean="0"/>
                        <a:t> </a:t>
                      </a:r>
                      <a:r>
                        <a:rPr lang="es-MX" sz="1800" dirty="0" smtClean="0"/>
                        <a:t>contacto</a:t>
                      </a:r>
                    </a:p>
                    <a:p>
                      <a:r>
                        <a:rPr lang="es-MX" sz="1800" dirty="0" smtClean="0"/>
                        <a:t>V=diferencia</a:t>
                      </a:r>
                      <a:r>
                        <a:rPr lang="es-MX" sz="1800" baseline="0" dirty="0" smtClean="0"/>
                        <a:t> de </a:t>
                      </a:r>
                      <a:r>
                        <a:rPr lang="es-MX" sz="1800" dirty="0" smtClean="0"/>
                        <a:t>velocidad</a:t>
                      </a:r>
                    </a:p>
                    <a:p>
                      <a:r>
                        <a:rPr lang="el-GR" sz="18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Δ</a:t>
                      </a:r>
                      <a:r>
                        <a:rPr lang="es-MX" sz="1800" dirty="0" smtClean="0"/>
                        <a:t>h=distancia</a:t>
                      </a:r>
                      <a:r>
                        <a:rPr lang="es-MX" sz="1800" baseline="0" dirty="0" smtClean="0"/>
                        <a:t> </a:t>
                      </a:r>
                      <a:r>
                        <a:rPr lang="es-MX" sz="1800" dirty="0" smtClean="0"/>
                        <a:t>vertical</a:t>
                      </a:r>
                      <a:endParaRPr lang="es-MX" sz="1800" dirty="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477655" y="3224996"/>
            <a:ext cx="7560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smtClean="0"/>
              <a:t>Coeficiente de Viscosidad Dinámica</a:t>
            </a:r>
            <a:endParaRPr lang="es-MX" sz="2000" b="1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12128906"/>
              </p:ext>
            </p:extLst>
          </p:nvPr>
        </p:nvGraphicFramePr>
        <p:xfrm>
          <a:off x="539552" y="3800889"/>
          <a:ext cx="6777036" cy="1173480"/>
        </p:xfrm>
        <a:graphic>
          <a:graphicData uri="http://schemas.openxmlformats.org/drawingml/2006/table">
            <a:tbl>
              <a:tblPr/>
              <a:tblGrid>
                <a:gridCol w="1800200"/>
                <a:gridCol w="4976836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lang="el-GR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η</a:t>
                      </a:r>
                      <a:r>
                        <a:rPr lang="el-GR" sz="1800" dirty="0"/>
                        <a:t>=</a:t>
                      </a:r>
                      <a:r>
                        <a:rPr lang="es-MX" sz="1800" dirty="0"/>
                        <a:t>F</a:t>
                      </a:r>
                      <a:r>
                        <a:rPr lang="es-MX" sz="1800" dirty="0">
                          <a:effectLst/>
                          <a:latin typeface="Symbol"/>
                        </a:rPr>
                        <a:t>.</a:t>
                      </a:r>
                      <a:r>
                        <a:rPr lang="el-GR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Δ</a:t>
                      </a:r>
                      <a:r>
                        <a:rPr lang="es-MX" sz="1800" dirty="0"/>
                        <a:t>h/S.</a:t>
                      </a:r>
                      <a:r>
                        <a:rPr lang="el-GR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Δ</a:t>
                      </a:r>
                      <a:r>
                        <a:rPr lang="es-MX" sz="1800" dirty="0"/>
                        <a:t>V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 smtClean="0"/>
                        <a:t>F=fuerza de rozamiento</a:t>
                      </a:r>
                      <a:r>
                        <a:rPr lang="es-MX" sz="1800" baseline="0" dirty="0" smtClean="0"/>
                        <a:t> </a:t>
                      </a:r>
                      <a:r>
                        <a:rPr lang="es-MX" sz="1800" dirty="0" smtClean="0"/>
                        <a:t>interno</a:t>
                      </a:r>
                    </a:p>
                    <a:p>
                      <a:r>
                        <a:rPr lang="es-MX" sz="1800" dirty="0" smtClean="0"/>
                        <a:t>S=superficie</a:t>
                      </a:r>
                      <a:r>
                        <a:rPr lang="es-MX" sz="1800" baseline="0" dirty="0" smtClean="0"/>
                        <a:t> </a:t>
                      </a:r>
                      <a:r>
                        <a:rPr lang="es-MX" sz="1800" dirty="0" smtClean="0"/>
                        <a:t>contacto</a:t>
                      </a:r>
                    </a:p>
                    <a:p>
                      <a:r>
                        <a:rPr lang="es-MX" sz="1800" dirty="0" smtClean="0"/>
                        <a:t>V=velocidad</a:t>
                      </a:r>
                    </a:p>
                    <a:p>
                      <a:r>
                        <a:rPr lang="el-GR" sz="18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Δ</a:t>
                      </a:r>
                      <a:r>
                        <a:rPr lang="es-MX" sz="1800" dirty="0" smtClean="0"/>
                        <a:t>h=distancia</a:t>
                      </a:r>
                      <a:r>
                        <a:rPr lang="es-MX" sz="1800" baseline="0" dirty="0" smtClean="0"/>
                        <a:t> </a:t>
                      </a:r>
                      <a:r>
                        <a:rPr lang="es-MX" sz="1800" dirty="0" smtClean="0"/>
                        <a:t>vertical</a:t>
                      </a:r>
                      <a:endParaRPr lang="es-MX" sz="1800" dirty="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505522" y="5053246"/>
            <a:ext cx="7435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smtClean="0"/>
              <a:t>Coeficiente de viscosidad Cinemática</a:t>
            </a:r>
            <a:endParaRPr lang="es-MX" sz="2000" b="1" dirty="0"/>
          </a:p>
        </p:txBody>
      </p:sp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82998340"/>
              </p:ext>
            </p:extLst>
          </p:nvPr>
        </p:nvGraphicFramePr>
        <p:xfrm>
          <a:off x="539552" y="5589240"/>
          <a:ext cx="6777036" cy="624840"/>
        </p:xfrm>
        <a:graphic>
          <a:graphicData uri="http://schemas.openxmlformats.org/drawingml/2006/table">
            <a:tbl>
              <a:tblPr/>
              <a:tblGrid>
                <a:gridCol w="1800200"/>
                <a:gridCol w="4976836"/>
              </a:tblGrid>
              <a:tr h="624840">
                <a:tc>
                  <a:txBody>
                    <a:bodyPr/>
                    <a:lstStyle/>
                    <a:p>
                      <a:pPr algn="l"/>
                      <a:r>
                        <a:rPr lang="el-GR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η</a:t>
                      </a:r>
                      <a:r>
                        <a:rPr lang="es-MX" sz="1800" baseline="-25000" dirty="0"/>
                        <a:t>c</a:t>
                      </a:r>
                      <a:r>
                        <a:rPr lang="es-MX" sz="1800" dirty="0"/>
                        <a:t>=</a:t>
                      </a:r>
                      <a:r>
                        <a:rPr lang="el-GR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η</a:t>
                      </a:r>
                      <a:r>
                        <a:rPr lang="el-GR" sz="1800" dirty="0"/>
                        <a:t>/</a:t>
                      </a:r>
                      <a:r>
                        <a:rPr lang="el-GR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ρ</a:t>
                      </a:r>
                      <a:endParaRPr lang="el-GR" sz="1800" dirty="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 smtClean="0">
                          <a:effectLst/>
                          <a:latin typeface="Symbol"/>
                        </a:rPr>
                        <a:t>h</a:t>
                      </a:r>
                      <a:r>
                        <a:rPr lang="es-MX" sz="1800" dirty="0" smtClean="0"/>
                        <a:t>=coeficiente</a:t>
                      </a:r>
                      <a:r>
                        <a:rPr lang="es-MX" sz="1800" baseline="0" dirty="0" smtClean="0"/>
                        <a:t> de </a:t>
                      </a:r>
                      <a:r>
                        <a:rPr lang="es-MX" sz="1800" dirty="0" smtClean="0"/>
                        <a:t>viscosidad </a:t>
                      </a:r>
                      <a:r>
                        <a:rPr lang="es-MX" sz="1800" dirty="0"/>
                        <a:t>dinámica </a:t>
                      </a:r>
                      <a:endParaRPr lang="es-MX" sz="1800" dirty="0" smtClean="0"/>
                    </a:p>
                    <a:p>
                      <a:r>
                        <a:rPr lang="es-MX" sz="1800" dirty="0"/>
                        <a:t> </a:t>
                      </a:r>
                      <a:r>
                        <a:rPr lang="el-GR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ρ</a:t>
                      </a:r>
                      <a:r>
                        <a:rPr lang="el-GR" sz="1800" dirty="0"/>
                        <a:t>=</a:t>
                      </a:r>
                      <a:r>
                        <a:rPr lang="es-MX" sz="1800" dirty="0"/>
                        <a:t>densidad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7087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539552" y="332656"/>
            <a:ext cx="7024744" cy="1143000"/>
          </a:xfrm>
        </p:spPr>
        <p:txBody>
          <a:bodyPr/>
          <a:lstStyle/>
          <a:p>
            <a:r>
              <a:rPr lang="es-MX" dirty="0" smtClean="0"/>
              <a:t>Unidades De Viscosidad </a:t>
            </a:r>
            <a:endParaRPr lang="es-MX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683568" y="1772816"/>
            <a:ext cx="7137241" cy="4059813"/>
          </a:xfrm>
        </p:spPr>
        <p:txBody>
          <a:bodyPr>
            <a:normAutofit lnSpcReduction="10000"/>
          </a:bodyPr>
          <a:lstStyle/>
          <a:p>
            <a:r>
              <a:rPr lang="es-MX" sz="1800" b="1" dirty="0" smtClean="0"/>
              <a:t>Sistema cegesimales: </a:t>
            </a:r>
            <a:r>
              <a:rPr lang="es-MX" sz="1800" dirty="0" smtClean="0"/>
              <a:t>1 Poise = dinas*</a:t>
            </a:r>
            <a:r>
              <a:rPr lang="es-MX" sz="1800" dirty="0" err="1" smtClean="0"/>
              <a:t>seg</a:t>
            </a:r>
            <a:r>
              <a:rPr lang="es-MX" sz="1800" dirty="0" smtClean="0"/>
              <a:t>/cm^2</a:t>
            </a:r>
            <a:r>
              <a:rPr lang="es-MX" sz="1800" b="1" dirty="0" smtClean="0"/>
              <a:t> </a:t>
            </a:r>
          </a:p>
          <a:p>
            <a:endParaRPr lang="es-MX" sz="1800" b="1" dirty="0" smtClean="0"/>
          </a:p>
          <a:p>
            <a:r>
              <a:rPr lang="es-MX" sz="1800" b="1" dirty="0" smtClean="0"/>
              <a:t>Sistema técnico: </a:t>
            </a:r>
            <a:r>
              <a:rPr lang="es-MX" sz="1800" dirty="0" smtClean="0"/>
              <a:t>1 U.T.M. = 98 Poise    1 Poise= 1/98 kg*</a:t>
            </a:r>
            <a:r>
              <a:rPr lang="es-MX" sz="1800" dirty="0" err="1" smtClean="0"/>
              <a:t>seg</a:t>
            </a:r>
            <a:r>
              <a:rPr lang="es-MX" sz="1800" dirty="0" smtClean="0"/>
              <a:t>/m^2</a:t>
            </a:r>
          </a:p>
          <a:p>
            <a:endParaRPr lang="es-MX" sz="1800" dirty="0" smtClean="0"/>
          </a:p>
          <a:p>
            <a:r>
              <a:rPr lang="es-MX" sz="1800" dirty="0" smtClean="0"/>
              <a:t>La viscosidad dinámica del agua a 20°C es igual a 0.01 Poises, 1 </a:t>
            </a:r>
            <a:r>
              <a:rPr lang="es-MX" sz="1800" dirty="0" err="1" smtClean="0"/>
              <a:t>Centipoise</a:t>
            </a:r>
            <a:r>
              <a:rPr lang="es-MX" sz="1800" dirty="0" smtClean="0"/>
              <a:t> </a:t>
            </a:r>
          </a:p>
          <a:p>
            <a:endParaRPr lang="es-MX" sz="1800" dirty="0" smtClean="0"/>
          </a:p>
          <a:p>
            <a:r>
              <a:rPr lang="es-MX" sz="1800" dirty="0" smtClean="0"/>
              <a:t>La viscosidad cinemática se define en la forma, v=</a:t>
            </a:r>
            <a:r>
              <a:rPr lang="el-GR" sz="1800" dirty="0" smtClean="0">
                <a:solidFill>
                  <a:srgbClr val="000000"/>
                </a:solidFill>
                <a:latin typeface="Times New Roman"/>
              </a:rPr>
              <a:t>η</a:t>
            </a:r>
            <a:r>
              <a:rPr lang="es-MX" sz="1800" dirty="0" smtClean="0">
                <a:solidFill>
                  <a:srgbClr val="000000"/>
                </a:solidFill>
                <a:latin typeface="Times New Roman"/>
              </a:rPr>
              <a:t>/p, siendo p la  densidad </a:t>
            </a:r>
          </a:p>
          <a:p>
            <a:endParaRPr lang="es-MX" sz="1800" dirty="0" smtClean="0">
              <a:solidFill>
                <a:srgbClr val="000000"/>
              </a:solidFill>
              <a:latin typeface="Times New Roman"/>
            </a:endParaRPr>
          </a:p>
          <a:p>
            <a:r>
              <a:rPr lang="es-MX" sz="1800" dirty="0" smtClean="0">
                <a:solidFill>
                  <a:srgbClr val="000000"/>
                </a:solidFill>
                <a:latin typeface="Times New Roman"/>
              </a:rPr>
              <a:t>El  Coeficiente de Viscosidad cinemática  v del agua para 0°C y 760 mm de presión es,</a:t>
            </a:r>
          </a:p>
          <a:p>
            <a:pPr>
              <a:buNone/>
            </a:pPr>
            <a:r>
              <a:rPr lang="es-MX" sz="18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s-MX" sz="1800" dirty="0" smtClean="0">
                <a:solidFill>
                  <a:srgbClr val="000000"/>
                </a:solidFill>
                <a:latin typeface="Times New Roman"/>
              </a:rPr>
              <a:t>Va=1.78x10</a:t>
            </a:r>
            <a:r>
              <a:rPr lang="es-MX" sz="1800" dirty="0" smtClean="0"/>
              <a:t>^-6 m^2/</a:t>
            </a:r>
            <a:r>
              <a:rPr lang="es-MX" sz="1800" dirty="0" err="1" smtClean="0"/>
              <a:t>seg</a:t>
            </a:r>
            <a:r>
              <a:rPr lang="es-MX" sz="1800" dirty="0" smtClean="0"/>
              <a:t>.</a:t>
            </a:r>
            <a:r>
              <a:rPr lang="es-MX" sz="1800" dirty="0" smtClean="0">
                <a:solidFill>
                  <a:srgbClr val="000000"/>
                </a:solidFill>
                <a:latin typeface="Times New Roman"/>
              </a:rPr>
              <a:t> </a:t>
            </a:r>
            <a:endParaRPr lang="es-MX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755576" y="404664"/>
            <a:ext cx="7024744" cy="1143000"/>
          </a:xfrm>
        </p:spPr>
        <p:txBody>
          <a:bodyPr/>
          <a:lstStyle/>
          <a:p>
            <a:r>
              <a:rPr lang="es-MX" dirty="0" smtClean="0"/>
              <a:t>Medidores de Viscosidad </a:t>
            </a:r>
            <a:endParaRPr lang="es-MX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755576" y="1556792"/>
            <a:ext cx="6777317" cy="3508977"/>
          </a:xfrm>
        </p:spPr>
        <p:txBody>
          <a:bodyPr/>
          <a:lstStyle/>
          <a:p>
            <a:r>
              <a:rPr lang="es-MX" b="1" dirty="0" smtClean="0"/>
              <a:t>Viscosímetro </a:t>
            </a:r>
            <a:r>
              <a:rPr lang="es-MX" b="1" dirty="0" err="1" smtClean="0"/>
              <a:t>Engler</a:t>
            </a:r>
            <a:r>
              <a:rPr lang="es-MX" b="1" dirty="0" smtClean="0"/>
              <a:t>:</a:t>
            </a:r>
            <a:endParaRPr lang="es-MX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836712"/>
            <a:ext cx="7632848" cy="5616624"/>
          </a:xfrm>
        </p:spPr>
        <p:txBody>
          <a:bodyPr>
            <a:normAutofit fontScale="85000" lnSpcReduction="20000"/>
          </a:bodyPr>
          <a:lstStyle/>
          <a:p>
            <a:r>
              <a:rPr lang="es-MX" dirty="0" smtClean="0"/>
              <a:t>Bien pude poner mas, pero es para que todos trabajen </a:t>
            </a:r>
            <a:r>
              <a:rPr lang="es-MX" dirty="0" err="1" smtClean="0"/>
              <a:t>jeje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>mmm mi idea es que pongamos esto:</a:t>
            </a:r>
            <a:br>
              <a:rPr lang="es-MX" dirty="0" smtClean="0"/>
            </a:br>
            <a:r>
              <a:rPr lang="es-MX" dirty="0" smtClean="0"/>
              <a:t>-tipos de viscosidad:</a:t>
            </a:r>
            <a:br>
              <a:rPr lang="es-MX" dirty="0" smtClean="0"/>
            </a:br>
            <a:r>
              <a:rPr lang="es-MX" dirty="0">
                <a:hlinkClick r:id="rId2"/>
              </a:rPr>
              <a:t>http://</a:t>
            </a:r>
            <a:r>
              <a:rPr lang="es-MX" dirty="0" smtClean="0">
                <a:hlinkClick r:id="rId2"/>
              </a:rPr>
              <a:t>fisicaprofetito.blogspot.mx/2011/02/viscosidad-equipo1-404.html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>-unidades de medida </a:t>
            </a:r>
            <a:br>
              <a:rPr lang="es-MX" dirty="0" smtClean="0"/>
            </a:br>
            <a:r>
              <a:rPr lang="es-MX" dirty="0">
                <a:hlinkClick r:id="rId3"/>
              </a:rPr>
              <a:t>http://</a:t>
            </a:r>
            <a:r>
              <a:rPr lang="es-MX" dirty="0" smtClean="0">
                <a:hlinkClick r:id="rId3"/>
              </a:rPr>
              <a:t>es.slideshare.net/n.ando/viscosidad-13201627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>-como medirlo (no pongan </a:t>
            </a:r>
            <a:r>
              <a:rPr lang="es-MX" dirty="0" err="1" smtClean="0"/>
              <a:t>tooodos</a:t>
            </a:r>
            <a:r>
              <a:rPr lang="es-MX" dirty="0" smtClean="0"/>
              <a:t> </a:t>
            </a:r>
            <a:r>
              <a:rPr lang="es-MX" dirty="0" err="1" smtClean="0"/>
              <a:t>n.n</a:t>
            </a:r>
            <a:r>
              <a:rPr lang="es-MX" dirty="0" smtClean="0"/>
              <a:t> ) </a:t>
            </a:r>
            <a:br>
              <a:rPr lang="es-MX" dirty="0" smtClean="0"/>
            </a:br>
            <a:r>
              <a:rPr lang="es-MX" dirty="0">
                <a:hlinkClick r:id="rId3"/>
              </a:rPr>
              <a:t>http://</a:t>
            </a:r>
            <a:r>
              <a:rPr lang="es-MX" dirty="0" smtClean="0">
                <a:hlinkClick r:id="rId3"/>
              </a:rPr>
              <a:t>es.slideshare.net/n.ando/viscosidad-13201627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>-formulas</a:t>
            </a:r>
            <a:br>
              <a:rPr lang="es-MX" dirty="0" smtClean="0"/>
            </a:br>
            <a:r>
              <a:rPr lang="es-MX" dirty="0">
                <a:hlinkClick r:id="rId4"/>
              </a:rPr>
              <a:t>http://</a:t>
            </a:r>
            <a:r>
              <a:rPr lang="es-MX" dirty="0" smtClean="0">
                <a:hlinkClick r:id="rId4"/>
              </a:rPr>
              <a:t>tecnolibro.com/Formulas-Hidrodinamica.htm</a:t>
            </a:r>
            <a:r>
              <a:rPr lang="es-MX" dirty="0" smtClean="0"/>
              <a:t> </a:t>
            </a:r>
            <a:br>
              <a:rPr lang="es-MX" dirty="0" smtClean="0"/>
            </a:br>
            <a:r>
              <a:rPr lang="es-MX" dirty="0" smtClean="0"/>
              <a:t>problemas-</a:t>
            </a:r>
            <a:br>
              <a:rPr lang="es-MX" dirty="0" smtClean="0"/>
            </a:br>
            <a:r>
              <a:rPr lang="es-MX" dirty="0">
                <a:hlinkClick r:id="rId5"/>
              </a:rPr>
              <a:t>http://</a:t>
            </a:r>
            <a:r>
              <a:rPr lang="es-MX" dirty="0" smtClean="0">
                <a:hlinkClick r:id="rId5"/>
              </a:rPr>
              <a:t>es.slideshare.net/higinioflores50/calculo-de-la-viscosidad-y-comportamiento-de-los-fluidos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>LISTO!! :D </a:t>
            </a:r>
            <a:r>
              <a:rPr lang="es-MX" dirty="0" err="1" smtClean="0"/>
              <a:t>jajjaja</a:t>
            </a:r>
            <a:r>
              <a:rPr lang="es-MX" dirty="0" smtClean="0"/>
              <a:t> , bueno es mi idea </a:t>
            </a:r>
            <a:r>
              <a:rPr lang="es-MX" dirty="0" err="1" smtClean="0"/>
              <a:t>n.n</a:t>
            </a:r>
            <a:r>
              <a:rPr lang="es-MX" dirty="0" smtClean="0"/>
              <a:t> , pueden desecharla si quieren. FALTO LA FORMULA DE LA VISCOSIDAD RELATIVA PERO NO SE SI PONERLA CHEQUELE BIEN VALE TAMBIEN HICE POCA PARA USTEDES, A DEBERAS NO SE LES OLVIDE PASARSELO A PERLA :3 los amo.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xmlns="" val="3205771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220</TotalTime>
  <Words>166</Words>
  <Application>Microsoft Office PowerPoint</Application>
  <PresentationFormat>Presentación en pantalla (4:3)</PresentationFormat>
  <Paragraphs>39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Austin</vt:lpstr>
      <vt:lpstr>Viscosidad</vt:lpstr>
      <vt:lpstr>¿Que es? </vt:lpstr>
      <vt:lpstr>Diapositiva 3</vt:lpstr>
      <vt:lpstr>Tipos de Viscosidad</vt:lpstr>
      <vt:lpstr>Fórmulas</vt:lpstr>
      <vt:lpstr>Unidades De Viscosidad </vt:lpstr>
      <vt:lpstr>Medidores de Viscosidad </vt:lpstr>
      <vt:lpstr>Diapositiva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Viscosidad</dc:title>
  <dc:creator>Eduardo</dc:creator>
  <cp:lastModifiedBy>Usuario</cp:lastModifiedBy>
  <cp:revision>14</cp:revision>
  <dcterms:created xsi:type="dcterms:W3CDTF">2013-11-06T05:41:00Z</dcterms:created>
  <dcterms:modified xsi:type="dcterms:W3CDTF">2013-11-07T04:26:51Z</dcterms:modified>
</cp:coreProperties>
</file>