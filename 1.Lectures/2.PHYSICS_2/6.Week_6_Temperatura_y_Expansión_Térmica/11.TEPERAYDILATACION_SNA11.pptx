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363" r:id="rId2"/>
    <p:sldId id="256" r:id="rId3"/>
    <p:sldId id="365" r:id="rId4"/>
    <p:sldId id="366" r:id="rId5"/>
    <p:sldId id="367" r:id="rId6"/>
    <p:sldId id="389" r:id="rId7"/>
    <p:sldId id="401" r:id="rId8"/>
    <p:sldId id="395" r:id="rId9"/>
    <p:sldId id="400" r:id="rId10"/>
    <p:sldId id="406" r:id="rId11"/>
    <p:sldId id="371" r:id="rId12"/>
    <p:sldId id="407" r:id="rId13"/>
    <p:sldId id="409" r:id="rId14"/>
    <p:sldId id="384" r:id="rId15"/>
    <p:sldId id="403" r:id="rId16"/>
    <p:sldId id="387" r:id="rId17"/>
    <p:sldId id="402" r:id="rId18"/>
    <p:sldId id="404" r:id="rId19"/>
    <p:sldId id="381" r:id="rId20"/>
    <p:sldId id="408" r:id="rId21"/>
    <p:sldId id="376" r:id="rId22"/>
    <p:sldId id="382" r:id="rId23"/>
    <p:sldId id="378" r:id="rId24"/>
  </p:sldIdLst>
  <p:sldSz cx="9906000" cy="6858000" type="A4"/>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D1611"/>
    <a:srgbClr val="A51313"/>
    <a:srgbClr val="B71515"/>
    <a:srgbClr val="D51919"/>
    <a:srgbClr val="B6120E"/>
    <a:srgbClr val="930E0B"/>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36" autoAdjust="0"/>
    <p:restoredTop sz="94660"/>
  </p:normalViewPr>
  <p:slideViewPr>
    <p:cSldViewPr>
      <p:cViewPr varScale="1">
        <p:scale>
          <a:sx n="84" d="100"/>
          <a:sy n="84" d="100"/>
        </p:scale>
        <p:origin x="1464" y="4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219AD7-51CE-483B-A812-AE489C31F232}" type="datetimeFigureOut">
              <a:rPr lang="es-MX" smtClean="0"/>
              <a:t>31/10/2019</a:t>
            </a:fld>
            <a:endParaRPr lang="es-MX"/>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E476D70-7FD1-490F-953D-DAC7EFCA2461}" type="slidenum">
              <a:rPr lang="es-MX" smtClean="0"/>
              <a:t>‹Nº›</a:t>
            </a:fld>
            <a:endParaRPr lang="es-MX"/>
          </a:p>
        </p:txBody>
      </p:sp>
    </p:spTree>
    <p:extLst>
      <p:ext uri="{BB962C8B-B14F-4D97-AF65-F5344CB8AC3E}">
        <p14:creationId xmlns:p14="http://schemas.microsoft.com/office/powerpoint/2010/main" val="1745235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5223AA-9B34-4DCC-A6E4-0C980A794CD5}" type="datetimeFigureOut">
              <a:rPr lang="es-MX" smtClean="0"/>
              <a:t>31/10/2019</a:t>
            </a:fld>
            <a:endParaRPr lang="es-MX"/>
          </a:p>
        </p:txBody>
      </p:sp>
      <p:sp>
        <p:nvSpPr>
          <p:cNvPr id="4" name="3 Marcador de imagen de diapositiva"/>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D07FDC-64A3-4F2D-9092-2E95035D7FC4}" type="slidenum">
              <a:rPr lang="es-MX" smtClean="0"/>
              <a:t>‹Nº›</a:t>
            </a:fld>
            <a:endParaRPr lang="es-MX"/>
          </a:p>
        </p:txBody>
      </p:sp>
    </p:spTree>
    <p:extLst>
      <p:ext uri="{BB962C8B-B14F-4D97-AF65-F5344CB8AC3E}">
        <p14:creationId xmlns:p14="http://schemas.microsoft.com/office/powerpoint/2010/main" val="41469930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ctrTitle"/>
          </p:nvPr>
        </p:nvSpPr>
        <p:spPr>
          <a:xfrm>
            <a:off x="534479" y="1848218"/>
            <a:ext cx="8420100" cy="345317"/>
          </a:xfrm>
          <a:prstGeom prst="rect">
            <a:avLst/>
          </a:prstGeom>
        </p:spPr>
        <p:txBody>
          <a:bodyPr/>
          <a:lstStyle>
            <a:lvl1pPr>
              <a:defRPr sz="2800" cap="all">
                <a:solidFill>
                  <a:srgbClr val="272727"/>
                </a:solidFill>
              </a:defRPr>
            </a:lvl1pPr>
          </a:lstStyle>
          <a:p>
            <a:r>
              <a:rPr lang="es-ES"/>
              <a:t>Haga clic para modificar el estilo de título del patrón</a:t>
            </a:r>
            <a:endParaRPr lang="es-ES" dirty="0"/>
          </a:p>
        </p:txBody>
      </p:sp>
      <p:sp>
        <p:nvSpPr>
          <p:cNvPr id="3" name="Subtítulo 2"/>
          <p:cNvSpPr>
            <a:spLocks noGrp="1"/>
          </p:cNvSpPr>
          <p:nvPr>
            <p:ph type="subTitle" idx="1"/>
          </p:nvPr>
        </p:nvSpPr>
        <p:spPr>
          <a:xfrm>
            <a:off x="534479" y="2287320"/>
            <a:ext cx="6934200" cy="978395"/>
          </a:xfrm>
          <a:prstGeom prst="rect">
            <a:avLst/>
          </a:prstGeom>
        </p:spPr>
        <p:txBody>
          <a:bodyPr anchor="ctr"/>
          <a:lstStyle>
            <a:lvl1pPr marL="0" indent="0" algn="l">
              <a:buNone/>
              <a:defRPr sz="1800">
                <a:solidFill>
                  <a:schemeClr val="bg2">
                    <a:lumMod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pic>
        <p:nvPicPr>
          <p:cNvPr id="5" name="4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93260" y="5949280"/>
            <a:ext cx="2340260" cy="648072"/>
          </a:xfrm>
          <a:prstGeom prst="rect">
            <a:avLst/>
          </a:prstGeom>
        </p:spPr>
      </p:pic>
      <p:sp>
        <p:nvSpPr>
          <p:cNvPr id="7"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8" name="7 Rectángulo"/>
          <p:cNvSpPr/>
          <p:nvPr userDrawn="1"/>
        </p:nvSpPr>
        <p:spPr>
          <a:xfrm>
            <a:off x="7825563" y="12700"/>
            <a:ext cx="2066679" cy="1124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7"/>
          <p:cNvSpPr/>
          <p:nvPr userDrawn="1"/>
        </p:nvSpPr>
        <p:spPr>
          <a:xfrm>
            <a:off x="0"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DUCCION">
    <p:spTree>
      <p:nvGrpSpPr>
        <p:cNvPr id="1" name=""/>
        <p:cNvGrpSpPr/>
        <p:nvPr/>
      </p:nvGrpSpPr>
      <p:grpSpPr>
        <a:xfrm>
          <a:off x="0" y="0"/>
          <a:ext cx="0" cy="0"/>
          <a:chOff x="0" y="0"/>
          <a:chExt cx="0" cy="0"/>
        </a:xfrm>
      </p:grpSpPr>
      <p:sp>
        <p:nvSpPr>
          <p:cNvPr id="5"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None/>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6" name="Rectangle 5"/>
          <p:cNvSpPr/>
          <p:nvPr/>
        </p:nvSpPr>
        <p:spPr>
          <a:xfrm>
            <a:off x="495300" y="393580"/>
            <a:ext cx="1500732" cy="461665"/>
          </a:xfrm>
          <a:prstGeom prst="rect">
            <a:avLst/>
          </a:prstGeom>
        </p:spPr>
        <p:txBody>
          <a:bodyPr wrap="none">
            <a:spAutoFit/>
          </a:bodyPr>
          <a:lstStyle/>
          <a:p>
            <a:r>
              <a:rPr lang="es-ES_tradnl" sz="2400" dirty="0">
                <a:solidFill>
                  <a:srgbClr val="FFC000"/>
                </a:solidFill>
                <a:latin typeface="Arial" pitchFamily="34" charset="0"/>
                <a:cs typeface="Arial" pitchFamily="34" charset="0"/>
              </a:rPr>
              <a:t>LOGROS</a:t>
            </a:r>
            <a:endParaRPr lang="es-MX" sz="2400" dirty="0">
              <a:solidFill>
                <a:srgbClr val="FFC000"/>
              </a:solidFill>
              <a:latin typeface="Arial" pitchFamily="34" charset="0"/>
              <a:cs typeface="Arial" pitchFamily="34" charset="0"/>
            </a:endParaRPr>
          </a:p>
        </p:txBody>
      </p:sp>
      <p:sp>
        <p:nvSpPr>
          <p:cNvPr id="8"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pic>
        <p:nvPicPr>
          <p:cNvPr id="2" name="1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5"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normAutofit/>
          </a:bodyPr>
          <a:lstStyle>
            <a:lvl1pPr>
              <a:defRPr sz="2400" cap="all"/>
            </a:lvl1pPr>
          </a:lstStyle>
          <a:p>
            <a:r>
              <a:rPr lang="es-ES"/>
              <a:t>Haga clic para modificar el estilo de título del patrón</a:t>
            </a:r>
            <a:endParaRPr lang="es-ES" dirty="0"/>
          </a:p>
        </p:txBody>
      </p:sp>
      <p:sp>
        <p:nvSpPr>
          <p:cNvPr id="3" name="Marcador de contenido 2"/>
          <p:cNvSpPr>
            <a:spLocks noGrp="1"/>
          </p:cNvSpPr>
          <p:nvPr>
            <p:ph idx="1"/>
          </p:nvPr>
        </p:nvSpPr>
        <p:spPr>
          <a:xfrm>
            <a:off x="495300" y="1078523"/>
            <a:ext cx="8915400" cy="5141425"/>
          </a:xfrm>
          <a:prstGeom prst="rect">
            <a:avLst/>
          </a:prstGeom>
        </p:spPr>
        <p:txBody>
          <a:bodyPr/>
          <a:lstStyle>
            <a:lvl1pPr>
              <a:defRPr sz="2000"/>
            </a:lvl1pPr>
            <a:lvl2pPr>
              <a:defRPr sz="2000"/>
            </a:lvl2pPr>
            <a:lvl3pPr>
              <a:defRPr sz="2000"/>
            </a:lvl3pPr>
            <a:lvl4pPr>
              <a:defRPr sz="2000"/>
            </a:lvl4pPr>
            <a:lvl5pPr>
              <a:defRPr sz="20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6"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sp>
        <p:nvSpPr>
          <p:cNvPr id="3" name="Marcador de contenido 2"/>
          <p:cNvSpPr>
            <a:spLocks noGrp="1"/>
          </p:cNvSpPr>
          <p:nvPr>
            <p:ph sz="half" idx="1"/>
          </p:nvPr>
        </p:nvSpPr>
        <p:spPr>
          <a:xfrm>
            <a:off x="49530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Marcador de contenido 3"/>
          <p:cNvSpPr>
            <a:spLocks noGrp="1"/>
          </p:cNvSpPr>
          <p:nvPr>
            <p:ph sz="half" idx="2"/>
          </p:nvPr>
        </p:nvSpPr>
        <p:spPr>
          <a:xfrm>
            <a:off x="503555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pic>
        <p:nvPicPr>
          <p:cNvPr id="8" name="7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1" y="393580"/>
            <a:ext cx="5022529"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REFERENCIAS BIBLIOGRÁFICAS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0" y="393580"/>
            <a:ext cx="2648482"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CONCLUSIONES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4" name="Rectángulo 8"/>
          <p:cNvSpPr/>
          <p:nvPr/>
        </p:nvSpPr>
        <p:spPr>
          <a:xfrm>
            <a:off x="9658351" y="482601"/>
            <a:ext cx="259689"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l="-9000" r="-1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0" r:id="rId8"/>
    <p:sldLayoutId id="2147483671" r:id="rId9"/>
  </p:sldLayoutIdLst>
  <p:transition>
    <p:wipe dir="r"/>
  </p:transition>
  <p:hf hdr="0"/>
  <p:txStyles>
    <p:titleStyle>
      <a:lvl1pPr algn="l" defTabSz="457200" rtl="0" eaLnBrk="1" fontAlgn="base" hangingPunct="1">
        <a:spcBef>
          <a:spcPct val="0"/>
        </a:spcBef>
        <a:spcAft>
          <a:spcPct val="0"/>
        </a:spcAft>
        <a:defRPr sz="2400" kern="1200" cap="all">
          <a:solidFill>
            <a:srgbClr val="EFA82F"/>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p:titleStyle>
    <p:body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9.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6.png"/><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audio" Target="../media/audio1.wav"/><Relationship Id="rId7" Type="http://schemas.openxmlformats.org/officeDocument/2006/relationships/image" Target="../media/image21.wmf"/><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24.png"/><Relationship Id="rId5" Type="http://schemas.openxmlformats.org/officeDocument/2006/relationships/image" Target="../media/image20.wmf"/><Relationship Id="rId10" Type="http://schemas.openxmlformats.org/officeDocument/2006/relationships/image" Target="../media/image23.png"/><Relationship Id="rId4" Type="http://schemas.openxmlformats.org/officeDocument/2006/relationships/oleObject" Target="../embeddings/oleObject1.bin"/><Relationship Id="rId9" Type="http://schemas.openxmlformats.org/officeDocument/2006/relationships/image" Target="../media/image22.wmf"/></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40.png"/><Relationship Id="rId7" Type="http://schemas.openxmlformats.org/officeDocument/2006/relationships/image" Target="../media/image280.png"/><Relationship Id="rId2" Type="http://schemas.openxmlformats.org/officeDocument/2006/relationships/image" Target="../media/image29.jpeg"/><Relationship Id="rId1" Type="http://schemas.openxmlformats.org/officeDocument/2006/relationships/slideLayout" Target="../slideLayouts/slideLayout9.xml"/><Relationship Id="rId6" Type="http://schemas.openxmlformats.org/officeDocument/2006/relationships/image" Target="../media/image270.png"/><Relationship Id="rId5" Type="http://schemas.openxmlformats.org/officeDocument/2006/relationships/image" Target="../media/image260.png"/><Relationship Id="rId4" Type="http://schemas.openxmlformats.org/officeDocument/2006/relationships/image" Target="../media/image250.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35.png"/><Relationship Id="rId5" Type="http://schemas.openxmlformats.org/officeDocument/2006/relationships/image" Target="../media/image34.wmf"/><Relationship Id="rId4"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37.png"/><Relationship Id="rId5" Type="http://schemas.openxmlformats.org/officeDocument/2006/relationships/image" Target="../media/image36.wmf"/><Relationship Id="rId4"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www.fisicarecreativa.com/" TargetMode="External"/><Relationship Id="rId2" Type="http://schemas.openxmlformats.org/officeDocument/2006/relationships/hyperlink" Target="http://www.sc.ehu.es/sbweb/fisica/"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344488" y="1900192"/>
            <a:ext cx="2862318" cy="4409128"/>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fontAlgn="base" hangingPunct="0">
              <a:lnSpc>
                <a:spcPct val="150000"/>
              </a:lnSpc>
            </a:pPr>
            <a:endParaRPr lang="es-ES" sz="2000" dirty="0">
              <a:solidFill>
                <a:schemeClr val="tx1"/>
              </a:solidFill>
              <a:latin typeface="Arial" panose="020B0604020202020204" pitchFamily="34" charset="0"/>
              <a:cs typeface="Arial" panose="020B0604020202020204" pitchFamily="34" charset="0"/>
            </a:endParaRPr>
          </a:p>
          <a:p>
            <a:r>
              <a:rPr lang="es-ES" sz="2000" dirty="0">
                <a:solidFill>
                  <a:schemeClr val="tx1"/>
                </a:solidFill>
                <a:latin typeface="Arial" panose="020B0604020202020204" pitchFamily="34" charset="0"/>
                <a:cs typeface="Arial" panose="020B0604020202020204" pitchFamily="34" charset="0"/>
              </a:rPr>
              <a:t>Descripciones Macroscópica y Microscópica de  un sistema.</a:t>
            </a:r>
            <a:endParaRPr lang="es-PE" sz="2000" dirty="0">
              <a:solidFill>
                <a:schemeClr val="tx1"/>
              </a:solidFill>
              <a:latin typeface="Arial" panose="020B0604020202020204" pitchFamily="34" charset="0"/>
              <a:cs typeface="Arial" panose="020B0604020202020204" pitchFamily="34" charset="0"/>
            </a:endParaRPr>
          </a:p>
          <a:p>
            <a:r>
              <a:rPr lang="es-ES" sz="2000" dirty="0">
                <a:solidFill>
                  <a:schemeClr val="tx1"/>
                </a:solidFill>
                <a:latin typeface="Arial" panose="020B0604020202020204" pitchFamily="34" charset="0"/>
                <a:cs typeface="Arial" panose="020B0604020202020204" pitchFamily="34" charset="0"/>
              </a:rPr>
              <a:t>Concepto de Temperatura. Equilibrio Térmico. Medición de Temperatura.</a:t>
            </a:r>
          </a:p>
          <a:p>
            <a:r>
              <a:rPr lang="es-ES" sz="2000" dirty="0">
                <a:solidFill>
                  <a:schemeClr val="tx1"/>
                </a:solidFill>
                <a:latin typeface="Arial" panose="020B0604020202020204" pitchFamily="34" charset="0"/>
                <a:cs typeface="Arial" panose="020B0604020202020204" pitchFamily="34" charset="0"/>
              </a:rPr>
              <a:t>Escalas Termométricas. Dilatación Térmica.</a:t>
            </a:r>
            <a:endParaRPr lang="es-PE" sz="2000" dirty="0">
              <a:solidFill>
                <a:schemeClr val="tx1"/>
              </a:solidFill>
              <a:latin typeface="Arial" panose="020B0604020202020204" pitchFamily="34" charset="0"/>
              <a:cs typeface="Arial" panose="020B0604020202020204" pitchFamily="34" charset="0"/>
            </a:endParaRPr>
          </a:p>
          <a:p>
            <a:pPr fontAlgn="base" hangingPunct="0"/>
            <a:r>
              <a:rPr lang="es-ES" dirty="0">
                <a:latin typeface="Arial" panose="020B0604020202020204" pitchFamily="34" charset="0"/>
                <a:cs typeface="Arial" panose="020B0604020202020204" pitchFamily="34" charset="0"/>
              </a:rPr>
              <a:t> </a:t>
            </a:r>
            <a:endParaRPr lang="es-PE" dirty="0">
              <a:latin typeface="Arial" panose="020B0604020202020204" pitchFamily="34" charset="0"/>
              <a:cs typeface="Arial" panose="020B0604020202020204" pitchFamily="34" charset="0"/>
            </a:endParaRPr>
          </a:p>
          <a:p>
            <a:pPr fontAlgn="base" hangingPunct="0"/>
            <a:endParaRPr lang="es-PE" sz="2400" dirty="0">
              <a:solidFill>
                <a:schemeClr val="tx1"/>
              </a:solidFill>
            </a:endParaRPr>
          </a:p>
        </p:txBody>
      </p:sp>
      <p:sp>
        <p:nvSpPr>
          <p:cNvPr id="6" name="Rectángulo redondeado 5"/>
          <p:cNvSpPr/>
          <p:nvPr/>
        </p:nvSpPr>
        <p:spPr>
          <a:xfrm>
            <a:off x="1548194" y="760506"/>
            <a:ext cx="5925086" cy="64807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1704975" indent="-1704975"/>
            <a:r>
              <a:rPr lang="es-PE" sz="2000" b="1" dirty="0">
                <a:solidFill>
                  <a:schemeClr val="tx1"/>
                </a:solidFill>
                <a:latin typeface="Arial" panose="020B0604020202020204" pitchFamily="34" charset="0"/>
                <a:cs typeface="Arial" panose="020B0604020202020204" pitchFamily="34" charset="0"/>
              </a:rPr>
              <a:t>SEMANA 11:  TEMPERATURA Y DILATACIÓN</a:t>
            </a:r>
          </a:p>
        </p:txBody>
      </p:sp>
      <p:pic>
        <p:nvPicPr>
          <p:cNvPr id="9" name="Imagen 8">
            <a:extLst>
              <a:ext uri="{FF2B5EF4-FFF2-40B4-BE49-F238E27FC236}">
                <a16:creationId xmlns:a16="http://schemas.microsoft.com/office/drawing/2014/main" xmlns="" id="{1FD28500-8560-4657-BD64-65E4ADF458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5867" y="1900192"/>
            <a:ext cx="5260626" cy="4409128"/>
          </a:xfrm>
          <a:prstGeom prst="rect">
            <a:avLst/>
          </a:prstGeom>
          <a:solidFill>
            <a:srgbClr val="FFFFFF">
              <a:shade val="85000"/>
            </a:srgbClr>
          </a:solidFill>
          <a:ln w="190500" cap="rnd">
            <a:solidFill>
              <a:schemeClr val="tx2">
                <a:lumMod val="60000"/>
                <a:lumOff val="4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31923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640632" y="764704"/>
            <a:ext cx="5961184" cy="96715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OBSERVA LA IMÁGEN .  .  .</a:t>
            </a:r>
          </a:p>
        </p:txBody>
      </p:sp>
      <p:sp>
        <p:nvSpPr>
          <p:cNvPr id="8" name="Rectángulo redondeado 7"/>
          <p:cNvSpPr/>
          <p:nvPr/>
        </p:nvSpPr>
        <p:spPr>
          <a:xfrm>
            <a:off x="556247" y="5925472"/>
            <a:ext cx="8264769" cy="64611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¿Qué opinión tienes al respecto?</a:t>
            </a:r>
          </a:p>
        </p:txBody>
      </p:sp>
      <p:pic>
        <p:nvPicPr>
          <p:cNvPr id="7" name="Picture 2">
            <a:extLst>
              <a:ext uri="{FF2B5EF4-FFF2-40B4-BE49-F238E27FC236}">
                <a16:creationId xmlns:a16="http://schemas.microsoft.com/office/drawing/2014/main" xmlns="" id="{6C077248-C047-40E7-9D33-DCD935D401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2680" y="2060848"/>
            <a:ext cx="5188528" cy="3459019"/>
          </a:xfrm>
          <a:prstGeom prst="rect">
            <a:avLst/>
          </a:prstGeom>
          <a:solidFill>
            <a:srgbClr val="FFFFFF">
              <a:shade val="85000"/>
            </a:srgbClr>
          </a:solidFill>
          <a:ln w="190500" cap="rnd">
            <a:solidFill>
              <a:schemeClr val="tx2">
                <a:lumMod val="60000"/>
                <a:lumOff val="4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238733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7" name="Rectángulo redondeado 6"/>
          <p:cNvSpPr/>
          <p:nvPr/>
        </p:nvSpPr>
        <p:spPr>
          <a:xfrm>
            <a:off x="1712641" y="873007"/>
            <a:ext cx="2664296" cy="67756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3200" dirty="0">
                <a:solidFill>
                  <a:schemeClr val="tx1"/>
                </a:solidFill>
              </a:rPr>
              <a:t>PENSEMOS. . .</a:t>
            </a:r>
          </a:p>
        </p:txBody>
      </p:sp>
      <p:sp>
        <p:nvSpPr>
          <p:cNvPr id="9" name="Rectángulo redondeado 8"/>
          <p:cNvSpPr/>
          <p:nvPr/>
        </p:nvSpPr>
        <p:spPr>
          <a:xfrm>
            <a:off x="1712641" y="5072857"/>
            <a:ext cx="6696744" cy="140558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s-PE" sz="2000" b="1" dirty="0">
                <a:solidFill>
                  <a:schemeClr val="tx1"/>
                </a:solidFill>
              </a:rPr>
              <a:t>¿Qué entiendes por temperatura?   ¿Qué entiendes por escala termométrica? ¿Qué entiendes por equilibrio térmico? ¿Qué entiendes por dilatación?</a:t>
            </a:r>
            <a:endParaRPr lang="es-PE" sz="2400" b="1" dirty="0">
              <a:solidFill>
                <a:schemeClr val="tx1"/>
              </a:solidFill>
            </a:endParaRPr>
          </a:p>
        </p:txBody>
      </p:sp>
      <p:pic>
        <p:nvPicPr>
          <p:cNvPr id="11" name="Picture 3">
            <a:extLst>
              <a:ext uri="{FF2B5EF4-FFF2-40B4-BE49-F238E27FC236}">
                <a16:creationId xmlns:a16="http://schemas.microsoft.com/office/drawing/2014/main" xmlns="" id="{2093453D-6D3A-4673-AD10-30326DC97FB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9000"/>
                    </a14:imgEffect>
                  </a14:imgLayer>
                </a14:imgProps>
              </a:ext>
              <a:ext uri="{28A0092B-C50C-407E-A947-70E740481C1C}">
                <a14:useLocalDpi xmlns:a14="http://schemas.microsoft.com/office/drawing/2010/main" val="0"/>
              </a:ext>
            </a:extLst>
          </a:blip>
          <a:srcRect/>
          <a:stretch>
            <a:fillRect/>
          </a:stretch>
        </p:blipFill>
        <p:spPr bwMode="auto">
          <a:xfrm>
            <a:off x="1856655" y="1755206"/>
            <a:ext cx="2520281" cy="30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descr="http://fullpreguntas.com/wp-content/uploads/2013/04/El-sol.jpg">
            <a:extLst>
              <a:ext uri="{FF2B5EF4-FFF2-40B4-BE49-F238E27FC236}">
                <a16:creationId xmlns:a16="http://schemas.microsoft.com/office/drawing/2014/main" xmlns="" id="{E4FBD05D-D1FD-4410-9837-41AD7C78EA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8786" y="863396"/>
            <a:ext cx="4558710" cy="3958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110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664295"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PROPÓSITO</a:t>
            </a:r>
          </a:p>
        </p:txBody>
      </p:sp>
      <p:sp>
        <p:nvSpPr>
          <p:cNvPr id="8" name="2 Redondear rectángulo de esquina diagonal"/>
          <p:cNvSpPr/>
          <p:nvPr/>
        </p:nvSpPr>
        <p:spPr>
          <a:xfrm>
            <a:off x="5241032" y="1484784"/>
            <a:ext cx="4176464" cy="4608512"/>
          </a:xfrm>
          <a:prstGeom prst="round2DiagRect">
            <a:avLst>
              <a:gd name="adj1" fmla="val 14362"/>
              <a:gd name="adj2" fmla="val 0"/>
            </a:avLst>
          </a:prstGeom>
          <a:solidFill>
            <a:srgbClr val="11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es-PE" sz="2000" dirty="0">
              <a:solidFill>
                <a:schemeClr val="tx1"/>
              </a:solidFill>
              <a:latin typeface="Arial" panose="020B0604020202020204" pitchFamily="34" charset="0"/>
              <a:cs typeface="Arial" panose="020B0604020202020204" pitchFamily="34" charset="0"/>
            </a:endParaRPr>
          </a:p>
          <a:p>
            <a:pPr algn="just">
              <a:lnSpc>
                <a:spcPct val="150000"/>
              </a:lnSpc>
            </a:pPr>
            <a:r>
              <a:rPr lang="es-PE" sz="2000" dirty="0">
                <a:solidFill>
                  <a:schemeClr val="tx1"/>
                </a:solidFill>
                <a:latin typeface="Arial" panose="020B0604020202020204" pitchFamily="34" charset="0"/>
                <a:cs typeface="Arial" panose="020B0604020202020204" pitchFamily="34" charset="0"/>
              </a:rPr>
              <a:t>Al finalizar la sesión, el estudiante resuelve problemas de temperaturas y escalas termométricas así como de dilatación de los cuerpos, usando correctamente la definición de  temperatura y las ecuaciones de dilatación con orden, tres cifras significativas y las unidades respectivas.</a:t>
            </a:r>
            <a:endParaRPr lang="es-ES" sz="2000" dirty="0">
              <a:solidFill>
                <a:schemeClr val="tx1"/>
              </a:solidFill>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s-PE" sz="2000" b="1" dirty="0">
              <a:solidFill>
                <a:schemeClr val="tx1"/>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536" y="2132856"/>
            <a:ext cx="3909322" cy="3807451"/>
          </a:xfrm>
          <a:prstGeom prst="rect">
            <a:avLst/>
          </a:prstGeom>
        </p:spPr>
      </p:pic>
    </p:spTree>
    <p:extLst>
      <p:ext uri="{BB962C8B-B14F-4D97-AF65-F5344CB8AC3E}">
        <p14:creationId xmlns:p14="http://schemas.microsoft.com/office/powerpoint/2010/main" val="14124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p:cNvCxnSpPr>
            <a:cxnSpLocks/>
          </p:cNvCxnSpPr>
          <p:nvPr/>
        </p:nvCxnSpPr>
        <p:spPr>
          <a:xfrm>
            <a:off x="8594868" y="2800075"/>
            <a:ext cx="0" cy="3710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a:cxnSpLocks/>
            <a:stCxn id="16" idx="2"/>
          </p:cNvCxnSpPr>
          <p:nvPr/>
        </p:nvCxnSpPr>
        <p:spPr>
          <a:xfrm>
            <a:off x="8703023" y="3635349"/>
            <a:ext cx="0" cy="1389283"/>
          </a:xfrm>
          <a:prstGeom prst="line">
            <a:avLst/>
          </a:prstGeom>
        </p:spPr>
        <p:style>
          <a:lnRef idx="2">
            <a:schemeClr val="dk1"/>
          </a:lnRef>
          <a:fillRef idx="0">
            <a:schemeClr val="dk1"/>
          </a:fillRef>
          <a:effectRef idx="1">
            <a:schemeClr val="dk1"/>
          </a:effectRef>
          <a:fontRef idx="minor">
            <a:schemeClr val="tx1"/>
          </a:fontRef>
        </p:style>
      </p:cxnSp>
      <p:cxnSp>
        <p:nvCxnSpPr>
          <p:cNvPr id="6" name="Conector recto 5"/>
          <p:cNvCxnSpPr>
            <a:cxnSpLocks/>
          </p:cNvCxnSpPr>
          <p:nvPr/>
        </p:nvCxnSpPr>
        <p:spPr>
          <a:xfrm>
            <a:off x="5029186" y="3633033"/>
            <a:ext cx="0" cy="8627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ector recto 29"/>
          <p:cNvCxnSpPr/>
          <p:nvPr/>
        </p:nvCxnSpPr>
        <p:spPr>
          <a:xfrm>
            <a:off x="2932622" y="3626482"/>
            <a:ext cx="4154" cy="7010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cxnSp>
        <p:nvCxnSpPr>
          <p:cNvPr id="7" name="Conector recto 6">
            <a:extLst>
              <a:ext uri="{FF2B5EF4-FFF2-40B4-BE49-F238E27FC236}">
                <a16:creationId xmlns:a16="http://schemas.microsoft.com/office/drawing/2014/main" xmlns="" id="{8001D105-DCAC-42FF-A68E-0D3DE034E8B2}"/>
              </a:ext>
            </a:extLst>
          </p:cNvPr>
          <p:cNvCxnSpPr>
            <a:cxnSpLocks/>
          </p:cNvCxnSpPr>
          <p:nvPr/>
        </p:nvCxnSpPr>
        <p:spPr>
          <a:xfrm>
            <a:off x="6863552" y="3666382"/>
            <a:ext cx="18611" cy="1741208"/>
          </a:xfrm>
          <a:prstGeom prst="line">
            <a:avLst/>
          </a:prstGeom>
          <a:ln w="28575"/>
        </p:spPr>
        <p:style>
          <a:lnRef idx="1">
            <a:schemeClr val="dk1"/>
          </a:lnRef>
          <a:fillRef idx="0">
            <a:schemeClr val="dk1"/>
          </a:fillRef>
          <a:effectRef idx="0">
            <a:schemeClr val="dk1"/>
          </a:effectRef>
          <a:fontRef idx="minor">
            <a:schemeClr val="tx1"/>
          </a:fontRef>
        </p:style>
      </p:cxnSp>
      <p:sp>
        <p:nvSpPr>
          <p:cNvPr id="9" name="Rectángulo redondeado 8"/>
          <p:cNvSpPr/>
          <p:nvPr/>
        </p:nvSpPr>
        <p:spPr>
          <a:xfrm>
            <a:off x="1640632" y="1003815"/>
            <a:ext cx="4352925" cy="52700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CONTENIDO TEMÁTICO</a:t>
            </a:r>
            <a:endParaRPr lang="es-PE" sz="2800" dirty="0">
              <a:solidFill>
                <a:schemeClr val="tx1"/>
              </a:solidFill>
            </a:endParaRPr>
          </a:p>
        </p:txBody>
      </p:sp>
      <p:sp>
        <p:nvSpPr>
          <p:cNvPr id="11" name="Rectángulo 10">
            <a:extLst>
              <a:ext uri="{FF2B5EF4-FFF2-40B4-BE49-F238E27FC236}">
                <a16:creationId xmlns:a16="http://schemas.microsoft.com/office/drawing/2014/main" xmlns="" id="{8029014D-9243-4890-AF00-9E6FC9945B2C}"/>
              </a:ext>
            </a:extLst>
          </p:cNvPr>
          <p:cNvSpPr/>
          <p:nvPr/>
        </p:nvSpPr>
        <p:spPr>
          <a:xfrm>
            <a:off x="2600759" y="1844824"/>
            <a:ext cx="5195686" cy="576064"/>
          </a:xfrm>
          <a:prstGeom prst="rect">
            <a:avLst/>
          </a:prstGeom>
          <a:solidFill>
            <a:srgbClr val="1199FF"/>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2400" b="1" dirty="0">
                <a:solidFill>
                  <a:schemeClr val="tx1"/>
                </a:solidFill>
              </a:rPr>
              <a:t>TEMPERATURA Y DILATACIÓN</a:t>
            </a:r>
          </a:p>
        </p:txBody>
      </p:sp>
      <p:cxnSp>
        <p:nvCxnSpPr>
          <p:cNvPr id="12" name="Conector recto 11">
            <a:extLst>
              <a:ext uri="{FF2B5EF4-FFF2-40B4-BE49-F238E27FC236}">
                <a16:creationId xmlns:a16="http://schemas.microsoft.com/office/drawing/2014/main" xmlns="" id="{008A15F1-A2F7-4515-8854-56CDE8B68B99}"/>
              </a:ext>
            </a:extLst>
          </p:cNvPr>
          <p:cNvCxnSpPr>
            <a:cxnSpLocks/>
          </p:cNvCxnSpPr>
          <p:nvPr/>
        </p:nvCxnSpPr>
        <p:spPr>
          <a:xfrm>
            <a:off x="4916462" y="245105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3" name="Rectángulo 12">
            <a:extLst>
              <a:ext uri="{FF2B5EF4-FFF2-40B4-BE49-F238E27FC236}">
                <a16:creationId xmlns:a16="http://schemas.microsoft.com/office/drawing/2014/main" xmlns="" id="{B377CFE4-F974-430F-8D3E-31A44641DDDD}"/>
              </a:ext>
            </a:extLst>
          </p:cNvPr>
          <p:cNvSpPr/>
          <p:nvPr/>
        </p:nvSpPr>
        <p:spPr>
          <a:xfrm>
            <a:off x="2187679" y="3036424"/>
            <a:ext cx="1508771" cy="590058"/>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solidFill>
                  <a:schemeClr val="tx1"/>
                </a:solidFill>
              </a:rPr>
              <a:t>CANTIDADES </a:t>
            </a:r>
            <a:r>
              <a:rPr lang="es-PE" sz="1600" b="1" dirty="0"/>
              <a:t>FÍSICAS</a:t>
            </a:r>
            <a:endParaRPr lang="es-PE" sz="1600" b="1" dirty="0">
              <a:solidFill>
                <a:schemeClr val="tx1"/>
              </a:solidFill>
            </a:endParaRPr>
          </a:p>
        </p:txBody>
      </p:sp>
      <p:cxnSp>
        <p:nvCxnSpPr>
          <p:cNvPr id="14" name="Conector recto 13">
            <a:extLst>
              <a:ext uri="{FF2B5EF4-FFF2-40B4-BE49-F238E27FC236}">
                <a16:creationId xmlns:a16="http://schemas.microsoft.com/office/drawing/2014/main" xmlns="" id="{43098481-B66C-4565-AFF8-F4FBF153DF92}"/>
              </a:ext>
            </a:extLst>
          </p:cNvPr>
          <p:cNvCxnSpPr>
            <a:cxnSpLocks/>
          </p:cNvCxnSpPr>
          <p:nvPr/>
        </p:nvCxnSpPr>
        <p:spPr>
          <a:xfrm flipH="1" flipV="1">
            <a:off x="1203775" y="2800075"/>
            <a:ext cx="7391093" cy="2779"/>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cxnSp>
        <p:nvCxnSpPr>
          <p:cNvPr id="15" name="Conector recto 14">
            <a:extLst>
              <a:ext uri="{FF2B5EF4-FFF2-40B4-BE49-F238E27FC236}">
                <a16:creationId xmlns:a16="http://schemas.microsoft.com/office/drawing/2014/main" xmlns="" id="{E4375B2A-706A-4D8E-8409-0FE4926350F3}"/>
              </a:ext>
            </a:extLst>
          </p:cNvPr>
          <p:cNvCxnSpPr>
            <a:cxnSpLocks/>
          </p:cNvCxnSpPr>
          <p:nvPr/>
        </p:nvCxnSpPr>
        <p:spPr>
          <a:xfrm>
            <a:off x="4918241" y="281109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6" name="Rectángulo 15">
            <a:extLst>
              <a:ext uri="{FF2B5EF4-FFF2-40B4-BE49-F238E27FC236}">
                <a16:creationId xmlns:a16="http://schemas.microsoft.com/office/drawing/2014/main" xmlns="" id="{B32EC4F4-40F8-440A-A577-A55B582660EF}"/>
              </a:ext>
            </a:extLst>
          </p:cNvPr>
          <p:cNvSpPr/>
          <p:nvPr/>
        </p:nvSpPr>
        <p:spPr>
          <a:xfrm>
            <a:off x="7744073" y="3066114"/>
            <a:ext cx="1917899" cy="569235"/>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cs typeface="Arial" panose="020B0604020202020204" pitchFamily="34" charset="0"/>
              </a:rPr>
              <a:t> DILATACIÓN</a:t>
            </a:r>
          </a:p>
        </p:txBody>
      </p:sp>
      <p:sp>
        <p:nvSpPr>
          <p:cNvPr id="18" name="Rectángulo 17">
            <a:extLst>
              <a:ext uri="{FF2B5EF4-FFF2-40B4-BE49-F238E27FC236}">
                <a16:creationId xmlns:a16="http://schemas.microsoft.com/office/drawing/2014/main" xmlns="" id="{491CDA35-9E9C-46DA-B439-A69909018FD2}"/>
              </a:ext>
            </a:extLst>
          </p:cNvPr>
          <p:cNvSpPr/>
          <p:nvPr/>
        </p:nvSpPr>
        <p:spPr>
          <a:xfrm>
            <a:off x="2321731" y="3860053"/>
            <a:ext cx="1463290" cy="1770474"/>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203200" lvl="0" indent="-2032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Temperatura</a:t>
            </a:r>
            <a:r>
              <a:rPr kumimoji="1" lang="en-GB" altLang="es-PE" sz="1400" dirty="0">
                <a:solidFill>
                  <a:schemeClr val="tx1"/>
                </a:solidFill>
                <a:latin typeface="Arial" panose="020B0604020202020204" pitchFamily="34" charset="0"/>
                <a:cs typeface="Arial" panose="020B0604020202020204" pitchFamily="34" charset="0"/>
              </a:rPr>
              <a:t>.</a:t>
            </a:r>
          </a:p>
          <a:p>
            <a:pPr marL="203200" lvl="0" indent="-2032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Longitud</a:t>
            </a:r>
            <a:endParaRPr kumimoji="1" lang="en-GB" altLang="es-PE" sz="1400" dirty="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Variación</a:t>
            </a:r>
            <a:r>
              <a:rPr kumimoji="1" lang="en-GB" altLang="es-PE" sz="1400" dirty="0">
                <a:solidFill>
                  <a:schemeClr val="tx1"/>
                </a:solidFill>
                <a:latin typeface="Arial" panose="020B0604020202020204" pitchFamily="34" charset="0"/>
                <a:cs typeface="Arial" panose="020B0604020202020204" pitchFamily="34" charset="0"/>
              </a:rPr>
              <a:t> de temperature</a:t>
            </a:r>
          </a:p>
          <a:p>
            <a:pPr marL="203200" lvl="0" indent="-203200" algn="just">
              <a:buFont typeface="Arial" panose="020B0604020202020204" pitchFamily="34" charset="0"/>
              <a:buChar char="•"/>
            </a:pPr>
            <a:r>
              <a:rPr kumimoji="1" lang="en-GB" altLang="es-PE" sz="1400" dirty="0" err="1">
                <a:solidFill>
                  <a:schemeClr val="tx1"/>
                </a:solidFill>
                <a:latin typeface="Arial" panose="020B0604020202020204" pitchFamily="34" charset="0"/>
                <a:cs typeface="Arial" panose="020B0604020202020204" pitchFamily="34" charset="0"/>
              </a:rPr>
              <a:t>Coeficiente</a:t>
            </a:r>
            <a:r>
              <a:rPr kumimoji="1" lang="en-GB" altLang="es-PE" sz="1400" dirty="0">
                <a:solidFill>
                  <a:schemeClr val="tx1"/>
                </a:solidFill>
                <a:latin typeface="Arial" panose="020B0604020202020204" pitchFamily="34" charset="0"/>
                <a:cs typeface="Arial" panose="020B0604020202020204" pitchFamily="34" charset="0"/>
              </a:rPr>
              <a:t> de </a:t>
            </a:r>
            <a:r>
              <a:rPr kumimoji="1" lang="en-GB" altLang="es-PE" sz="1400" dirty="0" err="1">
                <a:solidFill>
                  <a:schemeClr val="tx1"/>
                </a:solidFill>
                <a:latin typeface="Arial" panose="020B0604020202020204" pitchFamily="34" charset="0"/>
                <a:cs typeface="Arial" panose="020B0604020202020204" pitchFamily="34" charset="0"/>
              </a:rPr>
              <a:t>dilatación</a:t>
            </a:r>
            <a:r>
              <a:rPr kumimoji="1" lang="en-GB" altLang="es-PE" sz="1400" dirty="0">
                <a:solidFill>
                  <a:schemeClr val="tx1"/>
                </a:solidFill>
                <a:latin typeface="Arial" panose="020B0604020202020204" pitchFamily="34" charset="0"/>
                <a:cs typeface="Arial" panose="020B0604020202020204" pitchFamily="34" charset="0"/>
              </a:rPr>
              <a:t>.</a:t>
            </a:r>
            <a:endParaRPr lang="es-PE" sz="1400" dirty="0">
              <a:solidFill>
                <a:schemeClr val="tx1"/>
              </a:solidFill>
              <a:latin typeface="Arial" panose="020B0604020202020204" pitchFamily="34" charset="0"/>
              <a:cs typeface="Arial" panose="020B0604020202020204" pitchFamily="34" charset="0"/>
            </a:endParaRPr>
          </a:p>
        </p:txBody>
      </p:sp>
      <p:sp>
        <p:nvSpPr>
          <p:cNvPr id="20" name="Rectángulo 19">
            <a:extLst>
              <a:ext uri="{FF2B5EF4-FFF2-40B4-BE49-F238E27FC236}">
                <a16:creationId xmlns:a16="http://schemas.microsoft.com/office/drawing/2014/main" xmlns="" id="{B377CFE4-F974-430F-8D3E-31A44641DDDD}"/>
              </a:ext>
            </a:extLst>
          </p:cNvPr>
          <p:cNvSpPr/>
          <p:nvPr/>
        </p:nvSpPr>
        <p:spPr>
          <a:xfrm>
            <a:off x="200472" y="3036423"/>
            <a:ext cx="1853559" cy="71616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solidFill>
                  <a:schemeClr val="tx1"/>
                </a:solidFill>
              </a:rPr>
              <a:t>TEMPERATURA</a:t>
            </a:r>
          </a:p>
        </p:txBody>
      </p:sp>
      <p:sp>
        <p:nvSpPr>
          <p:cNvPr id="21" name="Rectángulo 20">
            <a:extLst>
              <a:ext uri="{FF2B5EF4-FFF2-40B4-BE49-F238E27FC236}">
                <a16:creationId xmlns:a16="http://schemas.microsoft.com/office/drawing/2014/main" xmlns="" id="{6B0406B6-735E-446A-993D-567F64EC9E37}"/>
              </a:ext>
            </a:extLst>
          </p:cNvPr>
          <p:cNvSpPr/>
          <p:nvPr/>
        </p:nvSpPr>
        <p:spPr>
          <a:xfrm>
            <a:off x="3965337" y="3019702"/>
            <a:ext cx="1982738" cy="656056"/>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a:cs typeface="Arial" panose="020B0604020202020204" pitchFamily="34" charset="0"/>
              </a:rPr>
              <a:t>TEMPERATURA</a:t>
            </a:r>
          </a:p>
        </p:txBody>
      </p:sp>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xmlns="" id="{491CDA35-9E9C-46DA-B439-A69909018FD2}"/>
                  </a:ext>
                </a:extLst>
              </p:cNvPr>
              <p:cNvSpPr/>
              <p:nvPr/>
            </p:nvSpPr>
            <p:spPr>
              <a:xfrm>
                <a:off x="7834034" y="4391151"/>
                <a:ext cx="1865527" cy="633481"/>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endParaRPr lang="es-MX" sz="1600" b="0" i="1" dirty="0">
                  <a:latin typeface="Cambria Math" panose="02040503050406030204" pitchFamily="18" charset="0"/>
                  <a:ea typeface="Cambria Math" panose="02040503050406030204" pitchFamily="18" charset="0"/>
                </a:endParaRPr>
              </a:p>
              <a:p>
                <a:endParaRPr lang="es-MX" sz="16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𝐿</m:t>
                      </m:r>
                      <m:r>
                        <a:rPr lang="es-PE" sz="1600" i="1">
                          <a:latin typeface="Cambria Math" panose="02040503050406030204" pitchFamily="18" charset="0"/>
                          <a:ea typeface="Cambria Math" panose="02040503050406030204" pitchFamily="18" charset="0"/>
                        </a:rPr>
                        <m:t>=</m:t>
                      </m:r>
                      <m:sSub>
                        <m:sSubPr>
                          <m:ctrlPr>
                            <a:rPr lang="es-PE" sz="1600" i="1" smtClean="0">
                              <a:latin typeface="Cambria Math" panose="02040503050406030204" pitchFamily="18" charset="0"/>
                              <a:ea typeface="Cambria Math" panose="02040503050406030204" pitchFamily="18" charset="0"/>
                            </a:rPr>
                          </m:ctrlPr>
                        </m:sSubPr>
                        <m:e>
                          <m:r>
                            <a:rPr lang="es-MX" sz="1600" b="0" i="1" smtClean="0">
                              <a:latin typeface="Cambria Math" panose="02040503050406030204" pitchFamily="18" charset="0"/>
                              <a:ea typeface="Cambria Math" panose="02040503050406030204" pitchFamily="18" charset="0"/>
                            </a:rPr>
                            <m:t>𝐿</m:t>
                          </m:r>
                        </m:e>
                        <m:sub>
                          <m:r>
                            <a:rPr lang="es-MX" sz="1600" b="0" i="1" smtClean="0">
                              <a:latin typeface="Cambria Math" panose="02040503050406030204" pitchFamily="18" charset="0"/>
                              <a:ea typeface="Cambria Math" panose="02040503050406030204" pitchFamily="18" charset="0"/>
                            </a:rPr>
                            <m:t>0</m:t>
                          </m:r>
                        </m:sub>
                      </m:sSub>
                      <m:r>
                        <a:rPr lang="es-PE" sz="1600" i="1" smtClean="0">
                          <a:latin typeface="Cambria Math" panose="02040503050406030204" pitchFamily="18" charset="0"/>
                          <a:ea typeface="Cambria Math" panose="02040503050406030204" pitchFamily="18" charset="0"/>
                        </a:rPr>
                        <m:t>𝛼</m:t>
                      </m:r>
                      <m:r>
                        <a:rPr lang="es-PE" sz="160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𝑇</m:t>
                      </m:r>
                    </m:oMath>
                  </m:oMathPara>
                </a14:m>
                <a:endParaRPr lang="es-PE" sz="1600" dirty="0"/>
              </a:p>
              <a:p>
                <a:endParaRPr lang="es-PE" sz="1600" dirty="0"/>
              </a:p>
              <a:p>
                <a:endParaRPr lang="es-PE" sz="1600" dirty="0"/>
              </a:p>
            </p:txBody>
          </p:sp>
        </mc:Choice>
        <mc:Fallback xmlns="">
          <p:sp>
            <p:nvSpPr>
              <p:cNvPr id="22" name="Rectángulo 21">
                <a:extLst>
                  <a:ext uri="{FF2B5EF4-FFF2-40B4-BE49-F238E27FC236}">
                    <a16:creationId xmlns:a16="http://schemas.microsoft.com/office/drawing/2014/main" id="{491CDA35-9E9C-46DA-B439-A69909018FD2}"/>
                  </a:ext>
                </a:extLst>
              </p:cNvPr>
              <p:cNvSpPr>
                <a:spLocks noRot="1" noChangeAspect="1" noMove="1" noResize="1" noEditPoints="1" noAdjustHandles="1" noChangeArrowheads="1" noChangeShapeType="1" noTextEdit="1"/>
              </p:cNvSpPr>
              <p:nvPr/>
            </p:nvSpPr>
            <p:spPr>
              <a:xfrm>
                <a:off x="7834034" y="4391151"/>
                <a:ext cx="1865527" cy="633481"/>
              </a:xfrm>
              <a:prstGeom prst="rect">
                <a:avLst/>
              </a:prstGeom>
              <a:blipFill>
                <a:blip r:embed="rId2"/>
                <a:stretch>
                  <a:fillRect/>
                </a:stretch>
              </a:blipFill>
              <a:ln>
                <a:solidFill>
                  <a:schemeClr val="tx1"/>
                </a:solidFill>
              </a:ln>
            </p:spPr>
            <p:txBody>
              <a:bodyPr/>
              <a:lstStyle/>
              <a:p>
                <a:r>
                  <a:rPr lang="es-PE">
                    <a:noFill/>
                  </a:rPr>
                  <a:t> </a:t>
                </a:r>
              </a:p>
            </p:txBody>
          </p:sp>
        </mc:Fallback>
      </mc:AlternateContent>
      <p:cxnSp>
        <p:nvCxnSpPr>
          <p:cNvPr id="23" name="Conector recto 22">
            <a:extLst>
              <a:ext uri="{FF2B5EF4-FFF2-40B4-BE49-F238E27FC236}">
                <a16:creationId xmlns:a16="http://schemas.microsoft.com/office/drawing/2014/main" xmlns="" id="{C2DA4E98-4D40-4E2B-AC84-9B82C98610BC}"/>
              </a:ext>
            </a:extLst>
          </p:cNvPr>
          <p:cNvCxnSpPr>
            <a:cxnSpLocks/>
          </p:cNvCxnSpPr>
          <p:nvPr/>
        </p:nvCxnSpPr>
        <p:spPr>
          <a:xfrm>
            <a:off x="1127251" y="3767360"/>
            <a:ext cx="0" cy="288032"/>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24" name="Rectángulo 23">
            <a:extLst>
              <a:ext uri="{FF2B5EF4-FFF2-40B4-BE49-F238E27FC236}">
                <a16:creationId xmlns:a16="http://schemas.microsoft.com/office/drawing/2014/main" xmlns="" id="{6B0406B6-735E-446A-993D-567F64EC9E37}"/>
              </a:ext>
            </a:extLst>
          </p:cNvPr>
          <p:cNvSpPr/>
          <p:nvPr/>
        </p:nvSpPr>
        <p:spPr>
          <a:xfrm>
            <a:off x="6084836" y="3044331"/>
            <a:ext cx="1522476" cy="598913"/>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a:cs typeface="Arial" panose="020B0604020202020204" pitchFamily="34" charset="0"/>
              </a:rPr>
              <a:t>ESCALAS DE TEMPERATURA</a:t>
            </a:r>
          </a:p>
        </p:txBody>
      </p:sp>
      <p:cxnSp>
        <p:nvCxnSpPr>
          <p:cNvPr id="26" name="Conector recto 25"/>
          <p:cNvCxnSpPr/>
          <p:nvPr/>
        </p:nvCxnSpPr>
        <p:spPr>
          <a:xfrm>
            <a:off x="1201213" y="2800075"/>
            <a:ext cx="0" cy="23634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6846074" y="2811092"/>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p:cNvCxnSpPr/>
          <p:nvPr/>
        </p:nvCxnSpPr>
        <p:spPr>
          <a:xfrm>
            <a:off x="3014684" y="2793078"/>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ángulo 32">
                <a:extLst>
                  <a:ext uri="{FF2B5EF4-FFF2-40B4-BE49-F238E27FC236}">
                    <a16:creationId xmlns:a16="http://schemas.microsoft.com/office/drawing/2014/main" xmlns="" id="{491CDA35-9E9C-46DA-B439-A69909018FD2}"/>
                  </a:ext>
                </a:extLst>
              </p:cNvPr>
              <p:cNvSpPr/>
              <p:nvPr/>
            </p:nvSpPr>
            <p:spPr>
              <a:xfrm>
                <a:off x="4133148" y="4233321"/>
                <a:ext cx="1827964" cy="986433"/>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endParaRPr lang="es-PE" sz="1600" b="0" i="1" dirty="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endParaRPr lang="es-MX" sz="1600" b="0" i="1" dirty="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endParaRPr lang="es-MX" sz="1600" i="1" dirty="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14:m>
                  <m:oMathPara xmlns:m="http://schemas.openxmlformats.org/officeDocument/2006/math">
                    <m:oMathParaPr>
                      <m:jc m:val="centerGroup"/>
                    </m:oMathParaPr>
                    <m:oMath xmlns:m="http://schemas.openxmlformats.org/officeDocument/2006/math">
                      <m:r>
                        <a:rPr lang="es-MX"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𝑇</m:t>
                      </m:r>
                      <m:r>
                        <a:rPr lang="es-PE" sz="1600" b="0" i="1" smtClean="0">
                          <a:solidFill>
                            <a:schemeClr val="tx1"/>
                          </a:solidFill>
                          <a:latin typeface="Cambria Math" panose="02040503050406030204" pitchFamily="18" charset="0"/>
                          <a:cs typeface="Arial" panose="020B0604020202020204" pitchFamily="34" charset="0"/>
                        </a:rPr>
                        <m:t>=</m:t>
                      </m:r>
                      <m:f>
                        <m:fPr>
                          <m:ctrlPr>
                            <a:rPr lang="es-PE" sz="1600" b="0" i="1" smtClean="0">
                              <a:solidFill>
                                <a:schemeClr val="tx1"/>
                              </a:solidFill>
                              <a:latin typeface="Cambria Math" panose="02040503050406030204" pitchFamily="18" charset="0"/>
                              <a:cs typeface="Arial" panose="020B0604020202020204" pitchFamily="34" charset="0"/>
                            </a:rPr>
                          </m:ctrlPr>
                        </m:fPr>
                        <m:num>
                          <m:r>
                            <a:rPr lang="es-MX" sz="1600" b="0" i="1" smtClean="0">
                              <a:solidFill>
                                <a:schemeClr val="tx1"/>
                              </a:solidFill>
                              <a:latin typeface="Cambria Math" panose="02040503050406030204" pitchFamily="18" charset="0"/>
                              <a:cs typeface="Arial" panose="020B0604020202020204" pitchFamily="34" charset="0"/>
                            </a:rPr>
                            <m:t>1</m:t>
                          </m:r>
                        </m:num>
                        <m:den>
                          <m:r>
                            <a:rPr lang="es-MX" sz="1600" b="0" i="1" smtClean="0">
                              <a:solidFill>
                                <a:schemeClr val="tx1"/>
                              </a:solidFill>
                              <a:latin typeface="Cambria Math" panose="02040503050406030204" pitchFamily="18" charset="0"/>
                              <a:cs typeface="Arial" panose="020B0604020202020204" pitchFamily="34" charset="0"/>
                            </a:rPr>
                            <m:t>𝑁</m:t>
                          </m:r>
                        </m:den>
                      </m:f>
                      <m:nary>
                        <m:naryPr>
                          <m:chr m:val="∑"/>
                          <m:ctrlPr>
                            <a:rPr lang="es-PE" sz="1600" b="0" i="1" smtClean="0">
                              <a:solidFill>
                                <a:schemeClr val="tx1"/>
                              </a:solidFill>
                              <a:latin typeface="Cambria Math" panose="02040503050406030204" pitchFamily="18" charset="0"/>
                              <a:cs typeface="Arial" panose="020B0604020202020204" pitchFamily="34" charset="0"/>
                            </a:rPr>
                          </m:ctrlPr>
                        </m:naryPr>
                        <m:sub>
                          <m:r>
                            <m:rPr>
                              <m:brk m:alnAt="23"/>
                            </m:rPr>
                            <a:rPr lang="es-MX" sz="1600" b="0" i="1" smtClean="0">
                              <a:solidFill>
                                <a:schemeClr val="tx1"/>
                              </a:solidFill>
                              <a:latin typeface="Cambria Math" panose="02040503050406030204" pitchFamily="18" charset="0"/>
                              <a:cs typeface="Arial" panose="020B0604020202020204" pitchFamily="34" charset="0"/>
                            </a:rPr>
                            <m:t>𝑖</m:t>
                          </m:r>
                          <m:r>
                            <a:rPr lang="es-MX" sz="1600" b="0" i="1" smtClean="0">
                              <a:solidFill>
                                <a:schemeClr val="tx1"/>
                              </a:solidFill>
                              <a:latin typeface="Cambria Math" panose="02040503050406030204" pitchFamily="18" charset="0"/>
                              <a:cs typeface="Arial" panose="020B0604020202020204" pitchFamily="34" charset="0"/>
                            </a:rPr>
                            <m:t>=1</m:t>
                          </m:r>
                        </m:sub>
                        <m:sup>
                          <m:r>
                            <a:rPr lang="es-MX" sz="1600" b="0" i="1" smtClean="0">
                              <a:solidFill>
                                <a:schemeClr val="tx1"/>
                              </a:solidFill>
                              <a:latin typeface="Cambria Math" panose="02040503050406030204" pitchFamily="18" charset="0"/>
                              <a:cs typeface="Arial" panose="020B0604020202020204" pitchFamily="34" charset="0"/>
                            </a:rPr>
                            <m:t>𝑁</m:t>
                          </m:r>
                        </m:sup>
                        <m:e>
                          <m:f>
                            <m:fPr>
                              <m:ctrlPr>
                                <a:rPr lang="es-PE" sz="1600" b="0" i="1" smtClean="0">
                                  <a:solidFill>
                                    <a:schemeClr val="tx1"/>
                                  </a:solidFill>
                                  <a:latin typeface="Cambria Math" panose="02040503050406030204" pitchFamily="18" charset="0"/>
                                  <a:cs typeface="Arial" panose="020B0604020202020204" pitchFamily="34" charset="0"/>
                                </a:rPr>
                              </m:ctrlPr>
                            </m:fPr>
                            <m:num>
                              <m:r>
                                <a:rPr lang="es-MX" sz="1600" b="0" i="1" smtClean="0">
                                  <a:solidFill>
                                    <a:schemeClr val="tx1"/>
                                  </a:solidFill>
                                  <a:latin typeface="Cambria Math" panose="02040503050406030204" pitchFamily="18" charset="0"/>
                                  <a:cs typeface="Arial" panose="020B0604020202020204" pitchFamily="34" charset="0"/>
                                </a:rPr>
                                <m:t>1</m:t>
                              </m:r>
                            </m:num>
                            <m:den>
                              <m:r>
                                <a:rPr lang="es-MX" sz="1600" b="0" i="1" smtClean="0">
                                  <a:solidFill>
                                    <a:schemeClr val="tx1"/>
                                  </a:solidFill>
                                  <a:latin typeface="Cambria Math" panose="02040503050406030204" pitchFamily="18" charset="0"/>
                                  <a:cs typeface="Arial" panose="020B0604020202020204" pitchFamily="34" charset="0"/>
                                </a:rPr>
                                <m:t>2</m:t>
                              </m:r>
                            </m:den>
                          </m:f>
                          <m:sSub>
                            <m:sSubPr>
                              <m:ctrlPr>
                                <a:rPr lang="es-PE" sz="1600" b="0" i="1" smtClean="0">
                                  <a:solidFill>
                                    <a:schemeClr val="tx1"/>
                                  </a:solidFill>
                                  <a:latin typeface="Cambria Math" panose="02040503050406030204" pitchFamily="18" charset="0"/>
                                  <a:cs typeface="Arial" panose="020B0604020202020204" pitchFamily="34" charset="0"/>
                                </a:rPr>
                              </m:ctrlPr>
                            </m:sSubPr>
                            <m:e>
                              <m:r>
                                <a:rPr lang="es-MX" sz="1600" b="0" i="1" smtClean="0">
                                  <a:solidFill>
                                    <a:schemeClr val="tx1"/>
                                  </a:solidFill>
                                  <a:latin typeface="Cambria Math" panose="02040503050406030204" pitchFamily="18" charset="0"/>
                                  <a:cs typeface="Arial" panose="020B0604020202020204" pitchFamily="34" charset="0"/>
                                </a:rPr>
                                <m:t>𝑚</m:t>
                              </m:r>
                            </m:e>
                            <m:sub>
                              <m:r>
                                <a:rPr lang="es-MX" sz="1600" b="0" i="1" smtClean="0">
                                  <a:solidFill>
                                    <a:schemeClr val="tx1"/>
                                  </a:solidFill>
                                  <a:latin typeface="Cambria Math" panose="02040503050406030204" pitchFamily="18" charset="0"/>
                                  <a:cs typeface="Arial" panose="020B0604020202020204" pitchFamily="34" charset="0"/>
                                </a:rPr>
                                <m:t>𝑖</m:t>
                              </m:r>
                            </m:sub>
                          </m:sSub>
                          <m:sSubSup>
                            <m:sSubSupPr>
                              <m:ctrlPr>
                                <a:rPr lang="es-PE" sz="1600" b="0" i="1" smtClean="0">
                                  <a:solidFill>
                                    <a:schemeClr val="tx1"/>
                                  </a:solidFill>
                                  <a:latin typeface="Cambria Math" panose="02040503050406030204" pitchFamily="18" charset="0"/>
                                  <a:cs typeface="Arial" panose="020B0604020202020204" pitchFamily="34" charset="0"/>
                                </a:rPr>
                              </m:ctrlPr>
                            </m:sSubSupPr>
                            <m:e>
                              <m:r>
                                <a:rPr lang="es-MX" sz="1600" b="0" i="1" smtClean="0">
                                  <a:solidFill>
                                    <a:schemeClr val="tx1"/>
                                  </a:solidFill>
                                  <a:latin typeface="Cambria Math" panose="02040503050406030204" pitchFamily="18" charset="0"/>
                                  <a:cs typeface="Arial" panose="020B0604020202020204" pitchFamily="34" charset="0"/>
                                </a:rPr>
                                <m:t>𝑣</m:t>
                              </m:r>
                            </m:e>
                            <m:sub>
                              <m:r>
                                <a:rPr lang="es-MX" sz="1600" b="0" i="1" smtClean="0">
                                  <a:solidFill>
                                    <a:schemeClr val="tx1"/>
                                  </a:solidFill>
                                  <a:latin typeface="Cambria Math" panose="02040503050406030204" pitchFamily="18" charset="0"/>
                                  <a:cs typeface="Arial" panose="020B0604020202020204" pitchFamily="34" charset="0"/>
                                </a:rPr>
                                <m:t>𝑖</m:t>
                              </m:r>
                            </m:sub>
                            <m:sup>
                              <m:r>
                                <a:rPr lang="es-MX" sz="1600" b="0" i="1" smtClean="0">
                                  <a:solidFill>
                                    <a:schemeClr val="tx1"/>
                                  </a:solidFill>
                                  <a:latin typeface="Cambria Math" panose="02040503050406030204" pitchFamily="18" charset="0"/>
                                  <a:cs typeface="Arial" panose="020B0604020202020204" pitchFamily="34" charset="0"/>
                                </a:rPr>
                                <m:t>2</m:t>
                              </m:r>
                            </m:sup>
                          </m:sSubSup>
                        </m:e>
                      </m:nary>
                    </m:oMath>
                  </m:oMathPara>
                </a14:m>
                <a:endParaRPr lang="es-PE" sz="1600" b="0" i="1" dirty="0">
                  <a:solidFill>
                    <a:schemeClr val="tx1"/>
                  </a:solidFill>
                  <a:latin typeface="Cambria Math" panose="02040503050406030204" pitchFamily="18" charset="0"/>
                  <a:cs typeface="Arial" panose="020B0604020202020204" pitchFamily="34" charset="0"/>
                </a:endParaRPr>
              </a:p>
              <a:p>
                <a:pPr lvl="0" algn="just"/>
                <a:endParaRPr lang="es-PE" sz="1600" i="1" dirty="0">
                  <a:solidFill>
                    <a:schemeClr val="tx1"/>
                  </a:solidFill>
                  <a:latin typeface="Cambria Math" panose="02040503050406030204" pitchFamily="18" charset="0"/>
                  <a:cs typeface="Arial" panose="020B0604020202020204" pitchFamily="34" charset="0"/>
                </a:endParaRPr>
              </a:p>
              <a:p>
                <a:pPr lvl="0" algn="just"/>
                <a:endParaRPr lang="es-PE" sz="1600" dirty="0">
                  <a:solidFill>
                    <a:schemeClr val="tx1"/>
                  </a:solidFill>
                  <a:latin typeface="Arial" panose="020B0604020202020204" pitchFamily="34" charset="0"/>
                  <a:cs typeface="Arial" panose="020B0604020202020204" pitchFamily="34" charset="0"/>
                </a:endParaRPr>
              </a:p>
              <a:p>
                <a:pPr lvl="0" algn="just"/>
                <a:endParaRPr lang="es-PE" sz="1600" dirty="0">
                  <a:solidFill>
                    <a:schemeClr val="tx1"/>
                  </a:solidFill>
                  <a:latin typeface="Arial" panose="020B0604020202020204" pitchFamily="34" charset="0"/>
                  <a:cs typeface="Arial" panose="020B0604020202020204" pitchFamily="34" charset="0"/>
                </a:endParaRPr>
              </a:p>
            </p:txBody>
          </p:sp>
        </mc:Choice>
        <mc:Fallback xmlns="">
          <p:sp>
            <p:nvSpPr>
              <p:cNvPr id="33" name="Rectángulo 32">
                <a:extLst>
                  <a:ext uri="{FF2B5EF4-FFF2-40B4-BE49-F238E27FC236}">
                    <a16:creationId xmlns:a16="http://schemas.microsoft.com/office/drawing/2014/main" id="{491CDA35-9E9C-46DA-B439-A69909018FD2}"/>
                  </a:ext>
                </a:extLst>
              </p:cNvPr>
              <p:cNvSpPr>
                <a:spLocks noRot="1" noChangeAspect="1" noMove="1" noResize="1" noEditPoints="1" noAdjustHandles="1" noChangeArrowheads="1" noChangeShapeType="1" noTextEdit="1"/>
              </p:cNvSpPr>
              <p:nvPr/>
            </p:nvSpPr>
            <p:spPr>
              <a:xfrm>
                <a:off x="4133148" y="4233321"/>
                <a:ext cx="1827964" cy="986433"/>
              </a:xfrm>
              <a:prstGeom prst="rect">
                <a:avLst/>
              </a:prstGeom>
              <a:blipFill>
                <a:blip r:embed="rId3"/>
                <a:stretch>
                  <a:fillRect/>
                </a:stretch>
              </a:blipFill>
              <a:ln>
                <a:solidFill>
                  <a:schemeClr val="tx1"/>
                </a:solidFill>
              </a:ln>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Rectángulo 18">
                <a:extLst>
                  <a:ext uri="{FF2B5EF4-FFF2-40B4-BE49-F238E27FC236}">
                    <a16:creationId xmlns:a16="http://schemas.microsoft.com/office/drawing/2014/main" xmlns="" id="{44822C0F-02DC-406F-8E12-F1FFDD5CFB2F}"/>
                  </a:ext>
                </a:extLst>
              </p:cNvPr>
              <p:cNvSpPr/>
              <p:nvPr/>
            </p:nvSpPr>
            <p:spPr>
              <a:xfrm>
                <a:off x="5110243" y="5407590"/>
                <a:ext cx="3990576" cy="893190"/>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endParaRPr lang="es-MX" sz="1600" b="1" i="1" dirty="0">
                  <a:solidFill>
                    <a:schemeClr val="tx1"/>
                  </a:solidFill>
                  <a:latin typeface="Cambria Math" panose="02040503050406030204" pitchFamily="18" charset="0"/>
                  <a:cs typeface="Arial" panose="020B0604020202020204" pitchFamily="34" charset="0"/>
                </a:endParaRPr>
              </a:p>
              <a:p>
                <a:pPr lvl="0" algn="just"/>
                <a:endParaRPr lang="es-MX" sz="1600" b="1" i="1" dirty="0">
                  <a:solidFill>
                    <a:schemeClr val="tx1"/>
                  </a:solidFill>
                  <a:latin typeface="Cambria Math" panose="02040503050406030204" pitchFamily="18" charset="0"/>
                  <a:cs typeface="Arial" panose="020B0604020202020204" pitchFamily="34" charset="0"/>
                </a:endParaRPr>
              </a:p>
              <a:p>
                <a:pPr lvl="0" algn="just"/>
                <a14:m>
                  <m:oMathPara xmlns:m="http://schemas.openxmlformats.org/officeDocument/2006/math">
                    <m:oMathParaPr>
                      <m:jc m:val="centerGroup"/>
                    </m:oMathParaPr>
                    <m:oMath xmlns:m="http://schemas.openxmlformats.org/officeDocument/2006/math">
                      <m:f>
                        <m:fPr>
                          <m:ctrlPr>
                            <a:rPr lang="es-MX" sz="1600" b="0" i="1" smtClean="0">
                              <a:solidFill>
                                <a:schemeClr val="tx1"/>
                              </a:solidFill>
                              <a:latin typeface="Cambria Math" panose="02040503050406030204" pitchFamily="18" charset="0"/>
                              <a:cs typeface="Arial" panose="020B0604020202020204" pitchFamily="34" charset="0"/>
                            </a:rPr>
                          </m:ctrlPr>
                        </m:fPr>
                        <m:num>
                          <m:r>
                            <a:rPr lang="es-MX" sz="1600" b="0" i="1" smtClean="0">
                              <a:solidFill>
                                <a:schemeClr val="tx1"/>
                              </a:solidFill>
                              <a:latin typeface="Cambria Math" panose="02040503050406030204" pitchFamily="18" charset="0"/>
                              <a:cs typeface="Arial" panose="020B0604020202020204" pitchFamily="34" charset="0"/>
                            </a:rPr>
                            <m:t>𝐶</m:t>
                          </m:r>
                        </m:num>
                        <m:den>
                          <m:r>
                            <a:rPr lang="es-MX" sz="1600" b="0" i="1" smtClean="0">
                              <a:solidFill>
                                <a:schemeClr val="tx1"/>
                              </a:solidFill>
                              <a:latin typeface="Cambria Math" panose="02040503050406030204" pitchFamily="18" charset="0"/>
                              <a:cs typeface="Arial" panose="020B0604020202020204" pitchFamily="34" charset="0"/>
                            </a:rPr>
                            <m:t>100</m:t>
                          </m:r>
                        </m:den>
                      </m:f>
                      <m:r>
                        <a:rPr lang="es-MX" sz="1600" b="0" i="1" smtClean="0">
                          <a:solidFill>
                            <a:schemeClr val="tx1"/>
                          </a:solidFill>
                          <a:latin typeface="Cambria Math" panose="02040503050406030204" pitchFamily="18" charset="0"/>
                          <a:cs typeface="Arial" panose="020B0604020202020204" pitchFamily="34" charset="0"/>
                        </a:rPr>
                        <m:t>=</m:t>
                      </m:r>
                      <m:f>
                        <m:fPr>
                          <m:ctrlPr>
                            <a:rPr lang="es-MX" sz="1600" b="0" i="1" smtClean="0">
                              <a:solidFill>
                                <a:schemeClr val="tx1"/>
                              </a:solidFill>
                              <a:latin typeface="Cambria Math" panose="02040503050406030204" pitchFamily="18" charset="0"/>
                              <a:cs typeface="Arial" panose="020B0604020202020204" pitchFamily="34" charset="0"/>
                            </a:rPr>
                          </m:ctrlPr>
                        </m:fPr>
                        <m:num>
                          <m:r>
                            <a:rPr lang="es-MX" sz="1600" b="0" i="1" smtClean="0">
                              <a:solidFill>
                                <a:schemeClr val="tx1"/>
                              </a:solidFill>
                              <a:latin typeface="Cambria Math" panose="02040503050406030204" pitchFamily="18" charset="0"/>
                              <a:cs typeface="Arial" panose="020B0604020202020204" pitchFamily="34" charset="0"/>
                            </a:rPr>
                            <m:t>𝐹</m:t>
                          </m:r>
                          <m:r>
                            <a:rPr lang="es-MX" sz="1600" b="0" i="1" smtClean="0">
                              <a:solidFill>
                                <a:schemeClr val="tx1"/>
                              </a:solidFill>
                              <a:latin typeface="Cambria Math" panose="02040503050406030204" pitchFamily="18" charset="0"/>
                              <a:cs typeface="Arial" panose="020B0604020202020204" pitchFamily="34" charset="0"/>
                            </a:rPr>
                            <m:t>−32</m:t>
                          </m:r>
                        </m:num>
                        <m:den>
                          <m:r>
                            <a:rPr lang="es-MX" sz="1600" b="0" i="1" smtClean="0">
                              <a:solidFill>
                                <a:schemeClr val="tx1"/>
                              </a:solidFill>
                              <a:latin typeface="Cambria Math" panose="02040503050406030204" pitchFamily="18" charset="0"/>
                              <a:cs typeface="Arial" panose="020B0604020202020204" pitchFamily="34" charset="0"/>
                            </a:rPr>
                            <m:t>180</m:t>
                          </m:r>
                        </m:den>
                      </m:f>
                      <m:r>
                        <a:rPr lang="es-MX" sz="1600" b="0" i="1" smtClean="0">
                          <a:solidFill>
                            <a:schemeClr val="tx1"/>
                          </a:solidFill>
                          <a:latin typeface="Cambria Math" panose="02040503050406030204" pitchFamily="18" charset="0"/>
                          <a:cs typeface="Arial" panose="020B0604020202020204" pitchFamily="34" charset="0"/>
                        </a:rPr>
                        <m:t>=</m:t>
                      </m:r>
                      <m:f>
                        <m:fPr>
                          <m:ctrlPr>
                            <a:rPr lang="es-MX" sz="1600" b="0" i="1" smtClean="0">
                              <a:solidFill>
                                <a:schemeClr val="tx1"/>
                              </a:solidFill>
                              <a:latin typeface="Cambria Math" panose="02040503050406030204" pitchFamily="18" charset="0"/>
                              <a:cs typeface="Arial" panose="020B0604020202020204" pitchFamily="34" charset="0"/>
                            </a:rPr>
                          </m:ctrlPr>
                        </m:fPr>
                        <m:num>
                          <m:r>
                            <a:rPr lang="es-MX" sz="1600" b="0" i="1" smtClean="0">
                              <a:solidFill>
                                <a:schemeClr val="tx1"/>
                              </a:solidFill>
                              <a:latin typeface="Cambria Math" panose="02040503050406030204" pitchFamily="18" charset="0"/>
                              <a:cs typeface="Arial" panose="020B0604020202020204" pitchFamily="34" charset="0"/>
                            </a:rPr>
                            <m:t>𝐾</m:t>
                          </m:r>
                          <m:r>
                            <a:rPr lang="es-MX" sz="1600" b="0" i="1" smtClean="0">
                              <a:solidFill>
                                <a:schemeClr val="tx1"/>
                              </a:solidFill>
                              <a:latin typeface="Cambria Math" panose="02040503050406030204" pitchFamily="18" charset="0"/>
                              <a:cs typeface="Arial" panose="020B0604020202020204" pitchFamily="34" charset="0"/>
                            </a:rPr>
                            <m:t>−273</m:t>
                          </m:r>
                        </m:num>
                        <m:den>
                          <m:r>
                            <a:rPr lang="es-MX" sz="1600" b="0" i="1" smtClean="0">
                              <a:solidFill>
                                <a:schemeClr val="tx1"/>
                              </a:solidFill>
                              <a:latin typeface="Cambria Math" panose="02040503050406030204" pitchFamily="18" charset="0"/>
                              <a:cs typeface="Arial" panose="020B0604020202020204" pitchFamily="34" charset="0"/>
                            </a:rPr>
                            <m:t>100</m:t>
                          </m:r>
                        </m:den>
                      </m:f>
                      <m:r>
                        <a:rPr lang="es-MX" sz="1600" b="0" i="1" smtClean="0">
                          <a:solidFill>
                            <a:schemeClr val="tx1"/>
                          </a:solidFill>
                          <a:latin typeface="Cambria Math" panose="02040503050406030204" pitchFamily="18" charset="0"/>
                          <a:cs typeface="Arial" panose="020B0604020202020204" pitchFamily="34" charset="0"/>
                        </a:rPr>
                        <m:t>=</m:t>
                      </m:r>
                      <m:f>
                        <m:fPr>
                          <m:ctrlPr>
                            <a:rPr lang="es-MX" sz="1600" b="0" i="1" smtClean="0">
                              <a:solidFill>
                                <a:schemeClr val="tx1"/>
                              </a:solidFill>
                              <a:latin typeface="Cambria Math" panose="02040503050406030204" pitchFamily="18" charset="0"/>
                              <a:cs typeface="Arial" panose="020B0604020202020204" pitchFamily="34" charset="0"/>
                            </a:rPr>
                          </m:ctrlPr>
                        </m:fPr>
                        <m:num>
                          <m:r>
                            <a:rPr lang="es-MX" sz="1600" b="0" i="1" smtClean="0">
                              <a:solidFill>
                                <a:schemeClr val="tx1"/>
                              </a:solidFill>
                              <a:latin typeface="Cambria Math" panose="02040503050406030204" pitchFamily="18" charset="0"/>
                              <a:cs typeface="Arial" panose="020B0604020202020204" pitchFamily="34" charset="0"/>
                            </a:rPr>
                            <m:t>𝑅</m:t>
                          </m:r>
                          <m:r>
                            <a:rPr lang="es-MX" sz="1600" b="0" i="1" smtClean="0">
                              <a:solidFill>
                                <a:schemeClr val="tx1"/>
                              </a:solidFill>
                              <a:latin typeface="Cambria Math" panose="02040503050406030204" pitchFamily="18" charset="0"/>
                              <a:cs typeface="Arial" panose="020B0604020202020204" pitchFamily="34" charset="0"/>
                            </a:rPr>
                            <m:t>−491</m:t>
                          </m:r>
                        </m:num>
                        <m:den>
                          <m:r>
                            <a:rPr lang="es-MX" sz="1600" b="0" i="1" smtClean="0">
                              <a:solidFill>
                                <a:schemeClr val="tx1"/>
                              </a:solidFill>
                              <a:latin typeface="Cambria Math" panose="02040503050406030204" pitchFamily="18" charset="0"/>
                              <a:cs typeface="Arial" panose="020B0604020202020204" pitchFamily="34" charset="0"/>
                            </a:rPr>
                            <m:t>180</m:t>
                          </m:r>
                        </m:den>
                      </m:f>
                    </m:oMath>
                  </m:oMathPara>
                </a14:m>
                <a:endParaRPr lang="es-PE" sz="1600" dirty="0">
                  <a:solidFill>
                    <a:schemeClr val="tx1"/>
                  </a:solidFill>
                  <a:latin typeface="Arial" panose="020B0604020202020204" pitchFamily="34" charset="0"/>
                  <a:cs typeface="Arial" panose="020B0604020202020204" pitchFamily="34" charset="0"/>
                </a:endParaRPr>
              </a:p>
              <a:p>
                <a:pPr lvl="0" algn="just"/>
                <a:endParaRPr lang="es-PE" sz="1600" b="1" dirty="0">
                  <a:solidFill>
                    <a:schemeClr val="tx1"/>
                  </a:solidFill>
                  <a:latin typeface="Arial" panose="020B0604020202020204" pitchFamily="34" charset="0"/>
                  <a:cs typeface="Arial" panose="020B0604020202020204" pitchFamily="34" charset="0"/>
                </a:endParaRPr>
              </a:p>
              <a:p>
                <a:pPr lvl="0" algn="just"/>
                <a:endParaRPr lang="es-PE" sz="1600" b="1" dirty="0">
                  <a:solidFill>
                    <a:schemeClr val="tx1"/>
                  </a:solidFill>
                  <a:latin typeface="Arial" panose="020B0604020202020204" pitchFamily="34" charset="0"/>
                  <a:cs typeface="Arial" panose="020B0604020202020204" pitchFamily="34" charset="0"/>
                </a:endParaRPr>
              </a:p>
            </p:txBody>
          </p:sp>
        </mc:Choice>
        <mc:Fallback xmlns="">
          <p:sp>
            <p:nvSpPr>
              <p:cNvPr id="19" name="Rectángulo 18">
                <a:extLst>
                  <a:ext uri="{FF2B5EF4-FFF2-40B4-BE49-F238E27FC236}">
                    <a16:creationId xmlns:a16="http://schemas.microsoft.com/office/drawing/2014/main" id="{44822C0F-02DC-406F-8E12-F1FFDD5CFB2F}"/>
                  </a:ext>
                </a:extLst>
              </p:cNvPr>
              <p:cNvSpPr>
                <a:spLocks noRot="1" noChangeAspect="1" noMove="1" noResize="1" noEditPoints="1" noAdjustHandles="1" noChangeArrowheads="1" noChangeShapeType="1" noTextEdit="1"/>
              </p:cNvSpPr>
              <p:nvPr/>
            </p:nvSpPr>
            <p:spPr>
              <a:xfrm>
                <a:off x="5110243" y="5407590"/>
                <a:ext cx="3990576" cy="893190"/>
              </a:xfrm>
              <a:prstGeom prst="rect">
                <a:avLst/>
              </a:prstGeom>
              <a:blipFill>
                <a:blip r:embed="rId4"/>
                <a:stretch>
                  <a:fillRect/>
                </a:stretch>
              </a:blipFill>
              <a:ln>
                <a:solidFill>
                  <a:schemeClr val="tx1"/>
                </a:solidFill>
              </a:ln>
            </p:spPr>
            <p:txBody>
              <a:bodyPr/>
              <a:lstStyle/>
              <a:p>
                <a:r>
                  <a:rPr lang="es-PE">
                    <a:noFill/>
                  </a:rPr>
                  <a:t> </a:t>
                </a:r>
              </a:p>
            </p:txBody>
          </p:sp>
        </mc:Fallback>
      </mc:AlternateContent>
      <p:sp>
        <p:nvSpPr>
          <p:cNvPr id="17" name="Rectángulo 16">
            <a:extLst>
              <a:ext uri="{FF2B5EF4-FFF2-40B4-BE49-F238E27FC236}">
                <a16:creationId xmlns:a16="http://schemas.microsoft.com/office/drawing/2014/main" xmlns="" id="{8EF499C7-AECE-44DE-89A6-BD7D3BC55E42}"/>
              </a:ext>
            </a:extLst>
          </p:cNvPr>
          <p:cNvSpPr/>
          <p:nvPr/>
        </p:nvSpPr>
        <p:spPr>
          <a:xfrm>
            <a:off x="223005" y="3860053"/>
            <a:ext cx="1872003" cy="2881315"/>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lnSpc>
                <a:spcPct val="150000"/>
              </a:lnSpc>
            </a:pPr>
            <a:r>
              <a:rPr lang="es-PE" sz="1400" dirty="0">
                <a:latin typeface="Arial" panose="020B0604020202020204" pitchFamily="34" charset="0"/>
                <a:cs typeface="Arial" panose="020B0604020202020204" pitchFamily="34" charset="0"/>
              </a:rPr>
              <a:t>Medida de la agitación térmica que posee un sistema que se cuantifica a través de la energía cinética media de las partículas que componen el sistema.</a:t>
            </a:r>
            <a:endParaRPr lang="es-PE"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799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8" grpId="0" animBg="1"/>
      <p:bldP spid="20" grpId="0" animBg="1"/>
      <p:bldP spid="21" grpId="0" animBg="1"/>
      <p:bldP spid="22" grpId="0" animBg="1"/>
      <p:bldP spid="24" grpId="0" animBg="1"/>
      <p:bldP spid="33" grpId="0" animBg="1"/>
      <p:bldP spid="19"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7275634"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TEMPERATURA  Y LEY CERO DE LA TERMODINÁMICA</a:t>
            </a:r>
            <a:endParaRPr lang="es-PE" sz="2400" dirty="0">
              <a:solidFill>
                <a:schemeClr val="tx1"/>
              </a:solidFill>
            </a:endParaRPr>
          </a:p>
        </p:txBody>
      </p:sp>
      <p:sp>
        <p:nvSpPr>
          <p:cNvPr id="3" name="Rectángulo 2">
            <a:extLst>
              <a:ext uri="{FF2B5EF4-FFF2-40B4-BE49-F238E27FC236}">
                <a16:creationId xmlns:a16="http://schemas.microsoft.com/office/drawing/2014/main" xmlns="" id="{8909A456-6F7A-4727-A4C0-F6E5C0B588C9}"/>
              </a:ext>
            </a:extLst>
          </p:cNvPr>
          <p:cNvSpPr/>
          <p:nvPr/>
        </p:nvSpPr>
        <p:spPr>
          <a:xfrm>
            <a:off x="5025008" y="1387808"/>
            <a:ext cx="4582198" cy="1200329"/>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La </a:t>
            </a:r>
            <a:r>
              <a:rPr lang="es-MX" b="1" dirty="0">
                <a:latin typeface="Arial" panose="020B0604020202020204" pitchFamily="34" charset="0"/>
                <a:cs typeface="Arial" panose="020B0604020202020204" pitchFamily="34" charset="0"/>
              </a:rPr>
              <a:t>ley cero de la termodinámica </a:t>
            </a:r>
            <a:r>
              <a:rPr lang="es-MX" dirty="0">
                <a:latin typeface="Arial" panose="020B0604020202020204" pitchFamily="34" charset="0"/>
                <a:cs typeface="Arial" panose="020B0604020202020204" pitchFamily="34" charset="0"/>
              </a:rPr>
              <a:t>establece que si dos cuerpos se encuentran en equilibrio térmico con un tercero, están en equilibrio térmico entre si.</a:t>
            </a:r>
            <a:endParaRPr lang="es-PE"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xmlns="" id="{FC8001EE-A319-47C6-819F-6F6BDEBAF149}"/>
              </a:ext>
            </a:extLst>
          </p:cNvPr>
          <p:cNvSpPr/>
          <p:nvPr/>
        </p:nvSpPr>
        <p:spPr>
          <a:xfrm>
            <a:off x="5056269" y="2585053"/>
            <a:ext cx="4582198" cy="2031325"/>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Si el tercer cuerpo se sustituye por un termómetro, expresamos que dos cuerpos están en equilibrio térmico si ambos tienen la misma lectura de temperatura incluso si no están en contacto.</a:t>
            </a:r>
          </a:p>
          <a:p>
            <a:pPr algn="just"/>
            <a:r>
              <a:rPr lang="es-MX" dirty="0">
                <a:latin typeface="Arial" panose="020B0604020202020204" pitchFamily="34" charset="0"/>
                <a:cs typeface="Arial" panose="020B0604020202020204" pitchFamily="34" charset="0"/>
              </a:rPr>
              <a:t>R. H. </a:t>
            </a:r>
            <a:r>
              <a:rPr lang="es-MX" dirty="0" err="1">
                <a:latin typeface="Arial" panose="020B0604020202020204" pitchFamily="34" charset="0"/>
                <a:cs typeface="Arial" panose="020B0604020202020204" pitchFamily="34" charset="0"/>
              </a:rPr>
              <a:t>Fowler</a:t>
            </a:r>
            <a:r>
              <a:rPr lang="es-MX" dirty="0">
                <a:latin typeface="Arial" panose="020B0604020202020204" pitchFamily="34" charset="0"/>
                <a:cs typeface="Arial" panose="020B0604020202020204" pitchFamily="34" charset="0"/>
              </a:rPr>
              <a:t> fue el primero que formuló y nombró la ley cero en 1931.</a:t>
            </a:r>
            <a:endParaRPr lang="es-PE" dirty="0">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xmlns="" id="{E26221EC-DE9A-48BA-B1A7-F641D7EC8B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2069" y="4902686"/>
            <a:ext cx="2971168" cy="1734913"/>
          </a:xfrm>
          <a:prstGeom prst="rect">
            <a:avLst/>
          </a:prstGeom>
        </p:spPr>
      </p:pic>
      <p:sp>
        <p:nvSpPr>
          <p:cNvPr id="12" name="Rectángulo 11">
            <a:extLst>
              <a:ext uri="{FF2B5EF4-FFF2-40B4-BE49-F238E27FC236}">
                <a16:creationId xmlns:a16="http://schemas.microsoft.com/office/drawing/2014/main" xmlns="" id="{741E3E6D-A4B9-4390-AB91-E1A3129B8DE7}"/>
              </a:ext>
            </a:extLst>
          </p:cNvPr>
          <p:cNvSpPr/>
          <p:nvPr/>
        </p:nvSpPr>
        <p:spPr>
          <a:xfrm>
            <a:off x="267533" y="2623108"/>
            <a:ext cx="4613459" cy="1754326"/>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La longitud de una barra de metal, la presión de vapor en una caldera, la capacidad de un alambre para conducir corriente eléctrica y el color de un objeto brillante muy caliente: todo esto depende </a:t>
            </a:r>
            <a:r>
              <a:rPr lang="es-PE" dirty="0">
                <a:latin typeface="Arial" panose="020B0604020202020204" pitchFamily="34" charset="0"/>
                <a:cs typeface="Arial" panose="020B0604020202020204" pitchFamily="34" charset="0"/>
              </a:rPr>
              <a:t>de la temperatura.</a:t>
            </a:r>
          </a:p>
        </p:txBody>
      </p:sp>
      <p:sp>
        <p:nvSpPr>
          <p:cNvPr id="13" name="Rectángulo 12">
            <a:extLst>
              <a:ext uri="{FF2B5EF4-FFF2-40B4-BE49-F238E27FC236}">
                <a16:creationId xmlns:a16="http://schemas.microsoft.com/office/drawing/2014/main" xmlns="" id="{490D21BA-9A68-46A0-8C02-50D306787D80}"/>
              </a:ext>
            </a:extLst>
          </p:cNvPr>
          <p:cNvSpPr/>
          <p:nvPr/>
        </p:nvSpPr>
        <p:spPr>
          <a:xfrm>
            <a:off x="267533" y="1663424"/>
            <a:ext cx="4613459" cy="923330"/>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El concepto de </a:t>
            </a:r>
            <a:r>
              <a:rPr lang="es-MX" b="1" dirty="0">
                <a:latin typeface="Arial" panose="020B0604020202020204" pitchFamily="34" charset="0"/>
                <a:cs typeface="Arial" panose="020B0604020202020204" pitchFamily="34" charset="0"/>
              </a:rPr>
              <a:t>temperatura </a:t>
            </a:r>
            <a:r>
              <a:rPr lang="es-MX" dirty="0">
                <a:latin typeface="Arial" panose="020B0604020202020204" pitchFamily="34" charset="0"/>
                <a:cs typeface="Arial" panose="020B0604020202020204" pitchFamily="34" charset="0"/>
              </a:rPr>
              <a:t>se origina en las ideas cualitativas de “caliente” y “frío” basadas en nuestro sentido del tacto.</a:t>
            </a:r>
            <a:endParaRPr lang="es-PE" dirty="0">
              <a:latin typeface="Arial" panose="020B0604020202020204" pitchFamily="34" charset="0"/>
              <a:cs typeface="Arial" panose="020B0604020202020204" pitchFamily="34" charset="0"/>
            </a:endParaRPr>
          </a:p>
        </p:txBody>
      </p:sp>
      <p:pic>
        <p:nvPicPr>
          <p:cNvPr id="21" name="Imagen 20">
            <a:extLst>
              <a:ext uri="{FF2B5EF4-FFF2-40B4-BE49-F238E27FC236}">
                <a16:creationId xmlns:a16="http://schemas.microsoft.com/office/drawing/2014/main" xmlns="" id="{27614D13-7C7D-4278-A1E0-41B0A478B5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552" y="4470181"/>
            <a:ext cx="3352381" cy="2190476"/>
          </a:xfrm>
          <a:prstGeom prst="rect">
            <a:avLst/>
          </a:prstGeom>
        </p:spPr>
      </p:pic>
    </p:spTree>
    <p:extLst>
      <p:ext uri="{BB962C8B-B14F-4D97-AF65-F5344CB8AC3E}">
        <p14:creationId xmlns:p14="http://schemas.microsoft.com/office/powerpoint/2010/main" val="313364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712640" y="764704"/>
            <a:ext cx="4104456"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dirty="0">
                <a:solidFill>
                  <a:schemeClr val="tx1"/>
                </a:solidFill>
              </a:rPr>
              <a:t>ESCALAS DE TEMPERATURA</a:t>
            </a:r>
            <a:endParaRPr lang="es-PE" sz="2800" dirty="0">
              <a:solidFill>
                <a:schemeClr val="tx1"/>
              </a:solidFill>
            </a:endParaRPr>
          </a:p>
        </p:txBody>
      </p:sp>
      <p:pic>
        <p:nvPicPr>
          <p:cNvPr id="6" name="Picture 3">
            <a:extLst>
              <a:ext uri="{FF2B5EF4-FFF2-40B4-BE49-F238E27FC236}">
                <a16:creationId xmlns:a16="http://schemas.microsoft.com/office/drawing/2014/main" xmlns="" id="{EDAFD7C2-9BFC-45BE-89B1-0D7ABA1F819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7000"/>
                    </a14:imgEffect>
                  </a14:imgLayer>
                </a14:imgProps>
              </a:ext>
              <a:ext uri="{28A0092B-C50C-407E-A947-70E740481C1C}">
                <a14:useLocalDpi xmlns:a14="http://schemas.microsoft.com/office/drawing/2010/main" val="0"/>
              </a:ext>
            </a:extLst>
          </a:blip>
          <a:srcRect/>
          <a:stretch>
            <a:fillRect/>
          </a:stretch>
        </p:blipFill>
        <p:spPr bwMode="auto">
          <a:xfrm>
            <a:off x="2054064" y="1412776"/>
            <a:ext cx="5707247" cy="4088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7" name="2 CuadroTexto">
                <a:extLst>
                  <a:ext uri="{FF2B5EF4-FFF2-40B4-BE49-F238E27FC236}">
                    <a16:creationId xmlns:a16="http://schemas.microsoft.com/office/drawing/2014/main" xmlns="" id="{02A7B23D-B6DD-4573-982B-9790C6CC7709}"/>
                  </a:ext>
                </a:extLst>
              </p:cNvPr>
              <p:cNvSpPr txBox="1"/>
              <p:nvPr/>
            </p:nvSpPr>
            <p:spPr>
              <a:xfrm>
                <a:off x="3976329" y="5718080"/>
                <a:ext cx="4824536" cy="793551"/>
              </a:xfrm>
              <a:prstGeom prst="rect">
                <a:avLst/>
              </a:prstGeom>
              <a:solidFill>
                <a:schemeClr val="tx2">
                  <a:lumMod val="60000"/>
                  <a:lumOff val="4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PE" sz="2400" i="1" smtClean="0">
                              <a:latin typeface="Cambria Math" panose="02040503050406030204" pitchFamily="18" charset="0"/>
                            </a:rPr>
                          </m:ctrlPr>
                        </m:fPr>
                        <m:num>
                          <m:r>
                            <a:rPr lang="es-PE" sz="2400" b="0" i="1" smtClean="0">
                              <a:latin typeface="Cambria Math"/>
                            </a:rPr>
                            <m:t>𝐶</m:t>
                          </m:r>
                        </m:num>
                        <m:den>
                          <m:r>
                            <a:rPr lang="es-PE" sz="2400" b="0" i="1" smtClean="0">
                              <a:latin typeface="Cambria Math"/>
                            </a:rPr>
                            <m:t>5</m:t>
                          </m:r>
                        </m:den>
                      </m:f>
                      <m:r>
                        <a:rPr lang="es-PE" sz="2400" b="0" i="1" smtClean="0">
                          <a:latin typeface="Cambria Math"/>
                        </a:rPr>
                        <m:t>=</m:t>
                      </m:r>
                      <m:f>
                        <m:fPr>
                          <m:ctrlPr>
                            <a:rPr lang="es-PE" sz="2400" b="0" i="1" smtClean="0">
                              <a:latin typeface="Cambria Math" panose="02040503050406030204" pitchFamily="18" charset="0"/>
                            </a:rPr>
                          </m:ctrlPr>
                        </m:fPr>
                        <m:num>
                          <m:r>
                            <a:rPr lang="es-PE" sz="2400" b="0" i="1" smtClean="0">
                              <a:latin typeface="Cambria Math"/>
                            </a:rPr>
                            <m:t>𝐹</m:t>
                          </m:r>
                          <m:r>
                            <a:rPr lang="es-PE" sz="2400" b="0" i="1" smtClean="0">
                              <a:latin typeface="Cambria Math"/>
                            </a:rPr>
                            <m:t>−32</m:t>
                          </m:r>
                        </m:num>
                        <m:den>
                          <m:r>
                            <a:rPr lang="es-PE" sz="2400" b="0" i="1" smtClean="0">
                              <a:latin typeface="Cambria Math"/>
                            </a:rPr>
                            <m:t>9</m:t>
                          </m:r>
                        </m:den>
                      </m:f>
                      <m:r>
                        <a:rPr lang="es-PE" sz="2400" b="0" i="1" smtClean="0">
                          <a:latin typeface="Cambria Math"/>
                        </a:rPr>
                        <m:t>=</m:t>
                      </m:r>
                      <m:f>
                        <m:fPr>
                          <m:ctrlPr>
                            <a:rPr lang="es-PE" sz="2400" b="0" i="1" smtClean="0">
                              <a:latin typeface="Cambria Math" panose="02040503050406030204" pitchFamily="18" charset="0"/>
                            </a:rPr>
                          </m:ctrlPr>
                        </m:fPr>
                        <m:num>
                          <m:r>
                            <a:rPr lang="es-PE" sz="2400" b="0" i="1" smtClean="0">
                              <a:latin typeface="Cambria Math"/>
                            </a:rPr>
                            <m:t>𝑘</m:t>
                          </m:r>
                          <m:r>
                            <a:rPr lang="es-PE" sz="2400" b="0" i="1" smtClean="0">
                              <a:latin typeface="Cambria Math"/>
                            </a:rPr>
                            <m:t>−273</m:t>
                          </m:r>
                        </m:num>
                        <m:den>
                          <m:r>
                            <a:rPr lang="es-PE" sz="2400" b="0" i="1" smtClean="0">
                              <a:latin typeface="Cambria Math"/>
                            </a:rPr>
                            <m:t>5</m:t>
                          </m:r>
                        </m:den>
                      </m:f>
                      <m:r>
                        <a:rPr lang="es-PE" sz="2400" b="0" i="1" smtClean="0">
                          <a:latin typeface="Cambria Math"/>
                        </a:rPr>
                        <m:t>=</m:t>
                      </m:r>
                      <m:f>
                        <m:fPr>
                          <m:ctrlPr>
                            <a:rPr lang="es-PE" sz="2400" b="0" i="1" smtClean="0">
                              <a:latin typeface="Cambria Math" panose="02040503050406030204" pitchFamily="18" charset="0"/>
                            </a:rPr>
                          </m:ctrlPr>
                        </m:fPr>
                        <m:num>
                          <m:r>
                            <a:rPr lang="es-PE" sz="2400" b="0" i="1" smtClean="0">
                              <a:latin typeface="Cambria Math"/>
                            </a:rPr>
                            <m:t>𝑅</m:t>
                          </m:r>
                          <m:r>
                            <a:rPr lang="es-PE" sz="2400" b="0" i="1" smtClean="0">
                              <a:latin typeface="Cambria Math"/>
                            </a:rPr>
                            <m:t>−491</m:t>
                          </m:r>
                        </m:num>
                        <m:den>
                          <m:r>
                            <a:rPr lang="es-PE" sz="2400" b="0" i="1" smtClean="0">
                              <a:latin typeface="Cambria Math"/>
                            </a:rPr>
                            <m:t>9</m:t>
                          </m:r>
                        </m:den>
                      </m:f>
                    </m:oMath>
                  </m:oMathPara>
                </a14:m>
                <a:endParaRPr lang="es-PE" sz="2400" dirty="0"/>
              </a:p>
            </p:txBody>
          </p:sp>
        </mc:Choice>
        <mc:Fallback xmlns="">
          <p:sp>
            <p:nvSpPr>
              <p:cNvPr id="7" name="2 CuadroTexto">
                <a:extLst>
                  <a:ext uri="{FF2B5EF4-FFF2-40B4-BE49-F238E27FC236}">
                    <a16:creationId xmlns:a16="http://schemas.microsoft.com/office/drawing/2014/main" id="{02A7B23D-B6DD-4573-982B-9790C6CC7709}"/>
                  </a:ext>
                </a:extLst>
              </p:cNvPr>
              <p:cNvSpPr txBox="1">
                <a:spLocks noRot="1" noChangeAspect="1" noMove="1" noResize="1" noEditPoints="1" noAdjustHandles="1" noChangeArrowheads="1" noChangeShapeType="1" noTextEdit="1"/>
              </p:cNvSpPr>
              <p:nvPr/>
            </p:nvSpPr>
            <p:spPr>
              <a:xfrm>
                <a:off x="3976329" y="5718080"/>
                <a:ext cx="4824536" cy="793551"/>
              </a:xfrm>
              <a:prstGeom prst="rect">
                <a:avLst/>
              </a:prstGeom>
              <a:blipFill>
                <a:blip r:embed="rId4"/>
                <a:stretch>
                  <a:fillRect/>
                </a:stretch>
              </a:blipFill>
            </p:spPr>
            <p:txBody>
              <a:bodyPr/>
              <a:lstStyle/>
              <a:p>
                <a:r>
                  <a:rPr lang="es-PE">
                    <a:noFill/>
                  </a:rPr>
                  <a:t> </a:t>
                </a:r>
              </a:p>
            </p:txBody>
          </p:sp>
        </mc:Fallback>
      </mc:AlternateContent>
      <p:sp>
        <p:nvSpPr>
          <p:cNvPr id="8" name="3 CuadroTexto">
            <a:extLst>
              <a:ext uri="{FF2B5EF4-FFF2-40B4-BE49-F238E27FC236}">
                <a16:creationId xmlns:a16="http://schemas.microsoft.com/office/drawing/2014/main" xmlns="" id="{8BF0EF53-FCCC-459C-836F-DBE18A4955E3}"/>
              </a:ext>
            </a:extLst>
          </p:cNvPr>
          <p:cNvSpPr txBox="1"/>
          <p:nvPr/>
        </p:nvSpPr>
        <p:spPr>
          <a:xfrm>
            <a:off x="517314" y="5687301"/>
            <a:ext cx="3486871" cy="830997"/>
          </a:xfrm>
          <a:prstGeom prst="rect">
            <a:avLst/>
          </a:prstGeom>
          <a:noFill/>
        </p:spPr>
        <p:txBody>
          <a:bodyPr wrap="square" rtlCol="0">
            <a:spAutoFit/>
          </a:bodyPr>
          <a:lstStyle/>
          <a:p>
            <a:r>
              <a:rPr lang="es-PE" sz="2400" dirty="0">
                <a:effectLst>
                  <a:outerShdw blurRad="38100" dist="38100" dir="2700000" algn="tl">
                    <a:srgbClr val="000000">
                      <a:alpha val="43137"/>
                    </a:srgbClr>
                  </a:outerShdw>
                </a:effectLst>
                <a:latin typeface="Bell MT" pitchFamily="18" charset="0"/>
              </a:rPr>
              <a:t>ECUACION PARA </a:t>
            </a:r>
          </a:p>
          <a:p>
            <a:r>
              <a:rPr lang="es-PE" sz="2400" dirty="0">
                <a:effectLst>
                  <a:outerShdw blurRad="38100" dist="38100" dir="2700000" algn="tl">
                    <a:srgbClr val="000000">
                      <a:alpha val="43137"/>
                    </a:srgbClr>
                  </a:outerShdw>
                </a:effectLst>
                <a:latin typeface="Bell MT" pitchFamily="18" charset="0"/>
              </a:rPr>
              <a:t>CONVERSIÓN:</a:t>
            </a:r>
          </a:p>
        </p:txBody>
      </p:sp>
    </p:spTree>
    <p:extLst>
      <p:ext uri="{BB962C8B-B14F-4D97-AF65-F5344CB8AC3E}">
        <p14:creationId xmlns:p14="http://schemas.microsoft.com/office/powerpoint/2010/main" val="286779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style.rotation</p:attrName>
                                        </p:attrNameLst>
                                      </p:cBhvr>
                                      <p:tavLst>
                                        <p:tav tm="0">
                                          <p:val>
                                            <p:fltVal val="90"/>
                                          </p:val>
                                        </p:tav>
                                        <p:tav tm="100000">
                                          <p:val>
                                            <p:fltVal val="0"/>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5" name="Rectángulo redondeado 14"/>
          <p:cNvSpPr/>
          <p:nvPr/>
        </p:nvSpPr>
        <p:spPr>
          <a:xfrm>
            <a:off x="1669791" y="868377"/>
            <a:ext cx="3355217"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EJERCICIOS</a:t>
            </a:r>
            <a:endParaRPr lang="es-PE" sz="2400" dirty="0">
              <a:solidFill>
                <a:schemeClr val="tx1"/>
              </a:solidFill>
            </a:endParaRPr>
          </a:p>
        </p:txBody>
      </p:sp>
      <p:sp>
        <p:nvSpPr>
          <p:cNvPr id="3" name="Rectángulo 2"/>
          <p:cNvSpPr/>
          <p:nvPr/>
        </p:nvSpPr>
        <p:spPr>
          <a:xfrm>
            <a:off x="330324" y="1703709"/>
            <a:ext cx="9245351" cy="1200329"/>
          </a:xfrm>
          <a:prstGeom prst="rect">
            <a:avLst/>
          </a:prstGeom>
        </p:spPr>
        <p:txBody>
          <a:bodyPr wrap="square">
            <a:spAutoFit/>
          </a:bodyPr>
          <a:lstStyle/>
          <a:p>
            <a:pPr lvl="0" algn="just"/>
            <a:r>
              <a:rPr lang="es-ES" dirty="0">
                <a:latin typeface="Arial" panose="020B0604020202020204" pitchFamily="34" charset="0"/>
                <a:cs typeface="Arial" panose="020B0604020202020204" pitchFamily="34" charset="0"/>
              </a:rPr>
              <a:t>Cierta escala termométrica </a:t>
            </a:r>
            <a:r>
              <a:rPr lang="es-ES" dirty="0" err="1">
                <a:latin typeface="Arial" panose="020B0604020202020204" pitchFamily="34" charset="0"/>
                <a:cs typeface="Arial" panose="020B0604020202020204" pitchFamily="34" charset="0"/>
              </a:rPr>
              <a:t>°X</a:t>
            </a:r>
            <a:r>
              <a:rPr lang="es-ES" dirty="0">
                <a:latin typeface="Arial" panose="020B0604020202020204" pitchFamily="34" charset="0"/>
                <a:cs typeface="Arial" panose="020B0604020202020204" pitchFamily="34" charset="0"/>
              </a:rPr>
              <a:t> adopta los valores 10 </a:t>
            </a:r>
            <a:r>
              <a:rPr lang="es-ES" dirty="0" err="1">
                <a:latin typeface="Arial" panose="020B0604020202020204" pitchFamily="34" charset="0"/>
                <a:cs typeface="Arial" panose="020B0604020202020204" pitchFamily="34" charset="0"/>
              </a:rPr>
              <a:t>°X</a:t>
            </a:r>
            <a:r>
              <a:rPr lang="es-ES" dirty="0">
                <a:latin typeface="Arial" panose="020B0604020202020204" pitchFamily="34" charset="0"/>
                <a:cs typeface="Arial" panose="020B0604020202020204" pitchFamily="34" charset="0"/>
              </a:rPr>
              <a:t> y 510 </a:t>
            </a:r>
            <a:r>
              <a:rPr lang="es-ES" dirty="0" err="1">
                <a:latin typeface="Arial" panose="020B0604020202020204" pitchFamily="34" charset="0"/>
                <a:cs typeface="Arial" panose="020B0604020202020204" pitchFamily="34" charset="0"/>
              </a:rPr>
              <a:t>°X</a:t>
            </a:r>
            <a:r>
              <a:rPr lang="es-ES" dirty="0">
                <a:latin typeface="Arial" panose="020B0604020202020204" pitchFamily="34" charset="0"/>
                <a:cs typeface="Arial" panose="020B0604020202020204" pitchFamily="34" charset="0"/>
              </a:rPr>
              <a:t>, respectivamente, para el 1</a:t>
            </a:r>
            <a:r>
              <a:rPr lang="es-ES" u="sng" baseline="30000" dirty="0">
                <a:latin typeface="Arial" panose="020B0604020202020204" pitchFamily="34" charset="0"/>
                <a:cs typeface="Arial" panose="020B0604020202020204" pitchFamily="34" charset="0"/>
              </a:rPr>
              <a:t>er</a:t>
            </a:r>
            <a:r>
              <a:rPr lang="es-ES" dirty="0">
                <a:latin typeface="Arial" panose="020B0604020202020204" pitchFamily="34" charset="0"/>
                <a:cs typeface="Arial" panose="020B0604020202020204" pitchFamily="34" charset="0"/>
              </a:rPr>
              <a:t> punto fijo y 2</a:t>
            </a:r>
            <a:r>
              <a:rPr lang="es-ES" u="sng" baseline="30000" dirty="0">
                <a:latin typeface="Arial" panose="020B0604020202020204" pitchFamily="34" charset="0"/>
                <a:cs typeface="Arial" panose="020B0604020202020204" pitchFamily="34" charset="0"/>
              </a:rPr>
              <a:t>do</a:t>
            </a:r>
            <a:r>
              <a:rPr lang="es-ES" dirty="0">
                <a:latin typeface="Arial" panose="020B0604020202020204" pitchFamily="34" charset="0"/>
                <a:cs typeface="Arial" panose="020B0604020202020204" pitchFamily="34" charset="0"/>
              </a:rPr>
              <a:t> punto fijo. </a:t>
            </a:r>
            <a:r>
              <a:rPr lang="es-ES" u="sng" dirty="0">
                <a:latin typeface="Arial" panose="020B0604020202020204" pitchFamily="34" charset="0"/>
                <a:cs typeface="Arial" panose="020B0604020202020204" pitchFamily="34" charset="0"/>
              </a:rPr>
              <a:t>Determinar</a:t>
            </a:r>
            <a:r>
              <a:rPr lang="es-ES" dirty="0">
                <a:latin typeface="Arial" panose="020B0604020202020204" pitchFamily="34" charset="0"/>
                <a:cs typeface="Arial" panose="020B0604020202020204" pitchFamily="34" charset="0"/>
              </a:rPr>
              <a:t>: a) la ecuación de conversión entre la escala </a:t>
            </a:r>
            <a:r>
              <a:rPr lang="es-ES" dirty="0" err="1">
                <a:latin typeface="Arial" panose="020B0604020202020204" pitchFamily="34" charset="0"/>
                <a:cs typeface="Arial" panose="020B0604020202020204" pitchFamily="34" charset="0"/>
              </a:rPr>
              <a:t>°X</a:t>
            </a:r>
            <a:r>
              <a:rPr lang="es-ES" dirty="0">
                <a:latin typeface="Arial" panose="020B0604020202020204" pitchFamily="34" charset="0"/>
                <a:cs typeface="Arial" panose="020B0604020202020204" pitchFamily="34" charset="0"/>
              </a:rPr>
              <a:t> y la escala °C; b) la ecuación de conversión entre la escala </a:t>
            </a:r>
            <a:r>
              <a:rPr lang="es-ES" dirty="0" err="1">
                <a:latin typeface="Arial" panose="020B0604020202020204" pitchFamily="34" charset="0"/>
                <a:cs typeface="Arial" panose="020B0604020202020204" pitchFamily="34" charset="0"/>
              </a:rPr>
              <a:t>°X</a:t>
            </a:r>
            <a:r>
              <a:rPr lang="es-ES" dirty="0">
                <a:latin typeface="Arial" panose="020B0604020202020204" pitchFamily="34" charset="0"/>
                <a:cs typeface="Arial" panose="020B0604020202020204" pitchFamily="34" charset="0"/>
              </a:rPr>
              <a:t> y la escala °F; y c) ¿Cuánto corresponde en la escala </a:t>
            </a:r>
            <a:r>
              <a:rPr lang="es-ES" dirty="0" err="1">
                <a:latin typeface="Arial" panose="020B0604020202020204" pitchFamily="34" charset="0"/>
                <a:cs typeface="Arial" panose="020B0604020202020204" pitchFamily="34" charset="0"/>
              </a:rPr>
              <a:t>°X</a:t>
            </a:r>
            <a:r>
              <a:rPr lang="es-ES" dirty="0">
                <a:latin typeface="Arial" panose="020B0604020202020204" pitchFamily="34" charset="0"/>
                <a:cs typeface="Arial" panose="020B0604020202020204" pitchFamily="34" charset="0"/>
              </a:rPr>
              <a:t>, 50°C?</a:t>
            </a:r>
            <a:endParaRPr lang="es-PE" dirty="0">
              <a:latin typeface="Arial" panose="020B0604020202020204" pitchFamily="34" charset="0"/>
              <a:cs typeface="Arial" panose="020B0604020202020204" pitchFamily="34" charset="0"/>
            </a:endParaRPr>
          </a:p>
        </p:txBody>
      </p:sp>
      <p:cxnSp>
        <p:nvCxnSpPr>
          <p:cNvPr id="11" name="6 Conector recto de flecha">
            <a:extLst>
              <a:ext uri="{FF2B5EF4-FFF2-40B4-BE49-F238E27FC236}">
                <a16:creationId xmlns:a16="http://schemas.microsoft.com/office/drawing/2014/main" xmlns="" id="{7BA9A197-1AC6-457A-9D7C-39A1EE3755DD}"/>
              </a:ext>
            </a:extLst>
          </p:cNvPr>
          <p:cNvCxnSpPr/>
          <p:nvPr/>
        </p:nvCxnSpPr>
        <p:spPr>
          <a:xfrm flipV="1">
            <a:off x="920552" y="3573016"/>
            <a:ext cx="0" cy="280831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 name="8 Conector recto de flecha">
            <a:extLst>
              <a:ext uri="{FF2B5EF4-FFF2-40B4-BE49-F238E27FC236}">
                <a16:creationId xmlns:a16="http://schemas.microsoft.com/office/drawing/2014/main" xmlns="" id="{0109DA67-7175-4E55-8DA3-37A7D615E78D}"/>
              </a:ext>
            </a:extLst>
          </p:cNvPr>
          <p:cNvCxnSpPr/>
          <p:nvPr/>
        </p:nvCxnSpPr>
        <p:spPr>
          <a:xfrm flipV="1">
            <a:off x="1784648" y="3573016"/>
            <a:ext cx="0" cy="280831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9 Conector recto de flecha">
            <a:extLst>
              <a:ext uri="{FF2B5EF4-FFF2-40B4-BE49-F238E27FC236}">
                <a16:creationId xmlns:a16="http://schemas.microsoft.com/office/drawing/2014/main" xmlns="" id="{1F0A2A66-3E25-42ED-93CD-420A4FE83C44}"/>
              </a:ext>
            </a:extLst>
          </p:cNvPr>
          <p:cNvCxnSpPr/>
          <p:nvPr/>
        </p:nvCxnSpPr>
        <p:spPr>
          <a:xfrm flipV="1">
            <a:off x="2720752" y="3573016"/>
            <a:ext cx="0" cy="280831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4" name="10 Conector recto">
            <a:extLst>
              <a:ext uri="{FF2B5EF4-FFF2-40B4-BE49-F238E27FC236}">
                <a16:creationId xmlns:a16="http://schemas.microsoft.com/office/drawing/2014/main" xmlns="" id="{722BDFC1-6079-4FF7-874E-39A453BC4FBE}"/>
              </a:ext>
            </a:extLst>
          </p:cNvPr>
          <p:cNvCxnSpPr/>
          <p:nvPr/>
        </p:nvCxnSpPr>
        <p:spPr>
          <a:xfrm flipH="1">
            <a:off x="447812" y="4221088"/>
            <a:ext cx="2673672" cy="0"/>
          </a:xfrm>
          <a:prstGeom prst="line">
            <a:avLst/>
          </a:prstGeom>
          <a:ln>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16" name="14 Conector recto">
            <a:extLst>
              <a:ext uri="{FF2B5EF4-FFF2-40B4-BE49-F238E27FC236}">
                <a16:creationId xmlns:a16="http://schemas.microsoft.com/office/drawing/2014/main" xmlns="" id="{3992FB2F-43EE-4688-9531-EA16E79E4E0A}"/>
              </a:ext>
            </a:extLst>
          </p:cNvPr>
          <p:cNvCxnSpPr/>
          <p:nvPr/>
        </p:nvCxnSpPr>
        <p:spPr>
          <a:xfrm flipH="1">
            <a:off x="323516" y="5949280"/>
            <a:ext cx="2673672" cy="0"/>
          </a:xfrm>
          <a:prstGeom prst="line">
            <a:avLst/>
          </a:prstGeom>
          <a:ln>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17" name="13 CuadroTexto">
            <a:extLst>
              <a:ext uri="{FF2B5EF4-FFF2-40B4-BE49-F238E27FC236}">
                <a16:creationId xmlns:a16="http://schemas.microsoft.com/office/drawing/2014/main" xmlns="" id="{AB06ACC7-DF7C-4A04-BB9B-755D0DCD2E3D}"/>
              </a:ext>
            </a:extLst>
          </p:cNvPr>
          <p:cNvSpPr txBox="1"/>
          <p:nvPr/>
        </p:nvSpPr>
        <p:spPr>
          <a:xfrm>
            <a:off x="971588" y="3284984"/>
            <a:ext cx="288032" cy="369332"/>
          </a:xfrm>
          <a:prstGeom prst="rect">
            <a:avLst/>
          </a:prstGeom>
          <a:noFill/>
          <a:ln>
            <a:solidFill>
              <a:schemeClr val="accent1"/>
            </a:solidFill>
          </a:ln>
        </p:spPr>
        <p:txBody>
          <a:bodyPr wrap="square" rtlCol="0">
            <a:spAutoFit/>
          </a:bodyPr>
          <a:lstStyle/>
          <a:p>
            <a:r>
              <a:rPr lang="es-PE" dirty="0"/>
              <a:t>C</a:t>
            </a:r>
          </a:p>
        </p:txBody>
      </p:sp>
      <p:sp>
        <p:nvSpPr>
          <p:cNvPr id="18" name="16 CuadroTexto">
            <a:extLst>
              <a:ext uri="{FF2B5EF4-FFF2-40B4-BE49-F238E27FC236}">
                <a16:creationId xmlns:a16="http://schemas.microsoft.com/office/drawing/2014/main" xmlns="" id="{3A3B1CE2-FCA5-4F66-9A93-9734EA0E09D4}"/>
              </a:ext>
            </a:extLst>
          </p:cNvPr>
          <p:cNvSpPr txBox="1"/>
          <p:nvPr/>
        </p:nvSpPr>
        <p:spPr>
          <a:xfrm>
            <a:off x="1835684" y="3284984"/>
            <a:ext cx="288032" cy="369332"/>
          </a:xfrm>
          <a:prstGeom prst="rect">
            <a:avLst/>
          </a:prstGeom>
          <a:noFill/>
          <a:ln>
            <a:solidFill>
              <a:schemeClr val="accent1"/>
            </a:solidFill>
          </a:ln>
        </p:spPr>
        <p:txBody>
          <a:bodyPr wrap="square" rtlCol="0">
            <a:spAutoFit/>
          </a:bodyPr>
          <a:lstStyle/>
          <a:p>
            <a:r>
              <a:rPr lang="es-PE" dirty="0"/>
              <a:t>F</a:t>
            </a:r>
          </a:p>
        </p:txBody>
      </p:sp>
      <p:sp>
        <p:nvSpPr>
          <p:cNvPr id="19" name="17 CuadroTexto">
            <a:extLst>
              <a:ext uri="{FF2B5EF4-FFF2-40B4-BE49-F238E27FC236}">
                <a16:creationId xmlns:a16="http://schemas.microsoft.com/office/drawing/2014/main" xmlns="" id="{153246AF-D10E-479B-99D5-803ED6033C4A}"/>
              </a:ext>
            </a:extLst>
          </p:cNvPr>
          <p:cNvSpPr txBox="1"/>
          <p:nvPr/>
        </p:nvSpPr>
        <p:spPr>
          <a:xfrm>
            <a:off x="2771788" y="3284984"/>
            <a:ext cx="288032" cy="369332"/>
          </a:xfrm>
          <a:prstGeom prst="rect">
            <a:avLst/>
          </a:prstGeom>
          <a:noFill/>
          <a:ln>
            <a:solidFill>
              <a:schemeClr val="accent1"/>
            </a:solidFill>
          </a:ln>
        </p:spPr>
        <p:txBody>
          <a:bodyPr wrap="square" rtlCol="0">
            <a:spAutoFit/>
          </a:bodyPr>
          <a:lstStyle/>
          <a:p>
            <a:r>
              <a:rPr lang="es-PE" dirty="0"/>
              <a:t>X</a:t>
            </a:r>
          </a:p>
        </p:txBody>
      </p:sp>
    </p:spTree>
    <p:extLst>
      <p:ext uri="{BB962C8B-B14F-4D97-AF65-F5344CB8AC3E}">
        <p14:creationId xmlns:p14="http://schemas.microsoft.com/office/powerpoint/2010/main" val="107966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640632" y="978323"/>
            <a:ext cx="5854860"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b="1" dirty="0">
                <a:solidFill>
                  <a:schemeClr val="tx1"/>
                </a:solidFill>
              </a:rPr>
              <a:t>TERMOMETRO A VOLUMEN CONSTANTE</a:t>
            </a:r>
          </a:p>
        </p:txBody>
      </p:sp>
      <p:sp>
        <p:nvSpPr>
          <p:cNvPr id="36" name="Text Box 68">
            <a:extLst>
              <a:ext uri="{FF2B5EF4-FFF2-40B4-BE49-F238E27FC236}">
                <a16:creationId xmlns:a16="http://schemas.microsoft.com/office/drawing/2014/main" xmlns="" id="{22738153-2957-46BA-A971-BA283D53371A}"/>
              </a:ext>
            </a:extLst>
          </p:cNvPr>
          <p:cNvSpPr txBox="1">
            <a:spLocks noChangeArrowheads="1"/>
          </p:cNvSpPr>
          <p:nvPr/>
        </p:nvSpPr>
        <p:spPr bwMode="auto">
          <a:xfrm>
            <a:off x="515616" y="1827434"/>
            <a:ext cx="849694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s-MX" sz="2000" dirty="0">
                <a:latin typeface="Arial" pitchFamily="34" charset="0"/>
                <a:cs typeface="Arial" pitchFamily="34" charset="0"/>
              </a:rPr>
              <a:t>Se usa básicamente para la determinación del cero absoluto.</a:t>
            </a:r>
          </a:p>
        </p:txBody>
      </p:sp>
      <p:pic>
        <p:nvPicPr>
          <p:cNvPr id="38" name="Picture 3">
            <a:extLst>
              <a:ext uri="{FF2B5EF4-FFF2-40B4-BE49-F238E27FC236}">
                <a16:creationId xmlns:a16="http://schemas.microsoft.com/office/drawing/2014/main" xmlns="" id="{F88B100E-0EEE-4897-ACF2-CCA8CBD4B0B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32000"/>
                    </a14:imgEffect>
                  </a14:imgLayer>
                </a14:imgProps>
              </a:ext>
              <a:ext uri="{28A0092B-C50C-407E-A947-70E740481C1C}">
                <a14:useLocalDpi xmlns:a14="http://schemas.microsoft.com/office/drawing/2010/main" val="0"/>
              </a:ext>
            </a:extLst>
          </a:blip>
          <a:srcRect/>
          <a:stretch>
            <a:fillRect/>
          </a:stretch>
        </p:blipFill>
        <p:spPr bwMode="auto">
          <a:xfrm>
            <a:off x="542792" y="2624606"/>
            <a:ext cx="2627728" cy="593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2 CuadroTexto">
            <a:extLst>
              <a:ext uri="{FF2B5EF4-FFF2-40B4-BE49-F238E27FC236}">
                <a16:creationId xmlns:a16="http://schemas.microsoft.com/office/drawing/2014/main" xmlns="" id="{280FC2DE-B1B4-447F-BEC3-F6FE8FF2A560}"/>
              </a:ext>
            </a:extLst>
          </p:cNvPr>
          <p:cNvSpPr txBox="1"/>
          <p:nvPr/>
        </p:nvSpPr>
        <p:spPr>
          <a:xfrm>
            <a:off x="4026354" y="5821066"/>
            <a:ext cx="5472608" cy="523220"/>
          </a:xfrm>
          <a:prstGeom prst="rect">
            <a:avLst/>
          </a:prstGeom>
          <a:solidFill>
            <a:schemeClr val="tx2">
              <a:lumMod val="60000"/>
              <a:lumOff val="40000"/>
            </a:schemeClr>
          </a:solidFill>
        </p:spPr>
        <p:txBody>
          <a:bodyPr wrap="square" rtlCol="0">
            <a:spAutoFit/>
          </a:bodyPr>
          <a:lstStyle/>
          <a:p>
            <a:r>
              <a:rPr lang="es-PE" sz="2800" b="1" dirty="0">
                <a:effectLst>
                  <a:outerShdw blurRad="38100" dist="38100" dir="2700000" algn="tl">
                    <a:srgbClr val="000000">
                      <a:alpha val="43137"/>
                    </a:srgbClr>
                  </a:outerShdw>
                </a:effectLst>
                <a:latin typeface="Bell MT" pitchFamily="18" charset="0"/>
              </a:rPr>
              <a:t>CERO ABSOLUTO: -273,15°C</a:t>
            </a:r>
          </a:p>
        </p:txBody>
      </p:sp>
      <p:pic>
        <p:nvPicPr>
          <p:cNvPr id="3" name="Imagen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4928" y="2624606"/>
            <a:ext cx="4402243" cy="2818783"/>
          </a:xfrm>
          <a:prstGeom prst="rect">
            <a:avLst/>
          </a:prstGeom>
        </p:spPr>
      </p:pic>
      <p:pic>
        <p:nvPicPr>
          <p:cNvPr id="6" name="Imagen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4664" y="3513129"/>
            <a:ext cx="2448267" cy="2924583"/>
          </a:xfrm>
          <a:prstGeom prst="rect">
            <a:avLst/>
          </a:prstGeom>
        </p:spPr>
      </p:pic>
    </p:spTree>
    <p:extLst>
      <p:ext uri="{BB962C8B-B14F-4D97-AF65-F5344CB8AC3E}">
        <p14:creationId xmlns:p14="http://schemas.microsoft.com/office/powerpoint/2010/main" val="201517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ppt_x</p:attrName>
                                        </p:attrNameLst>
                                      </p:cBhvr>
                                      <p:tavLst>
                                        <p:tav tm="0">
                                          <p:val>
                                            <p:strVal val="#ppt_x+#ppt_w/2"/>
                                          </p:val>
                                        </p:tav>
                                        <p:tav tm="100000">
                                          <p:val>
                                            <p:strVal val="#ppt_x"/>
                                          </p:val>
                                        </p:tav>
                                      </p:tavLst>
                                    </p:anim>
                                    <p:anim calcmode="lin" valueType="num">
                                      <p:cBhvr>
                                        <p:cTn id="8" dur="500" fill="hold"/>
                                        <p:tgtEl>
                                          <p:spTgt spid="36"/>
                                        </p:tgtEl>
                                        <p:attrNameLst>
                                          <p:attrName>ppt_y</p:attrName>
                                        </p:attrNameLst>
                                      </p:cBhvr>
                                      <p:tavLst>
                                        <p:tav tm="0">
                                          <p:val>
                                            <p:strVal val="#ppt_y"/>
                                          </p:val>
                                        </p:tav>
                                        <p:tav tm="100000">
                                          <p:val>
                                            <p:strVal val="#ppt_y"/>
                                          </p:val>
                                        </p:tav>
                                      </p:tavLst>
                                    </p:anim>
                                    <p:anim calcmode="lin" valueType="num">
                                      <p:cBhvr>
                                        <p:cTn id="9" dur="500" fill="hold"/>
                                        <p:tgtEl>
                                          <p:spTgt spid="36"/>
                                        </p:tgtEl>
                                        <p:attrNameLst>
                                          <p:attrName>ppt_w</p:attrName>
                                        </p:attrNameLst>
                                      </p:cBhvr>
                                      <p:tavLst>
                                        <p:tav tm="0">
                                          <p:val>
                                            <p:fltVal val="0"/>
                                          </p:val>
                                        </p:tav>
                                        <p:tav tm="100000">
                                          <p:val>
                                            <p:strVal val="#ppt_w"/>
                                          </p:val>
                                        </p:tav>
                                      </p:tavLst>
                                    </p:anim>
                                    <p:anim calcmode="lin" valueType="num">
                                      <p:cBhvr>
                                        <p:cTn id="10"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1000"/>
                                        <p:tgtEl>
                                          <p:spTgt spid="38"/>
                                        </p:tgtEl>
                                      </p:cBhvr>
                                    </p:animEffect>
                                    <p:anim calcmode="lin" valueType="num">
                                      <p:cBhvr>
                                        <p:cTn id="16" dur="1000" fill="hold"/>
                                        <p:tgtEl>
                                          <p:spTgt spid="38"/>
                                        </p:tgtEl>
                                        <p:attrNameLst>
                                          <p:attrName>ppt_x</p:attrName>
                                        </p:attrNameLst>
                                      </p:cBhvr>
                                      <p:tavLst>
                                        <p:tav tm="0">
                                          <p:val>
                                            <p:strVal val="#ppt_x"/>
                                          </p:val>
                                        </p:tav>
                                        <p:tav tm="100000">
                                          <p:val>
                                            <p:strVal val="#ppt_x"/>
                                          </p:val>
                                        </p:tav>
                                      </p:tavLst>
                                    </p:anim>
                                    <p:anim calcmode="lin" valueType="num">
                                      <p:cBhvr>
                                        <p:cTn id="17"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58043" y="863992"/>
            <a:ext cx="2000363" cy="60073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200" b="1" dirty="0">
                <a:solidFill>
                  <a:schemeClr val="tx1"/>
                </a:solidFill>
                <a:latin typeface="Arial" panose="020B0604020202020204" pitchFamily="34" charset="0"/>
                <a:cs typeface="Arial" panose="020B0604020202020204" pitchFamily="34" charset="0"/>
              </a:rPr>
              <a:t>EJERCICIO</a:t>
            </a:r>
          </a:p>
        </p:txBody>
      </p:sp>
      <p:sp>
        <p:nvSpPr>
          <p:cNvPr id="9" name="5 Marcador de contenido">
            <a:extLst>
              <a:ext uri="{FF2B5EF4-FFF2-40B4-BE49-F238E27FC236}">
                <a16:creationId xmlns:a16="http://schemas.microsoft.com/office/drawing/2014/main" xmlns="" id="{67CFDEB4-D5F1-4E4F-89FF-F4BC5725D89F}"/>
              </a:ext>
            </a:extLst>
          </p:cNvPr>
          <p:cNvSpPr txBox="1">
            <a:spLocks/>
          </p:cNvSpPr>
          <p:nvPr/>
        </p:nvSpPr>
        <p:spPr>
          <a:xfrm>
            <a:off x="632520" y="1844825"/>
            <a:ext cx="8229600" cy="1368152"/>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None/>
            </a:pPr>
            <a:r>
              <a:rPr lang="es-ES" sz="1800" dirty="0">
                <a:solidFill>
                  <a:schemeClr val="tx1"/>
                </a:solidFill>
              </a:rPr>
              <a:t>En presencia de hielo una columna líquida de mercurio alcanza 2,0 cm de altura y en presencia de vapor de agua alcanza 6,0 cm. Determinar: a) la ecuación termométrica en la escala °C y b) la temperatura de un cuerpo para el cual la columna líquida mide 3,5 cm.</a:t>
            </a:r>
            <a:endParaRPr lang="es-PE" sz="1800" dirty="0">
              <a:solidFill>
                <a:schemeClr val="tx1"/>
              </a:solidFill>
            </a:endParaRPr>
          </a:p>
          <a:p>
            <a:endParaRPr lang="es-PE" dirty="0"/>
          </a:p>
        </p:txBody>
      </p:sp>
      <p:pic>
        <p:nvPicPr>
          <p:cNvPr id="10" name="Picture 2">
            <a:extLst>
              <a:ext uri="{FF2B5EF4-FFF2-40B4-BE49-F238E27FC236}">
                <a16:creationId xmlns:a16="http://schemas.microsoft.com/office/drawing/2014/main" xmlns="" id="{04A97DA1-88C3-44DA-AEC5-C8A4CEBF883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6000"/>
                    </a14:imgEffect>
                  </a14:imgLayer>
                </a14:imgProps>
              </a:ext>
              <a:ext uri="{28A0092B-C50C-407E-A947-70E740481C1C}">
                <a14:useLocalDpi xmlns:a14="http://schemas.microsoft.com/office/drawing/2010/main" val="0"/>
              </a:ext>
            </a:extLst>
          </a:blip>
          <a:srcRect/>
          <a:stretch>
            <a:fillRect/>
          </a:stretch>
        </p:blipFill>
        <p:spPr bwMode="auto">
          <a:xfrm>
            <a:off x="762693" y="3302926"/>
            <a:ext cx="17907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770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84648" y="954706"/>
            <a:ext cx="4032448" cy="53007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DILATACIÓN LINEAL</a:t>
            </a:r>
          </a:p>
        </p:txBody>
      </p:sp>
      <p:graphicFrame>
        <p:nvGraphicFramePr>
          <p:cNvPr id="16" name="Object 8">
            <a:extLst>
              <a:ext uri="{FF2B5EF4-FFF2-40B4-BE49-F238E27FC236}">
                <a16:creationId xmlns:a16="http://schemas.microsoft.com/office/drawing/2014/main" xmlns="" id="{18708E5F-A929-41DD-A79C-09ED52478E0D}"/>
              </a:ext>
            </a:extLst>
          </p:cNvPr>
          <p:cNvGraphicFramePr>
            <a:graphicFrameLocks noChangeAspect="1"/>
          </p:cNvGraphicFramePr>
          <p:nvPr>
            <p:extLst>
              <p:ext uri="{D42A27DB-BD31-4B8C-83A1-F6EECF244321}">
                <p14:modId xmlns:p14="http://schemas.microsoft.com/office/powerpoint/2010/main" val="3665538873"/>
              </p:ext>
            </p:extLst>
          </p:nvPr>
        </p:nvGraphicFramePr>
        <p:xfrm>
          <a:off x="3655690" y="1830935"/>
          <a:ext cx="241300" cy="52388"/>
        </p:xfrm>
        <a:graphic>
          <a:graphicData uri="http://schemas.openxmlformats.org/presentationml/2006/ole">
            <mc:AlternateContent xmlns:mc="http://schemas.openxmlformats.org/markup-compatibility/2006">
              <mc:Choice xmlns:v="urn:schemas-microsoft-com:vml" Requires="v">
                <p:oleObj spid="_x0000_s9313" name="Equation" r:id="rId4" imgW="114102" imgH="177492" progId="Equation.DSMT4">
                  <p:embed/>
                </p:oleObj>
              </mc:Choice>
              <mc:Fallback>
                <p:oleObj name="Equation" r:id="rId4" imgW="114102" imgH="177492" progId="Equation.DSMT4">
                  <p:embed/>
                  <p:pic>
                    <p:nvPicPr>
                      <p:cNvPr id="2355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5690" y="1830935"/>
                        <a:ext cx="241300" cy="5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3" name="Group 46">
            <a:extLst>
              <a:ext uri="{FF2B5EF4-FFF2-40B4-BE49-F238E27FC236}">
                <a16:creationId xmlns:a16="http://schemas.microsoft.com/office/drawing/2014/main" xmlns="" id="{176618E5-B367-44AD-B96D-5F967CEAC73D}"/>
              </a:ext>
            </a:extLst>
          </p:cNvPr>
          <p:cNvGrpSpPr>
            <a:grpSpLocks/>
          </p:cNvGrpSpPr>
          <p:nvPr/>
        </p:nvGrpSpPr>
        <p:grpSpPr bwMode="auto">
          <a:xfrm>
            <a:off x="3090292" y="1718613"/>
            <a:ext cx="3581400" cy="2173288"/>
            <a:chOff x="3312" y="1680"/>
            <a:chExt cx="2256" cy="1369"/>
          </a:xfrm>
        </p:grpSpPr>
        <p:sp>
          <p:nvSpPr>
            <p:cNvPr id="34" name="Rectangle 35">
              <a:extLst>
                <a:ext uri="{FF2B5EF4-FFF2-40B4-BE49-F238E27FC236}">
                  <a16:creationId xmlns:a16="http://schemas.microsoft.com/office/drawing/2014/main" xmlns="" id="{FB3A9652-8692-484B-925F-743DC38175A0}"/>
                </a:ext>
              </a:extLst>
            </p:cNvPr>
            <p:cNvSpPr>
              <a:spLocks noChangeArrowheads="1"/>
            </p:cNvSpPr>
            <p:nvPr/>
          </p:nvSpPr>
          <p:spPr bwMode="auto">
            <a:xfrm>
              <a:off x="3312" y="2231"/>
              <a:ext cx="116" cy="291"/>
            </a:xfrm>
            <a:prstGeom prst="rect">
              <a:avLst/>
            </a:prstGeom>
            <a:solidFill>
              <a:srgbClr val="CCFFCC"/>
            </a:solidFill>
            <a:ln w="9525">
              <a:solidFill>
                <a:srgbClr val="000000"/>
              </a:solidFill>
              <a:miter lim="800000"/>
              <a:headEnd/>
              <a:tailEnd/>
            </a:ln>
            <a:effectLst>
              <a:outerShdw dist="107763" dir="2700000" algn="ctr" rotWithShape="0">
                <a:schemeClr val="bg2"/>
              </a:outerShdw>
            </a:effectLst>
          </p:spPr>
          <p:txBody>
            <a:bodyPr wrap="none" tIns="91440" bIns="91440" anchor="ctr">
              <a:spAutoFit/>
            </a:bodyPr>
            <a:lstStyle/>
            <a:p>
              <a:endParaRPr lang="es-ES">
                <a:latin typeface="Times New Roman" pitchFamily="18" charset="0"/>
                <a:cs typeface="Times New Roman" pitchFamily="18" charset="0"/>
              </a:endParaRPr>
            </a:p>
          </p:txBody>
        </p:sp>
        <p:sp>
          <p:nvSpPr>
            <p:cNvPr id="35" name="Rectangle 9">
              <a:extLst>
                <a:ext uri="{FF2B5EF4-FFF2-40B4-BE49-F238E27FC236}">
                  <a16:creationId xmlns:a16="http://schemas.microsoft.com/office/drawing/2014/main" xmlns="" id="{9A2D50EC-5673-4AE0-99B8-A956303BC7F9}"/>
                </a:ext>
              </a:extLst>
            </p:cNvPr>
            <p:cNvSpPr>
              <a:spLocks noChangeArrowheads="1"/>
            </p:cNvSpPr>
            <p:nvPr/>
          </p:nvSpPr>
          <p:spPr bwMode="auto">
            <a:xfrm>
              <a:off x="3685" y="2014"/>
              <a:ext cx="1296" cy="119"/>
            </a:xfrm>
            <a:prstGeom prst="rect">
              <a:avLst/>
            </a:prstGeom>
            <a:solidFill>
              <a:srgbClr val="CC99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36" name="Rectangle 10">
              <a:extLst>
                <a:ext uri="{FF2B5EF4-FFF2-40B4-BE49-F238E27FC236}">
                  <a16:creationId xmlns:a16="http://schemas.microsoft.com/office/drawing/2014/main" xmlns="" id="{833DB236-62C9-4304-9207-9BDBB6DF5E3D}"/>
                </a:ext>
              </a:extLst>
            </p:cNvPr>
            <p:cNvSpPr>
              <a:spLocks noChangeArrowheads="1"/>
            </p:cNvSpPr>
            <p:nvPr/>
          </p:nvSpPr>
          <p:spPr bwMode="auto">
            <a:xfrm>
              <a:off x="3685" y="2403"/>
              <a:ext cx="1661" cy="120"/>
            </a:xfrm>
            <a:prstGeom prst="rect">
              <a:avLst/>
            </a:prstGeom>
            <a:solidFill>
              <a:srgbClr val="CC99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grpSp>
          <p:nvGrpSpPr>
            <p:cNvPr id="37" name="Group 11">
              <a:extLst>
                <a:ext uri="{FF2B5EF4-FFF2-40B4-BE49-F238E27FC236}">
                  <a16:creationId xmlns:a16="http://schemas.microsoft.com/office/drawing/2014/main" xmlns="" id="{005A958E-11C7-4BD9-AC43-EFD40DBEA8A6}"/>
                </a:ext>
              </a:extLst>
            </p:cNvPr>
            <p:cNvGrpSpPr>
              <a:grpSpLocks/>
            </p:cNvGrpSpPr>
            <p:nvPr/>
          </p:nvGrpSpPr>
          <p:grpSpPr bwMode="auto">
            <a:xfrm>
              <a:off x="3800" y="2585"/>
              <a:ext cx="207" cy="464"/>
              <a:chOff x="3878" y="3740"/>
              <a:chExt cx="462" cy="824"/>
            </a:xfrm>
          </p:grpSpPr>
          <p:sp>
            <p:nvSpPr>
              <p:cNvPr id="62" name="Oval 12">
                <a:extLst>
                  <a:ext uri="{FF2B5EF4-FFF2-40B4-BE49-F238E27FC236}">
                    <a16:creationId xmlns:a16="http://schemas.microsoft.com/office/drawing/2014/main" xmlns="" id="{DC0537E2-B05E-470D-88AD-AAB900140BAD}"/>
                  </a:ext>
                </a:extLst>
              </p:cNvPr>
              <p:cNvSpPr>
                <a:spLocks noChangeArrowheads="1"/>
              </p:cNvSpPr>
              <p:nvPr/>
            </p:nvSpPr>
            <p:spPr bwMode="auto">
              <a:xfrm>
                <a:off x="3878" y="4410"/>
                <a:ext cx="462" cy="112"/>
              </a:xfrm>
              <a:prstGeom prst="ellipse">
                <a:avLst/>
              </a:prstGeom>
              <a:solidFill>
                <a:srgbClr val="99CC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sp>
            <p:nvSpPr>
              <p:cNvPr id="63" name="Rectangle 13">
                <a:extLst>
                  <a:ext uri="{FF2B5EF4-FFF2-40B4-BE49-F238E27FC236}">
                    <a16:creationId xmlns:a16="http://schemas.microsoft.com/office/drawing/2014/main" xmlns="" id="{909A7B70-DA6A-45D6-9A4A-6B4BF53620A3}"/>
                  </a:ext>
                </a:extLst>
              </p:cNvPr>
              <p:cNvSpPr>
                <a:spLocks noChangeArrowheads="1"/>
              </p:cNvSpPr>
              <p:nvPr/>
            </p:nvSpPr>
            <p:spPr bwMode="auto">
              <a:xfrm>
                <a:off x="4060" y="3990"/>
                <a:ext cx="112" cy="420"/>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64" name="Rectangle 14">
                <a:extLst>
                  <a:ext uri="{FF2B5EF4-FFF2-40B4-BE49-F238E27FC236}">
                    <a16:creationId xmlns:a16="http://schemas.microsoft.com/office/drawing/2014/main" xmlns="" id="{E87223C7-08FC-4740-B754-14636A47239C}"/>
                  </a:ext>
                </a:extLst>
              </p:cNvPr>
              <p:cNvSpPr>
                <a:spLocks noChangeArrowheads="1"/>
              </p:cNvSpPr>
              <p:nvPr/>
            </p:nvSpPr>
            <p:spPr bwMode="auto">
              <a:xfrm>
                <a:off x="3878" y="4480"/>
                <a:ext cx="462" cy="84"/>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65" name="Freeform 15">
                <a:extLst>
                  <a:ext uri="{FF2B5EF4-FFF2-40B4-BE49-F238E27FC236}">
                    <a16:creationId xmlns:a16="http://schemas.microsoft.com/office/drawing/2014/main" xmlns="" id="{E9805C8C-6DA3-4700-A851-C08A6FAD633D}"/>
                  </a:ext>
                </a:extLst>
              </p:cNvPr>
              <p:cNvSpPr>
                <a:spLocks/>
              </p:cNvSpPr>
              <p:nvPr/>
            </p:nvSpPr>
            <p:spPr bwMode="auto">
              <a:xfrm>
                <a:off x="4015" y="3740"/>
                <a:ext cx="185" cy="271"/>
              </a:xfrm>
              <a:custGeom>
                <a:avLst/>
                <a:gdLst>
                  <a:gd name="T0" fmla="*/ 82 w 185"/>
                  <a:gd name="T1" fmla="*/ 271 h 271"/>
                  <a:gd name="T2" fmla="*/ 48 w 185"/>
                  <a:gd name="T3" fmla="*/ 117 h 271"/>
                  <a:gd name="T4" fmla="*/ 99 w 185"/>
                  <a:gd name="T5" fmla="*/ 100 h 271"/>
                  <a:gd name="T6" fmla="*/ 185 w 185"/>
                  <a:gd name="T7" fmla="*/ 83 h 271"/>
                  <a:gd name="T8" fmla="*/ 168 w 185"/>
                  <a:gd name="T9" fmla="*/ 203 h 271"/>
                  <a:gd name="T10" fmla="*/ 116 w 185"/>
                  <a:gd name="T11" fmla="*/ 237 h 271"/>
                  <a:gd name="T12" fmla="*/ 82 w 185"/>
                  <a:gd name="T13" fmla="*/ 271 h 271"/>
                  <a:gd name="T14" fmla="*/ 0 60000 65536"/>
                  <a:gd name="T15" fmla="*/ 0 60000 65536"/>
                  <a:gd name="T16" fmla="*/ 0 60000 65536"/>
                  <a:gd name="T17" fmla="*/ 0 60000 65536"/>
                  <a:gd name="T18" fmla="*/ 0 60000 65536"/>
                  <a:gd name="T19" fmla="*/ 0 60000 65536"/>
                  <a:gd name="T20" fmla="*/ 0 60000 65536"/>
                  <a:gd name="T21" fmla="*/ 0 w 185"/>
                  <a:gd name="T22" fmla="*/ 0 h 271"/>
                  <a:gd name="T23" fmla="*/ 185 w 185"/>
                  <a:gd name="T24" fmla="*/ 271 h 2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271">
                    <a:moveTo>
                      <a:pt x="82" y="271"/>
                    </a:moveTo>
                    <a:cubicBezTo>
                      <a:pt x="56" y="233"/>
                      <a:pt x="0" y="165"/>
                      <a:pt x="48" y="117"/>
                    </a:cubicBezTo>
                    <a:cubicBezTo>
                      <a:pt x="61" y="104"/>
                      <a:pt x="82" y="106"/>
                      <a:pt x="99" y="100"/>
                    </a:cubicBezTo>
                    <a:cubicBezTo>
                      <a:pt x="181" y="18"/>
                      <a:pt x="158" y="0"/>
                      <a:pt x="185" y="83"/>
                    </a:cubicBezTo>
                    <a:cubicBezTo>
                      <a:pt x="179" y="123"/>
                      <a:pt x="185" y="166"/>
                      <a:pt x="168" y="203"/>
                    </a:cubicBezTo>
                    <a:cubicBezTo>
                      <a:pt x="160" y="222"/>
                      <a:pt x="132" y="224"/>
                      <a:pt x="116" y="237"/>
                    </a:cubicBezTo>
                    <a:cubicBezTo>
                      <a:pt x="103" y="247"/>
                      <a:pt x="93" y="260"/>
                      <a:pt x="82" y="271"/>
                    </a:cubicBezTo>
                    <a:close/>
                  </a:path>
                </a:pathLst>
              </a:custGeom>
              <a:solidFill>
                <a:srgbClr val="FFFF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grpSp>
        <p:grpSp>
          <p:nvGrpSpPr>
            <p:cNvPr id="38" name="Group 16">
              <a:extLst>
                <a:ext uri="{FF2B5EF4-FFF2-40B4-BE49-F238E27FC236}">
                  <a16:creationId xmlns:a16="http://schemas.microsoft.com/office/drawing/2014/main" xmlns="" id="{FAEBCE60-8E09-4D08-8AF1-64BC664FE605}"/>
                </a:ext>
              </a:extLst>
            </p:cNvPr>
            <p:cNvGrpSpPr>
              <a:grpSpLocks/>
            </p:cNvGrpSpPr>
            <p:nvPr/>
          </p:nvGrpSpPr>
          <p:grpSpPr bwMode="auto">
            <a:xfrm>
              <a:off x="4390" y="2585"/>
              <a:ext cx="208" cy="464"/>
              <a:chOff x="3878" y="3740"/>
              <a:chExt cx="462" cy="824"/>
            </a:xfrm>
          </p:grpSpPr>
          <p:sp>
            <p:nvSpPr>
              <p:cNvPr id="58" name="Oval 17">
                <a:extLst>
                  <a:ext uri="{FF2B5EF4-FFF2-40B4-BE49-F238E27FC236}">
                    <a16:creationId xmlns:a16="http://schemas.microsoft.com/office/drawing/2014/main" xmlns="" id="{406781D8-C429-4CB7-90F4-8D9A2FAEBEFD}"/>
                  </a:ext>
                </a:extLst>
              </p:cNvPr>
              <p:cNvSpPr>
                <a:spLocks noChangeArrowheads="1"/>
              </p:cNvSpPr>
              <p:nvPr/>
            </p:nvSpPr>
            <p:spPr bwMode="auto">
              <a:xfrm>
                <a:off x="3878" y="4410"/>
                <a:ext cx="462" cy="112"/>
              </a:xfrm>
              <a:prstGeom prst="ellipse">
                <a:avLst/>
              </a:prstGeom>
              <a:solidFill>
                <a:srgbClr val="99CC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sp>
            <p:nvSpPr>
              <p:cNvPr id="59" name="Rectangle 18">
                <a:extLst>
                  <a:ext uri="{FF2B5EF4-FFF2-40B4-BE49-F238E27FC236}">
                    <a16:creationId xmlns:a16="http://schemas.microsoft.com/office/drawing/2014/main" xmlns="" id="{C33EBE56-79E5-4F48-A029-E3AC42EEE31E}"/>
                  </a:ext>
                </a:extLst>
              </p:cNvPr>
              <p:cNvSpPr>
                <a:spLocks noChangeArrowheads="1"/>
              </p:cNvSpPr>
              <p:nvPr/>
            </p:nvSpPr>
            <p:spPr bwMode="auto">
              <a:xfrm>
                <a:off x="4060" y="3990"/>
                <a:ext cx="112" cy="420"/>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60" name="Rectangle 19">
                <a:extLst>
                  <a:ext uri="{FF2B5EF4-FFF2-40B4-BE49-F238E27FC236}">
                    <a16:creationId xmlns:a16="http://schemas.microsoft.com/office/drawing/2014/main" xmlns="" id="{03DFF84A-D994-4B73-A6D9-050C4408DF58}"/>
                  </a:ext>
                </a:extLst>
              </p:cNvPr>
              <p:cNvSpPr>
                <a:spLocks noChangeArrowheads="1"/>
              </p:cNvSpPr>
              <p:nvPr/>
            </p:nvSpPr>
            <p:spPr bwMode="auto">
              <a:xfrm>
                <a:off x="3878" y="4480"/>
                <a:ext cx="462" cy="84"/>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61" name="Freeform 20">
                <a:extLst>
                  <a:ext uri="{FF2B5EF4-FFF2-40B4-BE49-F238E27FC236}">
                    <a16:creationId xmlns:a16="http://schemas.microsoft.com/office/drawing/2014/main" xmlns="" id="{8B298E3E-49C1-4EAA-8D53-01D221A832EB}"/>
                  </a:ext>
                </a:extLst>
              </p:cNvPr>
              <p:cNvSpPr>
                <a:spLocks/>
              </p:cNvSpPr>
              <p:nvPr/>
            </p:nvSpPr>
            <p:spPr bwMode="auto">
              <a:xfrm>
                <a:off x="4015" y="3740"/>
                <a:ext cx="185" cy="271"/>
              </a:xfrm>
              <a:custGeom>
                <a:avLst/>
                <a:gdLst>
                  <a:gd name="T0" fmla="*/ 82 w 185"/>
                  <a:gd name="T1" fmla="*/ 271 h 271"/>
                  <a:gd name="T2" fmla="*/ 48 w 185"/>
                  <a:gd name="T3" fmla="*/ 117 h 271"/>
                  <a:gd name="T4" fmla="*/ 99 w 185"/>
                  <a:gd name="T5" fmla="*/ 100 h 271"/>
                  <a:gd name="T6" fmla="*/ 185 w 185"/>
                  <a:gd name="T7" fmla="*/ 83 h 271"/>
                  <a:gd name="T8" fmla="*/ 168 w 185"/>
                  <a:gd name="T9" fmla="*/ 203 h 271"/>
                  <a:gd name="T10" fmla="*/ 116 w 185"/>
                  <a:gd name="T11" fmla="*/ 237 h 271"/>
                  <a:gd name="T12" fmla="*/ 82 w 185"/>
                  <a:gd name="T13" fmla="*/ 271 h 271"/>
                  <a:gd name="T14" fmla="*/ 0 60000 65536"/>
                  <a:gd name="T15" fmla="*/ 0 60000 65536"/>
                  <a:gd name="T16" fmla="*/ 0 60000 65536"/>
                  <a:gd name="T17" fmla="*/ 0 60000 65536"/>
                  <a:gd name="T18" fmla="*/ 0 60000 65536"/>
                  <a:gd name="T19" fmla="*/ 0 60000 65536"/>
                  <a:gd name="T20" fmla="*/ 0 60000 65536"/>
                  <a:gd name="T21" fmla="*/ 0 w 185"/>
                  <a:gd name="T22" fmla="*/ 0 h 271"/>
                  <a:gd name="T23" fmla="*/ 185 w 185"/>
                  <a:gd name="T24" fmla="*/ 271 h 2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271">
                    <a:moveTo>
                      <a:pt x="82" y="271"/>
                    </a:moveTo>
                    <a:cubicBezTo>
                      <a:pt x="56" y="233"/>
                      <a:pt x="0" y="165"/>
                      <a:pt x="48" y="117"/>
                    </a:cubicBezTo>
                    <a:cubicBezTo>
                      <a:pt x="61" y="104"/>
                      <a:pt x="82" y="106"/>
                      <a:pt x="99" y="100"/>
                    </a:cubicBezTo>
                    <a:cubicBezTo>
                      <a:pt x="181" y="18"/>
                      <a:pt x="158" y="0"/>
                      <a:pt x="185" y="83"/>
                    </a:cubicBezTo>
                    <a:cubicBezTo>
                      <a:pt x="179" y="123"/>
                      <a:pt x="185" y="166"/>
                      <a:pt x="168" y="203"/>
                    </a:cubicBezTo>
                    <a:cubicBezTo>
                      <a:pt x="160" y="222"/>
                      <a:pt x="132" y="224"/>
                      <a:pt x="116" y="237"/>
                    </a:cubicBezTo>
                    <a:cubicBezTo>
                      <a:pt x="103" y="247"/>
                      <a:pt x="93" y="260"/>
                      <a:pt x="82" y="271"/>
                    </a:cubicBezTo>
                    <a:close/>
                  </a:path>
                </a:pathLst>
              </a:custGeom>
              <a:solidFill>
                <a:srgbClr val="FFFF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grpSp>
        <p:grpSp>
          <p:nvGrpSpPr>
            <p:cNvPr id="39" name="Group 21">
              <a:extLst>
                <a:ext uri="{FF2B5EF4-FFF2-40B4-BE49-F238E27FC236}">
                  <a16:creationId xmlns:a16="http://schemas.microsoft.com/office/drawing/2014/main" xmlns="" id="{EDEC34F2-E4D2-4F4B-A143-C958E538269A}"/>
                </a:ext>
              </a:extLst>
            </p:cNvPr>
            <p:cNvGrpSpPr>
              <a:grpSpLocks/>
            </p:cNvGrpSpPr>
            <p:nvPr/>
          </p:nvGrpSpPr>
          <p:grpSpPr bwMode="auto">
            <a:xfrm>
              <a:off x="4981" y="2585"/>
              <a:ext cx="208" cy="464"/>
              <a:chOff x="3878" y="3740"/>
              <a:chExt cx="462" cy="824"/>
            </a:xfrm>
          </p:grpSpPr>
          <p:sp>
            <p:nvSpPr>
              <p:cNvPr id="54" name="Oval 22">
                <a:extLst>
                  <a:ext uri="{FF2B5EF4-FFF2-40B4-BE49-F238E27FC236}">
                    <a16:creationId xmlns:a16="http://schemas.microsoft.com/office/drawing/2014/main" xmlns="" id="{D26FE889-03A7-4AA4-BA1D-D2BF318F7B32}"/>
                  </a:ext>
                </a:extLst>
              </p:cNvPr>
              <p:cNvSpPr>
                <a:spLocks noChangeArrowheads="1"/>
              </p:cNvSpPr>
              <p:nvPr/>
            </p:nvSpPr>
            <p:spPr bwMode="auto">
              <a:xfrm>
                <a:off x="3878" y="4410"/>
                <a:ext cx="462" cy="112"/>
              </a:xfrm>
              <a:prstGeom prst="ellipse">
                <a:avLst/>
              </a:prstGeom>
              <a:solidFill>
                <a:srgbClr val="99CC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sp>
            <p:nvSpPr>
              <p:cNvPr id="55" name="Rectangle 23">
                <a:extLst>
                  <a:ext uri="{FF2B5EF4-FFF2-40B4-BE49-F238E27FC236}">
                    <a16:creationId xmlns:a16="http://schemas.microsoft.com/office/drawing/2014/main" xmlns="" id="{6996972F-C90D-43EB-8BD6-02D0BD91209F}"/>
                  </a:ext>
                </a:extLst>
              </p:cNvPr>
              <p:cNvSpPr>
                <a:spLocks noChangeArrowheads="1"/>
              </p:cNvSpPr>
              <p:nvPr/>
            </p:nvSpPr>
            <p:spPr bwMode="auto">
              <a:xfrm>
                <a:off x="4060" y="3990"/>
                <a:ext cx="112" cy="420"/>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56" name="Rectangle 24">
                <a:extLst>
                  <a:ext uri="{FF2B5EF4-FFF2-40B4-BE49-F238E27FC236}">
                    <a16:creationId xmlns:a16="http://schemas.microsoft.com/office/drawing/2014/main" xmlns="" id="{9AACCBC6-DB5E-4ED9-AA26-9BF829BF9F04}"/>
                  </a:ext>
                </a:extLst>
              </p:cNvPr>
              <p:cNvSpPr>
                <a:spLocks noChangeArrowheads="1"/>
              </p:cNvSpPr>
              <p:nvPr/>
            </p:nvSpPr>
            <p:spPr bwMode="auto">
              <a:xfrm>
                <a:off x="3878" y="4480"/>
                <a:ext cx="462" cy="84"/>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57" name="Freeform 25">
                <a:extLst>
                  <a:ext uri="{FF2B5EF4-FFF2-40B4-BE49-F238E27FC236}">
                    <a16:creationId xmlns:a16="http://schemas.microsoft.com/office/drawing/2014/main" xmlns="" id="{5209ADB5-2C51-4C78-9C8C-D336A2255D6D}"/>
                  </a:ext>
                </a:extLst>
              </p:cNvPr>
              <p:cNvSpPr>
                <a:spLocks/>
              </p:cNvSpPr>
              <p:nvPr/>
            </p:nvSpPr>
            <p:spPr bwMode="auto">
              <a:xfrm>
                <a:off x="4015" y="3740"/>
                <a:ext cx="185" cy="271"/>
              </a:xfrm>
              <a:custGeom>
                <a:avLst/>
                <a:gdLst>
                  <a:gd name="T0" fmla="*/ 82 w 185"/>
                  <a:gd name="T1" fmla="*/ 271 h 271"/>
                  <a:gd name="T2" fmla="*/ 48 w 185"/>
                  <a:gd name="T3" fmla="*/ 117 h 271"/>
                  <a:gd name="T4" fmla="*/ 99 w 185"/>
                  <a:gd name="T5" fmla="*/ 100 h 271"/>
                  <a:gd name="T6" fmla="*/ 185 w 185"/>
                  <a:gd name="T7" fmla="*/ 83 h 271"/>
                  <a:gd name="T8" fmla="*/ 168 w 185"/>
                  <a:gd name="T9" fmla="*/ 203 h 271"/>
                  <a:gd name="T10" fmla="*/ 116 w 185"/>
                  <a:gd name="T11" fmla="*/ 237 h 271"/>
                  <a:gd name="T12" fmla="*/ 82 w 185"/>
                  <a:gd name="T13" fmla="*/ 271 h 271"/>
                  <a:gd name="T14" fmla="*/ 0 60000 65536"/>
                  <a:gd name="T15" fmla="*/ 0 60000 65536"/>
                  <a:gd name="T16" fmla="*/ 0 60000 65536"/>
                  <a:gd name="T17" fmla="*/ 0 60000 65536"/>
                  <a:gd name="T18" fmla="*/ 0 60000 65536"/>
                  <a:gd name="T19" fmla="*/ 0 60000 65536"/>
                  <a:gd name="T20" fmla="*/ 0 60000 65536"/>
                  <a:gd name="T21" fmla="*/ 0 w 185"/>
                  <a:gd name="T22" fmla="*/ 0 h 271"/>
                  <a:gd name="T23" fmla="*/ 185 w 185"/>
                  <a:gd name="T24" fmla="*/ 271 h 2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271">
                    <a:moveTo>
                      <a:pt x="82" y="271"/>
                    </a:moveTo>
                    <a:cubicBezTo>
                      <a:pt x="56" y="233"/>
                      <a:pt x="0" y="165"/>
                      <a:pt x="48" y="117"/>
                    </a:cubicBezTo>
                    <a:cubicBezTo>
                      <a:pt x="61" y="104"/>
                      <a:pt x="82" y="106"/>
                      <a:pt x="99" y="100"/>
                    </a:cubicBezTo>
                    <a:cubicBezTo>
                      <a:pt x="181" y="18"/>
                      <a:pt x="158" y="0"/>
                      <a:pt x="185" y="83"/>
                    </a:cubicBezTo>
                    <a:cubicBezTo>
                      <a:pt x="179" y="123"/>
                      <a:pt x="185" y="166"/>
                      <a:pt x="168" y="203"/>
                    </a:cubicBezTo>
                    <a:cubicBezTo>
                      <a:pt x="160" y="222"/>
                      <a:pt x="132" y="224"/>
                      <a:pt x="116" y="237"/>
                    </a:cubicBezTo>
                    <a:cubicBezTo>
                      <a:pt x="103" y="247"/>
                      <a:pt x="93" y="260"/>
                      <a:pt x="82" y="271"/>
                    </a:cubicBezTo>
                    <a:close/>
                  </a:path>
                </a:pathLst>
              </a:custGeom>
              <a:solidFill>
                <a:srgbClr val="FFFF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grpSp>
        <p:sp>
          <p:nvSpPr>
            <p:cNvPr id="40" name="Line 26">
              <a:extLst>
                <a:ext uri="{FF2B5EF4-FFF2-40B4-BE49-F238E27FC236}">
                  <a16:creationId xmlns:a16="http://schemas.microsoft.com/office/drawing/2014/main" xmlns="" id="{8B792B62-8B2D-48F5-A98F-1B436ED6F5DA}"/>
                </a:ext>
              </a:extLst>
            </p:cNvPr>
            <p:cNvSpPr>
              <a:spLocks noChangeShapeType="1"/>
            </p:cNvSpPr>
            <p:nvPr/>
          </p:nvSpPr>
          <p:spPr bwMode="auto">
            <a:xfrm flipV="1">
              <a:off x="4981" y="1815"/>
              <a:ext cx="0" cy="1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ES">
                <a:latin typeface="Times New Roman" pitchFamily="18" charset="0"/>
                <a:cs typeface="Times New Roman" pitchFamily="18" charset="0"/>
              </a:endParaRPr>
            </a:p>
          </p:txBody>
        </p:sp>
        <p:sp>
          <p:nvSpPr>
            <p:cNvPr id="41" name="Line 27">
              <a:extLst>
                <a:ext uri="{FF2B5EF4-FFF2-40B4-BE49-F238E27FC236}">
                  <a16:creationId xmlns:a16="http://schemas.microsoft.com/office/drawing/2014/main" xmlns="" id="{8BFA11C1-9DF6-4442-8A21-78B7227A40F3}"/>
                </a:ext>
              </a:extLst>
            </p:cNvPr>
            <p:cNvSpPr>
              <a:spLocks noChangeShapeType="1"/>
            </p:cNvSpPr>
            <p:nvPr/>
          </p:nvSpPr>
          <p:spPr bwMode="auto">
            <a:xfrm flipV="1">
              <a:off x="3692" y="1815"/>
              <a:ext cx="0" cy="1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ES">
                <a:latin typeface="Times New Roman" pitchFamily="18" charset="0"/>
                <a:cs typeface="Times New Roman" pitchFamily="18" charset="0"/>
              </a:endParaRPr>
            </a:p>
          </p:txBody>
        </p:sp>
        <p:sp>
          <p:nvSpPr>
            <p:cNvPr id="42" name="Line 28">
              <a:extLst>
                <a:ext uri="{FF2B5EF4-FFF2-40B4-BE49-F238E27FC236}">
                  <a16:creationId xmlns:a16="http://schemas.microsoft.com/office/drawing/2014/main" xmlns="" id="{EDEE4C92-CFEF-4275-A7F2-DCD957590633}"/>
                </a:ext>
              </a:extLst>
            </p:cNvPr>
            <p:cNvSpPr>
              <a:spLocks noChangeShapeType="1"/>
            </p:cNvSpPr>
            <p:nvPr/>
          </p:nvSpPr>
          <p:spPr bwMode="auto">
            <a:xfrm>
              <a:off x="3692" y="1927"/>
              <a:ext cx="0" cy="10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ES">
                <a:latin typeface="Times New Roman" pitchFamily="18" charset="0"/>
                <a:cs typeface="Times New Roman" pitchFamily="18" charset="0"/>
              </a:endParaRPr>
            </a:p>
          </p:txBody>
        </p:sp>
        <p:sp>
          <p:nvSpPr>
            <p:cNvPr id="43" name="Line 33">
              <a:extLst>
                <a:ext uri="{FF2B5EF4-FFF2-40B4-BE49-F238E27FC236}">
                  <a16:creationId xmlns:a16="http://schemas.microsoft.com/office/drawing/2014/main" xmlns="" id="{8F9367A0-AE4D-4132-B11D-4CA6F9317A58}"/>
                </a:ext>
              </a:extLst>
            </p:cNvPr>
            <p:cNvSpPr>
              <a:spLocks noChangeShapeType="1"/>
            </p:cNvSpPr>
            <p:nvPr/>
          </p:nvSpPr>
          <p:spPr bwMode="auto">
            <a:xfrm flipV="1">
              <a:off x="5346" y="1823"/>
              <a:ext cx="0" cy="6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ES">
                <a:latin typeface="Times New Roman" pitchFamily="18" charset="0"/>
                <a:cs typeface="Times New Roman" pitchFamily="18" charset="0"/>
              </a:endParaRPr>
            </a:p>
          </p:txBody>
        </p:sp>
        <p:sp>
          <p:nvSpPr>
            <p:cNvPr id="44" name="Line 34">
              <a:extLst>
                <a:ext uri="{FF2B5EF4-FFF2-40B4-BE49-F238E27FC236}">
                  <a16:creationId xmlns:a16="http://schemas.microsoft.com/office/drawing/2014/main" xmlns="" id="{41432EFC-DAB8-4FBA-BB11-0F9B10A4FD3D}"/>
                </a:ext>
              </a:extLst>
            </p:cNvPr>
            <p:cNvSpPr>
              <a:spLocks noChangeShapeType="1"/>
            </p:cNvSpPr>
            <p:nvPr/>
          </p:nvSpPr>
          <p:spPr bwMode="auto">
            <a:xfrm flipH="1">
              <a:off x="5346" y="1895"/>
              <a:ext cx="22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ES">
                <a:latin typeface="Times New Roman" pitchFamily="18" charset="0"/>
                <a:cs typeface="Times New Roman" pitchFamily="18" charset="0"/>
              </a:endParaRPr>
            </a:p>
          </p:txBody>
        </p:sp>
        <p:sp>
          <p:nvSpPr>
            <p:cNvPr id="45" name="Text Box 37">
              <a:extLst>
                <a:ext uri="{FF2B5EF4-FFF2-40B4-BE49-F238E27FC236}">
                  <a16:creationId xmlns:a16="http://schemas.microsoft.com/office/drawing/2014/main" xmlns="" id="{CCB40626-87F2-43DF-9FF1-AB47DBAF94BE}"/>
                </a:ext>
              </a:extLst>
            </p:cNvPr>
            <p:cNvSpPr txBox="1">
              <a:spLocks noChangeArrowheads="1"/>
            </p:cNvSpPr>
            <p:nvPr/>
          </p:nvSpPr>
          <p:spPr bwMode="auto">
            <a:xfrm>
              <a:off x="4224" y="2083"/>
              <a:ext cx="2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sz="2400">
                  <a:solidFill>
                    <a:srgbClr val="000000"/>
                  </a:solidFill>
                  <a:latin typeface="Times New Roman" pitchFamily="18" charset="0"/>
                  <a:cs typeface="Times New Roman" pitchFamily="18" charset="0"/>
                </a:rPr>
                <a:t>L</a:t>
              </a:r>
              <a:endParaRPr lang="es-MX">
                <a:latin typeface="Times New Roman" pitchFamily="18" charset="0"/>
                <a:cs typeface="Times New Roman" pitchFamily="18" charset="0"/>
              </a:endParaRPr>
            </a:p>
          </p:txBody>
        </p:sp>
        <p:sp>
          <p:nvSpPr>
            <p:cNvPr id="46" name="Line 38">
              <a:extLst>
                <a:ext uri="{FF2B5EF4-FFF2-40B4-BE49-F238E27FC236}">
                  <a16:creationId xmlns:a16="http://schemas.microsoft.com/office/drawing/2014/main" xmlns="" id="{23BB583A-FE84-4FFB-8774-7FBDA3C5F7DD}"/>
                </a:ext>
              </a:extLst>
            </p:cNvPr>
            <p:cNvSpPr>
              <a:spLocks noChangeShapeType="1"/>
            </p:cNvSpPr>
            <p:nvPr/>
          </p:nvSpPr>
          <p:spPr bwMode="auto">
            <a:xfrm flipH="1">
              <a:off x="3696" y="2256"/>
              <a:ext cx="52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tIns="91440" bIns="91440" anchor="ctr">
              <a:spAutoFit/>
            </a:bodyPr>
            <a:lstStyle/>
            <a:p>
              <a:endParaRPr lang="es-ES">
                <a:latin typeface="Times New Roman" pitchFamily="18" charset="0"/>
                <a:cs typeface="Times New Roman" pitchFamily="18" charset="0"/>
              </a:endParaRPr>
            </a:p>
          </p:txBody>
        </p:sp>
        <p:sp>
          <p:nvSpPr>
            <p:cNvPr id="47" name="Line 39">
              <a:extLst>
                <a:ext uri="{FF2B5EF4-FFF2-40B4-BE49-F238E27FC236}">
                  <a16:creationId xmlns:a16="http://schemas.microsoft.com/office/drawing/2014/main" xmlns="" id="{60C9E01C-7091-4E16-A158-727660BDB749}"/>
                </a:ext>
              </a:extLst>
            </p:cNvPr>
            <p:cNvSpPr>
              <a:spLocks noChangeShapeType="1"/>
            </p:cNvSpPr>
            <p:nvPr/>
          </p:nvSpPr>
          <p:spPr bwMode="auto">
            <a:xfrm>
              <a:off x="4512" y="2256"/>
              <a:ext cx="81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tIns="91440" bIns="91440" anchor="ctr">
              <a:spAutoFit/>
            </a:bodyPr>
            <a:lstStyle/>
            <a:p>
              <a:endParaRPr lang="es-ES">
                <a:latin typeface="Times New Roman" pitchFamily="18" charset="0"/>
                <a:cs typeface="Times New Roman" pitchFamily="18" charset="0"/>
              </a:endParaRPr>
            </a:p>
          </p:txBody>
        </p:sp>
        <p:sp>
          <p:nvSpPr>
            <p:cNvPr id="48" name="Line 40">
              <a:extLst>
                <a:ext uri="{FF2B5EF4-FFF2-40B4-BE49-F238E27FC236}">
                  <a16:creationId xmlns:a16="http://schemas.microsoft.com/office/drawing/2014/main" xmlns="" id="{A1786926-1FF8-4684-827B-22B3275DB758}"/>
                </a:ext>
              </a:extLst>
            </p:cNvPr>
            <p:cNvSpPr>
              <a:spLocks noChangeShapeType="1"/>
            </p:cNvSpPr>
            <p:nvPr/>
          </p:nvSpPr>
          <p:spPr bwMode="auto">
            <a:xfrm flipH="1">
              <a:off x="3696" y="1920"/>
              <a:ext cx="43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tIns="91440" bIns="91440" anchor="ctr">
              <a:spAutoFit/>
            </a:bodyPr>
            <a:lstStyle/>
            <a:p>
              <a:endParaRPr lang="es-ES">
                <a:latin typeface="Times New Roman" pitchFamily="18" charset="0"/>
                <a:cs typeface="Times New Roman" pitchFamily="18" charset="0"/>
              </a:endParaRPr>
            </a:p>
          </p:txBody>
        </p:sp>
        <p:sp>
          <p:nvSpPr>
            <p:cNvPr id="49" name="Line 41">
              <a:extLst>
                <a:ext uri="{FF2B5EF4-FFF2-40B4-BE49-F238E27FC236}">
                  <a16:creationId xmlns:a16="http://schemas.microsoft.com/office/drawing/2014/main" xmlns="" id="{AB4BFFFE-5045-493B-B46B-FD0F1D35E124}"/>
                </a:ext>
              </a:extLst>
            </p:cNvPr>
            <p:cNvSpPr>
              <a:spLocks noChangeShapeType="1"/>
            </p:cNvSpPr>
            <p:nvPr/>
          </p:nvSpPr>
          <p:spPr bwMode="auto">
            <a:xfrm>
              <a:off x="4512" y="1920"/>
              <a:ext cx="43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tIns="91440" bIns="91440" anchor="ctr">
              <a:spAutoFit/>
            </a:bodyPr>
            <a:lstStyle/>
            <a:p>
              <a:endParaRPr lang="es-ES">
                <a:latin typeface="Times New Roman" pitchFamily="18" charset="0"/>
                <a:cs typeface="Times New Roman" pitchFamily="18" charset="0"/>
              </a:endParaRPr>
            </a:p>
          </p:txBody>
        </p:sp>
        <p:sp>
          <p:nvSpPr>
            <p:cNvPr id="50" name="Text Box 42">
              <a:extLst>
                <a:ext uri="{FF2B5EF4-FFF2-40B4-BE49-F238E27FC236}">
                  <a16:creationId xmlns:a16="http://schemas.microsoft.com/office/drawing/2014/main" xmlns="" id="{3AEDE12B-DD69-4214-835C-E2D09116773A}"/>
                </a:ext>
              </a:extLst>
            </p:cNvPr>
            <p:cNvSpPr txBox="1">
              <a:spLocks noChangeArrowheads="1"/>
            </p:cNvSpPr>
            <p:nvPr/>
          </p:nvSpPr>
          <p:spPr bwMode="auto">
            <a:xfrm>
              <a:off x="4176" y="1680"/>
              <a:ext cx="3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sz="2400">
                  <a:solidFill>
                    <a:srgbClr val="000000"/>
                  </a:solidFill>
                  <a:latin typeface="Times New Roman" pitchFamily="18" charset="0"/>
                  <a:cs typeface="Times New Roman" pitchFamily="18" charset="0"/>
                </a:rPr>
                <a:t>L</a:t>
              </a:r>
              <a:r>
                <a:rPr lang="es-MX" sz="2400" baseline="-25000">
                  <a:solidFill>
                    <a:srgbClr val="000000"/>
                  </a:solidFill>
                  <a:latin typeface="Times New Roman" pitchFamily="18" charset="0"/>
                  <a:cs typeface="Times New Roman" pitchFamily="18" charset="0"/>
                </a:rPr>
                <a:t>o</a:t>
              </a:r>
              <a:endParaRPr lang="es-MX">
                <a:latin typeface="Times New Roman" pitchFamily="18" charset="0"/>
                <a:cs typeface="Times New Roman" pitchFamily="18" charset="0"/>
              </a:endParaRPr>
            </a:p>
          </p:txBody>
        </p:sp>
        <p:sp>
          <p:nvSpPr>
            <p:cNvPr id="51" name="Text Box 43">
              <a:extLst>
                <a:ext uri="{FF2B5EF4-FFF2-40B4-BE49-F238E27FC236}">
                  <a16:creationId xmlns:a16="http://schemas.microsoft.com/office/drawing/2014/main" xmlns="" id="{44D93E35-7E48-4694-A3D1-6E79F9D97DD8}"/>
                </a:ext>
              </a:extLst>
            </p:cNvPr>
            <p:cNvSpPr txBox="1">
              <a:spLocks noChangeArrowheads="1"/>
            </p:cNvSpPr>
            <p:nvPr/>
          </p:nvSpPr>
          <p:spPr bwMode="auto">
            <a:xfrm>
              <a:off x="4944" y="1728"/>
              <a:ext cx="43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sz="2400">
                  <a:solidFill>
                    <a:srgbClr val="000000"/>
                  </a:solidFill>
                  <a:latin typeface="Times New Roman" pitchFamily="18" charset="0"/>
                  <a:cs typeface="Times New Roman" pitchFamily="18" charset="0"/>
                  <a:sym typeface="Symbol" pitchFamily="18" charset="2"/>
                </a:rPr>
                <a:t></a:t>
              </a:r>
              <a:r>
                <a:rPr lang="es-MX" sz="2400">
                  <a:solidFill>
                    <a:srgbClr val="000000"/>
                  </a:solidFill>
                  <a:latin typeface="Times New Roman" pitchFamily="18" charset="0"/>
                  <a:cs typeface="Times New Roman" pitchFamily="18" charset="0"/>
                </a:rPr>
                <a:t>L</a:t>
              </a:r>
              <a:endParaRPr lang="es-MX">
                <a:latin typeface="Times New Roman" pitchFamily="18" charset="0"/>
                <a:cs typeface="Times New Roman" pitchFamily="18" charset="0"/>
              </a:endParaRPr>
            </a:p>
          </p:txBody>
        </p:sp>
        <p:sp>
          <p:nvSpPr>
            <p:cNvPr id="52" name="Text Box 44">
              <a:extLst>
                <a:ext uri="{FF2B5EF4-FFF2-40B4-BE49-F238E27FC236}">
                  <a16:creationId xmlns:a16="http://schemas.microsoft.com/office/drawing/2014/main" xmlns="" id="{E9628DA1-0B00-48BA-A54F-81947333282A}"/>
                </a:ext>
              </a:extLst>
            </p:cNvPr>
            <p:cNvSpPr txBox="1">
              <a:spLocks noChangeArrowheads="1"/>
            </p:cNvSpPr>
            <p:nvPr/>
          </p:nvSpPr>
          <p:spPr bwMode="auto">
            <a:xfrm>
              <a:off x="3360" y="1871"/>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t</a:t>
              </a:r>
              <a:r>
                <a:rPr lang="es-MX" i="1" baseline="-25000">
                  <a:solidFill>
                    <a:srgbClr val="000000"/>
                  </a:solidFill>
                  <a:latin typeface="Times New Roman" pitchFamily="18" charset="0"/>
                  <a:cs typeface="Times New Roman" pitchFamily="18" charset="0"/>
                </a:rPr>
                <a:t>o</a:t>
              </a:r>
              <a:endParaRPr lang="es-MX" i="1">
                <a:latin typeface="Times New Roman" pitchFamily="18" charset="0"/>
                <a:cs typeface="Times New Roman" pitchFamily="18" charset="0"/>
              </a:endParaRPr>
            </a:p>
          </p:txBody>
        </p:sp>
        <p:sp>
          <p:nvSpPr>
            <p:cNvPr id="53" name="Text Box 45">
              <a:extLst>
                <a:ext uri="{FF2B5EF4-FFF2-40B4-BE49-F238E27FC236}">
                  <a16:creationId xmlns:a16="http://schemas.microsoft.com/office/drawing/2014/main" xmlns="" id="{E7EFBE7F-AFA0-489C-AAF6-78AE1193E608}"/>
                </a:ext>
              </a:extLst>
            </p:cNvPr>
            <p:cNvSpPr txBox="1">
              <a:spLocks noChangeArrowheads="1"/>
            </p:cNvSpPr>
            <p:nvPr/>
          </p:nvSpPr>
          <p:spPr bwMode="auto">
            <a:xfrm>
              <a:off x="3360" y="2303"/>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t</a:t>
              </a:r>
              <a:endParaRPr lang="es-MX" i="1">
                <a:latin typeface="Times New Roman" pitchFamily="18" charset="0"/>
                <a:cs typeface="Times New Roman" pitchFamily="18" charset="0"/>
              </a:endParaRPr>
            </a:p>
          </p:txBody>
        </p:sp>
      </p:grpSp>
      <p:graphicFrame>
        <p:nvGraphicFramePr>
          <p:cNvPr id="66" name="Object 2">
            <a:extLst>
              <a:ext uri="{FF2B5EF4-FFF2-40B4-BE49-F238E27FC236}">
                <a16:creationId xmlns:a16="http://schemas.microsoft.com/office/drawing/2014/main" xmlns="" id="{24C8C7D9-F9E0-438D-A634-73FB721F72FE}"/>
              </a:ext>
            </a:extLst>
          </p:cNvPr>
          <p:cNvGraphicFramePr>
            <a:graphicFrameLocks noChangeAspect="1"/>
          </p:cNvGraphicFramePr>
          <p:nvPr>
            <p:extLst>
              <p:ext uri="{D42A27DB-BD31-4B8C-83A1-F6EECF244321}">
                <p14:modId xmlns:p14="http://schemas.microsoft.com/office/powerpoint/2010/main" val="841012839"/>
              </p:ext>
            </p:extLst>
          </p:nvPr>
        </p:nvGraphicFramePr>
        <p:xfrm>
          <a:off x="478765" y="1839863"/>
          <a:ext cx="1977694" cy="604738"/>
        </p:xfrm>
        <a:graphic>
          <a:graphicData uri="http://schemas.openxmlformats.org/presentationml/2006/ole">
            <mc:AlternateContent xmlns:mc="http://schemas.openxmlformats.org/markup-compatibility/2006">
              <mc:Choice xmlns:v="urn:schemas-microsoft-com:vml" Requires="v">
                <p:oleObj spid="_x0000_s9314" name="Equation" r:id="rId6" imgW="749300" imgH="228600" progId="">
                  <p:embed/>
                </p:oleObj>
              </mc:Choice>
              <mc:Fallback>
                <p:oleObj name="Equation" r:id="rId6" imgW="749300" imgH="228600" progId="">
                  <p:embed/>
                  <p:pic>
                    <p:nvPicPr>
                      <p:cNvPr id="37"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765" y="1839863"/>
                        <a:ext cx="1977694" cy="604738"/>
                      </a:xfrm>
                      <a:prstGeom prst="rect">
                        <a:avLst/>
                      </a:prstGeom>
                      <a:solidFill>
                        <a:schemeClr val="tx2">
                          <a:lumMod val="60000"/>
                          <a:lumOff val="40000"/>
                        </a:schemeClr>
                      </a:solidFill>
                      <a:ln w="9525">
                        <a:solidFill>
                          <a:srgbClr val="000000"/>
                        </a:solidFill>
                        <a:miter lim="800000"/>
                        <a:headEnd/>
                        <a:tailEnd/>
                      </a:ln>
                      <a:effectLst>
                        <a:outerShdw dist="107763" dir="2700000" algn="ctr" rotWithShape="0">
                          <a:schemeClr val="bg2"/>
                        </a:outerShdw>
                      </a:effectLst>
                    </p:spPr>
                  </p:pic>
                </p:oleObj>
              </mc:Fallback>
            </mc:AlternateContent>
          </a:graphicData>
        </a:graphic>
      </p:graphicFrame>
      <p:graphicFrame>
        <p:nvGraphicFramePr>
          <p:cNvPr id="67" name="Object 3">
            <a:extLst>
              <a:ext uri="{FF2B5EF4-FFF2-40B4-BE49-F238E27FC236}">
                <a16:creationId xmlns:a16="http://schemas.microsoft.com/office/drawing/2014/main" xmlns="" id="{E7DAE277-511E-40A8-A3DD-958F5B6F91DC}"/>
              </a:ext>
            </a:extLst>
          </p:cNvPr>
          <p:cNvGraphicFramePr>
            <a:graphicFrameLocks noChangeAspect="1"/>
          </p:cNvGraphicFramePr>
          <p:nvPr>
            <p:extLst>
              <p:ext uri="{D42A27DB-BD31-4B8C-83A1-F6EECF244321}">
                <p14:modId xmlns:p14="http://schemas.microsoft.com/office/powerpoint/2010/main" val="1652407158"/>
              </p:ext>
            </p:extLst>
          </p:nvPr>
        </p:nvGraphicFramePr>
        <p:xfrm>
          <a:off x="534852" y="2657548"/>
          <a:ext cx="1952699" cy="987475"/>
        </p:xfrm>
        <a:graphic>
          <a:graphicData uri="http://schemas.openxmlformats.org/presentationml/2006/ole">
            <mc:AlternateContent xmlns:mc="http://schemas.openxmlformats.org/markup-compatibility/2006">
              <mc:Choice xmlns:v="urn:schemas-microsoft-com:vml" Requires="v">
                <p:oleObj spid="_x0000_s9315" name="Equation" r:id="rId8" imgW="596900" imgH="431800" progId="">
                  <p:embed/>
                </p:oleObj>
              </mc:Choice>
              <mc:Fallback>
                <p:oleObj name="Equation" r:id="rId8" imgW="596900" imgH="431800" progId="">
                  <p:embed/>
                  <p:pic>
                    <p:nvPicPr>
                      <p:cNvPr id="38"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852" y="2657548"/>
                        <a:ext cx="1952699" cy="987475"/>
                      </a:xfrm>
                      <a:prstGeom prst="rect">
                        <a:avLst/>
                      </a:prstGeom>
                      <a:solidFill>
                        <a:schemeClr val="tx2">
                          <a:lumMod val="60000"/>
                          <a:lumOff val="40000"/>
                        </a:schemeClr>
                      </a:solidFill>
                      <a:ln w="9525">
                        <a:solidFill>
                          <a:srgbClr val="000000"/>
                        </a:solidFill>
                        <a:miter lim="800000"/>
                        <a:headEnd/>
                        <a:tailEnd/>
                      </a:ln>
                      <a:effectLst>
                        <a:outerShdw dist="107763" dir="2700000" algn="ctr" rotWithShape="0">
                          <a:schemeClr val="bg2"/>
                        </a:outerShdw>
                      </a:effectLst>
                    </p:spPr>
                  </p:pic>
                </p:oleObj>
              </mc:Fallback>
            </mc:AlternateContent>
          </a:graphicData>
        </a:graphic>
      </p:graphicFrame>
      <p:pic>
        <p:nvPicPr>
          <p:cNvPr id="4" name="Imagen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30060" y="1043738"/>
            <a:ext cx="2333209" cy="5398134"/>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8" name="Grupo 7"/>
          <p:cNvGrpSpPr/>
          <p:nvPr/>
        </p:nvGrpSpPr>
        <p:grpSpPr>
          <a:xfrm>
            <a:off x="366924" y="3854355"/>
            <a:ext cx="3093775" cy="2681890"/>
            <a:chOff x="366924" y="3854355"/>
            <a:chExt cx="3093775" cy="2681890"/>
          </a:xfrm>
        </p:grpSpPr>
        <p:pic>
          <p:nvPicPr>
            <p:cNvPr id="5" name="Imagen 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8765" y="4228053"/>
              <a:ext cx="2981934" cy="2308192"/>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
          <p:nvSpPr>
            <p:cNvPr id="7" name="CuadroTexto 6"/>
            <p:cNvSpPr txBox="1"/>
            <p:nvPr/>
          </p:nvSpPr>
          <p:spPr>
            <a:xfrm>
              <a:off x="366924" y="3854355"/>
              <a:ext cx="2457772" cy="369332"/>
            </a:xfrm>
            <a:prstGeom prst="rect">
              <a:avLst/>
            </a:prstGeom>
            <a:noFill/>
          </p:spPr>
          <p:txBody>
            <a:bodyPr wrap="square" rtlCol="0">
              <a:spAutoFit/>
            </a:bodyPr>
            <a:lstStyle/>
            <a:p>
              <a:r>
                <a:rPr lang="es-PE" dirty="0" smtClean="0"/>
                <a:t>Tabla 11.1</a:t>
              </a:r>
              <a:endParaRPr lang="es-PE" dirty="0"/>
            </a:p>
          </p:txBody>
        </p:sp>
      </p:grpSp>
    </p:spTree>
    <p:extLst>
      <p:ext uri="{BB962C8B-B14F-4D97-AF65-F5344CB8AC3E}">
        <p14:creationId xmlns:p14="http://schemas.microsoft.com/office/powerpoint/2010/main" val="397390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trips(downRigh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 calcmode="lin" valueType="num">
                                      <p:cBhvr additive="base">
                                        <p:cTn id="12" dur="500" fill="hold"/>
                                        <p:tgtEl>
                                          <p:spTgt spid="66"/>
                                        </p:tgtEl>
                                        <p:attrNameLst>
                                          <p:attrName>ppt_x</p:attrName>
                                        </p:attrNameLst>
                                      </p:cBhvr>
                                      <p:tavLst>
                                        <p:tav tm="0">
                                          <p:val>
                                            <p:strVal val="0-#ppt_w/2"/>
                                          </p:val>
                                        </p:tav>
                                        <p:tav tm="100000">
                                          <p:val>
                                            <p:strVal val="#ppt_x"/>
                                          </p:val>
                                        </p:tav>
                                      </p:tavLst>
                                    </p:anim>
                                    <p:anim calcmode="lin" valueType="num">
                                      <p:cBhvr additive="base">
                                        <p:cTn id="13" dur="500" fill="hold"/>
                                        <p:tgtEl>
                                          <p:spTgt spid="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Jungle Menu Command.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67"/>
                                        </p:tgtEl>
                                        <p:attrNameLst>
                                          <p:attrName>style.visibility</p:attrName>
                                        </p:attrNameLst>
                                      </p:cBhvr>
                                      <p:to>
                                        <p:strVal val="visible"/>
                                      </p:to>
                                    </p:set>
                                    <p:anim calcmode="lin" valueType="num">
                                      <p:cBhvr additive="base">
                                        <p:cTn id="18" dur="500" fill="hold"/>
                                        <p:tgtEl>
                                          <p:spTgt spid="67"/>
                                        </p:tgtEl>
                                        <p:attrNameLst>
                                          <p:attrName>ppt_x</p:attrName>
                                        </p:attrNameLst>
                                      </p:cBhvr>
                                      <p:tavLst>
                                        <p:tav tm="0">
                                          <p:val>
                                            <p:strVal val="0-#ppt_w/2"/>
                                          </p:val>
                                        </p:tav>
                                        <p:tav tm="100000">
                                          <p:val>
                                            <p:strVal val="#ppt_x"/>
                                          </p:val>
                                        </p:tav>
                                      </p:tavLst>
                                    </p:anim>
                                    <p:anim calcmode="lin" valueType="num">
                                      <p:cBhvr additive="base">
                                        <p:cTn id="19" dur="500" fill="hold"/>
                                        <p:tgtEl>
                                          <p:spTgt spid="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Jungle Menu Command.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2479084"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EJERCICIO</a:t>
            </a:r>
          </a:p>
        </p:txBody>
      </p:sp>
      <mc:AlternateContent xmlns:mc="http://schemas.openxmlformats.org/markup-compatibility/2006">
        <mc:Choice xmlns:a14="http://schemas.microsoft.com/office/drawing/2010/main" Requires="a14">
          <p:sp>
            <p:nvSpPr>
              <p:cNvPr id="3" name="Rectángulo 2"/>
              <p:cNvSpPr/>
              <p:nvPr/>
            </p:nvSpPr>
            <p:spPr>
              <a:xfrm>
                <a:off x="403674" y="1766413"/>
                <a:ext cx="8869806" cy="1842812"/>
              </a:xfrm>
              <a:prstGeom prst="rect">
                <a:avLst/>
              </a:prstGeom>
            </p:spPr>
            <p:txBody>
              <a:bodyPr wrap="square">
                <a:spAutoFit/>
              </a:bodyPr>
              <a:lstStyle/>
              <a:p>
                <a:pPr marL="342900" indent="-342900" algn="just">
                  <a:buFont typeface="+mj-lt"/>
                  <a:buAutoNum type="arabicPeriod"/>
                </a:pPr>
                <a:r>
                  <a:rPr lang="es-PE" sz="1600" dirty="0" smtClean="0">
                    <a:latin typeface="Arial" panose="020B0604020202020204" pitchFamily="34" charset="0"/>
                    <a:cs typeface="Arial" panose="020B0604020202020204" pitchFamily="34" charset="0"/>
                  </a:rPr>
                  <a:t>En la figura </a:t>
                </a:r>
                <a:r>
                  <a:rPr lang="es-PE" sz="1600" dirty="0">
                    <a:latin typeface="Arial" panose="020B0604020202020204" pitchFamily="34" charset="0"/>
                    <a:cs typeface="Arial" panose="020B0604020202020204" pitchFamily="34" charset="0"/>
                  </a:rPr>
                  <a:t>se observa una sección transversal de un grifo de protección diseñado para prevenir </a:t>
                </a:r>
                <a:r>
                  <a:rPr lang="es-PE" sz="1600" dirty="0" smtClean="0">
                    <a:latin typeface="Arial" panose="020B0604020202020204" pitchFamily="34" charset="0"/>
                    <a:cs typeface="Arial" panose="020B0604020202020204" pitchFamily="34" charset="0"/>
                  </a:rPr>
                  <a:t>accidentes por quemadura. </a:t>
                </a:r>
                <a:r>
                  <a:rPr lang="es-PE" sz="1600" dirty="0">
                    <a:latin typeface="Arial" panose="020B0604020202020204" pitchFamily="34" charset="0"/>
                    <a:cs typeface="Arial" panose="020B0604020202020204" pitchFamily="34" charset="0"/>
                  </a:rPr>
                  <a:t>Dentro del dispositivo, un resorte de material con un alto coeficiente de expansión térmica controla un émbolo móvil. Cuando la temperatura del agua sube por encima de un valor seguro preestablecido, la expansión del resorte hace que el émbolo </a:t>
                </a:r>
                <a:r>
                  <a:rPr lang="es-PE" sz="1600" dirty="0" smtClean="0">
                    <a:latin typeface="Arial" panose="020B0604020202020204" pitchFamily="34" charset="0"/>
                    <a:cs typeface="Arial" panose="020B0604020202020204" pitchFamily="34" charset="0"/>
                  </a:rPr>
                  <a:t>suba para </a:t>
                </a:r>
                <a:r>
                  <a:rPr lang="es-PE" sz="1600" dirty="0">
                    <a:latin typeface="Arial" panose="020B0604020202020204" pitchFamily="34" charset="0"/>
                    <a:cs typeface="Arial" panose="020B0604020202020204" pitchFamily="34" charset="0"/>
                  </a:rPr>
                  <a:t>cerrar el flujo de agua. </a:t>
                </a:r>
                <a:r>
                  <a:rPr lang="es-PE" sz="1600" dirty="0" smtClean="0">
                    <a:latin typeface="Arial" panose="020B0604020202020204" pitchFamily="34" charset="0"/>
                    <a:cs typeface="Arial" panose="020B0604020202020204" pitchFamily="34" charset="0"/>
                  </a:rPr>
                  <a:t>Si </a:t>
                </a:r>
                <a:r>
                  <a:rPr lang="es-PE" sz="1600" dirty="0">
                    <a:latin typeface="Arial" panose="020B0604020202020204" pitchFamily="34" charset="0"/>
                    <a:cs typeface="Arial" panose="020B0604020202020204" pitchFamily="34" charset="0"/>
                  </a:rPr>
                  <a:t>la longitud inicial L del resorte no tensado es de 2,40 cm y su coeficiente de expansión lineal es de </a:t>
                </a:r>
                <a14:m>
                  <m:oMath xmlns:m="http://schemas.openxmlformats.org/officeDocument/2006/math">
                    <m:r>
                      <a:rPr lang="es-PE" sz="1600" b="0" i="1" smtClean="0">
                        <a:latin typeface="Cambria Math" panose="02040503050406030204" pitchFamily="18" charset="0"/>
                      </a:rPr>
                      <m:t>22</m:t>
                    </m:r>
                    <m:r>
                      <a:rPr lang="es-PE" sz="1600" b="0" i="1" smtClean="0">
                        <a:latin typeface="Cambria Math" panose="02040503050406030204" pitchFamily="18" charset="0"/>
                        <a:ea typeface="Cambria Math" panose="02040503050406030204" pitchFamily="18" charset="0"/>
                      </a:rPr>
                      <m:t>×</m:t>
                    </m:r>
                    <m:sSup>
                      <m:sSupPr>
                        <m:ctrlPr>
                          <a:rPr lang="es-PE" sz="1600" b="0" i="1" smtClean="0">
                            <a:latin typeface="Cambria Math" panose="02040503050406030204" pitchFamily="18" charset="0"/>
                            <a:ea typeface="Cambria Math" panose="02040503050406030204" pitchFamily="18" charset="0"/>
                          </a:rPr>
                        </m:ctrlPr>
                      </m:sSupPr>
                      <m:e>
                        <m:r>
                          <a:rPr lang="es-PE" sz="1600" b="0" i="1" smtClean="0">
                            <a:latin typeface="Cambria Math" panose="02040503050406030204" pitchFamily="18" charset="0"/>
                            <a:ea typeface="Cambria Math" panose="02040503050406030204" pitchFamily="18" charset="0"/>
                          </a:rPr>
                          <m:t>10</m:t>
                        </m:r>
                      </m:e>
                      <m:sup>
                        <m:r>
                          <a:rPr lang="es-PE" sz="1600" b="0" i="1" smtClean="0">
                            <a:latin typeface="Cambria Math" panose="02040503050406030204" pitchFamily="18" charset="0"/>
                            <a:ea typeface="Cambria Math" panose="02040503050406030204" pitchFamily="18" charset="0"/>
                          </a:rPr>
                          <m:t>−6</m:t>
                        </m:r>
                      </m:sup>
                    </m:sSup>
                    <m:sSup>
                      <m:sSupPr>
                        <m:ctrlPr>
                          <a:rPr lang="es-PE" sz="1600" b="0" i="1" smtClean="0">
                            <a:latin typeface="Cambria Math" panose="02040503050406030204" pitchFamily="18" charset="0"/>
                            <a:ea typeface="Cambria Math" panose="02040503050406030204" pitchFamily="18" charset="0"/>
                          </a:rPr>
                        </m:ctrlPr>
                      </m:sSupPr>
                      <m:e>
                        <m:r>
                          <m:rPr>
                            <m:nor/>
                          </m:rPr>
                          <a:rPr lang="es-ES" sz="1600" dirty="0">
                            <a:latin typeface="Arial" panose="020B0604020202020204" pitchFamily="34" charset="0"/>
                            <a:cs typeface="Arial" panose="020B0604020202020204" pitchFamily="34" charset="0"/>
                          </a:rPr>
                          <m:t>°</m:t>
                        </m:r>
                        <m:r>
                          <m:rPr>
                            <m:nor/>
                          </m:rPr>
                          <a:rPr lang="es-ES" sz="1600" dirty="0">
                            <a:latin typeface="Arial" panose="020B0604020202020204" pitchFamily="34" charset="0"/>
                            <a:cs typeface="Arial" panose="020B0604020202020204" pitchFamily="34" charset="0"/>
                          </a:rPr>
                          <m:t>C</m:t>
                        </m:r>
                      </m:e>
                      <m:sup>
                        <m:r>
                          <a:rPr lang="es-PE" sz="1600" b="0" i="1" smtClean="0">
                            <a:latin typeface="Cambria Math" panose="02040503050406030204" pitchFamily="18" charset="0"/>
                            <a:ea typeface="Cambria Math" panose="02040503050406030204" pitchFamily="18" charset="0"/>
                          </a:rPr>
                          <m:t>−1</m:t>
                        </m:r>
                      </m:sup>
                    </m:sSup>
                    <m:r>
                      <a:rPr lang="es-PE" sz="1600" b="0" i="1" smtClean="0">
                        <a:latin typeface="Cambria Math" panose="02040503050406030204" pitchFamily="18" charset="0"/>
                        <a:ea typeface="Cambria Math" panose="02040503050406030204" pitchFamily="18" charset="0"/>
                      </a:rPr>
                      <m:t> </m:t>
                    </m:r>
                  </m:oMath>
                </a14:m>
                <a:r>
                  <a:rPr lang="es-PE" sz="1600" dirty="0" smtClean="0">
                    <a:latin typeface="Arial" panose="020B0604020202020204" pitchFamily="34" charset="0"/>
                    <a:cs typeface="Arial" panose="020B0604020202020204" pitchFamily="34" charset="0"/>
                  </a:rPr>
                  <a:t>, </a:t>
                </a:r>
                <a:r>
                  <a:rPr lang="es-PE" sz="1600" dirty="0">
                    <a:latin typeface="Arial" panose="020B0604020202020204" pitchFamily="34" charset="0"/>
                    <a:cs typeface="Arial" panose="020B0604020202020204" pitchFamily="34" charset="0"/>
                  </a:rPr>
                  <a:t>determinar el aumento de la longitud del </a:t>
                </a:r>
                <a:r>
                  <a:rPr lang="es-PE" sz="1600" dirty="0" smtClean="0">
                    <a:latin typeface="Arial" panose="020B0604020202020204" pitchFamily="34" charset="0"/>
                    <a:cs typeface="Arial" panose="020B0604020202020204" pitchFamily="34" charset="0"/>
                  </a:rPr>
                  <a:t>resorte </a:t>
                </a:r>
                <a:r>
                  <a:rPr lang="es-PE" sz="1600" dirty="0">
                    <a:latin typeface="Arial" panose="020B0604020202020204" pitchFamily="34" charset="0"/>
                    <a:cs typeface="Arial" panose="020B0604020202020204" pitchFamily="34" charset="0"/>
                  </a:rPr>
                  <a:t>cuando la temperatura del agua sube en 30.0 </a:t>
                </a:r>
                <a:r>
                  <a:rPr lang="es-ES" sz="1600" dirty="0">
                    <a:latin typeface="Arial" panose="020B0604020202020204" pitchFamily="34" charset="0"/>
                    <a:cs typeface="Arial" panose="020B0604020202020204" pitchFamily="34" charset="0"/>
                  </a:rPr>
                  <a:t>°</a:t>
                </a:r>
                <a:r>
                  <a:rPr lang="es-ES" sz="1600" dirty="0" smtClean="0">
                    <a:latin typeface="Arial" panose="020B0604020202020204" pitchFamily="34" charset="0"/>
                    <a:cs typeface="Arial" panose="020B0604020202020204" pitchFamily="34" charset="0"/>
                  </a:rPr>
                  <a:t>C</a:t>
                </a:r>
                <a:r>
                  <a:rPr lang="es-PE" sz="1600" dirty="0" smtClean="0">
                    <a:latin typeface="Arial" panose="020B0604020202020204" pitchFamily="34" charset="0"/>
                    <a:cs typeface="Arial" panose="020B0604020202020204" pitchFamily="34" charset="0"/>
                  </a:rPr>
                  <a:t>. </a:t>
                </a:r>
                <a:endParaRPr lang="es-PE" sz="1600" dirty="0">
                  <a:latin typeface="Arial" panose="020B0604020202020204" pitchFamily="34" charset="0"/>
                  <a:cs typeface="Arial" panose="020B0604020202020204" pitchFamily="34" charset="0"/>
                </a:endParaRPr>
              </a:p>
            </p:txBody>
          </p:sp>
        </mc:Choice>
        <mc:Fallback>
          <p:sp>
            <p:nvSpPr>
              <p:cNvPr id="3" name="Rectángulo 2"/>
              <p:cNvSpPr>
                <a:spLocks noRot="1" noChangeAspect="1" noMove="1" noResize="1" noEditPoints="1" noAdjustHandles="1" noChangeArrowheads="1" noChangeShapeType="1" noTextEdit="1"/>
              </p:cNvSpPr>
              <p:nvPr/>
            </p:nvSpPr>
            <p:spPr>
              <a:xfrm>
                <a:off x="403674" y="1766413"/>
                <a:ext cx="8869806" cy="1842812"/>
              </a:xfrm>
              <a:prstGeom prst="rect">
                <a:avLst/>
              </a:prstGeom>
              <a:blipFill rotWithShape="0">
                <a:blip r:embed="rId2"/>
                <a:stretch>
                  <a:fillRect l="-275" t="-993" r="-412" b="-3642"/>
                </a:stretch>
              </a:blipFill>
            </p:spPr>
            <p:txBody>
              <a:bodyPr/>
              <a:lstStyle/>
              <a:p>
                <a:r>
                  <a:rPr lang="es-PE">
                    <a:noFill/>
                  </a:rPr>
                  <a:t> </a:t>
                </a:r>
              </a:p>
            </p:txBody>
          </p:sp>
        </mc:Fallback>
      </mc:AlternateContent>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446" y="3949009"/>
            <a:ext cx="1762371" cy="2333951"/>
          </a:xfrm>
          <a:prstGeom prst="rect">
            <a:avLst/>
          </a:prstGeom>
        </p:spPr>
      </p:pic>
    </p:spTree>
    <p:extLst>
      <p:ext uri="{BB962C8B-B14F-4D97-AF65-F5344CB8AC3E}">
        <p14:creationId xmlns:p14="http://schemas.microsoft.com/office/powerpoint/2010/main" val="925944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2479084"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EJERCICIO</a:t>
            </a:r>
          </a:p>
        </p:txBody>
      </p:sp>
      <p:sp>
        <p:nvSpPr>
          <p:cNvPr id="9" name="Rectángulo 8"/>
          <p:cNvSpPr/>
          <p:nvPr/>
        </p:nvSpPr>
        <p:spPr>
          <a:xfrm>
            <a:off x="399112" y="2060848"/>
            <a:ext cx="4896544" cy="2308324"/>
          </a:xfrm>
          <a:prstGeom prst="rect">
            <a:avLst/>
          </a:prstGeom>
        </p:spPr>
        <p:txBody>
          <a:bodyPr wrap="square">
            <a:spAutoFit/>
          </a:bodyPr>
          <a:lstStyle/>
          <a:p>
            <a:pPr marL="342900" indent="-342900" algn="just">
              <a:buFont typeface="+mj-lt"/>
              <a:buAutoNum type="arabicPeriod" startAt="2"/>
            </a:pPr>
            <a:r>
              <a:rPr lang="es-PE" sz="1600" dirty="0">
                <a:latin typeface="Arial" panose="020B0604020202020204" pitchFamily="34" charset="0"/>
                <a:cs typeface="Arial" panose="020B0604020202020204" pitchFamily="34" charset="0"/>
              </a:rPr>
              <a:t>Un dispositivo electrónico ha sido mal diseñado para que </a:t>
            </a:r>
            <a:r>
              <a:rPr lang="es-PE" sz="1600" dirty="0" smtClean="0">
                <a:latin typeface="Arial" panose="020B0604020202020204" pitchFamily="34" charset="0"/>
                <a:cs typeface="Arial" panose="020B0604020202020204" pitchFamily="34" charset="0"/>
              </a:rPr>
              <a:t>dos pernos unidos </a:t>
            </a:r>
            <a:r>
              <a:rPr lang="es-PE" sz="1600" dirty="0">
                <a:latin typeface="Arial" panose="020B0604020202020204" pitchFamily="34" charset="0"/>
                <a:cs typeface="Arial" panose="020B0604020202020204" pitchFamily="34" charset="0"/>
              </a:rPr>
              <a:t>a diferentes partes del dispositivo casi se tocan en su interior, como en la </a:t>
            </a:r>
            <a:r>
              <a:rPr lang="es-PE" sz="1600" dirty="0" smtClean="0">
                <a:latin typeface="Arial" panose="020B0604020202020204" pitchFamily="34" charset="0"/>
                <a:cs typeface="Arial" panose="020B0604020202020204" pitchFamily="34" charset="0"/>
              </a:rPr>
              <a:t>Figura. </a:t>
            </a:r>
            <a:r>
              <a:rPr lang="es-PE" sz="1600" dirty="0">
                <a:latin typeface="Arial" panose="020B0604020202020204" pitchFamily="34" charset="0"/>
                <a:cs typeface="Arial" panose="020B0604020202020204" pitchFamily="34" charset="0"/>
              </a:rPr>
              <a:t>Los pernos de acero y latón están </a:t>
            </a:r>
            <a:r>
              <a:rPr lang="es-PE" sz="1600" dirty="0" smtClean="0">
                <a:latin typeface="Arial" panose="020B0604020202020204" pitchFamily="34" charset="0"/>
                <a:cs typeface="Arial" panose="020B0604020202020204" pitchFamily="34" charset="0"/>
              </a:rPr>
              <a:t>a </a:t>
            </a:r>
            <a:r>
              <a:rPr lang="es-PE" sz="1600" dirty="0">
                <a:latin typeface="Arial" panose="020B0604020202020204" pitchFamily="34" charset="0"/>
                <a:cs typeface="Arial" panose="020B0604020202020204" pitchFamily="34" charset="0"/>
              </a:rPr>
              <a:t>diferentes potenciales eléctricos y si se tocan, </a:t>
            </a:r>
            <a:r>
              <a:rPr lang="es-PE" sz="1600" dirty="0" smtClean="0">
                <a:latin typeface="Arial" panose="020B0604020202020204" pitchFamily="34" charset="0"/>
                <a:cs typeface="Arial" panose="020B0604020202020204" pitchFamily="34" charset="0"/>
              </a:rPr>
              <a:t>producirá un cortocircuito, </a:t>
            </a:r>
            <a:r>
              <a:rPr lang="es-PE" sz="1600" dirty="0">
                <a:latin typeface="Arial" panose="020B0604020202020204" pitchFamily="34" charset="0"/>
                <a:cs typeface="Arial" panose="020B0604020202020204" pitchFamily="34" charset="0"/>
              </a:rPr>
              <a:t>dañando el dispositivo. </a:t>
            </a:r>
            <a:r>
              <a:rPr lang="es-PE" sz="1600" dirty="0" smtClean="0">
                <a:latin typeface="Arial" panose="020B0604020202020204" pitchFamily="34" charset="0"/>
                <a:cs typeface="Arial" panose="020B0604020202020204" pitchFamily="34" charset="0"/>
              </a:rPr>
              <a:t> </a:t>
            </a:r>
            <a:r>
              <a:rPr lang="es-PE" sz="1600" dirty="0">
                <a:latin typeface="Arial" panose="020B0604020202020204" pitchFamily="34" charset="0"/>
                <a:cs typeface="Arial" panose="020B0604020202020204" pitchFamily="34" charset="0"/>
              </a:rPr>
              <a:t>Si el espacio inicial entre los extremos de los tornillos es de 5,0 </a:t>
            </a:r>
            <a:r>
              <a:rPr lang="el-GR" sz="1600" dirty="0" smtClean="0">
                <a:latin typeface="Arial" panose="020B0604020202020204" pitchFamily="34" charset="0"/>
                <a:cs typeface="Arial" panose="020B0604020202020204" pitchFamily="34" charset="0"/>
              </a:rPr>
              <a:t>μ</a:t>
            </a:r>
            <a:r>
              <a:rPr lang="es-PE" sz="1600" dirty="0" smtClean="0">
                <a:latin typeface="Arial" panose="020B0604020202020204" pitchFamily="34" charset="0"/>
                <a:cs typeface="Arial" panose="020B0604020202020204" pitchFamily="34" charset="0"/>
              </a:rPr>
              <a:t>m </a:t>
            </a:r>
            <a:r>
              <a:rPr lang="es-PE" sz="1600" dirty="0">
                <a:latin typeface="Arial" panose="020B0604020202020204" pitchFamily="34" charset="0"/>
                <a:cs typeface="Arial" panose="020B0604020202020204" pitchFamily="34" charset="0"/>
              </a:rPr>
              <a:t>a 27 a </a:t>
            </a:r>
            <a:r>
              <a:rPr lang="es-ES" sz="1600" dirty="0">
                <a:latin typeface="Arial" panose="020B0604020202020204" pitchFamily="34" charset="0"/>
                <a:cs typeface="Arial" panose="020B0604020202020204" pitchFamily="34" charset="0"/>
              </a:rPr>
              <a:t>°C </a:t>
            </a:r>
            <a:r>
              <a:rPr lang="es-PE" sz="1600" dirty="0" smtClean="0">
                <a:latin typeface="Arial" panose="020B0604020202020204" pitchFamily="34" charset="0"/>
                <a:cs typeface="Arial" panose="020B0604020202020204" pitchFamily="34" charset="0"/>
              </a:rPr>
              <a:t>, </a:t>
            </a:r>
            <a:r>
              <a:rPr lang="es-PE" sz="1600" dirty="0">
                <a:latin typeface="Arial" panose="020B0604020202020204" pitchFamily="34" charset="0"/>
                <a:cs typeface="Arial" panose="020B0604020202020204" pitchFamily="34" charset="0"/>
              </a:rPr>
              <a:t>¿a qué temperatura tocarán los pernos?</a:t>
            </a:r>
          </a:p>
        </p:txBody>
      </p:sp>
      <p:pic>
        <p:nvPicPr>
          <p:cNvPr id="12" name="Imagen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196" y="4437112"/>
            <a:ext cx="3969956" cy="1647662"/>
          </a:xfrm>
          <a:prstGeom prst="rect">
            <a:avLst/>
          </a:prstGeom>
        </p:spPr>
      </p:pic>
      <p:sp>
        <p:nvSpPr>
          <p:cNvPr id="4" name="Rectángulo 3"/>
          <p:cNvSpPr/>
          <p:nvPr/>
        </p:nvSpPr>
        <p:spPr>
          <a:xfrm>
            <a:off x="5529065" y="2128788"/>
            <a:ext cx="4135636" cy="2062103"/>
          </a:xfrm>
          <a:prstGeom prst="rect">
            <a:avLst/>
          </a:prstGeom>
        </p:spPr>
        <p:txBody>
          <a:bodyPr wrap="square">
            <a:spAutoFit/>
          </a:bodyPr>
          <a:lstStyle/>
          <a:p>
            <a:pPr marL="342900" indent="-342900" algn="just">
              <a:buFont typeface="+mj-lt"/>
              <a:buAutoNum type="arabicPeriod" startAt="3"/>
            </a:pPr>
            <a:r>
              <a:rPr lang="es-PE" sz="1600" dirty="0">
                <a:latin typeface="Arial" panose="020B0604020202020204" pitchFamily="34" charset="0"/>
                <a:cs typeface="Arial" panose="020B0604020202020204" pitchFamily="34" charset="0"/>
              </a:rPr>
              <a:t>Dos </a:t>
            </a:r>
            <a:r>
              <a:rPr lang="es-PE" sz="1600" dirty="0" smtClean="0">
                <a:latin typeface="Arial" panose="020B0604020202020204" pitchFamily="34" charset="0"/>
                <a:cs typeface="Arial" panose="020B0604020202020204" pitchFamily="34" charset="0"/>
              </a:rPr>
              <a:t>bloques de concreto de </a:t>
            </a:r>
            <a:r>
              <a:rPr lang="es-PE" sz="1600" dirty="0">
                <a:latin typeface="Arial" panose="020B0604020202020204" pitchFamily="34" charset="0"/>
                <a:cs typeface="Arial" panose="020B0604020202020204" pitchFamily="34" charset="0"/>
              </a:rPr>
              <a:t>hormigón de un puente de 250 m de largo se colocan de extremo a extremo de modo que no se permite </a:t>
            </a:r>
            <a:r>
              <a:rPr lang="es-PE" sz="1600" dirty="0" smtClean="0">
                <a:latin typeface="Arial" panose="020B0604020202020204" pitchFamily="34" charset="0"/>
                <a:cs typeface="Arial" panose="020B0604020202020204" pitchFamily="34" charset="0"/>
              </a:rPr>
              <a:t>ningún espacio </a:t>
            </a:r>
            <a:r>
              <a:rPr lang="es-PE" sz="1600" dirty="0">
                <a:latin typeface="Arial" panose="020B0604020202020204" pitchFamily="34" charset="0"/>
                <a:cs typeface="Arial" panose="020B0604020202020204" pitchFamily="34" charset="0"/>
              </a:rPr>
              <a:t>para la </a:t>
            </a:r>
            <a:r>
              <a:rPr lang="es-PE" sz="1600" dirty="0" smtClean="0">
                <a:latin typeface="Arial" panose="020B0604020202020204" pitchFamily="34" charset="0"/>
                <a:cs typeface="Arial" panose="020B0604020202020204" pitchFamily="34" charset="0"/>
              </a:rPr>
              <a:t>expansión. </a:t>
            </a:r>
            <a:r>
              <a:rPr lang="es-PE" sz="1600" dirty="0">
                <a:latin typeface="Arial" panose="020B0604020202020204" pitchFamily="34" charset="0"/>
                <a:cs typeface="Arial" panose="020B0604020202020204" pitchFamily="34" charset="0"/>
              </a:rPr>
              <a:t>Si se produce un aumento de la temperatura de 20,0 </a:t>
            </a:r>
            <a:r>
              <a:rPr lang="es-ES" sz="1600" dirty="0">
                <a:latin typeface="Arial" panose="020B0604020202020204" pitchFamily="34" charset="0"/>
                <a:cs typeface="Arial" panose="020B0604020202020204" pitchFamily="34" charset="0"/>
              </a:rPr>
              <a:t>°</a:t>
            </a:r>
            <a:r>
              <a:rPr lang="es-ES" sz="1600" dirty="0" smtClean="0">
                <a:latin typeface="Arial" panose="020B0604020202020204" pitchFamily="34" charset="0"/>
                <a:cs typeface="Arial" panose="020B0604020202020204" pitchFamily="34" charset="0"/>
              </a:rPr>
              <a:t>C</a:t>
            </a:r>
            <a:r>
              <a:rPr lang="es-PE" sz="1600" dirty="0" smtClean="0">
                <a:latin typeface="Arial" panose="020B0604020202020204" pitchFamily="34" charset="0"/>
                <a:cs typeface="Arial" panose="020B0604020202020204" pitchFamily="34" charset="0"/>
              </a:rPr>
              <a:t>, </a:t>
            </a:r>
            <a:r>
              <a:rPr lang="es-PE" sz="1600" dirty="0">
                <a:latin typeface="Arial" panose="020B0604020202020204" pitchFamily="34" charset="0"/>
                <a:cs typeface="Arial" panose="020B0604020202020204" pitchFamily="34" charset="0"/>
              </a:rPr>
              <a:t>¿cuál es la altura y a la que se elevan </a:t>
            </a:r>
            <a:r>
              <a:rPr lang="es-PE" sz="1600" dirty="0" smtClean="0">
                <a:latin typeface="Arial" panose="020B0604020202020204" pitchFamily="34" charset="0"/>
                <a:cs typeface="Arial" panose="020B0604020202020204" pitchFamily="34" charset="0"/>
              </a:rPr>
              <a:t>los bloques </a:t>
            </a:r>
            <a:r>
              <a:rPr lang="es-PE" sz="1600" dirty="0">
                <a:latin typeface="Arial" panose="020B0604020202020204" pitchFamily="34" charset="0"/>
                <a:cs typeface="Arial" panose="020B0604020202020204" pitchFamily="34" charset="0"/>
              </a:rPr>
              <a:t>cuando se </a:t>
            </a:r>
            <a:r>
              <a:rPr lang="es-PE" sz="1600" dirty="0" smtClean="0">
                <a:latin typeface="Arial" panose="020B0604020202020204" pitchFamily="34" charset="0"/>
                <a:cs typeface="Arial" panose="020B0604020202020204" pitchFamily="34" charset="0"/>
              </a:rPr>
              <a:t>dilatan?</a:t>
            </a:r>
            <a:endParaRPr lang="es-PE" sz="1600" dirty="0">
              <a:latin typeface="Arial" panose="020B0604020202020204" pitchFamily="34" charset="0"/>
              <a:cs typeface="Arial" panose="020B0604020202020204" pitchFamily="34" charset="0"/>
            </a:endParaRPr>
          </a:p>
        </p:txBody>
      </p:sp>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5087" y="4869161"/>
            <a:ext cx="3919613" cy="872222"/>
          </a:xfrm>
          <a:prstGeom prst="rect">
            <a:avLst/>
          </a:prstGeom>
        </p:spPr>
      </p:pic>
    </p:spTree>
    <p:extLst>
      <p:ext uri="{BB962C8B-B14F-4D97-AF65-F5344CB8AC3E}">
        <p14:creationId xmlns:p14="http://schemas.microsoft.com/office/powerpoint/2010/main" val="2604695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856656" y="964921"/>
            <a:ext cx="3096344"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b="1" dirty="0">
                <a:solidFill>
                  <a:schemeClr val="tx1"/>
                </a:solidFill>
              </a:rPr>
              <a:t>ESFUERZO TÉRMICO</a:t>
            </a:r>
          </a:p>
        </p:txBody>
      </p:sp>
      <p:pic>
        <p:nvPicPr>
          <p:cNvPr id="11" name="Picture 19" descr="http://img.directindustry.com/images_di/photo-g/expansion-joints-bridges-38983-3474493.jpg">
            <a:extLst>
              <a:ext uri="{FF2B5EF4-FFF2-40B4-BE49-F238E27FC236}">
                <a16:creationId xmlns:a16="http://schemas.microsoft.com/office/drawing/2014/main" xmlns="" id="{3D9E0258-09BC-45B2-946A-407ACCD6A5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7550" y="4584677"/>
            <a:ext cx="2010652" cy="210836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xmlns="" id="{78E33686-22C4-4F5F-9530-25C07B303364}"/>
                  </a:ext>
                </a:extLst>
              </p:cNvPr>
              <p:cNvSpPr txBox="1"/>
              <p:nvPr/>
            </p:nvSpPr>
            <p:spPr>
              <a:xfrm>
                <a:off x="2033594" y="3643491"/>
                <a:ext cx="1045927" cy="567463"/>
              </a:xfrm>
              <a:prstGeom prst="rect">
                <a:avLst/>
              </a:prstGeom>
              <a:solidFill>
                <a:schemeClr val="tx2">
                  <a:lumMod val="60000"/>
                  <a:lumOff val="40000"/>
                </a:schemeClr>
              </a:solidFill>
              <a:ln>
                <a:solidFill>
                  <a:schemeClr val="tx2">
                    <a:lumMod val="60000"/>
                    <a:lumOff val="40000"/>
                  </a:schemeClr>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𝐿</m:t>
                          </m:r>
                        </m:num>
                        <m:den>
                          <m:sSub>
                            <m:sSubPr>
                              <m:ctrlPr>
                                <a:rPr lang="es-PE"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0</m:t>
                              </m:r>
                            </m:sub>
                          </m:sSub>
                        </m:den>
                      </m:f>
                      <m:r>
                        <a:rPr lang="es-PE" i="1" smtClean="0">
                          <a:latin typeface="Cambria Math" panose="02040503050406030204" pitchFamily="18" charset="0"/>
                        </a:rPr>
                        <m:t>=</m:t>
                      </m:r>
                      <m:r>
                        <a:rPr lang="es-PE" i="1" smtClean="0">
                          <a:latin typeface="Cambria Math" panose="02040503050406030204" pitchFamily="18" charset="0"/>
                          <a:ea typeface="Cambria Math" panose="02040503050406030204" pitchFamily="18" charset="0"/>
                        </a:rPr>
                        <m:t>𝛼</m:t>
                      </m:r>
                      <m:r>
                        <a:rPr lang="es-PE"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𝑇</m:t>
                      </m:r>
                    </m:oMath>
                  </m:oMathPara>
                </a14:m>
                <a:endParaRPr lang="es-PE" dirty="0"/>
              </a:p>
            </p:txBody>
          </p:sp>
        </mc:Choice>
        <mc:Fallback xmlns="">
          <p:sp>
            <p:nvSpPr>
              <p:cNvPr id="6" name="CuadroTexto 5">
                <a:extLst>
                  <a:ext uri="{FF2B5EF4-FFF2-40B4-BE49-F238E27FC236}">
                    <a16:creationId xmlns:a16="http://schemas.microsoft.com/office/drawing/2014/main" id="{78E33686-22C4-4F5F-9530-25C07B303364}"/>
                  </a:ext>
                </a:extLst>
              </p:cNvPr>
              <p:cNvSpPr txBox="1">
                <a:spLocks noRot="1" noChangeAspect="1" noMove="1" noResize="1" noEditPoints="1" noAdjustHandles="1" noChangeArrowheads="1" noChangeShapeType="1" noTextEdit="1"/>
              </p:cNvSpPr>
              <p:nvPr/>
            </p:nvSpPr>
            <p:spPr>
              <a:xfrm>
                <a:off x="2033594" y="3643491"/>
                <a:ext cx="1045927" cy="567463"/>
              </a:xfrm>
              <a:prstGeom prst="rect">
                <a:avLst/>
              </a:prstGeom>
              <a:blipFill>
                <a:blip r:embed="rId3"/>
                <a:stretch>
                  <a:fillRect/>
                </a:stretch>
              </a:blipFill>
              <a:ln>
                <a:solidFill>
                  <a:schemeClr val="tx2">
                    <a:lumMod val="60000"/>
                    <a:lumOff val="40000"/>
                  </a:schemeClr>
                </a:solidFill>
              </a:ln>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3" name="Rectángulo 12">
                <a:extLst>
                  <a:ext uri="{FF2B5EF4-FFF2-40B4-BE49-F238E27FC236}">
                    <a16:creationId xmlns:a16="http://schemas.microsoft.com/office/drawing/2014/main" xmlns="" id="{74DE9199-3F71-45AF-A095-A4E0D0A4F977}"/>
                  </a:ext>
                </a:extLst>
              </p:cNvPr>
              <p:cNvSpPr/>
              <p:nvPr/>
            </p:nvSpPr>
            <p:spPr>
              <a:xfrm>
                <a:off x="417082" y="1827609"/>
                <a:ext cx="4031862" cy="1815882"/>
              </a:xfrm>
              <a:prstGeom prst="rect">
                <a:avLst/>
              </a:prstGeom>
            </p:spPr>
            <p:txBody>
              <a:bodyPr wrap="square">
                <a:spAutoFit/>
              </a:bodyPr>
              <a:lstStyle/>
              <a:p>
                <a:pPr algn="just"/>
                <a:r>
                  <a:rPr lang="es-MX" sz="1600" dirty="0">
                    <a:latin typeface="Arial" panose="020B0604020202020204" pitchFamily="34" charset="0"/>
                    <a:cs typeface="Arial" panose="020B0604020202020204" pitchFamily="34" charset="0"/>
                  </a:rPr>
                  <a:t>Suponga que una varilla de longitud </a:t>
                </a:r>
                <a14:m>
                  <m:oMath xmlns:m="http://schemas.openxmlformats.org/officeDocument/2006/math">
                    <m:sSub>
                      <m:sSubPr>
                        <m:ctrlPr>
                          <a:rPr lang="es-PE" sz="1600" i="1">
                            <a:latin typeface="Cambria Math" panose="02040503050406030204" pitchFamily="18" charset="0"/>
                          </a:rPr>
                        </m:ctrlPr>
                      </m:sSubPr>
                      <m:e>
                        <m:r>
                          <a:rPr lang="es-MX" sz="1600" i="1">
                            <a:latin typeface="Cambria Math" panose="02040503050406030204" pitchFamily="18" charset="0"/>
                          </a:rPr>
                          <m:t>𝐿</m:t>
                        </m:r>
                      </m:e>
                      <m:sub>
                        <m:r>
                          <a:rPr lang="es-MX" sz="1600" i="1">
                            <a:latin typeface="Cambria Math" panose="02040503050406030204" pitchFamily="18" charset="0"/>
                          </a:rPr>
                          <m:t>0</m:t>
                        </m:r>
                      </m:sub>
                    </m:sSub>
                  </m:oMath>
                </a14:m>
                <a:r>
                  <a:rPr lang="es-MX" sz="1600" dirty="0">
                    <a:latin typeface="Arial" panose="020B0604020202020204" pitchFamily="34" charset="0"/>
                    <a:cs typeface="Arial" panose="020B0604020202020204" pitchFamily="34" charset="0"/>
                  </a:rPr>
                  <a:t> y área transversal </a:t>
                </a:r>
                <a:r>
                  <a:rPr lang="es-MX" sz="1600" i="1" dirty="0">
                    <a:latin typeface="Arial" panose="020B0604020202020204" pitchFamily="34" charset="0"/>
                    <a:cs typeface="Arial" panose="020B0604020202020204" pitchFamily="34" charset="0"/>
                  </a:rPr>
                  <a:t>A </a:t>
                </a:r>
                <a:r>
                  <a:rPr lang="es-MX" sz="1600" dirty="0">
                    <a:latin typeface="Arial" panose="020B0604020202020204" pitchFamily="34" charset="0"/>
                    <a:cs typeface="Arial" panose="020B0604020202020204" pitchFamily="34" charset="0"/>
                  </a:rPr>
                  <a:t>se mantiene con longitud constante, mientras se reduce la temperatura (</a:t>
                </a:r>
                <a14:m>
                  <m:oMath xmlns:m="http://schemas.openxmlformats.org/officeDocument/2006/math">
                    <m:r>
                      <a:rPr lang="es-PE"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𝑇</m:t>
                    </m:r>
                  </m:oMath>
                </a14:m>
                <a:r>
                  <a:rPr lang="es-MX" sz="1600" i="1" dirty="0">
                    <a:latin typeface="Arial" panose="020B0604020202020204" pitchFamily="34" charset="0"/>
                    <a:cs typeface="Arial" panose="020B0604020202020204" pitchFamily="34" charset="0"/>
                  </a:rPr>
                  <a:t> </a:t>
                </a:r>
                <a:r>
                  <a:rPr lang="es-MX" sz="1600" dirty="0">
                    <a:latin typeface="Arial" panose="020B0604020202020204" pitchFamily="34" charset="0"/>
                    <a:cs typeface="Arial" panose="020B0604020202020204" pitchFamily="34" charset="0"/>
                  </a:rPr>
                  <a:t>negativo), causando un esfuerzo de tensión. El cambio fraccionario de longitud si la varilla estuviera libre sería</a:t>
                </a:r>
                <a:endParaRPr lang="es-PE" sz="1600" dirty="0">
                  <a:latin typeface="Arial" panose="020B0604020202020204" pitchFamily="34" charset="0"/>
                  <a:cs typeface="Arial" panose="020B0604020202020204" pitchFamily="34" charset="0"/>
                </a:endParaRPr>
              </a:p>
            </p:txBody>
          </p:sp>
        </mc:Choice>
        <mc:Fallback xmlns="">
          <p:sp>
            <p:nvSpPr>
              <p:cNvPr id="13" name="Rectángulo 12">
                <a:extLst>
                  <a:ext uri="{FF2B5EF4-FFF2-40B4-BE49-F238E27FC236}">
                    <a16:creationId xmlns:a16="http://schemas.microsoft.com/office/drawing/2014/main" id="{74DE9199-3F71-45AF-A095-A4E0D0A4F977}"/>
                  </a:ext>
                </a:extLst>
              </p:cNvPr>
              <p:cNvSpPr>
                <a:spLocks noRot="1" noChangeAspect="1" noMove="1" noResize="1" noEditPoints="1" noAdjustHandles="1" noChangeArrowheads="1" noChangeShapeType="1" noTextEdit="1"/>
              </p:cNvSpPr>
              <p:nvPr/>
            </p:nvSpPr>
            <p:spPr>
              <a:xfrm>
                <a:off x="417082" y="1827609"/>
                <a:ext cx="4031862" cy="1815882"/>
              </a:xfrm>
              <a:prstGeom prst="rect">
                <a:avLst/>
              </a:prstGeom>
              <a:blipFill>
                <a:blip r:embed="rId4"/>
                <a:stretch>
                  <a:fillRect l="-755" t="-1007" r="-755" b="-3356"/>
                </a:stretch>
              </a:blipFill>
            </p:spPr>
            <p:txBody>
              <a:bodyPr/>
              <a:lstStyle/>
              <a:p>
                <a:r>
                  <a:rPr lang="es-PE">
                    <a:noFill/>
                  </a:rPr>
                  <a:t> </a:t>
                </a:r>
              </a:p>
            </p:txBody>
          </p:sp>
        </mc:Fallback>
      </mc:AlternateContent>
      <p:sp>
        <p:nvSpPr>
          <p:cNvPr id="14" name="CuadroTexto 13">
            <a:extLst>
              <a:ext uri="{FF2B5EF4-FFF2-40B4-BE49-F238E27FC236}">
                <a16:creationId xmlns:a16="http://schemas.microsoft.com/office/drawing/2014/main" xmlns="" id="{07178741-DFF4-456F-A7CC-F22A2261B599}"/>
              </a:ext>
            </a:extLst>
          </p:cNvPr>
          <p:cNvSpPr txBox="1"/>
          <p:nvPr/>
        </p:nvSpPr>
        <p:spPr>
          <a:xfrm>
            <a:off x="495803" y="4289894"/>
            <a:ext cx="3953141" cy="338554"/>
          </a:xfrm>
          <a:prstGeom prst="rect">
            <a:avLst/>
          </a:prstGeom>
          <a:noFill/>
        </p:spPr>
        <p:txBody>
          <a:bodyPr wrap="square" rtlCol="0">
            <a:spAutoFit/>
          </a:bodyPr>
          <a:lstStyle/>
          <a:p>
            <a:r>
              <a:rPr lang="es-MX" sz="1600" dirty="0">
                <a:latin typeface="Arial" panose="020B0604020202020204" pitchFamily="34" charset="0"/>
                <a:cs typeface="Arial" panose="020B0604020202020204" pitchFamily="34" charset="0"/>
              </a:rPr>
              <a:t>De la ecuación de elasticidad tenemos:</a:t>
            </a:r>
            <a:endParaRPr lang="es-PE" sz="1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7" name="Rectángulo 16">
                <a:extLst>
                  <a:ext uri="{FF2B5EF4-FFF2-40B4-BE49-F238E27FC236}">
                    <a16:creationId xmlns:a16="http://schemas.microsoft.com/office/drawing/2014/main" xmlns="" id="{D18F789E-9B00-4267-BABE-58693B1E437A}"/>
                  </a:ext>
                </a:extLst>
              </p:cNvPr>
              <p:cNvSpPr/>
              <p:nvPr/>
            </p:nvSpPr>
            <p:spPr>
              <a:xfrm>
                <a:off x="1989080" y="4703759"/>
                <a:ext cx="1092543" cy="659796"/>
              </a:xfrm>
              <a:prstGeom prst="rect">
                <a:avLst/>
              </a:prstGeom>
              <a:solidFill>
                <a:schemeClr val="tx2">
                  <a:lumMod val="60000"/>
                  <a:lumOff val="40000"/>
                </a:schemeClr>
              </a:solid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𝐿</m:t>
                          </m:r>
                        </m:num>
                        <m:den>
                          <m:sSub>
                            <m:sSubPr>
                              <m:ctrlPr>
                                <a:rPr lang="es-PE" i="1">
                                  <a:latin typeface="Cambria Math" panose="02040503050406030204" pitchFamily="18" charset="0"/>
                                </a:rPr>
                              </m:ctrlPr>
                            </m:sSubPr>
                            <m:e>
                              <m:r>
                                <a:rPr lang="es-MX" i="1">
                                  <a:latin typeface="Cambria Math" panose="02040503050406030204" pitchFamily="18" charset="0"/>
                                </a:rPr>
                                <m:t>𝐿</m:t>
                              </m:r>
                            </m:e>
                            <m:sub>
                              <m:r>
                                <a:rPr lang="es-MX" i="1">
                                  <a:latin typeface="Cambria Math" panose="02040503050406030204" pitchFamily="18" charset="0"/>
                                </a:rPr>
                                <m:t>0</m:t>
                              </m:r>
                            </m:sub>
                          </m:sSub>
                        </m:den>
                      </m:f>
                      <m:r>
                        <a:rPr lang="es-PE" i="1">
                          <a:latin typeface="Cambria Math" panose="02040503050406030204" pitchFamily="18" charset="0"/>
                        </a:rPr>
                        <m:t>=</m:t>
                      </m:r>
                      <m:f>
                        <m:fPr>
                          <m:ctrlPr>
                            <a:rPr lang="es-PE" i="1" smtClean="0">
                              <a:latin typeface="Cambria Math" panose="02040503050406030204" pitchFamily="18" charset="0"/>
                            </a:rPr>
                          </m:ctrlPr>
                        </m:fPr>
                        <m:num>
                          <m:r>
                            <a:rPr lang="es-MX" b="0" i="1" smtClean="0">
                              <a:latin typeface="Cambria Math" panose="02040503050406030204" pitchFamily="18" charset="0"/>
                            </a:rPr>
                            <m:t>𝐹</m:t>
                          </m:r>
                        </m:num>
                        <m:den>
                          <m:r>
                            <a:rPr lang="es-MX" b="0" i="1" smtClean="0">
                              <a:latin typeface="Cambria Math" panose="02040503050406030204" pitchFamily="18" charset="0"/>
                            </a:rPr>
                            <m:t>𝑌𝐴</m:t>
                          </m:r>
                        </m:den>
                      </m:f>
                    </m:oMath>
                  </m:oMathPara>
                </a14:m>
                <a:endParaRPr lang="es-PE" dirty="0"/>
              </a:p>
            </p:txBody>
          </p:sp>
        </mc:Choice>
        <mc:Fallback xmlns="">
          <p:sp>
            <p:nvSpPr>
              <p:cNvPr id="17" name="Rectángulo 16">
                <a:extLst>
                  <a:ext uri="{FF2B5EF4-FFF2-40B4-BE49-F238E27FC236}">
                    <a16:creationId xmlns:a16="http://schemas.microsoft.com/office/drawing/2014/main" id="{D18F789E-9B00-4267-BABE-58693B1E437A}"/>
                  </a:ext>
                </a:extLst>
              </p:cNvPr>
              <p:cNvSpPr>
                <a:spLocks noRot="1" noChangeAspect="1" noMove="1" noResize="1" noEditPoints="1" noAdjustHandles="1" noChangeArrowheads="1" noChangeShapeType="1" noTextEdit="1"/>
              </p:cNvSpPr>
              <p:nvPr/>
            </p:nvSpPr>
            <p:spPr>
              <a:xfrm>
                <a:off x="1989080" y="4703759"/>
                <a:ext cx="1092543" cy="659796"/>
              </a:xfrm>
              <a:prstGeom prst="rect">
                <a:avLst/>
              </a:prstGeom>
              <a:blipFill>
                <a:blip r:embed="rId5"/>
                <a:stretch>
                  <a:fillRect/>
                </a:stretch>
              </a:blipFill>
            </p:spPr>
            <p:txBody>
              <a:bodyPr/>
              <a:lstStyle/>
              <a:p>
                <a:r>
                  <a:rPr lang="es-PE">
                    <a:noFill/>
                  </a:rPr>
                  <a:t> </a:t>
                </a:r>
              </a:p>
            </p:txBody>
          </p:sp>
        </mc:Fallback>
      </mc:AlternateContent>
      <p:sp>
        <p:nvSpPr>
          <p:cNvPr id="18" name="Rectángulo 17">
            <a:extLst>
              <a:ext uri="{FF2B5EF4-FFF2-40B4-BE49-F238E27FC236}">
                <a16:creationId xmlns:a16="http://schemas.microsoft.com/office/drawing/2014/main" xmlns="" id="{AB13CE85-2D3A-40C9-9443-1C79A22ACA6E}"/>
              </a:ext>
            </a:extLst>
          </p:cNvPr>
          <p:cNvSpPr/>
          <p:nvPr/>
        </p:nvSpPr>
        <p:spPr>
          <a:xfrm>
            <a:off x="434736" y="5477580"/>
            <a:ext cx="3953141" cy="830997"/>
          </a:xfrm>
          <a:prstGeom prst="rect">
            <a:avLst/>
          </a:prstGeom>
        </p:spPr>
        <p:txBody>
          <a:bodyPr wrap="square">
            <a:spAutoFit/>
          </a:bodyPr>
          <a:lstStyle/>
          <a:p>
            <a:pPr algn="just"/>
            <a:r>
              <a:rPr lang="es-MX" sz="1600" dirty="0">
                <a:latin typeface="Arial" panose="020B0604020202020204" pitchFamily="34" charset="0"/>
                <a:cs typeface="Arial" panose="020B0604020202020204" pitchFamily="34" charset="0"/>
              </a:rPr>
              <a:t>Si la longitud tiene que ser constante, el cambio fraccionario </a:t>
            </a:r>
            <a:r>
              <a:rPr lang="es-MX" sz="1600" i="1" dirty="0">
                <a:latin typeface="Arial" panose="020B0604020202020204" pitchFamily="34" charset="0"/>
                <a:cs typeface="Arial" panose="020B0604020202020204" pitchFamily="34" charset="0"/>
              </a:rPr>
              <a:t>total </a:t>
            </a:r>
            <a:r>
              <a:rPr lang="es-MX" sz="1600" dirty="0">
                <a:latin typeface="Arial" panose="020B0604020202020204" pitchFamily="34" charset="0"/>
                <a:cs typeface="Arial" panose="020B0604020202020204" pitchFamily="34" charset="0"/>
              </a:rPr>
              <a:t>de longitud debe </a:t>
            </a:r>
            <a:r>
              <a:rPr lang="es-PE" sz="1600" dirty="0">
                <a:latin typeface="Arial" panose="020B0604020202020204" pitchFamily="34" charset="0"/>
                <a:cs typeface="Arial" panose="020B0604020202020204" pitchFamily="34" charset="0"/>
              </a:rPr>
              <a:t>ser cero.</a:t>
            </a:r>
          </a:p>
        </p:txBody>
      </p:sp>
      <p:sp>
        <p:nvSpPr>
          <p:cNvPr id="19" name="Rectángulo 18">
            <a:extLst>
              <a:ext uri="{FF2B5EF4-FFF2-40B4-BE49-F238E27FC236}">
                <a16:creationId xmlns:a16="http://schemas.microsoft.com/office/drawing/2014/main" xmlns="" id="{3DF5BF05-61F3-477C-A305-70BF21030C1D}"/>
              </a:ext>
            </a:extLst>
          </p:cNvPr>
          <p:cNvSpPr/>
          <p:nvPr/>
        </p:nvSpPr>
        <p:spPr>
          <a:xfrm>
            <a:off x="4976834" y="1844723"/>
            <a:ext cx="4512084" cy="830997"/>
          </a:xfrm>
          <a:prstGeom prst="rect">
            <a:avLst/>
          </a:prstGeom>
        </p:spPr>
        <p:txBody>
          <a:bodyPr wrap="square">
            <a:spAutoFit/>
          </a:bodyPr>
          <a:lstStyle/>
          <a:p>
            <a:pPr algn="just"/>
            <a:r>
              <a:rPr lang="es-MX" sz="1600" dirty="0">
                <a:latin typeface="Arial" panose="020B0604020202020204" pitchFamily="34" charset="0"/>
                <a:cs typeface="Arial" panose="020B0604020202020204" pitchFamily="34" charset="0"/>
              </a:rPr>
              <a:t>Despejando el esfuerzo de tensión </a:t>
            </a:r>
            <a:r>
              <a:rPr lang="es-MX" sz="1600" i="1" dirty="0">
                <a:latin typeface="Arial" panose="020B0604020202020204" pitchFamily="34" charset="0"/>
                <a:cs typeface="Arial" panose="020B0604020202020204" pitchFamily="34" charset="0"/>
              </a:rPr>
              <a:t>F/A </a:t>
            </a:r>
            <a:r>
              <a:rPr lang="es-MX" sz="1600" dirty="0">
                <a:latin typeface="Arial" panose="020B0604020202020204" pitchFamily="34" charset="0"/>
                <a:cs typeface="Arial" panose="020B0604020202020204" pitchFamily="34" charset="0"/>
              </a:rPr>
              <a:t>necesario para mantener constante la longitud</a:t>
            </a:r>
          </a:p>
          <a:p>
            <a:pPr algn="just"/>
            <a:r>
              <a:rPr lang="es-PE" sz="1600" dirty="0">
                <a:latin typeface="Arial" panose="020B0604020202020204" pitchFamily="34" charset="0"/>
                <a:cs typeface="Arial" panose="020B0604020202020204" pitchFamily="34" charset="0"/>
              </a:rPr>
              <a:t>de la varilla</a:t>
            </a:r>
          </a:p>
        </p:txBody>
      </p:sp>
      <mc:AlternateContent xmlns:mc="http://schemas.openxmlformats.org/markup-compatibility/2006" xmlns:a14="http://schemas.microsoft.com/office/drawing/2010/main">
        <mc:Choice Requires="a14">
          <p:sp>
            <p:nvSpPr>
              <p:cNvPr id="20" name="Rectángulo 19">
                <a:extLst>
                  <a:ext uri="{FF2B5EF4-FFF2-40B4-BE49-F238E27FC236}">
                    <a16:creationId xmlns:a16="http://schemas.microsoft.com/office/drawing/2014/main" xmlns="" id="{DFBD755F-12DC-4F3E-A758-C4DB3D3E0080}"/>
                  </a:ext>
                </a:extLst>
              </p:cNvPr>
              <p:cNvSpPr/>
              <p:nvPr/>
            </p:nvSpPr>
            <p:spPr>
              <a:xfrm>
                <a:off x="4962302" y="2735550"/>
                <a:ext cx="4657878" cy="7523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d>
                            <m:dPr>
                              <m:ctrlPr>
                                <a:rPr lang="es-PE" i="1" smtClean="0">
                                  <a:latin typeface="Cambria Math" panose="02040503050406030204" pitchFamily="18" charset="0"/>
                                </a:rPr>
                              </m:ctrlPr>
                            </m:dPr>
                            <m:e>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𝐿</m:t>
                                  </m:r>
                                </m:num>
                                <m:den>
                                  <m:sSub>
                                    <m:sSubPr>
                                      <m:ctrlPr>
                                        <a:rPr lang="es-PE" i="1">
                                          <a:latin typeface="Cambria Math" panose="02040503050406030204" pitchFamily="18" charset="0"/>
                                        </a:rPr>
                                      </m:ctrlPr>
                                    </m:sSubPr>
                                    <m:e>
                                      <m:r>
                                        <a:rPr lang="es-MX" i="1">
                                          <a:latin typeface="Cambria Math" panose="02040503050406030204" pitchFamily="18" charset="0"/>
                                        </a:rPr>
                                        <m:t>𝐿</m:t>
                                      </m:r>
                                    </m:e>
                                    <m:sub>
                                      <m:r>
                                        <a:rPr lang="es-MX" i="1">
                                          <a:latin typeface="Cambria Math" panose="02040503050406030204" pitchFamily="18" charset="0"/>
                                        </a:rPr>
                                        <m:t>0</m:t>
                                      </m:r>
                                    </m:sub>
                                  </m:sSub>
                                </m:den>
                              </m:f>
                            </m:e>
                          </m:d>
                        </m:e>
                        <m:sub>
                          <m:r>
                            <a:rPr lang="es-MX" b="0" i="1" smtClean="0">
                              <a:latin typeface="Cambria Math" panose="02040503050406030204" pitchFamily="18" charset="0"/>
                            </a:rPr>
                            <m:t>𝑇</m:t>
                          </m:r>
                          <m:r>
                            <a:rPr lang="es-MX" b="0" i="1" smtClean="0">
                              <a:latin typeface="Cambria Math" panose="02040503050406030204" pitchFamily="18" charset="0"/>
                            </a:rPr>
                            <m:t>é</m:t>
                          </m:r>
                          <m:r>
                            <a:rPr lang="es-MX" b="0" i="1" smtClean="0">
                              <a:latin typeface="Cambria Math" panose="02040503050406030204" pitchFamily="18" charset="0"/>
                            </a:rPr>
                            <m:t>𝑟𝑚𝑖𝑐𝑜</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d>
                            <m:dPr>
                              <m:ctrlPr>
                                <a:rPr lang="es-MX" b="0" i="1" smtClean="0">
                                  <a:latin typeface="Cambria Math" panose="02040503050406030204" pitchFamily="18" charset="0"/>
                                </a:rPr>
                              </m:ctrlPr>
                            </m:dPr>
                            <m:e>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𝐿</m:t>
                                  </m:r>
                                </m:num>
                                <m:den>
                                  <m:sSub>
                                    <m:sSubPr>
                                      <m:ctrlPr>
                                        <a:rPr lang="es-PE" i="1">
                                          <a:latin typeface="Cambria Math" panose="02040503050406030204" pitchFamily="18" charset="0"/>
                                        </a:rPr>
                                      </m:ctrlPr>
                                    </m:sSubPr>
                                    <m:e>
                                      <m:r>
                                        <a:rPr lang="es-MX" i="1">
                                          <a:latin typeface="Cambria Math" panose="02040503050406030204" pitchFamily="18" charset="0"/>
                                        </a:rPr>
                                        <m:t>𝐿</m:t>
                                      </m:r>
                                    </m:e>
                                    <m:sub>
                                      <m:r>
                                        <a:rPr lang="es-MX" i="1">
                                          <a:latin typeface="Cambria Math" panose="02040503050406030204" pitchFamily="18" charset="0"/>
                                        </a:rPr>
                                        <m:t>0</m:t>
                                      </m:r>
                                    </m:sub>
                                  </m:sSub>
                                </m:den>
                              </m:f>
                            </m:e>
                          </m:d>
                        </m:e>
                        <m:sub>
                          <m:r>
                            <a:rPr lang="es-MX" b="0" i="1" smtClean="0">
                              <a:latin typeface="Cambria Math" panose="02040503050406030204" pitchFamily="18" charset="0"/>
                            </a:rPr>
                            <m:t>𝑇𝑒𝑛𝑠𝑖</m:t>
                          </m:r>
                          <m:r>
                            <a:rPr lang="es-MX" b="0" i="1" smtClean="0">
                              <a:latin typeface="Cambria Math" panose="02040503050406030204" pitchFamily="18" charset="0"/>
                            </a:rPr>
                            <m:t>ó</m:t>
                          </m:r>
                          <m:r>
                            <a:rPr lang="es-MX" b="0" i="1" smtClean="0">
                              <a:latin typeface="Cambria Math" panose="02040503050406030204" pitchFamily="18" charset="0"/>
                            </a:rPr>
                            <m:t>𝑛</m:t>
                          </m:r>
                        </m:sub>
                      </m:sSub>
                      <m:r>
                        <a:rPr lang="es-PE" i="1">
                          <a:latin typeface="Cambria Math" panose="02040503050406030204" pitchFamily="18" charset="0"/>
                        </a:rPr>
                        <m:t>=</m:t>
                      </m:r>
                      <m:f>
                        <m:fPr>
                          <m:ctrlPr>
                            <a:rPr lang="es-PE" i="1">
                              <a:latin typeface="Cambria Math" panose="02040503050406030204" pitchFamily="18" charset="0"/>
                            </a:rPr>
                          </m:ctrlPr>
                        </m:fPr>
                        <m:num>
                          <m:r>
                            <a:rPr lang="es-MX" i="1">
                              <a:latin typeface="Cambria Math" panose="02040503050406030204" pitchFamily="18" charset="0"/>
                            </a:rPr>
                            <m:t>𝐹</m:t>
                          </m:r>
                        </m:num>
                        <m:den>
                          <m:r>
                            <a:rPr lang="es-MX" i="1">
                              <a:latin typeface="Cambria Math" panose="02040503050406030204" pitchFamily="18" charset="0"/>
                            </a:rPr>
                            <m:t>𝑌𝐴</m:t>
                          </m:r>
                        </m:den>
                      </m:f>
                      <m:r>
                        <a:rPr lang="es-MX" b="0" i="1" smtClean="0">
                          <a:latin typeface="Cambria Math" panose="02040503050406030204" pitchFamily="18" charset="0"/>
                        </a:rPr>
                        <m:t>+</m:t>
                      </m:r>
                      <m:r>
                        <a:rPr lang="es-PE" i="1">
                          <a:latin typeface="Cambria Math" panose="02040503050406030204" pitchFamily="18" charset="0"/>
                          <a:ea typeface="Cambria Math" panose="02040503050406030204" pitchFamily="18" charset="0"/>
                        </a:rPr>
                        <m:t>𝛼</m:t>
                      </m:r>
                      <m:r>
                        <a:rPr lang="es-PE" i="1">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𝑇</m:t>
                      </m:r>
                      <m:r>
                        <a:rPr lang="es-MX" b="0" i="1" smtClean="0">
                          <a:latin typeface="Cambria Math" panose="02040503050406030204" pitchFamily="18" charset="0"/>
                          <a:ea typeface="Cambria Math" panose="02040503050406030204" pitchFamily="18" charset="0"/>
                        </a:rPr>
                        <m:t>=0</m:t>
                      </m:r>
                    </m:oMath>
                  </m:oMathPara>
                </a14:m>
                <a:endParaRPr lang="es-PE" dirty="0"/>
              </a:p>
            </p:txBody>
          </p:sp>
        </mc:Choice>
        <mc:Fallback xmlns="">
          <p:sp>
            <p:nvSpPr>
              <p:cNvPr id="20" name="Rectángulo 19">
                <a:extLst>
                  <a:ext uri="{FF2B5EF4-FFF2-40B4-BE49-F238E27FC236}">
                    <a16:creationId xmlns:a16="http://schemas.microsoft.com/office/drawing/2014/main" id="{DFBD755F-12DC-4F3E-A758-C4DB3D3E0080}"/>
                  </a:ext>
                </a:extLst>
              </p:cNvPr>
              <p:cNvSpPr>
                <a:spLocks noRot="1" noChangeAspect="1" noMove="1" noResize="1" noEditPoints="1" noAdjustHandles="1" noChangeArrowheads="1" noChangeShapeType="1" noTextEdit="1"/>
              </p:cNvSpPr>
              <p:nvPr/>
            </p:nvSpPr>
            <p:spPr>
              <a:xfrm>
                <a:off x="4962302" y="2735550"/>
                <a:ext cx="4657878" cy="752322"/>
              </a:xfrm>
              <a:prstGeom prst="rect">
                <a:avLst/>
              </a:prstGeom>
              <a:blipFill>
                <a:blip r:embed="rId6"/>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1" name="Rectángulo 20">
                <a:extLst>
                  <a:ext uri="{FF2B5EF4-FFF2-40B4-BE49-F238E27FC236}">
                    <a16:creationId xmlns:a16="http://schemas.microsoft.com/office/drawing/2014/main" xmlns="" id="{5370FB45-64F1-49F2-816D-0F8FB92DD268}"/>
                  </a:ext>
                </a:extLst>
              </p:cNvPr>
              <p:cNvSpPr/>
              <p:nvPr/>
            </p:nvSpPr>
            <p:spPr>
              <a:xfrm>
                <a:off x="5169024" y="3685648"/>
                <a:ext cx="1427249" cy="609077"/>
              </a:xfrm>
              <a:prstGeom prst="rect">
                <a:avLst/>
              </a:prstGeom>
              <a:solidFill>
                <a:schemeClr val="tx2">
                  <a:lumMod val="60000"/>
                  <a:lumOff val="40000"/>
                </a:schemeClr>
              </a:solid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MX" i="1">
                              <a:latin typeface="Cambria Math" panose="02040503050406030204" pitchFamily="18" charset="0"/>
                            </a:rPr>
                            <m:t>𝐹</m:t>
                          </m:r>
                        </m:num>
                        <m:den>
                          <m:r>
                            <a:rPr lang="es-MX" i="1">
                              <a:latin typeface="Cambria Math" panose="02040503050406030204" pitchFamily="18" charset="0"/>
                            </a:rPr>
                            <m:t>𝐴</m:t>
                          </m:r>
                        </m:den>
                      </m:f>
                      <m:r>
                        <a:rPr lang="es-MX" b="0" i="1" smtClean="0">
                          <a:latin typeface="Cambria Math" panose="02040503050406030204" pitchFamily="18" charset="0"/>
                        </a:rPr>
                        <m:t>=−</m:t>
                      </m:r>
                      <m:r>
                        <a:rPr lang="es-MX" b="0" i="1" smtClean="0">
                          <a:latin typeface="Cambria Math" panose="02040503050406030204" pitchFamily="18" charset="0"/>
                        </a:rPr>
                        <m:t>𝑌</m:t>
                      </m:r>
                      <m:r>
                        <a:rPr lang="es-PE" i="1">
                          <a:latin typeface="Cambria Math" panose="02040503050406030204" pitchFamily="18" charset="0"/>
                          <a:ea typeface="Cambria Math" panose="02040503050406030204" pitchFamily="18" charset="0"/>
                        </a:rPr>
                        <m:t>𝛼</m:t>
                      </m:r>
                      <m:r>
                        <a:rPr lang="es-PE" i="1">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𝑇</m:t>
                      </m:r>
                    </m:oMath>
                  </m:oMathPara>
                </a14:m>
                <a:endParaRPr lang="es-PE" dirty="0"/>
              </a:p>
            </p:txBody>
          </p:sp>
        </mc:Choice>
        <mc:Fallback xmlns="">
          <p:sp>
            <p:nvSpPr>
              <p:cNvPr id="21" name="Rectángulo 20">
                <a:extLst>
                  <a:ext uri="{FF2B5EF4-FFF2-40B4-BE49-F238E27FC236}">
                    <a16:creationId xmlns:a16="http://schemas.microsoft.com/office/drawing/2014/main" id="{5370FB45-64F1-49F2-816D-0F8FB92DD268}"/>
                  </a:ext>
                </a:extLst>
              </p:cNvPr>
              <p:cNvSpPr>
                <a:spLocks noRot="1" noChangeAspect="1" noMove="1" noResize="1" noEditPoints="1" noAdjustHandles="1" noChangeArrowheads="1" noChangeShapeType="1" noTextEdit="1"/>
              </p:cNvSpPr>
              <p:nvPr/>
            </p:nvSpPr>
            <p:spPr>
              <a:xfrm>
                <a:off x="5169024" y="3685648"/>
                <a:ext cx="1427249" cy="609077"/>
              </a:xfrm>
              <a:prstGeom prst="rect">
                <a:avLst/>
              </a:prstGeom>
              <a:blipFill>
                <a:blip r:embed="rId7"/>
                <a:stretch>
                  <a:fillRect/>
                </a:stretch>
              </a:blipFill>
            </p:spPr>
            <p:txBody>
              <a:bodyPr/>
              <a:lstStyle/>
              <a:p>
                <a:r>
                  <a:rPr lang="es-PE">
                    <a:noFill/>
                  </a:rPr>
                  <a:t> </a:t>
                </a:r>
              </a:p>
            </p:txBody>
          </p:sp>
        </mc:Fallback>
      </mc:AlternateContent>
      <p:sp>
        <p:nvSpPr>
          <p:cNvPr id="22" name="CuadroTexto 21">
            <a:extLst>
              <a:ext uri="{FF2B5EF4-FFF2-40B4-BE49-F238E27FC236}">
                <a16:creationId xmlns:a16="http://schemas.microsoft.com/office/drawing/2014/main" xmlns="" id="{6FC2068B-6AE4-4D05-8C48-17830EB0481E}"/>
              </a:ext>
            </a:extLst>
          </p:cNvPr>
          <p:cNvSpPr txBox="1"/>
          <p:nvPr/>
        </p:nvSpPr>
        <p:spPr>
          <a:xfrm>
            <a:off x="6831921" y="3666161"/>
            <a:ext cx="2656997" cy="584775"/>
          </a:xfrm>
          <a:prstGeom prst="rect">
            <a:avLst/>
          </a:prstGeom>
          <a:solidFill>
            <a:schemeClr val="tx2">
              <a:lumMod val="60000"/>
              <a:lumOff val="40000"/>
            </a:schemeClr>
          </a:solidFill>
        </p:spPr>
        <p:txBody>
          <a:bodyPr wrap="square" rtlCol="0">
            <a:spAutoFit/>
          </a:bodyPr>
          <a:lstStyle/>
          <a:p>
            <a:pPr algn="just"/>
            <a:r>
              <a:rPr lang="es-MX" sz="1600" dirty="0">
                <a:latin typeface="Arial" panose="020B0604020202020204" pitchFamily="34" charset="0"/>
                <a:cs typeface="Arial" panose="020B0604020202020204" pitchFamily="34" charset="0"/>
              </a:rPr>
              <a:t>Expresión que define el esfuerzo térmico</a:t>
            </a:r>
            <a:endParaRPr lang="es-PE"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052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2479084"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EJERCICIO</a:t>
            </a:r>
          </a:p>
        </p:txBody>
      </p:sp>
      <mc:AlternateContent xmlns:mc="http://schemas.openxmlformats.org/markup-compatibility/2006">
        <mc:Choice xmlns:a14="http://schemas.microsoft.com/office/drawing/2010/main" Requires="a14">
          <p:sp>
            <p:nvSpPr>
              <p:cNvPr id="7" name="CuadroTexto 6"/>
              <p:cNvSpPr txBox="1"/>
              <p:nvPr/>
            </p:nvSpPr>
            <p:spPr>
              <a:xfrm>
                <a:off x="416496" y="1844824"/>
                <a:ext cx="4464496" cy="3046988"/>
              </a:xfrm>
              <a:prstGeom prst="rect">
                <a:avLst/>
              </a:prstGeom>
              <a:noFill/>
            </p:spPr>
            <p:txBody>
              <a:bodyPr wrap="square" rtlCol="0">
                <a:spAutoFit/>
              </a:bodyPr>
              <a:lstStyle/>
              <a:p>
                <a:pPr marL="342900" indent="-342900" algn="just">
                  <a:buFont typeface="+mj-lt"/>
                  <a:buAutoNum type="arabicPeriod"/>
                </a:pPr>
                <a:r>
                  <a:rPr lang="es-PE" sz="1600" dirty="0" smtClean="0">
                    <a:latin typeface="Arial" panose="020B0604020202020204" pitchFamily="34" charset="0"/>
                    <a:cs typeface="Arial" panose="020B0604020202020204" pitchFamily="34" charset="0"/>
                  </a:rPr>
                  <a:t>Una cinta de agrimensor fabricada de acero se utiliza para medir la longitud de una línea. La cinta tiene una sección transversal rectangular de 0,05 </a:t>
                </a:r>
                <a:r>
                  <a:rPr lang="es-PE" sz="1600" dirty="0" err="1" smtClean="0">
                    <a:latin typeface="Arial" panose="020B0604020202020204" pitchFamily="34" charset="0"/>
                    <a:cs typeface="Arial" panose="020B0604020202020204" pitchFamily="34" charset="0"/>
                  </a:rPr>
                  <a:t>pulg</a:t>
                </a:r>
                <a:r>
                  <a:rPr lang="es-PE" sz="1600" dirty="0" smtClean="0">
                    <a:latin typeface="Arial" panose="020B0604020202020204" pitchFamily="34" charset="0"/>
                    <a:cs typeface="Arial" panose="020B0604020202020204" pitchFamily="34" charset="0"/>
                  </a:rPr>
                  <a:t> por 0,2 </a:t>
                </a:r>
                <a:r>
                  <a:rPr lang="es-PE" sz="1600" dirty="0" err="1" smtClean="0">
                    <a:latin typeface="Arial" panose="020B0604020202020204" pitchFamily="34" charset="0"/>
                    <a:cs typeface="Arial" panose="020B0604020202020204" pitchFamily="34" charset="0"/>
                  </a:rPr>
                  <a:t>pulg</a:t>
                </a:r>
                <a:r>
                  <a:rPr lang="es-PE" sz="1600" dirty="0" smtClean="0">
                    <a:latin typeface="Arial" panose="020B0604020202020204" pitchFamily="34" charset="0"/>
                    <a:cs typeface="Arial" panose="020B0604020202020204" pitchFamily="34" charset="0"/>
                  </a:rPr>
                  <a:t> y una longitud de 100 pies cuando </a:t>
                </a:r>
                <a14:m>
                  <m:oMath xmlns:m="http://schemas.openxmlformats.org/officeDocument/2006/math">
                    <m:sSub>
                      <m:sSubPr>
                        <m:ctrlPr>
                          <a:rPr lang="es-PE" sz="1600" i="1" smtClean="0">
                            <a:latin typeface="Cambria Math" panose="02040503050406030204" pitchFamily="18" charset="0"/>
                            <a:cs typeface="Arial" panose="020B0604020202020204" pitchFamily="34" charset="0"/>
                          </a:rPr>
                        </m:ctrlPr>
                      </m:sSubPr>
                      <m:e>
                        <m:r>
                          <a:rPr lang="es-PE" sz="1600" b="0" i="1" smtClean="0">
                            <a:latin typeface="Cambria Math" panose="02040503050406030204" pitchFamily="18" charset="0"/>
                            <a:cs typeface="Arial" panose="020B0604020202020204" pitchFamily="34" charset="0"/>
                          </a:rPr>
                          <m:t>𝑇</m:t>
                        </m:r>
                      </m:e>
                      <m:sub>
                        <m:r>
                          <a:rPr lang="es-PE" sz="1600" b="0" i="1" smtClean="0">
                            <a:latin typeface="Cambria Math" panose="02040503050406030204" pitchFamily="18" charset="0"/>
                            <a:cs typeface="Arial" panose="020B0604020202020204" pitchFamily="34" charset="0"/>
                          </a:rPr>
                          <m:t>1</m:t>
                        </m:r>
                      </m:sub>
                    </m:sSub>
                    <m:r>
                      <a:rPr lang="es-PE" sz="1600" i="1" smtClean="0">
                        <a:latin typeface="Cambria Math" panose="02040503050406030204" pitchFamily="18" charset="0"/>
                        <a:cs typeface="Arial" panose="020B0604020202020204" pitchFamily="34" charset="0"/>
                      </a:rPr>
                      <m:t>=</m:t>
                    </m:r>
                    <m:sSup>
                      <m:sSupPr>
                        <m:ctrlPr>
                          <a:rPr lang="es-PE" sz="1600" i="1" smtClean="0">
                            <a:latin typeface="Cambria Math" panose="02040503050406030204" pitchFamily="18" charset="0"/>
                            <a:cs typeface="Arial" panose="020B0604020202020204" pitchFamily="34" charset="0"/>
                          </a:rPr>
                        </m:ctrlPr>
                      </m:sSupPr>
                      <m:e>
                        <m:r>
                          <a:rPr lang="es-PE" sz="1600" b="0" i="1" smtClean="0">
                            <a:latin typeface="Cambria Math" panose="02040503050406030204" pitchFamily="18" charset="0"/>
                            <a:cs typeface="Arial" panose="020B0604020202020204" pitchFamily="34" charset="0"/>
                          </a:rPr>
                          <m:t>60</m:t>
                        </m:r>
                      </m:e>
                      <m:sup>
                        <m:r>
                          <a:rPr lang="es-PE" sz="1600" b="0" i="1" smtClean="0">
                            <a:latin typeface="Cambria Math" panose="02040503050406030204" pitchFamily="18" charset="0"/>
                            <a:cs typeface="Arial" panose="020B0604020202020204" pitchFamily="34" charset="0"/>
                          </a:rPr>
                          <m:t>0</m:t>
                        </m:r>
                      </m:sup>
                    </m:sSup>
                    <m:r>
                      <a:rPr lang="es-PE" sz="1600" b="0" i="1" smtClean="0">
                        <a:latin typeface="Cambria Math" panose="02040503050406030204" pitchFamily="18" charset="0"/>
                        <a:cs typeface="Arial" panose="020B0604020202020204" pitchFamily="34" charset="0"/>
                      </a:rPr>
                      <m:t>𝐹</m:t>
                    </m:r>
                  </m:oMath>
                </a14:m>
                <a:r>
                  <a:rPr lang="es-PE" sz="1600" dirty="0" smtClean="0">
                    <a:latin typeface="Arial" panose="020B0604020202020204" pitchFamily="34" charset="0"/>
                    <a:cs typeface="Arial" panose="020B0604020202020204" pitchFamily="34" charset="0"/>
                  </a:rPr>
                  <a:t> y la tensión o jalón sobre la cinta es de 20 lb. Determine la longitud real de la línea si la cinta muestra una lectura de 463,25 pies cuando se utiliza con un jalón de 35 lb a  </a:t>
                </a:r>
                <a14:m>
                  <m:oMath xmlns:m="http://schemas.openxmlformats.org/officeDocument/2006/math">
                    <m:sSub>
                      <m:sSubPr>
                        <m:ctrlPr>
                          <a:rPr lang="es-PE" sz="1600" i="1">
                            <a:latin typeface="Cambria Math" panose="02040503050406030204" pitchFamily="18" charset="0"/>
                            <a:cs typeface="Arial" panose="020B0604020202020204" pitchFamily="34" charset="0"/>
                          </a:rPr>
                        </m:ctrlPr>
                      </m:sSubPr>
                      <m:e>
                        <m:r>
                          <a:rPr lang="es-PE" sz="1600" i="1">
                            <a:latin typeface="Cambria Math" panose="02040503050406030204" pitchFamily="18" charset="0"/>
                            <a:cs typeface="Arial" panose="020B0604020202020204" pitchFamily="34" charset="0"/>
                          </a:rPr>
                          <m:t>𝑇</m:t>
                        </m:r>
                      </m:e>
                      <m:sub>
                        <m:r>
                          <a:rPr lang="es-PE" sz="1600" b="0" i="1" smtClean="0">
                            <a:latin typeface="Cambria Math" panose="02040503050406030204" pitchFamily="18" charset="0"/>
                            <a:cs typeface="Arial" panose="020B0604020202020204" pitchFamily="34" charset="0"/>
                          </a:rPr>
                          <m:t>2</m:t>
                        </m:r>
                      </m:sub>
                    </m:sSub>
                    <m:r>
                      <a:rPr lang="es-PE" sz="1600" i="1">
                        <a:latin typeface="Cambria Math" panose="02040503050406030204" pitchFamily="18" charset="0"/>
                        <a:cs typeface="Arial" panose="020B0604020202020204" pitchFamily="34" charset="0"/>
                      </a:rPr>
                      <m:t>=</m:t>
                    </m:r>
                    <m:sSup>
                      <m:sSupPr>
                        <m:ctrlPr>
                          <a:rPr lang="es-PE" sz="1600" i="1">
                            <a:latin typeface="Cambria Math" panose="02040503050406030204" pitchFamily="18" charset="0"/>
                            <a:cs typeface="Arial" panose="020B0604020202020204" pitchFamily="34" charset="0"/>
                          </a:rPr>
                        </m:ctrlPr>
                      </m:sSupPr>
                      <m:e>
                        <m:r>
                          <a:rPr lang="es-PE" sz="1600" b="0" i="1" smtClean="0">
                            <a:latin typeface="Cambria Math" panose="02040503050406030204" pitchFamily="18" charset="0"/>
                            <a:cs typeface="Arial" panose="020B0604020202020204" pitchFamily="34" charset="0"/>
                          </a:rPr>
                          <m:t>9</m:t>
                        </m:r>
                        <m:r>
                          <a:rPr lang="es-PE" sz="1600" i="1">
                            <a:latin typeface="Cambria Math" panose="02040503050406030204" pitchFamily="18" charset="0"/>
                            <a:cs typeface="Arial" panose="020B0604020202020204" pitchFamily="34" charset="0"/>
                          </a:rPr>
                          <m:t>0</m:t>
                        </m:r>
                      </m:e>
                      <m:sup>
                        <m:r>
                          <a:rPr lang="es-PE" sz="1600" i="1">
                            <a:latin typeface="Cambria Math" panose="02040503050406030204" pitchFamily="18" charset="0"/>
                            <a:cs typeface="Arial" panose="020B0604020202020204" pitchFamily="34" charset="0"/>
                          </a:rPr>
                          <m:t>0</m:t>
                        </m:r>
                      </m:sup>
                    </m:sSup>
                    <m:r>
                      <a:rPr lang="es-PE" sz="1600" i="1">
                        <a:latin typeface="Cambria Math" panose="02040503050406030204" pitchFamily="18" charset="0"/>
                        <a:cs typeface="Arial" panose="020B0604020202020204" pitchFamily="34" charset="0"/>
                      </a:rPr>
                      <m:t>𝐹</m:t>
                    </m:r>
                  </m:oMath>
                </a14:m>
                <a:r>
                  <a:rPr lang="es-PE" sz="1600" dirty="0" smtClean="0">
                    <a:latin typeface="Arial" panose="020B0604020202020204" pitchFamily="34" charset="0"/>
                    <a:cs typeface="Arial" panose="020B0604020202020204" pitchFamily="34" charset="0"/>
                  </a:rPr>
                  <a:t>. El piso sobre el que se coloca es plano.  </a:t>
                </a:r>
                <a14:m>
                  <m:oMath xmlns:m="http://schemas.openxmlformats.org/officeDocument/2006/math">
                    <m:sSub>
                      <m:sSubPr>
                        <m:ctrlPr>
                          <a:rPr lang="es-PE" sz="1600" i="1">
                            <a:latin typeface="Cambria Math" panose="02040503050406030204" pitchFamily="18" charset="0"/>
                            <a:cs typeface="Arial" panose="020B0604020202020204" pitchFamily="34" charset="0"/>
                          </a:rPr>
                        </m:ctrlPr>
                      </m:sSubPr>
                      <m:e>
                        <m:r>
                          <a:rPr lang="es-PE" sz="1600" i="1" smtClean="0">
                            <a:latin typeface="Cambria Math" panose="02040503050406030204" pitchFamily="18" charset="0"/>
                            <a:ea typeface="Cambria Math" panose="02040503050406030204" pitchFamily="18" charset="0"/>
                            <a:cs typeface="Arial" panose="020B0604020202020204" pitchFamily="34" charset="0"/>
                          </a:rPr>
                          <m:t>𝛼</m:t>
                        </m:r>
                      </m:e>
                      <m:sub>
                        <m:r>
                          <a:rPr lang="es-PE" sz="1600" b="0" i="1" smtClean="0">
                            <a:latin typeface="Cambria Math" panose="02040503050406030204" pitchFamily="18" charset="0"/>
                            <a:cs typeface="Arial" panose="020B0604020202020204" pitchFamily="34" charset="0"/>
                          </a:rPr>
                          <m:t>𝑎𝑐</m:t>
                        </m:r>
                      </m:sub>
                    </m:sSub>
                    <m:r>
                      <a:rPr lang="es-PE" sz="1600" i="1">
                        <a:latin typeface="Cambria Math" panose="02040503050406030204" pitchFamily="18" charset="0"/>
                        <a:cs typeface="Arial" panose="020B0604020202020204" pitchFamily="34" charset="0"/>
                      </a:rPr>
                      <m:t>=</m:t>
                    </m:r>
                    <m:r>
                      <a:rPr lang="es-PE" sz="1600" b="0" i="1" smtClean="0">
                        <a:latin typeface="Cambria Math" panose="02040503050406030204" pitchFamily="18" charset="0"/>
                        <a:cs typeface="Arial" panose="020B0604020202020204" pitchFamily="34" charset="0"/>
                      </a:rPr>
                      <m:t>9,</m:t>
                    </m:r>
                    <m:sSup>
                      <m:sSupPr>
                        <m:ctrlPr>
                          <a:rPr lang="es-PE" sz="1600" i="1">
                            <a:latin typeface="Cambria Math" panose="02040503050406030204" pitchFamily="18" charset="0"/>
                            <a:cs typeface="Arial" panose="020B0604020202020204" pitchFamily="34" charset="0"/>
                          </a:rPr>
                        </m:ctrlPr>
                      </m:sSupPr>
                      <m:e>
                        <m:r>
                          <a:rPr lang="es-PE" sz="1600" i="1">
                            <a:latin typeface="Cambria Math" panose="02040503050406030204" pitchFamily="18" charset="0"/>
                            <a:cs typeface="Arial" panose="020B0604020202020204" pitchFamily="34" charset="0"/>
                          </a:rPr>
                          <m:t>60</m:t>
                        </m:r>
                        <m:r>
                          <a:rPr lang="es-PE" sz="160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s-PE" sz="1600" i="1" smtClean="0">
                                <a:latin typeface="Cambria Math" panose="02040503050406030204" pitchFamily="18" charset="0"/>
                                <a:ea typeface="Cambria Math" panose="02040503050406030204" pitchFamily="18" charset="0"/>
                                <a:cs typeface="Arial" panose="020B0604020202020204" pitchFamily="34" charset="0"/>
                              </a:rPr>
                            </m:ctrlPr>
                          </m:sSupPr>
                          <m:e>
                            <m:r>
                              <a:rPr lang="es-PE" sz="1600" b="0" i="1" smtClean="0">
                                <a:latin typeface="Cambria Math" panose="02040503050406030204" pitchFamily="18" charset="0"/>
                                <a:ea typeface="Cambria Math" panose="02040503050406030204" pitchFamily="18" charset="0"/>
                                <a:cs typeface="Arial" panose="020B0604020202020204" pitchFamily="34" charset="0"/>
                              </a:rPr>
                              <m:t>10</m:t>
                            </m:r>
                          </m:e>
                          <m:sup>
                            <m:r>
                              <a:rPr lang="es-PE" sz="1600" b="0" i="1" smtClean="0">
                                <a:latin typeface="Cambria Math" panose="02040503050406030204" pitchFamily="18" charset="0"/>
                                <a:ea typeface="Cambria Math" panose="02040503050406030204" pitchFamily="18" charset="0"/>
                                <a:cs typeface="Arial" panose="020B0604020202020204" pitchFamily="34" charset="0"/>
                              </a:rPr>
                              <m:t>−6</m:t>
                            </m:r>
                          </m:sup>
                        </m:sSup>
                        <m:r>
                          <a:rPr lang="es-PE" sz="1600" b="0" i="1" smtClean="0">
                            <a:latin typeface="Cambria Math" panose="02040503050406030204" pitchFamily="18" charset="0"/>
                            <a:ea typeface="Cambria Math" panose="02040503050406030204" pitchFamily="18" charset="0"/>
                            <a:cs typeface="Arial" panose="020B0604020202020204" pitchFamily="34" charset="0"/>
                          </a:rPr>
                          <m:t>/</m:t>
                        </m:r>
                      </m:e>
                      <m:sup>
                        <m:r>
                          <a:rPr lang="es-PE" sz="1600" i="1">
                            <a:latin typeface="Cambria Math" panose="02040503050406030204" pitchFamily="18" charset="0"/>
                            <a:cs typeface="Arial" panose="020B0604020202020204" pitchFamily="34" charset="0"/>
                          </a:rPr>
                          <m:t>0</m:t>
                        </m:r>
                      </m:sup>
                    </m:sSup>
                    <m:r>
                      <a:rPr lang="es-PE" sz="1600" i="1">
                        <a:latin typeface="Cambria Math" panose="02040503050406030204" pitchFamily="18" charset="0"/>
                        <a:cs typeface="Arial" panose="020B0604020202020204" pitchFamily="34" charset="0"/>
                      </a:rPr>
                      <m:t>𝐹</m:t>
                    </m:r>
                  </m:oMath>
                </a14:m>
                <a:r>
                  <a:rPr lang="es-PE" sz="1600" dirty="0" smtClean="0">
                    <a:latin typeface="Arial" panose="020B0604020202020204" pitchFamily="34" charset="0"/>
                    <a:cs typeface="Arial" panose="020B0604020202020204" pitchFamily="34" charset="0"/>
                  </a:rPr>
                  <a:t>, </a:t>
                </a:r>
                <a:r>
                  <a:rPr lang="es-PE" sz="1600" dirty="0">
                    <a:latin typeface="Arial" panose="020B0604020202020204" pitchFamily="34" charset="0"/>
                    <a:cs typeface="Arial" panose="020B0604020202020204" pitchFamily="34" charset="0"/>
                  </a:rPr>
                  <a:t>cuando </a:t>
                </a:r>
                <a14:m>
                  <m:oMath xmlns:m="http://schemas.openxmlformats.org/officeDocument/2006/math">
                    <m:sSub>
                      <m:sSubPr>
                        <m:ctrlPr>
                          <a:rPr lang="es-PE" sz="1600" i="1">
                            <a:latin typeface="Cambria Math" panose="02040503050406030204" pitchFamily="18" charset="0"/>
                            <a:cs typeface="Arial" panose="020B0604020202020204" pitchFamily="34" charset="0"/>
                          </a:rPr>
                        </m:ctrlPr>
                      </m:sSubPr>
                      <m:e>
                        <m:r>
                          <a:rPr lang="es-PE" sz="1600" b="0" i="1" smtClean="0">
                            <a:latin typeface="Cambria Math" panose="02040503050406030204" pitchFamily="18" charset="0"/>
                            <a:cs typeface="Arial" panose="020B0604020202020204" pitchFamily="34" charset="0"/>
                          </a:rPr>
                          <m:t>𝐸</m:t>
                        </m:r>
                      </m:e>
                      <m:sub>
                        <m:r>
                          <a:rPr lang="es-PE" sz="1600" b="0" i="1" smtClean="0">
                            <a:latin typeface="Cambria Math" panose="02040503050406030204" pitchFamily="18" charset="0"/>
                            <a:cs typeface="Arial" panose="020B0604020202020204" pitchFamily="34" charset="0"/>
                          </a:rPr>
                          <m:t>𝑎𝑐</m:t>
                        </m:r>
                      </m:sub>
                    </m:sSub>
                    <m:r>
                      <a:rPr lang="es-PE" sz="1600" i="1">
                        <a:latin typeface="Cambria Math" panose="02040503050406030204" pitchFamily="18" charset="0"/>
                        <a:cs typeface="Arial" panose="020B0604020202020204" pitchFamily="34" charset="0"/>
                      </a:rPr>
                      <m:t>=</m:t>
                    </m:r>
                    <m:r>
                      <a:rPr lang="es-PE" sz="1600" b="0" i="1" smtClean="0">
                        <a:latin typeface="Cambria Math" panose="02040503050406030204" pitchFamily="18" charset="0"/>
                        <a:cs typeface="Arial" panose="020B0604020202020204" pitchFamily="34" charset="0"/>
                      </a:rPr>
                      <m:t>29</m:t>
                    </m:r>
                    <m:r>
                      <a:rPr lang="es-PE" sz="16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s-PE" sz="1600" b="0" i="1" smtClean="0">
                            <a:latin typeface="Cambria Math" panose="02040503050406030204" pitchFamily="18" charset="0"/>
                            <a:ea typeface="Cambria Math" panose="02040503050406030204" pitchFamily="18" charset="0"/>
                            <a:cs typeface="Arial" panose="020B0604020202020204" pitchFamily="34" charset="0"/>
                          </a:rPr>
                        </m:ctrlPr>
                      </m:sSupPr>
                      <m:e>
                        <m:r>
                          <a:rPr lang="es-PE" sz="1600" b="0" i="1" smtClean="0">
                            <a:latin typeface="Cambria Math" panose="02040503050406030204" pitchFamily="18" charset="0"/>
                            <a:ea typeface="Cambria Math" panose="02040503050406030204" pitchFamily="18" charset="0"/>
                            <a:cs typeface="Arial" panose="020B0604020202020204" pitchFamily="34" charset="0"/>
                          </a:rPr>
                          <m:t>10</m:t>
                        </m:r>
                      </m:e>
                      <m:sup>
                        <m:r>
                          <a:rPr lang="es-PE" sz="1600" b="0" i="1" smtClean="0">
                            <a:latin typeface="Cambria Math" panose="02040503050406030204" pitchFamily="18" charset="0"/>
                            <a:ea typeface="Cambria Math" panose="02040503050406030204" pitchFamily="18" charset="0"/>
                            <a:cs typeface="Arial" panose="020B0604020202020204" pitchFamily="34" charset="0"/>
                          </a:rPr>
                          <m:t>3</m:t>
                        </m:r>
                      </m:sup>
                    </m:sSup>
                    <m:r>
                      <a:rPr lang="es-PE" sz="1600" b="0" i="1" smtClean="0">
                        <a:latin typeface="Cambria Math" panose="02040503050406030204" pitchFamily="18" charset="0"/>
                        <a:ea typeface="Cambria Math" panose="02040503050406030204" pitchFamily="18" charset="0"/>
                        <a:cs typeface="Arial" panose="020B0604020202020204" pitchFamily="34" charset="0"/>
                      </a:rPr>
                      <m:t>𝑘𝑠𝑖</m:t>
                    </m:r>
                  </m:oMath>
                </a14:m>
                <a:r>
                  <a:rPr lang="es-PE" sz="1600" dirty="0" smtClean="0">
                    <a:latin typeface="Arial" panose="020B0604020202020204" pitchFamily="34" charset="0"/>
                    <a:cs typeface="Arial" panose="020B0604020202020204" pitchFamily="34" charset="0"/>
                  </a:rPr>
                  <a:t>. </a:t>
                </a:r>
                <a:endParaRPr lang="es-PE" sz="1600" dirty="0">
                  <a:latin typeface="Arial" panose="020B0604020202020204" pitchFamily="34" charset="0"/>
                  <a:cs typeface="Arial" panose="020B0604020202020204" pitchFamily="34" charset="0"/>
                </a:endParaRPr>
              </a:p>
            </p:txBody>
          </p:sp>
        </mc:Choice>
        <mc:Fallback>
          <p:sp>
            <p:nvSpPr>
              <p:cNvPr id="7" name="CuadroTexto 6"/>
              <p:cNvSpPr txBox="1">
                <a:spLocks noRot="1" noChangeAspect="1" noMove="1" noResize="1" noEditPoints="1" noAdjustHandles="1" noChangeArrowheads="1" noChangeShapeType="1" noTextEdit="1"/>
              </p:cNvSpPr>
              <p:nvPr/>
            </p:nvSpPr>
            <p:spPr>
              <a:xfrm>
                <a:off x="416496" y="1844824"/>
                <a:ext cx="4464496" cy="3046988"/>
              </a:xfrm>
              <a:prstGeom prst="rect">
                <a:avLst/>
              </a:prstGeom>
              <a:blipFill rotWithShape="0">
                <a:blip r:embed="rId2"/>
                <a:stretch>
                  <a:fillRect l="-546" t="-601" r="-682" b="-1804"/>
                </a:stretch>
              </a:blipFill>
            </p:spPr>
            <p:txBody>
              <a:bodyPr/>
              <a:lstStyle/>
              <a:p>
                <a:r>
                  <a:rPr lang="es-PE">
                    <a:noFill/>
                  </a:rPr>
                  <a:t> </a:t>
                </a:r>
              </a:p>
            </p:txBody>
          </p:sp>
        </mc:Fallback>
      </mc:AlternateContent>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989" y="5464969"/>
            <a:ext cx="3316040" cy="981472"/>
          </a:xfrm>
          <a:prstGeom prst="rect">
            <a:avLst/>
          </a:prstGeom>
        </p:spPr>
      </p:pic>
      <mc:AlternateContent xmlns:mc="http://schemas.openxmlformats.org/markup-compatibility/2006">
        <mc:Choice xmlns:a14="http://schemas.microsoft.com/office/drawing/2010/main" Requires="a14">
          <p:sp>
            <p:nvSpPr>
              <p:cNvPr id="10" name="CuadroTexto 9"/>
              <p:cNvSpPr txBox="1"/>
              <p:nvPr/>
            </p:nvSpPr>
            <p:spPr>
              <a:xfrm>
                <a:off x="5385048" y="1844824"/>
                <a:ext cx="4104456" cy="2554545"/>
              </a:xfrm>
              <a:prstGeom prst="rect">
                <a:avLst/>
              </a:prstGeom>
              <a:noFill/>
            </p:spPr>
            <p:txBody>
              <a:bodyPr wrap="square" rtlCol="0">
                <a:spAutoFit/>
              </a:bodyPr>
              <a:lstStyle/>
              <a:p>
                <a:pPr marL="342900" indent="-342900" algn="just">
                  <a:buFont typeface="+mj-lt"/>
                  <a:buAutoNum type="arabicPeriod" startAt="2"/>
                </a:pPr>
                <a:r>
                  <a:rPr lang="es-PE" sz="1600" dirty="0" smtClean="0">
                    <a:latin typeface="Arial" panose="020B0604020202020204" pitchFamily="34" charset="0"/>
                    <a:cs typeface="Arial" panose="020B0604020202020204" pitchFamily="34" charset="0"/>
                  </a:rPr>
                  <a:t>Tres barras, cada una fabricada con diferentes materiales, están conectadas entre si y ubicadas entre dos paredes cuando la temperatura es </a:t>
                </a:r>
                <a14:m>
                  <m:oMath xmlns:m="http://schemas.openxmlformats.org/officeDocument/2006/math">
                    <m:sSub>
                      <m:sSubPr>
                        <m:ctrlPr>
                          <a:rPr lang="es-PE" sz="1600" i="1">
                            <a:latin typeface="Cambria Math" panose="02040503050406030204" pitchFamily="18" charset="0"/>
                            <a:cs typeface="Arial" panose="020B0604020202020204" pitchFamily="34" charset="0"/>
                          </a:rPr>
                        </m:ctrlPr>
                      </m:sSubPr>
                      <m:e>
                        <m:r>
                          <a:rPr lang="es-PE" sz="1600" i="1">
                            <a:latin typeface="Cambria Math" panose="02040503050406030204" pitchFamily="18" charset="0"/>
                            <a:cs typeface="Arial" panose="020B0604020202020204" pitchFamily="34" charset="0"/>
                          </a:rPr>
                          <m:t>𝑇</m:t>
                        </m:r>
                      </m:e>
                      <m:sub>
                        <m:r>
                          <a:rPr lang="es-PE" sz="1600" i="1">
                            <a:latin typeface="Cambria Math" panose="02040503050406030204" pitchFamily="18" charset="0"/>
                            <a:cs typeface="Arial" panose="020B0604020202020204" pitchFamily="34" charset="0"/>
                          </a:rPr>
                          <m:t>1</m:t>
                        </m:r>
                      </m:sub>
                    </m:sSub>
                    <m:r>
                      <a:rPr lang="es-PE" sz="1600" i="1">
                        <a:latin typeface="Cambria Math" panose="02040503050406030204" pitchFamily="18" charset="0"/>
                        <a:cs typeface="Arial" panose="020B0604020202020204" pitchFamily="34" charset="0"/>
                      </a:rPr>
                      <m:t>=</m:t>
                    </m:r>
                    <m:sSup>
                      <m:sSupPr>
                        <m:ctrlPr>
                          <a:rPr lang="es-PE" sz="1600" i="1">
                            <a:latin typeface="Cambria Math" panose="02040503050406030204" pitchFamily="18" charset="0"/>
                            <a:cs typeface="Arial" panose="020B0604020202020204" pitchFamily="34" charset="0"/>
                          </a:rPr>
                        </m:ctrlPr>
                      </m:sSupPr>
                      <m:e>
                        <m:r>
                          <a:rPr lang="es-PE" sz="1600" b="0" i="1" smtClean="0">
                            <a:latin typeface="Cambria Math" panose="02040503050406030204" pitchFamily="18" charset="0"/>
                            <a:cs typeface="Arial" panose="020B0604020202020204" pitchFamily="34" charset="0"/>
                          </a:rPr>
                          <m:t>12 </m:t>
                        </m:r>
                      </m:e>
                      <m:sup>
                        <m:r>
                          <a:rPr lang="es-PE" sz="1600" i="1">
                            <a:latin typeface="Cambria Math" panose="02040503050406030204" pitchFamily="18" charset="0"/>
                            <a:cs typeface="Arial" panose="020B0604020202020204" pitchFamily="34" charset="0"/>
                          </a:rPr>
                          <m:t>0</m:t>
                        </m:r>
                      </m:sup>
                    </m:sSup>
                    <m:r>
                      <a:rPr lang="es-PE" sz="1600" b="0" i="1" smtClean="0">
                        <a:latin typeface="Cambria Math" panose="02040503050406030204" pitchFamily="18" charset="0"/>
                        <a:cs typeface="Arial" panose="020B0604020202020204" pitchFamily="34" charset="0"/>
                      </a:rPr>
                      <m:t>𝐶</m:t>
                    </m:r>
                  </m:oMath>
                </a14:m>
                <a:r>
                  <a:rPr lang="es-PE" sz="1600" dirty="0" smtClean="0">
                    <a:latin typeface="Arial" panose="020B0604020202020204" pitchFamily="34" charset="0"/>
                    <a:cs typeface="Arial" panose="020B0604020202020204" pitchFamily="34" charset="0"/>
                  </a:rPr>
                  <a:t>. Determine la fuerza ejercida sobre los soportes (rígidos) cuando la temperatura es  </a:t>
                </a:r>
                <a14:m>
                  <m:oMath xmlns:m="http://schemas.openxmlformats.org/officeDocument/2006/math">
                    <m:sSub>
                      <m:sSubPr>
                        <m:ctrlPr>
                          <a:rPr lang="es-PE" sz="1600" i="1">
                            <a:latin typeface="Cambria Math" panose="02040503050406030204" pitchFamily="18" charset="0"/>
                            <a:cs typeface="Arial" panose="020B0604020202020204" pitchFamily="34" charset="0"/>
                          </a:rPr>
                        </m:ctrlPr>
                      </m:sSubPr>
                      <m:e>
                        <m:r>
                          <a:rPr lang="es-PE" sz="1600" i="1">
                            <a:latin typeface="Cambria Math" panose="02040503050406030204" pitchFamily="18" charset="0"/>
                            <a:cs typeface="Arial" panose="020B0604020202020204" pitchFamily="34" charset="0"/>
                          </a:rPr>
                          <m:t>𝑇</m:t>
                        </m:r>
                      </m:e>
                      <m:sub>
                        <m:r>
                          <a:rPr lang="es-PE" sz="1600" b="0" i="1" smtClean="0">
                            <a:latin typeface="Cambria Math" panose="02040503050406030204" pitchFamily="18" charset="0"/>
                            <a:cs typeface="Arial" panose="020B0604020202020204" pitchFamily="34" charset="0"/>
                          </a:rPr>
                          <m:t>2</m:t>
                        </m:r>
                      </m:sub>
                    </m:sSub>
                    <m:r>
                      <a:rPr lang="es-PE" sz="1600" i="1">
                        <a:latin typeface="Cambria Math" panose="02040503050406030204" pitchFamily="18" charset="0"/>
                        <a:cs typeface="Arial" panose="020B0604020202020204" pitchFamily="34" charset="0"/>
                      </a:rPr>
                      <m:t>=</m:t>
                    </m:r>
                    <m:sSup>
                      <m:sSupPr>
                        <m:ctrlPr>
                          <a:rPr lang="es-PE" sz="1600" i="1">
                            <a:latin typeface="Cambria Math" panose="02040503050406030204" pitchFamily="18" charset="0"/>
                            <a:cs typeface="Arial" panose="020B0604020202020204" pitchFamily="34" charset="0"/>
                          </a:rPr>
                        </m:ctrlPr>
                      </m:sSupPr>
                      <m:e>
                        <m:r>
                          <a:rPr lang="es-PE" sz="1600" b="0" i="1" smtClean="0">
                            <a:latin typeface="Cambria Math" panose="02040503050406030204" pitchFamily="18" charset="0"/>
                            <a:cs typeface="Arial" panose="020B0604020202020204" pitchFamily="34" charset="0"/>
                          </a:rPr>
                          <m:t>18</m:t>
                        </m:r>
                      </m:e>
                      <m:sup>
                        <m:r>
                          <a:rPr lang="es-PE" sz="1600" i="1">
                            <a:latin typeface="Cambria Math" panose="02040503050406030204" pitchFamily="18" charset="0"/>
                            <a:cs typeface="Arial" panose="020B0604020202020204" pitchFamily="34" charset="0"/>
                          </a:rPr>
                          <m:t>0</m:t>
                        </m:r>
                      </m:sup>
                    </m:sSup>
                    <m:r>
                      <a:rPr lang="es-PE" sz="1600" b="0" i="1" smtClean="0">
                        <a:latin typeface="Cambria Math" panose="02040503050406030204" pitchFamily="18" charset="0"/>
                        <a:cs typeface="Arial" panose="020B0604020202020204" pitchFamily="34" charset="0"/>
                      </a:rPr>
                      <m:t>𝐶</m:t>
                    </m:r>
                  </m:oMath>
                </a14:m>
                <a:r>
                  <a:rPr lang="es-PE" sz="1600" dirty="0" smtClean="0">
                    <a:latin typeface="Arial" panose="020B0604020202020204" pitchFamily="34" charset="0"/>
                    <a:cs typeface="Arial" panose="020B0604020202020204" pitchFamily="34" charset="0"/>
                  </a:rPr>
                  <a:t>. Las propiedades del material y el área de la sección transversal de cada barra se muestra en la figura. </a:t>
                </a:r>
                <a:endParaRPr lang="es-PE" sz="1600" dirty="0">
                  <a:latin typeface="Arial" panose="020B0604020202020204" pitchFamily="34" charset="0"/>
                  <a:cs typeface="Arial" panose="020B0604020202020204" pitchFamily="34" charset="0"/>
                </a:endParaRPr>
              </a:p>
            </p:txBody>
          </p:sp>
        </mc:Choice>
        <mc:Fallback>
          <p:sp>
            <p:nvSpPr>
              <p:cNvPr id="10" name="CuadroTexto 9"/>
              <p:cNvSpPr txBox="1">
                <a:spLocks noRot="1" noChangeAspect="1" noMove="1" noResize="1" noEditPoints="1" noAdjustHandles="1" noChangeArrowheads="1" noChangeShapeType="1" noTextEdit="1"/>
              </p:cNvSpPr>
              <p:nvPr/>
            </p:nvSpPr>
            <p:spPr>
              <a:xfrm>
                <a:off x="5385048" y="1844824"/>
                <a:ext cx="4104456" cy="2554545"/>
              </a:xfrm>
              <a:prstGeom prst="rect">
                <a:avLst/>
              </a:prstGeom>
              <a:blipFill rotWithShape="0">
                <a:blip r:embed="rId4"/>
                <a:stretch>
                  <a:fillRect l="-593" t="-716" r="-742" b="-2148"/>
                </a:stretch>
              </a:blipFill>
            </p:spPr>
            <p:txBody>
              <a:bodyPr/>
              <a:lstStyle/>
              <a:p>
                <a:r>
                  <a:rPr lang="es-PE">
                    <a:noFill/>
                  </a:rPr>
                  <a:t> </a:t>
                </a:r>
              </a:p>
            </p:txBody>
          </p:sp>
        </mc:Fallback>
      </mc:AlternateContent>
      <p:pic>
        <p:nvPicPr>
          <p:cNvPr id="11" name="Imagen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9954" y="4698647"/>
            <a:ext cx="3649550" cy="1753309"/>
          </a:xfrm>
          <a:prstGeom prst="rect">
            <a:avLst/>
          </a:prstGeom>
        </p:spPr>
      </p:pic>
    </p:spTree>
    <p:extLst>
      <p:ext uri="{BB962C8B-B14F-4D97-AF65-F5344CB8AC3E}">
        <p14:creationId xmlns:p14="http://schemas.microsoft.com/office/powerpoint/2010/main" val="3522121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81828" y="733294"/>
            <a:ext cx="3415188" cy="64244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dirty="0">
                <a:solidFill>
                  <a:schemeClr val="tx1"/>
                </a:solidFill>
              </a:rPr>
              <a:t>DILATACIÓN DE AREA</a:t>
            </a:r>
            <a:endParaRPr lang="es-PE" sz="2400" b="1" dirty="0">
              <a:solidFill>
                <a:schemeClr val="tx1"/>
              </a:solidFill>
            </a:endParaRPr>
          </a:p>
        </p:txBody>
      </p:sp>
      <p:graphicFrame>
        <p:nvGraphicFramePr>
          <p:cNvPr id="8" name="Object 2">
            <a:extLst>
              <a:ext uri="{FF2B5EF4-FFF2-40B4-BE49-F238E27FC236}">
                <a16:creationId xmlns:a16="http://schemas.microsoft.com/office/drawing/2014/main" xmlns="" id="{8CE57AE5-EF8A-4D29-BC23-4D4553029161}"/>
              </a:ext>
            </a:extLst>
          </p:cNvPr>
          <p:cNvGraphicFramePr>
            <a:graphicFrameLocks noChangeAspect="1"/>
          </p:cNvGraphicFramePr>
          <p:nvPr>
            <p:extLst>
              <p:ext uri="{D42A27DB-BD31-4B8C-83A1-F6EECF244321}">
                <p14:modId xmlns:p14="http://schemas.microsoft.com/office/powerpoint/2010/main" val="3248468520"/>
              </p:ext>
            </p:extLst>
          </p:nvPr>
        </p:nvGraphicFramePr>
        <p:xfrm>
          <a:off x="5441504" y="1865820"/>
          <a:ext cx="2679700" cy="2724150"/>
        </p:xfrm>
        <a:graphic>
          <a:graphicData uri="http://schemas.openxmlformats.org/presentationml/2006/ole">
            <mc:AlternateContent xmlns:mc="http://schemas.openxmlformats.org/markup-compatibility/2006">
              <mc:Choice xmlns:v="urn:schemas-microsoft-com:vml" Requires="v">
                <p:oleObj spid="_x0000_s10250" name="Clip" r:id="rId4" imgW="3411648" imgH="3468986" progId="">
                  <p:embed/>
                </p:oleObj>
              </mc:Choice>
              <mc:Fallback>
                <p:oleObj name="Clip" r:id="rId4" imgW="3411648" imgH="3468986" progId="">
                  <p:embed/>
                  <p:pic>
                    <p:nvPicPr>
                      <p:cNvPr id="1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1504" y="1865820"/>
                        <a:ext cx="2679700" cy="272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1029">
            <a:extLst>
              <a:ext uri="{FF2B5EF4-FFF2-40B4-BE49-F238E27FC236}">
                <a16:creationId xmlns:a16="http://schemas.microsoft.com/office/drawing/2014/main" xmlns="" id="{691ACC36-A4FA-4A31-8A83-3A677D07293B}"/>
              </a:ext>
            </a:extLst>
          </p:cNvPr>
          <p:cNvSpPr txBox="1">
            <a:spLocks noChangeArrowheads="1"/>
          </p:cNvSpPr>
          <p:nvPr/>
        </p:nvSpPr>
        <p:spPr bwMode="auto">
          <a:xfrm>
            <a:off x="2310408" y="4943526"/>
            <a:ext cx="5029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s-MX" sz="2000" dirty="0">
                <a:latin typeface="Arial" pitchFamily="34" charset="0"/>
                <a:cs typeface="Arial" pitchFamily="34" charset="0"/>
              </a:rPr>
              <a:t>La </a:t>
            </a:r>
            <a:r>
              <a:rPr lang="es-MX" sz="2000" dirty="0">
                <a:solidFill>
                  <a:srgbClr val="FF0000"/>
                </a:solidFill>
                <a:latin typeface="Arial" pitchFamily="34" charset="0"/>
                <a:cs typeface="Arial" pitchFamily="34" charset="0"/>
              </a:rPr>
              <a:t>dilatación de área </a:t>
            </a:r>
            <a:r>
              <a:rPr lang="es-MX" sz="2000" dirty="0">
                <a:latin typeface="Arial" pitchFamily="34" charset="0"/>
                <a:cs typeface="Arial" pitchFamily="34" charset="0"/>
              </a:rPr>
              <a:t>es análoga a la </a:t>
            </a:r>
            <a:r>
              <a:rPr lang="es-MX" sz="2000" dirty="0">
                <a:solidFill>
                  <a:srgbClr val="FF0000"/>
                </a:solidFill>
                <a:latin typeface="Arial" pitchFamily="34" charset="0"/>
                <a:cs typeface="Arial" pitchFamily="34" charset="0"/>
              </a:rPr>
              <a:t>ampliación de una fotografía</a:t>
            </a:r>
            <a:r>
              <a:rPr lang="es-MX" sz="2000" dirty="0">
                <a:latin typeface="Arial" pitchFamily="34" charset="0"/>
                <a:cs typeface="Arial" pitchFamily="34" charset="0"/>
              </a:rPr>
              <a:t>.  </a:t>
            </a:r>
          </a:p>
        </p:txBody>
      </p:sp>
      <p:sp>
        <p:nvSpPr>
          <p:cNvPr id="10" name="Text Box 1030">
            <a:extLst>
              <a:ext uri="{FF2B5EF4-FFF2-40B4-BE49-F238E27FC236}">
                <a16:creationId xmlns:a16="http://schemas.microsoft.com/office/drawing/2014/main" xmlns="" id="{0803CE4F-555B-42BD-9890-D045B09A751D}"/>
              </a:ext>
            </a:extLst>
          </p:cNvPr>
          <p:cNvSpPr txBox="1">
            <a:spLocks noChangeArrowheads="1"/>
          </p:cNvSpPr>
          <p:nvPr/>
        </p:nvSpPr>
        <p:spPr bwMode="auto">
          <a:xfrm>
            <a:off x="1631504" y="5861627"/>
            <a:ext cx="6019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s-MX" sz="2000" dirty="0">
                <a:latin typeface="Arial" pitchFamily="34" charset="0"/>
                <a:cs typeface="Arial" pitchFamily="34" charset="0"/>
              </a:rPr>
              <a:t>El ejemplo muestra una </a:t>
            </a:r>
            <a:r>
              <a:rPr lang="es-MX" sz="2000" dirty="0">
                <a:solidFill>
                  <a:srgbClr val="FF0000"/>
                </a:solidFill>
                <a:latin typeface="Arial" pitchFamily="34" charset="0"/>
                <a:cs typeface="Arial" pitchFamily="34" charset="0"/>
              </a:rPr>
              <a:t>tuerca caliente </a:t>
            </a:r>
            <a:r>
              <a:rPr lang="es-MX" sz="2000" dirty="0">
                <a:latin typeface="Arial" pitchFamily="34" charset="0"/>
                <a:cs typeface="Arial" pitchFamily="34" charset="0"/>
              </a:rPr>
              <a:t>que se encoge para un firme ajuste después de enfriarse.</a:t>
            </a:r>
          </a:p>
        </p:txBody>
      </p:sp>
      <p:grpSp>
        <p:nvGrpSpPr>
          <p:cNvPr id="11" name="Group 1035">
            <a:extLst>
              <a:ext uri="{FF2B5EF4-FFF2-40B4-BE49-F238E27FC236}">
                <a16:creationId xmlns:a16="http://schemas.microsoft.com/office/drawing/2014/main" xmlns="" id="{A3A35697-C5C7-437A-B618-6569BA2C62FE}"/>
              </a:ext>
            </a:extLst>
          </p:cNvPr>
          <p:cNvGrpSpPr>
            <a:grpSpLocks/>
          </p:cNvGrpSpPr>
          <p:nvPr/>
        </p:nvGrpSpPr>
        <p:grpSpPr bwMode="auto">
          <a:xfrm>
            <a:off x="1174304" y="1865820"/>
            <a:ext cx="3762375" cy="2587625"/>
            <a:chOff x="2880" y="864"/>
            <a:chExt cx="2370" cy="1630"/>
          </a:xfrm>
        </p:grpSpPr>
        <p:pic>
          <p:nvPicPr>
            <p:cNvPr id="12" name="Picture 1027">
              <a:extLst>
                <a:ext uri="{FF2B5EF4-FFF2-40B4-BE49-F238E27FC236}">
                  <a16:creationId xmlns:a16="http://schemas.microsoft.com/office/drawing/2014/main" xmlns="" id="{B082B5C1-6C3F-40B8-800A-65E9A24FF8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0" y="912"/>
              <a:ext cx="2370" cy="1582"/>
            </a:xfrm>
            <a:prstGeom prst="rect">
              <a:avLst/>
            </a:prstGeom>
            <a:solidFill>
              <a:srgbClr val="000000"/>
            </a:solidFill>
            <a:ln w="76200">
              <a:solidFill>
                <a:srgbClr val="000000"/>
              </a:solidFill>
              <a:miter lim="800000"/>
              <a:headEnd/>
              <a:tailEnd/>
            </a:ln>
          </p:spPr>
        </p:pic>
        <p:sp>
          <p:nvSpPr>
            <p:cNvPr id="13" name="Text Box 1031">
              <a:extLst>
                <a:ext uri="{FF2B5EF4-FFF2-40B4-BE49-F238E27FC236}">
                  <a16:creationId xmlns:a16="http://schemas.microsoft.com/office/drawing/2014/main" xmlns="" id="{4B1B1B99-90A8-4DFC-9F1D-63A8BB5EB974}"/>
                </a:ext>
              </a:extLst>
            </p:cNvPr>
            <p:cNvSpPr txBox="1">
              <a:spLocks noChangeArrowheads="1"/>
            </p:cNvSpPr>
            <p:nvPr/>
          </p:nvSpPr>
          <p:spPr bwMode="auto">
            <a:xfrm>
              <a:off x="2928" y="864"/>
              <a:ext cx="163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a:solidFill>
                    <a:srgbClr val="000000"/>
                  </a:solidFill>
                </a:rPr>
                <a:t>Dilatación al calentarse.</a:t>
              </a:r>
            </a:p>
          </p:txBody>
        </p:sp>
        <p:sp>
          <p:nvSpPr>
            <p:cNvPr id="14" name="Line 1032">
              <a:extLst>
                <a:ext uri="{FF2B5EF4-FFF2-40B4-BE49-F238E27FC236}">
                  <a16:creationId xmlns:a16="http://schemas.microsoft.com/office/drawing/2014/main" xmlns="" id="{B8D11119-31A7-410F-89A3-95CD59B715E0}"/>
                </a:ext>
              </a:extLst>
            </p:cNvPr>
            <p:cNvSpPr>
              <a:spLocks noChangeShapeType="1"/>
            </p:cNvSpPr>
            <p:nvPr/>
          </p:nvSpPr>
          <p:spPr bwMode="auto">
            <a:xfrm>
              <a:off x="4080" y="1200"/>
              <a:ext cx="288" cy="192"/>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ES"/>
            </a:p>
          </p:txBody>
        </p:sp>
        <p:sp>
          <p:nvSpPr>
            <p:cNvPr id="15" name="Text Box 1033">
              <a:extLst>
                <a:ext uri="{FF2B5EF4-FFF2-40B4-BE49-F238E27FC236}">
                  <a16:creationId xmlns:a16="http://schemas.microsoft.com/office/drawing/2014/main" xmlns="" id="{E2D80724-159F-4D5E-A983-5922119B2604}"/>
                </a:ext>
              </a:extLst>
            </p:cNvPr>
            <p:cNvSpPr txBox="1">
              <a:spLocks noChangeArrowheads="1"/>
            </p:cNvSpPr>
            <p:nvPr/>
          </p:nvSpPr>
          <p:spPr bwMode="auto">
            <a:xfrm>
              <a:off x="3264" y="2160"/>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a:solidFill>
                    <a:srgbClr val="000000"/>
                  </a:solidFill>
                </a:rPr>
                <a:t>A</a:t>
              </a:r>
              <a:r>
                <a:rPr lang="es-MX" baseline="-25000">
                  <a:solidFill>
                    <a:srgbClr val="000000"/>
                  </a:solidFill>
                </a:rPr>
                <a:t>0</a:t>
              </a:r>
              <a:endParaRPr lang="es-MX">
                <a:solidFill>
                  <a:srgbClr val="000000"/>
                </a:solidFill>
              </a:endParaRPr>
            </a:p>
          </p:txBody>
        </p:sp>
        <p:sp>
          <p:nvSpPr>
            <p:cNvPr id="16" name="Text Box 1034">
              <a:extLst>
                <a:ext uri="{FF2B5EF4-FFF2-40B4-BE49-F238E27FC236}">
                  <a16:creationId xmlns:a16="http://schemas.microsoft.com/office/drawing/2014/main" xmlns="" id="{8055BCE5-56E3-404A-A0C4-CC1B5B398D52}"/>
                </a:ext>
              </a:extLst>
            </p:cNvPr>
            <p:cNvSpPr txBox="1">
              <a:spLocks noChangeArrowheads="1"/>
            </p:cNvSpPr>
            <p:nvPr/>
          </p:nvSpPr>
          <p:spPr bwMode="auto">
            <a:xfrm>
              <a:off x="4320" y="2160"/>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a:solidFill>
                    <a:srgbClr val="000000"/>
                  </a:solidFill>
                </a:rPr>
                <a:t>A</a:t>
              </a:r>
            </a:p>
          </p:txBody>
        </p:sp>
      </p:grpSp>
    </p:spTree>
    <p:extLst>
      <p:ext uri="{BB962C8B-B14F-4D97-AF65-F5344CB8AC3E}">
        <p14:creationId xmlns:p14="http://schemas.microsoft.com/office/powerpoint/2010/main" val="221327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ou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17" presetClass="entr" presetSubtype="8"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ppt_x</p:attrName>
                                        </p:attrNameLst>
                                      </p:cBhvr>
                                      <p:tavLst>
                                        <p:tav tm="0">
                                          <p:val>
                                            <p:strVal val="#ppt_x-#ppt_w/2"/>
                                          </p:val>
                                        </p:tav>
                                        <p:tav tm="100000">
                                          <p:val>
                                            <p:strVal val="#ppt_x"/>
                                          </p:val>
                                        </p:tav>
                                      </p:tavLst>
                                    </p:anim>
                                    <p:anim calcmode="lin" valueType="num">
                                      <p:cBhvr>
                                        <p:cTn id="23" dur="500" fill="hold"/>
                                        <p:tgtEl>
                                          <p:spTgt spid="10"/>
                                        </p:tgtEl>
                                        <p:attrNameLst>
                                          <p:attrName>ppt_y</p:attrName>
                                        </p:attrNameLst>
                                      </p:cBhvr>
                                      <p:tavLst>
                                        <p:tav tm="0">
                                          <p:val>
                                            <p:strVal val="#ppt_y"/>
                                          </p:val>
                                        </p:tav>
                                        <p:tav tm="100000">
                                          <p:val>
                                            <p:strVal val="#ppt_y"/>
                                          </p:val>
                                        </p:tav>
                                      </p:tavLst>
                                    </p:anim>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79602" y="834537"/>
            <a:ext cx="3821714" cy="60541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DILATACIÓN DE AREA</a:t>
            </a:r>
          </a:p>
        </p:txBody>
      </p:sp>
      <p:grpSp>
        <p:nvGrpSpPr>
          <p:cNvPr id="14" name="Group 1050">
            <a:extLst>
              <a:ext uri="{FF2B5EF4-FFF2-40B4-BE49-F238E27FC236}">
                <a16:creationId xmlns:a16="http://schemas.microsoft.com/office/drawing/2014/main" xmlns="" id="{EFDC2941-8414-449C-992C-3947A0FDB2DD}"/>
              </a:ext>
            </a:extLst>
          </p:cNvPr>
          <p:cNvGrpSpPr>
            <a:grpSpLocks/>
          </p:cNvGrpSpPr>
          <p:nvPr/>
        </p:nvGrpSpPr>
        <p:grpSpPr bwMode="auto">
          <a:xfrm>
            <a:off x="4448944" y="1762418"/>
            <a:ext cx="4876800" cy="3200400"/>
            <a:chOff x="1920" y="1392"/>
            <a:chExt cx="3072" cy="2016"/>
          </a:xfrm>
        </p:grpSpPr>
        <p:sp>
          <p:nvSpPr>
            <p:cNvPr id="15" name="Rectangle 1029">
              <a:extLst>
                <a:ext uri="{FF2B5EF4-FFF2-40B4-BE49-F238E27FC236}">
                  <a16:creationId xmlns:a16="http://schemas.microsoft.com/office/drawing/2014/main" xmlns="" id="{DFB9DFE0-7904-472D-9989-630822EF63FC}"/>
                </a:ext>
              </a:extLst>
            </p:cNvPr>
            <p:cNvSpPr>
              <a:spLocks noChangeArrowheads="1"/>
            </p:cNvSpPr>
            <p:nvPr/>
          </p:nvSpPr>
          <p:spPr bwMode="auto">
            <a:xfrm>
              <a:off x="1920" y="1392"/>
              <a:ext cx="3072" cy="2016"/>
            </a:xfrm>
            <a:prstGeom prst="rect">
              <a:avLst/>
            </a:prstGeom>
            <a:solidFill>
              <a:srgbClr val="FFFFCC"/>
            </a:solidFill>
            <a:ln w="57150">
              <a:solidFill>
                <a:srgbClr val="000000"/>
              </a:solidFill>
              <a:miter lim="800000"/>
              <a:headEnd/>
              <a:tailEnd/>
            </a:ln>
          </p:spPr>
          <p:txBody>
            <a:bodyPr wrap="none" anchor="ctr"/>
            <a:lstStyle/>
            <a:p>
              <a:endParaRPr lang="es-ES">
                <a:latin typeface="Times New Roman" pitchFamily="18" charset="0"/>
                <a:cs typeface="Times New Roman" pitchFamily="18" charset="0"/>
              </a:endParaRPr>
            </a:p>
          </p:txBody>
        </p:sp>
        <p:sp>
          <p:nvSpPr>
            <p:cNvPr id="16" name="Rectangle 1028">
              <a:extLst>
                <a:ext uri="{FF2B5EF4-FFF2-40B4-BE49-F238E27FC236}">
                  <a16:creationId xmlns:a16="http://schemas.microsoft.com/office/drawing/2014/main" xmlns="" id="{39FACD17-390C-4B4A-8C6E-177E413CAE2C}"/>
                </a:ext>
              </a:extLst>
            </p:cNvPr>
            <p:cNvSpPr>
              <a:spLocks noChangeArrowheads="1"/>
            </p:cNvSpPr>
            <p:nvPr/>
          </p:nvSpPr>
          <p:spPr bwMode="auto">
            <a:xfrm>
              <a:off x="2688" y="1728"/>
              <a:ext cx="1872" cy="960"/>
            </a:xfrm>
            <a:prstGeom prst="rect">
              <a:avLst/>
            </a:prstGeom>
            <a:solidFill>
              <a:srgbClr val="CCFFCC"/>
            </a:solidFill>
            <a:ln w="19050">
              <a:solidFill>
                <a:srgbClr val="000000"/>
              </a:solidFill>
              <a:miter lim="800000"/>
              <a:headEnd/>
              <a:tailEnd/>
            </a:ln>
          </p:spPr>
          <p:txBody>
            <a:bodyPr wrap="none" anchor="ctr"/>
            <a:lstStyle/>
            <a:p>
              <a:endParaRPr lang="es-ES">
                <a:latin typeface="Times New Roman" pitchFamily="18" charset="0"/>
                <a:cs typeface="Times New Roman" pitchFamily="18" charset="0"/>
              </a:endParaRPr>
            </a:p>
          </p:txBody>
        </p:sp>
        <p:sp>
          <p:nvSpPr>
            <p:cNvPr id="17" name="Rectangle 1027">
              <a:extLst>
                <a:ext uri="{FF2B5EF4-FFF2-40B4-BE49-F238E27FC236}">
                  <a16:creationId xmlns:a16="http://schemas.microsoft.com/office/drawing/2014/main" xmlns="" id="{85625212-FF2F-4836-A949-11911698541F}"/>
                </a:ext>
              </a:extLst>
            </p:cNvPr>
            <p:cNvSpPr>
              <a:spLocks noChangeArrowheads="1"/>
            </p:cNvSpPr>
            <p:nvPr/>
          </p:nvSpPr>
          <p:spPr bwMode="auto">
            <a:xfrm>
              <a:off x="2688" y="2016"/>
              <a:ext cx="1392" cy="672"/>
            </a:xfrm>
            <a:prstGeom prst="rect">
              <a:avLst/>
            </a:prstGeom>
            <a:solidFill>
              <a:srgbClr val="CCFFCC"/>
            </a:solidFill>
            <a:ln w="19050">
              <a:solidFill>
                <a:srgbClr val="000000"/>
              </a:solidFill>
              <a:miter lim="800000"/>
              <a:headEnd/>
              <a:tailEnd/>
            </a:ln>
          </p:spPr>
          <p:txBody>
            <a:bodyPr wrap="none" anchor="ctr"/>
            <a:lstStyle/>
            <a:p>
              <a:endParaRPr lang="es-ES">
                <a:latin typeface="Times New Roman" pitchFamily="18" charset="0"/>
                <a:cs typeface="Times New Roman" pitchFamily="18" charset="0"/>
              </a:endParaRPr>
            </a:p>
          </p:txBody>
        </p:sp>
        <p:sp>
          <p:nvSpPr>
            <p:cNvPr id="18" name="Line 1030">
              <a:extLst>
                <a:ext uri="{FF2B5EF4-FFF2-40B4-BE49-F238E27FC236}">
                  <a16:creationId xmlns:a16="http://schemas.microsoft.com/office/drawing/2014/main" xmlns="" id="{F4EFAF20-475E-4FFB-AF2B-4083CBC4B48F}"/>
                </a:ext>
              </a:extLst>
            </p:cNvPr>
            <p:cNvSpPr>
              <a:spLocks noChangeShapeType="1"/>
            </p:cNvSpPr>
            <p:nvPr/>
          </p:nvSpPr>
          <p:spPr bwMode="auto">
            <a:xfrm flipH="1">
              <a:off x="2496" y="2016"/>
              <a:ext cx="19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19" name="Line 1031">
              <a:extLst>
                <a:ext uri="{FF2B5EF4-FFF2-40B4-BE49-F238E27FC236}">
                  <a16:creationId xmlns:a16="http://schemas.microsoft.com/office/drawing/2014/main" xmlns="" id="{9F8DF7D4-F3A8-4330-823C-AE3F6296B057}"/>
                </a:ext>
              </a:extLst>
            </p:cNvPr>
            <p:cNvSpPr>
              <a:spLocks noChangeShapeType="1"/>
            </p:cNvSpPr>
            <p:nvPr/>
          </p:nvSpPr>
          <p:spPr bwMode="auto">
            <a:xfrm flipH="1">
              <a:off x="2256" y="2688"/>
              <a:ext cx="43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0" name="Line 1032">
              <a:extLst>
                <a:ext uri="{FF2B5EF4-FFF2-40B4-BE49-F238E27FC236}">
                  <a16:creationId xmlns:a16="http://schemas.microsoft.com/office/drawing/2014/main" xmlns="" id="{5D230717-07BD-4C41-A30B-258D7B5AA35C}"/>
                </a:ext>
              </a:extLst>
            </p:cNvPr>
            <p:cNvSpPr>
              <a:spLocks noChangeShapeType="1"/>
            </p:cNvSpPr>
            <p:nvPr/>
          </p:nvSpPr>
          <p:spPr bwMode="auto">
            <a:xfrm flipH="1">
              <a:off x="2256" y="1728"/>
              <a:ext cx="43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1" name="Line 1033">
              <a:extLst>
                <a:ext uri="{FF2B5EF4-FFF2-40B4-BE49-F238E27FC236}">
                  <a16:creationId xmlns:a16="http://schemas.microsoft.com/office/drawing/2014/main" xmlns="" id="{6DDAA9CD-5ED7-4497-8237-6DDD23A0E131}"/>
                </a:ext>
              </a:extLst>
            </p:cNvPr>
            <p:cNvSpPr>
              <a:spLocks noChangeShapeType="1"/>
            </p:cNvSpPr>
            <p:nvPr/>
          </p:nvSpPr>
          <p:spPr bwMode="auto">
            <a:xfrm>
              <a:off x="2688" y="2688"/>
              <a:ext cx="0" cy="38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2" name="Line 1034">
              <a:extLst>
                <a:ext uri="{FF2B5EF4-FFF2-40B4-BE49-F238E27FC236}">
                  <a16:creationId xmlns:a16="http://schemas.microsoft.com/office/drawing/2014/main" xmlns="" id="{6FE59C46-3B01-44A8-9B0C-999A3E6CBD5A}"/>
                </a:ext>
              </a:extLst>
            </p:cNvPr>
            <p:cNvSpPr>
              <a:spLocks noChangeShapeType="1"/>
            </p:cNvSpPr>
            <p:nvPr/>
          </p:nvSpPr>
          <p:spPr bwMode="auto">
            <a:xfrm>
              <a:off x="4080" y="2688"/>
              <a:ext cx="0" cy="1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3" name="Line 1035">
              <a:extLst>
                <a:ext uri="{FF2B5EF4-FFF2-40B4-BE49-F238E27FC236}">
                  <a16:creationId xmlns:a16="http://schemas.microsoft.com/office/drawing/2014/main" xmlns="" id="{1785516A-34D5-49FA-B315-A2D8759F0A2F}"/>
                </a:ext>
              </a:extLst>
            </p:cNvPr>
            <p:cNvSpPr>
              <a:spLocks noChangeShapeType="1"/>
            </p:cNvSpPr>
            <p:nvPr/>
          </p:nvSpPr>
          <p:spPr bwMode="auto">
            <a:xfrm>
              <a:off x="4560" y="2688"/>
              <a:ext cx="0" cy="33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4" name="Line 1036">
              <a:extLst>
                <a:ext uri="{FF2B5EF4-FFF2-40B4-BE49-F238E27FC236}">
                  <a16:creationId xmlns:a16="http://schemas.microsoft.com/office/drawing/2014/main" xmlns="" id="{6AA80C48-9201-4F1C-88E1-8A34AF9809FC}"/>
                </a:ext>
              </a:extLst>
            </p:cNvPr>
            <p:cNvSpPr>
              <a:spLocks noChangeShapeType="1"/>
            </p:cNvSpPr>
            <p:nvPr/>
          </p:nvSpPr>
          <p:spPr bwMode="auto">
            <a:xfrm flipH="1">
              <a:off x="4560" y="2352"/>
              <a:ext cx="19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5" name="Line 1037">
              <a:extLst>
                <a:ext uri="{FF2B5EF4-FFF2-40B4-BE49-F238E27FC236}">
                  <a16:creationId xmlns:a16="http://schemas.microsoft.com/office/drawing/2014/main" xmlns="" id="{520F1ACA-99F7-43EB-9526-ADDF0AB354ED}"/>
                </a:ext>
              </a:extLst>
            </p:cNvPr>
            <p:cNvSpPr>
              <a:spLocks noChangeShapeType="1"/>
            </p:cNvSpPr>
            <p:nvPr/>
          </p:nvSpPr>
          <p:spPr bwMode="auto">
            <a:xfrm>
              <a:off x="3888" y="2352"/>
              <a:ext cx="19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6" name="Line 1038">
              <a:extLst>
                <a:ext uri="{FF2B5EF4-FFF2-40B4-BE49-F238E27FC236}">
                  <a16:creationId xmlns:a16="http://schemas.microsoft.com/office/drawing/2014/main" xmlns="" id="{55EC4E7B-C643-42E7-B294-04037D0EC146}"/>
                </a:ext>
              </a:extLst>
            </p:cNvPr>
            <p:cNvSpPr>
              <a:spLocks noChangeShapeType="1"/>
            </p:cNvSpPr>
            <p:nvPr/>
          </p:nvSpPr>
          <p:spPr bwMode="auto">
            <a:xfrm rot="5400000" flipH="1" flipV="1">
              <a:off x="3264" y="2112"/>
              <a:ext cx="19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7" name="Line 1039">
              <a:extLst>
                <a:ext uri="{FF2B5EF4-FFF2-40B4-BE49-F238E27FC236}">
                  <a16:creationId xmlns:a16="http://schemas.microsoft.com/office/drawing/2014/main" xmlns="" id="{DCB017D6-E91C-4611-AAFE-15FD40B17665}"/>
                </a:ext>
              </a:extLst>
            </p:cNvPr>
            <p:cNvSpPr>
              <a:spLocks noChangeShapeType="1"/>
            </p:cNvSpPr>
            <p:nvPr/>
          </p:nvSpPr>
          <p:spPr bwMode="auto">
            <a:xfrm rot="16200000" flipH="1">
              <a:off x="3264" y="1632"/>
              <a:ext cx="19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28" name="Text Box 1040">
              <a:extLst>
                <a:ext uri="{FF2B5EF4-FFF2-40B4-BE49-F238E27FC236}">
                  <a16:creationId xmlns:a16="http://schemas.microsoft.com/office/drawing/2014/main" xmlns="" id="{821DA0A0-FFE4-46FF-BD0C-87642D5C99F4}"/>
                </a:ext>
              </a:extLst>
            </p:cNvPr>
            <p:cNvSpPr txBox="1">
              <a:spLocks noChangeArrowheads="1"/>
            </p:cNvSpPr>
            <p:nvPr/>
          </p:nvSpPr>
          <p:spPr bwMode="auto">
            <a:xfrm>
              <a:off x="3120" y="1775"/>
              <a:ext cx="5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DW</a:t>
              </a:r>
              <a:endParaRPr lang="es-MX">
                <a:latin typeface="Times New Roman" pitchFamily="18" charset="0"/>
                <a:cs typeface="Times New Roman" pitchFamily="18" charset="0"/>
              </a:endParaRPr>
            </a:p>
          </p:txBody>
        </p:sp>
        <p:sp>
          <p:nvSpPr>
            <p:cNvPr id="29" name="Text Box 1041">
              <a:extLst>
                <a:ext uri="{FF2B5EF4-FFF2-40B4-BE49-F238E27FC236}">
                  <a16:creationId xmlns:a16="http://schemas.microsoft.com/office/drawing/2014/main" xmlns="" id="{5E014059-A50C-4153-94EE-2FB3E14AE145}"/>
                </a:ext>
              </a:extLst>
            </p:cNvPr>
            <p:cNvSpPr txBox="1">
              <a:spLocks noChangeArrowheads="1"/>
            </p:cNvSpPr>
            <p:nvPr/>
          </p:nvSpPr>
          <p:spPr bwMode="auto">
            <a:xfrm>
              <a:off x="4032" y="2207"/>
              <a:ext cx="5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DL</a:t>
              </a:r>
              <a:endParaRPr lang="es-MX">
                <a:latin typeface="Times New Roman" pitchFamily="18" charset="0"/>
                <a:cs typeface="Times New Roman" pitchFamily="18" charset="0"/>
              </a:endParaRPr>
            </a:p>
          </p:txBody>
        </p:sp>
        <p:sp>
          <p:nvSpPr>
            <p:cNvPr id="30" name="Line 1042">
              <a:extLst>
                <a:ext uri="{FF2B5EF4-FFF2-40B4-BE49-F238E27FC236}">
                  <a16:creationId xmlns:a16="http://schemas.microsoft.com/office/drawing/2014/main" xmlns="" id="{0EC74BD6-7E51-4D0D-BEAA-92F69F864D1F}"/>
                </a:ext>
              </a:extLst>
            </p:cNvPr>
            <p:cNvSpPr>
              <a:spLocks noChangeShapeType="1"/>
            </p:cNvSpPr>
            <p:nvPr/>
          </p:nvSpPr>
          <p:spPr bwMode="auto">
            <a:xfrm>
              <a:off x="2688" y="2784"/>
              <a:ext cx="1392" cy="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31" name="Line 1043">
              <a:extLst>
                <a:ext uri="{FF2B5EF4-FFF2-40B4-BE49-F238E27FC236}">
                  <a16:creationId xmlns:a16="http://schemas.microsoft.com/office/drawing/2014/main" xmlns="" id="{CF3D05AE-B30F-492F-858D-8960A23A5E69}"/>
                </a:ext>
              </a:extLst>
            </p:cNvPr>
            <p:cNvSpPr>
              <a:spLocks noChangeShapeType="1"/>
            </p:cNvSpPr>
            <p:nvPr/>
          </p:nvSpPr>
          <p:spPr bwMode="auto">
            <a:xfrm>
              <a:off x="2688" y="3024"/>
              <a:ext cx="1824" cy="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32" name="Line 1044">
              <a:extLst>
                <a:ext uri="{FF2B5EF4-FFF2-40B4-BE49-F238E27FC236}">
                  <a16:creationId xmlns:a16="http://schemas.microsoft.com/office/drawing/2014/main" xmlns="" id="{AD21204E-C6CB-47B0-82F3-5E3EFED58913}"/>
                </a:ext>
              </a:extLst>
            </p:cNvPr>
            <p:cNvSpPr>
              <a:spLocks noChangeShapeType="1"/>
            </p:cNvSpPr>
            <p:nvPr/>
          </p:nvSpPr>
          <p:spPr bwMode="auto">
            <a:xfrm>
              <a:off x="2616" y="2015"/>
              <a:ext cx="0" cy="672"/>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33" name="Line 1045">
              <a:extLst>
                <a:ext uri="{FF2B5EF4-FFF2-40B4-BE49-F238E27FC236}">
                  <a16:creationId xmlns:a16="http://schemas.microsoft.com/office/drawing/2014/main" xmlns="" id="{B215296F-5B73-4DAA-B054-890587CAB4F7}"/>
                </a:ext>
              </a:extLst>
            </p:cNvPr>
            <p:cNvSpPr>
              <a:spLocks noChangeShapeType="1"/>
            </p:cNvSpPr>
            <p:nvPr/>
          </p:nvSpPr>
          <p:spPr bwMode="auto">
            <a:xfrm>
              <a:off x="2304" y="1728"/>
              <a:ext cx="0" cy="96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s-ES">
                <a:latin typeface="Times New Roman" pitchFamily="18" charset="0"/>
                <a:cs typeface="Times New Roman" pitchFamily="18" charset="0"/>
              </a:endParaRPr>
            </a:p>
          </p:txBody>
        </p:sp>
        <p:sp>
          <p:nvSpPr>
            <p:cNvPr id="34" name="Text Box 1046">
              <a:extLst>
                <a:ext uri="{FF2B5EF4-FFF2-40B4-BE49-F238E27FC236}">
                  <a16:creationId xmlns:a16="http://schemas.microsoft.com/office/drawing/2014/main" xmlns="" id="{2B587F5A-B20A-4A86-8151-CBD6B6F1F1D3}"/>
                </a:ext>
              </a:extLst>
            </p:cNvPr>
            <p:cNvSpPr txBox="1">
              <a:spLocks noChangeArrowheads="1"/>
            </p:cNvSpPr>
            <p:nvPr/>
          </p:nvSpPr>
          <p:spPr bwMode="auto">
            <a:xfrm>
              <a:off x="3600" y="3076"/>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L</a:t>
              </a:r>
            </a:p>
          </p:txBody>
        </p:sp>
        <p:sp>
          <p:nvSpPr>
            <p:cNvPr id="35" name="Text Box 1047">
              <a:extLst>
                <a:ext uri="{FF2B5EF4-FFF2-40B4-BE49-F238E27FC236}">
                  <a16:creationId xmlns:a16="http://schemas.microsoft.com/office/drawing/2014/main" xmlns="" id="{45DB9CDD-DF2B-4F7C-9747-F38C95DC05AA}"/>
                </a:ext>
              </a:extLst>
            </p:cNvPr>
            <p:cNvSpPr txBox="1">
              <a:spLocks noChangeArrowheads="1"/>
            </p:cNvSpPr>
            <p:nvPr/>
          </p:nvSpPr>
          <p:spPr bwMode="auto">
            <a:xfrm>
              <a:off x="3180" y="2760"/>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L</a:t>
              </a:r>
              <a:r>
                <a:rPr lang="es-MX" i="1" baseline="-25000">
                  <a:solidFill>
                    <a:srgbClr val="000000"/>
                  </a:solidFill>
                  <a:latin typeface="Times New Roman" pitchFamily="18" charset="0"/>
                  <a:cs typeface="Times New Roman" pitchFamily="18" charset="0"/>
                </a:rPr>
                <a:t>o</a:t>
              </a:r>
              <a:endParaRPr lang="es-MX" i="1">
                <a:solidFill>
                  <a:srgbClr val="000000"/>
                </a:solidFill>
                <a:latin typeface="Times New Roman" pitchFamily="18" charset="0"/>
                <a:cs typeface="Times New Roman" pitchFamily="18" charset="0"/>
              </a:endParaRPr>
            </a:p>
          </p:txBody>
        </p:sp>
        <p:sp>
          <p:nvSpPr>
            <p:cNvPr id="36" name="Text Box 1048">
              <a:extLst>
                <a:ext uri="{FF2B5EF4-FFF2-40B4-BE49-F238E27FC236}">
                  <a16:creationId xmlns:a16="http://schemas.microsoft.com/office/drawing/2014/main" xmlns="" id="{847024D4-2E5F-49E6-831B-D472CFFC663D}"/>
                </a:ext>
              </a:extLst>
            </p:cNvPr>
            <p:cNvSpPr txBox="1">
              <a:spLocks noChangeArrowheads="1"/>
            </p:cNvSpPr>
            <p:nvPr/>
          </p:nvSpPr>
          <p:spPr bwMode="auto">
            <a:xfrm>
              <a:off x="2256" y="2207"/>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W</a:t>
              </a:r>
              <a:r>
                <a:rPr lang="es-MX" i="1" baseline="-25000">
                  <a:solidFill>
                    <a:srgbClr val="000000"/>
                  </a:solidFill>
                  <a:latin typeface="Times New Roman" pitchFamily="18" charset="0"/>
                  <a:cs typeface="Times New Roman" pitchFamily="18" charset="0"/>
                </a:rPr>
                <a:t>o</a:t>
              </a:r>
              <a:endParaRPr lang="es-MX" i="1">
                <a:solidFill>
                  <a:srgbClr val="000000"/>
                </a:solidFill>
                <a:latin typeface="Times New Roman" pitchFamily="18" charset="0"/>
                <a:cs typeface="Times New Roman" pitchFamily="18" charset="0"/>
              </a:endParaRPr>
            </a:p>
          </p:txBody>
        </p:sp>
        <p:sp>
          <p:nvSpPr>
            <p:cNvPr id="37" name="Text Box 1049">
              <a:extLst>
                <a:ext uri="{FF2B5EF4-FFF2-40B4-BE49-F238E27FC236}">
                  <a16:creationId xmlns:a16="http://schemas.microsoft.com/office/drawing/2014/main" xmlns="" id="{965FD6D3-FC98-4BFB-BE0E-C0E1154D1F6C}"/>
                </a:ext>
              </a:extLst>
            </p:cNvPr>
            <p:cNvSpPr txBox="1">
              <a:spLocks noChangeArrowheads="1"/>
            </p:cNvSpPr>
            <p:nvPr/>
          </p:nvSpPr>
          <p:spPr bwMode="auto">
            <a:xfrm>
              <a:off x="1968" y="2063"/>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W</a:t>
              </a:r>
            </a:p>
          </p:txBody>
        </p:sp>
      </p:grpSp>
      <p:sp>
        <p:nvSpPr>
          <p:cNvPr id="38" name="Text Box 1051">
            <a:extLst>
              <a:ext uri="{FF2B5EF4-FFF2-40B4-BE49-F238E27FC236}">
                <a16:creationId xmlns:a16="http://schemas.microsoft.com/office/drawing/2014/main" xmlns="" id="{2B1F1F64-40EA-45B5-B6D4-2C6032545E0F}"/>
              </a:ext>
            </a:extLst>
          </p:cNvPr>
          <p:cNvSpPr txBox="1">
            <a:spLocks noChangeArrowheads="1"/>
          </p:cNvSpPr>
          <p:nvPr/>
        </p:nvSpPr>
        <p:spPr bwMode="auto">
          <a:xfrm>
            <a:off x="1383980" y="1786886"/>
            <a:ext cx="2176462" cy="369887"/>
          </a:xfrm>
          <a:prstGeom prst="rect">
            <a:avLst/>
          </a:prstGeom>
          <a:solidFill>
            <a:schemeClr val="tx2">
              <a:lumMod val="60000"/>
              <a:lumOff val="40000"/>
            </a:schemeClr>
          </a:solidFill>
          <a:ln w="19050">
            <a:solidFill>
              <a:srgbClr val="000000"/>
            </a:solidFill>
            <a:miter lim="800000"/>
            <a:headEnd/>
            <a:tailEnd/>
          </a:ln>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a:solidFill>
                  <a:srgbClr val="000000"/>
                </a:solidFill>
                <a:latin typeface="Times New Roman" pitchFamily="18" charset="0"/>
                <a:cs typeface="Times New Roman" pitchFamily="18" charset="0"/>
              </a:rPr>
              <a:t>A</a:t>
            </a:r>
            <a:r>
              <a:rPr lang="es-MX" i="1" baseline="-25000">
                <a:solidFill>
                  <a:srgbClr val="000000"/>
                </a:solidFill>
                <a:latin typeface="Times New Roman" pitchFamily="18" charset="0"/>
                <a:cs typeface="Times New Roman" pitchFamily="18" charset="0"/>
              </a:rPr>
              <a:t>0</a:t>
            </a:r>
            <a:r>
              <a:rPr lang="es-MX" i="1">
                <a:solidFill>
                  <a:srgbClr val="000000"/>
                </a:solidFill>
                <a:latin typeface="Times New Roman" pitchFamily="18" charset="0"/>
                <a:cs typeface="Times New Roman" pitchFamily="18" charset="0"/>
              </a:rPr>
              <a:t> = L</a:t>
            </a:r>
            <a:r>
              <a:rPr lang="es-MX" i="1" baseline="-25000">
                <a:solidFill>
                  <a:srgbClr val="000000"/>
                </a:solidFill>
                <a:latin typeface="Times New Roman" pitchFamily="18" charset="0"/>
                <a:cs typeface="Times New Roman" pitchFamily="18" charset="0"/>
              </a:rPr>
              <a:t>0</a:t>
            </a:r>
            <a:r>
              <a:rPr lang="es-MX" i="1">
                <a:solidFill>
                  <a:srgbClr val="000000"/>
                </a:solidFill>
                <a:latin typeface="Times New Roman" pitchFamily="18" charset="0"/>
                <a:cs typeface="Times New Roman" pitchFamily="18" charset="0"/>
              </a:rPr>
              <a:t>W</a:t>
            </a:r>
            <a:r>
              <a:rPr lang="es-MX" i="1" baseline="-25000">
                <a:solidFill>
                  <a:srgbClr val="000000"/>
                </a:solidFill>
                <a:latin typeface="Times New Roman" pitchFamily="18" charset="0"/>
                <a:cs typeface="Times New Roman" pitchFamily="18" charset="0"/>
              </a:rPr>
              <a:t>0 </a:t>
            </a:r>
            <a:r>
              <a:rPr lang="es-MX" i="1">
                <a:solidFill>
                  <a:srgbClr val="000000"/>
                </a:solidFill>
                <a:latin typeface="Times New Roman" pitchFamily="18" charset="0"/>
                <a:cs typeface="Times New Roman" pitchFamily="18" charset="0"/>
              </a:rPr>
              <a:t>A = LW</a:t>
            </a:r>
          </a:p>
        </p:txBody>
      </p:sp>
      <p:sp>
        <p:nvSpPr>
          <p:cNvPr id="39" name="Text Box 1053">
            <a:extLst>
              <a:ext uri="{FF2B5EF4-FFF2-40B4-BE49-F238E27FC236}">
                <a16:creationId xmlns:a16="http://schemas.microsoft.com/office/drawing/2014/main" xmlns="" id="{A8D0E69E-FC53-4CF4-AEA9-7F9AC58315C5}"/>
              </a:ext>
            </a:extLst>
          </p:cNvPr>
          <p:cNvSpPr txBox="1">
            <a:spLocks noChangeArrowheads="1"/>
          </p:cNvSpPr>
          <p:nvPr/>
        </p:nvSpPr>
        <p:spPr bwMode="auto">
          <a:xfrm>
            <a:off x="811542" y="2657233"/>
            <a:ext cx="3048000" cy="646112"/>
          </a:xfrm>
          <a:prstGeom prst="rect">
            <a:avLst/>
          </a:prstGeom>
          <a:solidFill>
            <a:schemeClr val="tx2">
              <a:lumMod val="60000"/>
              <a:lumOff val="40000"/>
            </a:schemeClr>
          </a:solidFill>
          <a:ln w="19050">
            <a:solidFill>
              <a:srgbClr val="000000"/>
            </a:solidFill>
            <a:miter lim="800000"/>
            <a:headEnd/>
            <a:tailEnd/>
          </a:ln>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dirty="0">
                <a:solidFill>
                  <a:srgbClr val="000000"/>
                </a:solidFill>
                <a:latin typeface="Times New Roman" pitchFamily="18" charset="0"/>
                <a:cs typeface="Times New Roman" pitchFamily="18" charset="0"/>
              </a:rPr>
              <a:t>L = L</a:t>
            </a:r>
            <a:r>
              <a:rPr lang="es-MX" i="1" baseline="-25000" dirty="0">
                <a:solidFill>
                  <a:srgbClr val="000000"/>
                </a:solidFill>
                <a:latin typeface="Times New Roman" pitchFamily="18" charset="0"/>
                <a:cs typeface="Times New Roman" pitchFamily="18" charset="0"/>
              </a:rPr>
              <a:t>0</a:t>
            </a:r>
            <a:r>
              <a:rPr lang="es-MX" i="1" dirty="0">
                <a:solidFill>
                  <a:srgbClr val="000000"/>
                </a:solidFill>
                <a:latin typeface="Times New Roman" pitchFamily="18" charset="0"/>
                <a:cs typeface="Times New Roman" pitchFamily="18" charset="0"/>
              </a:rPr>
              <a:t> + </a:t>
            </a:r>
            <a:r>
              <a:rPr lang="el-GR" i="1" dirty="0">
                <a:solidFill>
                  <a:srgbClr val="000000"/>
                </a:solidFill>
                <a:latin typeface="Times New Roman" pitchFamily="18" charset="0"/>
                <a:cs typeface="Times New Roman" pitchFamily="18" charset="0"/>
              </a:rPr>
              <a:t>α</a:t>
            </a:r>
            <a:r>
              <a:rPr lang="es-MX" i="1" dirty="0">
                <a:solidFill>
                  <a:srgbClr val="000000"/>
                </a:solidFill>
                <a:latin typeface="Times New Roman" pitchFamily="18" charset="0"/>
                <a:cs typeface="Times New Roman" pitchFamily="18" charset="0"/>
              </a:rPr>
              <a:t>L</a:t>
            </a:r>
            <a:r>
              <a:rPr lang="es-MX" i="1" baseline="-25000" dirty="0">
                <a:solidFill>
                  <a:srgbClr val="000000"/>
                </a:solidFill>
                <a:latin typeface="Times New Roman" pitchFamily="18" charset="0"/>
                <a:cs typeface="Times New Roman" pitchFamily="18" charset="0"/>
              </a:rPr>
              <a:t>0</a:t>
            </a:r>
            <a:r>
              <a:rPr lang="es-MX" i="1" dirty="0">
                <a:solidFill>
                  <a:srgbClr val="000000"/>
                </a:solidFill>
                <a:latin typeface="Times New Roman" pitchFamily="18" charset="0"/>
                <a:cs typeface="Times New Roman" pitchFamily="18" charset="0"/>
              </a:rPr>
              <a:t> </a:t>
            </a:r>
            <a:r>
              <a:rPr lang="el-GR" i="1" dirty="0">
                <a:solidFill>
                  <a:srgbClr val="000000"/>
                </a:solidFill>
                <a:latin typeface="Times New Roman" pitchFamily="18" charset="0"/>
                <a:cs typeface="Times New Roman" pitchFamily="18" charset="0"/>
              </a:rPr>
              <a:t>Δ</a:t>
            </a:r>
            <a:r>
              <a:rPr lang="es-MX" i="1" dirty="0">
                <a:solidFill>
                  <a:srgbClr val="000000"/>
                </a:solidFill>
                <a:latin typeface="Times New Roman" pitchFamily="18" charset="0"/>
                <a:cs typeface="Times New Roman" pitchFamily="18" charset="0"/>
              </a:rPr>
              <a:t>t   </a:t>
            </a:r>
          </a:p>
          <a:p>
            <a:pPr algn="ctr" eaLnBrk="1" hangingPunct="1"/>
            <a:r>
              <a:rPr lang="es-MX" i="1" dirty="0">
                <a:solidFill>
                  <a:srgbClr val="000000"/>
                </a:solidFill>
                <a:latin typeface="Times New Roman" pitchFamily="18" charset="0"/>
                <a:cs typeface="Times New Roman" pitchFamily="18" charset="0"/>
              </a:rPr>
              <a:t>W = W</a:t>
            </a:r>
            <a:r>
              <a:rPr lang="es-MX" i="1" baseline="-25000" dirty="0">
                <a:solidFill>
                  <a:srgbClr val="000000"/>
                </a:solidFill>
                <a:latin typeface="Times New Roman" pitchFamily="18" charset="0"/>
                <a:cs typeface="Times New Roman" pitchFamily="18" charset="0"/>
              </a:rPr>
              <a:t>0</a:t>
            </a:r>
            <a:r>
              <a:rPr lang="es-MX" i="1" dirty="0">
                <a:solidFill>
                  <a:srgbClr val="000000"/>
                </a:solidFill>
                <a:latin typeface="Times New Roman" pitchFamily="18" charset="0"/>
                <a:cs typeface="Times New Roman" pitchFamily="18" charset="0"/>
              </a:rPr>
              <a:t> + </a:t>
            </a:r>
            <a:r>
              <a:rPr lang="el-GR" i="1" dirty="0">
                <a:solidFill>
                  <a:srgbClr val="000000"/>
                </a:solidFill>
                <a:latin typeface="Times New Roman" pitchFamily="18" charset="0"/>
                <a:cs typeface="Times New Roman" pitchFamily="18" charset="0"/>
              </a:rPr>
              <a:t>α </a:t>
            </a:r>
            <a:r>
              <a:rPr lang="es-MX" i="1" dirty="0">
                <a:solidFill>
                  <a:srgbClr val="000000"/>
                </a:solidFill>
                <a:latin typeface="Times New Roman" pitchFamily="18" charset="0"/>
                <a:cs typeface="Times New Roman" pitchFamily="18" charset="0"/>
              </a:rPr>
              <a:t>W</a:t>
            </a:r>
            <a:r>
              <a:rPr lang="es-MX" i="1" baseline="-25000" dirty="0">
                <a:solidFill>
                  <a:srgbClr val="000000"/>
                </a:solidFill>
                <a:latin typeface="Times New Roman" pitchFamily="18" charset="0"/>
                <a:cs typeface="Times New Roman" pitchFamily="18" charset="0"/>
              </a:rPr>
              <a:t>0</a:t>
            </a:r>
            <a:r>
              <a:rPr lang="es-MX" i="1" dirty="0">
                <a:solidFill>
                  <a:srgbClr val="000000"/>
                </a:solidFill>
                <a:latin typeface="Times New Roman" pitchFamily="18" charset="0"/>
                <a:cs typeface="Times New Roman" pitchFamily="18" charset="0"/>
              </a:rPr>
              <a:t> </a:t>
            </a:r>
            <a:r>
              <a:rPr lang="el-GR" i="1" dirty="0">
                <a:solidFill>
                  <a:srgbClr val="000000"/>
                </a:solidFill>
                <a:latin typeface="Times New Roman" pitchFamily="18" charset="0"/>
                <a:cs typeface="Times New Roman" pitchFamily="18" charset="0"/>
              </a:rPr>
              <a:t>Δ </a:t>
            </a:r>
            <a:r>
              <a:rPr lang="es-MX" i="1" dirty="0">
                <a:solidFill>
                  <a:srgbClr val="000000"/>
                </a:solidFill>
                <a:latin typeface="Times New Roman" pitchFamily="18" charset="0"/>
                <a:cs typeface="Times New Roman" pitchFamily="18" charset="0"/>
              </a:rPr>
              <a:t>t</a:t>
            </a:r>
          </a:p>
        </p:txBody>
      </p:sp>
      <p:sp>
        <p:nvSpPr>
          <p:cNvPr id="40" name="Text Box 1057">
            <a:extLst>
              <a:ext uri="{FF2B5EF4-FFF2-40B4-BE49-F238E27FC236}">
                <a16:creationId xmlns:a16="http://schemas.microsoft.com/office/drawing/2014/main" xmlns="" id="{F3A9DBD6-D27A-4AB0-AC98-72D9E996CF0B}"/>
              </a:ext>
            </a:extLst>
          </p:cNvPr>
          <p:cNvSpPr txBox="1">
            <a:spLocks noChangeArrowheads="1"/>
          </p:cNvSpPr>
          <p:nvPr/>
        </p:nvSpPr>
        <p:spPr bwMode="auto">
          <a:xfrm>
            <a:off x="702942" y="3928423"/>
            <a:ext cx="3048000" cy="646112"/>
          </a:xfrm>
          <a:prstGeom prst="rect">
            <a:avLst/>
          </a:prstGeom>
          <a:solidFill>
            <a:schemeClr val="tx2">
              <a:lumMod val="60000"/>
              <a:lumOff val="40000"/>
            </a:schemeClr>
          </a:solidFill>
          <a:ln w="19050">
            <a:solidFill>
              <a:srgbClr val="000000"/>
            </a:solidFill>
            <a:miter lim="800000"/>
            <a:headEnd/>
            <a:tailEnd/>
          </a:ln>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dirty="0">
                <a:solidFill>
                  <a:srgbClr val="000000"/>
                </a:solidFill>
                <a:latin typeface="Times New Roman" pitchFamily="18" charset="0"/>
                <a:cs typeface="Times New Roman" pitchFamily="18" charset="0"/>
              </a:rPr>
              <a:t>L = L</a:t>
            </a:r>
            <a:r>
              <a:rPr lang="es-MX" i="1" baseline="-25000" dirty="0">
                <a:solidFill>
                  <a:srgbClr val="000000"/>
                </a:solidFill>
                <a:latin typeface="Times New Roman" pitchFamily="18" charset="0"/>
                <a:cs typeface="Times New Roman" pitchFamily="18" charset="0"/>
              </a:rPr>
              <a:t>0</a:t>
            </a:r>
            <a:r>
              <a:rPr lang="es-MX" dirty="0">
                <a:solidFill>
                  <a:srgbClr val="000000"/>
                </a:solidFill>
                <a:latin typeface="Times New Roman" pitchFamily="18" charset="0"/>
                <a:cs typeface="Times New Roman" pitchFamily="18" charset="0"/>
              </a:rPr>
              <a:t>(1</a:t>
            </a:r>
            <a:r>
              <a:rPr lang="es-MX" i="1" dirty="0">
                <a:solidFill>
                  <a:srgbClr val="000000"/>
                </a:solidFill>
                <a:latin typeface="Times New Roman" pitchFamily="18" charset="0"/>
                <a:cs typeface="Times New Roman" pitchFamily="18" charset="0"/>
              </a:rPr>
              <a:t> + </a:t>
            </a:r>
            <a:r>
              <a:rPr lang="el-GR" i="1" dirty="0">
                <a:solidFill>
                  <a:srgbClr val="000000"/>
                </a:solidFill>
                <a:latin typeface="Times New Roman" pitchFamily="18" charset="0"/>
                <a:cs typeface="Times New Roman" pitchFamily="18" charset="0"/>
              </a:rPr>
              <a:t>α Δ </a:t>
            </a:r>
            <a:r>
              <a:rPr lang="es-MX" i="1" dirty="0">
                <a:solidFill>
                  <a:srgbClr val="000000"/>
                </a:solidFill>
                <a:latin typeface="Times New Roman" pitchFamily="18" charset="0"/>
                <a:cs typeface="Times New Roman" pitchFamily="18" charset="0"/>
              </a:rPr>
              <a:t>t </a:t>
            </a:r>
            <a:r>
              <a:rPr lang="es-MX" dirty="0">
                <a:solidFill>
                  <a:srgbClr val="000000"/>
                </a:solidFill>
                <a:latin typeface="Times New Roman" pitchFamily="18" charset="0"/>
                <a:cs typeface="Times New Roman" pitchFamily="18" charset="0"/>
              </a:rPr>
              <a:t>)</a:t>
            </a:r>
            <a:r>
              <a:rPr lang="es-MX" i="1" dirty="0">
                <a:solidFill>
                  <a:srgbClr val="000000"/>
                </a:solidFill>
                <a:latin typeface="Times New Roman" pitchFamily="18" charset="0"/>
                <a:cs typeface="Times New Roman" pitchFamily="18" charset="0"/>
              </a:rPr>
              <a:t> </a:t>
            </a:r>
          </a:p>
          <a:p>
            <a:pPr algn="ctr" eaLnBrk="1" hangingPunct="1"/>
            <a:r>
              <a:rPr lang="es-MX" i="1" dirty="0">
                <a:solidFill>
                  <a:srgbClr val="000000"/>
                </a:solidFill>
                <a:latin typeface="Times New Roman" pitchFamily="18" charset="0"/>
                <a:cs typeface="Times New Roman" pitchFamily="18" charset="0"/>
              </a:rPr>
              <a:t>W = W</a:t>
            </a:r>
            <a:r>
              <a:rPr lang="es-MX" i="1" baseline="-25000" dirty="0">
                <a:solidFill>
                  <a:srgbClr val="000000"/>
                </a:solidFill>
                <a:latin typeface="Times New Roman" pitchFamily="18" charset="0"/>
                <a:cs typeface="Times New Roman" pitchFamily="18" charset="0"/>
              </a:rPr>
              <a:t>0</a:t>
            </a:r>
            <a:r>
              <a:rPr lang="es-MX" dirty="0">
                <a:solidFill>
                  <a:srgbClr val="000000"/>
                </a:solidFill>
                <a:latin typeface="Times New Roman" pitchFamily="18" charset="0"/>
                <a:cs typeface="Times New Roman" pitchFamily="18" charset="0"/>
              </a:rPr>
              <a:t>(1</a:t>
            </a:r>
            <a:r>
              <a:rPr lang="es-MX" i="1" dirty="0">
                <a:solidFill>
                  <a:srgbClr val="000000"/>
                </a:solidFill>
                <a:latin typeface="Times New Roman" pitchFamily="18" charset="0"/>
                <a:cs typeface="Times New Roman" pitchFamily="18" charset="0"/>
              </a:rPr>
              <a:t> + </a:t>
            </a:r>
            <a:r>
              <a:rPr lang="el-GR" i="1" dirty="0">
                <a:solidFill>
                  <a:srgbClr val="000000"/>
                </a:solidFill>
                <a:latin typeface="Times New Roman" pitchFamily="18" charset="0"/>
                <a:cs typeface="Times New Roman" pitchFamily="18" charset="0"/>
              </a:rPr>
              <a:t>α Δ </a:t>
            </a:r>
            <a:r>
              <a:rPr lang="es-MX" i="1" dirty="0">
                <a:solidFill>
                  <a:srgbClr val="000000"/>
                </a:solidFill>
                <a:latin typeface="Times New Roman" pitchFamily="18" charset="0"/>
                <a:cs typeface="Times New Roman" pitchFamily="18" charset="0"/>
              </a:rPr>
              <a:t>t</a:t>
            </a:r>
          </a:p>
        </p:txBody>
      </p:sp>
      <p:sp>
        <p:nvSpPr>
          <p:cNvPr id="41" name="Text Box 1058">
            <a:extLst>
              <a:ext uri="{FF2B5EF4-FFF2-40B4-BE49-F238E27FC236}">
                <a16:creationId xmlns:a16="http://schemas.microsoft.com/office/drawing/2014/main" xmlns="" id="{73B36AA0-AED0-466B-9AE9-2D072629FCBC}"/>
              </a:ext>
            </a:extLst>
          </p:cNvPr>
          <p:cNvSpPr txBox="1">
            <a:spLocks noChangeArrowheads="1"/>
          </p:cNvSpPr>
          <p:nvPr/>
        </p:nvSpPr>
        <p:spPr bwMode="auto">
          <a:xfrm>
            <a:off x="1426842" y="5351101"/>
            <a:ext cx="434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dirty="0">
                <a:latin typeface="Times New Roman" pitchFamily="18" charset="0"/>
                <a:cs typeface="Times New Roman" pitchFamily="18" charset="0"/>
              </a:rPr>
              <a:t>A = LW = L</a:t>
            </a:r>
            <a:r>
              <a:rPr lang="es-MX" i="1" baseline="-25000" dirty="0">
                <a:latin typeface="Times New Roman" pitchFamily="18" charset="0"/>
                <a:cs typeface="Times New Roman" pitchFamily="18" charset="0"/>
              </a:rPr>
              <a:t>0</a:t>
            </a:r>
            <a:r>
              <a:rPr lang="es-MX" i="1" dirty="0">
                <a:latin typeface="Times New Roman" pitchFamily="18" charset="0"/>
                <a:cs typeface="Times New Roman" pitchFamily="18" charset="0"/>
              </a:rPr>
              <a:t>W</a:t>
            </a:r>
            <a:r>
              <a:rPr lang="es-MX" i="1" baseline="-25000" dirty="0">
                <a:latin typeface="Times New Roman" pitchFamily="18" charset="0"/>
                <a:cs typeface="Times New Roman" pitchFamily="18" charset="0"/>
              </a:rPr>
              <a:t>0</a:t>
            </a:r>
            <a:r>
              <a:rPr lang="es-MX" i="1" dirty="0">
                <a:latin typeface="Times New Roman" pitchFamily="18" charset="0"/>
                <a:cs typeface="Times New Roman" pitchFamily="18" charset="0"/>
              </a:rPr>
              <a:t>(1 + </a:t>
            </a:r>
            <a:r>
              <a:rPr lang="el-GR" i="1" dirty="0">
                <a:solidFill>
                  <a:srgbClr val="000000"/>
                </a:solidFill>
                <a:latin typeface="Times New Roman" pitchFamily="18" charset="0"/>
                <a:cs typeface="Times New Roman" pitchFamily="18" charset="0"/>
              </a:rPr>
              <a:t>α Δ </a:t>
            </a:r>
            <a:r>
              <a:rPr lang="es-MX" i="1" dirty="0">
                <a:latin typeface="Times New Roman" pitchFamily="18" charset="0"/>
                <a:cs typeface="Times New Roman" pitchFamily="18" charset="0"/>
              </a:rPr>
              <a:t>t)</a:t>
            </a:r>
            <a:r>
              <a:rPr lang="es-MX" i="1" baseline="30000" dirty="0">
                <a:latin typeface="Times New Roman" pitchFamily="18" charset="0"/>
                <a:cs typeface="Times New Roman" pitchFamily="18" charset="0"/>
              </a:rPr>
              <a:t>2</a:t>
            </a:r>
            <a:endParaRPr lang="es-MX" dirty="0">
              <a:latin typeface="Times New Roman" pitchFamily="18" charset="0"/>
              <a:cs typeface="Times New Roman" pitchFamily="18" charset="0"/>
            </a:endParaRPr>
          </a:p>
        </p:txBody>
      </p:sp>
      <p:sp>
        <p:nvSpPr>
          <p:cNvPr id="42" name="Text Box 1059">
            <a:extLst>
              <a:ext uri="{FF2B5EF4-FFF2-40B4-BE49-F238E27FC236}">
                <a16:creationId xmlns:a16="http://schemas.microsoft.com/office/drawing/2014/main" xmlns="" id="{0E83ADD2-303D-4CA0-BC5A-FADEFA18BFC8}"/>
              </a:ext>
            </a:extLst>
          </p:cNvPr>
          <p:cNvSpPr txBox="1">
            <a:spLocks noChangeArrowheads="1"/>
          </p:cNvSpPr>
          <p:nvPr/>
        </p:nvSpPr>
        <p:spPr bwMode="auto">
          <a:xfrm>
            <a:off x="6151242" y="5351101"/>
            <a:ext cx="3352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dirty="0">
                <a:latin typeface="Times New Roman" pitchFamily="18" charset="0"/>
                <a:cs typeface="Times New Roman" pitchFamily="18" charset="0"/>
              </a:rPr>
              <a:t>A = A</a:t>
            </a:r>
            <a:r>
              <a:rPr lang="es-MX" baseline="-25000" dirty="0">
                <a:latin typeface="Times New Roman" pitchFamily="18" charset="0"/>
                <a:cs typeface="Times New Roman" pitchFamily="18" charset="0"/>
              </a:rPr>
              <a:t>0</a:t>
            </a:r>
            <a:r>
              <a:rPr lang="es-MX" dirty="0">
                <a:latin typeface="Times New Roman" pitchFamily="18" charset="0"/>
                <a:cs typeface="Times New Roman" pitchFamily="18" charset="0"/>
              </a:rPr>
              <a:t>(1 + 2</a:t>
            </a:r>
            <a:r>
              <a:rPr lang="el-GR" i="1" dirty="0">
                <a:solidFill>
                  <a:srgbClr val="000000"/>
                </a:solidFill>
                <a:latin typeface="Times New Roman" pitchFamily="18" charset="0"/>
                <a:cs typeface="Times New Roman" pitchFamily="18" charset="0"/>
              </a:rPr>
              <a:t> α</a:t>
            </a:r>
            <a:r>
              <a:rPr lang="es-MX" dirty="0">
                <a:latin typeface="Times New Roman" pitchFamily="18" charset="0"/>
                <a:cs typeface="Times New Roman" pitchFamily="18" charset="0"/>
              </a:rPr>
              <a:t> </a:t>
            </a:r>
            <a:r>
              <a:rPr lang="el-GR" dirty="0">
                <a:latin typeface="Times New Roman" pitchFamily="18" charset="0"/>
                <a:cs typeface="Times New Roman" pitchFamily="18" charset="0"/>
              </a:rPr>
              <a:t>Δ</a:t>
            </a:r>
            <a:r>
              <a:rPr lang="es-MX" dirty="0">
                <a:latin typeface="Times New Roman" pitchFamily="18" charset="0"/>
                <a:cs typeface="Times New Roman" pitchFamily="18" charset="0"/>
              </a:rPr>
              <a:t>t) </a:t>
            </a:r>
          </a:p>
        </p:txBody>
      </p:sp>
      <p:sp>
        <p:nvSpPr>
          <p:cNvPr id="43" name="Text Box 1060">
            <a:extLst>
              <a:ext uri="{FF2B5EF4-FFF2-40B4-BE49-F238E27FC236}">
                <a16:creationId xmlns:a16="http://schemas.microsoft.com/office/drawing/2014/main" xmlns="" id="{CEEAAE13-A443-4F13-A434-5B45CE6BBB06}"/>
              </a:ext>
            </a:extLst>
          </p:cNvPr>
          <p:cNvSpPr txBox="1">
            <a:spLocks noChangeArrowheads="1"/>
          </p:cNvSpPr>
          <p:nvPr/>
        </p:nvSpPr>
        <p:spPr bwMode="auto">
          <a:xfrm>
            <a:off x="2265042" y="6209809"/>
            <a:ext cx="6477000" cy="461665"/>
          </a:xfrm>
          <a:prstGeom prst="rect">
            <a:avLst/>
          </a:prstGeom>
          <a:solidFill>
            <a:schemeClr val="tx2">
              <a:lumMod val="60000"/>
              <a:lumOff val="40000"/>
            </a:schemeClr>
          </a:solidFill>
          <a:ln w="9525">
            <a:solidFill>
              <a:srgbClr val="000000"/>
            </a:solidFill>
            <a:miter lim="800000"/>
            <a:headEnd/>
            <a:tailEnd/>
          </a:ln>
          <a:effectLst>
            <a:outerShdw dist="107763" dir="2700000" algn="ctr" rotWithShape="0">
              <a:schemeClr val="bg2"/>
            </a:outerShdw>
          </a:effectLst>
        </p:spPr>
        <p:txBody>
          <a:bodyPr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s-MX" i="1" dirty="0">
                <a:solidFill>
                  <a:srgbClr val="000000"/>
                </a:solidFill>
                <a:latin typeface="Times New Roman" pitchFamily="18" charset="0"/>
                <a:cs typeface="Times New Roman" pitchFamily="18" charset="0"/>
              </a:rPr>
              <a:t>Dilatación de área: </a:t>
            </a:r>
            <a:r>
              <a:rPr lang="el-GR" dirty="0">
                <a:latin typeface="Times New Roman" pitchFamily="18" charset="0"/>
                <a:cs typeface="Times New Roman" pitchFamily="18" charset="0"/>
              </a:rPr>
              <a:t>Δ </a:t>
            </a:r>
            <a:r>
              <a:rPr lang="es-MX" i="1" dirty="0">
                <a:solidFill>
                  <a:srgbClr val="000000"/>
                </a:solidFill>
                <a:latin typeface="Times New Roman" pitchFamily="18" charset="0"/>
                <a:cs typeface="Times New Roman" pitchFamily="18" charset="0"/>
              </a:rPr>
              <a:t>A = 2</a:t>
            </a:r>
            <a:r>
              <a:rPr lang="el-GR" i="1" dirty="0">
                <a:solidFill>
                  <a:srgbClr val="000000"/>
                </a:solidFill>
                <a:latin typeface="Times New Roman" pitchFamily="18" charset="0"/>
                <a:cs typeface="Times New Roman" pitchFamily="18" charset="0"/>
              </a:rPr>
              <a:t> α </a:t>
            </a:r>
            <a:r>
              <a:rPr lang="es-MX" i="1" dirty="0">
                <a:solidFill>
                  <a:srgbClr val="000000"/>
                </a:solidFill>
                <a:latin typeface="Times New Roman" pitchFamily="18" charset="0"/>
                <a:cs typeface="Times New Roman" pitchFamily="18" charset="0"/>
              </a:rPr>
              <a:t>A</a:t>
            </a:r>
            <a:r>
              <a:rPr lang="es-MX" i="1" baseline="-25000" dirty="0">
                <a:solidFill>
                  <a:srgbClr val="000000"/>
                </a:solidFill>
                <a:latin typeface="Times New Roman" pitchFamily="18" charset="0"/>
                <a:cs typeface="Times New Roman" pitchFamily="18" charset="0"/>
              </a:rPr>
              <a:t>0</a:t>
            </a:r>
            <a:r>
              <a:rPr lang="es-MX" i="1" dirty="0">
                <a:solidFill>
                  <a:srgbClr val="000000"/>
                </a:solidFill>
                <a:latin typeface="Times New Roman" pitchFamily="18" charset="0"/>
                <a:cs typeface="Times New Roman" pitchFamily="18" charset="0"/>
              </a:rPr>
              <a:t> </a:t>
            </a:r>
            <a:r>
              <a:rPr lang="el-GR" dirty="0">
                <a:latin typeface="Times New Roman" pitchFamily="18" charset="0"/>
                <a:cs typeface="Times New Roman" pitchFamily="18" charset="0"/>
              </a:rPr>
              <a:t>Δ </a:t>
            </a:r>
            <a:r>
              <a:rPr lang="es-MX" i="1" dirty="0">
                <a:solidFill>
                  <a:srgbClr val="000000"/>
                </a:solidFill>
                <a:latin typeface="Times New Roman" pitchFamily="18" charset="0"/>
                <a:cs typeface="Times New Roman" pitchFamily="18" charset="0"/>
              </a:rPr>
              <a:t>t</a:t>
            </a:r>
            <a:endParaRPr lang="es-MX" dirty="0">
              <a:latin typeface="Times New Roman" pitchFamily="18" charset="0"/>
              <a:cs typeface="Times New Roman" pitchFamily="18" charset="0"/>
            </a:endParaRPr>
          </a:p>
        </p:txBody>
      </p:sp>
      <p:sp>
        <p:nvSpPr>
          <p:cNvPr id="44" name="AutoShape 1061">
            <a:extLst>
              <a:ext uri="{FF2B5EF4-FFF2-40B4-BE49-F238E27FC236}">
                <a16:creationId xmlns:a16="http://schemas.microsoft.com/office/drawing/2014/main" xmlns="" id="{D02B2917-017C-4927-BC6A-A95561E01491}"/>
              </a:ext>
            </a:extLst>
          </p:cNvPr>
          <p:cNvSpPr>
            <a:spLocks noChangeArrowheads="1"/>
          </p:cNvSpPr>
          <p:nvPr/>
        </p:nvSpPr>
        <p:spPr bwMode="auto">
          <a:xfrm>
            <a:off x="5694042" y="5422261"/>
            <a:ext cx="609600" cy="228600"/>
          </a:xfrm>
          <a:prstGeom prst="rightArrow">
            <a:avLst>
              <a:gd name="adj1" fmla="val 50000"/>
              <a:gd name="adj2" fmla="val 66667"/>
            </a:avLst>
          </a:prstGeom>
          <a:solidFill>
            <a:srgbClr val="FF0000"/>
          </a:solidFill>
          <a:ln>
            <a:noFill/>
          </a:ln>
        </p:spPr>
        <p:txBody>
          <a:bodyPr wrap="none" anchor="ctr"/>
          <a:lstStyle/>
          <a:p>
            <a:endParaRPr lang="es-ES">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10845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
                                          </p:val>
                                        </p:tav>
                                        <p:tav tm="100000">
                                          <p:val>
                                            <p:strVal val="#ppt_x"/>
                                          </p:val>
                                        </p:tav>
                                      </p:tavLst>
                                    </p:anim>
                                    <p:anim calcmode="lin" valueType="num">
                                      <p:cBhvr>
                                        <p:cTn id="8" dur="500" fill="hold"/>
                                        <p:tgtEl>
                                          <p:spTgt spid="14"/>
                                        </p:tgtEl>
                                        <p:attrNameLst>
                                          <p:attrName>ppt_y</p:attrName>
                                        </p:attrNameLst>
                                      </p:cBhvr>
                                      <p:tavLst>
                                        <p:tav tm="0">
                                          <p:val>
                                            <p:strVal val="#ppt_y-#ppt_h/2"/>
                                          </p:val>
                                        </p:tav>
                                        <p:tav tm="100000">
                                          <p:val>
                                            <p:strVal val="#ppt_y"/>
                                          </p:val>
                                        </p:tav>
                                      </p:tavLst>
                                    </p:anim>
                                    <p:anim calcmode="lin" valueType="num">
                                      <p:cBhvr>
                                        <p:cTn id="9" dur="500" fill="hold"/>
                                        <p:tgtEl>
                                          <p:spTgt spid="14"/>
                                        </p:tgtEl>
                                        <p:attrNameLst>
                                          <p:attrName>ppt_w</p:attrName>
                                        </p:attrNameLst>
                                      </p:cBhvr>
                                      <p:tavLst>
                                        <p:tav tm="0">
                                          <p:val>
                                            <p:strVal val="#ppt_w"/>
                                          </p:val>
                                        </p:tav>
                                        <p:tav tm="100000">
                                          <p:val>
                                            <p:strVal val="#ppt_w"/>
                                          </p:val>
                                        </p:tav>
                                      </p:tavLst>
                                    </p:anim>
                                    <p:anim calcmode="lin" valueType="num">
                                      <p:cBhvr>
                                        <p:cTn id="1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additive="base">
                                        <p:cTn id="15" dur="500" fill="hold"/>
                                        <p:tgtEl>
                                          <p:spTgt spid="38"/>
                                        </p:tgtEl>
                                        <p:attrNameLst>
                                          <p:attrName>ppt_x</p:attrName>
                                        </p:attrNameLst>
                                      </p:cBhvr>
                                      <p:tavLst>
                                        <p:tav tm="0">
                                          <p:val>
                                            <p:strVal val="0-#ppt_w/2"/>
                                          </p:val>
                                        </p:tav>
                                        <p:tav tm="100000">
                                          <p:val>
                                            <p:strVal val="#ppt_x"/>
                                          </p:val>
                                        </p:tav>
                                      </p:tavLst>
                                    </p:anim>
                                    <p:anim calcmode="lin" valueType="num">
                                      <p:cBhvr additive="base">
                                        <p:cTn id="16"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anim calcmode="lin" valueType="num">
                                      <p:cBhvr additive="base">
                                        <p:cTn id="21" dur="500" fill="hold"/>
                                        <p:tgtEl>
                                          <p:spTgt spid="39"/>
                                        </p:tgtEl>
                                        <p:attrNameLst>
                                          <p:attrName>ppt_x</p:attrName>
                                        </p:attrNameLst>
                                      </p:cBhvr>
                                      <p:tavLst>
                                        <p:tav tm="0">
                                          <p:val>
                                            <p:strVal val="0-#ppt_w/2"/>
                                          </p:val>
                                        </p:tav>
                                        <p:tav tm="100000">
                                          <p:val>
                                            <p:strVal val="#ppt_x"/>
                                          </p:val>
                                        </p:tav>
                                      </p:tavLst>
                                    </p:anim>
                                    <p:anim calcmode="lin" valueType="num">
                                      <p:cBhvr additive="base">
                                        <p:cTn id="22"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0-#ppt_w/2"/>
                                          </p:val>
                                        </p:tav>
                                        <p:tav tm="100000">
                                          <p:val>
                                            <p:strVal val="#ppt_x"/>
                                          </p:val>
                                        </p:tav>
                                      </p:tavLst>
                                    </p:anim>
                                    <p:anim calcmode="lin" valueType="num">
                                      <p:cBhvr additive="base">
                                        <p:cTn id="28"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anim calcmode="lin" valueType="num">
                                      <p:cBhvr additive="base">
                                        <p:cTn id="33" dur="500" fill="hold"/>
                                        <p:tgtEl>
                                          <p:spTgt spid="41"/>
                                        </p:tgtEl>
                                        <p:attrNameLst>
                                          <p:attrName>ppt_x</p:attrName>
                                        </p:attrNameLst>
                                      </p:cBhvr>
                                      <p:tavLst>
                                        <p:tav tm="0">
                                          <p:val>
                                            <p:strVal val="0-#ppt_w/2"/>
                                          </p:val>
                                        </p:tav>
                                        <p:tav tm="100000">
                                          <p:val>
                                            <p:strVal val="#ppt_x"/>
                                          </p:val>
                                        </p:tav>
                                      </p:tavLst>
                                    </p:anim>
                                    <p:anim calcmode="lin" valueType="num">
                                      <p:cBhvr additive="base">
                                        <p:cTn id="34"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 calcmode="lin" valueType="num">
                                      <p:cBhvr additive="base">
                                        <p:cTn id="39" dur="500" fill="hold"/>
                                        <p:tgtEl>
                                          <p:spTgt spid="44"/>
                                        </p:tgtEl>
                                        <p:attrNameLst>
                                          <p:attrName>ppt_x</p:attrName>
                                        </p:attrNameLst>
                                      </p:cBhvr>
                                      <p:tavLst>
                                        <p:tav tm="0">
                                          <p:val>
                                            <p:strVal val="0-#ppt_w/2"/>
                                          </p:val>
                                        </p:tav>
                                        <p:tav tm="100000">
                                          <p:val>
                                            <p:strVal val="#ppt_x"/>
                                          </p:val>
                                        </p:tav>
                                      </p:tavLst>
                                    </p:anim>
                                    <p:anim calcmode="lin" valueType="num">
                                      <p:cBhvr additive="base">
                                        <p:cTn id="40" dur="500" fill="hold"/>
                                        <p:tgtEl>
                                          <p:spTgt spid="44"/>
                                        </p:tgtEl>
                                        <p:attrNameLst>
                                          <p:attrName>ppt_y</p:attrName>
                                        </p:attrNameLst>
                                      </p:cBhvr>
                                      <p:tavLst>
                                        <p:tav tm="0">
                                          <p:val>
                                            <p:strVal val="#ppt_y"/>
                                          </p:val>
                                        </p:tav>
                                        <p:tav tm="100000">
                                          <p:val>
                                            <p:strVal val="#ppt_y"/>
                                          </p:val>
                                        </p:tav>
                                      </p:tavLst>
                                    </p:anim>
                                  </p:childTnLst>
                                </p:cTn>
                              </p:par>
                            </p:childTnLst>
                          </p:cTn>
                        </p:par>
                        <p:par>
                          <p:cTn id="41" fill="hold">
                            <p:stCondLst>
                              <p:cond delay="500"/>
                            </p:stCondLst>
                            <p:childTnLst>
                              <p:par>
                                <p:cTn id="42" presetID="2" presetClass="entr" presetSubtype="8" fill="hold" grpId="0" nodeType="afterEffect">
                                  <p:stCondLst>
                                    <p:cond delay="0"/>
                                  </p:stCondLst>
                                  <p:childTnLst>
                                    <p:set>
                                      <p:cBhvr>
                                        <p:cTn id="43" dur="1" fill="hold">
                                          <p:stCondLst>
                                            <p:cond delay="0"/>
                                          </p:stCondLst>
                                        </p:cTn>
                                        <p:tgtEl>
                                          <p:spTgt spid="42"/>
                                        </p:tgtEl>
                                        <p:attrNameLst>
                                          <p:attrName>style.visibility</p:attrName>
                                        </p:attrNameLst>
                                      </p:cBhvr>
                                      <p:to>
                                        <p:strVal val="visible"/>
                                      </p:to>
                                    </p:set>
                                    <p:anim calcmode="lin" valueType="num">
                                      <p:cBhvr additive="base">
                                        <p:cTn id="44" dur="500" fill="hold"/>
                                        <p:tgtEl>
                                          <p:spTgt spid="42"/>
                                        </p:tgtEl>
                                        <p:attrNameLst>
                                          <p:attrName>ppt_x</p:attrName>
                                        </p:attrNameLst>
                                      </p:cBhvr>
                                      <p:tavLst>
                                        <p:tav tm="0">
                                          <p:val>
                                            <p:strVal val="0-#ppt_w/2"/>
                                          </p:val>
                                        </p:tav>
                                        <p:tav tm="100000">
                                          <p:val>
                                            <p:strVal val="#ppt_x"/>
                                          </p:val>
                                        </p:tav>
                                      </p:tavLst>
                                    </p:anim>
                                    <p:anim calcmode="lin" valueType="num">
                                      <p:cBhvr additive="base">
                                        <p:cTn id="45"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3" presetClass="entr" presetSubtype="528" fill="hold" grpId="0" nodeType="clickEffect">
                                  <p:stCondLst>
                                    <p:cond delay="0"/>
                                  </p:stCondLst>
                                  <p:childTnLst>
                                    <p:set>
                                      <p:cBhvr>
                                        <p:cTn id="49" dur="1" fill="hold">
                                          <p:stCondLst>
                                            <p:cond delay="0"/>
                                          </p:stCondLst>
                                        </p:cTn>
                                        <p:tgtEl>
                                          <p:spTgt spid="43"/>
                                        </p:tgtEl>
                                        <p:attrNameLst>
                                          <p:attrName>style.visibility</p:attrName>
                                        </p:attrNameLst>
                                      </p:cBhvr>
                                      <p:to>
                                        <p:strVal val="visible"/>
                                      </p:to>
                                    </p:set>
                                    <p:anim calcmode="lin" valueType="num">
                                      <p:cBhvr>
                                        <p:cTn id="50" dur="500" fill="hold"/>
                                        <p:tgtEl>
                                          <p:spTgt spid="43"/>
                                        </p:tgtEl>
                                        <p:attrNameLst>
                                          <p:attrName>ppt_w</p:attrName>
                                        </p:attrNameLst>
                                      </p:cBhvr>
                                      <p:tavLst>
                                        <p:tav tm="0">
                                          <p:val>
                                            <p:fltVal val="0"/>
                                          </p:val>
                                        </p:tav>
                                        <p:tav tm="100000">
                                          <p:val>
                                            <p:strVal val="#ppt_w"/>
                                          </p:val>
                                        </p:tav>
                                      </p:tavLst>
                                    </p:anim>
                                    <p:anim calcmode="lin" valueType="num">
                                      <p:cBhvr>
                                        <p:cTn id="51" dur="500" fill="hold"/>
                                        <p:tgtEl>
                                          <p:spTgt spid="43"/>
                                        </p:tgtEl>
                                        <p:attrNameLst>
                                          <p:attrName>ppt_h</p:attrName>
                                        </p:attrNameLst>
                                      </p:cBhvr>
                                      <p:tavLst>
                                        <p:tav tm="0">
                                          <p:val>
                                            <p:fltVal val="0"/>
                                          </p:val>
                                        </p:tav>
                                        <p:tav tm="100000">
                                          <p:val>
                                            <p:strVal val="#ppt_h"/>
                                          </p:val>
                                        </p:tav>
                                      </p:tavLst>
                                    </p:anim>
                                    <p:anim calcmode="lin" valueType="num">
                                      <p:cBhvr>
                                        <p:cTn id="52" dur="500" fill="hold"/>
                                        <p:tgtEl>
                                          <p:spTgt spid="43"/>
                                        </p:tgtEl>
                                        <p:attrNameLst>
                                          <p:attrName>ppt_x</p:attrName>
                                        </p:attrNameLst>
                                      </p:cBhvr>
                                      <p:tavLst>
                                        <p:tav tm="0">
                                          <p:val>
                                            <p:fltVal val="0.5"/>
                                          </p:val>
                                        </p:tav>
                                        <p:tav tm="100000">
                                          <p:val>
                                            <p:strVal val="#ppt_x"/>
                                          </p:val>
                                        </p:tav>
                                      </p:tavLst>
                                    </p:anim>
                                    <p:anim calcmode="lin" valueType="num">
                                      <p:cBhvr>
                                        <p:cTn id="53" dur="500" fill="hold"/>
                                        <p:tgtEl>
                                          <p:spTgt spid="43"/>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autoUpdateAnimBg="0"/>
      <p:bldP spid="39" grpId="0" animBg="1" autoUpdateAnimBg="0"/>
      <p:bldP spid="40" grpId="0" animBg="1" autoUpdateAnimBg="0"/>
      <p:bldP spid="41" grpId="0" autoUpdateAnimBg="0"/>
      <p:bldP spid="42" grpId="0" autoUpdateAnimBg="0"/>
      <p:bldP spid="43" grpId="0" animBg="1" autoUpdateAnimBg="0"/>
      <p:bldP spid="4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2479084"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EJERCICIOS</a:t>
            </a:r>
          </a:p>
        </p:txBody>
      </p:sp>
      <p:sp>
        <p:nvSpPr>
          <p:cNvPr id="3" name="Rectángulo 2"/>
          <p:cNvSpPr/>
          <p:nvPr/>
        </p:nvSpPr>
        <p:spPr>
          <a:xfrm>
            <a:off x="403674" y="1842243"/>
            <a:ext cx="4549326" cy="3416320"/>
          </a:xfrm>
          <a:prstGeom prst="rect">
            <a:avLst/>
          </a:prstGeom>
        </p:spPr>
        <p:txBody>
          <a:bodyPr wrap="square">
            <a:spAutoFit/>
          </a:bodyPr>
          <a:lstStyle/>
          <a:p>
            <a:pPr marL="342900" indent="-342900" algn="just">
              <a:buFont typeface="+mj-lt"/>
              <a:buAutoNum type="arabicPeriod"/>
            </a:pPr>
            <a:r>
              <a:rPr lang="es-PE" dirty="0"/>
              <a:t>Los remaches de aluminio para construcción de aviones se fabrican un poco más grandes que sus agujeros y se enfrían con “hielo seco” </a:t>
            </a:r>
            <a:r>
              <a:rPr lang="es-PE" dirty="0" smtClean="0"/>
              <a:t>(CO</a:t>
            </a:r>
            <a:r>
              <a:rPr lang="es-PE" baseline="-25000" dirty="0" smtClean="0"/>
              <a:t>2</a:t>
            </a:r>
            <a:r>
              <a:rPr lang="es-PE" dirty="0" smtClean="0"/>
              <a:t> </a:t>
            </a:r>
            <a:r>
              <a:rPr lang="es-PE" dirty="0"/>
              <a:t>sólido) antes de insertarse. Si el diámetro de un agujero es de </a:t>
            </a:r>
            <a:r>
              <a:rPr lang="es-PE" dirty="0" smtClean="0"/>
              <a:t>4,500 </a:t>
            </a:r>
            <a:r>
              <a:rPr lang="es-PE" dirty="0"/>
              <a:t>mm, ¿qué diámetro debe tener un remache a </a:t>
            </a:r>
            <a:r>
              <a:rPr lang="es-PE" dirty="0" smtClean="0"/>
              <a:t>23,0 </a:t>
            </a:r>
            <a:r>
              <a:rPr lang="es-PE" dirty="0"/>
              <a:t>°C para que su diámetro sea igual al del agujero cuando se enfría a 278.0 °C, la temperatura del hielo seco? Suponga que el coeficiente de expansión es constante, con el valor dado en la tabla </a:t>
            </a:r>
            <a:r>
              <a:rPr lang="es-PE" dirty="0" smtClean="0"/>
              <a:t>11.1</a:t>
            </a:r>
            <a:endParaRPr lang="es-PE" dirty="0"/>
          </a:p>
        </p:txBody>
      </p:sp>
      <p:sp>
        <p:nvSpPr>
          <p:cNvPr id="4" name="Rectángulo 3"/>
          <p:cNvSpPr/>
          <p:nvPr/>
        </p:nvSpPr>
        <p:spPr>
          <a:xfrm>
            <a:off x="5313040" y="1842243"/>
            <a:ext cx="3960440" cy="2308324"/>
          </a:xfrm>
          <a:prstGeom prst="rect">
            <a:avLst/>
          </a:prstGeom>
        </p:spPr>
        <p:txBody>
          <a:bodyPr wrap="square">
            <a:spAutoFit/>
          </a:bodyPr>
          <a:lstStyle/>
          <a:p>
            <a:pPr marL="342900" indent="-342900" algn="just">
              <a:buFont typeface="+mj-lt"/>
              <a:buAutoNum type="arabicPeriod" startAt="2"/>
            </a:pPr>
            <a:r>
              <a:rPr lang="es-PE" dirty="0"/>
              <a:t>Un operario hace un agujero de </a:t>
            </a:r>
            <a:r>
              <a:rPr lang="es-PE" dirty="0" smtClean="0"/>
              <a:t>1,35 </a:t>
            </a:r>
            <a:r>
              <a:rPr lang="es-PE" dirty="0"/>
              <a:t>cm de diámetro en una placa de acero a una temperatura de </a:t>
            </a:r>
            <a:r>
              <a:rPr lang="es-PE" dirty="0" smtClean="0"/>
              <a:t>25,0 </a:t>
            </a:r>
            <a:r>
              <a:rPr lang="es-PE" dirty="0"/>
              <a:t>°C. ¿Qué área transversal tendrá el agujero a) a </a:t>
            </a:r>
            <a:r>
              <a:rPr lang="es-PE" dirty="0" smtClean="0"/>
              <a:t>25,0 </a:t>
            </a:r>
            <a:r>
              <a:rPr lang="es-PE" dirty="0"/>
              <a:t>°C; y b) si la placa se calienta a 175 °C? Suponga que el coeficiente de expansión lineal es constante dentro de este intervalo. </a:t>
            </a:r>
          </a:p>
        </p:txBody>
      </p:sp>
    </p:spTree>
    <p:extLst>
      <p:ext uri="{BB962C8B-B14F-4D97-AF65-F5344CB8AC3E}">
        <p14:creationId xmlns:p14="http://schemas.microsoft.com/office/powerpoint/2010/main" val="847680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76264" y="143617"/>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99843" y="1017593"/>
            <a:ext cx="5256584"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solidFill>
                  <a:schemeClr val="tx1"/>
                </a:solidFill>
                <a:latin typeface="Arial" panose="020B0604020202020204" pitchFamily="34" charset="0"/>
                <a:cs typeface="Arial" panose="020B0604020202020204" pitchFamily="34" charset="0"/>
              </a:rPr>
              <a:t>DILATACIÓN DE VOLUMEN</a:t>
            </a:r>
            <a:endParaRPr lang="es-PE" sz="2400" b="1" dirty="0">
              <a:solidFill>
                <a:schemeClr val="tx1"/>
              </a:solidFill>
            </a:endParaRPr>
          </a:p>
        </p:txBody>
      </p:sp>
      <p:sp>
        <p:nvSpPr>
          <p:cNvPr id="7" name="Rectangle 3">
            <a:extLst>
              <a:ext uri="{FF2B5EF4-FFF2-40B4-BE49-F238E27FC236}">
                <a16:creationId xmlns:a16="http://schemas.microsoft.com/office/drawing/2014/main" xmlns="" id="{56F1062E-8957-4089-BBBA-7B05B98C6479}"/>
              </a:ext>
            </a:extLst>
          </p:cNvPr>
          <p:cNvSpPr>
            <a:spLocks noChangeArrowheads="1"/>
          </p:cNvSpPr>
          <p:nvPr/>
        </p:nvSpPr>
        <p:spPr bwMode="auto">
          <a:xfrm>
            <a:off x="2778740" y="4980360"/>
            <a:ext cx="914400" cy="914400"/>
          </a:xfrm>
          <a:prstGeom prst="rect">
            <a:avLst/>
          </a:prstGeom>
          <a:solidFill>
            <a:srgbClr val="FFFF00"/>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FFF00"/>
            </a:extrusionClr>
          </a:sp3d>
        </p:spPr>
        <p:txBody>
          <a:bodyPr wrap="none" anchor="ctr">
            <a:flatTx/>
          </a:bodyPr>
          <a:lstStyle/>
          <a:p>
            <a:endParaRPr lang="es-ES">
              <a:latin typeface="Times New Roman" pitchFamily="18" charset="0"/>
              <a:cs typeface="Times New Roman" pitchFamily="18" charset="0"/>
            </a:endParaRPr>
          </a:p>
        </p:txBody>
      </p:sp>
      <p:sp>
        <p:nvSpPr>
          <p:cNvPr id="9" name="AutoShape 5">
            <a:extLst>
              <a:ext uri="{FF2B5EF4-FFF2-40B4-BE49-F238E27FC236}">
                <a16:creationId xmlns:a16="http://schemas.microsoft.com/office/drawing/2014/main" xmlns="" id="{C5569601-CE35-4AF2-B989-D275F66DB364}"/>
              </a:ext>
            </a:extLst>
          </p:cNvPr>
          <p:cNvSpPr>
            <a:spLocks noChangeArrowheads="1"/>
          </p:cNvSpPr>
          <p:nvPr/>
        </p:nvSpPr>
        <p:spPr bwMode="auto">
          <a:xfrm>
            <a:off x="3801256" y="5270110"/>
            <a:ext cx="533400" cy="304800"/>
          </a:xfrm>
          <a:prstGeom prst="rightArrow">
            <a:avLst>
              <a:gd name="adj1" fmla="val 50000"/>
              <a:gd name="adj2" fmla="val 43750"/>
            </a:avLst>
          </a:prstGeom>
          <a:solidFill>
            <a:schemeClr val="tx2"/>
          </a:solidFill>
          <a:ln w="9525">
            <a:solidFill>
              <a:srgbClr val="000000"/>
            </a:solidFill>
            <a:miter lim="800000"/>
            <a:headEnd/>
            <a:tailEnd/>
          </a:ln>
        </p:spPr>
        <p:txBody>
          <a:bodyPr wrap="none" anchor="ctr"/>
          <a:lstStyle/>
          <a:p>
            <a:endParaRPr lang="es-ES">
              <a:latin typeface="Times New Roman" pitchFamily="18" charset="0"/>
              <a:cs typeface="Times New Roman" pitchFamily="18" charset="0"/>
            </a:endParaRPr>
          </a:p>
        </p:txBody>
      </p:sp>
      <p:grpSp>
        <p:nvGrpSpPr>
          <p:cNvPr id="10" name="Group 44">
            <a:extLst>
              <a:ext uri="{FF2B5EF4-FFF2-40B4-BE49-F238E27FC236}">
                <a16:creationId xmlns:a16="http://schemas.microsoft.com/office/drawing/2014/main" xmlns="" id="{D20B2287-19D9-4993-8C95-15FD5DD0FF89}"/>
              </a:ext>
            </a:extLst>
          </p:cNvPr>
          <p:cNvGrpSpPr>
            <a:grpSpLocks/>
          </p:cNvGrpSpPr>
          <p:nvPr/>
        </p:nvGrpSpPr>
        <p:grpSpPr bwMode="auto">
          <a:xfrm>
            <a:off x="4686002" y="4694358"/>
            <a:ext cx="1219200" cy="1874838"/>
            <a:chOff x="4224" y="1296"/>
            <a:chExt cx="768" cy="1181"/>
          </a:xfrm>
        </p:grpSpPr>
        <p:sp>
          <p:nvSpPr>
            <p:cNvPr id="11" name="Rectangle 4">
              <a:extLst>
                <a:ext uri="{FF2B5EF4-FFF2-40B4-BE49-F238E27FC236}">
                  <a16:creationId xmlns:a16="http://schemas.microsoft.com/office/drawing/2014/main" xmlns="" id="{AC644CFB-0750-4203-B653-CFBAECDE732E}"/>
                </a:ext>
              </a:extLst>
            </p:cNvPr>
            <p:cNvSpPr>
              <a:spLocks noChangeArrowheads="1"/>
            </p:cNvSpPr>
            <p:nvPr/>
          </p:nvSpPr>
          <p:spPr bwMode="auto">
            <a:xfrm>
              <a:off x="4224" y="1296"/>
              <a:ext cx="768" cy="720"/>
            </a:xfrm>
            <a:prstGeom prst="rect">
              <a:avLst/>
            </a:prstGeom>
            <a:solidFill>
              <a:srgbClr val="FFFF00"/>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FFF00"/>
              </a:extrusionClr>
            </a:sp3d>
          </p:spPr>
          <p:txBody>
            <a:bodyPr wrap="none" anchor="ctr">
              <a:flatTx/>
            </a:bodyPr>
            <a:lstStyle/>
            <a:p>
              <a:endParaRPr lang="es-ES">
                <a:latin typeface="Times New Roman" pitchFamily="18" charset="0"/>
                <a:cs typeface="Times New Roman" pitchFamily="18" charset="0"/>
              </a:endParaRPr>
            </a:p>
          </p:txBody>
        </p:sp>
        <p:grpSp>
          <p:nvGrpSpPr>
            <p:cNvPr id="12" name="Group 10">
              <a:extLst>
                <a:ext uri="{FF2B5EF4-FFF2-40B4-BE49-F238E27FC236}">
                  <a16:creationId xmlns:a16="http://schemas.microsoft.com/office/drawing/2014/main" xmlns="" id="{0D3E46CF-CABA-43AF-9B7B-F3EDD94F2582}"/>
                </a:ext>
              </a:extLst>
            </p:cNvPr>
            <p:cNvGrpSpPr>
              <a:grpSpLocks/>
            </p:cNvGrpSpPr>
            <p:nvPr/>
          </p:nvGrpSpPr>
          <p:grpSpPr bwMode="auto">
            <a:xfrm>
              <a:off x="4656" y="2031"/>
              <a:ext cx="207" cy="464"/>
              <a:chOff x="3878" y="3740"/>
              <a:chExt cx="462" cy="824"/>
            </a:xfrm>
          </p:grpSpPr>
          <p:sp>
            <p:nvSpPr>
              <p:cNvPr id="18" name="Oval 11">
                <a:extLst>
                  <a:ext uri="{FF2B5EF4-FFF2-40B4-BE49-F238E27FC236}">
                    <a16:creationId xmlns:a16="http://schemas.microsoft.com/office/drawing/2014/main" xmlns="" id="{FAEE986A-15C3-4925-A648-F5B95D8419E3}"/>
                  </a:ext>
                </a:extLst>
              </p:cNvPr>
              <p:cNvSpPr>
                <a:spLocks noChangeArrowheads="1"/>
              </p:cNvSpPr>
              <p:nvPr/>
            </p:nvSpPr>
            <p:spPr bwMode="auto">
              <a:xfrm>
                <a:off x="3878" y="4410"/>
                <a:ext cx="462" cy="112"/>
              </a:xfrm>
              <a:prstGeom prst="ellipse">
                <a:avLst/>
              </a:prstGeom>
              <a:solidFill>
                <a:srgbClr val="99CC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sp>
            <p:nvSpPr>
              <p:cNvPr id="19" name="Rectangle 12">
                <a:extLst>
                  <a:ext uri="{FF2B5EF4-FFF2-40B4-BE49-F238E27FC236}">
                    <a16:creationId xmlns:a16="http://schemas.microsoft.com/office/drawing/2014/main" xmlns="" id="{79AA1E37-5AF9-42C7-BB7D-7562A04C2BD1}"/>
                  </a:ext>
                </a:extLst>
              </p:cNvPr>
              <p:cNvSpPr>
                <a:spLocks noChangeArrowheads="1"/>
              </p:cNvSpPr>
              <p:nvPr/>
            </p:nvSpPr>
            <p:spPr bwMode="auto">
              <a:xfrm>
                <a:off x="4060" y="3990"/>
                <a:ext cx="112" cy="420"/>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20" name="Rectangle 13">
                <a:extLst>
                  <a:ext uri="{FF2B5EF4-FFF2-40B4-BE49-F238E27FC236}">
                    <a16:creationId xmlns:a16="http://schemas.microsoft.com/office/drawing/2014/main" xmlns="" id="{9751C9F8-2C18-4D10-B683-F17201BEEFB8}"/>
                  </a:ext>
                </a:extLst>
              </p:cNvPr>
              <p:cNvSpPr>
                <a:spLocks noChangeArrowheads="1"/>
              </p:cNvSpPr>
              <p:nvPr/>
            </p:nvSpPr>
            <p:spPr bwMode="auto">
              <a:xfrm>
                <a:off x="3878" y="4480"/>
                <a:ext cx="462" cy="84"/>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21" name="Freeform 14">
                <a:extLst>
                  <a:ext uri="{FF2B5EF4-FFF2-40B4-BE49-F238E27FC236}">
                    <a16:creationId xmlns:a16="http://schemas.microsoft.com/office/drawing/2014/main" xmlns="" id="{2768AD2A-881E-4713-9228-D1E841CDD852}"/>
                  </a:ext>
                </a:extLst>
              </p:cNvPr>
              <p:cNvSpPr>
                <a:spLocks/>
              </p:cNvSpPr>
              <p:nvPr/>
            </p:nvSpPr>
            <p:spPr bwMode="auto">
              <a:xfrm>
                <a:off x="4015" y="3740"/>
                <a:ext cx="185" cy="271"/>
              </a:xfrm>
              <a:custGeom>
                <a:avLst/>
                <a:gdLst>
                  <a:gd name="T0" fmla="*/ 82 w 185"/>
                  <a:gd name="T1" fmla="*/ 271 h 271"/>
                  <a:gd name="T2" fmla="*/ 48 w 185"/>
                  <a:gd name="T3" fmla="*/ 117 h 271"/>
                  <a:gd name="T4" fmla="*/ 99 w 185"/>
                  <a:gd name="T5" fmla="*/ 100 h 271"/>
                  <a:gd name="T6" fmla="*/ 185 w 185"/>
                  <a:gd name="T7" fmla="*/ 83 h 271"/>
                  <a:gd name="T8" fmla="*/ 168 w 185"/>
                  <a:gd name="T9" fmla="*/ 203 h 271"/>
                  <a:gd name="T10" fmla="*/ 116 w 185"/>
                  <a:gd name="T11" fmla="*/ 237 h 271"/>
                  <a:gd name="T12" fmla="*/ 82 w 185"/>
                  <a:gd name="T13" fmla="*/ 271 h 271"/>
                  <a:gd name="T14" fmla="*/ 0 60000 65536"/>
                  <a:gd name="T15" fmla="*/ 0 60000 65536"/>
                  <a:gd name="T16" fmla="*/ 0 60000 65536"/>
                  <a:gd name="T17" fmla="*/ 0 60000 65536"/>
                  <a:gd name="T18" fmla="*/ 0 60000 65536"/>
                  <a:gd name="T19" fmla="*/ 0 60000 65536"/>
                  <a:gd name="T20" fmla="*/ 0 60000 65536"/>
                  <a:gd name="T21" fmla="*/ 0 w 185"/>
                  <a:gd name="T22" fmla="*/ 0 h 271"/>
                  <a:gd name="T23" fmla="*/ 185 w 185"/>
                  <a:gd name="T24" fmla="*/ 271 h 2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271">
                    <a:moveTo>
                      <a:pt x="82" y="271"/>
                    </a:moveTo>
                    <a:cubicBezTo>
                      <a:pt x="56" y="233"/>
                      <a:pt x="0" y="165"/>
                      <a:pt x="48" y="117"/>
                    </a:cubicBezTo>
                    <a:cubicBezTo>
                      <a:pt x="61" y="104"/>
                      <a:pt x="82" y="106"/>
                      <a:pt x="99" y="100"/>
                    </a:cubicBezTo>
                    <a:cubicBezTo>
                      <a:pt x="181" y="18"/>
                      <a:pt x="158" y="0"/>
                      <a:pt x="185" y="83"/>
                    </a:cubicBezTo>
                    <a:cubicBezTo>
                      <a:pt x="179" y="123"/>
                      <a:pt x="185" y="166"/>
                      <a:pt x="168" y="203"/>
                    </a:cubicBezTo>
                    <a:cubicBezTo>
                      <a:pt x="160" y="222"/>
                      <a:pt x="132" y="224"/>
                      <a:pt x="116" y="237"/>
                    </a:cubicBezTo>
                    <a:cubicBezTo>
                      <a:pt x="103" y="247"/>
                      <a:pt x="93" y="260"/>
                      <a:pt x="82" y="271"/>
                    </a:cubicBezTo>
                    <a:close/>
                  </a:path>
                </a:pathLst>
              </a:custGeom>
              <a:solidFill>
                <a:srgbClr val="FFFF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grpSp>
        <p:grpSp>
          <p:nvGrpSpPr>
            <p:cNvPr id="13" name="Group 15">
              <a:extLst>
                <a:ext uri="{FF2B5EF4-FFF2-40B4-BE49-F238E27FC236}">
                  <a16:creationId xmlns:a16="http://schemas.microsoft.com/office/drawing/2014/main" xmlns="" id="{30DA8F7C-7297-429B-B31D-E487207780C8}"/>
                </a:ext>
              </a:extLst>
            </p:cNvPr>
            <p:cNvGrpSpPr>
              <a:grpSpLocks/>
            </p:cNvGrpSpPr>
            <p:nvPr/>
          </p:nvGrpSpPr>
          <p:grpSpPr bwMode="auto">
            <a:xfrm>
              <a:off x="4272" y="2031"/>
              <a:ext cx="208" cy="464"/>
              <a:chOff x="3878" y="3740"/>
              <a:chExt cx="462" cy="824"/>
            </a:xfrm>
          </p:grpSpPr>
          <p:sp>
            <p:nvSpPr>
              <p:cNvPr id="14" name="Oval 16">
                <a:extLst>
                  <a:ext uri="{FF2B5EF4-FFF2-40B4-BE49-F238E27FC236}">
                    <a16:creationId xmlns:a16="http://schemas.microsoft.com/office/drawing/2014/main" xmlns="" id="{3D882AF0-5AEA-4757-AEA4-A3F65174EE33}"/>
                  </a:ext>
                </a:extLst>
              </p:cNvPr>
              <p:cNvSpPr>
                <a:spLocks noChangeArrowheads="1"/>
              </p:cNvSpPr>
              <p:nvPr/>
            </p:nvSpPr>
            <p:spPr bwMode="auto">
              <a:xfrm>
                <a:off x="3878" y="4410"/>
                <a:ext cx="462" cy="112"/>
              </a:xfrm>
              <a:prstGeom prst="ellipse">
                <a:avLst/>
              </a:prstGeom>
              <a:solidFill>
                <a:srgbClr val="99CC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sp>
            <p:nvSpPr>
              <p:cNvPr id="15" name="Rectangle 17">
                <a:extLst>
                  <a:ext uri="{FF2B5EF4-FFF2-40B4-BE49-F238E27FC236}">
                    <a16:creationId xmlns:a16="http://schemas.microsoft.com/office/drawing/2014/main" xmlns="" id="{A4682991-B6B8-4127-9AC6-3C6A2B185AC8}"/>
                  </a:ext>
                </a:extLst>
              </p:cNvPr>
              <p:cNvSpPr>
                <a:spLocks noChangeArrowheads="1"/>
              </p:cNvSpPr>
              <p:nvPr/>
            </p:nvSpPr>
            <p:spPr bwMode="auto">
              <a:xfrm>
                <a:off x="4060" y="3990"/>
                <a:ext cx="112" cy="420"/>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16" name="Rectangle 18">
                <a:extLst>
                  <a:ext uri="{FF2B5EF4-FFF2-40B4-BE49-F238E27FC236}">
                    <a16:creationId xmlns:a16="http://schemas.microsoft.com/office/drawing/2014/main" xmlns="" id="{77D23E9E-F0EB-4225-A25B-5BBD469B395D}"/>
                  </a:ext>
                </a:extLst>
              </p:cNvPr>
              <p:cNvSpPr>
                <a:spLocks noChangeArrowheads="1"/>
              </p:cNvSpPr>
              <p:nvPr/>
            </p:nvSpPr>
            <p:spPr bwMode="auto">
              <a:xfrm>
                <a:off x="3878" y="4480"/>
                <a:ext cx="462" cy="84"/>
              </a:xfrm>
              <a:prstGeom prst="rect">
                <a:avLst/>
              </a:prstGeom>
              <a:solidFill>
                <a:srgbClr val="99CC00"/>
              </a:solidFill>
              <a:ln w="9525">
                <a:solidFill>
                  <a:srgbClr val="000000"/>
                </a:solidFill>
                <a:miter lim="800000"/>
                <a:headEnd/>
                <a:tailEnd/>
              </a:ln>
            </p:spPr>
            <p:txBody>
              <a:bodyPr/>
              <a:lstStyle/>
              <a:p>
                <a:endParaRPr lang="es-ES">
                  <a:latin typeface="Times New Roman" pitchFamily="18" charset="0"/>
                  <a:cs typeface="Times New Roman" pitchFamily="18" charset="0"/>
                </a:endParaRPr>
              </a:p>
            </p:txBody>
          </p:sp>
          <p:sp>
            <p:nvSpPr>
              <p:cNvPr id="17" name="Freeform 19">
                <a:extLst>
                  <a:ext uri="{FF2B5EF4-FFF2-40B4-BE49-F238E27FC236}">
                    <a16:creationId xmlns:a16="http://schemas.microsoft.com/office/drawing/2014/main" xmlns="" id="{7B343A67-306F-4CA9-A269-B2FAB08AAD0D}"/>
                  </a:ext>
                </a:extLst>
              </p:cNvPr>
              <p:cNvSpPr>
                <a:spLocks/>
              </p:cNvSpPr>
              <p:nvPr/>
            </p:nvSpPr>
            <p:spPr bwMode="auto">
              <a:xfrm>
                <a:off x="4015" y="3740"/>
                <a:ext cx="185" cy="271"/>
              </a:xfrm>
              <a:custGeom>
                <a:avLst/>
                <a:gdLst>
                  <a:gd name="T0" fmla="*/ 82 w 185"/>
                  <a:gd name="T1" fmla="*/ 271 h 271"/>
                  <a:gd name="T2" fmla="*/ 48 w 185"/>
                  <a:gd name="T3" fmla="*/ 117 h 271"/>
                  <a:gd name="T4" fmla="*/ 99 w 185"/>
                  <a:gd name="T5" fmla="*/ 100 h 271"/>
                  <a:gd name="T6" fmla="*/ 185 w 185"/>
                  <a:gd name="T7" fmla="*/ 83 h 271"/>
                  <a:gd name="T8" fmla="*/ 168 w 185"/>
                  <a:gd name="T9" fmla="*/ 203 h 271"/>
                  <a:gd name="T10" fmla="*/ 116 w 185"/>
                  <a:gd name="T11" fmla="*/ 237 h 271"/>
                  <a:gd name="T12" fmla="*/ 82 w 185"/>
                  <a:gd name="T13" fmla="*/ 271 h 271"/>
                  <a:gd name="T14" fmla="*/ 0 60000 65536"/>
                  <a:gd name="T15" fmla="*/ 0 60000 65536"/>
                  <a:gd name="T16" fmla="*/ 0 60000 65536"/>
                  <a:gd name="T17" fmla="*/ 0 60000 65536"/>
                  <a:gd name="T18" fmla="*/ 0 60000 65536"/>
                  <a:gd name="T19" fmla="*/ 0 60000 65536"/>
                  <a:gd name="T20" fmla="*/ 0 60000 65536"/>
                  <a:gd name="T21" fmla="*/ 0 w 185"/>
                  <a:gd name="T22" fmla="*/ 0 h 271"/>
                  <a:gd name="T23" fmla="*/ 185 w 185"/>
                  <a:gd name="T24" fmla="*/ 271 h 2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271">
                    <a:moveTo>
                      <a:pt x="82" y="271"/>
                    </a:moveTo>
                    <a:cubicBezTo>
                      <a:pt x="56" y="233"/>
                      <a:pt x="0" y="165"/>
                      <a:pt x="48" y="117"/>
                    </a:cubicBezTo>
                    <a:cubicBezTo>
                      <a:pt x="61" y="104"/>
                      <a:pt x="82" y="106"/>
                      <a:pt x="99" y="100"/>
                    </a:cubicBezTo>
                    <a:cubicBezTo>
                      <a:pt x="181" y="18"/>
                      <a:pt x="158" y="0"/>
                      <a:pt x="185" y="83"/>
                    </a:cubicBezTo>
                    <a:cubicBezTo>
                      <a:pt x="179" y="123"/>
                      <a:pt x="185" y="166"/>
                      <a:pt x="168" y="203"/>
                    </a:cubicBezTo>
                    <a:cubicBezTo>
                      <a:pt x="160" y="222"/>
                      <a:pt x="132" y="224"/>
                      <a:pt x="116" y="237"/>
                    </a:cubicBezTo>
                    <a:cubicBezTo>
                      <a:pt x="103" y="247"/>
                      <a:pt x="93" y="260"/>
                      <a:pt x="82" y="271"/>
                    </a:cubicBezTo>
                    <a:close/>
                  </a:path>
                </a:pathLst>
              </a:custGeom>
              <a:solidFill>
                <a:srgbClr val="FFFF00"/>
              </a:solidFill>
              <a:ln w="9525">
                <a:solidFill>
                  <a:srgbClr val="000000"/>
                </a:solidFill>
                <a:round/>
                <a:headEnd/>
                <a:tailEnd/>
              </a:ln>
            </p:spPr>
            <p:txBody>
              <a:bodyPr/>
              <a:lstStyle/>
              <a:p>
                <a:endParaRPr lang="es-ES">
                  <a:latin typeface="Times New Roman" pitchFamily="18" charset="0"/>
                  <a:cs typeface="Times New Roman" pitchFamily="18" charset="0"/>
                </a:endParaRPr>
              </a:p>
            </p:txBody>
          </p:sp>
        </p:grpSp>
      </p:grpSp>
      <p:sp>
        <p:nvSpPr>
          <p:cNvPr id="22" name="Text Box 39">
            <a:extLst>
              <a:ext uri="{FF2B5EF4-FFF2-40B4-BE49-F238E27FC236}">
                <a16:creationId xmlns:a16="http://schemas.microsoft.com/office/drawing/2014/main" xmlns="" id="{F38814DC-7DE3-4D28-B435-4E5EAF1D5769}"/>
              </a:ext>
            </a:extLst>
          </p:cNvPr>
          <p:cNvSpPr txBox="1">
            <a:spLocks noChangeArrowheads="1"/>
          </p:cNvSpPr>
          <p:nvPr/>
        </p:nvSpPr>
        <p:spPr bwMode="auto">
          <a:xfrm>
            <a:off x="317627" y="1819821"/>
            <a:ext cx="472290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s-MX" sz="2000" dirty="0">
                <a:latin typeface="Arial" pitchFamily="34" charset="0"/>
                <a:cs typeface="Arial" pitchFamily="34" charset="0"/>
              </a:rPr>
              <a:t>La dilatación es la misma en todas direcciones (L, W y H), por tanto:</a:t>
            </a:r>
          </a:p>
        </p:txBody>
      </p:sp>
      <p:sp>
        <p:nvSpPr>
          <p:cNvPr id="23" name="Text Box 40">
            <a:extLst>
              <a:ext uri="{FF2B5EF4-FFF2-40B4-BE49-F238E27FC236}">
                <a16:creationId xmlns:a16="http://schemas.microsoft.com/office/drawing/2014/main" xmlns="" id="{1045E44E-0295-4122-B76C-A8FAC0322A0E}"/>
              </a:ext>
            </a:extLst>
          </p:cNvPr>
          <p:cNvSpPr txBox="1">
            <a:spLocks noChangeArrowheads="1"/>
          </p:cNvSpPr>
          <p:nvPr/>
        </p:nvSpPr>
        <p:spPr bwMode="auto">
          <a:xfrm>
            <a:off x="340340" y="2583891"/>
            <a:ext cx="2438400" cy="461665"/>
          </a:xfrm>
          <a:prstGeom prst="rect">
            <a:avLst/>
          </a:prstGeom>
          <a:solidFill>
            <a:schemeClr val="tx2">
              <a:lumMod val="60000"/>
              <a:lumOff val="40000"/>
            </a:schemeClr>
          </a:solidFill>
          <a:ln w="9525">
            <a:solidFill>
              <a:srgbClr val="000000"/>
            </a:solidFill>
            <a:miter lim="800000"/>
            <a:headEnd/>
            <a:tailEnd/>
          </a:ln>
          <a:effectLst>
            <a:outerShdw dist="107763" dir="2700000" algn="ctr" rotWithShape="0">
              <a:schemeClr val="bg2"/>
            </a:outerShdw>
          </a:effectLst>
        </p:spPr>
        <p:txBody>
          <a:bodyPr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l-GR" i="1" dirty="0">
                <a:solidFill>
                  <a:srgbClr val="000000"/>
                </a:solidFill>
                <a:latin typeface="Times New Roman" pitchFamily="18" charset="0"/>
                <a:cs typeface="Times New Roman" pitchFamily="18" charset="0"/>
              </a:rPr>
              <a:t>Δ</a:t>
            </a:r>
            <a:r>
              <a:rPr lang="es-MX" i="1" dirty="0">
                <a:solidFill>
                  <a:srgbClr val="000000"/>
                </a:solidFill>
                <a:latin typeface="Times New Roman" pitchFamily="18" charset="0"/>
                <a:cs typeface="Times New Roman" pitchFamily="18" charset="0"/>
              </a:rPr>
              <a:t>V = </a:t>
            </a:r>
            <a:r>
              <a:rPr lang="el-GR" i="1" dirty="0">
                <a:solidFill>
                  <a:srgbClr val="000000"/>
                </a:solidFill>
                <a:latin typeface="Times New Roman" pitchFamily="18" charset="0"/>
                <a:cs typeface="Times New Roman" pitchFamily="18" charset="0"/>
              </a:rPr>
              <a:t>β</a:t>
            </a:r>
            <a:r>
              <a:rPr lang="es-MX" i="1" dirty="0">
                <a:solidFill>
                  <a:srgbClr val="000000"/>
                </a:solidFill>
                <a:latin typeface="Times New Roman" pitchFamily="18" charset="0"/>
                <a:cs typeface="Times New Roman" pitchFamily="18" charset="0"/>
              </a:rPr>
              <a:t>V</a:t>
            </a:r>
            <a:r>
              <a:rPr lang="es-MX" i="1" baseline="-25000" dirty="0">
                <a:solidFill>
                  <a:srgbClr val="000000"/>
                </a:solidFill>
                <a:latin typeface="Times New Roman" pitchFamily="18" charset="0"/>
                <a:cs typeface="Times New Roman" pitchFamily="18" charset="0"/>
              </a:rPr>
              <a:t>0</a:t>
            </a:r>
            <a:r>
              <a:rPr lang="es-MX" i="1" dirty="0">
                <a:solidFill>
                  <a:srgbClr val="000000"/>
                </a:solidFill>
                <a:latin typeface="Times New Roman" pitchFamily="18" charset="0"/>
                <a:cs typeface="Times New Roman" pitchFamily="18" charset="0"/>
              </a:rPr>
              <a:t> </a:t>
            </a:r>
            <a:r>
              <a:rPr lang="es-MX" i="1" dirty="0" err="1">
                <a:solidFill>
                  <a:srgbClr val="000000"/>
                </a:solidFill>
                <a:latin typeface="Times New Roman" pitchFamily="18" charset="0"/>
                <a:cs typeface="Times New Roman" pitchFamily="18" charset="0"/>
              </a:rPr>
              <a:t>Dt</a:t>
            </a:r>
            <a:endParaRPr lang="es-MX" dirty="0">
              <a:solidFill>
                <a:srgbClr val="000000"/>
              </a:solidFill>
              <a:latin typeface="Times New Roman" pitchFamily="18" charset="0"/>
              <a:cs typeface="Times New Roman" pitchFamily="18" charset="0"/>
            </a:endParaRPr>
          </a:p>
        </p:txBody>
      </p:sp>
      <p:sp>
        <p:nvSpPr>
          <p:cNvPr id="24" name="Text Box 41">
            <a:extLst>
              <a:ext uri="{FF2B5EF4-FFF2-40B4-BE49-F238E27FC236}">
                <a16:creationId xmlns:a16="http://schemas.microsoft.com/office/drawing/2014/main" xmlns="" id="{6FE45CFE-0CF5-4931-94B3-B502C0D177E9}"/>
              </a:ext>
            </a:extLst>
          </p:cNvPr>
          <p:cNvSpPr txBox="1">
            <a:spLocks noChangeArrowheads="1"/>
          </p:cNvSpPr>
          <p:nvPr/>
        </p:nvSpPr>
        <p:spPr bwMode="auto">
          <a:xfrm>
            <a:off x="344488" y="3309331"/>
            <a:ext cx="1828800" cy="461665"/>
          </a:xfrm>
          <a:prstGeom prst="rect">
            <a:avLst/>
          </a:prstGeom>
          <a:solidFill>
            <a:schemeClr val="tx2">
              <a:lumMod val="60000"/>
              <a:lumOff val="40000"/>
            </a:schemeClr>
          </a:solidFill>
          <a:ln w="9525">
            <a:solidFill>
              <a:srgbClr val="000000"/>
            </a:solidFill>
            <a:miter lim="800000"/>
            <a:headEnd/>
            <a:tailEnd/>
          </a:ln>
          <a:effectLst>
            <a:outerShdw dist="107763" dir="2700000" algn="ctr" rotWithShape="0">
              <a:schemeClr val="bg2"/>
            </a:outerShdw>
          </a:effectLst>
        </p:spPr>
        <p:txBody>
          <a:bodyPr tIns="91440" bIns="9144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l-GR" i="1" dirty="0">
                <a:solidFill>
                  <a:srgbClr val="000000"/>
                </a:solidFill>
                <a:latin typeface="Times New Roman" pitchFamily="18" charset="0"/>
                <a:cs typeface="Times New Roman" pitchFamily="18" charset="0"/>
              </a:rPr>
              <a:t>β</a:t>
            </a:r>
            <a:r>
              <a:rPr lang="es-MX" i="1" dirty="0">
                <a:solidFill>
                  <a:srgbClr val="000000"/>
                </a:solidFill>
                <a:latin typeface="Times New Roman" pitchFamily="18" charset="0"/>
                <a:cs typeface="Times New Roman" pitchFamily="18" charset="0"/>
              </a:rPr>
              <a:t> = 3</a:t>
            </a:r>
            <a:r>
              <a:rPr lang="el-GR" i="1" dirty="0">
                <a:solidFill>
                  <a:srgbClr val="000000"/>
                </a:solidFill>
                <a:latin typeface="Times New Roman" pitchFamily="18" charset="0"/>
                <a:cs typeface="Times New Roman" pitchFamily="18" charset="0"/>
              </a:rPr>
              <a:t>α</a:t>
            </a:r>
            <a:endParaRPr lang="es-MX" i="1" dirty="0">
              <a:latin typeface="Times New Roman" pitchFamily="18" charset="0"/>
              <a:cs typeface="Times New Roman" pitchFamily="18" charset="0"/>
            </a:endParaRPr>
          </a:p>
        </p:txBody>
      </p:sp>
      <p:sp>
        <p:nvSpPr>
          <p:cNvPr id="25" name="Text Box 42">
            <a:extLst>
              <a:ext uri="{FF2B5EF4-FFF2-40B4-BE49-F238E27FC236}">
                <a16:creationId xmlns:a16="http://schemas.microsoft.com/office/drawing/2014/main" xmlns="" id="{4A81DA78-230F-4047-A167-38CE3DF64348}"/>
              </a:ext>
            </a:extLst>
          </p:cNvPr>
          <p:cNvSpPr txBox="1">
            <a:spLocks noChangeArrowheads="1"/>
          </p:cNvSpPr>
          <p:nvPr/>
        </p:nvSpPr>
        <p:spPr bwMode="auto">
          <a:xfrm>
            <a:off x="344701" y="3956290"/>
            <a:ext cx="537043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s-MX" sz="2000" dirty="0">
                <a:latin typeface="Arial" pitchFamily="34" charset="0"/>
                <a:cs typeface="Arial" pitchFamily="34" charset="0"/>
              </a:rPr>
              <a:t>La constante </a:t>
            </a:r>
            <a:r>
              <a:rPr lang="el-GR" sz="2000" i="1" dirty="0">
                <a:solidFill>
                  <a:srgbClr val="FF0000"/>
                </a:solidFill>
                <a:latin typeface="Arial" pitchFamily="34" charset="0"/>
                <a:cs typeface="Arial" pitchFamily="34" charset="0"/>
              </a:rPr>
              <a:t>β</a:t>
            </a:r>
            <a:r>
              <a:rPr lang="es-MX" sz="2000" dirty="0">
                <a:latin typeface="Arial" pitchFamily="34" charset="0"/>
                <a:cs typeface="Arial" pitchFamily="34" charset="0"/>
              </a:rPr>
              <a:t> es el coeficiente de dilatación de volumen.</a:t>
            </a:r>
          </a:p>
        </p:txBody>
      </p:sp>
      <p:graphicFrame>
        <p:nvGraphicFramePr>
          <p:cNvPr id="26" name="Object 2">
            <a:extLst>
              <a:ext uri="{FF2B5EF4-FFF2-40B4-BE49-F238E27FC236}">
                <a16:creationId xmlns:a16="http://schemas.microsoft.com/office/drawing/2014/main" xmlns="" id="{83B50997-D329-4C8C-8434-949A2B2F6D84}"/>
              </a:ext>
            </a:extLst>
          </p:cNvPr>
          <p:cNvGraphicFramePr>
            <a:graphicFrameLocks noChangeAspect="1"/>
          </p:cNvGraphicFramePr>
          <p:nvPr>
            <p:extLst>
              <p:ext uri="{D42A27DB-BD31-4B8C-83A1-F6EECF244321}">
                <p14:modId xmlns:p14="http://schemas.microsoft.com/office/powerpoint/2010/main" val="3642963206"/>
              </p:ext>
            </p:extLst>
          </p:nvPr>
        </p:nvGraphicFramePr>
        <p:xfrm>
          <a:off x="537024" y="4787085"/>
          <a:ext cx="1600200" cy="1128713"/>
        </p:xfrm>
        <a:graphic>
          <a:graphicData uri="http://schemas.openxmlformats.org/presentationml/2006/ole">
            <mc:AlternateContent xmlns:mc="http://schemas.openxmlformats.org/markup-compatibility/2006">
              <mc:Choice xmlns:v="urn:schemas-microsoft-com:vml" Requires="v">
                <p:oleObj spid="_x0000_s11276" name="Equation" r:id="rId4" imgW="609336" imgH="431613" progId="">
                  <p:embed/>
                </p:oleObj>
              </mc:Choice>
              <mc:Fallback>
                <p:oleObj name="Equation" r:id="rId4" imgW="609336" imgH="431613" progId="">
                  <p:embed/>
                  <p:pic>
                    <p:nvPicPr>
                      <p:cNvPr id="2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024" y="4787085"/>
                        <a:ext cx="1600200" cy="1128713"/>
                      </a:xfrm>
                      <a:prstGeom prst="rect">
                        <a:avLst/>
                      </a:prstGeom>
                      <a:solidFill>
                        <a:schemeClr val="tx2">
                          <a:lumMod val="60000"/>
                          <a:lumOff val="40000"/>
                        </a:schemeClr>
                      </a:solidFill>
                      <a:ln w="9525">
                        <a:solidFill>
                          <a:srgbClr val="000000"/>
                        </a:solidFill>
                        <a:miter lim="800000"/>
                        <a:headEnd/>
                        <a:tailEnd/>
                      </a:ln>
                      <a:effectLst>
                        <a:outerShdw dist="107763" dir="2700000" algn="ctr" rotWithShape="0">
                          <a:schemeClr val="bg2"/>
                        </a:outerShdw>
                      </a:effectLst>
                    </p:spPr>
                  </p:pic>
                </p:oleObj>
              </mc:Fallback>
            </mc:AlternateContent>
          </a:graphicData>
        </a:graphic>
      </p:graphicFrame>
      <p:pic>
        <p:nvPicPr>
          <p:cNvPr id="3" name="Imagen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6651" y="1659923"/>
            <a:ext cx="3161927" cy="4900302"/>
          </a:xfrm>
          <a:prstGeom prst="rect">
            <a:avLst/>
          </a:prstGeom>
        </p:spPr>
      </p:pic>
    </p:spTree>
    <p:extLst>
      <p:ext uri="{BB962C8B-B14F-4D97-AF65-F5344CB8AC3E}">
        <p14:creationId xmlns:p14="http://schemas.microsoft.com/office/powerpoint/2010/main" val="252341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1"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0-#ppt_w/2"/>
                                          </p:val>
                                        </p:tav>
                                        <p:tav tm="100000">
                                          <p:val>
                                            <p:strVal val="#ppt_x"/>
                                          </p:val>
                                        </p:tav>
                                      </p:tavLst>
                                    </p:anim>
                                    <p:anim calcmode="lin" valueType="num">
                                      <p:cBhvr additive="base">
                                        <p:cTn id="24"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0-#ppt_w/2"/>
                                          </p:val>
                                        </p:tav>
                                        <p:tav tm="100000">
                                          <p:val>
                                            <p:strVal val="#ppt_x"/>
                                          </p:val>
                                        </p:tav>
                                      </p:tavLst>
                                    </p:anim>
                                    <p:anim calcmode="lin" valueType="num">
                                      <p:cBhvr additive="base">
                                        <p:cTn id="30"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wipe(left)">
                                      <p:cBhvr>
                                        <p:cTn id="41" dur="500"/>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5" presetClass="entr" presetSubtype="0"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p:cTn id="46" dur="1000" fill="hold"/>
                                        <p:tgtEl>
                                          <p:spTgt spid="26"/>
                                        </p:tgtEl>
                                        <p:attrNameLst>
                                          <p:attrName>ppt_w</p:attrName>
                                        </p:attrNameLst>
                                      </p:cBhvr>
                                      <p:tavLst>
                                        <p:tav tm="0">
                                          <p:val>
                                            <p:fltVal val="0"/>
                                          </p:val>
                                        </p:tav>
                                        <p:tav tm="100000">
                                          <p:val>
                                            <p:strVal val="#ppt_w"/>
                                          </p:val>
                                        </p:tav>
                                      </p:tavLst>
                                    </p:anim>
                                    <p:anim calcmode="lin" valueType="num">
                                      <p:cBhvr>
                                        <p:cTn id="47" dur="1000" fill="hold"/>
                                        <p:tgtEl>
                                          <p:spTgt spid="26"/>
                                        </p:tgtEl>
                                        <p:attrNameLst>
                                          <p:attrName>ppt_h</p:attrName>
                                        </p:attrNameLst>
                                      </p:cBhvr>
                                      <p:tavLst>
                                        <p:tav tm="0">
                                          <p:val>
                                            <p:fltVal val="0"/>
                                          </p:val>
                                        </p:tav>
                                        <p:tav tm="100000">
                                          <p:val>
                                            <p:strVal val="#ppt_h"/>
                                          </p:val>
                                        </p:tav>
                                      </p:tavLst>
                                    </p:anim>
                                    <p:anim calcmode="lin" valueType="num">
                                      <p:cBhvr>
                                        <p:cTn id="48"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49" dur="1000" fill="hold"/>
                                        <p:tgtEl>
                                          <p:spTgt spid="2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44"/>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22" grpId="0" autoUpdateAnimBg="0"/>
      <p:bldP spid="23" grpId="0" animBg="1" autoUpdateAnimBg="0"/>
      <p:bldP spid="24" grpId="0" animBg="1" autoUpdateAnimBg="0"/>
      <p:bldP spid="2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2479084"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a:solidFill>
                  <a:schemeClr val="tx1"/>
                </a:solidFill>
                <a:latin typeface="Arial" panose="020B0604020202020204" pitchFamily="34" charset="0"/>
                <a:cs typeface="Arial" panose="020B0604020202020204" pitchFamily="34" charset="0"/>
              </a:rPr>
              <a:t>EJERCICIOS</a:t>
            </a:r>
          </a:p>
        </p:txBody>
      </p:sp>
      <p:sp>
        <p:nvSpPr>
          <p:cNvPr id="3" name="Rectángulo 2"/>
          <p:cNvSpPr/>
          <p:nvPr/>
        </p:nvSpPr>
        <p:spPr>
          <a:xfrm>
            <a:off x="403674" y="1842243"/>
            <a:ext cx="4549326" cy="2308324"/>
          </a:xfrm>
          <a:prstGeom prst="rect">
            <a:avLst/>
          </a:prstGeom>
        </p:spPr>
        <p:txBody>
          <a:bodyPr wrap="square">
            <a:spAutoFit/>
          </a:bodyPr>
          <a:lstStyle/>
          <a:p>
            <a:pPr marL="342900" indent="-342900" algn="just">
              <a:buFont typeface="+mj-lt"/>
              <a:buAutoNum type="arabicPeriod"/>
            </a:pPr>
            <a:r>
              <a:rPr lang="es-PE" dirty="0" smtClean="0"/>
              <a:t>El </a:t>
            </a:r>
            <a:r>
              <a:rPr lang="es-PE" dirty="0"/>
              <a:t>termómetro de mercurio se construye como se muestra en la </a:t>
            </a:r>
            <a:r>
              <a:rPr lang="es-PE" dirty="0" smtClean="0"/>
              <a:t>figura. </a:t>
            </a:r>
            <a:r>
              <a:rPr lang="es-PE" dirty="0"/>
              <a:t>El tubo capilar tiene un diámetro de 0,004 00 cm, y la bombilla tiene un diámetro de 0,250 cm. </a:t>
            </a:r>
            <a:r>
              <a:rPr lang="es-PE" dirty="0" smtClean="0"/>
              <a:t>Despreciando </a:t>
            </a:r>
            <a:r>
              <a:rPr lang="es-PE" dirty="0"/>
              <a:t>la expansión del vidrio, encontrar el cambio de altura de la columna de mercurio que ocurre con un cambio de temperatura de 30,0 a °C </a:t>
            </a:r>
            <a:r>
              <a:rPr lang="es-PE" dirty="0" smtClean="0"/>
              <a:t>.</a:t>
            </a:r>
            <a:endParaRPr lang="es-PE" dirty="0"/>
          </a:p>
        </p:txBody>
      </p:sp>
      <mc:AlternateContent xmlns:mc="http://schemas.openxmlformats.org/markup-compatibility/2006">
        <mc:Choice xmlns:a14="http://schemas.microsoft.com/office/drawing/2010/main" Requires="a14">
          <p:sp>
            <p:nvSpPr>
              <p:cNvPr id="4" name="Rectángulo 3"/>
              <p:cNvSpPr/>
              <p:nvPr/>
            </p:nvSpPr>
            <p:spPr>
              <a:xfrm>
                <a:off x="5313040" y="1842243"/>
                <a:ext cx="3960440" cy="2862322"/>
              </a:xfrm>
              <a:prstGeom prst="rect">
                <a:avLst/>
              </a:prstGeom>
            </p:spPr>
            <p:txBody>
              <a:bodyPr wrap="square">
                <a:spAutoFit/>
              </a:bodyPr>
              <a:lstStyle/>
              <a:p>
                <a:pPr marL="342900" indent="-342900" algn="just">
                  <a:buFont typeface="+mj-lt"/>
                  <a:buAutoNum type="arabicPeriod" startAt="2"/>
                </a:pPr>
                <a:r>
                  <a:rPr lang="es-PE" dirty="0" smtClean="0"/>
                  <a:t>La densidad de la gasolina es de 730 kg/m</a:t>
                </a:r>
                <a:r>
                  <a:rPr lang="es-PE" baseline="30000" dirty="0" smtClean="0"/>
                  <a:t>3 </a:t>
                </a:r>
                <a:r>
                  <a:rPr lang="es-PE" dirty="0" smtClean="0"/>
                  <a:t>a 0 </a:t>
                </a:r>
                <a:r>
                  <a:rPr lang="es-PE" dirty="0" err="1"/>
                  <a:t>ºC</a:t>
                </a:r>
                <a:r>
                  <a:rPr lang="es-PE" dirty="0"/>
                  <a:t>. </a:t>
                </a:r>
                <a:r>
                  <a:rPr lang="es-PE" dirty="0" smtClean="0"/>
                  <a:t>Su </a:t>
                </a:r>
                <a:r>
                  <a:rPr lang="es-PE" dirty="0"/>
                  <a:t>coeficiente medio de expansión de volumen es de </a:t>
                </a:r>
                <a14:m>
                  <m:oMath xmlns:m="http://schemas.openxmlformats.org/officeDocument/2006/math">
                    <m:r>
                      <a:rPr lang="es-PE" i="1">
                        <a:latin typeface="Cambria Math" panose="02040503050406030204" pitchFamily="18" charset="0"/>
                        <a:cs typeface="Arial" panose="020B0604020202020204" pitchFamily="34" charset="0"/>
                      </a:rPr>
                      <m:t>9,</m:t>
                    </m:r>
                    <m:sSup>
                      <m:sSupPr>
                        <m:ctrlPr>
                          <a:rPr lang="es-PE" i="1">
                            <a:latin typeface="Cambria Math" panose="02040503050406030204" pitchFamily="18" charset="0"/>
                            <a:cs typeface="Arial" panose="020B0604020202020204" pitchFamily="34" charset="0"/>
                          </a:rPr>
                        </m:ctrlPr>
                      </m:sSupPr>
                      <m:e>
                        <m:r>
                          <a:rPr lang="es-PE" i="1">
                            <a:latin typeface="Cambria Math" panose="02040503050406030204" pitchFamily="18" charset="0"/>
                            <a:cs typeface="Arial" panose="020B0604020202020204" pitchFamily="34" charset="0"/>
                          </a:rPr>
                          <m:t>60</m:t>
                        </m:r>
                        <m:r>
                          <a:rPr lang="es-PE" i="1">
                            <a:latin typeface="Cambria Math" panose="02040503050406030204" pitchFamily="18" charset="0"/>
                            <a:ea typeface="Cambria Math" panose="02040503050406030204" pitchFamily="18" charset="0"/>
                            <a:cs typeface="Arial" panose="020B0604020202020204" pitchFamily="34" charset="0"/>
                          </a:rPr>
                          <m:t>×</m:t>
                        </m:r>
                        <m:sSup>
                          <m:sSupPr>
                            <m:ctrlPr>
                              <a:rPr lang="es-PE" i="1">
                                <a:latin typeface="Cambria Math" panose="02040503050406030204" pitchFamily="18" charset="0"/>
                                <a:ea typeface="Cambria Math" panose="02040503050406030204" pitchFamily="18" charset="0"/>
                                <a:cs typeface="Arial" panose="020B0604020202020204" pitchFamily="34" charset="0"/>
                              </a:rPr>
                            </m:ctrlPr>
                          </m:sSupPr>
                          <m:e>
                            <m:r>
                              <a:rPr lang="es-PE" i="1">
                                <a:latin typeface="Cambria Math" panose="02040503050406030204" pitchFamily="18" charset="0"/>
                                <a:ea typeface="Cambria Math" panose="02040503050406030204" pitchFamily="18" charset="0"/>
                                <a:cs typeface="Arial" panose="020B0604020202020204" pitchFamily="34" charset="0"/>
                              </a:rPr>
                              <m:t>10</m:t>
                            </m:r>
                          </m:e>
                          <m:sup>
                            <m:r>
                              <a:rPr lang="es-PE" i="1">
                                <a:latin typeface="Cambria Math" panose="02040503050406030204" pitchFamily="18" charset="0"/>
                                <a:ea typeface="Cambria Math" panose="02040503050406030204" pitchFamily="18" charset="0"/>
                                <a:cs typeface="Arial" panose="020B0604020202020204" pitchFamily="34" charset="0"/>
                              </a:rPr>
                              <m:t>−</m:t>
                            </m:r>
                            <m:r>
                              <a:rPr lang="es-PE" b="0" i="1" smtClean="0">
                                <a:latin typeface="Cambria Math" panose="02040503050406030204" pitchFamily="18" charset="0"/>
                                <a:ea typeface="Cambria Math" panose="02040503050406030204" pitchFamily="18" charset="0"/>
                                <a:cs typeface="Arial" panose="020B0604020202020204" pitchFamily="34" charset="0"/>
                              </a:rPr>
                              <m:t>4</m:t>
                            </m:r>
                          </m:sup>
                        </m:sSup>
                        <m:r>
                          <a:rPr lang="es-PE" i="1">
                            <a:latin typeface="Cambria Math" panose="02040503050406030204" pitchFamily="18" charset="0"/>
                            <a:ea typeface="Cambria Math" panose="02040503050406030204" pitchFamily="18" charset="0"/>
                            <a:cs typeface="Arial" panose="020B0604020202020204" pitchFamily="34" charset="0"/>
                          </a:rPr>
                          <m:t>/</m:t>
                        </m:r>
                      </m:e>
                      <m:sup>
                        <m:r>
                          <a:rPr lang="es-PE" i="1">
                            <a:latin typeface="Cambria Math" panose="02040503050406030204" pitchFamily="18" charset="0"/>
                            <a:cs typeface="Arial" panose="020B0604020202020204" pitchFamily="34" charset="0"/>
                          </a:rPr>
                          <m:t>0</m:t>
                        </m:r>
                      </m:sup>
                    </m:sSup>
                    <m:r>
                      <a:rPr lang="es-PE" b="0" i="1" smtClean="0">
                        <a:latin typeface="Cambria Math" panose="02040503050406030204" pitchFamily="18" charset="0"/>
                        <a:cs typeface="Arial" panose="020B0604020202020204" pitchFamily="34" charset="0"/>
                      </a:rPr>
                      <m:t>𝐶</m:t>
                    </m:r>
                  </m:oMath>
                </a14:m>
                <a:r>
                  <a:rPr lang="es-PE" dirty="0"/>
                  <a:t>. Si 1,00 gal de gasolina ocupa </a:t>
                </a:r>
                <a:r>
                  <a:rPr lang="es-PE" dirty="0" smtClean="0"/>
                  <a:t>0,00380m</a:t>
                </a:r>
                <a:r>
                  <a:rPr lang="es-PE" baseline="30000" dirty="0" smtClean="0"/>
                  <a:t>3</a:t>
                </a:r>
                <a:r>
                  <a:rPr lang="es-PE" dirty="0" smtClean="0"/>
                  <a:t>, </a:t>
                </a:r>
                <a:r>
                  <a:rPr lang="es-PE" dirty="0"/>
                  <a:t>¿cuántos kilogramos extra de gasolina conseguirías si compraras 10,0 gal de gasolina a 0 a °</a:t>
                </a:r>
                <a:r>
                  <a:rPr lang="es-PE" dirty="0" smtClean="0"/>
                  <a:t>C </a:t>
                </a:r>
                <a:r>
                  <a:rPr lang="es-PE" dirty="0"/>
                  <a:t>en lugar de a 20,0 a °C </a:t>
                </a:r>
                <a:r>
                  <a:rPr lang="es-PE" dirty="0" smtClean="0"/>
                  <a:t> </a:t>
                </a:r>
                <a:r>
                  <a:rPr lang="es-PE" dirty="0"/>
                  <a:t>de una bomba que no compensa la temperatura?</a:t>
                </a:r>
              </a:p>
            </p:txBody>
          </p:sp>
        </mc:Choice>
        <mc:Fallback>
          <p:sp>
            <p:nvSpPr>
              <p:cNvPr id="4" name="Rectángulo 3"/>
              <p:cNvSpPr>
                <a:spLocks noRot="1" noChangeAspect="1" noMove="1" noResize="1" noEditPoints="1" noAdjustHandles="1" noChangeArrowheads="1" noChangeShapeType="1" noTextEdit="1"/>
              </p:cNvSpPr>
              <p:nvPr/>
            </p:nvSpPr>
            <p:spPr>
              <a:xfrm>
                <a:off x="5313040" y="1842243"/>
                <a:ext cx="3960440" cy="2862322"/>
              </a:xfrm>
              <a:prstGeom prst="rect">
                <a:avLst/>
              </a:prstGeom>
              <a:blipFill rotWithShape="0">
                <a:blip r:embed="rId2"/>
                <a:stretch>
                  <a:fillRect l="-1387" t="-1064" r="-1387" b="-2340"/>
                </a:stretch>
              </a:blipFill>
            </p:spPr>
            <p:txBody>
              <a:bodyPr/>
              <a:lstStyle/>
              <a:p>
                <a:r>
                  <a:rPr lang="es-PE">
                    <a:noFill/>
                  </a:rPr>
                  <a:t> </a:t>
                </a:r>
              </a:p>
            </p:txBody>
          </p:sp>
        </mc:Fallback>
      </mc:AlternateContent>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393" y="4395195"/>
            <a:ext cx="2152950" cy="2038635"/>
          </a:xfrm>
          <a:prstGeom prst="rect">
            <a:avLst/>
          </a:prstGeom>
        </p:spPr>
      </p:pic>
    </p:spTree>
    <p:extLst>
      <p:ext uri="{BB962C8B-B14F-4D97-AF65-F5344CB8AC3E}">
        <p14:creationId xmlns:p14="http://schemas.microsoft.com/office/powerpoint/2010/main" val="1209958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0" name="Content Placeholder 4"/>
          <p:cNvSpPr txBox="1">
            <a:spLocks/>
          </p:cNvSpPr>
          <p:nvPr/>
        </p:nvSpPr>
        <p:spPr>
          <a:xfrm>
            <a:off x="4733611" y="1700808"/>
            <a:ext cx="4896544" cy="4957920"/>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1800" dirty="0">
                <a:solidFill>
                  <a:schemeClr val="tx1"/>
                </a:solidFill>
                <a:latin typeface="Arial" panose="020B0604020202020204" pitchFamily="34" charset="0"/>
                <a:cs typeface="Arial" panose="020B0604020202020204" pitchFamily="34" charset="0"/>
              </a:rPr>
              <a:t>La </a:t>
            </a:r>
            <a:r>
              <a:rPr lang="es-PE" sz="1800" dirty="0" smtClean="0">
                <a:solidFill>
                  <a:schemeClr val="tx1"/>
                </a:solidFill>
                <a:latin typeface="Arial" panose="020B0604020202020204" pitchFamily="34" charset="0"/>
                <a:cs typeface="Arial" panose="020B0604020202020204" pitchFamily="34" charset="0"/>
              </a:rPr>
              <a:t>temperatura la podemos definir desde el punto de vista macroscópico por los efectos físicos que produce.</a:t>
            </a:r>
            <a:endParaRPr lang="es-PE" sz="1800" dirty="0">
              <a:solidFill>
                <a:schemeClr val="tx1"/>
              </a:solidFill>
              <a:latin typeface="Arial" panose="020B0604020202020204" pitchFamily="34" charset="0"/>
              <a:cs typeface="Arial" panose="020B0604020202020204" pitchFamily="34" charset="0"/>
            </a:endParaRPr>
          </a:p>
          <a:p>
            <a:pPr algn="just"/>
            <a:r>
              <a:rPr lang="es-MX" sz="1800" dirty="0" smtClean="0">
                <a:solidFill>
                  <a:schemeClr val="tx1"/>
                </a:solidFill>
              </a:rPr>
              <a:t>Las escalas de temperatura toman como valores de referencia la fusión y ebullición del agua a presión de una atmosfera.</a:t>
            </a:r>
            <a:endParaRPr lang="es-MX" sz="1800" dirty="0">
              <a:solidFill>
                <a:schemeClr val="tx1"/>
              </a:solidFill>
            </a:endParaRPr>
          </a:p>
          <a:p>
            <a:pPr algn="just">
              <a:spcAft>
                <a:spcPts val="1200"/>
              </a:spcAft>
            </a:pPr>
            <a:r>
              <a:rPr lang="es-PE" sz="1800" dirty="0" smtClean="0">
                <a:solidFill>
                  <a:schemeClr val="tx1"/>
                </a:solidFill>
              </a:rPr>
              <a:t>La dilatación es una manifestación del aumento de la amplitud de oscilación de los átomos de un cuerpo cuando aumenta la temperatura.</a:t>
            </a:r>
          </a:p>
          <a:p>
            <a:pPr algn="just">
              <a:spcAft>
                <a:spcPts val="1200"/>
              </a:spcAft>
            </a:pPr>
            <a:r>
              <a:rPr lang="es-PE" sz="1800" dirty="0" smtClean="0">
                <a:solidFill>
                  <a:schemeClr val="tx1"/>
                </a:solidFill>
              </a:rPr>
              <a:t>Si un cuerpo esta limitado al aumento de su longitud por soportes rígidos si aumenta la temperatura aparecen los esfuerzos térmicos</a:t>
            </a:r>
            <a:endParaRPr lang="es-PE" sz="1800" dirty="0">
              <a:solidFill>
                <a:schemeClr val="tx1"/>
              </a:solidFill>
            </a:endParaRPr>
          </a:p>
        </p:txBody>
      </p:sp>
      <p:sp>
        <p:nvSpPr>
          <p:cNvPr id="14" name="Rectángulo redondeado 13"/>
          <p:cNvSpPr/>
          <p:nvPr/>
        </p:nvSpPr>
        <p:spPr>
          <a:xfrm>
            <a:off x="1640633" y="980728"/>
            <a:ext cx="3096343"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CONCLUSIONES</a:t>
            </a:r>
          </a:p>
        </p:txBody>
      </p:sp>
      <p:pic>
        <p:nvPicPr>
          <p:cNvPr id="15" name="Imagen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28" y="1988840"/>
            <a:ext cx="3739432" cy="3919646"/>
          </a:xfrm>
          <a:prstGeom prst="rect">
            <a:avLst/>
          </a:prstGeom>
        </p:spPr>
      </p:pic>
    </p:spTree>
    <p:extLst>
      <p:ext uri="{BB962C8B-B14F-4D97-AF65-F5344CB8AC3E}">
        <p14:creationId xmlns:p14="http://schemas.microsoft.com/office/powerpoint/2010/main" val="3270421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331236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METACOGNICIÓN</a:t>
            </a:r>
          </a:p>
        </p:txBody>
      </p:sp>
      <p:sp>
        <p:nvSpPr>
          <p:cNvPr id="8" name="Bocadillo: rectángulo con esquinas redondeadas 1">
            <a:extLst>
              <a:ext uri="{FF2B5EF4-FFF2-40B4-BE49-F238E27FC236}">
                <a16:creationId xmlns:a16="http://schemas.microsoft.com/office/drawing/2014/main" xmlns="" id="{82BC446B-F639-467D-A250-25259F9EF4B8}"/>
              </a:ext>
            </a:extLst>
          </p:cNvPr>
          <p:cNvSpPr/>
          <p:nvPr/>
        </p:nvSpPr>
        <p:spPr>
          <a:xfrm>
            <a:off x="992560" y="2420888"/>
            <a:ext cx="7488832" cy="2664296"/>
          </a:xfrm>
          <a:prstGeom prst="wedgeRoundRectCallout">
            <a:avLst>
              <a:gd name="adj1" fmla="val -17962"/>
              <a:gd name="adj2" fmla="val 48532"/>
              <a:gd name="adj3" fmla="val 16667"/>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Arial" panose="020B0604020202020204" pitchFamily="34" charset="0"/>
              <a:buChar char="•"/>
            </a:pPr>
            <a:r>
              <a:rPr lang="es-PE" sz="2400" dirty="0">
                <a:solidFill>
                  <a:schemeClr val="tx1"/>
                </a:solidFill>
                <a:cs typeface="Arial" pitchFamily="34" charset="0"/>
              </a:rPr>
              <a:t>¿Por qué </a:t>
            </a:r>
            <a:r>
              <a:rPr lang="es-PE" sz="2400" dirty="0" smtClean="0">
                <a:solidFill>
                  <a:schemeClr val="tx1"/>
                </a:solidFill>
                <a:cs typeface="Arial" pitchFamily="34" charset="0"/>
              </a:rPr>
              <a:t>aparecen los esfuerzos térmicos en un solido?</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a:solidFill>
                  <a:schemeClr val="tx1"/>
                </a:solidFill>
                <a:cs typeface="Arial" pitchFamily="34" charset="0"/>
              </a:rPr>
              <a:t>¿Cómo </a:t>
            </a:r>
            <a:r>
              <a:rPr lang="es-PE" sz="2400" dirty="0" smtClean="0">
                <a:solidFill>
                  <a:schemeClr val="tx1"/>
                </a:solidFill>
                <a:cs typeface="Arial" pitchFamily="34" charset="0"/>
              </a:rPr>
              <a:t>se altera </a:t>
            </a:r>
            <a:r>
              <a:rPr lang="es-PE" sz="2400" dirty="0">
                <a:solidFill>
                  <a:schemeClr val="tx1"/>
                </a:solidFill>
                <a:cs typeface="Arial" pitchFamily="34" charset="0"/>
              </a:rPr>
              <a:t>la </a:t>
            </a:r>
            <a:r>
              <a:rPr lang="es-PE" sz="2400" dirty="0" smtClean="0">
                <a:solidFill>
                  <a:schemeClr val="tx1"/>
                </a:solidFill>
                <a:cs typeface="Arial" pitchFamily="34" charset="0"/>
              </a:rPr>
              <a:t>longitud de un cuerpo con el aumento de temperatura? </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smtClean="0">
                <a:solidFill>
                  <a:schemeClr val="tx1"/>
                </a:solidFill>
                <a:cs typeface="Arial" pitchFamily="34" charset="0"/>
              </a:rPr>
              <a:t>¿Qué aplicaciones </a:t>
            </a:r>
            <a:r>
              <a:rPr lang="es-PE" sz="2400" dirty="0" smtClean="0">
                <a:solidFill>
                  <a:schemeClr val="tx1"/>
                </a:solidFill>
                <a:cs typeface="Arial" pitchFamily="34" charset="0"/>
              </a:rPr>
              <a:t>de la dilatación térmica podemos encontrar en la </a:t>
            </a:r>
            <a:r>
              <a:rPr lang="es-PE" sz="2400" dirty="0" err="1" smtClean="0">
                <a:solidFill>
                  <a:schemeClr val="tx1"/>
                </a:solidFill>
                <a:cs typeface="Arial" pitchFamily="34" charset="0"/>
              </a:rPr>
              <a:t>ingenieria</a:t>
            </a:r>
            <a:r>
              <a:rPr lang="es-PE" sz="2400" dirty="0" smtClean="0">
                <a:solidFill>
                  <a:schemeClr val="tx1"/>
                </a:solidFill>
                <a:cs typeface="Arial" pitchFamily="34" charset="0"/>
              </a:rPr>
              <a:t>?</a:t>
            </a:r>
            <a:endParaRPr lang="es-PE" sz="2400" dirty="0">
              <a:solidFill>
                <a:schemeClr val="tx1"/>
              </a:solidFill>
              <a:cs typeface="Arial" pitchFamily="34" charset="0"/>
            </a:endParaRPr>
          </a:p>
        </p:txBody>
      </p:sp>
    </p:spTree>
    <p:extLst>
      <p:ext uri="{BB962C8B-B14F-4D97-AF65-F5344CB8AC3E}">
        <p14:creationId xmlns:p14="http://schemas.microsoft.com/office/powerpoint/2010/main" val="3458463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448271"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REFERENCIAS</a:t>
            </a:r>
          </a:p>
        </p:txBody>
      </p:sp>
      <p:sp>
        <p:nvSpPr>
          <p:cNvPr id="7" name="Rectángulo 6"/>
          <p:cNvSpPr/>
          <p:nvPr/>
        </p:nvSpPr>
        <p:spPr>
          <a:xfrm>
            <a:off x="272480" y="1700808"/>
            <a:ext cx="9561512" cy="4939814"/>
          </a:xfrm>
          <a:prstGeom prst="rect">
            <a:avLst/>
          </a:prstGeom>
        </p:spPr>
        <p:txBody>
          <a:bodyPr wrap="square">
            <a:spAutoFit/>
          </a:bodyPr>
          <a:lstStyle/>
          <a:p>
            <a:r>
              <a:rPr lang="es-ES" sz="1600" b="1" u="sng" dirty="0"/>
              <a:t>Bibliografía Básica:</a:t>
            </a:r>
            <a:r>
              <a:rPr lang="es-ES" sz="1600" dirty="0"/>
              <a:t> </a:t>
            </a:r>
            <a:endParaRPr lang="es-PE" sz="1600" dirty="0"/>
          </a:p>
          <a:p>
            <a:r>
              <a:rPr lang="es-ES" sz="1600" dirty="0"/>
              <a:t>1. </a:t>
            </a:r>
            <a:r>
              <a:rPr lang="es-ES" sz="1600" b="1" dirty="0" err="1"/>
              <a:t>Serway</a:t>
            </a:r>
            <a:r>
              <a:rPr lang="es-ES" sz="1600" b="1" dirty="0"/>
              <a:t>, R. A. y </a:t>
            </a:r>
            <a:r>
              <a:rPr lang="es-ES" sz="1600" b="1" dirty="0" err="1"/>
              <a:t>Jewett</a:t>
            </a:r>
            <a:r>
              <a:rPr lang="es-ES" sz="1600" b="1" dirty="0"/>
              <a:t>, J. W.</a:t>
            </a:r>
            <a:r>
              <a:rPr lang="es-ES" sz="1600" dirty="0"/>
              <a:t> </a:t>
            </a:r>
            <a:r>
              <a:rPr lang="es-ES" sz="1600" i="1" dirty="0" err="1"/>
              <a:t>Fisica</a:t>
            </a:r>
            <a:r>
              <a:rPr lang="es-ES" sz="1600" i="1" dirty="0"/>
              <a:t> para Ciencias e </a:t>
            </a:r>
            <a:r>
              <a:rPr lang="es-ES" sz="1600" i="1" dirty="0" err="1"/>
              <a:t>Ingeneiría</a:t>
            </a:r>
            <a:r>
              <a:rPr lang="es-ES" sz="1600" i="1" dirty="0"/>
              <a:t>. </a:t>
            </a:r>
            <a:r>
              <a:rPr lang="es-ES" sz="1600" dirty="0"/>
              <a:t>México : </a:t>
            </a:r>
            <a:r>
              <a:rPr lang="es-ES" sz="1600" dirty="0" err="1"/>
              <a:t>Cengage</a:t>
            </a:r>
            <a:r>
              <a:rPr lang="es-ES" sz="1600" dirty="0"/>
              <a:t> </a:t>
            </a:r>
            <a:r>
              <a:rPr lang="es-ES" sz="1600" dirty="0" err="1"/>
              <a:t>Learning</a:t>
            </a:r>
            <a:r>
              <a:rPr lang="es-ES" sz="1600" dirty="0"/>
              <a:t>, 2015. Vol. I.</a:t>
            </a:r>
            <a:endParaRPr lang="es-PE" sz="1600" dirty="0"/>
          </a:p>
          <a:p>
            <a:r>
              <a:rPr lang="es-ES" sz="1600" dirty="0"/>
              <a:t>2. </a:t>
            </a:r>
            <a:r>
              <a:rPr lang="es-ES" sz="1600" b="1" dirty="0" err="1"/>
              <a:t>Resnick</a:t>
            </a:r>
            <a:r>
              <a:rPr lang="es-ES" sz="1600" b="1" dirty="0"/>
              <a:t>, R., </a:t>
            </a:r>
            <a:r>
              <a:rPr lang="es-ES" sz="1600" b="1" dirty="0" err="1"/>
              <a:t>Halliday</a:t>
            </a:r>
            <a:r>
              <a:rPr lang="es-ES" sz="1600" b="1" dirty="0"/>
              <a:t>, D. y </a:t>
            </a:r>
            <a:r>
              <a:rPr lang="es-ES" sz="1600" b="1" dirty="0" err="1"/>
              <a:t>Krane</a:t>
            </a:r>
            <a:r>
              <a:rPr lang="es-ES" sz="1600" b="1" dirty="0"/>
              <a:t>, K. S.</a:t>
            </a:r>
            <a:r>
              <a:rPr lang="es-ES" sz="1600" dirty="0"/>
              <a:t> </a:t>
            </a:r>
            <a:r>
              <a:rPr lang="es-ES" sz="1600" i="1" dirty="0"/>
              <a:t>Física. </a:t>
            </a:r>
            <a:r>
              <a:rPr lang="es-ES" sz="1600" dirty="0"/>
              <a:t>Quinta. México : </a:t>
            </a:r>
            <a:r>
              <a:rPr lang="es-ES" sz="1600" dirty="0" err="1"/>
              <a:t>Compañia</a:t>
            </a:r>
            <a:r>
              <a:rPr lang="es-ES" sz="1600" dirty="0"/>
              <a:t> editorial Continental, 2014. Vol. I.</a:t>
            </a:r>
            <a:endParaRPr lang="es-PE" sz="1600" dirty="0"/>
          </a:p>
          <a:p>
            <a:r>
              <a:rPr lang="es-ES" sz="1600" dirty="0"/>
              <a:t>3. </a:t>
            </a:r>
            <a:r>
              <a:rPr lang="es-ES" sz="1600" b="1" dirty="0" err="1"/>
              <a:t>Tipler</a:t>
            </a:r>
            <a:r>
              <a:rPr lang="es-ES" sz="1600" b="1" dirty="0"/>
              <a:t>, P. A. y Mosca, G.</a:t>
            </a:r>
            <a:r>
              <a:rPr lang="es-ES" sz="1600" dirty="0"/>
              <a:t> </a:t>
            </a:r>
            <a:r>
              <a:rPr lang="es-ES" sz="1600" i="1" dirty="0"/>
              <a:t>Física para la Ciencia y la Tecnología. </a:t>
            </a:r>
            <a:r>
              <a:rPr lang="es-ES" sz="1600" dirty="0"/>
              <a:t>Sexta. Barcelona : </a:t>
            </a:r>
            <a:r>
              <a:rPr lang="es-ES" sz="1600" dirty="0" err="1"/>
              <a:t>Reverté</a:t>
            </a:r>
            <a:r>
              <a:rPr lang="es-ES" sz="1600" dirty="0"/>
              <a:t> S.A., 2010. Vol. I.</a:t>
            </a:r>
            <a:endParaRPr lang="es-PE" sz="1600" dirty="0"/>
          </a:p>
          <a:p>
            <a:r>
              <a:rPr lang="es-ES" sz="1600" dirty="0"/>
              <a:t>4. </a:t>
            </a:r>
            <a:r>
              <a:rPr lang="es-ES" sz="1600" b="1" dirty="0" err="1"/>
              <a:t>Zemansky</a:t>
            </a:r>
            <a:r>
              <a:rPr lang="es-ES" sz="1600" b="1" dirty="0"/>
              <a:t>, M. W. y </a:t>
            </a:r>
            <a:r>
              <a:rPr lang="es-ES" sz="1600" b="1" dirty="0" err="1"/>
              <a:t>Freedman</a:t>
            </a:r>
            <a:r>
              <a:rPr lang="es-ES" sz="1600" b="1" dirty="0"/>
              <a:t>, R.A.</a:t>
            </a:r>
            <a:r>
              <a:rPr lang="es-ES" sz="1600" dirty="0"/>
              <a:t> </a:t>
            </a:r>
            <a:r>
              <a:rPr lang="es-ES" sz="1600" i="1" dirty="0"/>
              <a:t>Física Universitaria. </a:t>
            </a:r>
            <a:r>
              <a:rPr lang="es-ES" sz="1600" dirty="0"/>
              <a:t>México : Pearson </a:t>
            </a:r>
            <a:r>
              <a:rPr lang="es-ES" sz="1600" dirty="0" err="1"/>
              <a:t>Education</a:t>
            </a:r>
            <a:r>
              <a:rPr lang="es-ES" sz="1600" dirty="0"/>
              <a:t>, 2009. Vol. I.</a:t>
            </a:r>
            <a:endParaRPr lang="es-PE" sz="1600" dirty="0"/>
          </a:p>
          <a:p>
            <a:r>
              <a:rPr lang="es-ES" sz="1600" dirty="0"/>
              <a:t>5. </a:t>
            </a:r>
            <a:r>
              <a:rPr lang="es-ES" sz="1600" b="1" dirty="0" err="1"/>
              <a:t>Fishbane</a:t>
            </a:r>
            <a:r>
              <a:rPr lang="es-ES" sz="1600" b="1" dirty="0"/>
              <a:t>, P.M., </a:t>
            </a:r>
            <a:r>
              <a:rPr lang="es-ES" sz="1600" b="1" dirty="0" err="1"/>
              <a:t>Gasiorowicz</a:t>
            </a:r>
            <a:r>
              <a:rPr lang="es-ES" sz="1600" b="1" dirty="0"/>
              <a:t>, S. y </a:t>
            </a:r>
            <a:r>
              <a:rPr lang="es-ES" sz="1600" b="1" dirty="0" err="1"/>
              <a:t>Thornton</a:t>
            </a:r>
            <a:r>
              <a:rPr lang="es-ES" sz="1600" b="1" dirty="0"/>
              <a:t>, S.T.</a:t>
            </a:r>
            <a:r>
              <a:rPr lang="es-ES" sz="1600" dirty="0"/>
              <a:t> </a:t>
            </a:r>
            <a:r>
              <a:rPr lang="es-ES" sz="1600" i="1" dirty="0"/>
              <a:t>Física para Ciencias e </a:t>
            </a:r>
            <a:r>
              <a:rPr lang="es-ES" sz="1600" i="1" dirty="0" err="1"/>
              <a:t>Ingeneiría</a:t>
            </a:r>
            <a:r>
              <a:rPr lang="es-ES" sz="1600" i="1" dirty="0"/>
              <a:t>. </a:t>
            </a:r>
            <a:r>
              <a:rPr lang="es-ES" sz="1600" dirty="0"/>
              <a:t>México : Prentice Hall Hispanoamericana, 1996. Vol. I.</a:t>
            </a:r>
            <a:endParaRPr lang="es-PE" sz="1600" dirty="0"/>
          </a:p>
          <a:p>
            <a:r>
              <a:rPr lang="es-ES" sz="1600" dirty="0"/>
              <a:t>6. </a:t>
            </a:r>
            <a:r>
              <a:rPr lang="es-ES" sz="1600" b="1" dirty="0"/>
              <a:t>Alonso, M. y </a:t>
            </a:r>
            <a:r>
              <a:rPr lang="es-ES" sz="1600" b="1" dirty="0" err="1"/>
              <a:t>Finn</a:t>
            </a:r>
            <a:r>
              <a:rPr lang="es-ES" sz="1600" b="1" dirty="0"/>
              <a:t>, E.J.</a:t>
            </a:r>
            <a:r>
              <a:rPr lang="es-ES" sz="1600" dirty="0"/>
              <a:t> </a:t>
            </a:r>
            <a:r>
              <a:rPr lang="es-ES" sz="1600" i="1" dirty="0"/>
              <a:t>Física: Mecánica. </a:t>
            </a:r>
            <a:r>
              <a:rPr lang="es-ES" sz="1600" dirty="0"/>
              <a:t>México : Fondo Educativo Interamericano S. A., 1971. Vol. I.</a:t>
            </a:r>
            <a:endParaRPr lang="es-PE" sz="1600" dirty="0"/>
          </a:p>
          <a:p>
            <a:r>
              <a:rPr lang="es-ES" sz="1600" b="1" u="sng" dirty="0"/>
              <a:t>Bibliografía Complementaria:</a:t>
            </a:r>
            <a:endParaRPr lang="es-PE" sz="1600" b="1" u="sng" dirty="0"/>
          </a:p>
          <a:p>
            <a:r>
              <a:rPr lang="es-ES" sz="1600" b="1" dirty="0"/>
              <a:t> </a:t>
            </a:r>
            <a:r>
              <a:rPr lang="es-ES" sz="1600" dirty="0"/>
              <a:t>7. </a:t>
            </a:r>
            <a:r>
              <a:rPr lang="es-ES" sz="1600" b="1" dirty="0" err="1"/>
              <a:t>Beer</a:t>
            </a:r>
            <a:r>
              <a:rPr lang="es-ES" sz="1600" b="1" dirty="0"/>
              <a:t>, F. P., y otros.</a:t>
            </a:r>
            <a:r>
              <a:rPr lang="es-ES" sz="1600" dirty="0"/>
              <a:t> </a:t>
            </a:r>
            <a:r>
              <a:rPr lang="es-ES" sz="1600" i="1" dirty="0"/>
              <a:t>Mecánica vectorial para ingenieros: Dinámica. </a:t>
            </a:r>
            <a:r>
              <a:rPr lang="es-ES" sz="1600" dirty="0"/>
              <a:t>México : Mc Graw Hill, 2010. Vol. Novena.</a:t>
            </a:r>
            <a:endParaRPr lang="es-PE" sz="1600" dirty="0"/>
          </a:p>
          <a:p>
            <a:r>
              <a:rPr lang="es-ES" sz="1600" dirty="0"/>
              <a:t>8. </a:t>
            </a:r>
            <a:r>
              <a:rPr lang="es-ES" sz="1600" b="1" dirty="0" err="1"/>
              <a:t>Beer</a:t>
            </a:r>
            <a:r>
              <a:rPr lang="es-ES" sz="1600" b="1" dirty="0"/>
              <a:t>, F.P., y otros.</a:t>
            </a:r>
            <a:r>
              <a:rPr lang="es-ES" sz="1600" dirty="0"/>
              <a:t> </a:t>
            </a:r>
            <a:r>
              <a:rPr lang="es-ES" sz="1600" i="1" dirty="0"/>
              <a:t>Mecánica Vectorial para Ingenieros: Estática. </a:t>
            </a:r>
            <a:r>
              <a:rPr lang="es-ES" sz="1600" dirty="0"/>
              <a:t>Novena. México : Mc Graw Hill, 2010.</a:t>
            </a:r>
            <a:endParaRPr lang="es-PE" sz="1600" dirty="0"/>
          </a:p>
          <a:p>
            <a:r>
              <a:rPr lang="es-ES" sz="1600" dirty="0"/>
              <a:t>9. </a:t>
            </a:r>
            <a:r>
              <a:rPr lang="es-ES" sz="1600" b="1" dirty="0"/>
              <a:t>Bedford, A. y </a:t>
            </a:r>
            <a:r>
              <a:rPr lang="es-ES" sz="1600" b="1" dirty="0" err="1"/>
              <a:t>Fowler</a:t>
            </a:r>
            <a:r>
              <a:rPr lang="es-ES" sz="1600" b="1" dirty="0"/>
              <a:t>, W.</a:t>
            </a:r>
            <a:r>
              <a:rPr lang="es-ES" sz="1600" dirty="0"/>
              <a:t> </a:t>
            </a:r>
            <a:r>
              <a:rPr lang="es-ES" sz="1600" i="1" dirty="0"/>
              <a:t>Mecánica para Ingeniería: Estática. </a:t>
            </a:r>
            <a:r>
              <a:rPr lang="es-ES" sz="1600" dirty="0"/>
              <a:t>Quinta. México : Pearson Educación, 2008.</a:t>
            </a:r>
            <a:endParaRPr lang="es-PE" sz="1600" dirty="0"/>
          </a:p>
          <a:p>
            <a:r>
              <a:rPr lang="es-ES" sz="1600" dirty="0"/>
              <a:t>10. —. </a:t>
            </a:r>
            <a:r>
              <a:rPr lang="es-ES" sz="1600" i="1" dirty="0"/>
              <a:t>Mecánica para Ingeniería: Dinámica. </a:t>
            </a:r>
            <a:r>
              <a:rPr lang="es-ES" sz="1600" dirty="0"/>
              <a:t>Quinta. México : Pearson Educación, 2008.</a:t>
            </a:r>
            <a:endParaRPr lang="es-PE" sz="1600" dirty="0"/>
          </a:p>
          <a:p>
            <a:r>
              <a:rPr lang="es-ES" sz="1600" dirty="0"/>
              <a:t>11. </a:t>
            </a:r>
            <a:r>
              <a:rPr lang="es-ES" sz="1600" b="1" dirty="0" err="1"/>
              <a:t>Hibbeler</a:t>
            </a:r>
            <a:r>
              <a:rPr lang="es-ES" sz="1600" b="1" dirty="0"/>
              <a:t>, R. C.</a:t>
            </a:r>
            <a:r>
              <a:rPr lang="es-ES" sz="1600" dirty="0"/>
              <a:t> </a:t>
            </a:r>
            <a:r>
              <a:rPr lang="es-ES" sz="1600" i="1" dirty="0"/>
              <a:t>Mecánica Vectorial para Ingenieros: Estática. </a:t>
            </a:r>
            <a:r>
              <a:rPr lang="es-ES" sz="1600" dirty="0"/>
              <a:t>Décima. México : Pearson Educación, 2004.</a:t>
            </a:r>
            <a:endParaRPr lang="es-PE" sz="1600" dirty="0"/>
          </a:p>
          <a:p>
            <a:r>
              <a:rPr lang="es-ES" sz="1600" dirty="0"/>
              <a:t>12. —. </a:t>
            </a:r>
            <a:r>
              <a:rPr lang="es-ES" sz="1600" i="1" dirty="0"/>
              <a:t>Mecánica Vectorial para Ingenieros: Dinámica. </a:t>
            </a:r>
            <a:r>
              <a:rPr lang="es-ES" sz="1600" dirty="0"/>
              <a:t>Décima. México : Pearson Educación, 2004.</a:t>
            </a:r>
            <a:r>
              <a:rPr lang="es-ES" sz="1500" dirty="0">
                <a:ea typeface="Symbol" panose="05050102010706020507" pitchFamily="18" charset="2"/>
                <a:cs typeface="Arial" panose="020B0604020202020204" pitchFamily="34" charset="0"/>
              </a:rPr>
              <a:t> </a:t>
            </a:r>
          </a:p>
          <a:p>
            <a:r>
              <a:rPr lang="es-ES" sz="1500" b="1" u="sng" dirty="0">
                <a:ea typeface="Times New Roman" panose="02020603050405020304" pitchFamily="18" charset="0"/>
              </a:rPr>
              <a:t>Fuentes </a:t>
            </a:r>
            <a:r>
              <a:rPr lang="es-ES" sz="1500" b="1" u="sng" dirty="0" err="1">
                <a:ea typeface="Times New Roman" panose="02020603050405020304" pitchFamily="18" charset="0"/>
              </a:rPr>
              <a:t>hemerográficas</a:t>
            </a:r>
            <a:endParaRPr lang="es-ES" sz="1500" b="1" u="sng" dirty="0">
              <a:ea typeface="Times New Roman" panose="02020603050405020304" pitchFamily="18" charset="0"/>
            </a:endParaRPr>
          </a:p>
          <a:p>
            <a:r>
              <a:rPr lang="es-ES" sz="1500" dirty="0" err="1">
                <a:ea typeface="Times New Roman" panose="02020603050405020304" pitchFamily="18" charset="0"/>
              </a:rPr>
              <a:t>Physics</a:t>
            </a:r>
            <a:r>
              <a:rPr lang="es-ES" sz="1500" dirty="0">
                <a:ea typeface="Times New Roman" panose="02020603050405020304" pitchFamily="18" charset="0"/>
              </a:rPr>
              <a:t> </a:t>
            </a:r>
            <a:r>
              <a:rPr lang="es-ES" sz="1500" dirty="0" err="1">
                <a:ea typeface="Times New Roman" panose="02020603050405020304" pitchFamily="18" charset="0"/>
              </a:rPr>
              <a:t>today</a:t>
            </a:r>
            <a:r>
              <a:rPr lang="es-ES" sz="1500" dirty="0">
                <a:ea typeface="Times New Roman" panose="02020603050405020304" pitchFamily="18" charset="0"/>
              </a:rPr>
              <a:t>, 68(11), 38(2015); </a:t>
            </a:r>
            <a:r>
              <a:rPr lang="es-ES" sz="1500" dirty="0" err="1">
                <a:ea typeface="Times New Roman" panose="02020603050405020304" pitchFamily="18" charset="0"/>
              </a:rPr>
              <a:t>doi</a:t>
            </a:r>
            <a:r>
              <a:rPr lang="es-ES" sz="1500" dirty="0">
                <a:ea typeface="Times New Roman" panose="02020603050405020304" pitchFamily="18" charset="0"/>
              </a:rPr>
              <a:t> 10.1063/PT 3.2980.</a:t>
            </a:r>
            <a:endParaRPr lang="es-PE" sz="1500" dirty="0">
              <a:ea typeface="Times New Roman" panose="02020603050405020304" pitchFamily="18" charset="0"/>
            </a:endParaRPr>
          </a:p>
          <a:p>
            <a:r>
              <a:rPr lang="es-ES" sz="1500" b="1" u="sng" dirty="0" err="1">
                <a:ea typeface="Times New Roman" panose="02020603050405020304" pitchFamily="18" charset="0"/>
              </a:rPr>
              <a:t>Webgrafia</a:t>
            </a:r>
            <a:endParaRPr lang="es-ES" sz="1500" b="1" u="sng" dirty="0">
              <a:ea typeface="Times New Roman" panose="02020603050405020304" pitchFamily="18" charset="0"/>
            </a:endParaRPr>
          </a:p>
          <a:p>
            <a:r>
              <a:rPr lang="es-PE" sz="1500" u="sng" dirty="0">
                <a:ea typeface="Calibri" panose="020F0502020204030204" pitchFamily="34" charset="0"/>
                <a:cs typeface="Arial" panose="020B0604020202020204" pitchFamily="34" charset="0"/>
                <a:hlinkClick r:id="rId2"/>
              </a:rPr>
              <a:t>http://www.sc.ehu.es/sbweb/fisica/</a:t>
            </a:r>
            <a:endParaRPr lang="es-PE" sz="1500" u="sng" dirty="0">
              <a:ea typeface="Calibri" panose="020F0502020204030204" pitchFamily="34" charset="0"/>
              <a:cs typeface="Arial" panose="020B0604020202020204" pitchFamily="34" charset="0"/>
            </a:endParaRPr>
          </a:p>
          <a:p>
            <a:r>
              <a:rPr lang="es-PE" sz="1500" u="sng" dirty="0">
                <a:ea typeface="Calibri" panose="020F0502020204030204" pitchFamily="34" charset="0"/>
                <a:cs typeface="Arial" panose="020B0604020202020204" pitchFamily="34" charset="0"/>
                <a:hlinkClick r:id="rId3"/>
              </a:rPr>
              <a:t>http://www.fisicarecreativa.com/</a:t>
            </a:r>
            <a:endParaRPr lang="es-PE" sz="1500" dirty="0">
              <a:effectLst/>
              <a:ea typeface="Calibri" panose="020F0502020204030204" pitchFamily="34" charset="0"/>
            </a:endParaRPr>
          </a:p>
        </p:txBody>
      </p:sp>
    </p:spTree>
    <p:extLst>
      <p:ext uri="{BB962C8B-B14F-4D97-AF65-F5344CB8AC3E}">
        <p14:creationId xmlns:p14="http://schemas.microsoft.com/office/powerpoint/2010/main" val="485000593"/>
      </p:ext>
    </p:extLst>
  </p:cSld>
  <p:clrMapOvr>
    <a:masterClrMapping/>
  </p:clrMapOvr>
</p:sld>
</file>

<file path=ppt/theme/theme1.xml><?xml version="1.0" encoding="utf-8"?>
<a:theme xmlns:a="http://schemas.openxmlformats.org/drawingml/2006/main" name="P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PATRON</Template>
  <TotalTime>11149</TotalTime>
  <Words>1652</Words>
  <Application>Microsoft Office PowerPoint</Application>
  <PresentationFormat>A4 (210 x 297 mm)</PresentationFormat>
  <Paragraphs>189</Paragraphs>
  <Slides>23</Slides>
  <Notes>0</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2</vt:i4>
      </vt:variant>
      <vt:variant>
        <vt:lpstr>Títulos de diapositiva</vt:lpstr>
      </vt:variant>
      <vt:variant>
        <vt:i4>23</vt:i4>
      </vt:variant>
    </vt:vector>
  </HeadingPairs>
  <TitlesOfParts>
    <vt:vector size="33" baseType="lpstr">
      <vt:lpstr>ＭＳ Ｐゴシック</vt:lpstr>
      <vt:lpstr>Arial</vt:lpstr>
      <vt:lpstr>Bell MT</vt:lpstr>
      <vt:lpstr>Calibri</vt:lpstr>
      <vt:lpstr>Cambria Math</vt:lpstr>
      <vt:lpstr>Symbol</vt:lpstr>
      <vt:lpstr>Times New Roman</vt:lpstr>
      <vt:lpstr>PATRON</vt:lpstr>
      <vt:lpstr>Equation</vt:lpstr>
      <vt:lpstr>Clip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Privada del Norte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Delfin Narciso</dc:creator>
  <cp:lastModifiedBy>Nelson Alberto</cp:lastModifiedBy>
  <cp:revision>557</cp:revision>
  <dcterms:created xsi:type="dcterms:W3CDTF">2012-09-19T03:34:19Z</dcterms:created>
  <dcterms:modified xsi:type="dcterms:W3CDTF">2019-10-31T15:54:19Z</dcterms:modified>
</cp:coreProperties>
</file>