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363" r:id="rId2"/>
    <p:sldId id="256" r:id="rId3"/>
    <p:sldId id="365" r:id="rId4"/>
    <p:sldId id="366" r:id="rId5"/>
    <p:sldId id="367" r:id="rId6"/>
    <p:sldId id="389" r:id="rId7"/>
    <p:sldId id="411" r:id="rId8"/>
    <p:sldId id="410" r:id="rId9"/>
    <p:sldId id="412" r:id="rId10"/>
    <p:sldId id="414" r:id="rId11"/>
    <p:sldId id="401" r:id="rId12"/>
    <p:sldId id="413" r:id="rId13"/>
    <p:sldId id="395" r:id="rId14"/>
    <p:sldId id="400" r:id="rId15"/>
    <p:sldId id="406" r:id="rId16"/>
    <p:sldId id="371" r:id="rId17"/>
    <p:sldId id="415" r:id="rId18"/>
    <p:sldId id="407" r:id="rId19"/>
    <p:sldId id="376" r:id="rId20"/>
    <p:sldId id="382" r:id="rId21"/>
    <p:sldId id="378" r:id="rId22"/>
  </p:sldIdLst>
  <p:sldSz cx="9906000" cy="6858000" type="A4"/>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D1611"/>
    <a:srgbClr val="A51313"/>
    <a:srgbClr val="B71515"/>
    <a:srgbClr val="D51919"/>
    <a:srgbClr val="B6120E"/>
    <a:srgbClr val="930E0B"/>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36" autoAdjust="0"/>
    <p:restoredTop sz="94660"/>
  </p:normalViewPr>
  <p:slideViewPr>
    <p:cSldViewPr>
      <p:cViewPr varScale="1">
        <p:scale>
          <a:sx n="84" d="100"/>
          <a:sy n="84" d="100"/>
        </p:scale>
        <p:origin x="1464" y="60"/>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219AD7-51CE-483B-A812-AE489C31F232}" type="datetimeFigureOut">
              <a:rPr lang="es-MX" smtClean="0"/>
              <a:t>14/12/2020</a:t>
            </a:fld>
            <a:endParaRPr lang="es-MX"/>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476D70-7FD1-490F-953D-DAC7EFCA2461}" type="slidenum">
              <a:rPr lang="es-MX" smtClean="0"/>
              <a:t>‹Nº›</a:t>
            </a:fld>
            <a:endParaRPr lang="es-MX"/>
          </a:p>
        </p:txBody>
      </p:sp>
    </p:spTree>
    <p:extLst>
      <p:ext uri="{BB962C8B-B14F-4D97-AF65-F5344CB8AC3E}">
        <p14:creationId xmlns:p14="http://schemas.microsoft.com/office/powerpoint/2010/main" val="1745235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5223AA-9B34-4DCC-A6E4-0C980A794CD5}" type="datetimeFigureOut">
              <a:rPr lang="es-MX" smtClean="0"/>
              <a:t>14/12/2020</a:t>
            </a:fld>
            <a:endParaRPr lang="es-MX"/>
          </a:p>
        </p:txBody>
      </p:sp>
      <p:sp>
        <p:nvSpPr>
          <p:cNvPr id="4" name="3 Marcador de imagen de diapositiva"/>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s-MX"/>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D07FDC-64A3-4F2D-9092-2E95035D7FC4}" type="slidenum">
              <a:rPr lang="es-MX" smtClean="0"/>
              <a:t>‹Nº›</a:t>
            </a:fld>
            <a:endParaRPr lang="es-MX"/>
          </a:p>
        </p:txBody>
      </p:sp>
    </p:spTree>
    <p:extLst>
      <p:ext uri="{BB962C8B-B14F-4D97-AF65-F5344CB8AC3E}">
        <p14:creationId xmlns:p14="http://schemas.microsoft.com/office/powerpoint/2010/main" val="41469930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ctrTitle"/>
          </p:nvPr>
        </p:nvSpPr>
        <p:spPr>
          <a:xfrm>
            <a:off x="534479" y="1848218"/>
            <a:ext cx="8420100" cy="345317"/>
          </a:xfrm>
          <a:prstGeom prst="rect">
            <a:avLst/>
          </a:prstGeom>
        </p:spPr>
        <p:txBody>
          <a:bodyPr/>
          <a:lstStyle>
            <a:lvl1pPr>
              <a:defRPr sz="2800" cap="all">
                <a:solidFill>
                  <a:srgbClr val="272727"/>
                </a:solidFill>
              </a:defRPr>
            </a:lvl1pPr>
          </a:lstStyle>
          <a:p>
            <a:r>
              <a:rPr lang="es-ES"/>
              <a:t>Haga clic para modificar el estilo de título del patrón</a:t>
            </a:r>
            <a:endParaRPr lang="es-ES" dirty="0"/>
          </a:p>
        </p:txBody>
      </p:sp>
      <p:sp>
        <p:nvSpPr>
          <p:cNvPr id="3" name="Subtítulo 2"/>
          <p:cNvSpPr>
            <a:spLocks noGrp="1"/>
          </p:cNvSpPr>
          <p:nvPr>
            <p:ph type="subTitle" idx="1"/>
          </p:nvPr>
        </p:nvSpPr>
        <p:spPr>
          <a:xfrm>
            <a:off x="534479" y="2287320"/>
            <a:ext cx="6934200" cy="978395"/>
          </a:xfrm>
          <a:prstGeom prst="rect">
            <a:avLst/>
          </a:prstGeom>
        </p:spPr>
        <p:txBody>
          <a:bodyPr anchor="ctr"/>
          <a:lstStyle>
            <a:lvl1pPr marL="0" indent="0" algn="l">
              <a:buNone/>
              <a:defRPr sz="1800">
                <a:solidFill>
                  <a:schemeClr val="bg2">
                    <a:lumMod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pic>
        <p:nvPicPr>
          <p:cNvPr id="5" name="4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293260" y="5949280"/>
            <a:ext cx="2340260" cy="648072"/>
          </a:xfrm>
          <a:prstGeom prst="rect">
            <a:avLst/>
          </a:prstGeom>
        </p:spPr>
      </p:pic>
      <p:sp>
        <p:nvSpPr>
          <p:cNvPr id="7" name="Rectángulo 7"/>
          <p:cNvSpPr/>
          <p:nvPr/>
        </p:nvSpPr>
        <p:spPr>
          <a:xfrm>
            <a:off x="1" y="1835150"/>
            <a:ext cx="259689"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8" name="7 Rectángulo"/>
          <p:cNvSpPr/>
          <p:nvPr userDrawn="1"/>
        </p:nvSpPr>
        <p:spPr>
          <a:xfrm>
            <a:off x="7825563" y="12700"/>
            <a:ext cx="2066679" cy="1124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7"/>
          <p:cNvSpPr/>
          <p:nvPr userDrawn="1"/>
        </p:nvSpPr>
        <p:spPr>
          <a:xfrm>
            <a:off x="0" y="1835150"/>
            <a:ext cx="239713" cy="1430564"/>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DUCCION">
    <p:spTree>
      <p:nvGrpSpPr>
        <p:cNvPr id="1" name=""/>
        <p:cNvGrpSpPr/>
        <p:nvPr/>
      </p:nvGrpSpPr>
      <p:grpSpPr>
        <a:xfrm>
          <a:off x="0" y="0"/>
          <a:ext cx="0" cy="0"/>
          <a:chOff x="0" y="0"/>
          <a:chExt cx="0" cy="0"/>
        </a:xfrm>
      </p:grpSpPr>
      <p:sp>
        <p:nvSpPr>
          <p:cNvPr id="5"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None/>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6" name="Rectangle 5"/>
          <p:cNvSpPr/>
          <p:nvPr/>
        </p:nvSpPr>
        <p:spPr>
          <a:xfrm>
            <a:off x="495300" y="393580"/>
            <a:ext cx="1500732" cy="461665"/>
          </a:xfrm>
          <a:prstGeom prst="rect">
            <a:avLst/>
          </a:prstGeom>
        </p:spPr>
        <p:txBody>
          <a:bodyPr wrap="none">
            <a:spAutoFit/>
          </a:bodyPr>
          <a:lstStyle/>
          <a:p>
            <a:r>
              <a:rPr lang="es-ES_tradnl" sz="2400" dirty="0">
                <a:solidFill>
                  <a:srgbClr val="FFC000"/>
                </a:solidFill>
                <a:latin typeface="Arial" pitchFamily="34" charset="0"/>
                <a:cs typeface="Arial" pitchFamily="34" charset="0"/>
              </a:rPr>
              <a:t>LOGROS</a:t>
            </a:r>
            <a:endParaRPr lang="es-MX" sz="2400" dirty="0">
              <a:solidFill>
                <a:srgbClr val="FFC000"/>
              </a:solidFill>
              <a:latin typeface="Arial" pitchFamily="34" charset="0"/>
              <a:cs typeface="Arial" pitchFamily="34" charset="0"/>
            </a:endParaRPr>
          </a:p>
        </p:txBody>
      </p:sp>
      <p:sp>
        <p:nvSpPr>
          <p:cNvPr id="8"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pic>
        <p:nvPicPr>
          <p:cNvPr id="2" name="1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5"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normAutofit/>
          </a:bodyPr>
          <a:lstStyle>
            <a:lvl1pPr>
              <a:defRPr sz="2400" cap="all"/>
            </a:lvl1pPr>
          </a:lstStyle>
          <a:p>
            <a:r>
              <a:rPr lang="es-ES"/>
              <a:t>Haga clic para modificar el estilo de título del patrón</a:t>
            </a:r>
            <a:endParaRPr lang="es-ES" dirty="0"/>
          </a:p>
        </p:txBody>
      </p:sp>
      <p:sp>
        <p:nvSpPr>
          <p:cNvPr id="3" name="Marcador de contenido 2"/>
          <p:cNvSpPr>
            <a:spLocks noGrp="1"/>
          </p:cNvSpPr>
          <p:nvPr>
            <p:ph idx="1"/>
          </p:nvPr>
        </p:nvSpPr>
        <p:spPr>
          <a:xfrm>
            <a:off x="495300" y="1078523"/>
            <a:ext cx="8915400" cy="5141425"/>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6"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sp>
        <p:nvSpPr>
          <p:cNvPr id="3" name="Marcador de contenido 2"/>
          <p:cNvSpPr>
            <a:spLocks noGrp="1"/>
          </p:cNvSpPr>
          <p:nvPr>
            <p:ph sz="half" idx="1"/>
          </p:nvPr>
        </p:nvSpPr>
        <p:spPr>
          <a:xfrm>
            <a:off x="49530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Marcador de contenido 3"/>
          <p:cNvSpPr>
            <a:spLocks noGrp="1"/>
          </p:cNvSpPr>
          <p:nvPr>
            <p:ph sz="half" idx="2"/>
          </p:nvPr>
        </p:nvSpPr>
        <p:spPr>
          <a:xfrm>
            <a:off x="5035550" y="1078523"/>
            <a:ext cx="4375150" cy="5141425"/>
          </a:xfrm>
          <a:prstGeom prst="rect">
            <a:avLst/>
          </a:prstGeo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pic>
        <p:nvPicPr>
          <p:cNvPr id="8" name="7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1" y="393580"/>
            <a:ext cx="5022529"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REFERENCIAS BIBLIOGRÁFICAS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REFERENCIAS BIBLIOGRAFICAS">
    <p:spTree>
      <p:nvGrpSpPr>
        <p:cNvPr id="1" name=""/>
        <p:cNvGrpSpPr/>
        <p:nvPr/>
      </p:nvGrpSpPr>
      <p:grpSpPr>
        <a:xfrm>
          <a:off x="0" y="0"/>
          <a:ext cx="0" cy="0"/>
          <a:chOff x="0" y="0"/>
          <a:chExt cx="0" cy="0"/>
        </a:xfrm>
      </p:grpSpPr>
      <p:sp>
        <p:nvSpPr>
          <p:cNvPr id="10" name="Rectángulo 8"/>
          <p:cNvSpPr/>
          <p:nvPr/>
        </p:nvSpPr>
        <p:spPr>
          <a:xfrm>
            <a:off x="9684148" y="487363"/>
            <a:ext cx="235611" cy="474662"/>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1" name="Marcador de contenido 2"/>
          <p:cNvSpPr>
            <a:spLocks noGrp="1"/>
          </p:cNvSpPr>
          <p:nvPr>
            <p:ph idx="1" hasCustomPrompt="1"/>
          </p:nvPr>
        </p:nvSpPr>
        <p:spPr>
          <a:xfrm>
            <a:off x="495300" y="1078523"/>
            <a:ext cx="8915400" cy="5141425"/>
          </a:xfrm>
          <a:prstGeom prst="rect">
            <a:avLst/>
          </a:prstGeom>
        </p:spPr>
        <p:txBody>
          <a:bodyPr/>
          <a:lstStyle>
            <a:lvl1pPr marL="457200" indent="-457200">
              <a:buFont typeface="+mj-lt"/>
              <a:buAutoNum type="arabicPeriod"/>
              <a:defRPr sz="2000"/>
            </a:lvl1pPr>
            <a:lvl2pPr marL="914400" indent="-457200">
              <a:buFont typeface="+mj-lt"/>
              <a:buAutoNum type="arabicPeriod"/>
              <a:defRPr sz="2000"/>
            </a:lvl2pPr>
          </a:lstStyle>
          <a:p>
            <a:pPr lvl="0"/>
            <a:r>
              <a:rPr lang="es-ES_tradnl" dirty="0"/>
              <a:t>Haga clic para modificar el estilo de texto del patrón</a:t>
            </a:r>
          </a:p>
          <a:p>
            <a:pPr lvl="1"/>
            <a:endParaRPr lang="es-ES" dirty="0"/>
          </a:p>
        </p:txBody>
      </p:sp>
      <p:sp>
        <p:nvSpPr>
          <p:cNvPr id="12" name="Rectangle 11"/>
          <p:cNvSpPr/>
          <p:nvPr/>
        </p:nvSpPr>
        <p:spPr>
          <a:xfrm>
            <a:off x="495300" y="393580"/>
            <a:ext cx="2648482" cy="461665"/>
          </a:xfrm>
          <a:prstGeom prst="rect">
            <a:avLst/>
          </a:prstGeom>
        </p:spPr>
        <p:txBody>
          <a:bodyPr wrap="none">
            <a:spAutoFit/>
          </a:bodyPr>
          <a:lstStyle/>
          <a:p>
            <a:r>
              <a:rPr lang="es-ES_tradnl" sz="2400" dirty="0">
                <a:solidFill>
                  <a:srgbClr val="FFC000"/>
                </a:solidFill>
                <a:effectLst/>
                <a:latin typeface="Arial" pitchFamily="34" charset="0"/>
                <a:cs typeface="Arial" pitchFamily="34" charset="0"/>
              </a:rPr>
              <a:t>CONCLUSIONES</a:t>
            </a:r>
            <a:endParaRPr lang="es-MX" sz="2400" dirty="0">
              <a:solidFill>
                <a:srgbClr val="FFC000"/>
              </a:solidFill>
              <a:effectLst/>
              <a:latin typeface="Arial" pitchFamily="34" charset="0"/>
              <a:cs typeface="Arial" pitchFamily="34" charset="0"/>
            </a:endParaRPr>
          </a:p>
        </p:txBody>
      </p:sp>
      <p:pic>
        <p:nvPicPr>
          <p:cNvPr id="7" name="6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4" name="Rectángulo 8"/>
          <p:cNvSpPr/>
          <p:nvPr/>
        </p:nvSpPr>
        <p:spPr>
          <a:xfrm>
            <a:off x="9658351" y="482601"/>
            <a:ext cx="259689" cy="492125"/>
          </a:xfrm>
          <a:prstGeom prst="rect">
            <a:avLst/>
          </a:prstGeom>
          <a:solidFill>
            <a:srgbClr val="EFA82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 name="Título 1"/>
          <p:cNvSpPr>
            <a:spLocks noGrp="1"/>
          </p:cNvSpPr>
          <p:nvPr>
            <p:ph type="title"/>
          </p:nvPr>
        </p:nvSpPr>
        <p:spPr>
          <a:xfrm>
            <a:off x="495300" y="274638"/>
            <a:ext cx="8915400" cy="710100"/>
          </a:xfrm>
          <a:prstGeom prst="rect">
            <a:avLst/>
          </a:prstGeom>
        </p:spPr>
        <p:txBody>
          <a:bodyPr/>
          <a:lstStyle/>
          <a:p>
            <a:r>
              <a:rPr lang="es-ES"/>
              <a:t>Haga clic para modificar el estilo de título del patrón</a:t>
            </a:r>
            <a:endParaRPr lang="es-ES" dirty="0"/>
          </a:p>
        </p:txBody>
      </p:sp>
      <p:pic>
        <p:nvPicPr>
          <p:cNvPr id="6" name="5 Imagen"/>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931443" y="332656"/>
            <a:ext cx="482730" cy="6541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77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l="-9000" r="-1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71" r:id="rId9"/>
  </p:sldLayoutIdLst>
  <p:transition>
    <p:wipe dir="r"/>
  </p:transition>
  <p:hf hdr="0"/>
  <p:txStyles>
    <p:titleStyle>
      <a:lvl1pPr algn="l" defTabSz="457200" rtl="0" eaLnBrk="1" fontAlgn="base" hangingPunct="1">
        <a:spcBef>
          <a:spcPct val="0"/>
        </a:spcBef>
        <a:spcAft>
          <a:spcPct val="0"/>
        </a:spcAft>
        <a:defRPr sz="2400" kern="1200" cap="all">
          <a:solidFill>
            <a:srgbClr val="EFA82F"/>
          </a:solidFill>
          <a:latin typeface="Arial"/>
          <a:ea typeface="ＭＳ Ｐゴシック" charset="-128"/>
          <a:cs typeface="+mj-cs"/>
        </a:defRPr>
      </a:lvl1pPr>
      <a:lvl2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2pPr>
      <a:lvl3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3pPr>
      <a:lvl4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4pPr>
      <a:lvl5pPr algn="l" defTabSz="457200" rtl="0" eaLnBrk="1" fontAlgn="base" hangingPunct="1">
        <a:spcBef>
          <a:spcPct val="0"/>
        </a:spcBef>
        <a:spcAft>
          <a:spcPct val="0"/>
        </a:spcAft>
        <a:defRPr sz="2000">
          <a:solidFill>
            <a:srgbClr val="EFA82F"/>
          </a:solidFill>
          <a:latin typeface="Arial" pitchFamily="34" charset="0"/>
          <a:ea typeface="ＭＳ Ｐゴシック" charset="-128"/>
        </a:defRPr>
      </a:lvl5pPr>
      <a:lvl6pPr marL="4572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6pPr>
      <a:lvl7pPr marL="9144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7pPr>
      <a:lvl8pPr marL="13716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8pPr>
      <a:lvl9pPr marL="1828800" algn="l" defTabSz="457200" rtl="0" eaLnBrk="1" fontAlgn="base" hangingPunct="1">
        <a:spcBef>
          <a:spcPct val="0"/>
        </a:spcBef>
        <a:spcAft>
          <a:spcPct val="0"/>
        </a:spcAft>
        <a:defRPr sz="2000">
          <a:solidFill>
            <a:srgbClr val="EFA82F"/>
          </a:solidFill>
          <a:latin typeface="Arial" pitchFamily="34" charset="0"/>
          <a:ea typeface="ＭＳ Ｐゴシック" charset="-128"/>
        </a:defRPr>
      </a:lvl9pPr>
    </p:titleStyle>
    <p:body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0.png"/><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9.png"/><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25.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2.vml"/><Relationship Id="rId4" Type="http://schemas.openxmlformats.org/officeDocument/2006/relationships/image" Target="../media/image25.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www.fisicarecreativa.com/" TargetMode="External"/><Relationship Id="rId2" Type="http://schemas.openxmlformats.org/officeDocument/2006/relationships/hyperlink" Target="http://www.sc.ehu.es/sbweb/fisica/"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992560" y="1900192"/>
            <a:ext cx="2862318" cy="4409128"/>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r>
              <a:rPr lang="es-ES" sz="2000" dirty="0" smtClean="0">
                <a:solidFill>
                  <a:schemeClr val="tx1"/>
                </a:solidFill>
              </a:rPr>
              <a:t>Cálculo </a:t>
            </a:r>
            <a:r>
              <a:rPr lang="es-ES" sz="2000" dirty="0">
                <a:solidFill>
                  <a:schemeClr val="tx1"/>
                </a:solidFill>
              </a:rPr>
              <a:t>cinético de la presión.</a:t>
            </a:r>
            <a:endParaRPr lang="es-PE" sz="2000" dirty="0">
              <a:solidFill>
                <a:schemeClr val="tx1"/>
              </a:solidFill>
            </a:endParaRPr>
          </a:p>
          <a:p>
            <a:r>
              <a:rPr lang="es-ES" sz="2000" dirty="0">
                <a:solidFill>
                  <a:schemeClr val="tx1"/>
                </a:solidFill>
              </a:rPr>
              <a:t>Interpretación Cinética de la Temperatura. Energía Interna. Teorema de la </a:t>
            </a:r>
            <a:r>
              <a:rPr lang="es-ES" sz="2000" dirty="0" err="1">
                <a:solidFill>
                  <a:schemeClr val="tx1"/>
                </a:solidFill>
              </a:rPr>
              <a:t>Equipartición</a:t>
            </a:r>
            <a:r>
              <a:rPr lang="es-ES" sz="2000" dirty="0">
                <a:solidFill>
                  <a:schemeClr val="tx1"/>
                </a:solidFill>
              </a:rPr>
              <a:t> de la Energía.</a:t>
            </a:r>
            <a:endParaRPr lang="es-PE" sz="2000" dirty="0">
              <a:solidFill>
                <a:schemeClr val="tx1"/>
              </a:solidFill>
            </a:endParaRPr>
          </a:p>
          <a:p>
            <a:r>
              <a:rPr lang="es-ES" sz="2000" dirty="0">
                <a:solidFill>
                  <a:schemeClr val="tx1"/>
                </a:solidFill>
              </a:rPr>
              <a:t>Capacidades caloríficas de los gases ideales. Gases </a:t>
            </a:r>
            <a:r>
              <a:rPr lang="es-ES" sz="2000" dirty="0" smtClean="0">
                <a:solidFill>
                  <a:schemeClr val="tx1"/>
                </a:solidFill>
              </a:rPr>
              <a:t>Reales</a:t>
            </a:r>
            <a:endParaRPr lang="es-PE" sz="2400" dirty="0">
              <a:solidFill>
                <a:schemeClr val="tx1"/>
              </a:solidFill>
            </a:endParaRPr>
          </a:p>
        </p:txBody>
      </p:sp>
      <p:sp>
        <p:nvSpPr>
          <p:cNvPr id="6" name="Rectángulo redondeado 5"/>
          <p:cNvSpPr/>
          <p:nvPr/>
        </p:nvSpPr>
        <p:spPr>
          <a:xfrm>
            <a:off x="1548194" y="760506"/>
            <a:ext cx="6789182" cy="64807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1704975" indent="-1704975"/>
            <a:r>
              <a:rPr lang="es-PE" sz="2000" b="1" dirty="0">
                <a:solidFill>
                  <a:schemeClr val="tx1"/>
                </a:solidFill>
                <a:latin typeface="Arial" panose="020B0604020202020204" pitchFamily="34" charset="0"/>
                <a:cs typeface="Arial" panose="020B0604020202020204" pitchFamily="34" charset="0"/>
              </a:rPr>
              <a:t>SEMANA </a:t>
            </a:r>
            <a:r>
              <a:rPr lang="es-PE" sz="2000" b="1" dirty="0" smtClean="0">
                <a:solidFill>
                  <a:schemeClr val="tx1"/>
                </a:solidFill>
                <a:latin typeface="Arial" panose="020B0604020202020204" pitchFamily="34" charset="0"/>
                <a:cs typeface="Arial" panose="020B0604020202020204" pitchFamily="34" charset="0"/>
              </a:rPr>
              <a:t>12:  MODELO MOLECULAR DE UN GAS</a:t>
            </a:r>
            <a:endParaRPr lang="es-PE" sz="2000" b="1" dirty="0">
              <a:solidFill>
                <a:schemeClr val="tx1"/>
              </a:solidFill>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6936" y="1900192"/>
            <a:ext cx="4406561" cy="4230299"/>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319237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5961184" cy="96715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OBSERVA LA IMÁGEN .  .  .</a:t>
            </a:r>
          </a:p>
        </p:txBody>
      </p:sp>
      <p:sp>
        <p:nvSpPr>
          <p:cNvPr id="8" name="Rectángulo redondeado 7"/>
          <p:cNvSpPr/>
          <p:nvPr/>
        </p:nvSpPr>
        <p:spPr>
          <a:xfrm>
            <a:off x="556247" y="5925472"/>
            <a:ext cx="8264769" cy="646114"/>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3200" b="1" dirty="0">
                <a:solidFill>
                  <a:schemeClr val="tx1"/>
                </a:solidFill>
              </a:rPr>
              <a:t>¿Qué opinión tienes al respecto?</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96" y="2013899"/>
            <a:ext cx="4648849" cy="3629532"/>
          </a:xfrm>
          <a:prstGeom prst="rect">
            <a:avLst/>
          </a:prstGeom>
        </p:spPr>
      </p:pic>
    </p:spTree>
    <p:extLst>
      <p:ext uri="{BB962C8B-B14F-4D97-AF65-F5344CB8AC3E}">
        <p14:creationId xmlns:p14="http://schemas.microsoft.com/office/powerpoint/2010/main" val="32387338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7" name="Rectángulo redondeado 6"/>
          <p:cNvSpPr/>
          <p:nvPr/>
        </p:nvSpPr>
        <p:spPr>
          <a:xfrm>
            <a:off x="1712641" y="873007"/>
            <a:ext cx="2664296" cy="67756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3200" dirty="0">
                <a:solidFill>
                  <a:schemeClr val="tx1"/>
                </a:solidFill>
              </a:rPr>
              <a:t>PENSEMOS. . .</a:t>
            </a:r>
          </a:p>
        </p:txBody>
      </p:sp>
      <p:sp>
        <p:nvSpPr>
          <p:cNvPr id="9" name="Rectángulo redondeado 8"/>
          <p:cNvSpPr/>
          <p:nvPr/>
        </p:nvSpPr>
        <p:spPr>
          <a:xfrm>
            <a:off x="1712641" y="4959967"/>
            <a:ext cx="6696744" cy="140558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s-PE" sz="2000" b="1" dirty="0">
                <a:solidFill>
                  <a:schemeClr val="tx1"/>
                </a:solidFill>
              </a:rPr>
              <a:t>¿Qué entiendes por </a:t>
            </a:r>
            <a:r>
              <a:rPr lang="es-PE" sz="2000" b="1" dirty="0" smtClean="0">
                <a:solidFill>
                  <a:schemeClr val="tx1"/>
                </a:solidFill>
              </a:rPr>
              <a:t>modelo molecular?   </a:t>
            </a:r>
          </a:p>
          <a:p>
            <a:pPr>
              <a:lnSpc>
                <a:spcPct val="150000"/>
              </a:lnSpc>
            </a:pPr>
            <a:r>
              <a:rPr lang="es-PE" sz="2000" b="1" dirty="0" smtClean="0">
                <a:solidFill>
                  <a:schemeClr val="tx1"/>
                </a:solidFill>
              </a:rPr>
              <a:t>¿</a:t>
            </a:r>
            <a:r>
              <a:rPr lang="es-PE" sz="2000" b="1" dirty="0">
                <a:solidFill>
                  <a:schemeClr val="tx1"/>
                </a:solidFill>
              </a:rPr>
              <a:t>Qué entiendes por </a:t>
            </a:r>
            <a:r>
              <a:rPr lang="es-PE" sz="2000" b="1" dirty="0" smtClean="0">
                <a:solidFill>
                  <a:schemeClr val="tx1"/>
                </a:solidFill>
              </a:rPr>
              <a:t>Energía interna? </a:t>
            </a:r>
          </a:p>
          <a:p>
            <a:pPr>
              <a:lnSpc>
                <a:spcPct val="150000"/>
              </a:lnSpc>
            </a:pPr>
            <a:r>
              <a:rPr lang="es-PE" sz="2000" b="1" dirty="0" smtClean="0">
                <a:solidFill>
                  <a:schemeClr val="tx1"/>
                </a:solidFill>
              </a:rPr>
              <a:t>¿</a:t>
            </a:r>
            <a:r>
              <a:rPr lang="es-PE" sz="2000" b="1" dirty="0">
                <a:solidFill>
                  <a:schemeClr val="tx1"/>
                </a:solidFill>
              </a:rPr>
              <a:t>Qué </a:t>
            </a:r>
            <a:r>
              <a:rPr lang="es-PE" sz="2000" b="1" dirty="0" smtClean="0">
                <a:solidFill>
                  <a:schemeClr val="tx1"/>
                </a:solidFill>
              </a:rPr>
              <a:t>interpretación microscópica tiene la temperatura? </a:t>
            </a:r>
            <a:endParaRPr lang="es-PE" sz="2400" b="1" dirty="0">
              <a:solidFill>
                <a:schemeClr val="tx1"/>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2641" y="1717763"/>
            <a:ext cx="3029373" cy="2743583"/>
          </a:xfrm>
          <a:prstGeom prst="rect">
            <a:avLst/>
          </a:prstGeom>
        </p:spPr>
      </p:pic>
      <p:pic>
        <p:nvPicPr>
          <p:cNvPr id="12290" name="Picture 2" descr="Resultado de imagen para modelo molecula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7096" y="1740258"/>
            <a:ext cx="2760538" cy="276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110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664295"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PROPÓSITO</a:t>
            </a:r>
          </a:p>
        </p:txBody>
      </p:sp>
      <p:sp>
        <p:nvSpPr>
          <p:cNvPr id="8" name="2 Redondear rectángulo de esquina diagonal"/>
          <p:cNvSpPr/>
          <p:nvPr/>
        </p:nvSpPr>
        <p:spPr>
          <a:xfrm>
            <a:off x="5241032" y="1484784"/>
            <a:ext cx="4176464" cy="4608512"/>
          </a:xfrm>
          <a:prstGeom prst="round2DiagRect">
            <a:avLst>
              <a:gd name="adj1" fmla="val 14362"/>
              <a:gd name="adj2" fmla="val 0"/>
            </a:avLst>
          </a:prstGeom>
          <a:solidFill>
            <a:srgbClr val="11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PE" sz="2000" dirty="0">
              <a:solidFill>
                <a:schemeClr val="tx1"/>
              </a:solidFill>
              <a:latin typeface="Arial" panose="020B0604020202020204" pitchFamily="34" charset="0"/>
              <a:cs typeface="Arial" panose="020B0604020202020204" pitchFamily="34" charset="0"/>
            </a:endParaRPr>
          </a:p>
          <a:p>
            <a:pPr algn="just">
              <a:lnSpc>
                <a:spcPct val="150000"/>
              </a:lnSpc>
            </a:pPr>
            <a:r>
              <a:rPr lang="es-PE" sz="2000" dirty="0">
                <a:solidFill>
                  <a:schemeClr val="tx1"/>
                </a:solidFill>
                <a:latin typeface="Arial" panose="020B0604020202020204" pitchFamily="34" charset="0"/>
                <a:cs typeface="Arial" panose="020B0604020202020204" pitchFamily="34" charset="0"/>
              </a:rPr>
              <a:t>Al finalizar la sesión, el estudiante resuelve problemas </a:t>
            </a:r>
            <a:r>
              <a:rPr lang="es-PE" sz="2000" dirty="0" smtClean="0">
                <a:solidFill>
                  <a:schemeClr val="tx1"/>
                </a:solidFill>
                <a:latin typeface="Arial" panose="020B0604020202020204" pitchFamily="34" charset="0"/>
                <a:cs typeface="Arial" panose="020B0604020202020204" pitchFamily="34" charset="0"/>
              </a:rPr>
              <a:t>relacionados con el modelo molecular para un gas ideal, </a:t>
            </a:r>
            <a:r>
              <a:rPr lang="es-PE" sz="2000" dirty="0">
                <a:solidFill>
                  <a:schemeClr val="tx1"/>
                </a:solidFill>
                <a:latin typeface="Arial" panose="020B0604020202020204" pitchFamily="34" charset="0"/>
                <a:cs typeface="Arial" panose="020B0604020202020204" pitchFamily="34" charset="0"/>
              </a:rPr>
              <a:t>usando correctamente </a:t>
            </a:r>
            <a:r>
              <a:rPr lang="es-PE" sz="2000" dirty="0" smtClean="0">
                <a:solidFill>
                  <a:schemeClr val="tx1"/>
                </a:solidFill>
                <a:latin typeface="Arial" panose="020B0604020202020204" pitchFamily="34" charset="0"/>
                <a:cs typeface="Arial" panose="020B0604020202020204" pitchFamily="34" charset="0"/>
              </a:rPr>
              <a:t>las definiciones con </a:t>
            </a:r>
            <a:r>
              <a:rPr lang="es-PE" sz="2000" dirty="0">
                <a:solidFill>
                  <a:schemeClr val="tx1"/>
                </a:solidFill>
                <a:latin typeface="Arial" panose="020B0604020202020204" pitchFamily="34" charset="0"/>
                <a:cs typeface="Arial" panose="020B0604020202020204" pitchFamily="34" charset="0"/>
              </a:rPr>
              <a:t>orden, tres cifras significativas y las unidades respectivas.</a:t>
            </a:r>
            <a:endParaRPr lang="es-ES" sz="2000" dirty="0">
              <a:solidFill>
                <a:schemeClr val="tx1"/>
              </a:solidFill>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s-PE" sz="2000" b="1" dirty="0">
              <a:solidFill>
                <a:schemeClr val="tx1"/>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36" y="2132856"/>
            <a:ext cx="3909322" cy="3807451"/>
          </a:xfrm>
          <a:prstGeom prst="rect">
            <a:avLst/>
          </a:prstGeom>
        </p:spPr>
      </p:pic>
    </p:spTree>
    <p:extLst>
      <p:ext uri="{BB962C8B-B14F-4D97-AF65-F5344CB8AC3E}">
        <p14:creationId xmlns:p14="http://schemas.microsoft.com/office/powerpoint/2010/main" val="14124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p:cNvCxnSpPr>
            <a:cxnSpLocks/>
          </p:cNvCxnSpPr>
          <p:nvPr/>
        </p:nvCxnSpPr>
        <p:spPr>
          <a:xfrm>
            <a:off x="8594868" y="2800075"/>
            <a:ext cx="0" cy="3710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a:cxnSpLocks/>
            <a:stCxn id="16" idx="2"/>
          </p:cNvCxnSpPr>
          <p:nvPr/>
        </p:nvCxnSpPr>
        <p:spPr>
          <a:xfrm>
            <a:off x="8703023" y="3635349"/>
            <a:ext cx="0" cy="1389283"/>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p:cNvCxnSpPr>
            <a:cxnSpLocks/>
          </p:cNvCxnSpPr>
          <p:nvPr/>
        </p:nvCxnSpPr>
        <p:spPr>
          <a:xfrm>
            <a:off x="5029186" y="3633033"/>
            <a:ext cx="0" cy="8627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Conector recto 29"/>
          <p:cNvCxnSpPr/>
          <p:nvPr/>
        </p:nvCxnSpPr>
        <p:spPr>
          <a:xfrm>
            <a:off x="2932622" y="3626482"/>
            <a:ext cx="4154" cy="7010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cxnSp>
        <p:nvCxnSpPr>
          <p:cNvPr id="7" name="Conector recto 6">
            <a:extLst>
              <a:ext uri="{FF2B5EF4-FFF2-40B4-BE49-F238E27FC236}">
                <a16:creationId xmlns:a16="http://schemas.microsoft.com/office/drawing/2014/main" xmlns="" id="{8001D105-DCAC-42FF-A68E-0D3DE034E8B2}"/>
              </a:ext>
            </a:extLst>
          </p:cNvPr>
          <p:cNvCxnSpPr>
            <a:cxnSpLocks/>
          </p:cNvCxnSpPr>
          <p:nvPr/>
        </p:nvCxnSpPr>
        <p:spPr>
          <a:xfrm>
            <a:off x="6863552" y="3666382"/>
            <a:ext cx="18611" cy="1741208"/>
          </a:xfrm>
          <a:prstGeom prst="line">
            <a:avLst/>
          </a:prstGeom>
          <a:ln w="28575"/>
        </p:spPr>
        <p:style>
          <a:lnRef idx="1">
            <a:schemeClr val="dk1"/>
          </a:lnRef>
          <a:fillRef idx="0">
            <a:schemeClr val="dk1"/>
          </a:fillRef>
          <a:effectRef idx="0">
            <a:schemeClr val="dk1"/>
          </a:effectRef>
          <a:fontRef idx="minor">
            <a:schemeClr val="tx1"/>
          </a:fontRef>
        </p:style>
      </p:cxnSp>
      <p:sp>
        <p:nvSpPr>
          <p:cNvPr id="9" name="Rectángulo redondeado 8"/>
          <p:cNvSpPr/>
          <p:nvPr/>
        </p:nvSpPr>
        <p:spPr>
          <a:xfrm>
            <a:off x="1640632" y="1003815"/>
            <a:ext cx="4352925" cy="52700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CONTENIDO TEMÁTICO</a:t>
            </a:r>
            <a:endParaRPr lang="es-PE" sz="2800" dirty="0">
              <a:solidFill>
                <a:schemeClr val="tx1"/>
              </a:solidFill>
            </a:endParaRPr>
          </a:p>
        </p:txBody>
      </p:sp>
      <p:sp>
        <p:nvSpPr>
          <p:cNvPr id="11" name="Rectángulo 10">
            <a:extLst>
              <a:ext uri="{FF2B5EF4-FFF2-40B4-BE49-F238E27FC236}">
                <a16:creationId xmlns:a16="http://schemas.microsoft.com/office/drawing/2014/main" xmlns="" id="{8029014D-9243-4890-AF00-9E6FC9945B2C}"/>
              </a:ext>
            </a:extLst>
          </p:cNvPr>
          <p:cNvSpPr/>
          <p:nvPr/>
        </p:nvSpPr>
        <p:spPr>
          <a:xfrm>
            <a:off x="2600759" y="1844824"/>
            <a:ext cx="5195686" cy="576064"/>
          </a:xfrm>
          <a:prstGeom prst="rect">
            <a:avLst/>
          </a:prstGeom>
          <a:solidFill>
            <a:srgbClr val="1199FF"/>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2400" b="1" dirty="0" smtClean="0">
                <a:solidFill>
                  <a:schemeClr val="tx1"/>
                </a:solidFill>
              </a:rPr>
              <a:t>MODELO MOLECULAR DEL GAS IDEAL</a:t>
            </a:r>
            <a:endParaRPr lang="es-PE" sz="2400" b="1" dirty="0">
              <a:solidFill>
                <a:schemeClr val="tx1"/>
              </a:solidFill>
            </a:endParaRPr>
          </a:p>
        </p:txBody>
      </p:sp>
      <p:cxnSp>
        <p:nvCxnSpPr>
          <p:cNvPr id="12" name="Conector recto 11">
            <a:extLst>
              <a:ext uri="{FF2B5EF4-FFF2-40B4-BE49-F238E27FC236}">
                <a16:creationId xmlns:a16="http://schemas.microsoft.com/office/drawing/2014/main" xmlns="" id="{008A15F1-A2F7-4515-8854-56CDE8B68B99}"/>
              </a:ext>
            </a:extLst>
          </p:cNvPr>
          <p:cNvCxnSpPr>
            <a:cxnSpLocks/>
          </p:cNvCxnSpPr>
          <p:nvPr/>
        </p:nvCxnSpPr>
        <p:spPr>
          <a:xfrm>
            <a:off x="4916462" y="245105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3" name="Rectángulo 12">
            <a:extLst>
              <a:ext uri="{FF2B5EF4-FFF2-40B4-BE49-F238E27FC236}">
                <a16:creationId xmlns:a16="http://schemas.microsoft.com/office/drawing/2014/main" xmlns="" id="{B377CFE4-F974-430F-8D3E-31A44641DDDD}"/>
              </a:ext>
            </a:extLst>
          </p:cNvPr>
          <p:cNvSpPr/>
          <p:nvPr/>
        </p:nvSpPr>
        <p:spPr>
          <a:xfrm>
            <a:off x="2187679" y="3036424"/>
            <a:ext cx="1508771" cy="590058"/>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solidFill>
                  <a:schemeClr val="tx1"/>
                </a:solidFill>
              </a:rPr>
              <a:t>CANTIDADES </a:t>
            </a:r>
            <a:r>
              <a:rPr lang="es-PE" sz="1600" b="1" dirty="0"/>
              <a:t>FÍSICAS</a:t>
            </a:r>
            <a:endParaRPr lang="es-PE" sz="1600" b="1" dirty="0">
              <a:solidFill>
                <a:schemeClr val="tx1"/>
              </a:solidFill>
            </a:endParaRPr>
          </a:p>
        </p:txBody>
      </p:sp>
      <p:cxnSp>
        <p:nvCxnSpPr>
          <p:cNvPr id="14" name="Conector recto 13">
            <a:extLst>
              <a:ext uri="{FF2B5EF4-FFF2-40B4-BE49-F238E27FC236}">
                <a16:creationId xmlns:a16="http://schemas.microsoft.com/office/drawing/2014/main" xmlns="" id="{43098481-B66C-4565-AFF8-F4FBF153DF92}"/>
              </a:ext>
            </a:extLst>
          </p:cNvPr>
          <p:cNvCxnSpPr>
            <a:cxnSpLocks/>
          </p:cNvCxnSpPr>
          <p:nvPr/>
        </p:nvCxnSpPr>
        <p:spPr>
          <a:xfrm flipH="1" flipV="1">
            <a:off x="1203775" y="2800075"/>
            <a:ext cx="7391093" cy="2779"/>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cxnSp>
        <p:nvCxnSpPr>
          <p:cNvPr id="15" name="Conector recto 14">
            <a:extLst>
              <a:ext uri="{FF2B5EF4-FFF2-40B4-BE49-F238E27FC236}">
                <a16:creationId xmlns:a16="http://schemas.microsoft.com/office/drawing/2014/main" xmlns="" id="{E4375B2A-706A-4D8E-8409-0FE4926350F3}"/>
              </a:ext>
            </a:extLst>
          </p:cNvPr>
          <p:cNvCxnSpPr>
            <a:cxnSpLocks/>
          </p:cNvCxnSpPr>
          <p:nvPr/>
        </p:nvCxnSpPr>
        <p:spPr>
          <a:xfrm>
            <a:off x="4918241" y="2811092"/>
            <a:ext cx="0" cy="360040"/>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16" name="Rectángulo 15">
            <a:extLst>
              <a:ext uri="{FF2B5EF4-FFF2-40B4-BE49-F238E27FC236}">
                <a16:creationId xmlns:a16="http://schemas.microsoft.com/office/drawing/2014/main" xmlns="" id="{B32EC4F4-40F8-440A-A577-A55B582660EF}"/>
              </a:ext>
            </a:extLst>
          </p:cNvPr>
          <p:cNvSpPr/>
          <p:nvPr/>
        </p:nvSpPr>
        <p:spPr>
          <a:xfrm>
            <a:off x="7744073" y="3066114"/>
            <a:ext cx="1917899" cy="569235"/>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a:cs typeface="Arial" panose="020B0604020202020204" pitchFamily="34" charset="0"/>
              </a:rPr>
              <a:t> </a:t>
            </a:r>
            <a:r>
              <a:rPr lang="es-PE" sz="1600" b="1" dirty="0" smtClean="0">
                <a:cs typeface="Arial" panose="020B0604020202020204" pitchFamily="34" charset="0"/>
              </a:rPr>
              <a:t>ENERGÍA INTERNA</a:t>
            </a:r>
            <a:endParaRPr lang="es-PE" sz="1600" b="1" dirty="0">
              <a:cs typeface="Arial" panose="020B0604020202020204" pitchFamily="34" charset="0"/>
            </a:endParaRPr>
          </a:p>
        </p:txBody>
      </p:sp>
      <p:sp>
        <p:nvSpPr>
          <p:cNvPr id="18" name="Rectángulo 17">
            <a:extLst>
              <a:ext uri="{FF2B5EF4-FFF2-40B4-BE49-F238E27FC236}">
                <a16:creationId xmlns:a16="http://schemas.microsoft.com/office/drawing/2014/main" xmlns="" id="{491CDA35-9E9C-46DA-B439-A69909018FD2}"/>
              </a:ext>
            </a:extLst>
          </p:cNvPr>
          <p:cNvSpPr/>
          <p:nvPr/>
        </p:nvSpPr>
        <p:spPr>
          <a:xfrm>
            <a:off x="2321731" y="3860052"/>
            <a:ext cx="1463290" cy="2881316"/>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Fuerza</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Presión</a:t>
            </a:r>
            <a:endParaRPr kumimoji="1" lang="en-GB" altLang="es-PE" sz="1400" dirty="0" smtClean="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Momento</a:t>
            </a:r>
            <a:r>
              <a:rPr kumimoji="1" lang="en-GB" altLang="es-PE" sz="1400" dirty="0">
                <a:solidFill>
                  <a:schemeClr val="tx1"/>
                </a:solidFill>
                <a:latin typeface="Arial" panose="020B0604020202020204" pitchFamily="34" charset="0"/>
                <a:cs typeface="Arial" panose="020B0604020202020204" pitchFamily="34" charset="0"/>
              </a:rPr>
              <a:t> </a:t>
            </a:r>
            <a:r>
              <a:rPr kumimoji="1" lang="en-GB" altLang="es-PE" sz="1400" dirty="0" smtClean="0">
                <a:solidFill>
                  <a:schemeClr val="tx1"/>
                </a:solidFill>
                <a:latin typeface="Arial" panose="020B0604020202020204" pitchFamily="34" charset="0"/>
                <a:cs typeface="Arial" panose="020B0604020202020204" pitchFamily="34" charset="0"/>
              </a:rPr>
              <a:t>lineal.</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Temperatura</a:t>
            </a:r>
            <a:r>
              <a:rPr kumimoji="1" lang="en-GB" altLang="es-PE" sz="1400" dirty="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Velocidad</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promedio</a:t>
            </a:r>
            <a:r>
              <a:rPr kumimoji="1" lang="en-GB" altLang="es-PE" sz="1400" dirty="0" smtClean="0">
                <a:solidFill>
                  <a:schemeClr val="tx1"/>
                </a:solidFill>
                <a:latin typeface="Arial" panose="020B0604020202020204" pitchFamily="34" charset="0"/>
                <a:cs typeface="Arial" panose="020B0604020202020204" pitchFamily="34" charset="0"/>
              </a:rPr>
              <a:t>.</a:t>
            </a:r>
            <a:endParaRPr kumimoji="1" lang="en-GB" altLang="es-PE" sz="1400" dirty="0">
              <a:solidFill>
                <a:schemeClr val="tx1"/>
              </a:solidFill>
              <a:latin typeface="Arial" panose="020B0604020202020204" pitchFamily="34" charset="0"/>
              <a:cs typeface="Arial" panose="020B0604020202020204" pitchFamily="34" charset="0"/>
            </a:endParaRP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Energía</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cin</a:t>
            </a:r>
            <a:r>
              <a:rPr kumimoji="1" lang="en-GB" altLang="es-PE" sz="1400" dirty="0" err="1">
                <a:solidFill>
                  <a:schemeClr val="tx1"/>
                </a:solidFill>
                <a:latin typeface="Arial" panose="020B0604020202020204" pitchFamily="34" charset="0"/>
                <a:cs typeface="Arial" panose="020B0604020202020204" pitchFamily="34" charset="0"/>
              </a:rPr>
              <a:t>é</a:t>
            </a:r>
            <a:r>
              <a:rPr kumimoji="1" lang="en-GB" altLang="es-PE" sz="1400" dirty="0" err="1" smtClean="0">
                <a:solidFill>
                  <a:schemeClr val="tx1"/>
                </a:solidFill>
                <a:latin typeface="Arial" panose="020B0604020202020204" pitchFamily="34" charset="0"/>
                <a:cs typeface="Arial" panose="020B0604020202020204" pitchFamily="34" charset="0"/>
              </a:rPr>
              <a:t>tica</a:t>
            </a:r>
            <a:r>
              <a:rPr kumimoji="1" lang="en-GB" altLang="es-PE" sz="1400" dirty="0" smtClean="0">
                <a:solidFill>
                  <a:schemeClr val="tx1"/>
                </a:solidFill>
                <a:latin typeface="Arial" panose="020B0604020202020204" pitchFamily="34" charset="0"/>
                <a:cs typeface="Arial" panose="020B0604020202020204" pitchFamily="34" charset="0"/>
              </a:rPr>
              <a:t>.</a:t>
            </a:r>
          </a:p>
          <a:p>
            <a:pPr marL="203200" lvl="0" indent="-203200" algn="just">
              <a:buFont typeface="Arial" panose="020B0604020202020204" pitchFamily="34" charset="0"/>
              <a:buChar char="•"/>
            </a:pPr>
            <a:r>
              <a:rPr kumimoji="1" lang="en-GB" altLang="es-PE" sz="1400" dirty="0" err="1" smtClean="0">
                <a:solidFill>
                  <a:schemeClr val="tx1"/>
                </a:solidFill>
                <a:latin typeface="Arial" panose="020B0604020202020204" pitchFamily="34" charset="0"/>
                <a:cs typeface="Arial" panose="020B0604020202020204" pitchFamily="34" charset="0"/>
              </a:rPr>
              <a:t>Energía</a:t>
            </a:r>
            <a:r>
              <a:rPr kumimoji="1" lang="en-GB" altLang="es-PE" sz="1400" dirty="0" smtClean="0">
                <a:solidFill>
                  <a:schemeClr val="tx1"/>
                </a:solidFill>
                <a:latin typeface="Arial" panose="020B0604020202020204" pitchFamily="34" charset="0"/>
                <a:cs typeface="Arial" panose="020B0604020202020204" pitchFamily="34" charset="0"/>
              </a:rPr>
              <a:t> </a:t>
            </a:r>
            <a:r>
              <a:rPr kumimoji="1" lang="en-GB" altLang="es-PE" sz="1400" dirty="0" err="1" smtClean="0">
                <a:solidFill>
                  <a:schemeClr val="tx1"/>
                </a:solidFill>
                <a:latin typeface="Arial" panose="020B0604020202020204" pitchFamily="34" charset="0"/>
                <a:cs typeface="Arial" panose="020B0604020202020204" pitchFamily="34" charset="0"/>
              </a:rPr>
              <a:t>interna</a:t>
            </a:r>
            <a:endParaRPr kumimoji="1" lang="en-GB" altLang="es-PE" sz="1400" dirty="0">
              <a:solidFill>
                <a:schemeClr val="tx1"/>
              </a:solidFill>
              <a:latin typeface="Arial" panose="020B0604020202020204" pitchFamily="34" charset="0"/>
              <a:cs typeface="Arial" panose="020B0604020202020204" pitchFamily="34" charset="0"/>
            </a:endParaRPr>
          </a:p>
          <a:p>
            <a:pPr lvl="0" algn="just"/>
            <a:endParaRPr lang="es-PE" sz="1400" dirty="0">
              <a:solidFill>
                <a:schemeClr val="tx1"/>
              </a:solidFill>
              <a:latin typeface="Arial" panose="020B0604020202020204" pitchFamily="34" charset="0"/>
              <a:cs typeface="Arial" panose="020B0604020202020204" pitchFamily="34" charset="0"/>
            </a:endParaRPr>
          </a:p>
        </p:txBody>
      </p:sp>
      <p:sp>
        <p:nvSpPr>
          <p:cNvPr id="20" name="Rectángulo 19">
            <a:extLst>
              <a:ext uri="{FF2B5EF4-FFF2-40B4-BE49-F238E27FC236}">
                <a16:creationId xmlns:a16="http://schemas.microsoft.com/office/drawing/2014/main" xmlns="" id="{B377CFE4-F974-430F-8D3E-31A44641DDDD}"/>
              </a:ext>
            </a:extLst>
          </p:cNvPr>
          <p:cNvSpPr/>
          <p:nvPr/>
        </p:nvSpPr>
        <p:spPr>
          <a:xfrm>
            <a:off x="200472" y="3036423"/>
            <a:ext cx="1853559" cy="716169"/>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PE" sz="1600" b="1" dirty="0" smtClean="0">
                <a:solidFill>
                  <a:schemeClr val="tx1"/>
                </a:solidFill>
              </a:rPr>
              <a:t>MODELO MOLECULAR</a:t>
            </a:r>
            <a:endParaRPr lang="es-PE" sz="1600" b="1" dirty="0">
              <a:solidFill>
                <a:schemeClr val="tx1"/>
              </a:solidFill>
            </a:endParaRPr>
          </a:p>
        </p:txBody>
      </p:sp>
      <p:sp>
        <p:nvSpPr>
          <p:cNvPr id="21" name="Rectángulo 20">
            <a:extLst>
              <a:ext uri="{FF2B5EF4-FFF2-40B4-BE49-F238E27FC236}">
                <a16:creationId xmlns:a16="http://schemas.microsoft.com/office/drawing/2014/main" xmlns="" id="{6B0406B6-735E-446A-993D-567F64EC9E37}"/>
              </a:ext>
            </a:extLst>
          </p:cNvPr>
          <p:cNvSpPr/>
          <p:nvPr/>
        </p:nvSpPr>
        <p:spPr>
          <a:xfrm>
            <a:off x="3965337" y="3019702"/>
            <a:ext cx="1982738" cy="656056"/>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a:cs typeface="Arial" panose="020B0604020202020204" pitchFamily="34" charset="0"/>
              </a:rPr>
              <a:t>TEMPERATURA</a:t>
            </a:r>
          </a:p>
        </p:txBody>
      </p:sp>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xmlns="" id="{491CDA35-9E9C-46DA-B439-A69909018FD2}"/>
                  </a:ext>
                </a:extLst>
              </p:cNvPr>
              <p:cNvSpPr/>
              <p:nvPr/>
            </p:nvSpPr>
            <p:spPr>
              <a:xfrm>
                <a:off x="7834034" y="4391151"/>
                <a:ext cx="1865527" cy="63348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endParaRPr lang="es-MX" sz="1600" b="0" i="1" dirty="0" smtClean="0">
                  <a:latin typeface="Cambria Math" panose="02040503050406030204" pitchFamily="18" charset="0"/>
                  <a:ea typeface="Cambria Math" panose="02040503050406030204" pitchFamily="18" charset="0"/>
                </a:endParaRPr>
              </a:p>
              <a:p>
                <a:endParaRPr lang="es-MX" sz="16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𝑈</m:t>
                      </m:r>
                      <m:r>
                        <a:rPr lang="es-PE" sz="1600" i="1">
                          <a:latin typeface="Cambria Math" panose="02040503050406030204" pitchFamily="18" charset="0"/>
                          <a:ea typeface="Cambria Math" panose="02040503050406030204" pitchFamily="18" charset="0"/>
                        </a:rPr>
                        <m:t>=</m:t>
                      </m:r>
                      <m:sSub>
                        <m:sSubPr>
                          <m:ctrlPr>
                            <a:rPr lang="es-PE" sz="1600" i="1" smtClean="0">
                              <a:latin typeface="Cambria Math" panose="02040503050406030204" pitchFamily="18" charset="0"/>
                              <a:ea typeface="Cambria Math" panose="02040503050406030204" pitchFamily="18" charset="0"/>
                            </a:rPr>
                          </m:ctrlPr>
                        </m:sSubPr>
                        <m:e>
                          <m:r>
                            <a:rPr lang="es-PE" sz="1600" b="0" i="1" smtClean="0">
                              <a:latin typeface="Cambria Math" panose="02040503050406030204" pitchFamily="18" charset="0"/>
                              <a:ea typeface="Cambria Math" panose="02040503050406030204" pitchFamily="18" charset="0"/>
                            </a:rPr>
                            <m:t>𝑛𝐶</m:t>
                          </m:r>
                        </m:e>
                        <m:sub>
                          <m:r>
                            <a:rPr lang="es-PE" sz="1600" b="0" i="1" smtClean="0">
                              <a:latin typeface="Cambria Math" panose="02040503050406030204" pitchFamily="18" charset="0"/>
                              <a:ea typeface="Cambria Math" panose="02040503050406030204" pitchFamily="18" charset="0"/>
                            </a:rPr>
                            <m:t>𝑣</m:t>
                          </m:r>
                        </m:sub>
                      </m:sSub>
                      <m:r>
                        <a:rPr lang="es-PE" sz="160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𝑇</m:t>
                      </m:r>
                    </m:oMath>
                  </m:oMathPara>
                </a14:m>
                <a:endParaRPr lang="es-PE" sz="1600" dirty="0"/>
              </a:p>
              <a:p>
                <a:endParaRPr lang="es-PE" sz="1600" dirty="0"/>
              </a:p>
              <a:p>
                <a:endParaRPr lang="es-PE" sz="1600" dirty="0"/>
              </a:p>
            </p:txBody>
          </p:sp>
        </mc:Choice>
        <mc:Fallback xmlns="">
          <p:sp>
            <p:nvSpPr>
              <p:cNvPr id="22" name="Rectángulo 21">
                <a:extLst>
                  <a:ext uri="{FF2B5EF4-FFF2-40B4-BE49-F238E27FC236}">
                    <a16:creationId xmlns:a16="http://schemas.microsoft.com/office/drawing/2014/main" xmlns=""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7834034" y="4391151"/>
                <a:ext cx="1865527" cy="633481"/>
              </a:xfrm>
              <a:prstGeom prst="rect">
                <a:avLst/>
              </a:prstGeom>
              <a:blipFill rotWithShape="0">
                <a:blip r:embed="rId2"/>
                <a:stretch>
                  <a:fillRect/>
                </a:stretch>
              </a:blipFill>
              <a:ln>
                <a:solidFill>
                  <a:schemeClr val="tx1"/>
                </a:solidFill>
              </a:ln>
            </p:spPr>
            <p:txBody>
              <a:bodyPr/>
              <a:lstStyle/>
              <a:p>
                <a:r>
                  <a:rPr lang="es-PE">
                    <a:noFill/>
                  </a:rPr>
                  <a:t> </a:t>
                </a:r>
              </a:p>
            </p:txBody>
          </p:sp>
        </mc:Fallback>
      </mc:AlternateContent>
      <p:cxnSp>
        <p:nvCxnSpPr>
          <p:cNvPr id="23" name="Conector recto 22">
            <a:extLst>
              <a:ext uri="{FF2B5EF4-FFF2-40B4-BE49-F238E27FC236}">
                <a16:creationId xmlns:a16="http://schemas.microsoft.com/office/drawing/2014/main" xmlns="" id="{C2DA4E98-4D40-4E2B-AC84-9B82C98610BC}"/>
              </a:ext>
            </a:extLst>
          </p:cNvPr>
          <p:cNvCxnSpPr>
            <a:cxnSpLocks/>
          </p:cNvCxnSpPr>
          <p:nvPr/>
        </p:nvCxnSpPr>
        <p:spPr>
          <a:xfrm>
            <a:off x="1127251" y="3767360"/>
            <a:ext cx="0" cy="288032"/>
          </a:xfrm>
          <a:prstGeom prst="line">
            <a:avLst/>
          </a:prstGeom>
          <a:ln>
            <a:solidFill>
              <a:schemeClr val="tx1"/>
            </a:solidFill>
          </a:ln>
        </p:spPr>
        <p:style>
          <a:lnRef idx="1">
            <a:schemeClr val="accent6"/>
          </a:lnRef>
          <a:fillRef idx="2">
            <a:schemeClr val="accent6"/>
          </a:fillRef>
          <a:effectRef idx="1">
            <a:schemeClr val="accent6"/>
          </a:effectRef>
          <a:fontRef idx="minor">
            <a:schemeClr val="dk1"/>
          </a:fontRef>
        </p:style>
      </p:cxnSp>
      <p:sp>
        <p:nvSpPr>
          <p:cNvPr id="24" name="Rectángulo 23">
            <a:extLst>
              <a:ext uri="{FF2B5EF4-FFF2-40B4-BE49-F238E27FC236}">
                <a16:creationId xmlns:a16="http://schemas.microsoft.com/office/drawing/2014/main" xmlns="" id="{6B0406B6-735E-446A-993D-567F64EC9E37}"/>
              </a:ext>
            </a:extLst>
          </p:cNvPr>
          <p:cNvSpPr/>
          <p:nvPr/>
        </p:nvSpPr>
        <p:spPr>
          <a:xfrm>
            <a:off x="6084836" y="3044331"/>
            <a:ext cx="1522476" cy="598913"/>
          </a:xfrm>
          <a:prstGeom prst="rect">
            <a:avLst/>
          </a:prstGeom>
          <a:solidFill>
            <a:srgbClr val="F9B367"/>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ctr"/>
            <a:r>
              <a:rPr lang="es-PE" sz="1600" b="1" dirty="0" smtClean="0">
                <a:cs typeface="Arial" panose="020B0604020202020204" pitchFamily="34" charset="0"/>
              </a:rPr>
              <a:t>CALOR ESPECIFICO </a:t>
            </a:r>
            <a:endParaRPr lang="es-PE" sz="1600" b="1" dirty="0">
              <a:cs typeface="Arial" panose="020B0604020202020204" pitchFamily="34" charset="0"/>
            </a:endParaRPr>
          </a:p>
        </p:txBody>
      </p:sp>
      <p:cxnSp>
        <p:nvCxnSpPr>
          <p:cNvPr id="26" name="Conector recto 25"/>
          <p:cNvCxnSpPr/>
          <p:nvPr/>
        </p:nvCxnSpPr>
        <p:spPr>
          <a:xfrm>
            <a:off x="1201213" y="2800075"/>
            <a:ext cx="0" cy="23634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Conector recto 27"/>
          <p:cNvCxnSpPr/>
          <p:nvPr/>
        </p:nvCxnSpPr>
        <p:spPr>
          <a:xfrm>
            <a:off x="6846074" y="2811092"/>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cto 28"/>
          <p:cNvCxnSpPr/>
          <p:nvPr/>
        </p:nvCxnSpPr>
        <p:spPr>
          <a:xfrm>
            <a:off x="3014684" y="2793078"/>
            <a:ext cx="0" cy="2433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ángulo 32">
                <a:extLst>
                  <a:ext uri="{FF2B5EF4-FFF2-40B4-BE49-F238E27FC236}">
                    <a16:creationId xmlns:a16="http://schemas.microsoft.com/office/drawing/2014/main" xmlns="" id="{491CDA35-9E9C-46DA-B439-A69909018FD2}"/>
                  </a:ext>
                </a:extLst>
              </p:cNvPr>
              <p:cNvSpPr/>
              <p:nvPr/>
            </p:nvSpPr>
            <p:spPr>
              <a:xfrm>
                <a:off x="4125158" y="3837665"/>
                <a:ext cx="1827964" cy="791311"/>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14:m>
                  <m:oMathPara xmlns:m="http://schemas.openxmlformats.org/officeDocument/2006/math">
                    <m:oMathParaPr>
                      <m:jc m:val="centerGroup"/>
                    </m:oMathParaPr>
                    <m:oMath xmlns:m="http://schemas.openxmlformats.org/officeDocument/2006/math">
                      <m:sSub>
                        <m:sSubPr>
                          <m:ctrlPr>
                            <a:rPr lang="es-PE" sz="1600" i="1" smtClean="0">
                              <a:latin typeface="Cambria Math" panose="02040503050406030204" pitchFamily="18" charset="0"/>
                            </a:rPr>
                          </m:ctrlPr>
                        </m:sSubPr>
                        <m:e>
                          <m:f>
                            <m:fPr>
                              <m:ctrlPr>
                                <a:rPr lang="es-PE" sz="1600" i="1" smtClean="0">
                                  <a:latin typeface="Cambria Math" panose="02040503050406030204" pitchFamily="18" charset="0"/>
                                </a:rPr>
                              </m:ctrlPr>
                            </m:fPr>
                            <m:num>
                              <m:r>
                                <a:rPr lang="es-PE" sz="1600" b="0" i="1" smtClean="0">
                                  <a:latin typeface="Cambria Math" panose="02040503050406030204" pitchFamily="18" charset="0"/>
                                </a:rPr>
                                <m:t>2</m:t>
                              </m:r>
                            </m:num>
                            <m:den>
                              <m:r>
                                <a:rPr lang="es-PE" sz="1600" b="0" i="1" smtClean="0">
                                  <a:latin typeface="Cambria Math" panose="02040503050406030204" pitchFamily="18" charset="0"/>
                                </a:rPr>
                                <m:t>3</m:t>
                              </m:r>
                              <m:r>
                                <a:rPr lang="es-PE" sz="1600" b="0" i="1" smtClean="0">
                                  <a:latin typeface="Cambria Math" panose="02040503050406030204" pitchFamily="18" charset="0"/>
                                </a:rPr>
                                <m:t>𝑛𝑅</m:t>
                              </m:r>
                            </m:den>
                          </m:f>
                          <m:r>
                            <a:rPr lang="es-PE" sz="1600" i="1">
                              <a:latin typeface="Cambria Math" panose="02040503050406030204" pitchFamily="18" charset="0"/>
                            </a:rPr>
                            <m:t>𝐾</m:t>
                          </m:r>
                        </m:e>
                        <m:sub>
                          <m:r>
                            <a:rPr lang="es-PE" sz="1600" i="1">
                              <a:latin typeface="Cambria Math" panose="02040503050406030204" pitchFamily="18" charset="0"/>
                            </a:rPr>
                            <m:t>𝑡𝑟</m:t>
                          </m:r>
                        </m:sub>
                      </m:sSub>
                      <m:r>
                        <a:rPr lang="es-PE" sz="1600" i="1">
                          <a:latin typeface="Cambria Math" panose="02040503050406030204" pitchFamily="18" charset="0"/>
                        </a:rPr>
                        <m:t>=</m:t>
                      </m:r>
                      <m:r>
                        <a:rPr lang="es-PE" sz="1600" i="1">
                          <a:latin typeface="Cambria Math" panose="02040503050406030204" pitchFamily="18" charset="0"/>
                        </a:rPr>
                        <m:t>𝑇</m:t>
                      </m:r>
                      <m:r>
                        <a:rPr lang="es-PE" sz="1600" i="1">
                          <a:latin typeface="Cambria Math" panose="02040503050406030204" pitchFamily="18" charset="0"/>
                        </a:rPr>
                        <m:t> </m:t>
                      </m:r>
                    </m:oMath>
                  </m:oMathPara>
                </a14:m>
                <a:endParaRPr lang="es-PE" sz="1600" dirty="0">
                  <a:solidFill>
                    <a:schemeClr val="tx1"/>
                  </a:solidFill>
                  <a:latin typeface="Arial" panose="020B0604020202020204" pitchFamily="34" charset="0"/>
                  <a:cs typeface="Arial" panose="020B0604020202020204" pitchFamily="34" charset="0"/>
                </a:endParaRPr>
              </a:p>
            </p:txBody>
          </p:sp>
        </mc:Choice>
        <mc:Fallback xmlns="">
          <p:sp>
            <p:nvSpPr>
              <p:cNvPr id="33" name="Rectángulo 32">
                <a:extLst>
                  <a:ext uri="{FF2B5EF4-FFF2-40B4-BE49-F238E27FC236}">
                    <a16:creationId xmlns="" xmlns:a16="http://schemas.microsoft.com/office/drawing/2014/main" xmlns:a14="http://schemas.microsoft.com/office/drawing/2010/main" id="{491CDA35-9E9C-46DA-B439-A69909018FD2}"/>
                  </a:ext>
                </a:extLst>
              </p:cNvPr>
              <p:cNvSpPr>
                <a:spLocks noRot="1" noChangeAspect="1" noMove="1" noResize="1" noEditPoints="1" noAdjustHandles="1" noChangeArrowheads="1" noChangeShapeType="1" noTextEdit="1"/>
              </p:cNvSpPr>
              <p:nvPr/>
            </p:nvSpPr>
            <p:spPr>
              <a:xfrm>
                <a:off x="4125158" y="3837665"/>
                <a:ext cx="1827964" cy="791311"/>
              </a:xfrm>
              <a:prstGeom prst="rect">
                <a:avLst/>
              </a:prstGeom>
              <a:blipFill rotWithShape="0">
                <a:blip r:embed="rId3"/>
                <a:stretch>
                  <a:fillRect/>
                </a:stretch>
              </a:blipFill>
              <a:ln>
                <a:solidFill>
                  <a:schemeClr val="tx1"/>
                </a:solidFill>
              </a:ln>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9" name="Rectángulo 18">
                <a:extLst>
                  <a:ext uri="{FF2B5EF4-FFF2-40B4-BE49-F238E27FC236}">
                    <a16:creationId xmlns:a16="http://schemas.microsoft.com/office/drawing/2014/main" xmlns="" id="{44822C0F-02DC-406F-8E12-F1FFDD5CFB2F}"/>
                  </a:ext>
                </a:extLst>
              </p:cNvPr>
              <p:cNvSpPr/>
              <p:nvPr/>
            </p:nvSpPr>
            <p:spPr>
              <a:xfrm>
                <a:off x="6157219" y="4072114"/>
                <a:ext cx="1532770" cy="1531536"/>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s-PE" sz="1600" i="1" dirty="0" smtClean="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PE" sz="1400" i="1" smtClean="0">
                              <a:latin typeface="Cambria Math" panose="02040503050406030204" pitchFamily="18" charset="0"/>
                            </a:rPr>
                          </m:ctrlPr>
                        </m:sSubPr>
                        <m:e>
                          <m:r>
                            <a:rPr lang="es-PE" sz="1400" i="1">
                              <a:latin typeface="Cambria Math" panose="02040503050406030204" pitchFamily="18" charset="0"/>
                            </a:rPr>
                            <m:t>𝐶</m:t>
                          </m:r>
                        </m:e>
                        <m:sub>
                          <m:r>
                            <a:rPr lang="es-PE" sz="1400" i="1">
                              <a:latin typeface="Cambria Math" panose="02040503050406030204" pitchFamily="18" charset="0"/>
                            </a:rPr>
                            <m:t>𝑉</m:t>
                          </m:r>
                        </m:sub>
                      </m:sSub>
                      <m:r>
                        <a:rPr lang="es-PE" sz="1400" i="1">
                          <a:latin typeface="Cambria Math" panose="02040503050406030204" pitchFamily="18" charset="0"/>
                        </a:rPr>
                        <m:t>=</m:t>
                      </m:r>
                      <m:f>
                        <m:fPr>
                          <m:ctrlPr>
                            <a:rPr lang="es-PE" sz="1400" i="1">
                              <a:latin typeface="Cambria Math" panose="02040503050406030204" pitchFamily="18" charset="0"/>
                            </a:rPr>
                          </m:ctrlPr>
                        </m:fPr>
                        <m:num>
                          <m:r>
                            <a:rPr lang="es-PE" sz="1400" i="1">
                              <a:latin typeface="Cambria Math" panose="02040503050406030204" pitchFamily="18" charset="0"/>
                            </a:rPr>
                            <m:t>3</m:t>
                          </m:r>
                        </m:num>
                        <m:den>
                          <m:r>
                            <a:rPr lang="es-PE" sz="1400" i="1">
                              <a:latin typeface="Cambria Math" panose="02040503050406030204" pitchFamily="18" charset="0"/>
                            </a:rPr>
                            <m:t>2</m:t>
                          </m:r>
                        </m:den>
                      </m:f>
                      <m:r>
                        <a:rPr lang="es-PE" sz="1400" i="1">
                          <a:latin typeface="Cambria Math" panose="02040503050406030204" pitchFamily="18" charset="0"/>
                        </a:rPr>
                        <m:t>𝑅</m:t>
                      </m:r>
                      <m:r>
                        <a:rPr lang="es-PE" sz="1400" b="0" i="1" smtClean="0">
                          <a:latin typeface="Cambria Math" panose="02040503050406030204" pitchFamily="18" charset="0"/>
                        </a:rPr>
                        <m:t>   </m:t>
                      </m:r>
                    </m:oMath>
                  </m:oMathPara>
                </a14:m>
                <a:endParaRPr lang="es-ES" sz="1400" b="0" i="1" dirty="0" smtClean="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s-PE" sz="1400" b="0" i="1" smtClean="0">
                          <a:latin typeface="Cambria Math" panose="02040503050406030204" pitchFamily="18" charset="0"/>
                        </a:rPr>
                        <m:t>𝐺𝑎𝑠</m:t>
                      </m:r>
                      <m:r>
                        <a:rPr lang="es-PE" sz="1400" b="0" i="1" smtClean="0">
                          <a:latin typeface="Cambria Math" panose="02040503050406030204" pitchFamily="18" charset="0"/>
                        </a:rPr>
                        <m:t> </m:t>
                      </m:r>
                      <m:r>
                        <a:rPr lang="es-PE" sz="1400" b="0" i="1" smtClean="0">
                          <a:latin typeface="Cambria Math" panose="02040503050406030204" pitchFamily="18" charset="0"/>
                        </a:rPr>
                        <m:t>𝑚𝑜𝑛𝑜𝑎𝑡</m:t>
                      </m:r>
                      <m:r>
                        <a:rPr lang="es-PE" sz="1400" b="0" i="1" smtClean="0">
                          <a:latin typeface="Cambria Math" panose="02040503050406030204" pitchFamily="18" charset="0"/>
                        </a:rPr>
                        <m:t>ó</m:t>
                      </m:r>
                      <m:r>
                        <a:rPr lang="es-PE" sz="1400" b="0" i="1" smtClean="0">
                          <a:latin typeface="Cambria Math" panose="02040503050406030204" pitchFamily="18" charset="0"/>
                        </a:rPr>
                        <m:t>𝑚𝑖𝑐𝑜</m:t>
                      </m:r>
                    </m:oMath>
                  </m:oMathPara>
                </a14:m>
                <a:endParaRPr lang="es-PE" sz="1400" dirty="0" smtClean="0"/>
              </a:p>
              <a:p>
                <a:pPr algn="ctr"/>
                <a14:m>
                  <m:oMathPara xmlns:m="http://schemas.openxmlformats.org/officeDocument/2006/math">
                    <m:oMathParaPr>
                      <m:jc m:val="centerGroup"/>
                    </m:oMathParaPr>
                    <m:oMath xmlns:m="http://schemas.openxmlformats.org/officeDocument/2006/math">
                      <m:sSub>
                        <m:sSubPr>
                          <m:ctrlPr>
                            <a:rPr lang="es-PE" sz="1400" i="1">
                              <a:latin typeface="Cambria Math" panose="02040503050406030204" pitchFamily="18" charset="0"/>
                            </a:rPr>
                          </m:ctrlPr>
                        </m:sSubPr>
                        <m:e>
                          <m:r>
                            <a:rPr lang="es-PE" sz="1400" i="1">
                              <a:latin typeface="Cambria Math" panose="02040503050406030204" pitchFamily="18" charset="0"/>
                            </a:rPr>
                            <m:t>𝐶</m:t>
                          </m:r>
                        </m:e>
                        <m:sub>
                          <m:r>
                            <a:rPr lang="es-PE" sz="1400" i="1">
                              <a:latin typeface="Cambria Math" panose="02040503050406030204" pitchFamily="18" charset="0"/>
                            </a:rPr>
                            <m:t>𝑉</m:t>
                          </m:r>
                        </m:sub>
                      </m:sSub>
                      <m:r>
                        <a:rPr lang="es-PE" sz="1400" i="1">
                          <a:latin typeface="Cambria Math" panose="02040503050406030204" pitchFamily="18" charset="0"/>
                        </a:rPr>
                        <m:t>=</m:t>
                      </m:r>
                      <m:f>
                        <m:fPr>
                          <m:ctrlPr>
                            <a:rPr lang="es-PE" sz="1400" i="1">
                              <a:latin typeface="Cambria Math" panose="02040503050406030204" pitchFamily="18" charset="0"/>
                            </a:rPr>
                          </m:ctrlPr>
                        </m:fPr>
                        <m:num>
                          <m:r>
                            <a:rPr lang="es-PE" sz="1400" i="1">
                              <a:latin typeface="Cambria Math" panose="02040503050406030204" pitchFamily="18" charset="0"/>
                            </a:rPr>
                            <m:t>5</m:t>
                          </m:r>
                        </m:num>
                        <m:den>
                          <m:r>
                            <a:rPr lang="es-PE" sz="1400" i="1">
                              <a:latin typeface="Cambria Math" panose="02040503050406030204" pitchFamily="18" charset="0"/>
                            </a:rPr>
                            <m:t>2</m:t>
                          </m:r>
                        </m:den>
                      </m:f>
                      <m:r>
                        <a:rPr lang="es-PE" sz="1400" i="1">
                          <a:latin typeface="Cambria Math" panose="02040503050406030204" pitchFamily="18" charset="0"/>
                        </a:rPr>
                        <m:t>𝑅</m:t>
                      </m:r>
                      <m:r>
                        <a:rPr lang="es-PE" sz="1400" b="0" i="1" smtClean="0">
                          <a:latin typeface="Cambria Math" panose="02040503050406030204" pitchFamily="18" charset="0"/>
                        </a:rPr>
                        <m:t>    </m:t>
                      </m:r>
                    </m:oMath>
                  </m:oMathPara>
                </a14:m>
                <a:endParaRPr lang="es-ES" sz="1400" b="0" i="1" dirty="0" smtClean="0">
                  <a:latin typeface="Cambria Math" panose="02040503050406030204" pitchFamily="18" charset="0"/>
                </a:endParaRPr>
              </a:p>
              <a:p>
                <a:pPr algn="ctr"/>
                <a14:m>
                  <m:oMath xmlns:m="http://schemas.openxmlformats.org/officeDocument/2006/math">
                    <m:r>
                      <a:rPr lang="es-PE" sz="1400" b="0" i="1" smtClean="0">
                        <a:latin typeface="Cambria Math" panose="02040503050406030204" pitchFamily="18" charset="0"/>
                      </a:rPr>
                      <m:t>𝐺𝑎𝑠</m:t>
                    </m:r>
                    <m:r>
                      <a:rPr lang="es-PE" sz="1400" b="0" i="1" smtClean="0">
                        <a:latin typeface="Cambria Math" panose="02040503050406030204" pitchFamily="18" charset="0"/>
                      </a:rPr>
                      <m:t> </m:t>
                    </m:r>
                    <m:r>
                      <a:rPr lang="es-PE" sz="1400" b="0" i="1" smtClean="0">
                        <a:latin typeface="Cambria Math" panose="02040503050406030204" pitchFamily="18" charset="0"/>
                      </a:rPr>
                      <m:t>𝑑𝑖𝑎𝑡</m:t>
                    </m:r>
                    <m:r>
                      <a:rPr lang="es-PE" sz="1400" b="0" i="1" smtClean="0">
                        <a:latin typeface="Cambria Math" panose="02040503050406030204" pitchFamily="18" charset="0"/>
                      </a:rPr>
                      <m:t>ó</m:t>
                    </m:r>
                    <m:r>
                      <a:rPr lang="es-PE" sz="1400" b="0" i="1" smtClean="0">
                        <a:latin typeface="Cambria Math" panose="02040503050406030204" pitchFamily="18" charset="0"/>
                      </a:rPr>
                      <m:t>𝑚𝑖𝑐𝑜</m:t>
                    </m:r>
                  </m:oMath>
                </a14:m>
                <a:r>
                  <a:rPr lang="es-PE" sz="1400" dirty="0"/>
                  <a:t> </a:t>
                </a:r>
              </a:p>
              <a:p>
                <a:pPr algn="just"/>
                <a:endParaRPr lang="es-PE" sz="1600" b="1" dirty="0">
                  <a:solidFill>
                    <a:schemeClr val="tx1"/>
                  </a:solidFill>
                  <a:latin typeface="Arial" panose="020B0604020202020204" pitchFamily="34" charset="0"/>
                  <a:cs typeface="Arial" panose="020B0604020202020204" pitchFamily="34" charset="0"/>
                </a:endParaRPr>
              </a:p>
            </p:txBody>
          </p:sp>
        </mc:Choice>
        <mc:Fallback xmlns="">
          <p:sp>
            <p:nvSpPr>
              <p:cNvPr id="19" name="Rectángulo 18">
                <a:extLst>
                  <a:ext uri="{FF2B5EF4-FFF2-40B4-BE49-F238E27FC236}">
                    <a16:creationId xmlns="" xmlns:a16="http://schemas.microsoft.com/office/drawing/2014/main" xmlns:a14="http://schemas.microsoft.com/office/drawing/2010/main" id="{44822C0F-02DC-406F-8E12-F1FFDD5CFB2F}"/>
                  </a:ext>
                </a:extLst>
              </p:cNvPr>
              <p:cNvSpPr>
                <a:spLocks noRot="1" noChangeAspect="1" noMove="1" noResize="1" noEditPoints="1" noAdjustHandles="1" noChangeArrowheads="1" noChangeShapeType="1" noTextEdit="1"/>
              </p:cNvSpPr>
              <p:nvPr/>
            </p:nvSpPr>
            <p:spPr>
              <a:xfrm>
                <a:off x="6157219" y="4072114"/>
                <a:ext cx="1532770" cy="1531536"/>
              </a:xfrm>
              <a:prstGeom prst="rect">
                <a:avLst/>
              </a:prstGeom>
              <a:blipFill rotWithShape="0">
                <a:blip r:embed="rId4"/>
                <a:stretch>
                  <a:fillRect/>
                </a:stretch>
              </a:blipFill>
              <a:ln>
                <a:solidFill>
                  <a:schemeClr val="tx1"/>
                </a:solidFill>
              </a:ln>
            </p:spPr>
            <p:txBody>
              <a:bodyPr/>
              <a:lstStyle/>
              <a:p>
                <a:r>
                  <a:rPr lang="es-PE">
                    <a:noFill/>
                  </a:rPr>
                  <a:t> </a:t>
                </a:r>
              </a:p>
            </p:txBody>
          </p:sp>
        </mc:Fallback>
      </mc:AlternateContent>
      <p:sp>
        <p:nvSpPr>
          <p:cNvPr id="17" name="Rectángulo 16">
            <a:extLst>
              <a:ext uri="{FF2B5EF4-FFF2-40B4-BE49-F238E27FC236}">
                <a16:creationId xmlns:a16="http://schemas.microsoft.com/office/drawing/2014/main" xmlns="" id="{8EF499C7-AECE-44DE-89A6-BD7D3BC55E42}"/>
              </a:ext>
            </a:extLst>
          </p:cNvPr>
          <p:cNvSpPr/>
          <p:nvPr/>
        </p:nvSpPr>
        <p:spPr>
          <a:xfrm>
            <a:off x="128464" y="3860053"/>
            <a:ext cx="2038553" cy="2881315"/>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lnSpc>
                <a:spcPct val="150000"/>
              </a:lnSpc>
            </a:pPr>
            <a:r>
              <a:rPr lang="es-PE" sz="1400" dirty="0" smtClean="0"/>
              <a:t>Es una </a:t>
            </a:r>
            <a:r>
              <a:rPr lang="es-PE" sz="1400" dirty="0"/>
              <a:t>construcción </a:t>
            </a:r>
            <a:r>
              <a:rPr lang="es-PE" sz="1400" dirty="0" smtClean="0"/>
              <a:t>idealizada del comportamiento de las moléculas de un gas, que con </a:t>
            </a:r>
            <a:r>
              <a:rPr lang="es-PE" sz="1400" dirty="0"/>
              <a:t>la adición de </a:t>
            </a:r>
            <a:r>
              <a:rPr lang="es-PE" sz="1400" dirty="0" smtClean="0"/>
              <a:t>ciertos principios físicos, </a:t>
            </a:r>
            <a:r>
              <a:rPr lang="es-PE" sz="1400" dirty="0"/>
              <a:t>describe los fenómenos </a:t>
            </a:r>
            <a:r>
              <a:rPr lang="es-PE" sz="1400" dirty="0" smtClean="0"/>
              <a:t>observados</a:t>
            </a:r>
            <a:r>
              <a:rPr lang="es-PE" sz="1400" dirty="0"/>
              <a:t>.</a:t>
            </a:r>
            <a:endParaRPr lang="es-PE" sz="1400" dirty="0">
              <a:solidFill>
                <a:schemeClr val="tx1"/>
              </a:solidFill>
              <a:latin typeface="Arial" panose="020B0604020202020204" pitchFamily="34" charset="0"/>
              <a:cs typeface="Arial" panose="020B0604020202020204" pitchFamily="34" charset="0"/>
            </a:endParaRPr>
          </a:p>
        </p:txBody>
      </p:sp>
      <p:sp>
        <p:nvSpPr>
          <p:cNvPr id="31" name="Rectángulo 30">
            <a:extLst>
              <a:ext uri="{FF2B5EF4-FFF2-40B4-BE49-F238E27FC236}">
                <a16:creationId xmlns:a16="http://schemas.microsoft.com/office/drawing/2014/main" xmlns="" id="{8EF499C7-AECE-44DE-89A6-BD7D3BC55E42}"/>
              </a:ext>
            </a:extLst>
          </p:cNvPr>
          <p:cNvSpPr/>
          <p:nvPr/>
        </p:nvSpPr>
        <p:spPr>
          <a:xfrm>
            <a:off x="4103138" y="4725704"/>
            <a:ext cx="1872003" cy="1727632"/>
          </a:xfrm>
          <a:prstGeom prst="rect">
            <a:avLst/>
          </a:prstGeom>
          <a:solidFill>
            <a:srgbClr val="EAF991"/>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lvl="0" algn="just"/>
            <a:r>
              <a:rPr lang="es-PE" sz="1200" dirty="0">
                <a:latin typeface="Arial" panose="020B0604020202020204" pitchFamily="34" charset="0"/>
                <a:cs typeface="Arial" panose="020B0604020202020204" pitchFamily="34" charset="0"/>
              </a:rPr>
              <a:t>Medida de la agitación térmica que posee un sistema que se cuantifica a través de la energía cinética media de las partículas que componen el sistema.</a:t>
            </a:r>
            <a:endParaRPr lang="es-PE"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799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18" grpId="0" animBg="1"/>
      <p:bldP spid="20" grpId="0" animBg="1"/>
      <p:bldP spid="21" grpId="0" animBg="1"/>
      <p:bldP spid="22" grpId="0" animBg="1"/>
      <p:bldP spid="24" grpId="0" animBg="1"/>
      <p:bldP spid="33" grpId="0" animBg="1"/>
      <p:bldP spid="19" grpId="0" animBg="1"/>
      <p:bldP spid="17"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727563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MODELO MOLECULAR  DE UN GAS IDEAL</a:t>
            </a:r>
            <a:endParaRPr lang="es-PE" sz="2400" dirty="0">
              <a:solidFill>
                <a:schemeClr val="tx1"/>
              </a:solidFill>
            </a:endParaRPr>
          </a:p>
        </p:txBody>
      </p:sp>
      <p:sp>
        <p:nvSpPr>
          <p:cNvPr id="4" name="Rectángulo 3"/>
          <p:cNvSpPr/>
          <p:nvPr/>
        </p:nvSpPr>
        <p:spPr>
          <a:xfrm>
            <a:off x="322623" y="1844824"/>
            <a:ext cx="4953000" cy="4247317"/>
          </a:xfrm>
          <a:prstGeom prst="rect">
            <a:avLst/>
          </a:prstGeom>
        </p:spPr>
        <p:txBody>
          <a:bodyPr>
            <a:spAutoFit/>
          </a:bodyPr>
          <a:lstStyle/>
          <a:p>
            <a:pPr algn="just"/>
            <a:r>
              <a:rPr lang="es-PE" dirty="0"/>
              <a:t>Toda la materia conocida se compone de moléculas. Todas las moléculas de un compuesto químico específico son idénticas. Las moléculas más pequeñas contienen un solo átomo y su tamaño es del orden de </a:t>
            </a:r>
            <a:r>
              <a:rPr lang="es-PE" dirty="0" smtClean="0"/>
              <a:t>10</a:t>
            </a:r>
            <a:r>
              <a:rPr lang="es-PE" baseline="30000" dirty="0" smtClean="0"/>
              <a:t>-10</a:t>
            </a:r>
            <a:r>
              <a:rPr lang="es-PE" dirty="0"/>
              <a:t> </a:t>
            </a:r>
            <a:r>
              <a:rPr lang="es-PE" dirty="0" smtClean="0"/>
              <a:t>m</a:t>
            </a:r>
            <a:r>
              <a:rPr lang="es-PE" dirty="0"/>
              <a:t>; las más grandes contienen muchos átomos y son al menos 10,000 veces más grandes. En los gases, las moléculas se mueven de forma casi independiente; en líquidos y sólidos se mantienen unidas por fuerzas intermoleculares de naturaleza eléctrica que surgen de las interacciones de las partículas con carga eléctrica que constituyen las moléculas. Las fuerzas gravitacionales entre las moléculas son insignificantes en comparación con las fuerzas eléctricas.</a:t>
            </a:r>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3689" y="1681557"/>
            <a:ext cx="2229751" cy="4573849"/>
          </a:xfrm>
          <a:prstGeom prst="rect">
            <a:avLst/>
          </a:prstGeom>
        </p:spPr>
      </p:pic>
    </p:spTree>
    <p:extLst>
      <p:ext uri="{BB962C8B-B14F-4D97-AF65-F5344CB8AC3E}">
        <p14:creationId xmlns:p14="http://schemas.microsoft.com/office/powerpoint/2010/main" val="31336455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727563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MODELO MOLECULAR  DE UN GAS IDEAL</a:t>
            </a:r>
            <a:endParaRPr lang="es-PE" sz="2400" dirty="0">
              <a:solidFill>
                <a:schemeClr val="tx1"/>
              </a:solidFill>
            </a:endParaRPr>
          </a:p>
        </p:txBody>
      </p:sp>
      <p:sp>
        <p:nvSpPr>
          <p:cNvPr id="5" name="Rectángulo 4"/>
          <p:cNvSpPr/>
          <p:nvPr/>
        </p:nvSpPr>
        <p:spPr>
          <a:xfrm>
            <a:off x="499380" y="1751706"/>
            <a:ext cx="3046283" cy="369332"/>
          </a:xfrm>
          <a:prstGeom prst="rect">
            <a:avLst/>
          </a:prstGeom>
        </p:spPr>
        <p:txBody>
          <a:bodyPr wrap="none">
            <a:spAutoFit/>
          </a:bodyPr>
          <a:lstStyle/>
          <a:p>
            <a:r>
              <a:rPr lang="es-PE" b="1" dirty="0"/>
              <a:t>Moles y número de Avogadro </a:t>
            </a:r>
          </a:p>
        </p:txBody>
      </p:sp>
      <p:sp>
        <p:nvSpPr>
          <p:cNvPr id="6" name="Rectángulo 5"/>
          <p:cNvSpPr/>
          <p:nvPr/>
        </p:nvSpPr>
        <p:spPr>
          <a:xfrm>
            <a:off x="499380" y="2107510"/>
            <a:ext cx="4525628" cy="2862322"/>
          </a:xfrm>
          <a:prstGeom prst="rect">
            <a:avLst/>
          </a:prstGeom>
        </p:spPr>
        <p:txBody>
          <a:bodyPr wrap="square">
            <a:spAutoFit/>
          </a:bodyPr>
          <a:lstStyle/>
          <a:p>
            <a:pPr algn="just"/>
            <a:r>
              <a:rPr lang="es-PE" dirty="0"/>
              <a:t>Un mol de cualquier elemento o compuesto químico puro contiene un número definido de moléculas, igual para todos los elementos y compuestos</a:t>
            </a:r>
            <a:r>
              <a:rPr lang="es-PE" dirty="0" smtClean="0"/>
              <a:t>.</a:t>
            </a:r>
          </a:p>
          <a:p>
            <a:pPr algn="just"/>
            <a:r>
              <a:rPr lang="es-PE" dirty="0" smtClean="0"/>
              <a:t> </a:t>
            </a:r>
            <a:r>
              <a:rPr lang="es-PE" dirty="0"/>
              <a:t>La definición oficial del SI es que Un mol es la cantidad de sustancia que contiene tantas entidades elementales como átomos hay en 0.012 kg de carbono 12. </a:t>
            </a:r>
            <a:endParaRPr lang="es-PE" dirty="0" smtClean="0"/>
          </a:p>
          <a:p>
            <a:pPr algn="just"/>
            <a:r>
              <a:rPr lang="es-PE" dirty="0" smtClean="0"/>
              <a:t>En </a:t>
            </a:r>
            <a:r>
              <a:rPr lang="es-PE" dirty="0"/>
              <a:t>nuestra explicación, las “entidades elementales” son moléculas. </a:t>
            </a:r>
          </a:p>
        </p:txBody>
      </p:sp>
      <p:sp>
        <p:nvSpPr>
          <p:cNvPr id="7" name="Rectángulo 6"/>
          <p:cNvSpPr/>
          <p:nvPr/>
        </p:nvSpPr>
        <p:spPr>
          <a:xfrm>
            <a:off x="511586" y="4924008"/>
            <a:ext cx="4636344" cy="1200329"/>
          </a:xfrm>
          <a:prstGeom prst="rect">
            <a:avLst/>
          </a:prstGeom>
        </p:spPr>
        <p:txBody>
          <a:bodyPr wrap="square">
            <a:spAutoFit/>
          </a:bodyPr>
          <a:lstStyle/>
          <a:p>
            <a:pPr algn="just"/>
            <a:r>
              <a:rPr lang="es-PE" dirty="0"/>
              <a:t>El número de moléculas en un mol se denomina número de Avogadro y se denota con </a:t>
            </a:r>
            <a:r>
              <a:rPr lang="es-PE" dirty="0" smtClean="0"/>
              <a:t>N</a:t>
            </a:r>
            <a:r>
              <a:rPr lang="es-PE" baseline="-25000" dirty="0" smtClean="0"/>
              <a:t>A</a:t>
            </a:r>
            <a:r>
              <a:rPr lang="es-PE" dirty="0" smtClean="0"/>
              <a:t>. </a:t>
            </a:r>
            <a:r>
              <a:rPr lang="es-PE" dirty="0"/>
              <a:t>El mejor valor numérico actual para </a:t>
            </a:r>
            <a:r>
              <a:rPr lang="es-PE" dirty="0" smtClean="0"/>
              <a:t>N</a:t>
            </a:r>
            <a:r>
              <a:rPr lang="es-PE" baseline="-25000" dirty="0" smtClean="0"/>
              <a:t>A</a:t>
            </a:r>
            <a:r>
              <a:rPr lang="es-PE" dirty="0" smtClean="0"/>
              <a:t> es:</a:t>
            </a:r>
            <a:endParaRPr lang="es-PE" dirty="0"/>
          </a:p>
        </p:txBody>
      </p:sp>
      <p:sp>
        <p:nvSpPr>
          <p:cNvPr id="8" name="Rectángulo 7"/>
          <p:cNvSpPr/>
          <p:nvPr/>
        </p:nvSpPr>
        <p:spPr>
          <a:xfrm>
            <a:off x="776536" y="6124337"/>
            <a:ext cx="3730508" cy="369332"/>
          </a:xfrm>
          <a:prstGeom prst="rect">
            <a:avLst/>
          </a:prstGeom>
        </p:spPr>
        <p:txBody>
          <a:bodyPr wrap="none">
            <a:spAutoFit/>
          </a:bodyPr>
          <a:lstStyle/>
          <a:p>
            <a:r>
              <a:rPr lang="es-PE" dirty="0"/>
              <a:t>N</a:t>
            </a:r>
            <a:r>
              <a:rPr lang="es-PE" baseline="-25000" dirty="0"/>
              <a:t>A </a:t>
            </a:r>
            <a:r>
              <a:rPr lang="pt-BR" dirty="0" smtClean="0"/>
              <a:t>= 6,02214199 x </a:t>
            </a:r>
            <a:r>
              <a:rPr lang="es-PE" dirty="0" smtClean="0"/>
              <a:t>10</a:t>
            </a:r>
            <a:r>
              <a:rPr lang="es-PE" baseline="30000" dirty="0" smtClean="0"/>
              <a:t>23</a:t>
            </a:r>
            <a:r>
              <a:rPr lang="pt-BR" dirty="0" smtClean="0"/>
              <a:t>moléculas/mol</a:t>
            </a:r>
            <a:endParaRPr lang="es-PE" dirty="0"/>
          </a:p>
        </p:txBody>
      </p:sp>
      <p:sp>
        <p:nvSpPr>
          <p:cNvPr id="9" name="Rectángulo 8"/>
          <p:cNvSpPr/>
          <p:nvPr/>
        </p:nvSpPr>
        <p:spPr>
          <a:xfrm>
            <a:off x="5428828" y="2121038"/>
            <a:ext cx="4060676" cy="3416320"/>
          </a:xfrm>
          <a:prstGeom prst="rect">
            <a:avLst/>
          </a:prstGeom>
        </p:spPr>
        <p:txBody>
          <a:bodyPr wrap="square">
            <a:spAutoFit/>
          </a:bodyPr>
          <a:lstStyle/>
          <a:p>
            <a:r>
              <a:rPr lang="es-PE" dirty="0"/>
              <a:t>La masa molar M de un compuesto es la masa de un mol. Esto es igual a la masa m de una sola molécula multiplicada por el número de Avogadro. </a:t>
            </a:r>
            <a:endParaRPr lang="es-PE" dirty="0" smtClean="0"/>
          </a:p>
          <a:p>
            <a:endParaRPr lang="es-PE" dirty="0"/>
          </a:p>
          <a:p>
            <a:pPr marL="982663" indent="-982663"/>
            <a:r>
              <a:rPr lang="es-PE" dirty="0" smtClean="0"/>
              <a:t>M= m</a:t>
            </a:r>
            <a:r>
              <a:rPr lang="es-PE" dirty="0"/>
              <a:t> </a:t>
            </a:r>
            <a:r>
              <a:rPr lang="es-PE" dirty="0" smtClean="0"/>
              <a:t>N</a:t>
            </a:r>
            <a:r>
              <a:rPr lang="es-PE" baseline="-25000" dirty="0" smtClean="0"/>
              <a:t>A    </a:t>
            </a:r>
            <a:r>
              <a:rPr lang="es-PE" dirty="0" smtClean="0"/>
              <a:t>(masa </a:t>
            </a:r>
            <a:r>
              <a:rPr lang="es-PE" dirty="0"/>
              <a:t>molar, número de Avogadro y masa de una molécula)</a:t>
            </a:r>
            <a:endParaRPr lang="es-PE" dirty="0" smtClean="0"/>
          </a:p>
          <a:p>
            <a:endParaRPr lang="es-PE" dirty="0"/>
          </a:p>
          <a:p>
            <a:r>
              <a:rPr lang="es-PE" dirty="0" smtClean="0"/>
              <a:t>Si </a:t>
            </a:r>
            <a:r>
              <a:rPr lang="es-PE" dirty="0"/>
              <a:t>la molécula consiste en un solo átomo, es común usar el término masa atómica en vez de masa molar o peso molecular.</a:t>
            </a:r>
          </a:p>
        </p:txBody>
      </p:sp>
    </p:spTree>
    <p:extLst>
      <p:ext uri="{BB962C8B-B14F-4D97-AF65-F5344CB8AC3E}">
        <p14:creationId xmlns:p14="http://schemas.microsoft.com/office/powerpoint/2010/main" val="1088218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727563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MODELO MOLECULAR  DE UN GAS IDEAL</a:t>
            </a:r>
            <a:endParaRPr lang="es-PE" sz="2400" dirty="0">
              <a:solidFill>
                <a:schemeClr val="tx1"/>
              </a:solidFill>
            </a:endParaRPr>
          </a:p>
        </p:txBody>
      </p:sp>
      <p:sp>
        <p:nvSpPr>
          <p:cNvPr id="4" name="Rectángulo 3"/>
          <p:cNvSpPr/>
          <p:nvPr/>
        </p:nvSpPr>
        <p:spPr>
          <a:xfrm>
            <a:off x="322623" y="1844824"/>
            <a:ext cx="4953000" cy="4247317"/>
          </a:xfrm>
          <a:prstGeom prst="rect">
            <a:avLst/>
          </a:prstGeom>
        </p:spPr>
        <p:txBody>
          <a:bodyPr>
            <a:spAutoFit/>
          </a:bodyPr>
          <a:lstStyle/>
          <a:p>
            <a:pPr algn="just"/>
            <a:r>
              <a:rPr lang="es-PE" dirty="0" smtClean="0"/>
              <a:t>He </a:t>
            </a:r>
            <a:r>
              <a:rPr lang="es-PE" dirty="0"/>
              <a:t>aquí los supuestos de nuestro modelo: </a:t>
            </a:r>
            <a:endParaRPr lang="es-PE" dirty="0" smtClean="0"/>
          </a:p>
          <a:p>
            <a:pPr marL="342900" indent="-342900" algn="just">
              <a:buAutoNum type="arabicPeriod"/>
            </a:pPr>
            <a:r>
              <a:rPr lang="es-PE" dirty="0" smtClean="0"/>
              <a:t>Un </a:t>
            </a:r>
            <a:r>
              <a:rPr lang="es-PE" dirty="0"/>
              <a:t>recipiente con volumen V contiene un número muy grande N de moléculas idénticas, cada una con masa m. </a:t>
            </a:r>
            <a:endParaRPr lang="es-PE" dirty="0" smtClean="0"/>
          </a:p>
          <a:p>
            <a:pPr marL="342900" indent="-342900" algn="just">
              <a:buAutoNum type="arabicPeriod"/>
            </a:pPr>
            <a:r>
              <a:rPr lang="es-PE" dirty="0" smtClean="0"/>
              <a:t>Las </a:t>
            </a:r>
            <a:r>
              <a:rPr lang="es-PE" dirty="0"/>
              <a:t>moléculas se comportan como partículas puntuales; su tamaño es pequeño en comparación con la distancia media entre partículas y las dimensiones del recipiente</a:t>
            </a:r>
            <a:r>
              <a:rPr lang="es-PE" dirty="0" smtClean="0"/>
              <a:t>.</a:t>
            </a:r>
          </a:p>
          <a:p>
            <a:pPr marL="342900" indent="-342900" algn="just">
              <a:buAutoNum type="arabicPeriod"/>
            </a:pPr>
            <a:r>
              <a:rPr lang="es-PE" dirty="0" smtClean="0"/>
              <a:t>Las </a:t>
            </a:r>
            <a:r>
              <a:rPr lang="es-PE" dirty="0"/>
              <a:t>moléculas están en constante movimiento, y obedecen las leyes del movimiento de Newton. Las moléculas chocan ocasionalmente con las paredes del recipiente. Tales choques son perfectamente elásticos</a:t>
            </a:r>
            <a:r>
              <a:rPr lang="es-PE" dirty="0" smtClean="0"/>
              <a:t>.</a:t>
            </a:r>
          </a:p>
          <a:p>
            <a:pPr marL="342900" indent="-342900" algn="just">
              <a:buAutoNum type="arabicPeriod"/>
            </a:pPr>
            <a:r>
              <a:rPr lang="es-PE" dirty="0" smtClean="0"/>
              <a:t>Las </a:t>
            </a:r>
            <a:r>
              <a:rPr lang="es-PE" dirty="0"/>
              <a:t>paredes del recipiente son perfectamente rígidas y con masa infinita; no se mueven.</a:t>
            </a: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1152" y="1868854"/>
            <a:ext cx="2858981" cy="4128269"/>
          </a:xfrm>
          <a:prstGeom prst="rect">
            <a:avLst/>
          </a:prstGeom>
        </p:spPr>
      </p:pic>
    </p:spTree>
    <p:extLst>
      <p:ext uri="{BB962C8B-B14F-4D97-AF65-F5344CB8AC3E}">
        <p14:creationId xmlns:p14="http://schemas.microsoft.com/office/powerpoint/2010/main" val="919472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4395314"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COLISIONES Y PRESIÓN DE GAS</a:t>
            </a:r>
            <a:endParaRPr lang="es-PE" sz="2400" dirty="0">
              <a:solidFill>
                <a:schemeClr val="tx1"/>
              </a:solidFill>
            </a:endParaRPr>
          </a:p>
        </p:txBody>
      </p:sp>
      <mc:AlternateContent xmlns:mc="http://schemas.openxmlformats.org/markup-compatibility/2006" xmlns:a14="http://schemas.microsoft.com/office/drawing/2010/main">
        <mc:Choice Requires="a14">
          <p:sp>
            <p:nvSpPr>
              <p:cNvPr id="6" name="Rectángulo 5"/>
              <p:cNvSpPr/>
              <p:nvPr/>
            </p:nvSpPr>
            <p:spPr>
              <a:xfrm>
                <a:off x="344488" y="1696151"/>
                <a:ext cx="6224559" cy="5818516"/>
              </a:xfrm>
              <a:prstGeom prst="rect">
                <a:avLst/>
              </a:prstGeom>
            </p:spPr>
            <p:txBody>
              <a:bodyPr wrap="square">
                <a:spAutoFit/>
              </a:bodyPr>
              <a:lstStyle/>
              <a:p>
                <a:pPr algn="just"/>
                <a:r>
                  <a:rPr lang="es-PE" sz="1600" dirty="0" smtClean="0"/>
                  <a:t>Suponiendo que el número de moléculas por unidad de volumen (N/V</a:t>
                </a:r>
                <a:r>
                  <a:rPr lang="es-PE" sz="1600" dirty="0"/>
                  <a:t>) es uniforme, el número de moléculas en este cilindro </a:t>
                </a:r>
                <a:r>
                  <a:rPr lang="es-PE" sz="1600" dirty="0" smtClean="0"/>
                  <a:t>es:</a:t>
                </a:r>
              </a:p>
              <a:p>
                <a:pPr algn="just"/>
                <a14:m>
                  <m:oMathPara xmlns:m="http://schemas.openxmlformats.org/officeDocument/2006/math">
                    <m:oMathParaPr>
                      <m:jc m:val="centerGroup"/>
                    </m:oMathParaPr>
                    <m:oMath xmlns:m="http://schemas.openxmlformats.org/officeDocument/2006/math">
                      <m:f>
                        <m:fPr>
                          <m:ctrlPr>
                            <a:rPr lang="es-PE" sz="1600" i="1" smtClean="0">
                              <a:latin typeface="Cambria Math" panose="02040503050406030204" pitchFamily="18" charset="0"/>
                            </a:rPr>
                          </m:ctrlPr>
                        </m:fPr>
                        <m:num>
                          <m:r>
                            <a:rPr lang="es-PE" sz="1600" b="0" i="1" smtClean="0">
                              <a:latin typeface="Cambria Math" panose="02040503050406030204" pitchFamily="18" charset="0"/>
                            </a:rPr>
                            <m:t>𝑁</m:t>
                          </m:r>
                        </m:num>
                        <m:den>
                          <m:r>
                            <a:rPr lang="es-PE" sz="1600" b="0" i="1" smtClean="0">
                              <a:latin typeface="Cambria Math" panose="02040503050406030204" pitchFamily="18" charset="0"/>
                            </a:rPr>
                            <m:t>𝑉</m:t>
                          </m:r>
                        </m:den>
                      </m:f>
                      <m:r>
                        <a:rPr lang="es-PE" sz="1600" b="0" i="1" smtClean="0">
                          <a:latin typeface="Cambria Math" panose="02040503050406030204" pitchFamily="18" charset="0"/>
                        </a:rPr>
                        <m:t>(</m:t>
                      </m:r>
                      <m:r>
                        <a:rPr lang="es-PE" sz="1600" b="0" i="1" smtClean="0">
                          <a:latin typeface="Cambria Math" panose="02040503050406030204" pitchFamily="18" charset="0"/>
                        </a:rPr>
                        <m:t>𝐴</m:t>
                      </m:r>
                      <m:d>
                        <m:dPr>
                          <m:begChr m:val="|"/>
                          <m:endChr m:val="|"/>
                          <m:ctrlPr>
                            <a:rPr lang="es-PE" sz="1600" b="0" i="1" smtClean="0">
                              <a:latin typeface="Cambria Math" panose="02040503050406030204" pitchFamily="18" charset="0"/>
                            </a:rPr>
                          </m:ctrlPr>
                        </m:dPr>
                        <m:e>
                          <m:sSub>
                            <m:sSubPr>
                              <m:ctrlPr>
                                <a:rPr lang="es-PE" sz="1600" b="0" i="1" smtClean="0">
                                  <a:latin typeface="Cambria Math" panose="02040503050406030204" pitchFamily="18" charset="0"/>
                                </a:rPr>
                              </m:ctrlPr>
                            </m:sSubPr>
                            <m:e>
                              <m:r>
                                <a:rPr lang="es-PE" sz="1600" b="0" i="1" smtClean="0">
                                  <a:latin typeface="Cambria Math" panose="02040503050406030204" pitchFamily="18" charset="0"/>
                                </a:rPr>
                                <m:t>𝑣</m:t>
                              </m:r>
                            </m:e>
                            <m:sub>
                              <m:r>
                                <a:rPr lang="es-PE" sz="1600" b="0" i="1" smtClean="0">
                                  <a:latin typeface="Cambria Math" panose="02040503050406030204" pitchFamily="18" charset="0"/>
                                </a:rPr>
                                <m:t>𝑥</m:t>
                              </m:r>
                            </m:sub>
                          </m:sSub>
                        </m:e>
                      </m:d>
                      <m:r>
                        <a:rPr lang="es-PE" sz="1600" b="0" i="1" smtClean="0">
                          <a:latin typeface="Cambria Math" panose="02040503050406030204" pitchFamily="18" charset="0"/>
                        </a:rPr>
                        <m:t>𝑑</m:t>
                      </m:r>
                      <m:r>
                        <a:rPr lang="es-PE" sz="1600" b="0" i="1" smtClean="0">
                          <a:latin typeface="Cambria Math" panose="02040503050406030204" pitchFamily="18" charset="0"/>
                          <a:ea typeface="Cambria Math" panose="02040503050406030204" pitchFamily="18" charset="0"/>
                        </a:rPr>
                        <m:t>𝑡</m:t>
                      </m:r>
                      <m:r>
                        <a:rPr lang="es-PE" sz="1600" b="0" i="1" smtClean="0">
                          <a:latin typeface="Cambria Math" panose="02040503050406030204" pitchFamily="18" charset="0"/>
                          <a:ea typeface="Cambria Math" panose="02040503050406030204" pitchFamily="18" charset="0"/>
                        </a:rPr>
                        <m:t>)</m:t>
                      </m:r>
                    </m:oMath>
                  </m:oMathPara>
                </a14:m>
                <a:endParaRPr lang="es-PE" sz="1600" dirty="0"/>
              </a:p>
              <a:p>
                <a:pPr algn="just"/>
                <a:r>
                  <a:rPr lang="es-PE" sz="1600" dirty="0" smtClean="0"/>
                  <a:t>En </a:t>
                </a:r>
                <a:r>
                  <a:rPr lang="es-PE" sz="1600" dirty="0"/>
                  <a:t>promedio, la mitad de estas moléculas se están acercando a la pared y la mitad se está alejando, así que el número de choques con A durante </a:t>
                </a:r>
                <a:r>
                  <a:rPr lang="es-PE" sz="1600" dirty="0" err="1"/>
                  <a:t>dt</a:t>
                </a:r>
                <a:r>
                  <a:rPr lang="es-PE" sz="1600" dirty="0"/>
                  <a:t> </a:t>
                </a:r>
                <a:r>
                  <a:rPr lang="es-PE" sz="1600" dirty="0" smtClean="0"/>
                  <a:t>es:</a:t>
                </a:r>
              </a:p>
              <a:p>
                <a:pPr algn="just"/>
                <a14:m>
                  <m:oMathPara xmlns:m="http://schemas.openxmlformats.org/officeDocument/2006/math">
                    <m:oMathParaPr>
                      <m:jc m:val="centerGroup"/>
                    </m:oMathParaPr>
                    <m:oMath xmlns:m="http://schemas.openxmlformats.org/officeDocument/2006/math">
                      <m:f>
                        <m:fPr>
                          <m:ctrlPr>
                            <a:rPr lang="es-PE" sz="1600" i="1" smtClean="0">
                              <a:latin typeface="Cambria Math" panose="02040503050406030204" pitchFamily="18" charset="0"/>
                            </a:rPr>
                          </m:ctrlPr>
                        </m:fPr>
                        <m:num>
                          <m:r>
                            <a:rPr lang="es-PE" sz="1600" b="0" i="1" smtClean="0">
                              <a:latin typeface="Cambria Math" panose="02040503050406030204" pitchFamily="18" charset="0"/>
                            </a:rPr>
                            <m:t>1</m:t>
                          </m:r>
                        </m:num>
                        <m:den>
                          <m:r>
                            <a:rPr lang="es-PE" sz="1600" b="0" i="1" smtClean="0">
                              <a:latin typeface="Cambria Math" panose="02040503050406030204" pitchFamily="18" charset="0"/>
                            </a:rPr>
                            <m:t>2</m:t>
                          </m:r>
                        </m:den>
                      </m:f>
                      <m:d>
                        <m:dPr>
                          <m:ctrlPr>
                            <a:rPr lang="es-PE" sz="1600" i="1" smtClean="0">
                              <a:latin typeface="Cambria Math" panose="02040503050406030204" pitchFamily="18" charset="0"/>
                            </a:rPr>
                          </m:ctrlPr>
                        </m:dPr>
                        <m:e>
                          <m:f>
                            <m:fPr>
                              <m:ctrlPr>
                                <a:rPr lang="es-PE" sz="1600" i="1">
                                  <a:latin typeface="Cambria Math" panose="02040503050406030204" pitchFamily="18" charset="0"/>
                                </a:rPr>
                              </m:ctrlPr>
                            </m:fPr>
                            <m:num>
                              <m:r>
                                <a:rPr lang="es-PE" sz="1600" i="1">
                                  <a:latin typeface="Cambria Math" panose="02040503050406030204" pitchFamily="18" charset="0"/>
                                </a:rPr>
                                <m:t>𝑁</m:t>
                              </m:r>
                            </m:num>
                            <m:den>
                              <m:r>
                                <a:rPr lang="es-PE" sz="1600" i="1">
                                  <a:latin typeface="Cambria Math" panose="02040503050406030204" pitchFamily="18" charset="0"/>
                                </a:rPr>
                                <m:t>𝑉</m:t>
                              </m:r>
                            </m:den>
                          </m:f>
                        </m:e>
                      </m:d>
                      <m:r>
                        <a:rPr lang="es-PE" sz="1600" i="1" smtClean="0">
                          <a:latin typeface="Cambria Math" panose="02040503050406030204" pitchFamily="18" charset="0"/>
                        </a:rPr>
                        <m:t> </m:t>
                      </m:r>
                      <m:r>
                        <a:rPr lang="es-PE" sz="1600" i="1">
                          <a:latin typeface="Cambria Math" panose="02040503050406030204" pitchFamily="18" charset="0"/>
                        </a:rPr>
                        <m:t>(</m:t>
                      </m:r>
                      <m:r>
                        <a:rPr lang="es-PE" sz="1600" i="1">
                          <a:latin typeface="Cambria Math" panose="02040503050406030204" pitchFamily="18" charset="0"/>
                        </a:rPr>
                        <m:t>𝐴</m:t>
                      </m:r>
                      <m:d>
                        <m:dPr>
                          <m:begChr m:val="|"/>
                          <m:endChr m:val="|"/>
                          <m:ctrlPr>
                            <a:rPr lang="es-PE" sz="1600" i="1">
                              <a:latin typeface="Cambria Math" panose="02040503050406030204" pitchFamily="18" charset="0"/>
                            </a:rPr>
                          </m:ctrlPr>
                        </m:dPr>
                        <m:e>
                          <m:sSub>
                            <m:sSubPr>
                              <m:ctrlPr>
                                <a:rPr lang="es-PE" sz="1600" i="1">
                                  <a:latin typeface="Cambria Math" panose="02040503050406030204" pitchFamily="18" charset="0"/>
                                </a:rPr>
                              </m:ctrlPr>
                            </m:sSubPr>
                            <m:e>
                              <m:r>
                                <a:rPr lang="es-PE" sz="1600" i="1">
                                  <a:latin typeface="Cambria Math" panose="02040503050406030204" pitchFamily="18" charset="0"/>
                                </a:rPr>
                                <m:t>𝑣</m:t>
                              </m:r>
                            </m:e>
                            <m:sub>
                              <m:r>
                                <a:rPr lang="es-PE" sz="1600" i="1">
                                  <a:latin typeface="Cambria Math" panose="02040503050406030204" pitchFamily="18" charset="0"/>
                                </a:rPr>
                                <m:t>𝑥</m:t>
                              </m:r>
                            </m:sub>
                          </m:sSub>
                        </m:e>
                      </m:d>
                      <m:r>
                        <a:rPr lang="es-PE" sz="1600" b="0" i="1" smtClean="0">
                          <a:latin typeface="Cambria Math" panose="02040503050406030204" pitchFamily="18" charset="0"/>
                        </a:rPr>
                        <m:t>𝑑</m:t>
                      </m:r>
                      <m:r>
                        <a:rPr lang="es-PE" sz="1600" i="1">
                          <a:latin typeface="Cambria Math" panose="02040503050406030204" pitchFamily="18" charset="0"/>
                          <a:ea typeface="Cambria Math" panose="02040503050406030204" pitchFamily="18" charset="0"/>
                        </a:rPr>
                        <m:t>𝑡</m:t>
                      </m:r>
                      <m:r>
                        <a:rPr lang="es-PE" sz="1600" i="1">
                          <a:latin typeface="Cambria Math" panose="02040503050406030204" pitchFamily="18" charset="0"/>
                          <a:ea typeface="Cambria Math" panose="02040503050406030204" pitchFamily="18" charset="0"/>
                        </a:rPr>
                        <m:t>)</m:t>
                      </m:r>
                    </m:oMath>
                  </m:oMathPara>
                </a14:m>
                <a:endParaRPr lang="es-PE" sz="1600" dirty="0" smtClean="0"/>
              </a:p>
              <a:p>
                <a:pPr algn="just"/>
                <a:endParaRPr lang="es-PE" sz="1600" dirty="0" smtClean="0"/>
              </a:p>
              <a:p>
                <a:pPr algn="just"/>
                <a:r>
                  <a:rPr lang="es-PE" sz="1600" dirty="0" smtClean="0"/>
                  <a:t>La variación de momento lineal </a:t>
                </a:r>
                <a14:m>
                  <m:oMath xmlns:m="http://schemas.openxmlformats.org/officeDocument/2006/math">
                    <m:r>
                      <a:rPr lang="es-PE" sz="1600" b="0" i="0" smtClean="0">
                        <a:latin typeface="Cambria Math" panose="02040503050406030204" pitchFamily="18" charset="0"/>
                      </a:rPr>
                      <m:t> </m:t>
                    </m:r>
                    <m:sSub>
                      <m:sSubPr>
                        <m:ctrlPr>
                          <a:rPr lang="es-PE" sz="1600" i="1">
                            <a:latin typeface="Cambria Math" panose="02040503050406030204" pitchFamily="18" charset="0"/>
                          </a:rPr>
                        </m:ctrlPr>
                      </m:sSubPr>
                      <m:e>
                        <m:r>
                          <a:rPr lang="es-PE" sz="1600" b="0" i="1" smtClean="0">
                            <a:latin typeface="Cambria Math" panose="02040503050406030204" pitchFamily="18" charset="0"/>
                          </a:rPr>
                          <m:t>𝑃</m:t>
                        </m:r>
                      </m:e>
                      <m:sub>
                        <m:r>
                          <a:rPr lang="es-PE" sz="1600" i="1">
                            <a:latin typeface="Cambria Math" panose="02040503050406030204" pitchFamily="18" charset="0"/>
                          </a:rPr>
                          <m:t>𝑥</m:t>
                        </m:r>
                      </m:sub>
                    </m:sSub>
                  </m:oMath>
                </a14:m>
                <a:r>
                  <a:rPr lang="es-PE" sz="1600" dirty="0" smtClean="0"/>
                  <a:t>esta dado por:</a:t>
                </a:r>
              </a:p>
              <a:p>
                <a:pPr algn="just"/>
                <a:endParaRPr lang="es-PE" sz="1600" dirty="0" smtClean="0"/>
              </a:p>
              <a:p>
                <a:pPr/>
                <a14:m>
                  <m:oMathPara xmlns:m="http://schemas.openxmlformats.org/officeDocument/2006/math">
                    <m:oMathParaPr>
                      <m:jc m:val="centerGroup"/>
                    </m:oMathParaPr>
                    <m:oMath xmlns:m="http://schemas.openxmlformats.org/officeDocument/2006/math">
                      <m:r>
                        <a:rPr lang="es-PE" sz="1600" b="0" i="1" smtClean="0">
                          <a:latin typeface="Cambria Math" panose="02040503050406030204" pitchFamily="18" charset="0"/>
                        </a:rPr>
                        <m:t>𝑑</m:t>
                      </m:r>
                      <m:sSub>
                        <m:sSubPr>
                          <m:ctrlPr>
                            <a:rPr lang="es-PE" sz="1600" b="0" i="1" smtClean="0">
                              <a:latin typeface="Cambria Math" panose="02040503050406030204" pitchFamily="18" charset="0"/>
                            </a:rPr>
                          </m:ctrlPr>
                        </m:sSubPr>
                        <m:e>
                          <m:r>
                            <a:rPr lang="es-PE" sz="1600" b="0" i="1" smtClean="0">
                              <a:latin typeface="Cambria Math" panose="02040503050406030204" pitchFamily="18" charset="0"/>
                            </a:rPr>
                            <m:t>𝑃</m:t>
                          </m:r>
                        </m:e>
                        <m:sub>
                          <m:r>
                            <a:rPr lang="es-PE" sz="1600" b="0" i="1" smtClean="0">
                              <a:latin typeface="Cambria Math" panose="02040503050406030204" pitchFamily="18" charset="0"/>
                            </a:rPr>
                            <m:t>𝑥</m:t>
                          </m:r>
                        </m:sub>
                      </m:sSub>
                      <m:r>
                        <a:rPr lang="es-PE" sz="1600" b="0" i="1" smtClean="0">
                          <a:latin typeface="Cambria Math" panose="02040503050406030204" pitchFamily="18" charset="0"/>
                        </a:rPr>
                        <m:t>=</m:t>
                      </m:r>
                      <m:f>
                        <m:fPr>
                          <m:ctrlPr>
                            <a:rPr lang="es-PE" sz="1600" i="1">
                              <a:latin typeface="Cambria Math" panose="02040503050406030204" pitchFamily="18" charset="0"/>
                            </a:rPr>
                          </m:ctrlPr>
                        </m:fPr>
                        <m:num>
                          <m:r>
                            <a:rPr lang="es-PE" sz="1600" i="1">
                              <a:latin typeface="Cambria Math" panose="02040503050406030204" pitchFamily="18" charset="0"/>
                            </a:rPr>
                            <m:t>1</m:t>
                          </m:r>
                        </m:num>
                        <m:den>
                          <m:r>
                            <a:rPr lang="es-PE" sz="1600" i="1">
                              <a:latin typeface="Cambria Math" panose="02040503050406030204" pitchFamily="18" charset="0"/>
                            </a:rPr>
                            <m:t>2</m:t>
                          </m:r>
                        </m:den>
                      </m:f>
                      <m:d>
                        <m:dPr>
                          <m:ctrlPr>
                            <a:rPr lang="es-PE" sz="1600" i="1">
                              <a:latin typeface="Cambria Math" panose="02040503050406030204" pitchFamily="18" charset="0"/>
                            </a:rPr>
                          </m:ctrlPr>
                        </m:dPr>
                        <m:e>
                          <m:f>
                            <m:fPr>
                              <m:ctrlPr>
                                <a:rPr lang="es-PE" sz="1600" i="1">
                                  <a:latin typeface="Cambria Math" panose="02040503050406030204" pitchFamily="18" charset="0"/>
                                </a:rPr>
                              </m:ctrlPr>
                            </m:fPr>
                            <m:num>
                              <m:r>
                                <a:rPr lang="es-PE" sz="1600" i="1">
                                  <a:latin typeface="Cambria Math" panose="02040503050406030204" pitchFamily="18" charset="0"/>
                                </a:rPr>
                                <m:t>𝑁</m:t>
                              </m:r>
                            </m:num>
                            <m:den>
                              <m:r>
                                <a:rPr lang="es-PE" sz="1600" i="1">
                                  <a:latin typeface="Cambria Math" panose="02040503050406030204" pitchFamily="18" charset="0"/>
                                </a:rPr>
                                <m:t>𝑉</m:t>
                              </m:r>
                            </m:den>
                          </m:f>
                        </m:e>
                      </m:d>
                      <m:r>
                        <a:rPr lang="es-PE" sz="1600" i="1">
                          <a:latin typeface="Cambria Math" panose="02040503050406030204" pitchFamily="18" charset="0"/>
                        </a:rPr>
                        <m:t> </m:t>
                      </m:r>
                      <m:d>
                        <m:dPr>
                          <m:ctrlPr>
                            <a:rPr lang="es-PE" sz="1600" i="1">
                              <a:latin typeface="Cambria Math" panose="02040503050406030204" pitchFamily="18" charset="0"/>
                            </a:rPr>
                          </m:ctrlPr>
                        </m:dPr>
                        <m:e>
                          <m:r>
                            <a:rPr lang="es-PE" sz="1600" i="1">
                              <a:latin typeface="Cambria Math" panose="02040503050406030204" pitchFamily="18" charset="0"/>
                            </a:rPr>
                            <m:t>𝐴</m:t>
                          </m:r>
                          <m:d>
                            <m:dPr>
                              <m:begChr m:val="|"/>
                              <m:endChr m:val="|"/>
                              <m:ctrlPr>
                                <a:rPr lang="es-PE" sz="1600" i="1">
                                  <a:latin typeface="Cambria Math" panose="02040503050406030204" pitchFamily="18" charset="0"/>
                                </a:rPr>
                              </m:ctrlPr>
                            </m:dPr>
                            <m:e>
                              <m:sSub>
                                <m:sSubPr>
                                  <m:ctrlPr>
                                    <a:rPr lang="es-PE" sz="1600" i="1">
                                      <a:latin typeface="Cambria Math" panose="02040503050406030204" pitchFamily="18" charset="0"/>
                                    </a:rPr>
                                  </m:ctrlPr>
                                </m:sSubPr>
                                <m:e>
                                  <m:r>
                                    <a:rPr lang="es-PE" sz="1600" i="1">
                                      <a:latin typeface="Cambria Math" panose="02040503050406030204" pitchFamily="18" charset="0"/>
                                    </a:rPr>
                                    <m:t>𝑣</m:t>
                                  </m:r>
                                </m:e>
                                <m:sub>
                                  <m:r>
                                    <a:rPr lang="es-PE" sz="1600" i="1">
                                      <a:latin typeface="Cambria Math" panose="02040503050406030204" pitchFamily="18" charset="0"/>
                                    </a:rPr>
                                    <m:t>𝑥</m:t>
                                  </m:r>
                                </m:sub>
                              </m:sSub>
                            </m:e>
                          </m:d>
                          <m:r>
                            <a:rPr lang="es-PE" sz="1600" i="1">
                              <a:latin typeface="Cambria Math" panose="02040503050406030204" pitchFamily="18" charset="0"/>
                            </a:rPr>
                            <m:t>𝑑</m:t>
                          </m:r>
                          <m:r>
                            <a:rPr lang="es-PE" sz="1600" i="1">
                              <a:latin typeface="Cambria Math" panose="02040503050406030204" pitchFamily="18" charset="0"/>
                              <a:ea typeface="Cambria Math" panose="02040503050406030204" pitchFamily="18" charset="0"/>
                            </a:rPr>
                            <m:t>𝑡</m:t>
                          </m:r>
                        </m:e>
                      </m:d>
                      <m:r>
                        <a:rPr lang="es-PE" sz="1600" i="1" smtClean="0">
                          <a:latin typeface="Cambria Math" panose="02040503050406030204" pitchFamily="18" charset="0"/>
                          <a:ea typeface="Cambria Math" panose="02040503050406030204" pitchFamily="18" charset="0"/>
                        </a:rPr>
                        <m:t>×</m:t>
                      </m:r>
                      <m:r>
                        <a:rPr lang="es-PE" sz="1600" b="0" i="1" smtClean="0">
                          <a:latin typeface="Cambria Math" panose="02040503050406030204" pitchFamily="18" charset="0"/>
                          <a:ea typeface="Cambria Math" panose="02040503050406030204" pitchFamily="18" charset="0"/>
                        </a:rPr>
                        <m:t>2</m:t>
                      </m:r>
                      <m:r>
                        <a:rPr lang="es-PE" sz="1600" b="0" i="1" smtClean="0">
                          <a:latin typeface="Cambria Math" panose="02040503050406030204" pitchFamily="18" charset="0"/>
                          <a:ea typeface="Cambria Math" panose="02040503050406030204" pitchFamily="18" charset="0"/>
                        </a:rPr>
                        <m:t>𝑚</m:t>
                      </m:r>
                      <m:d>
                        <m:dPr>
                          <m:begChr m:val="|"/>
                          <m:endChr m:val="|"/>
                          <m:ctrlPr>
                            <a:rPr lang="es-PE" sz="1600" i="1">
                              <a:latin typeface="Cambria Math" panose="02040503050406030204" pitchFamily="18" charset="0"/>
                            </a:rPr>
                          </m:ctrlPr>
                        </m:dPr>
                        <m:e>
                          <m:sSub>
                            <m:sSubPr>
                              <m:ctrlPr>
                                <a:rPr lang="es-PE" sz="1600" i="1">
                                  <a:latin typeface="Cambria Math" panose="02040503050406030204" pitchFamily="18" charset="0"/>
                                </a:rPr>
                              </m:ctrlPr>
                            </m:sSubPr>
                            <m:e>
                              <m:r>
                                <a:rPr lang="es-PE" sz="1600" i="1">
                                  <a:latin typeface="Cambria Math" panose="02040503050406030204" pitchFamily="18" charset="0"/>
                                </a:rPr>
                                <m:t>𝑣</m:t>
                              </m:r>
                            </m:e>
                            <m:sub>
                              <m:r>
                                <a:rPr lang="es-PE" sz="1600" i="1">
                                  <a:latin typeface="Cambria Math" panose="02040503050406030204" pitchFamily="18" charset="0"/>
                                </a:rPr>
                                <m:t>𝑥</m:t>
                              </m:r>
                            </m:sub>
                          </m:sSub>
                        </m:e>
                      </m:d>
                      <m:r>
                        <a:rPr lang="es-PE" sz="1600" b="0" i="1" smtClean="0">
                          <a:latin typeface="Cambria Math" panose="02040503050406030204" pitchFamily="18" charset="0"/>
                        </a:rPr>
                        <m:t>=</m:t>
                      </m:r>
                      <m:d>
                        <m:dPr>
                          <m:ctrlPr>
                            <a:rPr lang="es-PE" sz="1600" b="0" i="1" smtClean="0">
                              <a:latin typeface="Cambria Math" panose="02040503050406030204" pitchFamily="18" charset="0"/>
                            </a:rPr>
                          </m:ctrlPr>
                        </m:dPr>
                        <m:e>
                          <m:f>
                            <m:fPr>
                              <m:ctrlPr>
                                <a:rPr lang="es-PE" sz="1600" i="1">
                                  <a:latin typeface="Cambria Math" panose="02040503050406030204" pitchFamily="18" charset="0"/>
                                </a:rPr>
                              </m:ctrlPr>
                            </m:fPr>
                            <m:num>
                              <m:r>
                                <a:rPr lang="es-PE" sz="1600" i="1">
                                  <a:latin typeface="Cambria Math" panose="02040503050406030204" pitchFamily="18" charset="0"/>
                                </a:rPr>
                                <m:t>𝑁𝐴𝑚</m:t>
                              </m:r>
                              <m:sSubSup>
                                <m:sSubSupPr>
                                  <m:ctrlPr>
                                    <a:rPr lang="es-PE" sz="1600" i="1">
                                      <a:latin typeface="Cambria Math" panose="02040503050406030204" pitchFamily="18" charset="0"/>
                                    </a:rPr>
                                  </m:ctrlPr>
                                </m:sSubSupPr>
                                <m:e>
                                  <m:r>
                                    <a:rPr lang="es-PE" sz="1600" i="1">
                                      <a:latin typeface="Cambria Math" panose="02040503050406030204" pitchFamily="18" charset="0"/>
                                    </a:rPr>
                                    <m:t>𝑣</m:t>
                                  </m:r>
                                </m:e>
                                <m:sub>
                                  <m:r>
                                    <a:rPr lang="es-PE" sz="1600" i="1">
                                      <a:latin typeface="Cambria Math" panose="02040503050406030204" pitchFamily="18" charset="0"/>
                                    </a:rPr>
                                    <m:t>𝑥</m:t>
                                  </m:r>
                                </m:sub>
                                <m:sup>
                                  <m:r>
                                    <a:rPr lang="es-PE" sz="1600" i="1">
                                      <a:latin typeface="Cambria Math" panose="02040503050406030204" pitchFamily="18" charset="0"/>
                                    </a:rPr>
                                    <m:t>2</m:t>
                                  </m:r>
                                </m:sup>
                              </m:sSubSup>
                            </m:num>
                            <m:den>
                              <m:r>
                                <a:rPr lang="es-PE" sz="1600" i="1">
                                  <a:latin typeface="Cambria Math" panose="02040503050406030204" pitchFamily="18" charset="0"/>
                                </a:rPr>
                                <m:t>𝑉</m:t>
                              </m:r>
                            </m:den>
                          </m:f>
                        </m:e>
                      </m:d>
                      <m:r>
                        <a:rPr lang="es-PE" sz="1600" b="0" i="1" smtClean="0">
                          <a:latin typeface="Cambria Math" panose="02040503050406030204" pitchFamily="18" charset="0"/>
                        </a:rPr>
                        <m:t>𝑑𝑡</m:t>
                      </m:r>
                    </m:oMath>
                  </m:oMathPara>
                </a14:m>
                <a:endParaRPr lang="es-PE" sz="1600" dirty="0" smtClean="0"/>
              </a:p>
              <a:p>
                <a:r>
                  <a:rPr lang="es-PE" sz="1600" dirty="0" smtClean="0"/>
                  <a:t>De la segunda ley de Newton:  </a:t>
                </a:r>
                <a14:m>
                  <m:oMath xmlns:m="http://schemas.openxmlformats.org/officeDocument/2006/math">
                    <m:f>
                      <m:fPr>
                        <m:ctrlPr>
                          <a:rPr lang="es-PE" sz="1600" i="1" smtClean="0">
                            <a:latin typeface="Cambria Math" panose="02040503050406030204" pitchFamily="18" charset="0"/>
                          </a:rPr>
                        </m:ctrlPr>
                      </m:fPr>
                      <m:num>
                        <m:r>
                          <a:rPr lang="es-PE" sz="1600" i="1">
                            <a:latin typeface="Cambria Math" panose="02040503050406030204" pitchFamily="18" charset="0"/>
                          </a:rPr>
                          <m:t>𝑑</m:t>
                        </m:r>
                        <m:sSub>
                          <m:sSubPr>
                            <m:ctrlPr>
                              <a:rPr lang="es-PE" sz="1600" i="1">
                                <a:latin typeface="Cambria Math" panose="02040503050406030204" pitchFamily="18" charset="0"/>
                              </a:rPr>
                            </m:ctrlPr>
                          </m:sSubPr>
                          <m:e>
                            <m:r>
                              <a:rPr lang="es-PE" sz="1600" i="1">
                                <a:latin typeface="Cambria Math" panose="02040503050406030204" pitchFamily="18" charset="0"/>
                              </a:rPr>
                              <m:t>𝑃</m:t>
                            </m:r>
                          </m:e>
                          <m:sub>
                            <m:r>
                              <a:rPr lang="es-PE" sz="1600" i="1">
                                <a:latin typeface="Cambria Math" panose="02040503050406030204" pitchFamily="18" charset="0"/>
                              </a:rPr>
                              <m:t>𝑥</m:t>
                            </m:r>
                          </m:sub>
                        </m:sSub>
                      </m:num>
                      <m:den>
                        <m:r>
                          <a:rPr lang="es-PE" sz="1600" b="0" i="1" smtClean="0">
                            <a:latin typeface="Cambria Math" panose="02040503050406030204" pitchFamily="18" charset="0"/>
                          </a:rPr>
                          <m:t>𝑑𝑡</m:t>
                        </m:r>
                      </m:den>
                    </m:f>
                    <m:r>
                      <a:rPr lang="es-PE" sz="1600" i="1">
                        <a:latin typeface="Cambria Math" panose="02040503050406030204" pitchFamily="18" charset="0"/>
                      </a:rPr>
                      <m:t>=</m:t>
                    </m:r>
                    <m:d>
                      <m:dPr>
                        <m:ctrlPr>
                          <a:rPr lang="es-PE" sz="1600" i="1">
                            <a:latin typeface="Cambria Math" panose="02040503050406030204" pitchFamily="18" charset="0"/>
                          </a:rPr>
                        </m:ctrlPr>
                      </m:dPr>
                      <m:e>
                        <m:f>
                          <m:fPr>
                            <m:ctrlPr>
                              <a:rPr lang="es-PE" sz="1600" i="1">
                                <a:latin typeface="Cambria Math" panose="02040503050406030204" pitchFamily="18" charset="0"/>
                              </a:rPr>
                            </m:ctrlPr>
                          </m:fPr>
                          <m:num>
                            <m:r>
                              <a:rPr lang="es-PE" sz="1600" i="1">
                                <a:latin typeface="Cambria Math" panose="02040503050406030204" pitchFamily="18" charset="0"/>
                              </a:rPr>
                              <m:t>𝑁𝐴𝑚</m:t>
                            </m:r>
                            <m:sSubSup>
                              <m:sSubSupPr>
                                <m:ctrlPr>
                                  <a:rPr lang="es-PE" sz="1600" i="1">
                                    <a:latin typeface="Cambria Math" panose="02040503050406030204" pitchFamily="18" charset="0"/>
                                  </a:rPr>
                                </m:ctrlPr>
                              </m:sSubSupPr>
                              <m:e>
                                <m:r>
                                  <a:rPr lang="es-PE" sz="1600" i="1">
                                    <a:latin typeface="Cambria Math" panose="02040503050406030204" pitchFamily="18" charset="0"/>
                                  </a:rPr>
                                  <m:t>𝑣</m:t>
                                </m:r>
                              </m:e>
                              <m:sub>
                                <m:r>
                                  <a:rPr lang="es-PE" sz="1600" i="1">
                                    <a:latin typeface="Cambria Math" panose="02040503050406030204" pitchFamily="18" charset="0"/>
                                  </a:rPr>
                                  <m:t>𝑥</m:t>
                                </m:r>
                              </m:sub>
                              <m:sup>
                                <m:r>
                                  <a:rPr lang="es-PE" sz="1600" i="1">
                                    <a:latin typeface="Cambria Math" panose="02040503050406030204" pitchFamily="18" charset="0"/>
                                  </a:rPr>
                                  <m:t>2</m:t>
                                </m:r>
                              </m:sup>
                            </m:sSubSup>
                          </m:num>
                          <m:den>
                            <m:r>
                              <a:rPr lang="es-PE" sz="1600" i="1">
                                <a:latin typeface="Cambria Math" panose="02040503050406030204" pitchFamily="18" charset="0"/>
                              </a:rPr>
                              <m:t>𝑉</m:t>
                            </m:r>
                          </m:den>
                        </m:f>
                      </m:e>
                    </m:d>
                    <m:r>
                      <a:rPr lang="es-PE" sz="1600" b="0" i="1" smtClean="0">
                        <a:latin typeface="Cambria Math" panose="02040503050406030204" pitchFamily="18" charset="0"/>
                      </a:rPr>
                      <m:t>=</m:t>
                    </m:r>
                    <m:r>
                      <a:rPr lang="es-PE" sz="1600" b="0" i="1" smtClean="0">
                        <a:latin typeface="Cambria Math" panose="02040503050406030204" pitchFamily="18" charset="0"/>
                      </a:rPr>
                      <m:t>𝐹</m:t>
                    </m:r>
                  </m:oMath>
                </a14:m>
                <a:endParaRPr lang="es-PE" sz="1600" dirty="0" smtClean="0"/>
              </a:p>
              <a:p>
                <a:endParaRPr lang="es-PE" sz="1600" dirty="0" smtClean="0"/>
              </a:p>
              <a:p>
                <a:r>
                  <a:rPr lang="es-PE" sz="1600" dirty="0" smtClean="0"/>
                  <a:t>De la definición de presión tenemos:</a:t>
                </a:r>
              </a:p>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𝑝</m:t>
                      </m:r>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PE" b="0" i="1" smtClean="0">
                              <a:latin typeface="Cambria Math" panose="02040503050406030204" pitchFamily="18" charset="0"/>
                            </a:rPr>
                            <m:t>𝐹</m:t>
                          </m:r>
                        </m:num>
                        <m:den>
                          <m:r>
                            <a:rPr lang="es-PE" b="0" i="1" smtClean="0">
                              <a:latin typeface="Cambria Math" panose="02040503050406030204" pitchFamily="18" charset="0"/>
                            </a:rPr>
                            <m:t>𝐴</m:t>
                          </m:r>
                        </m:den>
                      </m:f>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𝑁𝑚</m:t>
                          </m:r>
                          <m:sSubSup>
                            <m:sSubSupPr>
                              <m:ctrlPr>
                                <a:rPr lang="es-PE" i="1">
                                  <a:latin typeface="Cambria Math" panose="02040503050406030204" pitchFamily="18" charset="0"/>
                                </a:rPr>
                              </m:ctrlPr>
                            </m:sSubSupPr>
                            <m:e>
                              <m:r>
                                <a:rPr lang="es-PE" i="1">
                                  <a:latin typeface="Cambria Math" panose="02040503050406030204" pitchFamily="18" charset="0"/>
                                </a:rPr>
                                <m:t>𝑣</m:t>
                              </m:r>
                            </m:e>
                            <m:sub>
                              <m:r>
                                <a:rPr lang="es-PE" i="1">
                                  <a:latin typeface="Cambria Math" panose="02040503050406030204" pitchFamily="18" charset="0"/>
                                </a:rPr>
                                <m:t>𝑥</m:t>
                              </m:r>
                            </m:sub>
                            <m:sup>
                              <m:r>
                                <a:rPr lang="es-PE" i="1">
                                  <a:latin typeface="Cambria Math" panose="02040503050406030204" pitchFamily="18" charset="0"/>
                                </a:rPr>
                                <m:t>2</m:t>
                              </m:r>
                            </m:sup>
                          </m:sSubSup>
                        </m:num>
                        <m:den>
                          <m:r>
                            <a:rPr lang="es-PE" i="1">
                              <a:latin typeface="Cambria Math" panose="02040503050406030204" pitchFamily="18" charset="0"/>
                            </a:rPr>
                            <m:t>𝑉</m:t>
                          </m:r>
                        </m:den>
                      </m:f>
                    </m:oMath>
                  </m:oMathPara>
                </a14:m>
                <a:endParaRPr lang="es-PE" dirty="0"/>
              </a:p>
              <a:p>
                <a:endParaRPr lang="es-PE" dirty="0"/>
              </a:p>
              <a:p>
                <a:endParaRPr lang="es-PE" dirty="0"/>
              </a:p>
              <a:p>
                <a:endParaRPr lang="es-PE" dirty="0"/>
              </a:p>
            </p:txBody>
          </p:sp>
        </mc:Choice>
        <mc:Fallback xmlns="">
          <p:sp>
            <p:nvSpPr>
              <p:cNvPr id="6" name="Rectángulo 5"/>
              <p:cNvSpPr>
                <a:spLocks noRot="1" noChangeAspect="1" noMove="1" noResize="1" noEditPoints="1" noAdjustHandles="1" noChangeArrowheads="1" noChangeShapeType="1" noTextEdit="1"/>
              </p:cNvSpPr>
              <p:nvPr/>
            </p:nvSpPr>
            <p:spPr>
              <a:xfrm>
                <a:off x="344488" y="1696151"/>
                <a:ext cx="6224559" cy="5818516"/>
              </a:xfrm>
              <a:prstGeom prst="rect">
                <a:avLst/>
              </a:prstGeom>
              <a:blipFill rotWithShape="0">
                <a:blip r:embed="rId2"/>
                <a:stretch>
                  <a:fillRect l="-588" t="-314" r="-490"/>
                </a:stretch>
              </a:blipFill>
            </p:spPr>
            <p:txBody>
              <a:bodyPr/>
              <a:lstStyle/>
              <a:p>
                <a:r>
                  <a:rPr lang="es-PE">
                    <a:noFill/>
                  </a:rPr>
                  <a:t> </a:t>
                </a:r>
              </a:p>
            </p:txBody>
          </p:sp>
        </mc:Fallback>
      </mc:AlternateContent>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1192" y="1957482"/>
            <a:ext cx="3031428" cy="4435596"/>
          </a:xfrm>
          <a:prstGeom prst="rect">
            <a:avLst/>
          </a:prstGeom>
        </p:spPr>
      </p:pic>
    </p:spTree>
    <p:extLst>
      <p:ext uri="{BB962C8B-B14F-4D97-AF65-F5344CB8AC3E}">
        <p14:creationId xmlns:p14="http://schemas.microsoft.com/office/powerpoint/2010/main" val="38656322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637806" y="720099"/>
            <a:ext cx="2019050"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EJERCICIO</a:t>
            </a:r>
            <a:endParaRPr lang="es-PE" sz="2400" dirty="0">
              <a:solidFill>
                <a:schemeClr val="tx1"/>
              </a:solidFill>
            </a:endParaRPr>
          </a:p>
        </p:txBody>
      </p:sp>
      <p:sp>
        <p:nvSpPr>
          <p:cNvPr id="3" name="CuadroTexto 2"/>
          <p:cNvSpPr txBox="1"/>
          <p:nvPr/>
        </p:nvSpPr>
        <p:spPr>
          <a:xfrm>
            <a:off x="632520" y="1957482"/>
            <a:ext cx="3960440" cy="3139321"/>
          </a:xfrm>
          <a:prstGeom prst="rect">
            <a:avLst/>
          </a:prstGeom>
          <a:noFill/>
        </p:spPr>
        <p:txBody>
          <a:bodyPr wrap="square" rtlCol="0">
            <a:spAutoFit/>
          </a:bodyPr>
          <a:lstStyle/>
          <a:p>
            <a:pPr marL="342900" indent="-342900" algn="just">
              <a:buFont typeface="+mj-lt"/>
              <a:buAutoNum type="arabicPeriod"/>
            </a:pPr>
            <a:r>
              <a:rPr lang="es-PE" dirty="0" smtClean="0"/>
              <a:t>En un intervalo de 30,0 s, 500 granizos chocan contra una ventana de vidrio de 0,600 </a:t>
            </a:r>
            <a:r>
              <a:rPr lang="es-PE" dirty="0"/>
              <a:t>m</a:t>
            </a:r>
            <a:r>
              <a:rPr lang="es-PE" baseline="30000" dirty="0"/>
              <a:t>2</a:t>
            </a:r>
            <a:r>
              <a:rPr lang="es-PE" dirty="0"/>
              <a:t> en un ángulo de 45</a:t>
            </a:r>
            <a:r>
              <a:rPr lang="es-PE" baseline="30000" dirty="0"/>
              <a:t>0</a:t>
            </a:r>
            <a:r>
              <a:rPr lang="es-PE" dirty="0"/>
              <a:t> con la superficie de la ventana. Cada granizo tiene una masa de 5,00 g y se mueve con una rapidez de 8,00 m/s. Si se suponen colisiones elásticas, encuentre la fuerza promedio y la presión sobre la ventana.</a:t>
            </a:r>
          </a:p>
          <a:p>
            <a:r>
              <a:rPr lang="es-PE" dirty="0" smtClean="0"/>
              <a:t> </a:t>
            </a:r>
            <a:endParaRPr lang="es-PE" dirty="0"/>
          </a:p>
        </p:txBody>
      </p:sp>
      <p:sp>
        <p:nvSpPr>
          <p:cNvPr id="8" name="CuadroTexto 7"/>
          <p:cNvSpPr txBox="1"/>
          <p:nvPr/>
        </p:nvSpPr>
        <p:spPr>
          <a:xfrm>
            <a:off x="5097016" y="1957481"/>
            <a:ext cx="4464496" cy="1754326"/>
          </a:xfrm>
          <a:prstGeom prst="rect">
            <a:avLst/>
          </a:prstGeom>
          <a:noFill/>
        </p:spPr>
        <p:txBody>
          <a:bodyPr wrap="square" rtlCol="0">
            <a:spAutoFit/>
          </a:bodyPr>
          <a:lstStyle/>
          <a:p>
            <a:pPr marL="342900" indent="-342900" algn="just">
              <a:buFont typeface="+mj-lt"/>
              <a:buAutoNum type="arabicPeriod" startAt="2"/>
            </a:pPr>
            <a:r>
              <a:rPr lang="es-PE" dirty="0"/>
              <a:t>U</a:t>
            </a:r>
            <a:r>
              <a:rPr lang="es-PE" dirty="0" smtClean="0"/>
              <a:t>n recipiente cúbico sellado de 20,0 cm por lado contiene tres veces el numero de Avogadro de moléculas a una temperatura de 20,0 </a:t>
            </a:r>
            <a:r>
              <a:rPr lang="es-PE" baseline="30000" dirty="0" smtClean="0"/>
              <a:t>0</a:t>
            </a:r>
            <a:r>
              <a:rPr lang="es-PE" dirty="0" smtClean="0"/>
              <a:t>C. Encuentre la fuerza ejercida  por el gas en una de las paredes  del recipiente.</a:t>
            </a:r>
            <a:endParaRPr lang="es-PE" dirty="0"/>
          </a:p>
        </p:txBody>
      </p:sp>
    </p:spTree>
    <p:extLst>
      <p:ext uri="{BB962C8B-B14F-4D97-AF65-F5344CB8AC3E}">
        <p14:creationId xmlns:p14="http://schemas.microsoft.com/office/powerpoint/2010/main" val="27574609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6696744"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smtClean="0">
                <a:solidFill>
                  <a:schemeClr val="tx1"/>
                </a:solidFill>
              </a:rPr>
              <a:t>PRESIÓN Y ENERGÍAS CINÉTICAS MOLECULARES</a:t>
            </a:r>
            <a:endParaRPr lang="es-PE" sz="2800" dirty="0">
              <a:solidFill>
                <a:schemeClr val="tx1"/>
              </a:solidFill>
            </a:endParaRPr>
          </a:p>
        </p:txBody>
      </p:sp>
      <mc:AlternateContent xmlns:mc="http://schemas.openxmlformats.org/markup-compatibility/2006" xmlns:a14="http://schemas.microsoft.com/office/drawing/2010/main">
        <mc:Choice Requires="a14">
          <p:sp>
            <p:nvSpPr>
              <p:cNvPr id="3" name="Rectángulo 2"/>
              <p:cNvSpPr/>
              <p:nvPr/>
            </p:nvSpPr>
            <p:spPr>
              <a:xfrm>
                <a:off x="344488" y="1628800"/>
                <a:ext cx="4953000" cy="4705006"/>
              </a:xfrm>
              <a:prstGeom prst="rect">
                <a:avLst/>
              </a:prstGeom>
            </p:spPr>
            <p:txBody>
              <a:bodyPr>
                <a:spAutoFit/>
              </a:bodyPr>
              <a:lstStyle/>
              <a:p>
                <a:pPr algn="just"/>
                <a:r>
                  <a:rPr lang="es-PE" dirty="0" smtClean="0"/>
                  <a:t>La rapidez v de cualquier molécula está relacionada con las componentes de velocidad </a:t>
                </a:r>
                <a:r>
                  <a:rPr lang="es-PE" dirty="0" err="1"/>
                  <a:t>v</a:t>
                </a:r>
                <a:r>
                  <a:rPr lang="es-PE" baseline="-25000" dirty="0" err="1"/>
                  <a:t>x</a:t>
                </a:r>
                <a:r>
                  <a:rPr lang="es-PE" dirty="0"/>
                  <a:t>, </a:t>
                </a:r>
                <a:r>
                  <a:rPr lang="es-PE" dirty="0" err="1"/>
                  <a:t>v</a:t>
                </a:r>
                <a:r>
                  <a:rPr lang="es-PE" baseline="-25000" dirty="0" err="1"/>
                  <a:t>y</a:t>
                </a:r>
                <a:r>
                  <a:rPr lang="es-PE" dirty="0"/>
                  <a:t> y </a:t>
                </a:r>
                <a:r>
                  <a:rPr lang="es-PE" dirty="0" err="1"/>
                  <a:t>v</a:t>
                </a:r>
                <a:r>
                  <a:rPr lang="es-PE" baseline="-25000" dirty="0" err="1"/>
                  <a:t>z</a:t>
                </a:r>
                <a:r>
                  <a:rPr lang="es-PE" dirty="0"/>
                  <a:t> </a:t>
                </a:r>
                <a:r>
                  <a:rPr lang="es-PE" dirty="0" smtClean="0"/>
                  <a:t>por:</a:t>
                </a:r>
              </a:p>
              <a:p>
                <a:pPr algn="just"/>
                <a14:m>
                  <m:oMathPara xmlns:m="http://schemas.openxmlformats.org/officeDocument/2006/math">
                    <m:oMathParaPr>
                      <m:jc m:val="centerGroup"/>
                    </m:oMathParaPr>
                    <m:oMath xmlns:m="http://schemas.openxmlformats.org/officeDocument/2006/math">
                      <m:sSup>
                        <m:sSupPr>
                          <m:ctrlPr>
                            <a:rPr lang="es-PE" i="1" smtClean="0">
                              <a:latin typeface="Cambria Math" panose="02040503050406030204" pitchFamily="18" charset="0"/>
                            </a:rPr>
                          </m:ctrlPr>
                        </m:sSupPr>
                        <m:e>
                          <m:r>
                            <a:rPr lang="es-PE" b="0" i="1" smtClean="0">
                              <a:latin typeface="Cambria Math" panose="02040503050406030204" pitchFamily="18" charset="0"/>
                            </a:rPr>
                            <m:t>𝑣</m:t>
                          </m:r>
                        </m:e>
                        <m:sup>
                          <m:r>
                            <a:rPr lang="es-PE" b="0" i="1" smtClean="0">
                              <a:latin typeface="Cambria Math" panose="02040503050406030204" pitchFamily="18" charset="0"/>
                            </a:rPr>
                            <m:t>2</m:t>
                          </m:r>
                        </m:sup>
                      </m:sSup>
                      <m:r>
                        <a:rPr lang="es-PE" i="1" smtClean="0">
                          <a:latin typeface="Cambria Math" panose="02040503050406030204" pitchFamily="18" charset="0"/>
                        </a:rPr>
                        <m:t>=</m:t>
                      </m:r>
                      <m:sSubSup>
                        <m:sSubSupPr>
                          <m:ctrlPr>
                            <a:rPr lang="es-PE" i="1" smtClean="0">
                              <a:latin typeface="Cambria Math" panose="02040503050406030204" pitchFamily="18" charset="0"/>
                            </a:rPr>
                          </m:ctrlPr>
                        </m:sSubSupPr>
                        <m:e>
                          <m:r>
                            <a:rPr lang="es-PE" b="0" i="1" smtClean="0">
                              <a:latin typeface="Cambria Math" panose="02040503050406030204" pitchFamily="18" charset="0"/>
                            </a:rPr>
                            <m:t>𝑣</m:t>
                          </m:r>
                        </m:e>
                        <m:sub>
                          <m:r>
                            <a:rPr lang="es-PE" b="0" i="1" smtClean="0">
                              <a:latin typeface="Cambria Math" panose="02040503050406030204" pitchFamily="18" charset="0"/>
                            </a:rPr>
                            <m:t>𝑥</m:t>
                          </m:r>
                        </m:sub>
                        <m:sup>
                          <m:r>
                            <a:rPr lang="es-PE" b="0" i="1" smtClean="0">
                              <a:latin typeface="Cambria Math" panose="02040503050406030204" pitchFamily="18" charset="0"/>
                            </a:rPr>
                            <m:t>2</m:t>
                          </m:r>
                        </m:sup>
                      </m:sSubSup>
                      <m:r>
                        <a:rPr lang="es-PE" b="0" i="1" smtClean="0">
                          <a:latin typeface="Cambria Math" panose="02040503050406030204" pitchFamily="18" charset="0"/>
                        </a:rPr>
                        <m:t>+</m:t>
                      </m:r>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𝑣</m:t>
                          </m:r>
                        </m:e>
                        <m:sub>
                          <m:r>
                            <a:rPr lang="es-PE" b="0" i="1" smtClean="0">
                              <a:latin typeface="Cambria Math" panose="02040503050406030204" pitchFamily="18" charset="0"/>
                            </a:rPr>
                            <m:t>𝑦</m:t>
                          </m:r>
                        </m:sub>
                        <m:sup>
                          <m:r>
                            <a:rPr lang="es-PE" b="0" i="1" smtClean="0">
                              <a:latin typeface="Cambria Math" panose="02040503050406030204" pitchFamily="18" charset="0"/>
                            </a:rPr>
                            <m:t>2</m:t>
                          </m:r>
                        </m:sup>
                      </m:sSubSup>
                      <m:r>
                        <a:rPr lang="es-PE" b="0" i="1" smtClean="0">
                          <a:latin typeface="Cambria Math" panose="02040503050406030204" pitchFamily="18" charset="0"/>
                        </a:rPr>
                        <m:t>+</m:t>
                      </m:r>
                      <m:sSubSup>
                        <m:sSubSupPr>
                          <m:ctrlPr>
                            <a:rPr lang="es-PE" b="0" i="1" smtClean="0">
                              <a:latin typeface="Cambria Math" panose="02040503050406030204" pitchFamily="18" charset="0"/>
                            </a:rPr>
                          </m:ctrlPr>
                        </m:sSubSupPr>
                        <m:e>
                          <m:r>
                            <a:rPr lang="es-PE" b="0" i="1" smtClean="0">
                              <a:latin typeface="Cambria Math" panose="02040503050406030204" pitchFamily="18" charset="0"/>
                            </a:rPr>
                            <m:t>𝑣</m:t>
                          </m:r>
                        </m:e>
                        <m:sub>
                          <m:r>
                            <a:rPr lang="es-PE" b="0" i="1" smtClean="0">
                              <a:latin typeface="Cambria Math" panose="02040503050406030204" pitchFamily="18" charset="0"/>
                            </a:rPr>
                            <m:t>𝑧</m:t>
                          </m:r>
                        </m:sub>
                        <m:sup>
                          <m:r>
                            <a:rPr lang="es-PE" b="0" i="1" smtClean="0">
                              <a:latin typeface="Cambria Math" panose="02040503050406030204" pitchFamily="18" charset="0"/>
                            </a:rPr>
                            <m:t>2</m:t>
                          </m:r>
                        </m:sup>
                      </m:sSubSup>
                    </m:oMath>
                  </m:oMathPara>
                </a14:m>
                <a:endParaRPr lang="es-PE" dirty="0" smtClean="0"/>
              </a:p>
              <a:p>
                <a:pPr algn="just"/>
                <a:r>
                  <a:rPr lang="es-PE" dirty="0"/>
                  <a:t>Podemos promediar esta relación para todas las moléculas: </a:t>
                </a:r>
                <a:endParaRPr lang="es-PE" dirty="0" smtClean="0"/>
              </a:p>
              <a:p>
                <a:pPr algn="just"/>
                <a14:m>
                  <m:oMathPara xmlns:m="http://schemas.openxmlformats.org/officeDocument/2006/math">
                    <m:oMathParaPr>
                      <m:jc m:val="centerGroup"/>
                    </m:oMathParaPr>
                    <m:oMath xmlns:m="http://schemas.openxmlformats.org/officeDocument/2006/math">
                      <m:sSub>
                        <m:sSubPr>
                          <m:ctrlPr>
                            <a:rPr lang="es-PE" i="1" smtClean="0">
                              <a:latin typeface="Cambria Math" panose="02040503050406030204" pitchFamily="18" charset="0"/>
                            </a:rPr>
                          </m:ctrlPr>
                        </m:sSubPr>
                        <m:e>
                          <m:d>
                            <m:dPr>
                              <m:ctrlPr>
                                <a:rPr lang="es-PE" i="1" smtClean="0">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b="0" i="1" smtClean="0">
                              <a:latin typeface="Cambria Math" panose="02040503050406030204" pitchFamily="18" charset="0"/>
                            </a:rPr>
                            <m:t>𝑚𝑒𝑑</m:t>
                          </m:r>
                        </m:sub>
                      </m:sSub>
                      <m:r>
                        <a:rPr lang="es-PE" i="1">
                          <a:latin typeface="Cambria Math" panose="02040503050406030204" pitchFamily="18" charset="0"/>
                        </a:rPr>
                        <m:t>=</m:t>
                      </m:r>
                      <m:sSub>
                        <m:sSubPr>
                          <m:ctrlPr>
                            <a:rPr lang="es-PE" i="1" smtClean="0">
                              <a:latin typeface="Cambria Math" panose="02040503050406030204" pitchFamily="18" charset="0"/>
                            </a:rPr>
                          </m:ctrlPr>
                        </m:sSubPr>
                        <m:e>
                          <m:d>
                            <m:dPr>
                              <m:ctrlPr>
                                <a:rPr lang="es-PE" i="1" smtClean="0">
                                  <a:latin typeface="Cambria Math" panose="02040503050406030204" pitchFamily="18" charset="0"/>
                                </a:rPr>
                              </m:ctrlPr>
                            </m:dPr>
                            <m:e>
                              <m:sSubSup>
                                <m:sSubSupPr>
                                  <m:ctrlPr>
                                    <a:rPr lang="es-PE" i="1">
                                      <a:latin typeface="Cambria Math" panose="02040503050406030204" pitchFamily="18" charset="0"/>
                                    </a:rPr>
                                  </m:ctrlPr>
                                </m:sSubSupPr>
                                <m:e>
                                  <m:r>
                                    <a:rPr lang="es-PE" i="1">
                                      <a:latin typeface="Cambria Math" panose="02040503050406030204" pitchFamily="18" charset="0"/>
                                    </a:rPr>
                                    <m:t>𝑣</m:t>
                                  </m:r>
                                </m:e>
                                <m:sub>
                                  <m:r>
                                    <a:rPr lang="es-PE" i="1">
                                      <a:latin typeface="Cambria Math" panose="02040503050406030204" pitchFamily="18" charset="0"/>
                                    </a:rPr>
                                    <m:t>𝑥</m:t>
                                  </m:r>
                                </m:sub>
                                <m:sup>
                                  <m:r>
                                    <a:rPr lang="es-PE" i="1">
                                      <a:latin typeface="Cambria Math" panose="02040503050406030204" pitchFamily="18" charset="0"/>
                                    </a:rPr>
                                    <m:t>2</m:t>
                                  </m:r>
                                </m:sup>
                              </m:sSubSup>
                            </m:e>
                          </m:d>
                        </m:e>
                        <m:sub>
                          <m:r>
                            <a:rPr lang="es-PE" b="0" i="1" smtClean="0">
                              <a:latin typeface="Cambria Math" panose="02040503050406030204" pitchFamily="18" charset="0"/>
                            </a:rPr>
                            <m:t>𝑚𝑒𝑑</m:t>
                          </m:r>
                        </m:sub>
                      </m:sSub>
                      <m:r>
                        <a:rPr lang="es-PE" i="1">
                          <a:latin typeface="Cambria Math" panose="02040503050406030204" pitchFamily="18" charset="0"/>
                        </a:rPr>
                        <m:t>+</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bSup>
                                <m:sSubSupPr>
                                  <m:ctrlPr>
                                    <a:rPr lang="es-PE" i="1">
                                      <a:latin typeface="Cambria Math" panose="02040503050406030204" pitchFamily="18" charset="0"/>
                                    </a:rPr>
                                  </m:ctrlPr>
                                </m:sSubSupPr>
                                <m:e>
                                  <m:r>
                                    <a:rPr lang="es-PE" i="1">
                                      <a:latin typeface="Cambria Math" panose="02040503050406030204" pitchFamily="18" charset="0"/>
                                    </a:rPr>
                                    <m:t>𝑣</m:t>
                                  </m:r>
                                </m:e>
                                <m:sub>
                                  <m:r>
                                    <a:rPr lang="es-PE" b="0" i="1" smtClean="0">
                                      <a:latin typeface="Cambria Math" panose="02040503050406030204" pitchFamily="18" charset="0"/>
                                    </a:rPr>
                                    <m:t>𝑦</m:t>
                                  </m:r>
                                </m:sub>
                                <m:sup>
                                  <m:r>
                                    <a:rPr lang="es-PE" i="1">
                                      <a:latin typeface="Cambria Math" panose="02040503050406030204" pitchFamily="18" charset="0"/>
                                    </a:rPr>
                                    <m:t>2</m:t>
                                  </m:r>
                                </m:sup>
                              </m:sSubSup>
                            </m:e>
                          </m:d>
                        </m:e>
                        <m:sub>
                          <m:r>
                            <a:rPr lang="es-PE" i="1">
                              <a:latin typeface="Cambria Math" panose="02040503050406030204" pitchFamily="18" charset="0"/>
                            </a:rPr>
                            <m:t>𝑚𝑒𝑑</m:t>
                          </m:r>
                        </m:sub>
                      </m:sSub>
                      <m:r>
                        <a:rPr lang="es-PE" b="0" i="1" smtClean="0">
                          <a:latin typeface="Cambria Math" panose="02040503050406030204" pitchFamily="18" charset="0"/>
                        </a:rPr>
                        <m:t>+</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bSup>
                                <m:sSubSupPr>
                                  <m:ctrlPr>
                                    <a:rPr lang="es-PE" i="1">
                                      <a:latin typeface="Cambria Math" panose="02040503050406030204" pitchFamily="18" charset="0"/>
                                    </a:rPr>
                                  </m:ctrlPr>
                                </m:sSubSupPr>
                                <m:e>
                                  <m:r>
                                    <a:rPr lang="es-PE" i="1">
                                      <a:latin typeface="Cambria Math" panose="02040503050406030204" pitchFamily="18" charset="0"/>
                                    </a:rPr>
                                    <m:t>𝑣</m:t>
                                  </m:r>
                                </m:e>
                                <m:sub>
                                  <m:r>
                                    <a:rPr lang="es-PE" b="0" i="1" smtClean="0">
                                      <a:latin typeface="Cambria Math" panose="02040503050406030204" pitchFamily="18" charset="0"/>
                                    </a:rPr>
                                    <m:t>𝑧</m:t>
                                  </m:r>
                                </m:sub>
                                <m:sup>
                                  <m:r>
                                    <a:rPr lang="es-PE" i="1">
                                      <a:latin typeface="Cambria Math" panose="02040503050406030204" pitchFamily="18" charset="0"/>
                                    </a:rPr>
                                    <m:t>2</m:t>
                                  </m:r>
                                </m:sup>
                              </m:sSubSup>
                            </m:e>
                          </m:d>
                        </m:e>
                        <m:sub>
                          <m:r>
                            <a:rPr lang="es-PE" i="1">
                              <a:latin typeface="Cambria Math" panose="02040503050406030204" pitchFamily="18" charset="0"/>
                            </a:rPr>
                            <m:t>𝑚𝑒𝑑</m:t>
                          </m:r>
                        </m:sub>
                      </m:sSub>
                    </m:oMath>
                  </m:oMathPara>
                </a14:m>
                <a:endParaRPr lang="es-PE" dirty="0" smtClean="0"/>
              </a:p>
              <a:p>
                <a:pPr algn="just"/>
                <a:r>
                  <a:rPr lang="es-PE" dirty="0" smtClean="0"/>
                  <a:t>Los efectos gravitatorios son despreciables y las velocidades son muy altas por lo que podemos asumir que las velocidades medias son iguales en </a:t>
                </a:r>
                <a:r>
                  <a:rPr lang="es-PE" dirty="0" err="1" smtClean="0"/>
                  <a:t>x,y</a:t>
                </a:r>
                <a:r>
                  <a:rPr lang="es-PE" dirty="0" smtClean="0"/>
                  <a:t> y z, entonces:</a:t>
                </a:r>
              </a:p>
              <a:p>
                <a:r>
                  <a:rPr lang="es-PE" dirty="0" smtClean="0"/>
                  <a:t> </a:t>
                </a:r>
                <a14:m>
                  <m:oMath xmlns:m="http://schemas.openxmlformats.org/officeDocument/2006/math">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r>
                      <a:rPr lang="es-PE" i="1">
                        <a:latin typeface="Cambria Math" panose="02040503050406030204" pitchFamily="18" charset="0"/>
                      </a:rPr>
                      <m:t>=</m:t>
                    </m:r>
                    <m:r>
                      <a:rPr lang="es-PE" b="0" i="1" smtClean="0">
                        <a:latin typeface="Cambria Math" panose="02040503050406030204" pitchFamily="18" charset="0"/>
                      </a:rPr>
                      <m:t>3</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bSup>
                              <m:sSubSupPr>
                                <m:ctrlPr>
                                  <a:rPr lang="es-PE" i="1">
                                    <a:latin typeface="Cambria Math" panose="02040503050406030204" pitchFamily="18" charset="0"/>
                                  </a:rPr>
                                </m:ctrlPr>
                              </m:sSubSupPr>
                              <m:e>
                                <m:r>
                                  <a:rPr lang="es-PE" i="1">
                                    <a:latin typeface="Cambria Math" panose="02040503050406030204" pitchFamily="18" charset="0"/>
                                  </a:rPr>
                                  <m:t>𝑣</m:t>
                                </m:r>
                              </m:e>
                              <m:sub>
                                <m:r>
                                  <a:rPr lang="es-PE" i="1">
                                    <a:latin typeface="Cambria Math" panose="02040503050406030204" pitchFamily="18" charset="0"/>
                                  </a:rPr>
                                  <m:t>𝑥</m:t>
                                </m:r>
                              </m:sub>
                              <m:sup>
                                <m:r>
                                  <a:rPr lang="es-PE" i="1">
                                    <a:latin typeface="Cambria Math" panose="02040503050406030204" pitchFamily="18" charset="0"/>
                                  </a:rPr>
                                  <m:t>2</m:t>
                                </m:r>
                              </m:sup>
                            </m:sSubSup>
                          </m:e>
                        </m:d>
                      </m:e>
                      <m:sub>
                        <m:r>
                          <a:rPr lang="es-PE" i="1">
                            <a:latin typeface="Cambria Math" panose="02040503050406030204" pitchFamily="18" charset="0"/>
                          </a:rPr>
                          <m:t>𝑚𝑒𝑑</m:t>
                        </m:r>
                      </m:sub>
                    </m:sSub>
                  </m:oMath>
                </a14:m>
                <a:endParaRPr lang="es-PE" dirty="0" smtClean="0"/>
              </a:p>
              <a:p>
                <a:r>
                  <a:rPr lang="es-PE" dirty="0" smtClean="0"/>
                  <a:t>Así la ecuación para le presión se convierte en:</a:t>
                </a:r>
              </a:p>
              <a:p>
                <a:endParaRPr lang="es-PE" dirty="0" smtClean="0"/>
              </a:p>
              <a:p>
                <a:pPr/>
                <a14:m>
                  <m:oMathPara xmlns:m="http://schemas.openxmlformats.org/officeDocument/2006/math">
                    <m:oMathParaPr>
                      <m:jc m:val="centerGroup"/>
                    </m:oMathParaPr>
                    <m:oMath xmlns:m="http://schemas.openxmlformats.org/officeDocument/2006/math">
                      <m:r>
                        <a:rPr lang="es-PE" i="1">
                          <a:latin typeface="Cambria Math" panose="02040503050406030204" pitchFamily="18" charset="0"/>
                        </a:rPr>
                        <m:t>𝑝</m:t>
                      </m:r>
                      <m:r>
                        <a:rPr lang="es-PE" b="0" i="1" smtClean="0">
                          <a:latin typeface="Cambria Math" panose="02040503050406030204" pitchFamily="18" charset="0"/>
                        </a:rPr>
                        <m:t>𝑉</m:t>
                      </m:r>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𝑁𝑚</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num>
                        <m:den>
                          <m:r>
                            <a:rPr lang="es-PE" b="0" i="1" smtClean="0">
                              <a:latin typeface="Cambria Math" panose="02040503050406030204" pitchFamily="18" charset="0"/>
                            </a:rPr>
                            <m:t>3</m:t>
                          </m:r>
                        </m:den>
                      </m:f>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2</m:t>
                          </m:r>
                        </m:num>
                        <m:den>
                          <m:r>
                            <a:rPr lang="es-PE" b="0" i="1" smtClean="0">
                              <a:latin typeface="Cambria Math" panose="02040503050406030204" pitchFamily="18" charset="0"/>
                            </a:rPr>
                            <m:t>3</m:t>
                          </m:r>
                        </m:den>
                      </m:f>
                      <m:d>
                        <m:dPr>
                          <m:ctrlPr>
                            <a:rPr lang="es-PE" b="0" i="1" smtClean="0">
                              <a:latin typeface="Cambria Math" panose="02040503050406030204" pitchFamily="18" charset="0"/>
                            </a:rPr>
                          </m:ctrlPr>
                        </m:dPr>
                        <m:e>
                          <m:r>
                            <a:rPr lang="es-ES" b="0" i="1" smtClean="0">
                              <a:latin typeface="Cambria Math" panose="02040503050406030204" pitchFamily="18" charset="0"/>
                            </a:rPr>
                            <m:t>𝑁</m:t>
                          </m:r>
                          <m:f>
                            <m:fPr>
                              <m:ctrlPr>
                                <a:rPr lang="es-PE" b="0" i="1" smtClean="0">
                                  <a:latin typeface="Cambria Math" panose="02040503050406030204" pitchFamily="18" charset="0"/>
                                </a:rPr>
                              </m:ctrlPr>
                            </m:fPr>
                            <m:num>
                              <m:r>
                                <a:rPr lang="es-PE" b="0" i="1" smtClean="0">
                                  <a:latin typeface="Cambria Math" panose="02040503050406030204" pitchFamily="18" charset="0"/>
                                </a:rPr>
                                <m:t>1</m:t>
                              </m:r>
                            </m:num>
                            <m:den>
                              <m:r>
                                <a:rPr lang="es-PE" b="0" i="1" smtClean="0">
                                  <a:latin typeface="Cambria Math" panose="02040503050406030204" pitchFamily="18" charset="0"/>
                                </a:rPr>
                                <m:t>2</m:t>
                              </m:r>
                            </m:den>
                          </m:f>
                          <m:r>
                            <a:rPr lang="es-PE" i="1">
                              <a:latin typeface="Cambria Math" panose="02040503050406030204" pitchFamily="18" charset="0"/>
                            </a:rPr>
                            <m:t>𝑚</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e>
                      </m:d>
                    </m:oMath>
                  </m:oMathPara>
                </a14:m>
                <a:endParaRPr lang="es-PE" dirty="0"/>
              </a:p>
            </p:txBody>
          </p:sp>
        </mc:Choice>
        <mc:Fallback xmlns="">
          <p:sp>
            <p:nvSpPr>
              <p:cNvPr id="3" name="Rectángulo 2"/>
              <p:cNvSpPr>
                <a:spLocks noRot="1" noChangeAspect="1" noMove="1" noResize="1" noEditPoints="1" noAdjustHandles="1" noChangeArrowheads="1" noChangeShapeType="1" noTextEdit="1"/>
              </p:cNvSpPr>
              <p:nvPr/>
            </p:nvSpPr>
            <p:spPr>
              <a:xfrm>
                <a:off x="344488" y="1628800"/>
                <a:ext cx="4953000" cy="4705006"/>
              </a:xfrm>
              <a:prstGeom prst="rect">
                <a:avLst/>
              </a:prstGeom>
              <a:blipFill rotWithShape="0">
                <a:blip r:embed="rId2"/>
                <a:stretch>
                  <a:fillRect l="-1108" t="-648" r="-98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5601072" y="1628800"/>
                <a:ext cx="3888432" cy="5239383"/>
              </a:xfrm>
              <a:prstGeom prst="rect">
                <a:avLst/>
              </a:prstGeom>
              <a:noFill/>
            </p:spPr>
            <p:txBody>
              <a:bodyPr wrap="square" rtlCol="0">
                <a:spAutoFit/>
              </a:bodyPr>
              <a:lstStyle/>
              <a:p>
                <a:r>
                  <a:rPr lang="es-PE" dirty="0" smtClean="0"/>
                  <a:t>Esta expresión podríamos escribirla como:</a:t>
                </a:r>
              </a:p>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𝑝𝑉</m:t>
                      </m:r>
                      <m:r>
                        <a:rPr lang="es-PE" i="1" smtClean="0">
                          <a:latin typeface="Cambria Math" panose="02040503050406030204" pitchFamily="18" charset="0"/>
                        </a:rPr>
                        <m:t>=</m:t>
                      </m:r>
                      <m:f>
                        <m:fPr>
                          <m:ctrlPr>
                            <a:rPr lang="es-PE" i="1" smtClean="0">
                              <a:latin typeface="Cambria Math" panose="02040503050406030204" pitchFamily="18" charset="0"/>
                            </a:rPr>
                          </m:ctrlPr>
                        </m:fPr>
                        <m:num>
                          <m:r>
                            <a:rPr lang="es-PE" b="0" i="1" smtClean="0">
                              <a:latin typeface="Cambria Math" panose="02040503050406030204" pitchFamily="18" charset="0"/>
                            </a:rPr>
                            <m:t>2</m:t>
                          </m:r>
                        </m:num>
                        <m:den>
                          <m:r>
                            <a:rPr lang="es-PE" b="0" i="1" smtClean="0">
                              <a:latin typeface="Cambria Math" panose="02040503050406030204" pitchFamily="18" charset="0"/>
                            </a:rPr>
                            <m:t>3</m:t>
                          </m:r>
                        </m:den>
                      </m:f>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𝑡𝑟</m:t>
                          </m:r>
                        </m:sub>
                      </m:sSub>
                    </m:oMath>
                  </m:oMathPara>
                </a14:m>
                <a:endParaRPr lang="es-PE" dirty="0" smtClean="0"/>
              </a:p>
              <a:p>
                <a:pPr algn="just"/>
                <a:r>
                  <a:rPr lang="es-PE" dirty="0" smtClean="0"/>
                  <a:t>Donde </a:t>
                </a:r>
                <a14:m>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𝑡𝑟</m:t>
                        </m:r>
                      </m:sub>
                    </m:sSub>
                  </m:oMath>
                </a14:m>
                <a:r>
                  <a:rPr lang="es-PE" dirty="0" smtClean="0"/>
                  <a:t> es la energía cinética de traslación aleatoria de todas las partículas.</a:t>
                </a:r>
              </a:p>
              <a:p>
                <a:r>
                  <a:rPr lang="es-PE" dirty="0" smtClean="0"/>
                  <a:t>Si comparamos esta ecuación con la ecuación para los gases ideales</a:t>
                </a:r>
              </a:p>
              <a:p>
                <a:pPr/>
                <a14:m>
                  <m:oMathPara xmlns:m="http://schemas.openxmlformats.org/officeDocument/2006/math">
                    <m:oMathParaPr>
                      <m:jc m:val="centerGroup"/>
                    </m:oMathParaPr>
                    <m:oMath xmlns:m="http://schemas.openxmlformats.org/officeDocument/2006/math">
                      <m:r>
                        <a:rPr lang="es-PE" i="1">
                          <a:latin typeface="Cambria Math" panose="02040503050406030204" pitchFamily="18" charset="0"/>
                        </a:rPr>
                        <m:t>𝑝𝑉</m:t>
                      </m:r>
                      <m:r>
                        <a:rPr lang="es-PE" i="1">
                          <a:latin typeface="Cambria Math" panose="02040503050406030204" pitchFamily="18" charset="0"/>
                        </a:rPr>
                        <m:t>=</m:t>
                      </m:r>
                      <m:r>
                        <a:rPr lang="es-PE" b="0" i="1" smtClean="0">
                          <a:latin typeface="Cambria Math" panose="02040503050406030204" pitchFamily="18" charset="0"/>
                        </a:rPr>
                        <m:t>𝑛𝑅𝑇</m:t>
                      </m:r>
                      <m:r>
                        <a:rPr lang="es-PE" b="0" i="1" smtClean="0">
                          <a:latin typeface="Cambria Math" panose="02040503050406030204" pitchFamily="18" charset="0"/>
                        </a:rPr>
                        <m:t>       </m:t>
                      </m:r>
                      <m:r>
                        <a:rPr lang="es-PE" b="0" i="1" smtClean="0">
                          <a:latin typeface="Cambria Math" panose="02040503050406030204" pitchFamily="18" charset="0"/>
                        </a:rPr>
                        <m:t>𝑐𝑜𝑛</m:t>
                      </m:r>
                      <m:r>
                        <a:rPr lang="es-PE" b="0" i="1" smtClean="0">
                          <a:latin typeface="Cambria Math" panose="02040503050406030204" pitchFamily="18" charset="0"/>
                        </a:rPr>
                        <m:t>  </m:t>
                      </m:r>
                      <m:r>
                        <a:rPr lang="es-PE" b="0" i="1" smtClean="0">
                          <a:latin typeface="Cambria Math" panose="02040503050406030204" pitchFamily="18" charset="0"/>
                        </a:rPr>
                        <m:t>𝑅</m:t>
                      </m:r>
                      <m:r>
                        <a:rPr lang="es-PE" b="0" i="1" smtClean="0">
                          <a:latin typeface="Cambria Math" panose="02040503050406030204" pitchFamily="18" charset="0"/>
                        </a:rPr>
                        <m:t>=8,314</m:t>
                      </m:r>
                      <m:f>
                        <m:fPr>
                          <m:ctrlPr>
                            <a:rPr lang="es-PE" b="0" i="1" smtClean="0">
                              <a:latin typeface="Cambria Math" panose="02040503050406030204" pitchFamily="18" charset="0"/>
                            </a:rPr>
                          </m:ctrlPr>
                        </m:fPr>
                        <m:num>
                          <m:r>
                            <a:rPr lang="es-PE" b="0" i="1" smtClean="0">
                              <a:latin typeface="Cambria Math" panose="02040503050406030204" pitchFamily="18" charset="0"/>
                            </a:rPr>
                            <m:t>𝐽</m:t>
                          </m:r>
                        </m:num>
                        <m:den>
                          <m:r>
                            <a:rPr lang="es-PE" b="0" i="1" smtClean="0">
                              <a:latin typeface="Cambria Math" panose="02040503050406030204" pitchFamily="18" charset="0"/>
                            </a:rPr>
                            <m:t>𝑚𝑜𝑙</m:t>
                          </m:r>
                          <m:r>
                            <a:rPr lang="es-PE" b="0" i="1" smtClean="0">
                              <a:latin typeface="Cambria Math" panose="02040503050406030204" pitchFamily="18" charset="0"/>
                              <a:ea typeface="Cambria Math" panose="02040503050406030204" pitchFamily="18" charset="0"/>
                            </a:rPr>
                            <m:t>∙</m:t>
                          </m:r>
                          <m:r>
                            <a:rPr lang="es-PE" b="0" i="1" smtClean="0">
                              <a:latin typeface="Cambria Math" panose="02040503050406030204" pitchFamily="18" charset="0"/>
                            </a:rPr>
                            <m:t>𝐾</m:t>
                          </m:r>
                        </m:den>
                      </m:f>
                    </m:oMath>
                  </m:oMathPara>
                </a14:m>
                <a:endParaRPr lang="es-PE" dirty="0" smtClean="0"/>
              </a:p>
              <a:p>
                <a:r>
                  <a:rPr lang="es-PE" dirty="0"/>
                  <a:t>tenemos</a:t>
                </a:r>
                <a:r>
                  <a:rPr lang="es-PE" dirty="0" smtClean="0"/>
                  <a:t>:</a:t>
                </a:r>
              </a:p>
              <a:p>
                <a:pPr/>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𝑡𝑟</m:t>
                          </m:r>
                        </m:sub>
                      </m:sSub>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3</m:t>
                          </m:r>
                        </m:num>
                        <m:den>
                          <m:r>
                            <a:rPr lang="es-PE" b="0" i="1" smtClean="0">
                              <a:latin typeface="Cambria Math" panose="02040503050406030204" pitchFamily="18" charset="0"/>
                            </a:rPr>
                            <m:t>2</m:t>
                          </m:r>
                        </m:den>
                      </m:f>
                      <m:r>
                        <a:rPr lang="es-PE" b="0" i="1" smtClean="0">
                          <a:latin typeface="Cambria Math" panose="02040503050406030204" pitchFamily="18" charset="0"/>
                        </a:rPr>
                        <m:t>𝑛𝑅𝑇</m:t>
                      </m:r>
                      <m:r>
                        <a:rPr lang="es-PE" b="0" i="1" smtClean="0">
                          <a:latin typeface="Cambria Math" panose="02040503050406030204" pitchFamily="18" charset="0"/>
                        </a:rPr>
                        <m:t>       (1)</m:t>
                      </m:r>
                    </m:oMath>
                  </m:oMathPara>
                </a14:m>
                <a:endParaRPr lang="es-PE" dirty="0" smtClean="0"/>
              </a:p>
              <a:p>
                <a:r>
                  <a:rPr lang="es-PE" dirty="0"/>
                  <a:t>Que es </a:t>
                </a:r>
                <a:r>
                  <a:rPr lang="es-PE" dirty="0" smtClean="0"/>
                  <a:t>la energía </a:t>
                </a:r>
                <a:r>
                  <a:rPr lang="es-PE" dirty="0"/>
                  <a:t>cinética de traslación media de n moles de gas </a:t>
                </a:r>
                <a:r>
                  <a:rPr lang="es-PE" dirty="0" smtClean="0"/>
                  <a:t>ideal, dividiendo por N tenemos:</a:t>
                </a:r>
              </a:p>
              <a:p>
                <a:pPr/>
                <a14:m>
                  <m:oMathPara xmlns:m="http://schemas.openxmlformats.org/officeDocument/2006/math">
                    <m:oMathParaPr>
                      <m:jc m:val="centerGroup"/>
                    </m:oMathParaPr>
                    <m:oMath xmlns:m="http://schemas.openxmlformats.org/officeDocument/2006/math">
                      <m:f>
                        <m:fPr>
                          <m:ctrlPr>
                            <a:rPr lang="es-PE" i="1" smtClean="0">
                              <a:latin typeface="Cambria Math" panose="02040503050406030204" pitchFamily="18" charset="0"/>
                            </a:rPr>
                          </m:ctrlPr>
                        </m:fPr>
                        <m:num>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𝑡𝑟</m:t>
                              </m:r>
                            </m:sub>
                          </m:sSub>
                        </m:num>
                        <m:den>
                          <m:r>
                            <a:rPr lang="es-PE" b="0" i="1" smtClean="0">
                              <a:latin typeface="Cambria Math" panose="02040503050406030204" pitchFamily="18" charset="0"/>
                            </a:rPr>
                            <m:t>𝑁</m:t>
                          </m:r>
                        </m:den>
                      </m:f>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1</m:t>
                          </m:r>
                        </m:num>
                        <m:den>
                          <m:r>
                            <a:rPr lang="es-PE" i="1">
                              <a:latin typeface="Cambria Math" panose="02040503050406030204" pitchFamily="18" charset="0"/>
                            </a:rPr>
                            <m:t>2</m:t>
                          </m:r>
                        </m:den>
                      </m:f>
                      <m:r>
                        <a:rPr lang="es-PE" i="1">
                          <a:latin typeface="Cambria Math" panose="02040503050406030204" pitchFamily="18" charset="0"/>
                        </a:rPr>
                        <m:t>𝑚</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3</m:t>
                          </m:r>
                          <m:r>
                            <a:rPr lang="es-PE" i="1">
                              <a:latin typeface="Cambria Math" panose="02040503050406030204" pitchFamily="18" charset="0"/>
                            </a:rPr>
                            <m:t>𝑛𝑅𝑇</m:t>
                          </m:r>
                          <m:r>
                            <m:rPr>
                              <m:nor/>
                            </m:rPr>
                            <a:rPr lang="es-PE" dirty="0"/>
                            <m:t> </m:t>
                          </m:r>
                        </m:num>
                        <m:den>
                          <m:r>
                            <a:rPr lang="es-PE" i="1">
                              <a:latin typeface="Cambria Math" panose="02040503050406030204" pitchFamily="18" charset="0"/>
                            </a:rPr>
                            <m:t>2</m:t>
                          </m:r>
                          <m:r>
                            <a:rPr lang="es-PE" b="0" i="1" smtClean="0">
                              <a:latin typeface="Cambria Math" panose="02040503050406030204" pitchFamily="18" charset="0"/>
                            </a:rPr>
                            <m:t>𝑁</m:t>
                          </m:r>
                        </m:den>
                      </m:f>
                    </m:oMath>
                  </m:oMathPara>
                </a14:m>
                <a:endParaRPr lang="es-PE" dirty="0"/>
              </a:p>
            </p:txBody>
          </p:sp>
        </mc:Choice>
        <mc:Fallback xmlns="">
          <p:sp>
            <p:nvSpPr>
              <p:cNvPr id="4" name="CuadroTexto 3"/>
              <p:cNvSpPr txBox="1">
                <a:spLocks noRot="1" noChangeAspect="1" noMove="1" noResize="1" noEditPoints="1" noAdjustHandles="1" noChangeArrowheads="1" noChangeShapeType="1" noTextEdit="1"/>
              </p:cNvSpPr>
              <p:nvPr/>
            </p:nvSpPr>
            <p:spPr>
              <a:xfrm>
                <a:off x="5601072" y="1628800"/>
                <a:ext cx="3888432" cy="5239383"/>
              </a:xfrm>
              <a:prstGeom prst="rect">
                <a:avLst/>
              </a:prstGeom>
              <a:blipFill rotWithShape="0">
                <a:blip r:embed="rId3"/>
                <a:stretch>
                  <a:fillRect l="-1411" t="-581" r="-1254"/>
                </a:stretch>
              </a:blipFill>
            </p:spPr>
            <p:txBody>
              <a:bodyPr/>
              <a:lstStyle/>
              <a:p>
                <a:r>
                  <a:rPr lang="es-PE">
                    <a:noFill/>
                  </a:rPr>
                  <a:t> </a:t>
                </a:r>
              </a:p>
            </p:txBody>
          </p:sp>
        </mc:Fallback>
      </mc:AlternateContent>
    </p:spTree>
    <p:extLst>
      <p:ext uri="{BB962C8B-B14F-4D97-AF65-F5344CB8AC3E}">
        <p14:creationId xmlns:p14="http://schemas.microsoft.com/office/powerpoint/2010/main" val="28677960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4" name="Rectángulo redondeado 13"/>
          <p:cNvSpPr/>
          <p:nvPr/>
        </p:nvSpPr>
        <p:spPr>
          <a:xfrm>
            <a:off x="1712640" y="764704"/>
            <a:ext cx="2376264" cy="461665"/>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PE" sz="2400" dirty="0" smtClean="0">
                <a:solidFill>
                  <a:schemeClr val="tx1"/>
                </a:solidFill>
              </a:rPr>
              <a:t>EJERCICIO</a:t>
            </a:r>
            <a:endParaRPr lang="es-PE" sz="2800" dirty="0">
              <a:solidFill>
                <a:schemeClr val="tx1"/>
              </a:solidFill>
            </a:endParaRPr>
          </a:p>
        </p:txBody>
      </p:sp>
      <p:sp>
        <p:nvSpPr>
          <p:cNvPr id="5" name="Rectángulo 4"/>
          <p:cNvSpPr/>
          <p:nvPr/>
        </p:nvSpPr>
        <p:spPr>
          <a:xfrm>
            <a:off x="236476" y="1772816"/>
            <a:ext cx="4500500" cy="2554545"/>
          </a:xfrm>
          <a:prstGeom prst="rect">
            <a:avLst/>
          </a:prstGeom>
        </p:spPr>
        <p:txBody>
          <a:bodyPr wrap="square">
            <a:spAutoFit/>
          </a:bodyPr>
          <a:lstStyle/>
          <a:p>
            <a:pPr marL="342900" indent="-342900" algn="just">
              <a:buFont typeface="+mj-lt"/>
              <a:buAutoNum type="arabicPeriod"/>
            </a:pPr>
            <a:r>
              <a:rPr lang="es-PE" sz="1600" dirty="0">
                <a:latin typeface="Arial" panose="020B0604020202020204" pitchFamily="34" charset="0"/>
                <a:cs typeface="Arial" panose="020B0604020202020204" pitchFamily="34" charset="0"/>
              </a:rPr>
              <a:t>La nebulosa </a:t>
            </a:r>
            <a:r>
              <a:rPr lang="es-PE" sz="1600" dirty="0" smtClean="0">
                <a:latin typeface="Arial" panose="020B0604020202020204" pitchFamily="34" charset="0"/>
                <a:cs typeface="Arial" panose="020B0604020202020204" pitchFamily="34" charset="0"/>
              </a:rPr>
              <a:t>Laguna </a:t>
            </a:r>
            <a:r>
              <a:rPr lang="es-PE" sz="1600" dirty="0">
                <a:latin typeface="Arial" panose="020B0604020202020204" pitchFamily="34" charset="0"/>
                <a:cs typeface="Arial" panose="020B0604020202020204" pitchFamily="34" charset="0"/>
              </a:rPr>
              <a:t>es una nube de </a:t>
            </a:r>
            <a:r>
              <a:rPr lang="es-PE" sz="1600" dirty="0" smtClean="0">
                <a:latin typeface="Arial" panose="020B0604020202020204" pitchFamily="34" charset="0"/>
                <a:cs typeface="Arial" panose="020B0604020202020204" pitchFamily="34" charset="0"/>
              </a:rPr>
              <a:t>hidrógeno gaseoso </a:t>
            </a:r>
            <a:r>
              <a:rPr lang="es-PE" sz="1600" dirty="0">
                <a:latin typeface="Arial" panose="020B0604020202020204" pitchFamily="34" charset="0"/>
                <a:cs typeface="Arial" panose="020B0604020202020204" pitchFamily="34" charset="0"/>
              </a:rPr>
              <a:t>que está a 3900 años luz de la Tierra; tiene unos 45 años luz </a:t>
            </a:r>
            <a:r>
              <a:rPr lang="es-PE" sz="1600" dirty="0" smtClean="0">
                <a:latin typeface="Arial" panose="020B0604020202020204" pitchFamily="34" charset="0"/>
                <a:cs typeface="Arial" panose="020B0604020202020204" pitchFamily="34" charset="0"/>
              </a:rPr>
              <a:t>de diámetro </a:t>
            </a:r>
            <a:r>
              <a:rPr lang="es-PE" sz="1600" dirty="0">
                <a:latin typeface="Arial" panose="020B0604020202020204" pitchFamily="34" charset="0"/>
                <a:cs typeface="Arial" panose="020B0604020202020204" pitchFamily="34" charset="0"/>
              </a:rPr>
              <a:t>y brilla a causa de su elevada temperatura de 7500 K. (El </a:t>
            </a:r>
            <a:r>
              <a:rPr lang="es-PE" sz="1600" dirty="0" smtClean="0">
                <a:latin typeface="Arial" panose="020B0604020202020204" pitchFamily="34" charset="0"/>
                <a:cs typeface="Arial" panose="020B0604020202020204" pitchFamily="34" charset="0"/>
              </a:rPr>
              <a:t>gas alcanza </a:t>
            </a:r>
            <a:r>
              <a:rPr lang="es-PE" sz="1600" dirty="0">
                <a:latin typeface="Arial" panose="020B0604020202020204" pitchFamily="34" charset="0"/>
                <a:cs typeface="Arial" panose="020B0604020202020204" pitchFamily="34" charset="0"/>
              </a:rPr>
              <a:t>esta temperatura gracias a las estrellas que están dentro de </a:t>
            </a:r>
            <a:r>
              <a:rPr lang="es-PE" sz="1600" dirty="0" smtClean="0">
                <a:latin typeface="Arial" panose="020B0604020202020204" pitchFamily="34" charset="0"/>
                <a:cs typeface="Arial" panose="020B0604020202020204" pitchFamily="34" charset="0"/>
              </a:rPr>
              <a:t>la nebulosa</a:t>
            </a:r>
            <a:r>
              <a:rPr lang="es-PE" sz="1600" dirty="0">
                <a:latin typeface="Arial" panose="020B0604020202020204" pitchFamily="34" charset="0"/>
                <a:cs typeface="Arial" panose="020B0604020202020204" pitchFamily="34" charset="0"/>
              </a:rPr>
              <a:t>.) La nube es muy poco densa; apenas hay 80 moléculas </a:t>
            </a:r>
            <a:r>
              <a:rPr lang="es-PE" sz="1600" dirty="0" smtClean="0">
                <a:latin typeface="Arial" panose="020B0604020202020204" pitchFamily="34" charset="0"/>
                <a:cs typeface="Arial" panose="020B0604020202020204" pitchFamily="34" charset="0"/>
              </a:rPr>
              <a:t>por cm3. </a:t>
            </a:r>
            <a:r>
              <a:rPr lang="es-PE" sz="1600" dirty="0">
                <a:latin typeface="Arial" panose="020B0604020202020204" pitchFamily="34" charset="0"/>
                <a:cs typeface="Arial" panose="020B0604020202020204" pitchFamily="34" charset="0"/>
              </a:rPr>
              <a:t>Calcule la presión del gas (en atm) en la nebulosa </a:t>
            </a:r>
            <a:r>
              <a:rPr lang="es-PE" sz="1600" dirty="0" smtClean="0">
                <a:latin typeface="Arial" panose="020B0604020202020204" pitchFamily="34" charset="0"/>
                <a:cs typeface="Arial" panose="020B0604020202020204" pitchFamily="34" charset="0"/>
              </a:rPr>
              <a:t>Laguna.</a:t>
            </a:r>
            <a:endParaRPr lang="es-PE" sz="16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4411769"/>
            <a:ext cx="3859185" cy="2220222"/>
          </a:xfrm>
          <a:prstGeom prst="rect">
            <a:avLst/>
          </a:prstGeom>
        </p:spPr>
      </p:pic>
      <p:sp>
        <p:nvSpPr>
          <p:cNvPr id="8" name="Rectángulo 7"/>
          <p:cNvSpPr/>
          <p:nvPr/>
        </p:nvSpPr>
        <p:spPr>
          <a:xfrm>
            <a:off x="5097016" y="1772816"/>
            <a:ext cx="4644516" cy="1569660"/>
          </a:xfrm>
          <a:prstGeom prst="rect">
            <a:avLst/>
          </a:prstGeom>
        </p:spPr>
        <p:txBody>
          <a:bodyPr wrap="square">
            <a:spAutoFit/>
          </a:bodyPr>
          <a:lstStyle/>
          <a:p>
            <a:pPr marL="342900" indent="-342900" algn="just">
              <a:buFont typeface="+mj-lt"/>
              <a:buAutoNum type="arabicPeriod" startAt="2"/>
            </a:pPr>
            <a:r>
              <a:rPr lang="es-PE" sz="1600" dirty="0" smtClean="0">
                <a:latin typeface="Arial" panose="020B0604020202020204" pitchFamily="34" charset="0"/>
                <a:cs typeface="Arial" panose="020B0604020202020204" pitchFamily="34" charset="0"/>
              </a:rPr>
              <a:t>Un cilindro contiene una mezcla de Helio y Argón en equilibrio a una temperatura 150 </a:t>
            </a:r>
            <a:r>
              <a:rPr lang="es-PE" sz="1600" baseline="30000" dirty="0">
                <a:latin typeface="Arial" panose="020B0604020202020204" pitchFamily="34" charset="0"/>
                <a:cs typeface="Arial" panose="020B0604020202020204" pitchFamily="34" charset="0"/>
              </a:rPr>
              <a:t>0</a:t>
            </a:r>
            <a:r>
              <a:rPr lang="es-PE" sz="1600" dirty="0">
                <a:latin typeface="Arial" panose="020B0604020202020204" pitchFamily="34" charset="0"/>
                <a:cs typeface="Arial" panose="020B0604020202020204" pitchFamily="34" charset="0"/>
              </a:rPr>
              <a:t>C </a:t>
            </a:r>
            <a:r>
              <a:rPr lang="es-PE" sz="1600" dirty="0" smtClean="0">
                <a:latin typeface="Arial" panose="020B0604020202020204" pitchFamily="34" charset="0"/>
                <a:cs typeface="Arial" panose="020B0604020202020204" pitchFamily="34" charset="0"/>
              </a:rPr>
              <a:t>(a) ¿Cuál es la energía cinética promedio para cada tipo de molécula des gas? (b) ¿Cuál es la rapidez </a:t>
            </a:r>
            <a:r>
              <a:rPr lang="es-PE" sz="1600" dirty="0" err="1" smtClean="0">
                <a:latin typeface="Arial" panose="020B0604020202020204" pitchFamily="34" charset="0"/>
                <a:cs typeface="Arial" panose="020B0604020202020204" pitchFamily="34" charset="0"/>
              </a:rPr>
              <a:t>rms</a:t>
            </a:r>
            <a:r>
              <a:rPr lang="es-PE" sz="1600" dirty="0" smtClean="0">
                <a:latin typeface="Arial" panose="020B0604020202020204" pitchFamily="34" charset="0"/>
                <a:cs typeface="Arial" panose="020B0604020202020204" pitchFamily="34" charset="0"/>
              </a:rPr>
              <a:t> de cada tipo de molécula?</a:t>
            </a:r>
            <a:endParaRPr lang="es-PE"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5528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5" name="Rectángulo redondeado 14"/>
          <p:cNvSpPr/>
          <p:nvPr/>
        </p:nvSpPr>
        <p:spPr>
          <a:xfrm>
            <a:off x="1669791" y="868377"/>
            <a:ext cx="6739593" cy="571401"/>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INTERPRETACIÓN CINÉTICA DE LA TEMPERATURA</a:t>
            </a:r>
            <a:endParaRPr lang="es-PE" sz="2400" dirty="0">
              <a:solidFill>
                <a:schemeClr val="tx1"/>
              </a:solidFill>
            </a:endParaRPr>
          </a:p>
        </p:txBody>
      </p:sp>
      <mc:AlternateContent xmlns:mc="http://schemas.openxmlformats.org/markup-compatibility/2006" xmlns:a14="http://schemas.microsoft.com/office/drawing/2010/main">
        <mc:Choice Requires="a14">
          <p:sp>
            <p:nvSpPr>
              <p:cNvPr id="3" name="Rectángulo 2"/>
              <p:cNvSpPr/>
              <p:nvPr/>
            </p:nvSpPr>
            <p:spPr>
              <a:xfrm>
                <a:off x="330325" y="1703709"/>
                <a:ext cx="4190628" cy="4613571"/>
              </a:xfrm>
              <a:prstGeom prst="rect">
                <a:avLst/>
              </a:prstGeom>
            </p:spPr>
            <p:txBody>
              <a:bodyPr wrap="square">
                <a:spAutoFit/>
              </a:bodyPr>
              <a:lstStyle/>
              <a:p>
                <a:pPr lvl="0" algn="just"/>
                <a:r>
                  <a:rPr lang="es-PE" dirty="0" smtClean="0"/>
                  <a:t>Asimismo, el número total de moléculas N es el número de moles n multiplicado por el número de Avogadro N</a:t>
                </a:r>
                <a:r>
                  <a:rPr lang="es-PE" baseline="-25000" dirty="0"/>
                  <a:t>A </a:t>
                </a:r>
                <a:r>
                  <a:rPr lang="es-PE" dirty="0" smtClean="0"/>
                  <a:t>, </a:t>
                </a:r>
                <a:r>
                  <a:rPr lang="es-PE" dirty="0"/>
                  <a:t>de manera </a:t>
                </a:r>
                <a:r>
                  <a:rPr lang="es-PE" dirty="0" smtClean="0"/>
                  <a:t>que:</a:t>
                </a:r>
              </a:p>
              <a:p>
                <a:pPr lvl="0" algn="just"/>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cs typeface="Arial" panose="020B0604020202020204" pitchFamily="34" charset="0"/>
                        </a:rPr>
                        <m:t>𝑁</m:t>
                      </m:r>
                      <m:r>
                        <a:rPr lang="es-PE" i="1" smtClean="0">
                          <a:latin typeface="Cambria Math" panose="02040503050406030204" pitchFamily="18" charset="0"/>
                          <a:cs typeface="Arial" panose="020B0604020202020204" pitchFamily="34" charset="0"/>
                        </a:rPr>
                        <m:t>=</m:t>
                      </m:r>
                      <m:r>
                        <a:rPr lang="es-PE" b="0" i="1" smtClean="0">
                          <a:latin typeface="Cambria Math" panose="02040503050406030204" pitchFamily="18" charset="0"/>
                          <a:cs typeface="Arial" panose="020B0604020202020204" pitchFamily="34" charset="0"/>
                        </a:rPr>
                        <m:t>𝑛</m:t>
                      </m:r>
                      <m:sSub>
                        <m:sSubPr>
                          <m:ctrlPr>
                            <a:rPr lang="es-PE" b="0" i="1" smtClean="0">
                              <a:latin typeface="Cambria Math" panose="02040503050406030204" pitchFamily="18" charset="0"/>
                              <a:cs typeface="Arial" panose="020B0604020202020204" pitchFamily="34" charset="0"/>
                            </a:rPr>
                          </m:ctrlPr>
                        </m:sSubPr>
                        <m:e>
                          <m:r>
                            <a:rPr lang="es-PE" b="0" i="1" smtClean="0">
                              <a:latin typeface="Cambria Math" panose="02040503050406030204" pitchFamily="18" charset="0"/>
                              <a:cs typeface="Arial" panose="020B0604020202020204" pitchFamily="34" charset="0"/>
                            </a:rPr>
                            <m:t>𝑁</m:t>
                          </m:r>
                        </m:e>
                        <m:sub>
                          <m:r>
                            <a:rPr lang="es-PE" b="0" i="1" smtClean="0">
                              <a:latin typeface="Cambria Math" panose="02040503050406030204" pitchFamily="18" charset="0"/>
                              <a:cs typeface="Arial" panose="020B0604020202020204" pitchFamily="34" charset="0"/>
                            </a:rPr>
                            <m:t>𝐴</m:t>
                          </m:r>
                        </m:sub>
                      </m:sSub>
                      <m:r>
                        <a:rPr lang="es-PE" b="0" i="1" smtClean="0">
                          <a:latin typeface="Cambria Math" panose="02040503050406030204" pitchFamily="18" charset="0"/>
                          <a:cs typeface="Arial" panose="020B0604020202020204" pitchFamily="34" charset="0"/>
                        </a:rPr>
                        <m:t>        </m:t>
                      </m:r>
                      <m:f>
                        <m:fPr>
                          <m:ctrlPr>
                            <a:rPr lang="es-PE" b="0" i="1" smtClean="0">
                              <a:latin typeface="Cambria Math" panose="02040503050406030204" pitchFamily="18" charset="0"/>
                              <a:cs typeface="Arial" panose="020B0604020202020204" pitchFamily="34" charset="0"/>
                            </a:rPr>
                          </m:ctrlPr>
                        </m:fPr>
                        <m:num>
                          <m:r>
                            <a:rPr lang="es-PE" b="0" i="1" smtClean="0">
                              <a:latin typeface="Cambria Math" panose="02040503050406030204" pitchFamily="18" charset="0"/>
                              <a:cs typeface="Arial" panose="020B0604020202020204" pitchFamily="34" charset="0"/>
                            </a:rPr>
                            <m:t>1</m:t>
                          </m:r>
                        </m:num>
                        <m:den>
                          <m:sSub>
                            <m:sSubPr>
                              <m:ctrlPr>
                                <a:rPr lang="es-PE" i="1">
                                  <a:latin typeface="Cambria Math" panose="02040503050406030204" pitchFamily="18" charset="0"/>
                                  <a:cs typeface="Arial" panose="020B0604020202020204" pitchFamily="34" charset="0"/>
                                </a:rPr>
                              </m:ctrlPr>
                            </m:sSubPr>
                            <m:e>
                              <m:r>
                                <a:rPr lang="es-PE" i="1">
                                  <a:latin typeface="Cambria Math" panose="02040503050406030204" pitchFamily="18" charset="0"/>
                                  <a:cs typeface="Arial" panose="020B0604020202020204" pitchFamily="34" charset="0"/>
                                </a:rPr>
                                <m:t>𝑁</m:t>
                              </m:r>
                            </m:e>
                            <m:sub>
                              <m:r>
                                <a:rPr lang="es-PE" i="1">
                                  <a:latin typeface="Cambria Math" panose="02040503050406030204" pitchFamily="18" charset="0"/>
                                  <a:cs typeface="Arial" panose="020B0604020202020204" pitchFamily="34" charset="0"/>
                                </a:rPr>
                                <m:t>𝐴</m:t>
                              </m:r>
                            </m:sub>
                          </m:sSub>
                        </m:den>
                      </m:f>
                      <m:r>
                        <a:rPr lang="es-PE" b="0" i="1" smtClean="0">
                          <a:latin typeface="Cambria Math" panose="02040503050406030204" pitchFamily="18" charset="0"/>
                          <a:cs typeface="Arial" panose="020B0604020202020204" pitchFamily="34" charset="0"/>
                        </a:rPr>
                        <m:t>=</m:t>
                      </m:r>
                      <m:f>
                        <m:fPr>
                          <m:ctrlPr>
                            <a:rPr lang="es-PE" b="0" i="1" smtClean="0">
                              <a:latin typeface="Cambria Math" panose="02040503050406030204" pitchFamily="18" charset="0"/>
                              <a:cs typeface="Arial" panose="020B0604020202020204" pitchFamily="34" charset="0"/>
                            </a:rPr>
                          </m:ctrlPr>
                        </m:fPr>
                        <m:num>
                          <m:r>
                            <a:rPr lang="es-PE" b="0" i="1" smtClean="0">
                              <a:latin typeface="Cambria Math" panose="02040503050406030204" pitchFamily="18" charset="0"/>
                              <a:cs typeface="Arial" panose="020B0604020202020204" pitchFamily="34" charset="0"/>
                            </a:rPr>
                            <m:t>𝑛</m:t>
                          </m:r>
                        </m:num>
                        <m:den>
                          <m:r>
                            <a:rPr lang="es-PE" b="0" i="1" smtClean="0">
                              <a:latin typeface="Cambria Math" panose="02040503050406030204" pitchFamily="18" charset="0"/>
                              <a:cs typeface="Arial" panose="020B0604020202020204" pitchFamily="34" charset="0"/>
                            </a:rPr>
                            <m:t>𝑁</m:t>
                          </m:r>
                        </m:den>
                      </m:f>
                    </m:oMath>
                  </m:oMathPara>
                </a14:m>
                <a:endParaRPr lang="es-PE" dirty="0" smtClean="0">
                  <a:latin typeface="Arial" panose="020B0604020202020204" pitchFamily="34" charset="0"/>
                  <a:cs typeface="Arial" panose="020B0604020202020204" pitchFamily="34" charset="0"/>
                </a:endParaRPr>
              </a:p>
              <a:p>
                <a:pPr lvl="0" algn="just"/>
                <a14:m>
                  <m:oMathPara xmlns:m="http://schemas.openxmlformats.org/officeDocument/2006/math">
                    <m:oMathParaPr>
                      <m:jc m:val="centerGroup"/>
                    </m:oMathParaPr>
                    <m:oMath xmlns:m="http://schemas.openxmlformats.org/officeDocument/2006/math">
                      <m:f>
                        <m:fPr>
                          <m:ctrlPr>
                            <a:rPr lang="es-PE" i="1">
                              <a:latin typeface="Cambria Math" panose="02040503050406030204" pitchFamily="18" charset="0"/>
                            </a:rPr>
                          </m:ctrlPr>
                        </m:fPr>
                        <m:num>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𝑡𝑟</m:t>
                              </m:r>
                            </m:sub>
                          </m:sSub>
                        </m:num>
                        <m:den>
                          <m:r>
                            <a:rPr lang="es-PE" i="1">
                              <a:latin typeface="Cambria Math" panose="02040503050406030204" pitchFamily="18" charset="0"/>
                            </a:rPr>
                            <m:t>𝑁</m:t>
                          </m:r>
                        </m:den>
                      </m:f>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1</m:t>
                          </m:r>
                        </m:num>
                        <m:den>
                          <m:r>
                            <a:rPr lang="es-PE" i="1">
                              <a:latin typeface="Cambria Math" panose="02040503050406030204" pitchFamily="18" charset="0"/>
                            </a:rPr>
                            <m:t>2</m:t>
                          </m:r>
                        </m:den>
                      </m:f>
                      <m:r>
                        <a:rPr lang="es-PE" i="1">
                          <a:latin typeface="Cambria Math" panose="02040503050406030204" pitchFamily="18" charset="0"/>
                        </a:rPr>
                        <m:t>𝑚</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3</m:t>
                          </m:r>
                          <m:r>
                            <a:rPr lang="es-PE" i="1">
                              <a:latin typeface="Cambria Math" panose="02040503050406030204" pitchFamily="18" charset="0"/>
                            </a:rPr>
                            <m:t>𝑅𝑇</m:t>
                          </m:r>
                          <m:r>
                            <m:rPr>
                              <m:nor/>
                            </m:rPr>
                            <a:rPr lang="es-PE" dirty="0"/>
                            <m:t> </m:t>
                          </m:r>
                        </m:num>
                        <m:den>
                          <m:r>
                            <a:rPr lang="es-PE" i="1">
                              <a:latin typeface="Cambria Math" panose="02040503050406030204" pitchFamily="18" charset="0"/>
                            </a:rPr>
                            <m:t>2</m:t>
                          </m:r>
                          <m:sSub>
                            <m:sSubPr>
                              <m:ctrlPr>
                                <a:rPr lang="es-PE" i="1" smtClean="0">
                                  <a:latin typeface="Cambria Math" panose="02040503050406030204" pitchFamily="18" charset="0"/>
                                </a:rPr>
                              </m:ctrlPr>
                            </m:sSubPr>
                            <m:e>
                              <m:r>
                                <a:rPr lang="es-PE" b="0" i="1" smtClean="0">
                                  <a:latin typeface="Cambria Math" panose="02040503050406030204" pitchFamily="18" charset="0"/>
                                </a:rPr>
                                <m:t>𝑁</m:t>
                              </m:r>
                            </m:e>
                            <m:sub>
                              <m:r>
                                <a:rPr lang="es-PE" b="0" i="1" smtClean="0">
                                  <a:latin typeface="Cambria Math" panose="02040503050406030204" pitchFamily="18" charset="0"/>
                                </a:rPr>
                                <m:t>𝐴</m:t>
                              </m:r>
                            </m:sub>
                          </m:sSub>
                        </m:den>
                      </m:f>
                    </m:oMath>
                  </m:oMathPara>
                </a14:m>
                <a:endParaRPr lang="es-PE" dirty="0" smtClean="0">
                  <a:latin typeface="Arial" panose="020B0604020202020204" pitchFamily="34" charset="0"/>
                  <a:cs typeface="Arial" panose="020B0604020202020204" pitchFamily="34" charset="0"/>
                </a:endParaRPr>
              </a:p>
              <a:p>
                <a:pPr lvl="0" algn="just"/>
                <a:r>
                  <a:rPr lang="es-PE" dirty="0"/>
                  <a:t>La razón </a:t>
                </a:r>
                <a:r>
                  <a:rPr lang="es-PE" dirty="0" smtClean="0"/>
                  <a:t>R/</a:t>
                </a:r>
                <a:r>
                  <a:rPr lang="es-PE" dirty="0"/>
                  <a:t> N</a:t>
                </a:r>
                <a:r>
                  <a:rPr lang="es-PE" baseline="-25000" dirty="0"/>
                  <a:t>A </a:t>
                </a:r>
                <a:r>
                  <a:rPr lang="es-PE" dirty="0" smtClean="0"/>
                  <a:t> </a:t>
                </a:r>
                <a:r>
                  <a:rPr lang="es-PE" dirty="0"/>
                  <a:t>aparece con frecuencia en la teoría molecular; se llama constante de </a:t>
                </a:r>
                <a:r>
                  <a:rPr lang="es-PE" dirty="0" err="1"/>
                  <a:t>Boltzmann</a:t>
                </a:r>
                <a:r>
                  <a:rPr lang="es-PE" dirty="0"/>
                  <a:t>, k</a:t>
                </a:r>
                <a:r>
                  <a:rPr lang="es-PE" dirty="0" smtClean="0"/>
                  <a:t>:</a:t>
                </a:r>
              </a:p>
              <a:p>
                <a:pPr lvl="0" algn="just"/>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𝑘</m:t>
                      </m:r>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𝑅</m:t>
                          </m:r>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𝑁</m:t>
                              </m:r>
                            </m:e>
                            <m:sub>
                              <m:r>
                                <a:rPr lang="es-PE" b="0" i="1" smtClean="0">
                                  <a:latin typeface="Cambria Math" panose="02040503050406030204" pitchFamily="18" charset="0"/>
                                </a:rPr>
                                <m:t>𝐴</m:t>
                              </m:r>
                            </m:sub>
                          </m:sSub>
                        </m:den>
                      </m:f>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8,314</m:t>
                          </m:r>
                          <m:f>
                            <m:fPr>
                              <m:ctrlPr>
                                <a:rPr lang="es-PE" b="0" i="1" smtClean="0">
                                  <a:latin typeface="Cambria Math" panose="02040503050406030204" pitchFamily="18" charset="0"/>
                                </a:rPr>
                              </m:ctrlPr>
                            </m:fPr>
                            <m:num>
                              <m:r>
                                <a:rPr lang="es-PE" b="0" i="1" smtClean="0">
                                  <a:latin typeface="Cambria Math" panose="02040503050406030204" pitchFamily="18" charset="0"/>
                                </a:rPr>
                                <m:t>𝐽</m:t>
                              </m:r>
                            </m:num>
                            <m:den>
                              <m:r>
                                <a:rPr lang="es-PE" b="0" i="1" smtClean="0">
                                  <a:latin typeface="Cambria Math" panose="02040503050406030204" pitchFamily="18" charset="0"/>
                                </a:rPr>
                                <m:t>𝑚𝑜𝑙</m:t>
                              </m:r>
                              <m:r>
                                <a:rPr lang="es-PE" b="0" i="1" smtClean="0">
                                  <a:latin typeface="Cambria Math" panose="02040503050406030204" pitchFamily="18" charset="0"/>
                                </a:rPr>
                                <m:t> </m:t>
                              </m:r>
                              <m:r>
                                <a:rPr lang="es-PE" b="0" i="1" smtClean="0">
                                  <a:latin typeface="Cambria Math" panose="02040503050406030204" pitchFamily="18" charset="0"/>
                                </a:rPr>
                                <m:t>𝐾</m:t>
                              </m:r>
                            </m:den>
                          </m:f>
                        </m:num>
                        <m:den>
                          <m:r>
                            <a:rPr lang="es-PE" b="0" i="1" smtClean="0">
                              <a:latin typeface="Cambria Math" panose="02040503050406030204" pitchFamily="18" charset="0"/>
                            </a:rPr>
                            <m:t>6,022</m:t>
                          </m:r>
                          <m:r>
                            <a:rPr lang="es-PE" b="0" i="1" smtClean="0">
                              <a:latin typeface="Cambria Math" panose="02040503050406030204" pitchFamily="18" charset="0"/>
                              <a:ea typeface="Cambria Math" panose="02040503050406030204" pitchFamily="18" charset="0"/>
                            </a:rPr>
                            <m:t>×</m:t>
                          </m:r>
                          <m:sSup>
                            <m:sSupPr>
                              <m:ctrlPr>
                                <a:rPr lang="es-PE" b="0" i="1" smtClean="0">
                                  <a:latin typeface="Cambria Math" panose="02040503050406030204" pitchFamily="18" charset="0"/>
                                  <a:ea typeface="Cambria Math" panose="02040503050406030204" pitchFamily="18" charset="0"/>
                                </a:rPr>
                              </m:ctrlPr>
                            </m:sSupPr>
                            <m:e>
                              <m:r>
                                <a:rPr lang="es-PE" b="0" i="1" smtClean="0">
                                  <a:latin typeface="Cambria Math" panose="02040503050406030204" pitchFamily="18" charset="0"/>
                                  <a:ea typeface="Cambria Math" panose="02040503050406030204" pitchFamily="18" charset="0"/>
                                </a:rPr>
                                <m:t>10</m:t>
                              </m:r>
                            </m:e>
                            <m:sup>
                              <m:r>
                                <a:rPr lang="es-PE" b="0" i="1" smtClean="0">
                                  <a:latin typeface="Cambria Math" panose="02040503050406030204" pitchFamily="18" charset="0"/>
                                  <a:ea typeface="Cambria Math" panose="02040503050406030204" pitchFamily="18" charset="0"/>
                                </a:rPr>
                                <m:t>23</m:t>
                              </m:r>
                            </m:sup>
                          </m:sSup>
                          <m:f>
                            <m:fPr>
                              <m:ctrlPr>
                                <a:rPr lang="es-PE" b="0" i="1" smtClean="0">
                                  <a:latin typeface="Cambria Math" panose="02040503050406030204" pitchFamily="18" charset="0"/>
                                  <a:ea typeface="Cambria Math" panose="02040503050406030204" pitchFamily="18" charset="0"/>
                                </a:rPr>
                              </m:ctrlPr>
                            </m:fPr>
                            <m:num>
                              <m:r>
                                <a:rPr lang="es-PE" b="0" i="1" smtClean="0">
                                  <a:latin typeface="Cambria Math" panose="02040503050406030204" pitchFamily="18" charset="0"/>
                                  <a:ea typeface="Cambria Math" panose="02040503050406030204" pitchFamily="18" charset="0"/>
                                </a:rPr>
                                <m:t>𝑚𝑜𝑙𝑒𝑐𝑢𝑙𝑎𝑠</m:t>
                              </m:r>
                            </m:num>
                            <m:den>
                              <m:r>
                                <a:rPr lang="es-PE" b="0" i="1" smtClean="0">
                                  <a:latin typeface="Cambria Math" panose="02040503050406030204" pitchFamily="18" charset="0"/>
                                  <a:ea typeface="Cambria Math" panose="02040503050406030204" pitchFamily="18" charset="0"/>
                                </a:rPr>
                                <m:t>𝑚𝑜𝑙</m:t>
                              </m:r>
                            </m:den>
                          </m:f>
                        </m:den>
                      </m:f>
                      <m:r>
                        <a:rPr lang="es-PE" b="0" i="1" smtClean="0">
                          <a:latin typeface="Cambria Math" panose="02040503050406030204" pitchFamily="18" charset="0"/>
                        </a:rPr>
                        <m:t>=1,381</m:t>
                      </m:r>
                      <m:r>
                        <a:rPr lang="es-PE" b="0" i="1" smtClean="0">
                          <a:latin typeface="Cambria Math" panose="02040503050406030204" pitchFamily="18" charset="0"/>
                          <a:ea typeface="Cambria Math" panose="02040503050406030204" pitchFamily="18" charset="0"/>
                        </a:rPr>
                        <m:t>×</m:t>
                      </m:r>
                      <m:sSup>
                        <m:sSupPr>
                          <m:ctrlPr>
                            <a:rPr lang="es-PE"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10</m:t>
                          </m:r>
                        </m:e>
                        <m:sup>
                          <m:r>
                            <a:rPr lang="es-ES" b="0" i="1" smtClean="0">
                              <a:latin typeface="Cambria Math" panose="02040503050406030204" pitchFamily="18" charset="0"/>
                              <a:ea typeface="Cambria Math" panose="02040503050406030204" pitchFamily="18" charset="0"/>
                            </a:rPr>
                            <m:t>−23</m:t>
                          </m:r>
                        </m:sup>
                      </m:sSup>
                      <m:f>
                        <m:fPr>
                          <m:ctrlPr>
                            <a:rPr lang="es-PE" b="0" i="1" smtClean="0">
                              <a:latin typeface="Cambria Math" panose="02040503050406030204" pitchFamily="18" charset="0"/>
                            </a:rPr>
                          </m:ctrlPr>
                        </m:fPr>
                        <m:num>
                          <m:r>
                            <a:rPr lang="es-PE" b="0" i="1" smtClean="0">
                              <a:latin typeface="Cambria Math" panose="02040503050406030204" pitchFamily="18" charset="0"/>
                            </a:rPr>
                            <m:t>𝐽</m:t>
                          </m:r>
                        </m:num>
                        <m:den>
                          <m:r>
                            <a:rPr lang="es-PE" b="0" i="1" smtClean="0">
                              <a:latin typeface="Cambria Math" panose="02040503050406030204" pitchFamily="18" charset="0"/>
                            </a:rPr>
                            <m:t>𝑚𝑜𝑙𝑒𝑐𝑢𝑙𝑎𝑠</m:t>
                          </m:r>
                          <m:r>
                            <a:rPr lang="es-PE" b="0" i="1" smtClean="0">
                              <a:latin typeface="Cambria Math" panose="02040503050406030204" pitchFamily="18" charset="0"/>
                            </a:rPr>
                            <m:t> </m:t>
                          </m:r>
                          <m:r>
                            <a:rPr lang="es-PE" b="0" i="1" smtClean="0">
                              <a:latin typeface="Cambria Math" panose="02040503050406030204" pitchFamily="18" charset="0"/>
                            </a:rPr>
                            <m:t>𝐾</m:t>
                          </m:r>
                        </m:den>
                      </m:f>
                    </m:oMath>
                  </m:oMathPara>
                </a14:m>
                <a:endParaRPr lang="es-PE" dirty="0">
                  <a:latin typeface="Arial" panose="020B0604020202020204" pitchFamily="34" charset="0"/>
                  <a:cs typeface="Arial" panose="020B0604020202020204" pitchFamily="34" charset="0"/>
                </a:endParaRPr>
              </a:p>
            </p:txBody>
          </p:sp>
        </mc:Choice>
        <mc:Fallback xmlns="">
          <p:sp>
            <p:nvSpPr>
              <p:cNvPr id="3" name="Rectángulo 2"/>
              <p:cNvSpPr>
                <a:spLocks noRot="1" noChangeAspect="1" noMove="1" noResize="1" noEditPoints="1" noAdjustHandles="1" noChangeArrowheads="1" noChangeShapeType="1" noTextEdit="1"/>
              </p:cNvSpPr>
              <p:nvPr/>
            </p:nvSpPr>
            <p:spPr>
              <a:xfrm>
                <a:off x="330325" y="1703709"/>
                <a:ext cx="4190628" cy="4613571"/>
              </a:xfrm>
              <a:prstGeom prst="rect">
                <a:avLst/>
              </a:prstGeom>
              <a:blipFill rotWithShape="0">
                <a:blip r:embed="rId2"/>
                <a:stretch>
                  <a:fillRect l="-1163" t="-661" r="-1163"/>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4880992" y="1757963"/>
                <a:ext cx="4320480" cy="887935"/>
              </a:xfrm>
              <a:prstGeom prst="rect">
                <a:avLst/>
              </a:prstGeom>
              <a:noFill/>
            </p:spPr>
            <p:txBody>
              <a:bodyPr wrap="square" rtlCol="0">
                <a:spAutoFit/>
              </a:bodyPr>
              <a:lstStyle/>
              <a:p>
                <a:r>
                  <a:rPr lang="es-PE" dirty="0" smtClean="0"/>
                  <a:t>Entonces:</a:t>
                </a:r>
              </a:p>
              <a:p>
                <a:pPr/>
                <a14:m>
                  <m:oMathPara xmlns:m="http://schemas.openxmlformats.org/officeDocument/2006/math">
                    <m:oMathParaPr>
                      <m:jc m:val="centerGroup"/>
                    </m:oMathParaPr>
                    <m:oMath xmlns:m="http://schemas.openxmlformats.org/officeDocument/2006/math">
                      <m:f>
                        <m:fPr>
                          <m:ctrlPr>
                            <a:rPr lang="es-PE" i="1">
                              <a:latin typeface="Cambria Math" panose="02040503050406030204" pitchFamily="18" charset="0"/>
                            </a:rPr>
                          </m:ctrlPr>
                        </m:fPr>
                        <m:num>
                          <m:r>
                            <a:rPr lang="es-PE" i="1">
                              <a:latin typeface="Cambria Math" panose="02040503050406030204" pitchFamily="18" charset="0"/>
                            </a:rPr>
                            <m:t>1</m:t>
                          </m:r>
                        </m:num>
                        <m:den>
                          <m:r>
                            <a:rPr lang="es-PE" i="1">
                              <a:latin typeface="Cambria Math" panose="02040503050406030204" pitchFamily="18" charset="0"/>
                            </a:rPr>
                            <m:t>2</m:t>
                          </m:r>
                        </m:den>
                      </m:f>
                      <m:r>
                        <a:rPr lang="es-PE" i="1">
                          <a:latin typeface="Cambria Math" panose="02040503050406030204" pitchFamily="18" charset="0"/>
                        </a:rPr>
                        <m:t>𝑚</m:t>
                      </m:r>
                      <m:sSub>
                        <m:sSubPr>
                          <m:ctrlPr>
                            <a:rPr lang="es-PE" i="1">
                              <a:latin typeface="Cambria Math" panose="02040503050406030204" pitchFamily="18" charset="0"/>
                            </a:rPr>
                          </m:ctrlPr>
                        </m:sSubPr>
                        <m:e>
                          <m:d>
                            <m:dPr>
                              <m:ctrlPr>
                                <a:rPr lang="es-PE" i="1">
                                  <a:latin typeface="Cambria Math" panose="02040503050406030204" pitchFamily="18" charset="0"/>
                                </a:rPr>
                              </m:ctrlPr>
                            </m:dPr>
                            <m:e>
                              <m:sSup>
                                <m:sSupPr>
                                  <m:ctrlPr>
                                    <a:rPr lang="es-PE" i="1">
                                      <a:latin typeface="Cambria Math" panose="02040503050406030204" pitchFamily="18" charset="0"/>
                                    </a:rPr>
                                  </m:ctrlPr>
                                </m:sSupPr>
                                <m:e>
                                  <m:r>
                                    <a:rPr lang="es-PE" i="1">
                                      <a:latin typeface="Cambria Math" panose="02040503050406030204" pitchFamily="18" charset="0"/>
                                    </a:rPr>
                                    <m:t>𝑣</m:t>
                                  </m:r>
                                </m:e>
                                <m:sup>
                                  <m:r>
                                    <a:rPr lang="es-PE" i="1">
                                      <a:latin typeface="Cambria Math" panose="02040503050406030204" pitchFamily="18" charset="0"/>
                                    </a:rPr>
                                    <m:t>2</m:t>
                                  </m:r>
                                </m:sup>
                              </m:sSup>
                            </m:e>
                          </m:d>
                        </m:e>
                        <m:sub>
                          <m:r>
                            <a:rPr lang="es-PE" i="1">
                              <a:latin typeface="Cambria Math" panose="02040503050406030204" pitchFamily="18" charset="0"/>
                            </a:rPr>
                            <m:t>𝑚𝑒𝑑</m:t>
                          </m:r>
                        </m:sub>
                      </m:sSub>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3</m:t>
                          </m:r>
                        </m:num>
                        <m:den>
                          <m:r>
                            <a:rPr lang="es-PE" i="1">
                              <a:latin typeface="Cambria Math" panose="02040503050406030204" pitchFamily="18" charset="0"/>
                            </a:rPr>
                            <m:t>2</m:t>
                          </m:r>
                        </m:den>
                      </m:f>
                      <m:r>
                        <a:rPr lang="es-PE" b="0" i="1" smtClean="0">
                          <a:latin typeface="Cambria Math" panose="02040503050406030204" pitchFamily="18" charset="0"/>
                        </a:rPr>
                        <m:t>𝑘𝑇</m:t>
                      </m:r>
                    </m:oMath>
                  </m:oMathPara>
                </a14:m>
                <a:endParaRPr lang="es-PE" dirty="0"/>
              </a:p>
            </p:txBody>
          </p:sp>
        </mc:Choice>
        <mc:Fallback xmlns="">
          <p:sp>
            <p:nvSpPr>
              <p:cNvPr id="5" name="CuadroTexto 4"/>
              <p:cNvSpPr txBox="1">
                <a:spLocks noRot="1" noChangeAspect="1" noMove="1" noResize="1" noEditPoints="1" noAdjustHandles="1" noChangeArrowheads="1" noChangeShapeType="1" noTextEdit="1"/>
              </p:cNvSpPr>
              <p:nvPr/>
            </p:nvSpPr>
            <p:spPr>
              <a:xfrm>
                <a:off x="4880992" y="1757963"/>
                <a:ext cx="4320480" cy="887935"/>
              </a:xfrm>
              <a:prstGeom prst="rect">
                <a:avLst/>
              </a:prstGeom>
              <a:blipFill rotWithShape="0">
                <a:blip r:embed="rId3"/>
                <a:stretch>
                  <a:fillRect l="-1271" t="-3425"/>
                </a:stretch>
              </a:blipFill>
            </p:spPr>
            <p:txBody>
              <a:bodyPr/>
              <a:lstStyle/>
              <a:p>
                <a:r>
                  <a:rPr lang="es-PE">
                    <a:noFill/>
                  </a:rPr>
                  <a:t> </a:t>
                </a:r>
              </a:p>
            </p:txBody>
          </p:sp>
        </mc:Fallback>
      </mc:AlternateContent>
      <p:sp>
        <p:nvSpPr>
          <p:cNvPr id="6" name="Rectángulo 5"/>
          <p:cNvSpPr/>
          <p:nvPr/>
        </p:nvSpPr>
        <p:spPr>
          <a:xfrm>
            <a:off x="4880992" y="2645898"/>
            <a:ext cx="4536504" cy="1200329"/>
          </a:xfrm>
          <a:prstGeom prst="rect">
            <a:avLst/>
          </a:prstGeom>
        </p:spPr>
        <p:txBody>
          <a:bodyPr wrap="square">
            <a:spAutoFit/>
          </a:bodyPr>
          <a:lstStyle/>
          <a:p>
            <a:pPr algn="just"/>
            <a:r>
              <a:rPr lang="es-PE" dirty="0"/>
              <a:t>Esto indica que la energía cinética de traslación media por molécula depende sólo de la temperatura; no de la presión ni del volumen, ni tampoco del tipo de molécula.</a:t>
            </a:r>
          </a:p>
        </p:txBody>
      </p:sp>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6267" y="3861633"/>
            <a:ext cx="4297903" cy="2600564"/>
          </a:xfrm>
          <a:prstGeom prst="rect">
            <a:avLst/>
          </a:prstGeom>
        </p:spPr>
      </p:pic>
    </p:spTree>
    <p:extLst>
      <p:ext uri="{BB962C8B-B14F-4D97-AF65-F5344CB8AC3E}">
        <p14:creationId xmlns:p14="http://schemas.microsoft.com/office/powerpoint/2010/main" val="10796609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5" name="Rectángulo redondeado 4"/>
          <p:cNvSpPr/>
          <p:nvPr/>
        </p:nvSpPr>
        <p:spPr>
          <a:xfrm>
            <a:off x="1640632" y="764704"/>
            <a:ext cx="7066539" cy="52706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2400" dirty="0" smtClean="0">
                <a:solidFill>
                  <a:schemeClr val="tx1"/>
                </a:solidFill>
              </a:rPr>
              <a:t>CAPACIDADES CALORÍFICAS DE LOS GASES IDEALES</a:t>
            </a:r>
            <a:endParaRPr lang="es-PE" sz="2400" b="1" dirty="0">
              <a:solidFill>
                <a:schemeClr val="tx1"/>
              </a:solidFill>
            </a:endParaRPr>
          </a:p>
        </p:txBody>
      </p:sp>
      <mc:AlternateContent xmlns:mc="http://schemas.openxmlformats.org/markup-compatibility/2006" xmlns:a14="http://schemas.microsoft.com/office/drawing/2010/main">
        <mc:Choice Requires="a14">
          <p:sp>
            <p:nvSpPr>
              <p:cNvPr id="7" name="Rectángulo 6"/>
              <p:cNvSpPr/>
              <p:nvPr/>
            </p:nvSpPr>
            <p:spPr>
              <a:xfrm>
                <a:off x="344488" y="1772816"/>
                <a:ext cx="4824536" cy="4453527"/>
              </a:xfrm>
              <a:prstGeom prst="rect">
                <a:avLst/>
              </a:prstGeom>
            </p:spPr>
            <p:txBody>
              <a:bodyPr wrap="square">
                <a:spAutoFit/>
              </a:bodyPr>
              <a:lstStyle/>
              <a:p>
                <a:pPr algn="just"/>
                <a:r>
                  <a:rPr lang="es-PE" dirty="0" smtClean="0"/>
                  <a:t>En nuestro sistema analizado consideremos un cambio de energía cinética aleatoria  total que produce un </a:t>
                </a:r>
                <a:r>
                  <a:rPr lang="es-PE" dirty="0"/>
                  <a:t>cambio de temperatura </a:t>
                </a:r>
                <a:r>
                  <a:rPr lang="es-PE" dirty="0" err="1"/>
                  <a:t>dT</a:t>
                </a:r>
                <a:r>
                  <a:rPr lang="es-PE" dirty="0"/>
                  <a:t> </a:t>
                </a:r>
                <a:r>
                  <a:rPr lang="es-PE" dirty="0" smtClean="0"/>
                  <a:t> pequeño.</a:t>
                </a:r>
              </a:p>
              <a:p>
                <a:pPr algn="just"/>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b="0" i="1" smtClean="0">
                              <a:latin typeface="Cambria Math" panose="02040503050406030204" pitchFamily="18" charset="0"/>
                            </a:rPr>
                            <m:t>𝑑</m:t>
                          </m:r>
                          <m:r>
                            <a:rPr lang="es-PE" i="1">
                              <a:latin typeface="Cambria Math" panose="02040503050406030204" pitchFamily="18" charset="0"/>
                            </a:rPr>
                            <m:t>𝐾</m:t>
                          </m:r>
                        </m:e>
                        <m:sub>
                          <m:r>
                            <a:rPr lang="es-PE" i="1">
                              <a:latin typeface="Cambria Math" panose="02040503050406030204" pitchFamily="18" charset="0"/>
                            </a:rPr>
                            <m:t>𝑡𝑟</m:t>
                          </m:r>
                        </m:sub>
                      </m:sSub>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3</m:t>
                          </m:r>
                        </m:num>
                        <m:den>
                          <m:r>
                            <a:rPr lang="es-PE" i="1">
                              <a:latin typeface="Cambria Math" panose="02040503050406030204" pitchFamily="18" charset="0"/>
                            </a:rPr>
                            <m:t>2</m:t>
                          </m:r>
                        </m:den>
                      </m:f>
                      <m:r>
                        <a:rPr lang="es-PE" i="1">
                          <a:latin typeface="Cambria Math" panose="02040503050406030204" pitchFamily="18" charset="0"/>
                        </a:rPr>
                        <m:t>𝑛𝑅</m:t>
                      </m:r>
                      <m:r>
                        <a:rPr lang="es-PE" b="0" i="1" smtClean="0">
                          <a:latin typeface="Cambria Math" panose="02040503050406030204" pitchFamily="18" charset="0"/>
                        </a:rPr>
                        <m:t>𝑑</m:t>
                      </m:r>
                      <m:r>
                        <a:rPr lang="es-PE" i="1">
                          <a:latin typeface="Cambria Math" panose="02040503050406030204" pitchFamily="18" charset="0"/>
                        </a:rPr>
                        <m:t>𝑇</m:t>
                      </m:r>
                    </m:oMath>
                  </m:oMathPara>
                </a14:m>
                <a:endParaRPr lang="es-PE" dirty="0" smtClean="0"/>
              </a:p>
              <a:p>
                <a:pPr algn="just"/>
                <a:r>
                  <a:rPr lang="es-PE" dirty="0"/>
                  <a:t>De acuerdo con la definición de capacidad calorífica molar a volumen constante, </a:t>
                </a:r>
                <a:r>
                  <a:rPr lang="es-PE" dirty="0" smtClean="0"/>
                  <a:t>C</a:t>
                </a:r>
                <a:r>
                  <a:rPr lang="es-PE" baseline="-25000" dirty="0" smtClean="0"/>
                  <a:t>V</a:t>
                </a:r>
                <a:r>
                  <a:rPr lang="es-PE" dirty="0"/>
                  <a:t> </a:t>
                </a:r>
                <a:r>
                  <a:rPr lang="es-PE" dirty="0" smtClean="0"/>
                  <a:t>tenemos:</a:t>
                </a:r>
              </a:p>
              <a:p>
                <a:pPr algn="just"/>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𝑑𝑄</m:t>
                      </m:r>
                      <m:r>
                        <a:rPr lang="es-PE" i="1">
                          <a:latin typeface="Cambria Math" panose="02040503050406030204" pitchFamily="18" charset="0"/>
                        </a:rPr>
                        <m:t>=</m:t>
                      </m:r>
                      <m:r>
                        <a:rPr lang="es-PE" i="1">
                          <a:latin typeface="Cambria Math" panose="02040503050406030204" pitchFamily="18" charset="0"/>
                        </a:rPr>
                        <m:t>𝑛</m:t>
                      </m:r>
                      <m:sSub>
                        <m:sSubPr>
                          <m:ctrlPr>
                            <a:rPr lang="es-PE" i="1" smtClean="0">
                              <a:latin typeface="Cambria Math" panose="02040503050406030204" pitchFamily="18" charset="0"/>
                            </a:rPr>
                          </m:ctrlPr>
                        </m:sSubPr>
                        <m:e>
                          <m:r>
                            <a:rPr lang="es-PE" b="0" i="1" smtClean="0">
                              <a:latin typeface="Cambria Math" panose="02040503050406030204" pitchFamily="18" charset="0"/>
                            </a:rPr>
                            <m:t>𝐶</m:t>
                          </m:r>
                        </m:e>
                        <m:sub>
                          <m:r>
                            <a:rPr lang="es-PE" b="0" i="1" smtClean="0">
                              <a:latin typeface="Cambria Math" panose="02040503050406030204" pitchFamily="18" charset="0"/>
                            </a:rPr>
                            <m:t>𝑉</m:t>
                          </m:r>
                        </m:sub>
                      </m:sSub>
                      <m:r>
                        <a:rPr lang="es-PE" i="1">
                          <a:latin typeface="Cambria Math" panose="02040503050406030204" pitchFamily="18" charset="0"/>
                        </a:rPr>
                        <m:t>𝑑𝑇</m:t>
                      </m:r>
                    </m:oMath>
                  </m:oMathPara>
                </a14:m>
                <a:endParaRPr lang="es-PE" dirty="0" smtClean="0"/>
              </a:p>
              <a:p>
                <a:pPr algn="just"/>
                <a:r>
                  <a:rPr lang="es-PE" dirty="0" smtClean="0"/>
                  <a:t>Igualando ambas ecuaciones tenemos:</a:t>
                </a:r>
              </a:p>
              <a:p>
                <a:pPr algn="just"/>
                <a14:m>
                  <m:oMathPara xmlns:m="http://schemas.openxmlformats.org/officeDocument/2006/math">
                    <m:oMathParaPr>
                      <m:jc m:val="centerGroup"/>
                    </m:oMathParaPr>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𝐶</m:t>
                          </m:r>
                        </m:e>
                        <m:sub>
                          <m:r>
                            <a:rPr lang="es-PE" i="1">
                              <a:latin typeface="Cambria Math" panose="02040503050406030204" pitchFamily="18" charset="0"/>
                            </a:rPr>
                            <m:t>𝑉</m:t>
                          </m:r>
                        </m:sub>
                      </m:sSub>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3</m:t>
                          </m:r>
                        </m:num>
                        <m:den>
                          <m:r>
                            <a:rPr lang="es-PE" b="0" i="1" smtClean="0">
                              <a:latin typeface="Cambria Math" panose="02040503050406030204" pitchFamily="18" charset="0"/>
                            </a:rPr>
                            <m:t>2</m:t>
                          </m:r>
                        </m:den>
                      </m:f>
                      <m:r>
                        <a:rPr lang="es-PE" b="0" i="1" smtClean="0">
                          <a:latin typeface="Cambria Math" panose="02040503050406030204" pitchFamily="18" charset="0"/>
                        </a:rPr>
                        <m:t>𝑅</m:t>
                      </m:r>
                    </m:oMath>
                  </m:oMathPara>
                </a14:m>
                <a:endParaRPr lang="es-PE" dirty="0" smtClean="0"/>
              </a:p>
              <a:p>
                <a:pPr algn="just"/>
                <a:r>
                  <a:rPr lang="es-PE" dirty="0"/>
                  <a:t>Este resultado sorprendentemente sencillo indica que la capacidad calorífica molar (a volumen constante) de todo gas cuyas moléculas pueden representarse como puntos es igual a </a:t>
                </a:r>
                <a:r>
                  <a:rPr lang="es-PE" dirty="0" smtClean="0"/>
                  <a:t>3R/2</a:t>
                </a:r>
                <a:r>
                  <a:rPr lang="es-PE" dirty="0"/>
                  <a:t>.</a:t>
                </a:r>
              </a:p>
            </p:txBody>
          </p:sp>
        </mc:Choice>
        <mc:Fallback xmlns="">
          <p:sp>
            <p:nvSpPr>
              <p:cNvPr id="7" name="Rectángulo 6"/>
              <p:cNvSpPr>
                <a:spLocks noRot="1" noChangeAspect="1" noMove="1" noResize="1" noEditPoints="1" noAdjustHandles="1" noChangeArrowheads="1" noChangeShapeType="1" noTextEdit="1"/>
              </p:cNvSpPr>
              <p:nvPr/>
            </p:nvSpPr>
            <p:spPr>
              <a:xfrm>
                <a:off x="344488" y="1772816"/>
                <a:ext cx="4824536" cy="4453527"/>
              </a:xfrm>
              <a:prstGeom prst="rect">
                <a:avLst/>
              </a:prstGeom>
              <a:blipFill rotWithShape="0">
                <a:blip r:embed="rId2"/>
                <a:stretch>
                  <a:fillRect l="-1138" t="-822" r="-1011" b="-1370"/>
                </a:stretch>
              </a:blipFill>
            </p:spPr>
            <p:txBody>
              <a:bodyPr/>
              <a:lstStyle/>
              <a:p>
                <a:r>
                  <a:rPr lang="es-PE">
                    <a:noFill/>
                  </a:rPr>
                  <a:t> </a:t>
                </a:r>
              </a:p>
            </p:txBody>
          </p:sp>
        </mc:Fallback>
      </mc:AlternateContent>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088" y="1988840"/>
            <a:ext cx="3620005" cy="1905266"/>
          </a:xfrm>
          <a:prstGeom prst="rect">
            <a:avLst/>
          </a:prstGeom>
        </p:spPr>
      </p:pic>
      <p:pic>
        <p:nvPicPr>
          <p:cNvPr id="10" name="Imagen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7176" y="4019335"/>
            <a:ext cx="2401271" cy="2601376"/>
          </a:xfrm>
          <a:prstGeom prst="rect">
            <a:avLst/>
          </a:prstGeom>
        </p:spPr>
      </p:pic>
    </p:spTree>
    <p:extLst>
      <p:ext uri="{BB962C8B-B14F-4D97-AF65-F5344CB8AC3E}">
        <p14:creationId xmlns:p14="http://schemas.microsoft.com/office/powerpoint/2010/main" val="20151788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568625" y="582371"/>
            <a:ext cx="6048672" cy="600730"/>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dirty="0" smtClean="0">
                <a:solidFill>
                  <a:schemeClr val="tx1"/>
                </a:solidFill>
              </a:rPr>
              <a:t>PRINCIPIO DE EQUIPARTICIÓN DE LA ENERGÍA. </a:t>
            </a:r>
            <a:endParaRPr lang="es-PE" sz="2200" b="1" dirty="0">
              <a:solidFill>
                <a:schemeClr val="tx1"/>
              </a:solidFill>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5328" y="1183101"/>
            <a:ext cx="1705664" cy="5421917"/>
          </a:xfrm>
          <a:prstGeom prst="rect">
            <a:avLst/>
          </a:prstGeom>
        </p:spPr>
      </p:pic>
      <mc:AlternateContent xmlns:mc="http://schemas.openxmlformats.org/markup-compatibility/2006">
        <mc:Choice xmlns:a14="http://schemas.microsoft.com/office/drawing/2010/main" Requires="a14">
          <p:sp>
            <p:nvSpPr>
              <p:cNvPr id="4" name="Rectángulo 3"/>
              <p:cNvSpPr/>
              <p:nvPr/>
            </p:nvSpPr>
            <p:spPr>
              <a:xfrm>
                <a:off x="344489" y="1743932"/>
                <a:ext cx="7272808" cy="1339534"/>
              </a:xfrm>
              <a:prstGeom prst="rect">
                <a:avLst/>
              </a:prstGeom>
            </p:spPr>
            <p:txBody>
              <a:bodyPr wrap="square">
                <a:spAutoFit/>
              </a:bodyPr>
              <a:lstStyle/>
              <a:p>
                <a:pPr algn="just"/>
                <a:r>
                  <a:rPr lang="es-PE" dirty="0" smtClean="0"/>
                  <a:t>El </a:t>
                </a:r>
                <a:r>
                  <a:rPr lang="es-PE" dirty="0"/>
                  <a:t>principio de </a:t>
                </a:r>
                <a:r>
                  <a:rPr lang="es-PE" dirty="0" err="1"/>
                  <a:t>equipartición</a:t>
                </a:r>
                <a:r>
                  <a:rPr lang="es-PE" dirty="0"/>
                  <a:t> de la energía dice que cada componente de velocidad (lineal o angular) tiene, en promedio, una energía cinética asociada por molécula de la mitad del producto de la constante de </a:t>
                </a:r>
                <a:r>
                  <a:rPr lang="es-PE" dirty="0" err="1"/>
                  <a:t>Boltzmann</a:t>
                </a:r>
                <a:r>
                  <a:rPr lang="es-PE" dirty="0"/>
                  <a:t> por la temperatura </a:t>
                </a:r>
                <a:r>
                  <a:rPr lang="es-PE" dirty="0" smtClean="0"/>
                  <a:t>absoluta </a:t>
                </a:r>
                <a14:m>
                  <m:oMath xmlns:m="http://schemas.openxmlformats.org/officeDocument/2006/math">
                    <m:f>
                      <m:fPr>
                        <m:ctrlPr>
                          <a:rPr lang="es-PE" i="1">
                            <a:latin typeface="Cambria Math" panose="02040503050406030204" pitchFamily="18" charset="0"/>
                          </a:rPr>
                        </m:ctrlPr>
                      </m:fPr>
                      <m:num>
                        <m:r>
                          <a:rPr lang="es-PE" b="0" i="1" smtClean="0">
                            <a:latin typeface="Cambria Math" panose="02040503050406030204" pitchFamily="18" charset="0"/>
                          </a:rPr>
                          <m:t>1</m:t>
                        </m:r>
                      </m:num>
                      <m:den>
                        <m:r>
                          <a:rPr lang="es-PE" i="1">
                            <a:latin typeface="Cambria Math" panose="02040503050406030204" pitchFamily="18" charset="0"/>
                          </a:rPr>
                          <m:t>2</m:t>
                        </m:r>
                      </m:den>
                    </m:f>
                    <m:r>
                      <a:rPr lang="es-PE" i="1">
                        <a:latin typeface="Cambria Math" panose="02040503050406030204" pitchFamily="18" charset="0"/>
                      </a:rPr>
                      <m:t>𝑘𝑇</m:t>
                    </m:r>
                  </m:oMath>
                </a14:m>
                <a:r>
                  <a:rPr lang="es-PE" dirty="0" smtClean="0"/>
                  <a:t>. (Maxwell)</a:t>
                </a:r>
                <a:endParaRPr lang="es-PE" dirty="0"/>
              </a:p>
            </p:txBody>
          </p:sp>
        </mc:Choice>
        <mc:Fallback>
          <p:sp>
            <p:nvSpPr>
              <p:cNvPr id="4" name="Rectángulo 3"/>
              <p:cNvSpPr>
                <a:spLocks noRot="1" noChangeAspect="1" noMove="1" noResize="1" noEditPoints="1" noAdjustHandles="1" noChangeArrowheads="1" noChangeShapeType="1" noTextEdit="1"/>
              </p:cNvSpPr>
              <p:nvPr/>
            </p:nvSpPr>
            <p:spPr>
              <a:xfrm>
                <a:off x="344489" y="1743932"/>
                <a:ext cx="7272808" cy="1339534"/>
              </a:xfrm>
              <a:prstGeom prst="rect">
                <a:avLst/>
              </a:prstGeom>
              <a:blipFill rotWithShape="0">
                <a:blip r:embed="rId3"/>
                <a:stretch>
                  <a:fillRect l="-754" t="-2273" r="-671" b="-455"/>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380493" y="3083466"/>
                <a:ext cx="7200800" cy="3376565"/>
              </a:xfrm>
              <a:prstGeom prst="rect">
                <a:avLst/>
              </a:prstGeom>
            </p:spPr>
            <p:txBody>
              <a:bodyPr wrap="square">
                <a:spAutoFit/>
              </a:bodyPr>
              <a:lstStyle/>
              <a:p>
                <a:pPr algn="just"/>
                <a:r>
                  <a:rPr lang="es-PE" dirty="0" smtClean="0"/>
                  <a:t>El número de componentes de velocidad necesarias para describir cabalmente el movimiento de una molécula se denomina número de grados de libertad. </a:t>
                </a:r>
              </a:p>
              <a:p>
                <a:pPr algn="just"/>
                <a:r>
                  <a:rPr lang="es-PE" dirty="0" smtClean="0"/>
                  <a:t>En </a:t>
                </a:r>
                <a:r>
                  <a:rPr lang="es-PE" dirty="0"/>
                  <a:t>el caso de una molécula </a:t>
                </a:r>
                <a:r>
                  <a:rPr lang="es-PE" dirty="0" err="1"/>
                  <a:t>diatómica</a:t>
                </a:r>
                <a:r>
                  <a:rPr lang="es-PE" dirty="0"/>
                  <a:t>, hay dos posibles ejes de rotación, perpendiculares entre sí y perpendiculares al eje de la molécula. (No incluimos la rotación alrededor del eje de la molécula porque en choques ordinarios este movimiento no puede cambiar.) Si asignamos cinco grados de libertad a una molécula </a:t>
                </a:r>
                <a:r>
                  <a:rPr lang="es-PE" dirty="0" err="1"/>
                  <a:t>diatómica</a:t>
                </a:r>
                <a:r>
                  <a:rPr lang="es-PE" dirty="0"/>
                  <a:t>, la energía cinética media total por molécula es en vez de La energía cinética total de n moles es y la capacidad calorífica molar (a volumen constante) </a:t>
                </a:r>
                <a:r>
                  <a:rPr lang="es-PE" dirty="0" smtClean="0"/>
                  <a:t>es</a:t>
                </a:r>
                <a14:m>
                  <m:oMath xmlns:m="http://schemas.openxmlformats.org/officeDocument/2006/math">
                    <m:r>
                      <a:rPr lang="es-PE" b="0" i="0" smtClean="0">
                        <a:latin typeface="Cambria Math" panose="02040503050406030204" pitchFamily="18" charset="0"/>
                      </a:rPr>
                      <m:t> </m:t>
                    </m:r>
                    <m:f>
                      <m:fPr>
                        <m:ctrlPr>
                          <a:rPr lang="es-PE" i="1">
                            <a:latin typeface="Cambria Math" panose="02040503050406030204" pitchFamily="18" charset="0"/>
                          </a:rPr>
                        </m:ctrlPr>
                      </m:fPr>
                      <m:num>
                        <m:r>
                          <a:rPr lang="es-PE" b="0" i="1" smtClean="0">
                            <a:latin typeface="Cambria Math" panose="02040503050406030204" pitchFamily="18" charset="0"/>
                          </a:rPr>
                          <m:t>5</m:t>
                        </m:r>
                      </m:num>
                      <m:den>
                        <m:r>
                          <a:rPr lang="es-PE" i="1">
                            <a:latin typeface="Cambria Math" panose="02040503050406030204" pitchFamily="18" charset="0"/>
                          </a:rPr>
                          <m:t>2</m:t>
                        </m:r>
                      </m:den>
                    </m:f>
                    <m:r>
                      <a:rPr lang="es-PE" i="1">
                        <a:latin typeface="Cambria Math" panose="02040503050406030204" pitchFamily="18" charset="0"/>
                      </a:rPr>
                      <m:t>𝑘𝑇</m:t>
                    </m:r>
                  </m:oMath>
                </a14:m>
                <a:r>
                  <a:rPr lang="es-PE" dirty="0" smtClean="0"/>
                  <a:t>, lo que nos lleva a:</a:t>
                </a:r>
              </a:p>
              <a:p>
                <a:pPr algn="ctr"/>
                <a14:m>
                  <m:oMath xmlns:m="http://schemas.openxmlformats.org/officeDocument/2006/math">
                    <m:sSub>
                      <m:sSubPr>
                        <m:ctrlPr>
                          <a:rPr lang="es-PE" i="1">
                            <a:latin typeface="Cambria Math" panose="02040503050406030204" pitchFamily="18" charset="0"/>
                          </a:rPr>
                        </m:ctrlPr>
                      </m:sSubPr>
                      <m:e>
                        <m:r>
                          <a:rPr lang="es-PE" i="1">
                            <a:latin typeface="Cambria Math" panose="02040503050406030204" pitchFamily="18" charset="0"/>
                          </a:rPr>
                          <m:t>𝐶</m:t>
                        </m:r>
                      </m:e>
                      <m:sub>
                        <m:r>
                          <a:rPr lang="es-PE" i="1">
                            <a:latin typeface="Cambria Math" panose="02040503050406030204" pitchFamily="18" charset="0"/>
                          </a:rPr>
                          <m:t>𝑉</m:t>
                        </m:r>
                      </m:sub>
                    </m:sSub>
                    <m:r>
                      <a:rPr lang="es-PE" i="1">
                        <a:latin typeface="Cambria Math" panose="02040503050406030204" pitchFamily="18" charset="0"/>
                      </a:rPr>
                      <m:t>=</m:t>
                    </m:r>
                    <m:f>
                      <m:fPr>
                        <m:ctrlPr>
                          <a:rPr lang="es-PE" i="1">
                            <a:latin typeface="Cambria Math" panose="02040503050406030204" pitchFamily="18" charset="0"/>
                          </a:rPr>
                        </m:ctrlPr>
                      </m:fPr>
                      <m:num>
                        <m:r>
                          <a:rPr lang="es-PE" b="0" i="1" smtClean="0">
                            <a:latin typeface="Cambria Math" panose="02040503050406030204" pitchFamily="18" charset="0"/>
                          </a:rPr>
                          <m:t>5</m:t>
                        </m:r>
                      </m:num>
                      <m:den>
                        <m:r>
                          <a:rPr lang="es-PE" i="1">
                            <a:latin typeface="Cambria Math" panose="02040503050406030204" pitchFamily="18" charset="0"/>
                          </a:rPr>
                          <m:t>2</m:t>
                        </m:r>
                      </m:den>
                    </m:f>
                    <m:r>
                      <a:rPr lang="es-PE" i="1">
                        <a:latin typeface="Cambria Math" panose="02040503050406030204" pitchFamily="18" charset="0"/>
                      </a:rPr>
                      <m:t>𝑅</m:t>
                    </m:r>
                  </m:oMath>
                </a14:m>
                <a:r>
                  <a:rPr lang="es-PE" dirty="0" smtClean="0"/>
                  <a:t>       </a:t>
                </a:r>
                <a:r>
                  <a:rPr lang="es-PE" dirty="0"/>
                  <a:t>(gas </a:t>
                </a:r>
                <a:r>
                  <a:rPr lang="es-PE" dirty="0" err="1"/>
                  <a:t>diatómico</a:t>
                </a:r>
                <a:r>
                  <a:rPr lang="es-PE" dirty="0"/>
                  <a:t>, incluida la rotación)</a:t>
                </a:r>
              </a:p>
            </p:txBody>
          </p:sp>
        </mc:Choice>
        <mc:Fallback xmlns="">
          <p:sp>
            <p:nvSpPr>
              <p:cNvPr id="5" name="Rectángulo 4"/>
              <p:cNvSpPr>
                <a:spLocks noRot="1" noChangeAspect="1" noMove="1" noResize="1" noEditPoints="1" noAdjustHandles="1" noChangeArrowheads="1" noChangeShapeType="1" noTextEdit="1"/>
              </p:cNvSpPr>
              <p:nvPr/>
            </p:nvSpPr>
            <p:spPr>
              <a:xfrm>
                <a:off x="380493" y="3083466"/>
                <a:ext cx="7200800" cy="3376565"/>
              </a:xfrm>
              <a:prstGeom prst="rect">
                <a:avLst/>
              </a:prstGeom>
              <a:blipFill rotWithShape="0">
                <a:blip r:embed="rId4"/>
                <a:stretch>
                  <a:fillRect l="-677" t="-1083" r="-677" b="-361"/>
                </a:stretch>
              </a:blipFill>
            </p:spPr>
            <p:txBody>
              <a:bodyPr/>
              <a:lstStyle/>
              <a:p>
                <a:r>
                  <a:rPr lang="es-PE">
                    <a:noFill/>
                  </a:rPr>
                  <a:t> </a:t>
                </a:r>
              </a:p>
            </p:txBody>
          </p:sp>
        </mc:Fallback>
      </mc:AlternateContent>
    </p:spTree>
    <p:extLst>
      <p:ext uri="{BB962C8B-B14F-4D97-AF65-F5344CB8AC3E}">
        <p14:creationId xmlns:p14="http://schemas.microsoft.com/office/powerpoint/2010/main" val="3907703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21702" y="788617"/>
            <a:ext cx="5112568"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ENERGÍA </a:t>
            </a:r>
            <a:r>
              <a:rPr lang="es-PE" sz="2400" b="1" dirty="0" smtClean="0">
                <a:solidFill>
                  <a:schemeClr val="tx1"/>
                </a:solidFill>
              </a:rPr>
              <a:t>INTERNA DE UN GAS IDEAL</a:t>
            </a:r>
            <a:endParaRPr lang="es-PE" sz="2400" b="1" dirty="0">
              <a:solidFill>
                <a:schemeClr val="tx1"/>
              </a:solidFill>
            </a:endParaRPr>
          </a:p>
        </p:txBody>
      </p:sp>
      <p:graphicFrame>
        <p:nvGraphicFramePr>
          <p:cNvPr id="16" name="Object 8">
            <a:extLst>
              <a:ext uri="{FF2B5EF4-FFF2-40B4-BE49-F238E27FC236}">
                <a16:creationId xmlns:a16="http://schemas.microsoft.com/office/drawing/2014/main" xmlns="" id="{18708E5F-A929-41DD-A79C-09ED52478E0D}"/>
              </a:ext>
            </a:extLst>
          </p:cNvPr>
          <p:cNvGraphicFramePr>
            <a:graphicFrameLocks noChangeAspect="1"/>
          </p:cNvGraphicFramePr>
          <p:nvPr>
            <p:extLst>
              <p:ext uri="{D42A27DB-BD31-4B8C-83A1-F6EECF244321}">
                <p14:modId xmlns:p14="http://schemas.microsoft.com/office/powerpoint/2010/main" val="3665538873"/>
              </p:ext>
            </p:extLst>
          </p:nvPr>
        </p:nvGraphicFramePr>
        <p:xfrm>
          <a:off x="3655690" y="1830935"/>
          <a:ext cx="241300" cy="52388"/>
        </p:xfrm>
        <a:graphic>
          <a:graphicData uri="http://schemas.openxmlformats.org/presentationml/2006/ole">
            <mc:AlternateContent xmlns:mc="http://schemas.openxmlformats.org/markup-compatibility/2006">
              <mc:Choice xmlns:v="urn:schemas-microsoft-com:vml" Requires="v">
                <p:oleObj spid="_x0000_s9355" name="Equation" r:id="rId3" imgW="114102" imgH="177492" progId="Equation.DSMT4">
                  <p:embed/>
                </p:oleObj>
              </mc:Choice>
              <mc:Fallback>
                <p:oleObj name="Equation" r:id="rId3" imgW="114102" imgH="177492" progId="Equation.DSMT4">
                  <p:embed/>
                  <p:pic>
                    <p:nvPicPr>
                      <p:cNvPr id="235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5690" y="183093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69025" y="3441215"/>
            <a:ext cx="4248472" cy="3045201"/>
          </a:xfrm>
          <a:prstGeom prst="rect">
            <a:avLst/>
          </a:prstGeom>
        </p:spPr>
      </p:pic>
      <p:sp>
        <p:nvSpPr>
          <p:cNvPr id="9" name="Rectángulo 8"/>
          <p:cNvSpPr/>
          <p:nvPr/>
        </p:nvSpPr>
        <p:spPr>
          <a:xfrm>
            <a:off x="392547" y="1784847"/>
            <a:ext cx="4176464" cy="2308324"/>
          </a:xfrm>
          <a:prstGeom prst="rect">
            <a:avLst/>
          </a:prstGeom>
        </p:spPr>
        <p:txBody>
          <a:bodyPr wrap="square">
            <a:spAutoFit/>
          </a:bodyPr>
          <a:lstStyle/>
          <a:p>
            <a:pPr algn="just"/>
            <a:r>
              <a:rPr lang="es-PE" dirty="0"/>
              <a:t>C</a:t>
            </a:r>
            <a:r>
              <a:rPr lang="es-PE" dirty="0" smtClean="0"/>
              <a:t>onsideremos </a:t>
            </a:r>
            <a:r>
              <a:rPr lang="es-PE" dirty="0"/>
              <a:t>primero el caso más simple de un gas </a:t>
            </a:r>
            <a:r>
              <a:rPr lang="es-PE" dirty="0" err="1"/>
              <a:t>monatómico</a:t>
            </a:r>
            <a:r>
              <a:rPr lang="es-PE" dirty="0"/>
              <a:t> ideal, es decir, un gas que contiene un átomo por molécula, como helio, neón o argón. Cuando se añade energía a un gas </a:t>
            </a:r>
            <a:r>
              <a:rPr lang="es-PE" dirty="0" err="1"/>
              <a:t>monatómico</a:t>
            </a:r>
            <a:r>
              <a:rPr lang="es-PE" dirty="0"/>
              <a:t> en un recipiente de volumen fijo, toda la energía añadida se destina a aumentar la energía cinética </a:t>
            </a:r>
            <a:r>
              <a:rPr lang="es-PE" dirty="0" err="1"/>
              <a:t>traslacional</a:t>
            </a:r>
            <a:r>
              <a:rPr lang="es-PE" dirty="0"/>
              <a:t> de los átomos</a:t>
            </a:r>
          </a:p>
        </p:txBody>
      </p:sp>
      <mc:AlternateContent xmlns:mc="http://schemas.openxmlformats.org/markup-compatibility/2006" xmlns:a14="http://schemas.microsoft.com/office/drawing/2010/main">
        <mc:Choice Requires="a14">
          <p:sp>
            <p:nvSpPr>
              <p:cNvPr id="10" name="Rectángulo 9"/>
              <p:cNvSpPr/>
              <p:nvPr/>
            </p:nvSpPr>
            <p:spPr>
              <a:xfrm>
                <a:off x="392547" y="4239382"/>
                <a:ext cx="4199124" cy="2272930"/>
              </a:xfrm>
              <a:prstGeom prst="rect">
                <a:avLst/>
              </a:prstGeom>
            </p:spPr>
            <p:txBody>
              <a:bodyPr wrap="square">
                <a:spAutoFit/>
              </a:bodyPr>
              <a:lstStyle/>
              <a:p>
                <a:pPr algn="just"/>
                <a:r>
                  <a:rPr lang="es-PE" dirty="0" smtClean="0"/>
                  <a:t>No hay otra manera de almacenar la energía en un gas </a:t>
                </a:r>
                <a:r>
                  <a:rPr lang="es-PE" dirty="0" err="1"/>
                  <a:t>monatómico</a:t>
                </a:r>
                <a:r>
                  <a:rPr lang="es-PE" dirty="0"/>
                  <a:t>. Por lo tanto, de la Ecuación </a:t>
                </a:r>
                <a:r>
                  <a:rPr lang="es-PE" dirty="0" smtClean="0"/>
                  <a:t>(1), </a:t>
                </a:r>
                <a:r>
                  <a:rPr lang="es-PE" dirty="0"/>
                  <a:t>vemos que la energía interna </a:t>
                </a:r>
                <a:r>
                  <a:rPr lang="es-PE" dirty="0" smtClean="0"/>
                  <a:t>U </a:t>
                </a:r>
                <a:r>
                  <a:rPr lang="es-PE" dirty="0"/>
                  <a:t>de N moléculas (o n mol) de un gas </a:t>
                </a:r>
                <a:r>
                  <a:rPr lang="es-PE" dirty="0" err="1"/>
                  <a:t>monatómico</a:t>
                </a:r>
                <a:r>
                  <a:rPr lang="es-PE" dirty="0"/>
                  <a:t> ideal </a:t>
                </a:r>
                <a:r>
                  <a:rPr lang="es-PE" dirty="0" smtClean="0"/>
                  <a:t>es:</a:t>
                </a:r>
              </a:p>
              <a:p>
                <a:pPr/>
                <a14:m>
                  <m:oMathPara xmlns:m="http://schemas.openxmlformats.org/officeDocument/2006/math">
                    <m:oMathParaPr>
                      <m:jc m:val="centerGroup"/>
                    </m:oMathParaPr>
                    <m:oMath xmlns:m="http://schemas.openxmlformats.org/officeDocument/2006/math">
                      <m:r>
                        <a:rPr lang="es-PE" b="0" i="1" smtClean="0">
                          <a:latin typeface="Cambria Math" panose="02040503050406030204" pitchFamily="18" charset="0"/>
                        </a:rPr>
                        <m:t>𝑈</m:t>
                      </m:r>
                      <m:r>
                        <a:rPr lang="es-PE" b="0" i="1" smtClean="0">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𝐾</m:t>
                          </m:r>
                        </m:e>
                        <m:sub>
                          <m:r>
                            <a:rPr lang="es-PE" i="1">
                              <a:latin typeface="Cambria Math" panose="02040503050406030204" pitchFamily="18" charset="0"/>
                            </a:rPr>
                            <m:t>𝑡𝑟</m:t>
                          </m:r>
                        </m:sub>
                      </m:sSub>
                      <m:r>
                        <a:rPr lang="es-PE" i="1">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3</m:t>
                          </m:r>
                        </m:num>
                        <m:den>
                          <m:r>
                            <a:rPr lang="es-PE" i="1">
                              <a:latin typeface="Cambria Math" panose="02040503050406030204" pitchFamily="18" charset="0"/>
                            </a:rPr>
                            <m:t>2</m:t>
                          </m:r>
                        </m:den>
                      </m:f>
                      <m:r>
                        <a:rPr lang="es-PE" i="1">
                          <a:latin typeface="Cambria Math" panose="02040503050406030204" pitchFamily="18" charset="0"/>
                        </a:rPr>
                        <m:t>𝑛𝑅𝑇</m:t>
                      </m:r>
                    </m:oMath>
                  </m:oMathPara>
                </a14:m>
                <a:endParaRPr lang="es-PE" dirty="0"/>
              </a:p>
              <a:p>
                <a:endParaRPr lang="es-PE" dirty="0"/>
              </a:p>
            </p:txBody>
          </p:sp>
        </mc:Choice>
        <mc:Fallback xmlns="">
          <p:sp>
            <p:nvSpPr>
              <p:cNvPr id="10" name="Rectángulo 9"/>
              <p:cNvSpPr>
                <a:spLocks noRot="1" noChangeAspect="1" noMove="1" noResize="1" noEditPoints="1" noAdjustHandles="1" noChangeArrowheads="1" noChangeShapeType="1" noTextEdit="1"/>
              </p:cNvSpPr>
              <p:nvPr/>
            </p:nvSpPr>
            <p:spPr>
              <a:xfrm>
                <a:off x="392547" y="4239382"/>
                <a:ext cx="4199124" cy="2272930"/>
              </a:xfrm>
              <a:prstGeom prst="rect">
                <a:avLst/>
              </a:prstGeom>
              <a:blipFill rotWithShape="0">
                <a:blip r:embed="rId6"/>
                <a:stretch>
                  <a:fillRect l="-1161" t="-1340" r="-1306"/>
                </a:stretch>
              </a:blipFill>
            </p:spPr>
            <p:txBody>
              <a:bodyPr/>
              <a:lstStyle/>
              <a:p>
                <a:r>
                  <a:rPr lang="es-PE">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5241032" y="1830935"/>
                <a:ext cx="4176464" cy="1477328"/>
              </a:xfrm>
              <a:prstGeom prst="rect">
                <a:avLst/>
              </a:prstGeom>
              <a:noFill/>
            </p:spPr>
            <p:txBody>
              <a:bodyPr wrap="square" rtlCol="0">
                <a:spAutoFit/>
              </a:bodyPr>
              <a:lstStyle/>
              <a:p>
                <a:r>
                  <a:rPr lang="es-PE" dirty="0" smtClean="0"/>
                  <a:t>Que podemos escribirla como:</a:t>
                </a:r>
              </a:p>
              <a:p>
                <a:pPr/>
                <a14:m>
                  <m:oMathPara xmlns:m="http://schemas.openxmlformats.org/officeDocument/2006/math">
                    <m:oMathParaPr>
                      <m:jc m:val="centerGroup"/>
                    </m:oMathParaPr>
                    <m:oMath xmlns:m="http://schemas.openxmlformats.org/officeDocument/2006/math">
                      <m:r>
                        <a:rPr lang="es-PE" i="1">
                          <a:latin typeface="Cambria Math" panose="02040503050406030204" pitchFamily="18" charset="0"/>
                        </a:rPr>
                        <m:t>𝑈</m:t>
                      </m:r>
                      <m:r>
                        <a:rPr lang="es-PE" i="1">
                          <a:latin typeface="Cambria Math" panose="02040503050406030204" pitchFamily="18" charset="0"/>
                        </a:rPr>
                        <m:t>=</m:t>
                      </m:r>
                      <m:sSub>
                        <m:sSubPr>
                          <m:ctrlPr>
                            <a:rPr lang="es-PE" i="1" smtClean="0">
                              <a:latin typeface="Cambria Math" panose="02040503050406030204" pitchFamily="18" charset="0"/>
                            </a:rPr>
                          </m:ctrlPr>
                        </m:sSubPr>
                        <m:e>
                          <m:r>
                            <a:rPr lang="es-PE" b="0" i="1" smtClean="0">
                              <a:latin typeface="Cambria Math" panose="02040503050406030204" pitchFamily="18" charset="0"/>
                            </a:rPr>
                            <m:t>𝑛𝐶</m:t>
                          </m:r>
                        </m:e>
                        <m:sub>
                          <m:r>
                            <a:rPr lang="es-PE" b="0" i="1" smtClean="0">
                              <a:latin typeface="Cambria Math" panose="02040503050406030204" pitchFamily="18" charset="0"/>
                            </a:rPr>
                            <m:t>𝑉</m:t>
                          </m:r>
                        </m:sub>
                      </m:sSub>
                      <m:r>
                        <a:rPr lang="es-PE" i="1">
                          <a:latin typeface="Cambria Math" panose="02040503050406030204" pitchFamily="18" charset="0"/>
                        </a:rPr>
                        <m:t>𝑇</m:t>
                      </m:r>
                    </m:oMath>
                  </m:oMathPara>
                </a14:m>
                <a:endParaRPr lang="es-PE" dirty="0" smtClean="0"/>
              </a:p>
              <a:p>
                <a:r>
                  <a:rPr lang="es-PE" dirty="0" smtClean="0"/>
                  <a:t>Y la variación </a:t>
                </a:r>
                <a14:m>
                  <m:oMath xmlns:m="http://schemas.openxmlformats.org/officeDocument/2006/math">
                    <m:r>
                      <a:rPr lang="es-PE" i="1" smtClean="0">
                        <a:latin typeface="Cambria Math" panose="02040503050406030204" pitchFamily="18" charset="0"/>
                        <a:ea typeface="Cambria Math" panose="02040503050406030204" pitchFamily="18" charset="0"/>
                      </a:rPr>
                      <m:t>∆</m:t>
                    </m:r>
                    <m:r>
                      <a:rPr lang="es-PE" i="1">
                        <a:latin typeface="Cambria Math" panose="02040503050406030204" pitchFamily="18" charset="0"/>
                      </a:rPr>
                      <m:t>𝑈</m:t>
                    </m:r>
                    <m:r>
                      <a:rPr lang="es-PE" i="1">
                        <a:latin typeface="Cambria Math" panose="02040503050406030204" pitchFamily="18" charset="0"/>
                      </a:rPr>
                      <m:t> </m:t>
                    </m:r>
                  </m:oMath>
                </a14:m>
                <a:r>
                  <a:rPr lang="es-PE" dirty="0" smtClean="0"/>
                  <a:t>de energía interna como:</a:t>
                </a:r>
                <a:endParaRPr lang="es-PE" dirty="0"/>
              </a:p>
              <a:p>
                <a:pPr/>
                <a14:m>
                  <m:oMathPara xmlns:m="http://schemas.openxmlformats.org/officeDocument/2006/math">
                    <m:oMathParaPr>
                      <m:jc m:val="centerGroup"/>
                    </m:oMathParaPr>
                    <m:oMath xmlns:m="http://schemas.openxmlformats.org/officeDocument/2006/math">
                      <m:r>
                        <a:rPr lang="es-PE" i="1" smtClean="0">
                          <a:latin typeface="Cambria Math" panose="02040503050406030204" pitchFamily="18" charset="0"/>
                          <a:ea typeface="Cambria Math" panose="02040503050406030204" pitchFamily="18" charset="0"/>
                        </a:rPr>
                        <m:t>∆</m:t>
                      </m:r>
                      <m:r>
                        <a:rPr lang="es-PE" i="1">
                          <a:latin typeface="Cambria Math" panose="02040503050406030204" pitchFamily="18" charset="0"/>
                        </a:rPr>
                        <m:t>𝑈</m:t>
                      </m:r>
                      <m:r>
                        <a:rPr lang="es-PE" i="1">
                          <a:latin typeface="Cambria Math" panose="02040503050406030204" pitchFamily="18" charset="0"/>
                        </a:rPr>
                        <m:t>=</m:t>
                      </m:r>
                      <m:sSub>
                        <m:sSubPr>
                          <m:ctrlPr>
                            <a:rPr lang="es-PE" i="1">
                              <a:latin typeface="Cambria Math" panose="02040503050406030204" pitchFamily="18" charset="0"/>
                            </a:rPr>
                          </m:ctrlPr>
                        </m:sSubPr>
                        <m:e>
                          <m:r>
                            <a:rPr lang="es-PE" i="1">
                              <a:latin typeface="Cambria Math" panose="02040503050406030204" pitchFamily="18" charset="0"/>
                            </a:rPr>
                            <m:t>𝑛𝐶</m:t>
                          </m:r>
                        </m:e>
                        <m:sub>
                          <m:r>
                            <a:rPr lang="es-PE" i="1">
                              <a:latin typeface="Cambria Math" panose="02040503050406030204" pitchFamily="18" charset="0"/>
                            </a:rPr>
                            <m:t>𝑉</m:t>
                          </m:r>
                        </m:sub>
                      </m:sSub>
                      <m:r>
                        <a:rPr lang="es-PE" i="1" smtClean="0">
                          <a:latin typeface="Cambria Math" panose="02040503050406030204" pitchFamily="18" charset="0"/>
                          <a:ea typeface="Cambria Math" panose="02040503050406030204" pitchFamily="18" charset="0"/>
                        </a:rPr>
                        <m:t>∆</m:t>
                      </m:r>
                      <m:r>
                        <a:rPr lang="es-PE" i="1">
                          <a:latin typeface="Cambria Math" panose="02040503050406030204" pitchFamily="18" charset="0"/>
                        </a:rPr>
                        <m:t>𝑇</m:t>
                      </m:r>
                    </m:oMath>
                  </m:oMathPara>
                </a14:m>
                <a:endParaRPr lang="es-PE" dirty="0"/>
              </a:p>
              <a:p>
                <a:endParaRPr lang="es-PE"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5241032" y="1830935"/>
                <a:ext cx="4176464" cy="1477328"/>
              </a:xfrm>
              <a:prstGeom prst="rect">
                <a:avLst/>
              </a:prstGeom>
              <a:blipFill rotWithShape="0">
                <a:blip r:embed="rId7"/>
                <a:stretch>
                  <a:fillRect l="-1314" t="-2058" r="-438"/>
                </a:stretch>
              </a:blipFill>
            </p:spPr>
            <p:txBody>
              <a:bodyPr/>
              <a:lstStyle/>
              <a:p>
                <a:r>
                  <a:rPr lang="es-PE">
                    <a:noFill/>
                  </a:rPr>
                  <a:t> </a:t>
                </a:r>
              </a:p>
            </p:txBody>
          </p:sp>
        </mc:Fallback>
      </mc:AlternateContent>
    </p:spTree>
    <p:extLst>
      <p:ext uri="{BB962C8B-B14F-4D97-AF65-F5344CB8AC3E}">
        <p14:creationId xmlns:p14="http://schemas.microsoft.com/office/powerpoint/2010/main" val="39739079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721702" y="788617"/>
            <a:ext cx="1647122" cy="530078"/>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smtClean="0">
                <a:solidFill>
                  <a:schemeClr val="tx1"/>
                </a:solidFill>
              </a:rPr>
              <a:t>EJERCICIO</a:t>
            </a:r>
            <a:endParaRPr lang="es-PE" sz="2400" b="1" dirty="0">
              <a:solidFill>
                <a:schemeClr val="tx1"/>
              </a:solidFill>
            </a:endParaRPr>
          </a:p>
        </p:txBody>
      </p:sp>
      <p:graphicFrame>
        <p:nvGraphicFramePr>
          <p:cNvPr id="16" name="Object 8">
            <a:extLst>
              <a:ext uri="{FF2B5EF4-FFF2-40B4-BE49-F238E27FC236}">
                <a16:creationId xmlns:a16="http://schemas.microsoft.com/office/drawing/2014/main" xmlns="" id="{18708E5F-A929-41DD-A79C-09ED52478E0D}"/>
              </a:ext>
            </a:extLst>
          </p:cNvPr>
          <p:cNvGraphicFramePr>
            <a:graphicFrameLocks noChangeAspect="1"/>
          </p:cNvGraphicFramePr>
          <p:nvPr>
            <p:extLst>
              <p:ext uri="{D42A27DB-BD31-4B8C-83A1-F6EECF244321}">
                <p14:modId xmlns:p14="http://schemas.microsoft.com/office/powerpoint/2010/main" val="3665538873"/>
              </p:ext>
            </p:extLst>
          </p:nvPr>
        </p:nvGraphicFramePr>
        <p:xfrm>
          <a:off x="3655690" y="1830935"/>
          <a:ext cx="241300" cy="52388"/>
        </p:xfrm>
        <a:graphic>
          <a:graphicData uri="http://schemas.openxmlformats.org/presentationml/2006/ole">
            <mc:AlternateContent xmlns:mc="http://schemas.openxmlformats.org/markup-compatibility/2006">
              <mc:Choice xmlns:v="urn:schemas-microsoft-com:vml" Requires="v">
                <p:oleObj spid="_x0000_s10243" name="Equation" r:id="rId3" imgW="114102" imgH="177492" progId="Equation.DSMT4">
                  <p:embed/>
                </p:oleObj>
              </mc:Choice>
              <mc:Fallback>
                <p:oleObj name="Equation" r:id="rId3" imgW="114102" imgH="17749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5690" y="1830935"/>
                        <a:ext cx="241300" cy="52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CuadroTexto 3"/>
          <p:cNvSpPr txBox="1"/>
          <p:nvPr/>
        </p:nvSpPr>
        <p:spPr>
          <a:xfrm>
            <a:off x="632520" y="1883323"/>
            <a:ext cx="8496944" cy="1477328"/>
          </a:xfrm>
          <a:prstGeom prst="rect">
            <a:avLst/>
          </a:prstGeom>
          <a:noFill/>
        </p:spPr>
        <p:txBody>
          <a:bodyPr wrap="square" rtlCol="0">
            <a:spAutoFit/>
          </a:bodyPr>
          <a:lstStyle/>
          <a:p>
            <a:pPr algn="just"/>
            <a:r>
              <a:rPr lang="es-ES" dirty="0" smtClean="0"/>
              <a:t>Una muestra de 1,00 mol de un gas monoatómico ideal, está a una temperatura inicial de 300 K. El gas experimenta un proceso isométrico adquiriendo 500 J de energía por calor. A continuación experimenta un proceso isobárico perdiendo esta misma cantidad de energía por calor. Determine (a) la nueva temperatura del gas y (b) el trabajo realizado sobre el gas.</a:t>
            </a:r>
            <a:endParaRPr lang="es-PE" dirty="0"/>
          </a:p>
        </p:txBody>
      </p:sp>
    </p:spTree>
    <p:extLst>
      <p:ext uri="{BB962C8B-B14F-4D97-AF65-F5344CB8AC3E}">
        <p14:creationId xmlns:p14="http://schemas.microsoft.com/office/powerpoint/2010/main" val="24152822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2" y="909827"/>
            <a:ext cx="3024336" cy="525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PE" sz="2400" b="1" dirty="0" smtClean="0">
                <a:solidFill>
                  <a:schemeClr val="tx1"/>
                </a:solidFill>
                <a:latin typeface="Arial" panose="020B0604020202020204" pitchFamily="34" charset="0"/>
                <a:cs typeface="Arial" panose="020B0604020202020204" pitchFamily="34" charset="0"/>
              </a:rPr>
              <a:t>GASES REALES</a:t>
            </a:r>
            <a:endParaRPr lang="es-PE" sz="2400" b="1" dirty="0">
              <a:solidFill>
                <a:schemeClr val="tx1"/>
              </a:solidFill>
              <a:latin typeface="Arial" panose="020B0604020202020204" pitchFamily="34" charset="0"/>
              <a:cs typeface="Arial" panose="020B0604020202020204" pitchFamily="34" charset="0"/>
            </a:endParaRPr>
          </a:p>
        </p:txBody>
      </p:sp>
      <p:sp>
        <p:nvSpPr>
          <p:cNvPr id="4" name="Rectángulo 3"/>
          <p:cNvSpPr/>
          <p:nvPr/>
        </p:nvSpPr>
        <p:spPr>
          <a:xfrm>
            <a:off x="488504" y="1652613"/>
            <a:ext cx="4273580" cy="1323439"/>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La ecuación del gas ideal, </a:t>
            </a:r>
            <a:r>
              <a:rPr lang="es-PE" sz="1600" dirty="0" smtClean="0">
                <a:latin typeface="Arial" panose="020B0604020202020204" pitchFamily="34" charset="0"/>
                <a:cs typeface="Arial" panose="020B0604020202020204" pitchFamily="34" charset="0"/>
              </a:rPr>
              <a:t>ecuación, </a:t>
            </a:r>
            <a:r>
              <a:rPr lang="es-PE" sz="1600" dirty="0">
                <a:latin typeface="Arial" panose="020B0604020202020204" pitchFamily="34" charset="0"/>
                <a:cs typeface="Arial" panose="020B0604020202020204" pitchFamily="34" charset="0"/>
              </a:rPr>
              <a:t>puede obtenerse a partir de un modelo </a:t>
            </a:r>
            <a:r>
              <a:rPr lang="es-PE" sz="1600" dirty="0" smtClean="0">
                <a:latin typeface="Arial" panose="020B0604020202020204" pitchFamily="34" charset="0"/>
                <a:cs typeface="Arial" panose="020B0604020202020204" pitchFamily="34" charset="0"/>
              </a:rPr>
              <a:t>molecular sencillo </a:t>
            </a:r>
            <a:r>
              <a:rPr lang="es-PE" sz="1600" dirty="0">
                <a:latin typeface="Arial" panose="020B0604020202020204" pitchFamily="34" charset="0"/>
                <a:cs typeface="Arial" panose="020B0604020202020204" pitchFamily="34" charset="0"/>
              </a:rPr>
              <a:t>que desprecia los volúmenes de las moléculas mismas y las </a:t>
            </a:r>
            <a:r>
              <a:rPr lang="es-PE" sz="1600" dirty="0" smtClean="0">
                <a:latin typeface="Arial" panose="020B0604020202020204" pitchFamily="34" charset="0"/>
                <a:cs typeface="Arial" panose="020B0604020202020204" pitchFamily="34" charset="0"/>
              </a:rPr>
              <a:t>fuerzas de </a:t>
            </a:r>
            <a:r>
              <a:rPr lang="es-PE" sz="1600" dirty="0">
                <a:latin typeface="Arial" panose="020B0604020202020204" pitchFamily="34" charset="0"/>
                <a:cs typeface="Arial" panose="020B0604020202020204" pitchFamily="34" charset="0"/>
              </a:rPr>
              <a:t>atracción entre </a:t>
            </a:r>
            <a:r>
              <a:rPr lang="es-PE" sz="1600" dirty="0" smtClean="0">
                <a:latin typeface="Arial" panose="020B0604020202020204" pitchFamily="34" charset="0"/>
                <a:cs typeface="Arial" panose="020B0604020202020204" pitchFamily="34" charset="0"/>
              </a:rPr>
              <a:t>ellas.</a:t>
            </a:r>
            <a:endParaRPr lang="es-PE" sz="1600" dirty="0">
              <a:latin typeface="Arial" panose="020B0604020202020204" pitchFamily="34" charset="0"/>
              <a:cs typeface="Arial" panose="020B0604020202020204" pitchFamily="34" charset="0"/>
            </a:endParaRPr>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745" y="3114756"/>
            <a:ext cx="4240339" cy="1600847"/>
          </a:xfrm>
          <a:prstGeom prst="rect">
            <a:avLst/>
          </a:prstGeom>
        </p:spPr>
      </p:pic>
      <mc:AlternateContent xmlns:mc="http://schemas.openxmlformats.org/markup-compatibility/2006" xmlns:a14="http://schemas.microsoft.com/office/drawing/2010/main">
        <mc:Choice Requires="a14">
          <p:sp>
            <p:nvSpPr>
              <p:cNvPr id="8" name="Rectángulo 7"/>
              <p:cNvSpPr/>
              <p:nvPr/>
            </p:nvSpPr>
            <p:spPr>
              <a:xfrm>
                <a:off x="521745" y="4715603"/>
                <a:ext cx="4240339" cy="1903470"/>
              </a:xfrm>
              <a:prstGeom prst="rect">
                <a:avLst/>
              </a:prstGeom>
            </p:spPr>
            <p:txBody>
              <a:bodyPr wrap="square">
                <a:spAutoFit/>
              </a:bodyPr>
              <a:lstStyle/>
              <a:p>
                <a:pPr algn="just"/>
                <a:r>
                  <a:rPr lang="es-PE" sz="1600" dirty="0" smtClean="0">
                    <a:latin typeface="Arial" panose="020B0604020202020204" pitchFamily="34" charset="0"/>
                    <a:cs typeface="Arial" panose="020B0604020202020204" pitchFamily="34" charset="0"/>
                  </a:rPr>
                  <a:t>La </a:t>
                </a:r>
                <a:r>
                  <a:rPr lang="es-PE" sz="1600" b="1" dirty="0">
                    <a:latin typeface="Arial" panose="020B0604020202020204" pitchFamily="34" charset="0"/>
                    <a:cs typeface="Arial" panose="020B0604020202020204" pitchFamily="34" charset="0"/>
                  </a:rPr>
                  <a:t>ecuación de Van der </a:t>
                </a:r>
                <a:r>
                  <a:rPr lang="es-PE" sz="1600" b="1" dirty="0" smtClean="0">
                    <a:latin typeface="Arial" panose="020B0604020202020204" pitchFamily="34" charset="0"/>
                    <a:cs typeface="Arial" panose="020B0604020202020204" pitchFamily="34" charset="0"/>
                  </a:rPr>
                  <a:t>Waals</a:t>
                </a:r>
                <a:r>
                  <a:rPr lang="es-PE" sz="1600" dirty="0" smtClean="0">
                    <a:latin typeface="Arial" panose="020B0604020202020204" pitchFamily="34" charset="0"/>
                    <a:cs typeface="Arial" panose="020B0604020202020204" pitchFamily="34" charset="0"/>
                  </a:rPr>
                  <a:t>, hace correcciones </a:t>
                </a:r>
                <a:r>
                  <a:rPr lang="es-PE" sz="1600" dirty="0">
                    <a:latin typeface="Arial" panose="020B0604020202020204" pitchFamily="34" charset="0"/>
                    <a:cs typeface="Arial" panose="020B0604020202020204" pitchFamily="34" charset="0"/>
                  </a:rPr>
                  <a:t>aproximadas por estas dos </a:t>
                </a:r>
                <a:r>
                  <a:rPr lang="es-PE" sz="1600" dirty="0" smtClean="0">
                    <a:latin typeface="Arial" panose="020B0604020202020204" pitchFamily="34" charset="0"/>
                    <a:cs typeface="Arial" panose="020B0604020202020204" pitchFamily="34" charset="0"/>
                  </a:rPr>
                  <a:t>omisiones. </a:t>
                </a:r>
                <a:r>
                  <a:rPr lang="es-PE" sz="1600" dirty="0">
                    <a:latin typeface="Arial" panose="020B0604020202020204" pitchFamily="34" charset="0"/>
                    <a:cs typeface="Arial" panose="020B0604020202020204" pitchFamily="34" charset="0"/>
                  </a:rPr>
                  <a:t>La </a:t>
                </a:r>
                <a:r>
                  <a:rPr lang="es-PE" sz="1600" dirty="0" smtClean="0">
                    <a:latin typeface="Arial" panose="020B0604020202020204" pitchFamily="34" charset="0"/>
                    <a:cs typeface="Arial" panose="020B0604020202020204" pitchFamily="34" charset="0"/>
                  </a:rPr>
                  <a:t>ecuación fue </a:t>
                </a:r>
                <a:r>
                  <a:rPr lang="es-PE" sz="1600" dirty="0">
                    <a:latin typeface="Arial" panose="020B0604020202020204" pitchFamily="34" charset="0"/>
                    <a:cs typeface="Arial" panose="020B0604020202020204" pitchFamily="34" charset="0"/>
                  </a:rPr>
                  <a:t>desarrollada en el siglo XIX por el físico holandés J. D. Van der </a:t>
                </a:r>
                <a:r>
                  <a:rPr lang="es-PE" sz="1600" dirty="0" smtClean="0">
                    <a:latin typeface="Arial" panose="020B0604020202020204" pitchFamily="34" charset="0"/>
                    <a:cs typeface="Arial" panose="020B0604020202020204" pitchFamily="34" charset="0"/>
                  </a:rPr>
                  <a:t>Waals </a:t>
                </a:r>
                <a:r>
                  <a:rPr lang="es-PE" sz="1600" dirty="0">
                    <a:latin typeface="Arial" panose="020B0604020202020204" pitchFamily="34" charset="0"/>
                    <a:cs typeface="Arial" panose="020B0604020202020204" pitchFamily="34" charset="0"/>
                  </a:rPr>
                  <a:t>La ecuación de Van der Waals </a:t>
                </a:r>
                <a:r>
                  <a:rPr lang="es-PE" sz="1600" dirty="0" smtClean="0">
                    <a:latin typeface="Arial" panose="020B0604020202020204" pitchFamily="34" charset="0"/>
                    <a:cs typeface="Arial" panose="020B0604020202020204" pitchFamily="34" charset="0"/>
                  </a:rPr>
                  <a:t>es:</a:t>
                </a:r>
              </a:p>
              <a:p>
                <a:pPr algn="just"/>
                <a14:m>
                  <m:oMathPara xmlns:m="http://schemas.openxmlformats.org/officeDocument/2006/math">
                    <m:oMathParaPr>
                      <m:jc m:val="centerGroup"/>
                    </m:oMathParaPr>
                    <m:oMath xmlns:m="http://schemas.openxmlformats.org/officeDocument/2006/math">
                      <m:d>
                        <m:dPr>
                          <m:ctrlPr>
                            <a:rPr lang="es-PE" sz="1600" b="0" i="1" smtClean="0">
                              <a:latin typeface="Cambria Math" panose="02040503050406030204" pitchFamily="18" charset="0"/>
                              <a:cs typeface="Arial" panose="020B0604020202020204" pitchFamily="34" charset="0"/>
                            </a:rPr>
                          </m:ctrlPr>
                        </m:dPr>
                        <m:e>
                          <m:r>
                            <a:rPr lang="es-PE" sz="1600" b="0" i="1" smtClean="0">
                              <a:latin typeface="Cambria Math" panose="02040503050406030204" pitchFamily="18" charset="0"/>
                              <a:cs typeface="Arial" panose="020B0604020202020204" pitchFamily="34" charset="0"/>
                            </a:rPr>
                            <m:t>𝑝</m:t>
                          </m:r>
                          <m:r>
                            <a:rPr lang="es-PE" sz="1600" b="0" i="1" smtClean="0">
                              <a:latin typeface="Cambria Math" panose="02040503050406030204" pitchFamily="18" charset="0"/>
                              <a:cs typeface="Arial" panose="020B0604020202020204" pitchFamily="34" charset="0"/>
                            </a:rPr>
                            <m:t>+</m:t>
                          </m:r>
                          <m:f>
                            <m:fPr>
                              <m:ctrlPr>
                                <a:rPr lang="es-PE" sz="1600" b="0" i="1" smtClean="0">
                                  <a:latin typeface="Cambria Math" panose="02040503050406030204" pitchFamily="18" charset="0"/>
                                  <a:cs typeface="Arial" panose="020B0604020202020204" pitchFamily="34" charset="0"/>
                                </a:rPr>
                              </m:ctrlPr>
                            </m:fPr>
                            <m:num>
                              <m:r>
                                <a:rPr lang="es-PE" sz="1600" b="0" i="1" smtClean="0">
                                  <a:latin typeface="Cambria Math" panose="02040503050406030204" pitchFamily="18" charset="0"/>
                                  <a:cs typeface="Arial" panose="020B0604020202020204" pitchFamily="34" charset="0"/>
                                </a:rPr>
                                <m:t>𝑎</m:t>
                              </m:r>
                              <m:sSup>
                                <m:sSupPr>
                                  <m:ctrlPr>
                                    <a:rPr lang="es-PE" sz="1600" b="0" i="1" smtClean="0">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𝑛</m:t>
                                  </m:r>
                                </m:e>
                                <m:sup>
                                  <m:r>
                                    <a:rPr lang="es-PE" sz="1600" b="0" i="1" smtClean="0">
                                      <a:latin typeface="Cambria Math" panose="02040503050406030204" pitchFamily="18" charset="0"/>
                                      <a:cs typeface="Arial" panose="020B0604020202020204" pitchFamily="34" charset="0"/>
                                    </a:rPr>
                                    <m:t>2</m:t>
                                  </m:r>
                                </m:sup>
                              </m:sSup>
                            </m:num>
                            <m:den>
                              <m:sSup>
                                <m:sSupPr>
                                  <m:ctrlPr>
                                    <a:rPr lang="es-PE" sz="1600" b="0" i="1" smtClean="0">
                                      <a:latin typeface="Cambria Math" panose="02040503050406030204" pitchFamily="18" charset="0"/>
                                      <a:cs typeface="Arial" panose="020B0604020202020204" pitchFamily="34" charset="0"/>
                                    </a:rPr>
                                  </m:ctrlPr>
                                </m:sSupPr>
                                <m:e>
                                  <m:r>
                                    <a:rPr lang="es-PE" sz="1600" b="0" i="1" smtClean="0">
                                      <a:latin typeface="Cambria Math" panose="02040503050406030204" pitchFamily="18" charset="0"/>
                                      <a:cs typeface="Arial" panose="020B0604020202020204" pitchFamily="34" charset="0"/>
                                    </a:rPr>
                                    <m:t>𝑉</m:t>
                                  </m:r>
                                </m:e>
                                <m:sup>
                                  <m:r>
                                    <a:rPr lang="es-PE" sz="1600" b="0" i="1" smtClean="0">
                                      <a:latin typeface="Cambria Math" panose="02040503050406030204" pitchFamily="18" charset="0"/>
                                      <a:cs typeface="Arial" panose="020B0604020202020204" pitchFamily="34" charset="0"/>
                                    </a:rPr>
                                    <m:t>2</m:t>
                                  </m:r>
                                </m:sup>
                              </m:sSup>
                            </m:den>
                          </m:f>
                        </m:e>
                      </m:d>
                      <m:d>
                        <m:dPr>
                          <m:ctrlPr>
                            <a:rPr lang="es-PE" sz="1600" b="0" i="1" smtClean="0">
                              <a:latin typeface="Cambria Math" panose="02040503050406030204" pitchFamily="18" charset="0"/>
                              <a:cs typeface="Arial" panose="020B0604020202020204" pitchFamily="34" charset="0"/>
                            </a:rPr>
                          </m:ctrlPr>
                        </m:dPr>
                        <m:e>
                          <m:r>
                            <a:rPr lang="es-PE" sz="1600" b="0" i="1" smtClean="0">
                              <a:latin typeface="Cambria Math" panose="02040503050406030204" pitchFamily="18" charset="0"/>
                              <a:cs typeface="Arial" panose="020B0604020202020204" pitchFamily="34" charset="0"/>
                            </a:rPr>
                            <m:t>𝑉</m:t>
                          </m:r>
                          <m:r>
                            <a:rPr lang="es-PE" sz="1600" b="0" i="1" smtClean="0">
                              <a:latin typeface="Cambria Math" panose="02040503050406030204" pitchFamily="18" charset="0"/>
                              <a:cs typeface="Arial" panose="020B0604020202020204" pitchFamily="34" charset="0"/>
                            </a:rPr>
                            <m:t>−</m:t>
                          </m:r>
                          <m:r>
                            <a:rPr lang="es-PE" sz="1600" b="0" i="1" smtClean="0">
                              <a:latin typeface="Cambria Math" panose="02040503050406030204" pitchFamily="18" charset="0"/>
                              <a:cs typeface="Arial" panose="020B0604020202020204" pitchFamily="34" charset="0"/>
                            </a:rPr>
                            <m:t>𝑛𝑏</m:t>
                          </m:r>
                        </m:e>
                      </m:d>
                      <m:r>
                        <a:rPr lang="es-PE" sz="1600" b="0" i="1" smtClean="0">
                          <a:latin typeface="Cambria Math" panose="02040503050406030204" pitchFamily="18" charset="0"/>
                          <a:cs typeface="Arial" panose="020B0604020202020204" pitchFamily="34" charset="0"/>
                        </a:rPr>
                        <m:t>=</m:t>
                      </m:r>
                      <m:r>
                        <a:rPr lang="es-PE" sz="1600" b="0" i="1" smtClean="0">
                          <a:latin typeface="Cambria Math" panose="02040503050406030204" pitchFamily="18" charset="0"/>
                          <a:cs typeface="Arial" panose="020B0604020202020204" pitchFamily="34" charset="0"/>
                        </a:rPr>
                        <m:t>𝑛𝑅𝑇</m:t>
                      </m:r>
                    </m:oMath>
                  </m:oMathPara>
                </a14:m>
                <a:endParaRPr lang="es-PE" sz="1600" dirty="0" smtClean="0">
                  <a:latin typeface="Arial" panose="020B0604020202020204" pitchFamily="34" charset="0"/>
                  <a:cs typeface="Arial" panose="020B0604020202020204" pitchFamily="34" charset="0"/>
                </a:endParaRPr>
              </a:p>
            </p:txBody>
          </p:sp>
        </mc:Choice>
        <mc:Fallback xmlns="">
          <p:sp>
            <p:nvSpPr>
              <p:cNvPr id="8" name="Rectángulo 7"/>
              <p:cNvSpPr>
                <a:spLocks noRot="1" noChangeAspect="1" noMove="1" noResize="1" noEditPoints="1" noAdjustHandles="1" noChangeArrowheads="1" noChangeShapeType="1" noTextEdit="1"/>
              </p:cNvSpPr>
              <p:nvPr/>
            </p:nvSpPr>
            <p:spPr>
              <a:xfrm>
                <a:off x="521745" y="4715603"/>
                <a:ext cx="4240339" cy="1903470"/>
              </a:xfrm>
              <a:prstGeom prst="rect">
                <a:avLst/>
              </a:prstGeom>
              <a:blipFill rotWithShape="0">
                <a:blip r:embed="rId3"/>
                <a:stretch>
                  <a:fillRect l="-863" t="-962" r="-719"/>
                </a:stretch>
              </a:blipFill>
            </p:spPr>
            <p:txBody>
              <a:bodyPr/>
              <a:lstStyle/>
              <a:p>
                <a:r>
                  <a:rPr lang="es-PE">
                    <a:noFill/>
                  </a:rPr>
                  <a:t> </a:t>
                </a:r>
              </a:p>
            </p:txBody>
          </p:sp>
        </mc:Fallback>
      </mc:AlternateContent>
      <p:sp>
        <p:nvSpPr>
          <p:cNvPr id="9" name="Rectángulo 8"/>
          <p:cNvSpPr/>
          <p:nvPr/>
        </p:nvSpPr>
        <p:spPr>
          <a:xfrm>
            <a:off x="5025008" y="1695928"/>
            <a:ext cx="4536504" cy="2800767"/>
          </a:xfrm>
          <a:prstGeom prst="rect">
            <a:avLst/>
          </a:prstGeom>
        </p:spPr>
        <p:txBody>
          <a:bodyPr wrap="square">
            <a:spAutoFit/>
          </a:bodyPr>
          <a:lstStyle/>
          <a:p>
            <a:pPr algn="just"/>
            <a:r>
              <a:rPr lang="es-PE" sz="1600" dirty="0">
                <a:latin typeface="Arial" panose="020B0604020202020204" pitchFamily="34" charset="0"/>
                <a:cs typeface="Arial" panose="020B0604020202020204" pitchFamily="34" charset="0"/>
              </a:rPr>
              <a:t>Las constantes </a:t>
            </a:r>
            <a:r>
              <a:rPr lang="es-PE" sz="1600" i="1" dirty="0">
                <a:latin typeface="Arial" panose="020B0604020202020204" pitchFamily="34" charset="0"/>
                <a:cs typeface="Arial" panose="020B0604020202020204" pitchFamily="34" charset="0"/>
              </a:rPr>
              <a:t>a </a:t>
            </a:r>
            <a:r>
              <a:rPr lang="es-PE" sz="1600" dirty="0">
                <a:latin typeface="Arial" panose="020B0604020202020204" pitchFamily="34" charset="0"/>
                <a:cs typeface="Arial" panose="020B0604020202020204" pitchFamily="34" charset="0"/>
              </a:rPr>
              <a:t>y </a:t>
            </a:r>
            <a:r>
              <a:rPr lang="es-PE" sz="1600" i="1" dirty="0">
                <a:latin typeface="Arial" panose="020B0604020202020204" pitchFamily="34" charset="0"/>
                <a:cs typeface="Arial" panose="020B0604020202020204" pitchFamily="34" charset="0"/>
              </a:rPr>
              <a:t>b </a:t>
            </a:r>
            <a:r>
              <a:rPr lang="es-PE" sz="1600" dirty="0">
                <a:latin typeface="Arial" panose="020B0604020202020204" pitchFamily="34" charset="0"/>
                <a:cs typeface="Arial" panose="020B0604020202020204" pitchFamily="34" charset="0"/>
              </a:rPr>
              <a:t>son constantes empíricas, diferentes para cada gas; </a:t>
            </a:r>
            <a:r>
              <a:rPr lang="es-PE" sz="1600" i="1" dirty="0">
                <a:latin typeface="Arial" panose="020B0604020202020204" pitchFamily="34" charset="0"/>
                <a:cs typeface="Arial" panose="020B0604020202020204" pitchFamily="34" charset="0"/>
              </a:rPr>
              <a:t>b </a:t>
            </a:r>
            <a:r>
              <a:rPr lang="es-PE" sz="1600" dirty="0" smtClean="0">
                <a:latin typeface="Arial" panose="020B0604020202020204" pitchFamily="34" charset="0"/>
                <a:cs typeface="Arial" panose="020B0604020202020204" pitchFamily="34" charset="0"/>
              </a:rPr>
              <a:t>representa aproximadamente </a:t>
            </a:r>
            <a:r>
              <a:rPr lang="es-PE" sz="1600" dirty="0">
                <a:latin typeface="Arial" panose="020B0604020202020204" pitchFamily="34" charset="0"/>
                <a:cs typeface="Arial" panose="020B0604020202020204" pitchFamily="34" charset="0"/>
              </a:rPr>
              <a:t>el volumen de un mol de moléculas, así que el volumen total </a:t>
            </a:r>
            <a:r>
              <a:rPr lang="es-PE" sz="1600" dirty="0" smtClean="0">
                <a:latin typeface="Arial" panose="020B0604020202020204" pitchFamily="34" charset="0"/>
                <a:cs typeface="Arial" panose="020B0604020202020204" pitchFamily="34" charset="0"/>
              </a:rPr>
              <a:t>de las </a:t>
            </a:r>
            <a:r>
              <a:rPr lang="es-PE" sz="1600" dirty="0">
                <a:latin typeface="Arial" panose="020B0604020202020204" pitchFamily="34" charset="0"/>
                <a:cs typeface="Arial" panose="020B0604020202020204" pitchFamily="34" charset="0"/>
              </a:rPr>
              <a:t>moléculas es </a:t>
            </a:r>
            <a:r>
              <a:rPr lang="es-PE" sz="1600" i="1" dirty="0" err="1">
                <a:latin typeface="Arial" panose="020B0604020202020204" pitchFamily="34" charset="0"/>
                <a:cs typeface="Arial" panose="020B0604020202020204" pitchFamily="34" charset="0"/>
              </a:rPr>
              <a:t>nb</a:t>
            </a:r>
            <a:r>
              <a:rPr lang="es-PE" sz="1600" i="1" dirty="0">
                <a:latin typeface="Arial" panose="020B0604020202020204" pitchFamily="34" charset="0"/>
                <a:cs typeface="Arial" panose="020B0604020202020204" pitchFamily="34" charset="0"/>
              </a:rPr>
              <a:t> </a:t>
            </a:r>
            <a:r>
              <a:rPr lang="es-PE" sz="1600" dirty="0">
                <a:latin typeface="Arial" panose="020B0604020202020204" pitchFamily="34" charset="0"/>
                <a:cs typeface="Arial" panose="020B0604020202020204" pitchFamily="34" charset="0"/>
              </a:rPr>
              <a:t>y el volumen neto disponible para que se muevan es </a:t>
            </a:r>
            <a:r>
              <a:rPr lang="es-PE" sz="1600" i="1" dirty="0">
                <a:latin typeface="Arial" panose="020B0604020202020204" pitchFamily="34" charset="0"/>
                <a:cs typeface="Arial" panose="020B0604020202020204" pitchFamily="34" charset="0"/>
              </a:rPr>
              <a:t>V </a:t>
            </a:r>
            <a:r>
              <a:rPr lang="es-PE" sz="1600" i="1" dirty="0" smtClean="0">
                <a:latin typeface="Arial" panose="020B0604020202020204" pitchFamily="34" charset="0"/>
                <a:cs typeface="Arial" panose="020B0604020202020204" pitchFamily="34" charset="0"/>
              </a:rPr>
              <a:t>-</a:t>
            </a:r>
            <a:r>
              <a:rPr lang="es-PE" sz="1600" dirty="0" smtClean="0">
                <a:latin typeface="Arial" panose="020B0604020202020204" pitchFamily="34" charset="0"/>
                <a:cs typeface="Arial" panose="020B0604020202020204" pitchFamily="34" charset="0"/>
              </a:rPr>
              <a:t> </a:t>
            </a:r>
            <a:r>
              <a:rPr lang="es-PE" sz="1600" i="1" dirty="0" err="1">
                <a:latin typeface="Arial" panose="020B0604020202020204" pitchFamily="34" charset="0"/>
                <a:cs typeface="Arial" panose="020B0604020202020204" pitchFamily="34" charset="0"/>
              </a:rPr>
              <a:t>nb</a:t>
            </a:r>
            <a:r>
              <a:rPr lang="es-PE" sz="1600" dirty="0">
                <a:latin typeface="Arial" panose="020B0604020202020204" pitchFamily="34" charset="0"/>
                <a:cs typeface="Arial" panose="020B0604020202020204" pitchFamily="34" charset="0"/>
              </a:rPr>
              <a:t>. </a:t>
            </a:r>
            <a:r>
              <a:rPr lang="es-PE" sz="1600" dirty="0" smtClean="0">
                <a:latin typeface="Arial" panose="020B0604020202020204" pitchFamily="34" charset="0"/>
                <a:cs typeface="Arial" panose="020B0604020202020204" pitchFamily="34" charset="0"/>
              </a:rPr>
              <a:t>La constante </a:t>
            </a:r>
            <a:r>
              <a:rPr lang="es-PE" sz="1600" i="1" dirty="0">
                <a:latin typeface="Arial" panose="020B0604020202020204" pitchFamily="34" charset="0"/>
                <a:cs typeface="Arial" panose="020B0604020202020204" pitchFamily="34" charset="0"/>
              </a:rPr>
              <a:t>a </a:t>
            </a:r>
            <a:r>
              <a:rPr lang="es-PE" sz="1600" dirty="0">
                <a:latin typeface="Arial" panose="020B0604020202020204" pitchFamily="34" charset="0"/>
                <a:cs typeface="Arial" panose="020B0604020202020204" pitchFamily="34" charset="0"/>
              </a:rPr>
              <a:t>depende de las fuerzas de atracción intermoleculares, las cuales </a:t>
            </a:r>
            <a:r>
              <a:rPr lang="es-PE" sz="1600" dirty="0" smtClean="0">
                <a:latin typeface="Arial" panose="020B0604020202020204" pitchFamily="34" charset="0"/>
                <a:cs typeface="Arial" panose="020B0604020202020204" pitchFamily="34" charset="0"/>
              </a:rPr>
              <a:t>reducen la </a:t>
            </a:r>
            <a:r>
              <a:rPr lang="es-PE" sz="1600" dirty="0">
                <a:latin typeface="Arial" panose="020B0604020202020204" pitchFamily="34" charset="0"/>
                <a:cs typeface="Arial" panose="020B0604020202020204" pitchFamily="34" charset="0"/>
              </a:rPr>
              <a:t>presión del gas para valores dados de </a:t>
            </a:r>
            <a:r>
              <a:rPr lang="es-PE" sz="1600" i="1" dirty="0">
                <a:latin typeface="Arial" panose="020B0604020202020204" pitchFamily="34" charset="0"/>
                <a:cs typeface="Arial" panose="020B0604020202020204" pitchFamily="34" charset="0"/>
              </a:rPr>
              <a:t>n</a:t>
            </a:r>
            <a:r>
              <a:rPr lang="es-PE" sz="1600" dirty="0">
                <a:latin typeface="Arial" panose="020B0604020202020204" pitchFamily="34" charset="0"/>
                <a:cs typeface="Arial" panose="020B0604020202020204" pitchFamily="34" charset="0"/>
              </a:rPr>
              <a:t>, </a:t>
            </a:r>
            <a:r>
              <a:rPr lang="es-PE" sz="1600" i="1" dirty="0">
                <a:latin typeface="Arial" panose="020B0604020202020204" pitchFamily="34" charset="0"/>
                <a:cs typeface="Arial" panose="020B0604020202020204" pitchFamily="34" charset="0"/>
              </a:rPr>
              <a:t>V </a:t>
            </a:r>
            <a:r>
              <a:rPr lang="es-PE" sz="1600" dirty="0">
                <a:latin typeface="Arial" panose="020B0604020202020204" pitchFamily="34" charset="0"/>
                <a:cs typeface="Arial" panose="020B0604020202020204" pitchFamily="34" charset="0"/>
              </a:rPr>
              <a:t>y </a:t>
            </a:r>
            <a:r>
              <a:rPr lang="es-PE" sz="1600" i="1" dirty="0">
                <a:latin typeface="Arial" panose="020B0604020202020204" pitchFamily="34" charset="0"/>
                <a:cs typeface="Arial" panose="020B0604020202020204" pitchFamily="34" charset="0"/>
              </a:rPr>
              <a:t>T juntando </a:t>
            </a:r>
            <a:r>
              <a:rPr lang="es-PE" sz="1600" dirty="0">
                <a:latin typeface="Arial" panose="020B0604020202020204" pitchFamily="34" charset="0"/>
                <a:cs typeface="Arial" panose="020B0604020202020204" pitchFamily="34" charset="0"/>
              </a:rPr>
              <a:t>las moléculas al </a:t>
            </a:r>
            <a:r>
              <a:rPr lang="es-PE" sz="1600" dirty="0" smtClean="0">
                <a:latin typeface="Arial" panose="020B0604020202020204" pitchFamily="34" charset="0"/>
                <a:cs typeface="Arial" panose="020B0604020202020204" pitchFamily="34" charset="0"/>
              </a:rPr>
              <a:t>tiempo que </a:t>
            </a:r>
            <a:r>
              <a:rPr lang="es-PE" sz="1600" dirty="0">
                <a:latin typeface="Arial" panose="020B0604020202020204" pitchFamily="34" charset="0"/>
                <a:cs typeface="Arial" panose="020B0604020202020204" pitchFamily="34" charset="0"/>
              </a:rPr>
              <a:t>éstas </a:t>
            </a:r>
            <a:r>
              <a:rPr lang="es-PE" sz="1600" i="1" dirty="0">
                <a:latin typeface="Arial" panose="020B0604020202020204" pitchFamily="34" charset="0"/>
                <a:cs typeface="Arial" panose="020B0604020202020204" pitchFamily="34" charset="0"/>
              </a:rPr>
              <a:t>empujan </a:t>
            </a:r>
            <a:r>
              <a:rPr lang="es-PE" sz="1600" dirty="0">
                <a:latin typeface="Arial" panose="020B0604020202020204" pitchFamily="34" charset="0"/>
                <a:cs typeface="Arial" panose="020B0604020202020204" pitchFamily="34" charset="0"/>
              </a:rPr>
              <a:t>las paredes del recipiente.</a:t>
            </a:r>
          </a:p>
        </p:txBody>
      </p:sp>
      <p:pic>
        <p:nvPicPr>
          <p:cNvPr id="10" name="Imagen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9184" y="4627543"/>
            <a:ext cx="1905770" cy="1991530"/>
          </a:xfrm>
          <a:prstGeom prst="rect">
            <a:avLst/>
          </a:prstGeom>
        </p:spPr>
      </p:pic>
    </p:spTree>
    <p:extLst>
      <p:ext uri="{BB962C8B-B14F-4D97-AF65-F5344CB8AC3E}">
        <p14:creationId xmlns:p14="http://schemas.microsoft.com/office/powerpoint/2010/main" val="9259444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10" name="Content Placeholder 4"/>
          <p:cNvSpPr txBox="1">
            <a:spLocks/>
          </p:cNvSpPr>
          <p:nvPr/>
        </p:nvSpPr>
        <p:spPr>
          <a:xfrm>
            <a:off x="4733611" y="1700808"/>
            <a:ext cx="4896544" cy="4957920"/>
          </a:xfrm>
          <a:prstGeom prst="rect">
            <a:avLst/>
          </a:prstGeom>
        </p:spPr>
        <p:txBody>
          <a:bodyPr/>
          <a:lstStyle>
            <a:lvl1pPr marL="342900" indent="-3429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1pPr>
            <a:lvl2pPr marL="742950" indent="-28575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2pPr>
            <a:lvl3pPr marL="11430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3pPr>
            <a:lvl4pPr marL="16002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4pPr>
            <a:lvl5pPr marL="2057400" indent="-228600" algn="l" defTabSz="457200" rtl="0" eaLnBrk="1" fontAlgn="base" hangingPunct="1">
              <a:spcBef>
                <a:spcPct val="20000"/>
              </a:spcBef>
              <a:spcAft>
                <a:spcPct val="0"/>
              </a:spcAft>
              <a:buClr>
                <a:srgbClr val="EFA82F"/>
              </a:buClr>
              <a:buFont typeface="Arial" pitchFamily="34" charset="0"/>
              <a:buChar char="•"/>
              <a:defRPr sz="1600" kern="1200">
                <a:solidFill>
                  <a:srgbClr val="676767"/>
                </a:solidFill>
                <a:latin typeface="Arial"/>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1800" dirty="0">
                <a:solidFill>
                  <a:schemeClr val="tx1"/>
                </a:solidFill>
                <a:latin typeface="Arial" panose="020B0604020202020204" pitchFamily="34" charset="0"/>
                <a:cs typeface="Arial" panose="020B0604020202020204" pitchFamily="34" charset="0"/>
              </a:rPr>
              <a:t>La </a:t>
            </a:r>
            <a:r>
              <a:rPr lang="es-PE" sz="1800" dirty="0" smtClean="0">
                <a:solidFill>
                  <a:schemeClr val="tx1"/>
                </a:solidFill>
                <a:latin typeface="Arial" panose="020B0604020202020204" pitchFamily="34" charset="0"/>
                <a:cs typeface="Arial" panose="020B0604020202020204" pitchFamily="34" charset="0"/>
              </a:rPr>
              <a:t>temperatura la podemos definir desde el punto de vista microscópico como una medida de la energía cinética media de las partículas.</a:t>
            </a:r>
            <a:endParaRPr lang="es-PE" sz="1800" dirty="0">
              <a:solidFill>
                <a:schemeClr val="tx1"/>
              </a:solidFill>
              <a:latin typeface="Arial" panose="020B0604020202020204" pitchFamily="34" charset="0"/>
              <a:cs typeface="Arial" panose="020B0604020202020204" pitchFamily="34" charset="0"/>
            </a:endParaRPr>
          </a:p>
          <a:p>
            <a:pPr algn="just"/>
            <a:r>
              <a:rPr lang="es-MX" sz="1800" dirty="0" smtClean="0">
                <a:solidFill>
                  <a:schemeClr val="tx1"/>
                </a:solidFill>
              </a:rPr>
              <a:t>El modelo molecular usando las leyes de Newton se aproximan a los valores experimentales encontrados para gases reales.</a:t>
            </a:r>
            <a:endParaRPr lang="es-MX" sz="1800" dirty="0">
              <a:solidFill>
                <a:schemeClr val="tx1"/>
              </a:solidFill>
            </a:endParaRPr>
          </a:p>
          <a:p>
            <a:pPr algn="just">
              <a:spcAft>
                <a:spcPts val="1200"/>
              </a:spcAft>
            </a:pPr>
            <a:r>
              <a:rPr lang="es-PE" sz="1800" dirty="0" smtClean="0">
                <a:solidFill>
                  <a:schemeClr val="tx1"/>
                </a:solidFill>
              </a:rPr>
              <a:t>La energía interna de un sistema solo depende de la temperatura.</a:t>
            </a:r>
          </a:p>
          <a:p>
            <a:pPr algn="just">
              <a:spcAft>
                <a:spcPts val="1200"/>
              </a:spcAft>
            </a:pPr>
            <a:r>
              <a:rPr lang="es-PE" sz="1800" dirty="0" smtClean="0">
                <a:solidFill>
                  <a:schemeClr val="tx1"/>
                </a:solidFill>
              </a:rPr>
              <a:t>El principio de </a:t>
            </a:r>
            <a:r>
              <a:rPr lang="es-PE" sz="1800" dirty="0" err="1" smtClean="0">
                <a:solidFill>
                  <a:schemeClr val="tx1"/>
                </a:solidFill>
              </a:rPr>
              <a:t>equipartición</a:t>
            </a:r>
            <a:r>
              <a:rPr lang="es-PE" sz="1800" dirty="0" smtClean="0">
                <a:solidFill>
                  <a:schemeClr val="tx1"/>
                </a:solidFill>
              </a:rPr>
              <a:t> de la energía nos permite deducir los valores para el calor especifico a volumen constante.</a:t>
            </a:r>
            <a:endParaRPr lang="es-PE" sz="1800" dirty="0">
              <a:solidFill>
                <a:schemeClr val="tx1"/>
              </a:solidFill>
            </a:endParaRPr>
          </a:p>
        </p:txBody>
      </p:sp>
      <p:sp>
        <p:nvSpPr>
          <p:cNvPr id="14" name="Rectángulo redondeado 13"/>
          <p:cNvSpPr/>
          <p:nvPr/>
        </p:nvSpPr>
        <p:spPr>
          <a:xfrm>
            <a:off x="1640633" y="980728"/>
            <a:ext cx="3096343"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CONCLUSIONES</a:t>
            </a:r>
          </a:p>
        </p:txBody>
      </p: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1988840"/>
            <a:ext cx="3739432" cy="3919646"/>
          </a:xfrm>
          <a:prstGeom prst="rect">
            <a:avLst/>
          </a:prstGeom>
        </p:spPr>
      </p:pic>
    </p:spTree>
    <p:extLst>
      <p:ext uri="{BB962C8B-B14F-4D97-AF65-F5344CB8AC3E}">
        <p14:creationId xmlns:p14="http://schemas.microsoft.com/office/powerpoint/2010/main" val="32704219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3312367"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400" b="1" dirty="0">
                <a:solidFill>
                  <a:schemeClr val="tx1"/>
                </a:solidFill>
              </a:rPr>
              <a:t>METACOGNICIÓN</a:t>
            </a:r>
          </a:p>
        </p:txBody>
      </p:sp>
      <p:sp>
        <p:nvSpPr>
          <p:cNvPr id="8" name="Bocadillo: rectángulo con esquinas redondeadas 1">
            <a:extLst>
              <a:ext uri="{FF2B5EF4-FFF2-40B4-BE49-F238E27FC236}">
                <a16:creationId xmlns:a16="http://schemas.microsoft.com/office/drawing/2014/main" xmlns="" id="{82BC446B-F639-467D-A250-25259F9EF4B8}"/>
              </a:ext>
            </a:extLst>
          </p:cNvPr>
          <p:cNvSpPr/>
          <p:nvPr/>
        </p:nvSpPr>
        <p:spPr>
          <a:xfrm>
            <a:off x="992560" y="2420888"/>
            <a:ext cx="7488832" cy="2664296"/>
          </a:xfrm>
          <a:prstGeom prst="wedgeRoundRectCallout">
            <a:avLst>
              <a:gd name="adj1" fmla="val -17962"/>
              <a:gd name="adj2" fmla="val 48532"/>
              <a:gd name="adj3" fmla="val 16667"/>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2400" dirty="0" smtClean="0">
                <a:solidFill>
                  <a:schemeClr val="tx1"/>
                </a:solidFill>
                <a:cs typeface="Arial" pitchFamily="34" charset="0"/>
              </a:rPr>
              <a:t>¿Cuáles son las diferencias entre gases ideales y gases reales?</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a:solidFill>
                  <a:schemeClr val="tx1"/>
                </a:solidFill>
                <a:cs typeface="Arial" pitchFamily="34" charset="0"/>
              </a:rPr>
              <a:t>¿Cómo </a:t>
            </a:r>
            <a:r>
              <a:rPr lang="es-PE" sz="2400" dirty="0" smtClean="0">
                <a:solidFill>
                  <a:schemeClr val="tx1"/>
                </a:solidFill>
                <a:cs typeface="Arial" pitchFamily="34" charset="0"/>
              </a:rPr>
              <a:t>se consideran las partículas en un gas ideal? </a:t>
            </a:r>
            <a:endParaRPr lang="es-PE" sz="2400" dirty="0">
              <a:solidFill>
                <a:schemeClr val="tx1"/>
              </a:solidFill>
              <a:cs typeface="Arial" pitchFamily="34" charset="0"/>
            </a:endParaRPr>
          </a:p>
          <a:p>
            <a:pPr marL="285750" indent="-285750" algn="just">
              <a:buFont typeface="Arial" panose="020B0604020202020204" pitchFamily="34" charset="0"/>
              <a:buChar char="•"/>
            </a:pPr>
            <a:r>
              <a:rPr lang="es-PE" sz="2400" dirty="0" smtClean="0">
                <a:solidFill>
                  <a:schemeClr val="tx1"/>
                </a:solidFill>
                <a:cs typeface="Arial" pitchFamily="34" charset="0"/>
              </a:rPr>
              <a:t>¿Qué otros modelos existen de los gases ideales?</a:t>
            </a:r>
          </a:p>
          <a:p>
            <a:pPr marL="285750" indent="-285750" algn="just">
              <a:buFont typeface="Arial" panose="020B0604020202020204" pitchFamily="34" charset="0"/>
              <a:buChar char="•"/>
            </a:pPr>
            <a:r>
              <a:rPr lang="es-PE" sz="2400" dirty="0">
                <a:solidFill>
                  <a:schemeClr val="tx1"/>
                </a:solidFill>
                <a:cs typeface="Arial" pitchFamily="34" charset="0"/>
              </a:rPr>
              <a:t>¿</a:t>
            </a:r>
            <a:r>
              <a:rPr lang="es-PE" sz="2400" dirty="0" smtClean="0">
                <a:solidFill>
                  <a:schemeClr val="tx1"/>
                </a:solidFill>
                <a:cs typeface="Arial" pitchFamily="34" charset="0"/>
              </a:rPr>
              <a:t>Es aplicable el modelo molecular de os gases en la ingeniería?</a:t>
            </a:r>
            <a:endParaRPr lang="es-PE" sz="2400" dirty="0">
              <a:solidFill>
                <a:schemeClr val="tx1"/>
              </a:solidFill>
              <a:cs typeface="Arial" pitchFamily="34" charset="0"/>
            </a:endParaRPr>
          </a:p>
        </p:txBody>
      </p:sp>
    </p:spTree>
    <p:extLst>
      <p:ext uri="{BB962C8B-B14F-4D97-AF65-F5344CB8AC3E}">
        <p14:creationId xmlns:p14="http://schemas.microsoft.com/office/powerpoint/2010/main" val="34584631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856656" y="116632"/>
            <a:ext cx="6048672" cy="461665"/>
          </a:xfrm>
          <a:prstGeom prst="rect">
            <a:avLst/>
          </a:prstGeom>
          <a:noFill/>
        </p:spPr>
        <p:txBody>
          <a:bodyPr wrap="square" rtlCol="0">
            <a:spAutoFit/>
          </a:bodyPr>
          <a:lstStyle/>
          <a:p>
            <a:pPr algn="ctr"/>
            <a:r>
              <a:rPr lang="es-PE" sz="1200" b="1" dirty="0">
                <a:latin typeface="Arial" panose="020B0604020202020204" pitchFamily="34" charset="0"/>
                <a:cs typeface="Arial" panose="020B0604020202020204" pitchFamily="34" charset="0"/>
              </a:rPr>
              <a:t>UNIVERSIDAD NACIONAL DEL CALLAO</a:t>
            </a:r>
          </a:p>
          <a:p>
            <a:pPr algn="ctr"/>
            <a:r>
              <a:rPr lang="es-PE" sz="1200" b="1" dirty="0">
                <a:latin typeface="Arial" panose="020B0604020202020204" pitchFamily="34" charset="0"/>
                <a:cs typeface="Arial" panose="020B0604020202020204" pitchFamily="34" charset="0"/>
              </a:rPr>
              <a:t>FACULTAD DE INGENIERÍA MECÁNICA Y DE ENERGÍA</a:t>
            </a:r>
          </a:p>
        </p:txBody>
      </p:sp>
      <p:sp>
        <p:nvSpPr>
          <p:cNvPr id="6" name="Rectángulo redondeado 5"/>
          <p:cNvSpPr/>
          <p:nvPr/>
        </p:nvSpPr>
        <p:spPr>
          <a:xfrm>
            <a:off x="1640633" y="980728"/>
            <a:ext cx="2448271" cy="504056"/>
          </a:xfrm>
          <a:prstGeom prst="roundRect">
            <a:avLst/>
          </a:prstGeom>
          <a:solidFill>
            <a:srgbClr val="11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800" b="1" dirty="0">
                <a:solidFill>
                  <a:schemeClr val="tx1"/>
                </a:solidFill>
              </a:rPr>
              <a:t>REFERENCIAS</a:t>
            </a:r>
          </a:p>
        </p:txBody>
      </p:sp>
      <p:sp>
        <p:nvSpPr>
          <p:cNvPr id="7" name="Rectángulo 6"/>
          <p:cNvSpPr/>
          <p:nvPr/>
        </p:nvSpPr>
        <p:spPr>
          <a:xfrm>
            <a:off x="272480" y="1700808"/>
            <a:ext cx="9561512" cy="4939814"/>
          </a:xfrm>
          <a:prstGeom prst="rect">
            <a:avLst/>
          </a:prstGeom>
        </p:spPr>
        <p:txBody>
          <a:bodyPr wrap="square">
            <a:spAutoFit/>
          </a:bodyPr>
          <a:lstStyle/>
          <a:p>
            <a:r>
              <a:rPr lang="es-ES" sz="1600" b="1" u="sng" dirty="0"/>
              <a:t>Bibliografía Básica:</a:t>
            </a:r>
            <a:r>
              <a:rPr lang="es-ES" sz="1600" dirty="0"/>
              <a:t> </a:t>
            </a:r>
            <a:endParaRPr lang="es-PE" sz="1600" dirty="0"/>
          </a:p>
          <a:p>
            <a:r>
              <a:rPr lang="es-ES" sz="1600" dirty="0"/>
              <a:t>1. </a:t>
            </a:r>
            <a:r>
              <a:rPr lang="es-ES" sz="1600" b="1" dirty="0" err="1"/>
              <a:t>Serway</a:t>
            </a:r>
            <a:r>
              <a:rPr lang="es-ES" sz="1600" b="1" dirty="0"/>
              <a:t>, R. A. y </a:t>
            </a:r>
            <a:r>
              <a:rPr lang="es-ES" sz="1600" b="1" dirty="0" err="1"/>
              <a:t>Jewett</a:t>
            </a:r>
            <a:r>
              <a:rPr lang="es-ES" sz="1600" b="1" dirty="0"/>
              <a:t>, J. W.</a:t>
            </a:r>
            <a:r>
              <a:rPr lang="es-ES" sz="1600" dirty="0"/>
              <a:t> </a:t>
            </a:r>
            <a:r>
              <a:rPr lang="es-ES" sz="1600" i="1" dirty="0" err="1"/>
              <a:t>Fisica</a:t>
            </a:r>
            <a:r>
              <a:rPr lang="es-ES" sz="1600" i="1" dirty="0"/>
              <a:t> para Ciencias e </a:t>
            </a:r>
            <a:r>
              <a:rPr lang="es-ES" sz="1600" i="1" dirty="0" err="1"/>
              <a:t>Ingeneiría</a:t>
            </a:r>
            <a:r>
              <a:rPr lang="es-ES" sz="1600" i="1" dirty="0"/>
              <a:t>. </a:t>
            </a:r>
            <a:r>
              <a:rPr lang="es-ES" sz="1600" dirty="0"/>
              <a:t>México : </a:t>
            </a:r>
            <a:r>
              <a:rPr lang="es-ES" sz="1600" dirty="0" err="1"/>
              <a:t>Cengage</a:t>
            </a:r>
            <a:r>
              <a:rPr lang="es-ES" sz="1600" dirty="0"/>
              <a:t> </a:t>
            </a:r>
            <a:r>
              <a:rPr lang="es-ES" sz="1600" dirty="0" err="1"/>
              <a:t>Learning</a:t>
            </a:r>
            <a:r>
              <a:rPr lang="es-ES" sz="1600" dirty="0"/>
              <a:t>, 2015. Vol. I.</a:t>
            </a:r>
            <a:endParaRPr lang="es-PE" sz="1600" dirty="0"/>
          </a:p>
          <a:p>
            <a:r>
              <a:rPr lang="es-ES" sz="1600" dirty="0"/>
              <a:t>2. </a:t>
            </a:r>
            <a:r>
              <a:rPr lang="es-ES" sz="1600" b="1" dirty="0" err="1"/>
              <a:t>Resnick</a:t>
            </a:r>
            <a:r>
              <a:rPr lang="es-ES" sz="1600" b="1" dirty="0"/>
              <a:t>, R., </a:t>
            </a:r>
            <a:r>
              <a:rPr lang="es-ES" sz="1600" b="1" dirty="0" err="1"/>
              <a:t>Halliday</a:t>
            </a:r>
            <a:r>
              <a:rPr lang="es-ES" sz="1600" b="1" dirty="0"/>
              <a:t>, D. y </a:t>
            </a:r>
            <a:r>
              <a:rPr lang="es-ES" sz="1600" b="1" dirty="0" err="1"/>
              <a:t>Krane</a:t>
            </a:r>
            <a:r>
              <a:rPr lang="es-ES" sz="1600" b="1" dirty="0"/>
              <a:t>, K. S.</a:t>
            </a:r>
            <a:r>
              <a:rPr lang="es-ES" sz="1600" dirty="0"/>
              <a:t> </a:t>
            </a:r>
            <a:r>
              <a:rPr lang="es-ES" sz="1600" i="1" dirty="0"/>
              <a:t>Física. </a:t>
            </a:r>
            <a:r>
              <a:rPr lang="es-ES" sz="1600" dirty="0"/>
              <a:t>Quinta. México : </a:t>
            </a:r>
            <a:r>
              <a:rPr lang="es-ES" sz="1600" dirty="0" err="1"/>
              <a:t>Compañia</a:t>
            </a:r>
            <a:r>
              <a:rPr lang="es-ES" sz="1600" dirty="0"/>
              <a:t> editorial Continental, 2014. Vol. I.</a:t>
            </a:r>
            <a:endParaRPr lang="es-PE" sz="1600" dirty="0"/>
          </a:p>
          <a:p>
            <a:r>
              <a:rPr lang="es-ES" sz="1600" dirty="0"/>
              <a:t>3. </a:t>
            </a:r>
            <a:r>
              <a:rPr lang="es-ES" sz="1600" b="1" dirty="0" err="1"/>
              <a:t>Tipler</a:t>
            </a:r>
            <a:r>
              <a:rPr lang="es-ES" sz="1600" b="1" dirty="0"/>
              <a:t>, P. A. y Mosca, G.</a:t>
            </a:r>
            <a:r>
              <a:rPr lang="es-ES" sz="1600" dirty="0"/>
              <a:t> </a:t>
            </a:r>
            <a:r>
              <a:rPr lang="es-ES" sz="1600" i="1" dirty="0"/>
              <a:t>Física para la Ciencia y la Tecnología. </a:t>
            </a:r>
            <a:r>
              <a:rPr lang="es-ES" sz="1600" dirty="0"/>
              <a:t>Sexta. Barcelona : </a:t>
            </a:r>
            <a:r>
              <a:rPr lang="es-ES" sz="1600" dirty="0" err="1"/>
              <a:t>Reverté</a:t>
            </a:r>
            <a:r>
              <a:rPr lang="es-ES" sz="1600" dirty="0"/>
              <a:t> S.A., 2010. Vol. I.</a:t>
            </a:r>
            <a:endParaRPr lang="es-PE" sz="1600" dirty="0"/>
          </a:p>
          <a:p>
            <a:r>
              <a:rPr lang="es-ES" sz="1600" dirty="0"/>
              <a:t>4. </a:t>
            </a:r>
            <a:r>
              <a:rPr lang="es-ES" sz="1600" b="1" dirty="0" err="1"/>
              <a:t>Zemansky</a:t>
            </a:r>
            <a:r>
              <a:rPr lang="es-ES" sz="1600" b="1" dirty="0"/>
              <a:t>, M. W. y </a:t>
            </a:r>
            <a:r>
              <a:rPr lang="es-ES" sz="1600" b="1" dirty="0" err="1"/>
              <a:t>Freedman</a:t>
            </a:r>
            <a:r>
              <a:rPr lang="es-ES" sz="1600" b="1" dirty="0"/>
              <a:t>, R.A.</a:t>
            </a:r>
            <a:r>
              <a:rPr lang="es-ES" sz="1600" dirty="0"/>
              <a:t> </a:t>
            </a:r>
            <a:r>
              <a:rPr lang="es-ES" sz="1600" i="1" dirty="0"/>
              <a:t>Física Universitaria. </a:t>
            </a:r>
            <a:r>
              <a:rPr lang="es-ES" sz="1600" dirty="0"/>
              <a:t>México : Pearson </a:t>
            </a:r>
            <a:r>
              <a:rPr lang="es-ES" sz="1600" dirty="0" err="1"/>
              <a:t>Education</a:t>
            </a:r>
            <a:r>
              <a:rPr lang="es-ES" sz="1600" dirty="0"/>
              <a:t>, 2009. Vol. I.</a:t>
            </a:r>
            <a:endParaRPr lang="es-PE" sz="1600" dirty="0"/>
          </a:p>
          <a:p>
            <a:r>
              <a:rPr lang="es-ES" sz="1600" dirty="0"/>
              <a:t>5. </a:t>
            </a:r>
            <a:r>
              <a:rPr lang="es-ES" sz="1600" b="1" dirty="0" err="1"/>
              <a:t>Fishbane</a:t>
            </a:r>
            <a:r>
              <a:rPr lang="es-ES" sz="1600" b="1" dirty="0"/>
              <a:t>, P.M., </a:t>
            </a:r>
            <a:r>
              <a:rPr lang="es-ES" sz="1600" b="1" dirty="0" err="1"/>
              <a:t>Gasiorowicz</a:t>
            </a:r>
            <a:r>
              <a:rPr lang="es-ES" sz="1600" b="1" dirty="0"/>
              <a:t>, S. y </a:t>
            </a:r>
            <a:r>
              <a:rPr lang="es-ES" sz="1600" b="1" dirty="0" err="1"/>
              <a:t>Thornton</a:t>
            </a:r>
            <a:r>
              <a:rPr lang="es-ES" sz="1600" b="1" dirty="0"/>
              <a:t>, S.T.</a:t>
            </a:r>
            <a:r>
              <a:rPr lang="es-ES" sz="1600" dirty="0"/>
              <a:t> </a:t>
            </a:r>
            <a:r>
              <a:rPr lang="es-ES" sz="1600" i="1" dirty="0"/>
              <a:t>Física para Ciencias e </a:t>
            </a:r>
            <a:r>
              <a:rPr lang="es-ES" sz="1600" i="1" dirty="0" err="1"/>
              <a:t>Ingeneiría</a:t>
            </a:r>
            <a:r>
              <a:rPr lang="es-ES" sz="1600" i="1" dirty="0"/>
              <a:t>. </a:t>
            </a:r>
            <a:r>
              <a:rPr lang="es-ES" sz="1600" dirty="0"/>
              <a:t>México : Prentice Hall Hispanoamericana, 1996. Vol. I.</a:t>
            </a:r>
            <a:endParaRPr lang="es-PE" sz="1600" dirty="0"/>
          </a:p>
          <a:p>
            <a:r>
              <a:rPr lang="es-ES" sz="1600" dirty="0"/>
              <a:t>6. </a:t>
            </a:r>
            <a:r>
              <a:rPr lang="es-ES" sz="1600" b="1" dirty="0"/>
              <a:t>Alonso, M. y </a:t>
            </a:r>
            <a:r>
              <a:rPr lang="es-ES" sz="1600" b="1" dirty="0" err="1"/>
              <a:t>Finn</a:t>
            </a:r>
            <a:r>
              <a:rPr lang="es-ES" sz="1600" b="1" dirty="0"/>
              <a:t>, E.J.</a:t>
            </a:r>
            <a:r>
              <a:rPr lang="es-ES" sz="1600" dirty="0"/>
              <a:t> </a:t>
            </a:r>
            <a:r>
              <a:rPr lang="es-ES" sz="1600" i="1" dirty="0"/>
              <a:t>Física: Mecánica. </a:t>
            </a:r>
            <a:r>
              <a:rPr lang="es-ES" sz="1600" dirty="0"/>
              <a:t>México : Fondo Educativo Interamericano S. A., 1971. Vol. I.</a:t>
            </a:r>
            <a:endParaRPr lang="es-PE" sz="1600" dirty="0"/>
          </a:p>
          <a:p>
            <a:r>
              <a:rPr lang="es-ES" sz="1600" b="1" u="sng" dirty="0"/>
              <a:t>Bibliografía Complementaria:</a:t>
            </a:r>
            <a:endParaRPr lang="es-PE" sz="1600" b="1" u="sng" dirty="0"/>
          </a:p>
          <a:p>
            <a:r>
              <a:rPr lang="es-ES" sz="1600" b="1" dirty="0"/>
              <a:t> </a:t>
            </a:r>
            <a:r>
              <a:rPr lang="es-ES" sz="1600" dirty="0"/>
              <a:t>7. </a:t>
            </a:r>
            <a:r>
              <a:rPr lang="es-ES" sz="1600" b="1" dirty="0" err="1"/>
              <a:t>Beer</a:t>
            </a:r>
            <a:r>
              <a:rPr lang="es-ES" sz="1600" b="1" dirty="0"/>
              <a:t>, F. P., y otros.</a:t>
            </a:r>
            <a:r>
              <a:rPr lang="es-ES" sz="1600" dirty="0"/>
              <a:t> </a:t>
            </a:r>
            <a:r>
              <a:rPr lang="es-ES" sz="1600" i="1" dirty="0"/>
              <a:t>Mecánica vectorial para ingenieros: Dinámica. </a:t>
            </a:r>
            <a:r>
              <a:rPr lang="es-ES" sz="1600" dirty="0"/>
              <a:t>México : Mc Graw Hill, 2010. Vol. Novena.</a:t>
            </a:r>
            <a:endParaRPr lang="es-PE" sz="1600" dirty="0"/>
          </a:p>
          <a:p>
            <a:r>
              <a:rPr lang="es-ES" sz="1600" dirty="0"/>
              <a:t>8. </a:t>
            </a:r>
            <a:r>
              <a:rPr lang="es-ES" sz="1600" b="1" dirty="0" err="1"/>
              <a:t>Beer</a:t>
            </a:r>
            <a:r>
              <a:rPr lang="es-ES" sz="1600" b="1" dirty="0"/>
              <a:t>, F.P., y otros.</a:t>
            </a:r>
            <a:r>
              <a:rPr lang="es-ES" sz="1600" dirty="0"/>
              <a:t> </a:t>
            </a:r>
            <a:r>
              <a:rPr lang="es-ES" sz="1600" i="1" dirty="0"/>
              <a:t>Mecánica Vectorial para Ingenieros: Estática. </a:t>
            </a:r>
            <a:r>
              <a:rPr lang="es-ES" sz="1600" dirty="0"/>
              <a:t>Novena. México : Mc Graw Hill, 2010.</a:t>
            </a:r>
            <a:endParaRPr lang="es-PE" sz="1600" dirty="0"/>
          </a:p>
          <a:p>
            <a:r>
              <a:rPr lang="es-ES" sz="1600" dirty="0"/>
              <a:t>9. </a:t>
            </a:r>
            <a:r>
              <a:rPr lang="es-ES" sz="1600" b="1" dirty="0"/>
              <a:t>Bedford, A. y </a:t>
            </a:r>
            <a:r>
              <a:rPr lang="es-ES" sz="1600" b="1" dirty="0" err="1"/>
              <a:t>Fowler</a:t>
            </a:r>
            <a:r>
              <a:rPr lang="es-ES" sz="1600" b="1" dirty="0"/>
              <a:t>, W.</a:t>
            </a:r>
            <a:r>
              <a:rPr lang="es-ES" sz="1600" dirty="0"/>
              <a:t> </a:t>
            </a:r>
            <a:r>
              <a:rPr lang="es-ES" sz="1600" i="1" dirty="0"/>
              <a:t>Mecánica para Ingeniería: Estática. </a:t>
            </a:r>
            <a:r>
              <a:rPr lang="es-ES" sz="1600" dirty="0"/>
              <a:t>Quinta. México : Pearson Educación, 2008.</a:t>
            </a:r>
            <a:endParaRPr lang="es-PE" sz="1600" dirty="0"/>
          </a:p>
          <a:p>
            <a:r>
              <a:rPr lang="es-ES" sz="1600" dirty="0"/>
              <a:t>10. —. </a:t>
            </a:r>
            <a:r>
              <a:rPr lang="es-ES" sz="1600" i="1" dirty="0"/>
              <a:t>Mecánica para Ingeniería: Dinámica. </a:t>
            </a:r>
            <a:r>
              <a:rPr lang="es-ES" sz="1600" dirty="0"/>
              <a:t>Quinta. México : Pearson Educación, 2008.</a:t>
            </a:r>
            <a:endParaRPr lang="es-PE" sz="1600" dirty="0"/>
          </a:p>
          <a:p>
            <a:r>
              <a:rPr lang="es-ES" sz="1600" dirty="0"/>
              <a:t>11. </a:t>
            </a:r>
            <a:r>
              <a:rPr lang="es-ES" sz="1600" b="1" dirty="0" err="1"/>
              <a:t>Hibbeler</a:t>
            </a:r>
            <a:r>
              <a:rPr lang="es-ES" sz="1600" b="1" dirty="0"/>
              <a:t>, R. C.</a:t>
            </a:r>
            <a:r>
              <a:rPr lang="es-ES" sz="1600" dirty="0"/>
              <a:t> </a:t>
            </a:r>
            <a:r>
              <a:rPr lang="es-ES" sz="1600" i="1" dirty="0"/>
              <a:t>Mecánica Vectorial para Ingenieros: Estática. </a:t>
            </a:r>
            <a:r>
              <a:rPr lang="es-ES" sz="1600" dirty="0"/>
              <a:t>Décima. México : Pearson Educación, 2004.</a:t>
            </a:r>
            <a:endParaRPr lang="es-PE" sz="1600" dirty="0"/>
          </a:p>
          <a:p>
            <a:r>
              <a:rPr lang="es-ES" sz="1600" dirty="0"/>
              <a:t>12. —. </a:t>
            </a:r>
            <a:r>
              <a:rPr lang="es-ES" sz="1600" i="1" dirty="0"/>
              <a:t>Mecánica Vectorial para Ingenieros: Dinámica. </a:t>
            </a:r>
            <a:r>
              <a:rPr lang="es-ES" sz="1600" dirty="0"/>
              <a:t>Décima. México : Pearson Educación, 2004.</a:t>
            </a:r>
            <a:r>
              <a:rPr lang="es-ES" sz="1500" dirty="0">
                <a:ea typeface="Symbol" panose="05050102010706020507" pitchFamily="18" charset="2"/>
                <a:cs typeface="Arial" panose="020B0604020202020204" pitchFamily="34" charset="0"/>
              </a:rPr>
              <a:t> </a:t>
            </a:r>
          </a:p>
          <a:p>
            <a:r>
              <a:rPr lang="es-ES" sz="1500" b="1" u="sng" dirty="0">
                <a:ea typeface="Times New Roman" panose="02020603050405020304" pitchFamily="18" charset="0"/>
              </a:rPr>
              <a:t>Fuentes </a:t>
            </a:r>
            <a:r>
              <a:rPr lang="es-ES" sz="1500" b="1" u="sng" dirty="0" err="1">
                <a:ea typeface="Times New Roman" panose="02020603050405020304" pitchFamily="18" charset="0"/>
              </a:rPr>
              <a:t>hemerográficas</a:t>
            </a:r>
            <a:endParaRPr lang="es-ES" sz="1500" b="1" u="sng" dirty="0">
              <a:ea typeface="Times New Roman" panose="02020603050405020304" pitchFamily="18" charset="0"/>
            </a:endParaRPr>
          </a:p>
          <a:p>
            <a:r>
              <a:rPr lang="es-ES" sz="1500" dirty="0" err="1">
                <a:ea typeface="Times New Roman" panose="02020603050405020304" pitchFamily="18" charset="0"/>
              </a:rPr>
              <a:t>Physics</a:t>
            </a:r>
            <a:r>
              <a:rPr lang="es-ES" sz="1500" dirty="0">
                <a:ea typeface="Times New Roman" panose="02020603050405020304" pitchFamily="18" charset="0"/>
              </a:rPr>
              <a:t> </a:t>
            </a:r>
            <a:r>
              <a:rPr lang="es-ES" sz="1500" dirty="0" err="1">
                <a:ea typeface="Times New Roman" panose="02020603050405020304" pitchFamily="18" charset="0"/>
              </a:rPr>
              <a:t>today</a:t>
            </a:r>
            <a:r>
              <a:rPr lang="es-ES" sz="1500" dirty="0">
                <a:ea typeface="Times New Roman" panose="02020603050405020304" pitchFamily="18" charset="0"/>
              </a:rPr>
              <a:t>, 68(11), 38(2015); </a:t>
            </a:r>
            <a:r>
              <a:rPr lang="es-ES" sz="1500" dirty="0" err="1">
                <a:ea typeface="Times New Roman" panose="02020603050405020304" pitchFamily="18" charset="0"/>
              </a:rPr>
              <a:t>doi</a:t>
            </a:r>
            <a:r>
              <a:rPr lang="es-ES" sz="1500" dirty="0">
                <a:ea typeface="Times New Roman" panose="02020603050405020304" pitchFamily="18" charset="0"/>
              </a:rPr>
              <a:t> 10.1063/PT 3.2980.</a:t>
            </a:r>
            <a:endParaRPr lang="es-PE" sz="1500" dirty="0">
              <a:ea typeface="Times New Roman" panose="02020603050405020304" pitchFamily="18" charset="0"/>
            </a:endParaRPr>
          </a:p>
          <a:p>
            <a:r>
              <a:rPr lang="es-ES" sz="1500" b="1" u="sng" dirty="0" err="1">
                <a:ea typeface="Times New Roman" panose="02020603050405020304" pitchFamily="18" charset="0"/>
              </a:rPr>
              <a:t>Webgrafia</a:t>
            </a:r>
            <a:endParaRPr lang="es-ES" sz="1500" b="1" u="sng" dirty="0">
              <a:ea typeface="Times New Roman" panose="02020603050405020304" pitchFamily="18" charset="0"/>
            </a:endParaRPr>
          </a:p>
          <a:p>
            <a:r>
              <a:rPr lang="es-PE" sz="1500" u="sng" dirty="0">
                <a:ea typeface="Calibri" panose="020F0502020204030204" pitchFamily="34" charset="0"/>
                <a:cs typeface="Arial" panose="020B0604020202020204" pitchFamily="34" charset="0"/>
                <a:hlinkClick r:id="rId2"/>
              </a:rPr>
              <a:t>http://www.sc.ehu.es/sbweb/fisica/</a:t>
            </a:r>
            <a:endParaRPr lang="es-PE" sz="1500" u="sng" dirty="0">
              <a:ea typeface="Calibri" panose="020F0502020204030204" pitchFamily="34" charset="0"/>
              <a:cs typeface="Arial" panose="020B0604020202020204" pitchFamily="34" charset="0"/>
            </a:endParaRPr>
          </a:p>
          <a:p>
            <a:r>
              <a:rPr lang="es-PE" sz="1500" u="sng" dirty="0">
                <a:ea typeface="Calibri" panose="020F0502020204030204" pitchFamily="34" charset="0"/>
                <a:cs typeface="Arial" panose="020B0604020202020204" pitchFamily="34" charset="0"/>
                <a:hlinkClick r:id="rId3"/>
              </a:rPr>
              <a:t>http://www.fisicarecreativa.com/</a:t>
            </a:r>
            <a:endParaRPr lang="es-PE" sz="1500" dirty="0">
              <a:effectLst/>
              <a:ea typeface="Calibri" panose="020F0502020204030204" pitchFamily="34" charset="0"/>
            </a:endParaRPr>
          </a:p>
        </p:txBody>
      </p:sp>
    </p:spTree>
    <p:extLst>
      <p:ext uri="{BB962C8B-B14F-4D97-AF65-F5344CB8AC3E}">
        <p14:creationId xmlns:p14="http://schemas.microsoft.com/office/powerpoint/2010/main" val="485000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PATR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PATRON</Template>
  <TotalTime>12576</TotalTime>
  <Words>1892</Words>
  <Application>Microsoft Office PowerPoint</Application>
  <PresentationFormat>A4 (210 x 297 mm)</PresentationFormat>
  <Paragraphs>207</Paragraphs>
  <Slides>21</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21</vt:i4>
      </vt:variant>
    </vt:vector>
  </HeadingPairs>
  <TitlesOfParts>
    <vt:vector size="29" baseType="lpstr">
      <vt:lpstr>ＭＳ Ｐゴシック</vt:lpstr>
      <vt:lpstr>Arial</vt:lpstr>
      <vt:lpstr>Calibri</vt:lpstr>
      <vt:lpstr>Cambria Math</vt:lpstr>
      <vt:lpstr>Symbol</vt:lpstr>
      <vt:lpstr>Times New Roman</vt:lpstr>
      <vt:lpstr>PATRON</vt:lpstr>
      <vt:lpstr>Equation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Privada del Norte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Delfin Narciso</dc:creator>
  <cp:lastModifiedBy>Cuenta Microsoft</cp:lastModifiedBy>
  <cp:revision>606</cp:revision>
  <dcterms:created xsi:type="dcterms:W3CDTF">2012-09-19T03:34:19Z</dcterms:created>
  <dcterms:modified xsi:type="dcterms:W3CDTF">2020-12-14T19:29:30Z</dcterms:modified>
</cp:coreProperties>
</file>