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8"/>
  </p:notesMasterIdLst>
  <p:handoutMasterIdLst>
    <p:handoutMasterId r:id="rId29"/>
  </p:handoutMasterIdLst>
  <p:sldIdLst>
    <p:sldId id="363" r:id="rId2"/>
    <p:sldId id="256" r:id="rId3"/>
    <p:sldId id="365" r:id="rId4"/>
    <p:sldId id="366" r:id="rId5"/>
    <p:sldId id="367" r:id="rId6"/>
    <p:sldId id="389" r:id="rId7"/>
    <p:sldId id="415" r:id="rId8"/>
    <p:sldId id="411" r:id="rId9"/>
    <p:sldId id="382" r:id="rId10"/>
    <p:sldId id="418" r:id="rId11"/>
    <p:sldId id="419" r:id="rId12"/>
    <p:sldId id="420" r:id="rId13"/>
    <p:sldId id="410" r:id="rId14"/>
    <p:sldId id="412" r:id="rId15"/>
    <p:sldId id="414" r:id="rId16"/>
    <p:sldId id="401" r:id="rId17"/>
    <p:sldId id="413" r:id="rId18"/>
    <p:sldId id="395" r:id="rId19"/>
    <p:sldId id="400" r:id="rId20"/>
    <p:sldId id="406" r:id="rId21"/>
    <p:sldId id="371" r:id="rId22"/>
    <p:sldId id="407" r:id="rId23"/>
    <p:sldId id="416" r:id="rId24"/>
    <p:sldId id="376" r:id="rId25"/>
    <p:sldId id="417" r:id="rId26"/>
    <p:sldId id="378" r:id="rId27"/>
  </p:sldIdLst>
  <p:sldSz cx="9906000" cy="6858000" type="A4"/>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DD1611"/>
    <a:srgbClr val="A51313"/>
    <a:srgbClr val="B71515"/>
    <a:srgbClr val="D51919"/>
    <a:srgbClr val="B6120E"/>
    <a:srgbClr val="930E0B"/>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536" autoAdjust="0"/>
    <p:restoredTop sz="94660"/>
  </p:normalViewPr>
  <p:slideViewPr>
    <p:cSldViewPr>
      <p:cViewPr varScale="1">
        <p:scale>
          <a:sx n="84" d="100"/>
          <a:sy n="84" d="100"/>
        </p:scale>
        <p:origin x="1464" y="60"/>
      </p:cViewPr>
      <p:guideLst>
        <p:guide orient="horz" pos="2160"/>
        <p:guide pos="312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image" Target="../media/image34.wmf"/><Relationship Id="rId1" Type="http://schemas.openxmlformats.org/officeDocument/2006/relationships/image" Target="../media/image3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MX"/>
          </a:p>
        </p:txBody>
      </p:sp>
      <p:sp>
        <p:nvSpPr>
          <p:cNvPr id="3" name="2 Marcador de fecha"/>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0219AD7-51CE-483B-A812-AE489C31F232}" type="datetimeFigureOut">
              <a:rPr lang="es-MX" smtClean="0"/>
              <a:t>21/12/2020</a:t>
            </a:fld>
            <a:endParaRPr lang="es-MX"/>
          </a:p>
        </p:txBody>
      </p:sp>
      <p:sp>
        <p:nvSpPr>
          <p:cNvPr id="4" name="3 Marcador de pie de página"/>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s-MX"/>
          </a:p>
        </p:txBody>
      </p:sp>
      <p:sp>
        <p:nvSpPr>
          <p:cNvPr id="5" name="4 Marcador de número de diapositiva"/>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E476D70-7FD1-490F-953D-DAC7EFCA2461}" type="slidenum">
              <a:rPr lang="es-MX" smtClean="0"/>
              <a:t>‹Nº›</a:t>
            </a:fld>
            <a:endParaRPr lang="es-MX"/>
          </a:p>
        </p:txBody>
      </p:sp>
    </p:spTree>
    <p:extLst>
      <p:ext uri="{BB962C8B-B14F-4D97-AF65-F5344CB8AC3E}">
        <p14:creationId xmlns:p14="http://schemas.microsoft.com/office/powerpoint/2010/main" val="17452353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MX"/>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85223AA-9B34-4DCC-A6E4-0C980A794CD5}" type="datetimeFigureOut">
              <a:rPr lang="es-MX" smtClean="0"/>
              <a:t>21/12/2020</a:t>
            </a:fld>
            <a:endParaRPr lang="es-MX"/>
          </a:p>
        </p:txBody>
      </p:sp>
      <p:sp>
        <p:nvSpPr>
          <p:cNvPr id="4" name="3 Marcador de imagen de diapositiva"/>
          <p:cNvSpPr>
            <a:spLocks noGrp="1" noRot="1" noChangeAspect="1"/>
          </p:cNvSpPr>
          <p:nvPr>
            <p:ph type="sldImg" idx="2"/>
          </p:nvPr>
        </p:nvSpPr>
        <p:spPr>
          <a:xfrm>
            <a:off x="952500" y="685800"/>
            <a:ext cx="4953000" cy="3429000"/>
          </a:xfrm>
          <a:prstGeom prst="rect">
            <a:avLst/>
          </a:prstGeom>
          <a:noFill/>
          <a:ln w="12700">
            <a:solidFill>
              <a:prstClr val="black"/>
            </a:solidFill>
          </a:ln>
        </p:spPr>
        <p:txBody>
          <a:bodyPr vert="horz" lIns="91440" tIns="45720" rIns="91440" bIns="45720" rtlCol="0" anchor="ctr"/>
          <a:lstStyle/>
          <a:p>
            <a:endParaRPr lang="es-MX"/>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MX"/>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1D07FDC-64A3-4F2D-9092-2E95035D7FC4}" type="slidenum">
              <a:rPr lang="es-MX" smtClean="0"/>
              <a:t>‹Nº›</a:t>
            </a:fld>
            <a:endParaRPr lang="es-MX"/>
          </a:p>
        </p:txBody>
      </p:sp>
    </p:spTree>
    <p:extLst>
      <p:ext uri="{BB962C8B-B14F-4D97-AF65-F5344CB8AC3E}">
        <p14:creationId xmlns:p14="http://schemas.microsoft.com/office/powerpoint/2010/main" val="41469930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4" name="Rectángulo 7"/>
          <p:cNvSpPr/>
          <p:nvPr/>
        </p:nvSpPr>
        <p:spPr>
          <a:xfrm>
            <a:off x="1" y="1835150"/>
            <a:ext cx="259689" cy="1430564"/>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 name="Título 1"/>
          <p:cNvSpPr>
            <a:spLocks noGrp="1"/>
          </p:cNvSpPr>
          <p:nvPr>
            <p:ph type="ctrTitle"/>
          </p:nvPr>
        </p:nvSpPr>
        <p:spPr>
          <a:xfrm>
            <a:off x="534479" y="1848218"/>
            <a:ext cx="8420100" cy="345317"/>
          </a:xfrm>
          <a:prstGeom prst="rect">
            <a:avLst/>
          </a:prstGeom>
        </p:spPr>
        <p:txBody>
          <a:bodyPr/>
          <a:lstStyle>
            <a:lvl1pPr>
              <a:defRPr sz="2800" cap="all">
                <a:solidFill>
                  <a:srgbClr val="272727"/>
                </a:solidFill>
              </a:defRPr>
            </a:lvl1pPr>
          </a:lstStyle>
          <a:p>
            <a:r>
              <a:rPr lang="es-ES"/>
              <a:t>Haga clic para modificar el estilo de título del patrón</a:t>
            </a:r>
            <a:endParaRPr lang="es-ES" dirty="0"/>
          </a:p>
        </p:txBody>
      </p:sp>
      <p:sp>
        <p:nvSpPr>
          <p:cNvPr id="3" name="Subtítulo 2"/>
          <p:cNvSpPr>
            <a:spLocks noGrp="1"/>
          </p:cNvSpPr>
          <p:nvPr>
            <p:ph type="subTitle" idx="1"/>
          </p:nvPr>
        </p:nvSpPr>
        <p:spPr>
          <a:xfrm>
            <a:off x="534479" y="2287320"/>
            <a:ext cx="6934200" cy="978395"/>
          </a:xfrm>
          <a:prstGeom prst="rect">
            <a:avLst/>
          </a:prstGeom>
        </p:spPr>
        <p:txBody>
          <a:bodyPr anchor="ctr"/>
          <a:lstStyle>
            <a:lvl1pPr marL="0" indent="0" algn="l">
              <a:buNone/>
              <a:defRPr sz="1800">
                <a:solidFill>
                  <a:schemeClr val="bg2">
                    <a:lumMod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p>
        </p:txBody>
      </p:sp>
      <p:pic>
        <p:nvPicPr>
          <p:cNvPr id="5" name="4 Imagen"/>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7293260" y="5949280"/>
            <a:ext cx="2340260" cy="648072"/>
          </a:xfrm>
          <a:prstGeom prst="rect">
            <a:avLst/>
          </a:prstGeom>
        </p:spPr>
      </p:pic>
      <p:sp>
        <p:nvSpPr>
          <p:cNvPr id="7" name="Rectángulo 7"/>
          <p:cNvSpPr/>
          <p:nvPr/>
        </p:nvSpPr>
        <p:spPr>
          <a:xfrm>
            <a:off x="1" y="1835150"/>
            <a:ext cx="259689" cy="1430564"/>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8" name="7 Rectángulo"/>
          <p:cNvSpPr/>
          <p:nvPr userDrawn="1"/>
        </p:nvSpPr>
        <p:spPr>
          <a:xfrm>
            <a:off x="7825563" y="12700"/>
            <a:ext cx="2066679" cy="112474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 name="Rectángulo 7"/>
          <p:cNvSpPr/>
          <p:nvPr userDrawn="1"/>
        </p:nvSpPr>
        <p:spPr>
          <a:xfrm>
            <a:off x="0" y="1835150"/>
            <a:ext cx="239713" cy="1430564"/>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RODUCCION">
    <p:spTree>
      <p:nvGrpSpPr>
        <p:cNvPr id="1" name=""/>
        <p:cNvGrpSpPr/>
        <p:nvPr/>
      </p:nvGrpSpPr>
      <p:grpSpPr>
        <a:xfrm>
          <a:off x="0" y="0"/>
          <a:ext cx="0" cy="0"/>
          <a:chOff x="0" y="0"/>
          <a:chExt cx="0" cy="0"/>
        </a:xfrm>
      </p:grpSpPr>
      <p:sp>
        <p:nvSpPr>
          <p:cNvPr id="5" name="Marcador de contenido 2"/>
          <p:cNvSpPr>
            <a:spLocks noGrp="1"/>
          </p:cNvSpPr>
          <p:nvPr>
            <p:ph idx="1" hasCustomPrompt="1"/>
          </p:nvPr>
        </p:nvSpPr>
        <p:spPr>
          <a:xfrm>
            <a:off x="495300" y="1078523"/>
            <a:ext cx="8915400" cy="5141425"/>
          </a:xfrm>
          <a:prstGeom prst="rect">
            <a:avLst/>
          </a:prstGeom>
        </p:spPr>
        <p:txBody>
          <a:bodyPr/>
          <a:lstStyle>
            <a:lvl1pPr marL="457200" indent="-457200">
              <a:buFont typeface="+mj-lt"/>
              <a:buNone/>
              <a:defRPr sz="2000"/>
            </a:lvl1pPr>
            <a:lvl2pPr marL="914400" indent="-457200">
              <a:buFont typeface="+mj-lt"/>
              <a:buAutoNum type="arabicPeriod"/>
              <a:defRPr sz="2000"/>
            </a:lvl2pPr>
          </a:lstStyle>
          <a:p>
            <a:pPr lvl="0"/>
            <a:r>
              <a:rPr lang="es-ES_tradnl" dirty="0"/>
              <a:t>Haga clic para modificar el estilo de texto del patrón</a:t>
            </a:r>
          </a:p>
          <a:p>
            <a:pPr lvl="1"/>
            <a:endParaRPr lang="es-ES" dirty="0"/>
          </a:p>
        </p:txBody>
      </p:sp>
      <p:sp>
        <p:nvSpPr>
          <p:cNvPr id="6" name="Rectangle 5"/>
          <p:cNvSpPr/>
          <p:nvPr/>
        </p:nvSpPr>
        <p:spPr>
          <a:xfrm>
            <a:off x="495300" y="393580"/>
            <a:ext cx="1500732" cy="461665"/>
          </a:xfrm>
          <a:prstGeom prst="rect">
            <a:avLst/>
          </a:prstGeom>
        </p:spPr>
        <p:txBody>
          <a:bodyPr wrap="none">
            <a:spAutoFit/>
          </a:bodyPr>
          <a:lstStyle/>
          <a:p>
            <a:r>
              <a:rPr lang="es-ES_tradnl" sz="2400" dirty="0">
                <a:solidFill>
                  <a:srgbClr val="FFC000"/>
                </a:solidFill>
                <a:latin typeface="Arial" pitchFamily="34" charset="0"/>
                <a:cs typeface="Arial" pitchFamily="34" charset="0"/>
              </a:rPr>
              <a:t>LOGROS</a:t>
            </a:r>
            <a:endParaRPr lang="es-MX" sz="2400" dirty="0">
              <a:solidFill>
                <a:srgbClr val="FFC000"/>
              </a:solidFill>
              <a:latin typeface="Arial" pitchFamily="34" charset="0"/>
              <a:cs typeface="Arial" pitchFamily="34" charset="0"/>
            </a:endParaRPr>
          </a:p>
        </p:txBody>
      </p:sp>
      <p:sp>
        <p:nvSpPr>
          <p:cNvPr id="8" name="Rectángulo 8"/>
          <p:cNvSpPr/>
          <p:nvPr/>
        </p:nvSpPr>
        <p:spPr>
          <a:xfrm>
            <a:off x="9684148" y="487363"/>
            <a:ext cx="235611" cy="474662"/>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pic>
        <p:nvPicPr>
          <p:cNvPr id="2" name="1 Imagen"/>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931443" y="332656"/>
            <a:ext cx="482730" cy="654174"/>
          </a:xfrm>
          <a:prstGeom prst="rect">
            <a:avLst/>
          </a:prstGeom>
        </p:spPr>
      </p:pic>
    </p:spTree>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5" name="Rectángulo 8"/>
          <p:cNvSpPr/>
          <p:nvPr/>
        </p:nvSpPr>
        <p:spPr>
          <a:xfrm>
            <a:off x="9684148" y="487363"/>
            <a:ext cx="235611" cy="474662"/>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 name="Título 1"/>
          <p:cNvSpPr>
            <a:spLocks noGrp="1"/>
          </p:cNvSpPr>
          <p:nvPr>
            <p:ph type="title"/>
          </p:nvPr>
        </p:nvSpPr>
        <p:spPr>
          <a:xfrm>
            <a:off x="495300" y="274638"/>
            <a:ext cx="8915400" cy="710100"/>
          </a:xfrm>
          <a:prstGeom prst="rect">
            <a:avLst/>
          </a:prstGeom>
        </p:spPr>
        <p:txBody>
          <a:bodyPr>
            <a:normAutofit/>
          </a:bodyPr>
          <a:lstStyle>
            <a:lvl1pPr>
              <a:defRPr sz="2400" cap="all"/>
            </a:lvl1pPr>
          </a:lstStyle>
          <a:p>
            <a:r>
              <a:rPr lang="es-ES"/>
              <a:t>Haga clic para modificar el estilo de título del patrón</a:t>
            </a:r>
            <a:endParaRPr lang="es-ES" dirty="0"/>
          </a:p>
        </p:txBody>
      </p:sp>
      <p:sp>
        <p:nvSpPr>
          <p:cNvPr id="3" name="Marcador de contenido 2"/>
          <p:cNvSpPr>
            <a:spLocks noGrp="1"/>
          </p:cNvSpPr>
          <p:nvPr>
            <p:ph idx="1"/>
          </p:nvPr>
        </p:nvSpPr>
        <p:spPr>
          <a:xfrm>
            <a:off x="495300" y="1078523"/>
            <a:ext cx="8915400" cy="5141425"/>
          </a:xfrm>
          <a:prstGeom prst="rect">
            <a:avLst/>
          </a:prstGeom>
        </p:spPr>
        <p:txBody>
          <a:bodyPr/>
          <a:lstStyle>
            <a:lvl1pPr>
              <a:defRPr sz="2000"/>
            </a:lvl1pPr>
            <a:lvl2pPr>
              <a:defRPr sz="2000"/>
            </a:lvl2pPr>
            <a:lvl3pPr>
              <a:defRPr sz="2000"/>
            </a:lvl3pPr>
            <a:lvl4pPr>
              <a:defRPr sz="2000"/>
            </a:lvl4pPr>
            <a:lvl5pPr>
              <a:defRPr sz="2000"/>
            </a:lvl5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pic>
        <p:nvPicPr>
          <p:cNvPr id="6" name="5 Imagen"/>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931443" y="332656"/>
            <a:ext cx="482730" cy="654174"/>
          </a:xfrm>
          <a:prstGeom prst="rect">
            <a:avLst/>
          </a:prstGeom>
        </p:spPr>
      </p:pic>
    </p:spTree>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6" name="Rectángulo 8"/>
          <p:cNvSpPr/>
          <p:nvPr/>
        </p:nvSpPr>
        <p:spPr>
          <a:xfrm>
            <a:off x="9684148" y="487363"/>
            <a:ext cx="235611" cy="474662"/>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 name="Título 1"/>
          <p:cNvSpPr>
            <a:spLocks noGrp="1"/>
          </p:cNvSpPr>
          <p:nvPr>
            <p:ph type="title"/>
          </p:nvPr>
        </p:nvSpPr>
        <p:spPr>
          <a:xfrm>
            <a:off x="495300" y="274638"/>
            <a:ext cx="8915400" cy="710100"/>
          </a:xfrm>
          <a:prstGeom prst="rect">
            <a:avLst/>
          </a:prstGeom>
        </p:spPr>
        <p:txBody>
          <a:bodyPr/>
          <a:lstStyle/>
          <a:p>
            <a:r>
              <a:rPr lang="es-ES"/>
              <a:t>Haga clic para modificar el estilo de título del patrón</a:t>
            </a:r>
            <a:endParaRPr lang="es-ES" dirty="0"/>
          </a:p>
        </p:txBody>
      </p:sp>
      <p:sp>
        <p:nvSpPr>
          <p:cNvPr id="3" name="Marcador de contenido 2"/>
          <p:cNvSpPr>
            <a:spLocks noGrp="1"/>
          </p:cNvSpPr>
          <p:nvPr>
            <p:ph sz="half" idx="1"/>
          </p:nvPr>
        </p:nvSpPr>
        <p:spPr>
          <a:xfrm>
            <a:off x="495300" y="1078523"/>
            <a:ext cx="4375150" cy="5141425"/>
          </a:xfrm>
          <a:prstGeom prst="rect">
            <a:avLst/>
          </a:prstGeo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 dirty="0"/>
          </a:p>
        </p:txBody>
      </p:sp>
      <p:sp>
        <p:nvSpPr>
          <p:cNvPr id="4" name="Marcador de contenido 3"/>
          <p:cNvSpPr>
            <a:spLocks noGrp="1"/>
          </p:cNvSpPr>
          <p:nvPr>
            <p:ph sz="half" idx="2"/>
          </p:nvPr>
        </p:nvSpPr>
        <p:spPr>
          <a:xfrm>
            <a:off x="5035550" y="1078523"/>
            <a:ext cx="4375150" cy="5141425"/>
          </a:xfrm>
          <a:prstGeom prst="rect">
            <a:avLst/>
          </a:prstGeo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 dirty="0"/>
          </a:p>
        </p:txBody>
      </p:sp>
      <p:pic>
        <p:nvPicPr>
          <p:cNvPr id="8" name="7 Imagen"/>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931443" y="332656"/>
            <a:ext cx="482730" cy="654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REFERENCIAS BIBLIOGRAFICAS">
    <p:spTree>
      <p:nvGrpSpPr>
        <p:cNvPr id="1" name=""/>
        <p:cNvGrpSpPr/>
        <p:nvPr/>
      </p:nvGrpSpPr>
      <p:grpSpPr>
        <a:xfrm>
          <a:off x="0" y="0"/>
          <a:ext cx="0" cy="0"/>
          <a:chOff x="0" y="0"/>
          <a:chExt cx="0" cy="0"/>
        </a:xfrm>
      </p:grpSpPr>
      <p:sp>
        <p:nvSpPr>
          <p:cNvPr id="10" name="Rectángulo 8"/>
          <p:cNvSpPr/>
          <p:nvPr/>
        </p:nvSpPr>
        <p:spPr>
          <a:xfrm>
            <a:off x="9684148" y="487363"/>
            <a:ext cx="235611" cy="474662"/>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1" name="Marcador de contenido 2"/>
          <p:cNvSpPr>
            <a:spLocks noGrp="1"/>
          </p:cNvSpPr>
          <p:nvPr>
            <p:ph idx="1" hasCustomPrompt="1"/>
          </p:nvPr>
        </p:nvSpPr>
        <p:spPr>
          <a:xfrm>
            <a:off x="495300" y="1078523"/>
            <a:ext cx="8915400" cy="5141425"/>
          </a:xfrm>
          <a:prstGeom prst="rect">
            <a:avLst/>
          </a:prstGeom>
        </p:spPr>
        <p:txBody>
          <a:bodyPr/>
          <a:lstStyle>
            <a:lvl1pPr marL="457200" indent="-457200">
              <a:buFont typeface="+mj-lt"/>
              <a:buAutoNum type="arabicPeriod"/>
              <a:defRPr sz="2000"/>
            </a:lvl1pPr>
            <a:lvl2pPr marL="914400" indent="-457200">
              <a:buFont typeface="+mj-lt"/>
              <a:buAutoNum type="arabicPeriod"/>
              <a:defRPr sz="2000"/>
            </a:lvl2pPr>
          </a:lstStyle>
          <a:p>
            <a:pPr lvl="0"/>
            <a:r>
              <a:rPr lang="es-ES_tradnl" dirty="0"/>
              <a:t>Haga clic para modificar el estilo de texto del patrón</a:t>
            </a:r>
          </a:p>
          <a:p>
            <a:pPr lvl="1"/>
            <a:endParaRPr lang="es-ES" dirty="0"/>
          </a:p>
        </p:txBody>
      </p:sp>
      <p:sp>
        <p:nvSpPr>
          <p:cNvPr id="12" name="Rectangle 11"/>
          <p:cNvSpPr/>
          <p:nvPr/>
        </p:nvSpPr>
        <p:spPr>
          <a:xfrm>
            <a:off x="495301" y="393580"/>
            <a:ext cx="5022529" cy="461665"/>
          </a:xfrm>
          <a:prstGeom prst="rect">
            <a:avLst/>
          </a:prstGeom>
        </p:spPr>
        <p:txBody>
          <a:bodyPr wrap="none">
            <a:spAutoFit/>
          </a:bodyPr>
          <a:lstStyle/>
          <a:p>
            <a:r>
              <a:rPr lang="es-ES_tradnl" sz="2400" dirty="0">
                <a:solidFill>
                  <a:srgbClr val="FFC000"/>
                </a:solidFill>
                <a:effectLst/>
                <a:latin typeface="Arial" pitchFamily="34" charset="0"/>
                <a:cs typeface="Arial" pitchFamily="34" charset="0"/>
              </a:rPr>
              <a:t>REFERENCIAS BIBLIOGRÁFICAS</a:t>
            </a:r>
            <a:endParaRPr lang="es-MX" sz="2400" dirty="0">
              <a:solidFill>
                <a:srgbClr val="FFC000"/>
              </a:solidFill>
              <a:effectLst/>
              <a:latin typeface="Arial" pitchFamily="34" charset="0"/>
              <a:cs typeface="Arial" pitchFamily="34" charset="0"/>
            </a:endParaRPr>
          </a:p>
        </p:txBody>
      </p:sp>
      <p:pic>
        <p:nvPicPr>
          <p:cNvPr id="7" name="6 Imagen"/>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931443" y="332656"/>
            <a:ext cx="482730" cy="654174"/>
          </a:xfrm>
          <a:prstGeom prst="rect">
            <a:avLst/>
          </a:prstGeom>
        </p:spPr>
      </p:pic>
    </p:spTree>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REFERENCIAS BIBLIOGRAFICAS">
    <p:spTree>
      <p:nvGrpSpPr>
        <p:cNvPr id="1" name=""/>
        <p:cNvGrpSpPr/>
        <p:nvPr/>
      </p:nvGrpSpPr>
      <p:grpSpPr>
        <a:xfrm>
          <a:off x="0" y="0"/>
          <a:ext cx="0" cy="0"/>
          <a:chOff x="0" y="0"/>
          <a:chExt cx="0" cy="0"/>
        </a:xfrm>
      </p:grpSpPr>
      <p:sp>
        <p:nvSpPr>
          <p:cNvPr id="10" name="Rectángulo 8"/>
          <p:cNvSpPr/>
          <p:nvPr/>
        </p:nvSpPr>
        <p:spPr>
          <a:xfrm>
            <a:off x="9684148" y="487363"/>
            <a:ext cx="235611" cy="474662"/>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1" name="Marcador de contenido 2"/>
          <p:cNvSpPr>
            <a:spLocks noGrp="1"/>
          </p:cNvSpPr>
          <p:nvPr>
            <p:ph idx="1" hasCustomPrompt="1"/>
          </p:nvPr>
        </p:nvSpPr>
        <p:spPr>
          <a:xfrm>
            <a:off x="495300" y="1078523"/>
            <a:ext cx="8915400" cy="5141425"/>
          </a:xfrm>
          <a:prstGeom prst="rect">
            <a:avLst/>
          </a:prstGeom>
        </p:spPr>
        <p:txBody>
          <a:bodyPr/>
          <a:lstStyle>
            <a:lvl1pPr marL="457200" indent="-457200">
              <a:buFont typeface="+mj-lt"/>
              <a:buAutoNum type="arabicPeriod"/>
              <a:defRPr sz="2000"/>
            </a:lvl1pPr>
            <a:lvl2pPr marL="914400" indent="-457200">
              <a:buFont typeface="+mj-lt"/>
              <a:buAutoNum type="arabicPeriod"/>
              <a:defRPr sz="2000"/>
            </a:lvl2pPr>
          </a:lstStyle>
          <a:p>
            <a:pPr lvl="0"/>
            <a:r>
              <a:rPr lang="es-ES_tradnl" dirty="0"/>
              <a:t>Haga clic para modificar el estilo de texto del patrón</a:t>
            </a:r>
          </a:p>
          <a:p>
            <a:pPr lvl="1"/>
            <a:endParaRPr lang="es-ES" dirty="0"/>
          </a:p>
        </p:txBody>
      </p:sp>
      <p:sp>
        <p:nvSpPr>
          <p:cNvPr id="12" name="Rectangle 11"/>
          <p:cNvSpPr/>
          <p:nvPr/>
        </p:nvSpPr>
        <p:spPr>
          <a:xfrm>
            <a:off x="495300" y="393580"/>
            <a:ext cx="2648482" cy="461665"/>
          </a:xfrm>
          <a:prstGeom prst="rect">
            <a:avLst/>
          </a:prstGeom>
        </p:spPr>
        <p:txBody>
          <a:bodyPr wrap="none">
            <a:spAutoFit/>
          </a:bodyPr>
          <a:lstStyle/>
          <a:p>
            <a:r>
              <a:rPr lang="es-ES_tradnl" sz="2400" dirty="0">
                <a:solidFill>
                  <a:srgbClr val="FFC000"/>
                </a:solidFill>
                <a:effectLst/>
                <a:latin typeface="Arial" pitchFamily="34" charset="0"/>
                <a:cs typeface="Arial" pitchFamily="34" charset="0"/>
              </a:rPr>
              <a:t>CONCLUSIONES</a:t>
            </a:r>
            <a:endParaRPr lang="es-MX" sz="2400" dirty="0">
              <a:solidFill>
                <a:srgbClr val="FFC000"/>
              </a:solidFill>
              <a:effectLst/>
              <a:latin typeface="Arial" pitchFamily="34" charset="0"/>
              <a:cs typeface="Arial" pitchFamily="34" charset="0"/>
            </a:endParaRPr>
          </a:p>
        </p:txBody>
      </p:sp>
      <p:pic>
        <p:nvPicPr>
          <p:cNvPr id="7" name="6 Imagen"/>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931443" y="332656"/>
            <a:ext cx="482730" cy="654174"/>
          </a:xfrm>
          <a:prstGeom prst="rect">
            <a:avLst/>
          </a:prstGeom>
        </p:spPr>
      </p:pic>
    </p:spTree>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4" name="Rectángulo 8"/>
          <p:cNvSpPr/>
          <p:nvPr/>
        </p:nvSpPr>
        <p:spPr>
          <a:xfrm>
            <a:off x="9658351" y="482601"/>
            <a:ext cx="259689" cy="492125"/>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 name="Título 1"/>
          <p:cNvSpPr>
            <a:spLocks noGrp="1"/>
          </p:cNvSpPr>
          <p:nvPr>
            <p:ph type="title"/>
          </p:nvPr>
        </p:nvSpPr>
        <p:spPr>
          <a:xfrm>
            <a:off x="495300" y="274638"/>
            <a:ext cx="8915400" cy="710100"/>
          </a:xfrm>
          <a:prstGeom prst="rect">
            <a:avLst/>
          </a:prstGeom>
        </p:spPr>
        <p:txBody>
          <a:bodyPr/>
          <a:lstStyle/>
          <a:p>
            <a:r>
              <a:rPr lang="es-ES"/>
              <a:t>Haga clic para modificar el estilo de título del patrón</a:t>
            </a:r>
            <a:endParaRPr lang="es-ES" dirty="0"/>
          </a:p>
        </p:txBody>
      </p:sp>
      <p:pic>
        <p:nvPicPr>
          <p:cNvPr id="6" name="5 Imagen"/>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931443" y="332656"/>
            <a:ext cx="482730" cy="654174"/>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3_Título y objetos">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07722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4_Título y objetos">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07722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1">
            <a:lum/>
          </a:blip>
          <a:srcRect/>
          <a:stretch>
            <a:fillRect l="-9000" r="-1000"/>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70" r:id="rId8"/>
    <p:sldLayoutId id="2147483671" r:id="rId9"/>
  </p:sldLayoutIdLst>
  <p:transition>
    <p:wipe dir="r"/>
  </p:transition>
  <p:hf hdr="0"/>
  <p:txStyles>
    <p:titleStyle>
      <a:lvl1pPr algn="l" defTabSz="457200" rtl="0" eaLnBrk="1" fontAlgn="base" hangingPunct="1">
        <a:spcBef>
          <a:spcPct val="0"/>
        </a:spcBef>
        <a:spcAft>
          <a:spcPct val="0"/>
        </a:spcAft>
        <a:defRPr sz="2400" kern="1200" cap="all">
          <a:solidFill>
            <a:srgbClr val="EFA82F"/>
          </a:solidFill>
          <a:latin typeface="Arial"/>
          <a:ea typeface="ＭＳ Ｐゴシック" charset="-128"/>
          <a:cs typeface="+mj-cs"/>
        </a:defRPr>
      </a:lvl1pPr>
      <a:lvl2pPr algn="l" defTabSz="457200" rtl="0" eaLnBrk="1" fontAlgn="base" hangingPunct="1">
        <a:spcBef>
          <a:spcPct val="0"/>
        </a:spcBef>
        <a:spcAft>
          <a:spcPct val="0"/>
        </a:spcAft>
        <a:defRPr sz="2000">
          <a:solidFill>
            <a:srgbClr val="EFA82F"/>
          </a:solidFill>
          <a:latin typeface="Arial" pitchFamily="34" charset="0"/>
          <a:ea typeface="ＭＳ Ｐゴシック" charset="-128"/>
        </a:defRPr>
      </a:lvl2pPr>
      <a:lvl3pPr algn="l" defTabSz="457200" rtl="0" eaLnBrk="1" fontAlgn="base" hangingPunct="1">
        <a:spcBef>
          <a:spcPct val="0"/>
        </a:spcBef>
        <a:spcAft>
          <a:spcPct val="0"/>
        </a:spcAft>
        <a:defRPr sz="2000">
          <a:solidFill>
            <a:srgbClr val="EFA82F"/>
          </a:solidFill>
          <a:latin typeface="Arial" pitchFamily="34" charset="0"/>
          <a:ea typeface="ＭＳ Ｐゴシック" charset="-128"/>
        </a:defRPr>
      </a:lvl3pPr>
      <a:lvl4pPr algn="l" defTabSz="457200" rtl="0" eaLnBrk="1" fontAlgn="base" hangingPunct="1">
        <a:spcBef>
          <a:spcPct val="0"/>
        </a:spcBef>
        <a:spcAft>
          <a:spcPct val="0"/>
        </a:spcAft>
        <a:defRPr sz="2000">
          <a:solidFill>
            <a:srgbClr val="EFA82F"/>
          </a:solidFill>
          <a:latin typeface="Arial" pitchFamily="34" charset="0"/>
          <a:ea typeface="ＭＳ Ｐゴシック" charset="-128"/>
        </a:defRPr>
      </a:lvl4pPr>
      <a:lvl5pPr algn="l" defTabSz="457200" rtl="0" eaLnBrk="1" fontAlgn="base" hangingPunct="1">
        <a:spcBef>
          <a:spcPct val="0"/>
        </a:spcBef>
        <a:spcAft>
          <a:spcPct val="0"/>
        </a:spcAft>
        <a:defRPr sz="2000">
          <a:solidFill>
            <a:srgbClr val="EFA82F"/>
          </a:solidFill>
          <a:latin typeface="Arial" pitchFamily="34" charset="0"/>
          <a:ea typeface="ＭＳ Ｐゴシック" charset="-128"/>
        </a:defRPr>
      </a:lvl5pPr>
      <a:lvl6pPr marL="457200" algn="l" defTabSz="457200" rtl="0" eaLnBrk="1" fontAlgn="base" hangingPunct="1">
        <a:spcBef>
          <a:spcPct val="0"/>
        </a:spcBef>
        <a:spcAft>
          <a:spcPct val="0"/>
        </a:spcAft>
        <a:defRPr sz="2000">
          <a:solidFill>
            <a:srgbClr val="EFA82F"/>
          </a:solidFill>
          <a:latin typeface="Arial" pitchFamily="34" charset="0"/>
          <a:ea typeface="ＭＳ Ｐゴシック" charset="-128"/>
        </a:defRPr>
      </a:lvl6pPr>
      <a:lvl7pPr marL="914400" algn="l" defTabSz="457200" rtl="0" eaLnBrk="1" fontAlgn="base" hangingPunct="1">
        <a:spcBef>
          <a:spcPct val="0"/>
        </a:spcBef>
        <a:spcAft>
          <a:spcPct val="0"/>
        </a:spcAft>
        <a:defRPr sz="2000">
          <a:solidFill>
            <a:srgbClr val="EFA82F"/>
          </a:solidFill>
          <a:latin typeface="Arial" pitchFamily="34" charset="0"/>
          <a:ea typeface="ＭＳ Ｐゴシック" charset="-128"/>
        </a:defRPr>
      </a:lvl7pPr>
      <a:lvl8pPr marL="1371600" algn="l" defTabSz="457200" rtl="0" eaLnBrk="1" fontAlgn="base" hangingPunct="1">
        <a:spcBef>
          <a:spcPct val="0"/>
        </a:spcBef>
        <a:spcAft>
          <a:spcPct val="0"/>
        </a:spcAft>
        <a:defRPr sz="2000">
          <a:solidFill>
            <a:srgbClr val="EFA82F"/>
          </a:solidFill>
          <a:latin typeface="Arial" pitchFamily="34" charset="0"/>
          <a:ea typeface="ＭＳ Ｐゴシック" charset="-128"/>
        </a:defRPr>
      </a:lvl8pPr>
      <a:lvl9pPr marL="1828800" algn="l" defTabSz="457200" rtl="0" eaLnBrk="1" fontAlgn="base" hangingPunct="1">
        <a:spcBef>
          <a:spcPct val="0"/>
        </a:spcBef>
        <a:spcAft>
          <a:spcPct val="0"/>
        </a:spcAft>
        <a:defRPr sz="2000">
          <a:solidFill>
            <a:srgbClr val="EFA82F"/>
          </a:solidFill>
          <a:latin typeface="Arial" pitchFamily="34" charset="0"/>
          <a:ea typeface="ＭＳ Ｐゴシック" charset="-128"/>
        </a:defRPr>
      </a:lvl9pPr>
    </p:titleStyle>
    <p:bodyStyle>
      <a:lvl1pPr marL="342900" indent="-3429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1pPr>
      <a:lvl2pPr marL="742950" indent="-28575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2pPr>
      <a:lvl3pPr marL="11430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3pPr>
      <a:lvl4pPr marL="16002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4pPr>
      <a:lvl5pPr marL="20574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9.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9.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9.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9.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6.png"/><Relationship Id="rId1" Type="http://schemas.openxmlformats.org/officeDocument/2006/relationships/slideLayout" Target="../slideLayouts/slideLayout9.xml"/><Relationship Id="rId4" Type="http://schemas.microsoft.com/office/2007/relationships/hdphoto" Target="../media/hdphoto1.wdp"/></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9.xml"/><Relationship Id="rId1" Type="http://schemas.openxmlformats.org/officeDocument/2006/relationships/vmlDrawing" Target="../drawings/vmlDrawing1.vml"/><Relationship Id="rId5" Type="http://schemas.openxmlformats.org/officeDocument/2006/relationships/image" Target="../media/image30.jpeg"/><Relationship Id="rId4" Type="http://schemas.openxmlformats.org/officeDocument/2006/relationships/image" Target="../media/image29.wmf"/></Relationships>
</file>

<file path=ppt/slides/_rels/slide1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8" Type="http://schemas.openxmlformats.org/officeDocument/2006/relationships/image" Target="../media/image36.jpeg"/><Relationship Id="rId3" Type="http://schemas.openxmlformats.org/officeDocument/2006/relationships/oleObject" Target="../embeddings/oleObject2.bin"/><Relationship Id="rId7" Type="http://schemas.openxmlformats.org/officeDocument/2006/relationships/hyperlink" Target="http://www.termografia.com/paginas/aplicaciones/medicina.htm" TargetMode="External"/><Relationship Id="rId2" Type="http://schemas.openxmlformats.org/officeDocument/2006/relationships/slideLayout" Target="../slideLayouts/slideLayout9.xml"/><Relationship Id="rId1" Type="http://schemas.openxmlformats.org/officeDocument/2006/relationships/vmlDrawing" Target="../drawings/vmlDrawing2.vml"/><Relationship Id="rId6" Type="http://schemas.openxmlformats.org/officeDocument/2006/relationships/image" Target="../media/image34.wmf"/><Relationship Id="rId5" Type="http://schemas.openxmlformats.org/officeDocument/2006/relationships/oleObject" Target="../embeddings/oleObject3.bin"/><Relationship Id="rId10" Type="http://schemas.openxmlformats.org/officeDocument/2006/relationships/image" Target="../media/image35.wmf"/><Relationship Id="rId4" Type="http://schemas.openxmlformats.org/officeDocument/2006/relationships/image" Target="../media/image33.wmf"/><Relationship Id="rId9" Type="http://schemas.openxmlformats.org/officeDocument/2006/relationships/oleObject" Target="../embeddings/oleObject4.bin"/></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9.xml"/><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3" Type="http://schemas.openxmlformats.org/officeDocument/2006/relationships/hyperlink" Target="http://www.fisicarecreativa.com/" TargetMode="External"/><Relationship Id="rId2" Type="http://schemas.openxmlformats.org/officeDocument/2006/relationships/hyperlink" Target="http://www.sc.ehu.es/sbweb/fisica/" TargetMode="Externa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5" name="Rectángulo redondeado 4"/>
          <p:cNvSpPr/>
          <p:nvPr/>
        </p:nvSpPr>
        <p:spPr>
          <a:xfrm>
            <a:off x="425497" y="1900192"/>
            <a:ext cx="2862318" cy="4409128"/>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marL="0" lvl="1" hangingPunct="0"/>
            <a:r>
              <a:rPr lang="es-ES_tradnl" sz="2400" dirty="0">
                <a:solidFill>
                  <a:schemeClr val="tx1"/>
                </a:solidFill>
              </a:rPr>
              <a:t>Cantidad de calor. Capacidad calorífica y calor específico.</a:t>
            </a:r>
            <a:endParaRPr lang="es-PE" sz="2400" dirty="0">
              <a:solidFill>
                <a:schemeClr val="tx1"/>
              </a:solidFill>
            </a:endParaRPr>
          </a:p>
          <a:p>
            <a:pPr hangingPunct="0"/>
            <a:r>
              <a:rPr lang="es-ES_tradnl" sz="2400" dirty="0" smtClean="0">
                <a:solidFill>
                  <a:schemeClr val="tx1"/>
                </a:solidFill>
              </a:rPr>
              <a:t>Propagación </a:t>
            </a:r>
            <a:r>
              <a:rPr lang="es-ES_tradnl" sz="2400" dirty="0">
                <a:solidFill>
                  <a:schemeClr val="tx1"/>
                </a:solidFill>
              </a:rPr>
              <a:t>del calor: </a:t>
            </a:r>
            <a:r>
              <a:rPr lang="es-ES_tradnl" sz="2400" dirty="0" smtClean="0">
                <a:solidFill>
                  <a:schemeClr val="tx1"/>
                </a:solidFill>
              </a:rPr>
              <a:t>Conducción</a:t>
            </a:r>
            <a:r>
              <a:rPr lang="es-ES_tradnl" sz="2400" smtClean="0">
                <a:solidFill>
                  <a:schemeClr val="tx1"/>
                </a:solidFill>
              </a:rPr>
              <a:t>, convección</a:t>
            </a:r>
            <a:r>
              <a:rPr lang="es-ES_tradnl" sz="2400" dirty="0">
                <a:solidFill>
                  <a:schemeClr val="tx1"/>
                </a:solidFill>
              </a:rPr>
              <a:t>, radiación.</a:t>
            </a:r>
            <a:endParaRPr lang="es-PE" sz="2400" dirty="0">
              <a:solidFill>
                <a:schemeClr val="tx1"/>
              </a:solidFill>
            </a:endParaRPr>
          </a:p>
          <a:p>
            <a:pPr hangingPunct="0"/>
            <a:r>
              <a:rPr lang="es-ES_tradnl" sz="2400" dirty="0" smtClean="0">
                <a:solidFill>
                  <a:schemeClr val="tx1"/>
                </a:solidFill>
              </a:rPr>
              <a:t>Cambios </a:t>
            </a:r>
            <a:r>
              <a:rPr lang="es-ES_tradnl" sz="2400" dirty="0">
                <a:solidFill>
                  <a:schemeClr val="tx1"/>
                </a:solidFill>
              </a:rPr>
              <a:t>de Estado. </a:t>
            </a:r>
            <a:endParaRPr lang="es-PE" sz="2400" dirty="0"/>
          </a:p>
        </p:txBody>
      </p:sp>
      <p:sp>
        <p:nvSpPr>
          <p:cNvPr id="6" name="Rectángulo redondeado 5"/>
          <p:cNvSpPr/>
          <p:nvPr/>
        </p:nvSpPr>
        <p:spPr>
          <a:xfrm>
            <a:off x="1548194" y="760506"/>
            <a:ext cx="6789182" cy="64807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marL="1704975" indent="-1704975"/>
            <a:r>
              <a:rPr lang="es-PE" sz="2000" b="1" dirty="0">
                <a:solidFill>
                  <a:schemeClr val="tx1"/>
                </a:solidFill>
                <a:latin typeface="Arial" panose="020B0604020202020204" pitchFamily="34" charset="0"/>
                <a:cs typeface="Arial" panose="020B0604020202020204" pitchFamily="34" charset="0"/>
              </a:rPr>
              <a:t>SEMANA </a:t>
            </a:r>
            <a:r>
              <a:rPr lang="es-PE" sz="2000" b="1" dirty="0" smtClean="0">
                <a:solidFill>
                  <a:schemeClr val="tx1"/>
                </a:solidFill>
                <a:latin typeface="Arial" panose="020B0604020202020204" pitchFamily="34" charset="0"/>
                <a:cs typeface="Arial" panose="020B0604020202020204" pitchFamily="34" charset="0"/>
              </a:rPr>
              <a:t>13:  CALOMETRIA, PROPAGACIÓN DEL CALOR CAMBIOS DE ESTADO</a:t>
            </a:r>
            <a:endParaRPr lang="es-PE" sz="2000" b="1" dirty="0">
              <a:solidFill>
                <a:schemeClr val="tx1"/>
              </a:solidFill>
              <a:latin typeface="Arial" panose="020B0604020202020204" pitchFamily="34" charset="0"/>
              <a:cs typeface="Arial" panose="020B0604020202020204" pitchFamily="34" charset="0"/>
            </a:endParaRPr>
          </a:p>
        </p:txBody>
      </p:sp>
      <p:pic>
        <p:nvPicPr>
          <p:cNvPr id="3" name="Imagen 2"/>
          <p:cNvPicPr>
            <a:picLocks noChangeAspect="1"/>
          </p:cNvPicPr>
          <p:nvPr/>
        </p:nvPicPr>
        <p:blipFill>
          <a:blip r:embed="rId2"/>
          <a:stretch>
            <a:fillRect/>
          </a:stretch>
        </p:blipFill>
        <p:spPr>
          <a:xfrm>
            <a:off x="4016896" y="1900192"/>
            <a:ext cx="5462738" cy="4409128"/>
          </a:xfrm>
          <a:prstGeom prst="rect">
            <a:avLst/>
          </a:prstGeom>
        </p:spPr>
      </p:pic>
    </p:spTree>
    <p:extLst>
      <p:ext uri="{BB962C8B-B14F-4D97-AF65-F5344CB8AC3E}">
        <p14:creationId xmlns:p14="http://schemas.microsoft.com/office/powerpoint/2010/main" val="393192379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5" name="Rectángulo redondeado 4"/>
          <p:cNvSpPr/>
          <p:nvPr/>
        </p:nvSpPr>
        <p:spPr>
          <a:xfrm>
            <a:off x="1640632" y="764704"/>
            <a:ext cx="5961184" cy="967154"/>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3200" b="1" dirty="0">
                <a:solidFill>
                  <a:schemeClr val="tx1"/>
                </a:solidFill>
              </a:rPr>
              <a:t>OBSERVA LA IMÁGEN .  .  .</a:t>
            </a:r>
          </a:p>
        </p:txBody>
      </p:sp>
      <p:sp>
        <p:nvSpPr>
          <p:cNvPr id="8" name="Rectángulo redondeado 7"/>
          <p:cNvSpPr/>
          <p:nvPr/>
        </p:nvSpPr>
        <p:spPr>
          <a:xfrm>
            <a:off x="556247" y="5925472"/>
            <a:ext cx="8264769" cy="646114"/>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3200" b="1" dirty="0">
                <a:solidFill>
                  <a:schemeClr val="tx1"/>
                </a:solidFill>
              </a:rPr>
              <a:t>¿Qué opinión tienes al respecto?</a:t>
            </a:r>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96672" y="1946375"/>
            <a:ext cx="5249103" cy="3764580"/>
          </a:xfrm>
          <a:prstGeom prst="rect">
            <a:avLst/>
          </a:prstGeom>
        </p:spPr>
      </p:pic>
    </p:spTree>
    <p:extLst>
      <p:ext uri="{BB962C8B-B14F-4D97-AF65-F5344CB8AC3E}">
        <p14:creationId xmlns:p14="http://schemas.microsoft.com/office/powerpoint/2010/main" val="323873386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7" name="Rectángulo redondeado 6"/>
          <p:cNvSpPr/>
          <p:nvPr/>
        </p:nvSpPr>
        <p:spPr>
          <a:xfrm>
            <a:off x="1712641" y="780285"/>
            <a:ext cx="2664296" cy="677561"/>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PE" sz="3200" dirty="0">
                <a:solidFill>
                  <a:schemeClr val="tx1"/>
                </a:solidFill>
              </a:rPr>
              <a:t>PENSEMOS. . .</a:t>
            </a:r>
          </a:p>
        </p:txBody>
      </p:sp>
      <p:sp>
        <p:nvSpPr>
          <p:cNvPr id="9" name="Rectángulo redondeado 8"/>
          <p:cNvSpPr/>
          <p:nvPr/>
        </p:nvSpPr>
        <p:spPr>
          <a:xfrm>
            <a:off x="1712641" y="4742241"/>
            <a:ext cx="5328591" cy="1898033"/>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s-PE" sz="2000" b="1" dirty="0">
                <a:solidFill>
                  <a:schemeClr val="tx1"/>
                </a:solidFill>
              </a:rPr>
              <a:t>¿Qué entiendes por </a:t>
            </a:r>
            <a:r>
              <a:rPr lang="es-PE" sz="2000" b="1" dirty="0" smtClean="0">
                <a:solidFill>
                  <a:schemeClr val="tx1"/>
                </a:solidFill>
              </a:rPr>
              <a:t>Calor?   </a:t>
            </a:r>
          </a:p>
          <a:p>
            <a:pPr>
              <a:lnSpc>
                <a:spcPct val="150000"/>
              </a:lnSpc>
            </a:pPr>
            <a:r>
              <a:rPr lang="es-PE" sz="2000" b="1" dirty="0" smtClean="0">
                <a:solidFill>
                  <a:schemeClr val="tx1"/>
                </a:solidFill>
              </a:rPr>
              <a:t>¿</a:t>
            </a:r>
            <a:r>
              <a:rPr lang="es-PE" sz="2000" b="1" dirty="0">
                <a:solidFill>
                  <a:schemeClr val="tx1"/>
                </a:solidFill>
              </a:rPr>
              <a:t>Qué entiendes </a:t>
            </a:r>
            <a:r>
              <a:rPr lang="es-PE" sz="2000" b="1" dirty="0" smtClean="0">
                <a:solidFill>
                  <a:schemeClr val="tx1"/>
                </a:solidFill>
              </a:rPr>
              <a:t>por propagación del calor? </a:t>
            </a:r>
          </a:p>
          <a:p>
            <a:pPr>
              <a:lnSpc>
                <a:spcPct val="150000"/>
              </a:lnSpc>
            </a:pPr>
            <a:r>
              <a:rPr lang="es-PE" sz="2000" b="1" dirty="0" smtClean="0">
                <a:solidFill>
                  <a:schemeClr val="tx1"/>
                </a:solidFill>
              </a:rPr>
              <a:t>¿Qué entiendes por cambios de estado? </a:t>
            </a:r>
            <a:endParaRPr lang="es-PE" sz="2400" b="1" dirty="0">
              <a:solidFill>
                <a:schemeClr val="tx1"/>
              </a:solidFill>
            </a:endParaRPr>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41397" y="1772816"/>
            <a:ext cx="4699835" cy="2817339"/>
          </a:xfrm>
          <a:prstGeom prst="rect">
            <a:avLst/>
          </a:prstGeom>
        </p:spPr>
      </p:pic>
    </p:spTree>
    <p:extLst>
      <p:ext uri="{BB962C8B-B14F-4D97-AF65-F5344CB8AC3E}">
        <p14:creationId xmlns:p14="http://schemas.microsoft.com/office/powerpoint/2010/main" val="96411072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6" name="Rectángulo redondeado 5"/>
          <p:cNvSpPr/>
          <p:nvPr/>
        </p:nvSpPr>
        <p:spPr>
          <a:xfrm>
            <a:off x="1640633" y="980728"/>
            <a:ext cx="2664295" cy="504056"/>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400" b="1" dirty="0">
                <a:solidFill>
                  <a:schemeClr val="tx1"/>
                </a:solidFill>
              </a:rPr>
              <a:t>PROPÓSITO</a:t>
            </a:r>
          </a:p>
        </p:txBody>
      </p:sp>
      <p:sp>
        <p:nvSpPr>
          <p:cNvPr id="8" name="2 Redondear rectángulo de esquina diagonal"/>
          <p:cNvSpPr/>
          <p:nvPr/>
        </p:nvSpPr>
        <p:spPr>
          <a:xfrm>
            <a:off x="5241032" y="1484784"/>
            <a:ext cx="4176464" cy="4608512"/>
          </a:xfrm>
          <a:prstGeom prst="round2DiagRect">
            <a:avLst>
              <a:gd name="adj1" fmla="val 14362"/>
              <a:gd name="adj2" fmla="val 0"/>
            </a:avLst>
          </a:prstGeom>
          <a:solidFill>
            <a:srgbClr val="11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just"/>
            <a:endParaRPr lang="es-PE" sz="2000" dirty="0">
              <a:solidFill>
                <a:schemeClr val="tx1"/>
              </a:solidFill>
              <a:latin typeface="Arial" panose="020B0604020202020204" pitchFamily="34" charset="0"/>
              <a:cs typeface="Arial" panose="020B0604020202020204" pitchFamily="34" charset="0"/>
            </a:endParaRPr>
          </a:p>
          <a:p>
            <a:pPr algn="just">
              <a:lnSpc>
                <a:spcPct val="150000"/>
              </a:lnSpc>
            </a:pPr>
            <a:r>
              <a:rPr lang="es-PE" sz="2000" dirty="0">
                <a:solidFill>
                  <a:schemeClr val="tx1"/>
                </a:solidFill>
                <a:latin typeface="Arial" panose="020B0604020202020204" pitchFamily="34" charset="0"/>
                <a:cs typeface="Arial" panose="020B0604020202020204" pitchFamily="34" charset="0"/>
              </a:rPr>
              <a:t>Al finalizar la sesión, el estudiante resuelve problemas </a:t>
            </a:r>
            <a:r>
              <a:rPr lang="es-PE" sz="2000" dirty="0" smtClean="0">
                <a:solidFill>
                  <a:schemeClr val="tx1"/>
                </a:solidFill>
                <a:latin typeface="Arial" panose="020B0604020202020204" pitchFamily="34" charset="0"/>
                <a:cs typeface="Arial" panose="020B0604020202020204" pitchFamily="34" charset="0"/>
              </a:rPr>
              <a:t>relacionados con el Calor , Transferencia de calor y cambios de estado, </a:t>
            </a:r>
            <a:r>
              <a:rPr lang="es-PE" sz="2000" dirty="0">
                <a:solidFill>
                  <a:schemeClr val="tx1"/>
                </a:solidFill>
                <a:latin typeface="Arial" panose="020B0604020202020204" pitchFamily="34" charset="0"/>
                <a:cs typeface="Arial" panose="020B0604020202020204" pitchFamily="34" charset="0"/>
              </a:rPr>
              <a:t>usando correctamente </a:t>
            </a:r>
            <a:r>
              <a:rPr lang="es-PE" sz="2000" dirty="0" smtClean="0">
                <a:solidFill>
                  <a:schemeClr val="tx1"/>
                </a:solidFill>
                <a:latin typeface="Arial" panose="020B0604020202020204" pitchFamily="34" charset="0"/>
                <a:cs typeface="Arial" panose="020B0604020202020204" pitchFamily="34" charset="0"/>
              </a:rPr>
              <a:t>las definiciones con </a:t>
            </a:r>
            <a:r>
              <a:rPr lang="es-PE" sz="2000" dirty="0">
                <a:solidFill>
                  <a:schemeClr val="tx1"/>
                </a:solidFill>
                <a:latin typeface="Arial" panose="020B0604020202020204" pitchFamily="34" charset="0"/>
                <a:cs typeface="Arial" panose="020B0604020202020204" pitchFamily="34" charset="0"/>
              </a:rPr>
              <a:t>orden, tres cifras significativas y las unidades respectivas.</a:t>
            </a:r>
            <a:endParaRPr lang="es-ES" sz="2000" dirty="0">
              <a:solidFill>
                <a:schemeClr val="tx1"/>
              </a:solidFill>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s-PE" sz="2000" b="1" dirty="0">
              <a:solidFill>
                <a:schemeClr val="tx1"/>
              </a:solidFill>
              <a:latin typeface="Arial" panose="020B0604020202020204" pitchFamily="34" charset="0"/>
              <a:cs typeface="Arial" panose="020B0604020202020204" pitchFamily="34" charset="0"/>
            </a:endParaRPr>
          </a:p>
        </p:txBody>
      </p:sp>
      <p:pic>
        <p:nvPicPr>
          <p:cNvPr id="10" name="Imagen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6536" y="2132856"/>
            <a:ext cx="3909322" cy="3807451"/>
          </a:xfrm>
          <a:prstGeom prst="rect">
            <a:avLst/>
          </a:prstGeom>
        </p:spPr>
      </p:pic>
    </p:spTree>
    <p:extLst>
      <p:ext uri="{BB962C8B-B14F-4D97-AF65-F5344CB8AC3E}">
        <p14:creationId xmlns:p14="http://schemas.microsoft.com/office/powerpoint/2010/main" val="141241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7" name="Conector recto 26"/>
          <p:cNvCxnSpPr>
            <a:cxnSpLocks/>
          </p:cNvCxnSpPr>
          <p:nvPr/>
        </p:nvCxnSpPr>
        <p:spPr>
          <a:xfrm>
            <a:off x="8594868" y="2800075"/>
            <a:ext cx="0" cy="37105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Conector recto 7"/>
          <p:cNvCxnSpPr>
            <a:cxnSpLocks/>
            <a:stCxn id="16" idx="2"/>
          </p:cNvCxnSpPr>
          <p:nvPr/>
        </p:nvCxnSpPr>
        <p:spPr>
          <a:xfrm>
            <a:off x="8703023" y="3635349"/>
            <a:ext cx="0" cy="1389283"/>
          </a:xfrm>
          <a:prstGeom prst="line">
            <a:avLst/>
          </a:prstGeom>
        </p:spPr>
        <p:style>
          <a:lnRef idx="1">
            <a:schemeClr val="dk1"/>
          </a:lnRef>
          <a:fillRef idx="0">
            <a:schemeClr val="dk1"/>
          </a:fillRef>
          <a:effectRef idx="0">
            <a:schemeClr val="dk1"/>
          </a:effectRef>
          <a:fontRef idx="minor">
            <a:schemeClr val="tx1"/>
          </a:fontRef>
        </p:style>
      </p:cxnSp>
      <p:cxnSp>
        <p:nvCxnSpPr>
          <p:cNvPr id="6" name="Conector recto 5"/>
          <p:cNvCxnSpPr>
            <a:cxnSpLocks/>
          </p:cNvCxnSpPr>
          <p:nvPr/>
        </p:nvCxnSpPr>
        <p:spPr>
          <a:xfrm>
            <a:off x="4880992" y="3633033"/>
            <a:ext cx="0" cy="86273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0" name="Conector recto 29"/>
          <p:cNvCxnSpPr/>
          <p:nvPr/>
        </p:nvCxnSpPr>
        <p:spPr>
          <a:xfrm>
            <a:off x="3292662" y="3626482"/>
            <a:ext cx="4154" cy="70102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cxnSp>
        <p:nvCxnSpPr>
          <p:cNvPr id="7" name="Conector recto 6">
            <a:extLst>
              <a:ext uri="{FF2B5EF4-FFF2-40B4-BE49-F238E27FC236}">
                <a16:creationId xmlns="" xmlns:a16="http://schemas.microsoft.com/office/drawing/2014/main" id="{8001D105-DCAC-42FF-A68E-0D3DE034E8B2}"/>
              </a:ext>
            </a:extLst>
          </p:cNvPr>
          <p:cNvCxnSpPr>
            <a:cxnSpLocks/>
          </p:cNvCxnSpPr>
          <p:nvPr/>
        </p:nvCxnSpPr>
        <p:spPr>
          <a:xfrm>
            <a:off x="6681192" y="3666382"/>
            <a:ext cx="18611" cy="1741208"/>
          </a:xfrm>
          <a:prstGeom prst="line">
            <a:avLst/>
          </a:prstGeom>
          <a:ln/>
        </p:spPr>
        <p:style>
          <a:lnRef idx="1">
            <a:schemeClr val="dk1"/>
          </a:lnRef>
          <a:fillRef idx="0">
            <a:schemeClr val="dk1"/>
          </a:fillRef>
          <a:effectRef idx="0">
            <a:schemeClr val="dk1"/>
          </a:effectRef>
          <a:fontRef idx="minor">
            <a:schemeClr val="tx1"/>
          </a:fontRef>
        </p:style>
      </p:cxnSp>
      <p:sp>
        <p:nvSpPr>
          <p:cNvPr id="9" name="Rectángulo redondeado 8"/>
          <p:cNvSpPr/>
          <p:nvPr/>
        </p:nvSpPr>
        <p:spPr>
          <a:xfrm>
            <a:off x="1640632" y="1003815"/>
            <a:ext cx="4352925" cy="527000"/>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800" b="1" dirty="0">
                <a:solidFill>
                  <a:schemeClr val="tx1"/>
                </a:solidFill>
              </a:rPr>
              <a:t>CONTENIDO TEMÁTICO</a:t>
            </a:r>
            <a:endParaRPr lang="es-PE" sz="2800" dirty="0">
              <a:solidFill>
                <a:schemeClr val="tx1"/>
              </a:solidFill>
            </a:endParaRPr>
          </a:p>
        </p:txBody>
      </p:sp>
      <p:sp>
        <p:nvSpPr>
          <p:cNvPr id="11" name="Rectángulo 10">
            <a:extLst>
              <a:ext uri="{FF2B5EF4-FFF2-40B4-BE49-F238E27FC236}">
                <a16:creationId xmlns="" xmlns:a16="http://schemas.microsoft.com/office/drawing/2014/main" id="{8029014D-9243-4890-AF00-9E6FC9945B2C}"/>
              </a:ext>
            </a:extLst>
          </p:cNvPr>
          <p:cNvSpPr/>
          <p:nvPr/>
        </p:nvSpPr>
        <p:spPr>
          <a:xfrm>
            <a:off x="1058961" y="1844824"/>
            <a:ext cx="7782471" cy="576064"/>
          </a:xfrm>
          <a:prstGeom prst="rect">
            <a:avLst/>
          </a:prstGeom>
          <a:solidFill>
            <a:srgbClr val="1199FF"/>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s-PE" sz="2400" b="1" dirty="0" smtClean="0">
                <a:solidFill>
                  <a:schemeClr val="tx1"/>
                </a:solidFill>
              </a:rPr>
              <a:t>CALOR, TRANSFERENCIA DE CALOR Y CAMBIOS DE ESTADO</a:t>
            </a:r>
            <a:endParaRPr lang="es-PE" sz="2400" b="1" dirty="0">
              <a:solidFill>
                <a:schemeClr val="tx1"/>
              </a:solidFill>
            </a:endParaRPr>
          </a:p>
        </p:txBody>
      </p:sp>
      <p:cxnSp>
        <p:nvCxnSpPr>
          <p:cNvPr id="12" name="Conector recto 11">
            <a:extLst>
              <a:ext uri="{FF2B5EF4-FFF2-40B4-BE49-F238E27FC236}">
                <a16:creationId xmlns="" xmlns:a16="http://schemas.microsoft.com/office/drawing/2014/main" id="{008A15F1-A2F7-4515-8854-56CDE8B68B99}"/>
              </a:ext>
            </a:extLst>
          </p:cNvPr>
          <p:cNvCxnSpPr>
            <a:cxnSpLocks/>
          </p:cNvCxnSpPr>
          <p:nvPr/>
        </p:nvCxnSpPr>
        <p:spPr>
          <a:xfrm>
            <a:off x="4916462" y="2451052"/>
            <a:ext cx="0" cy="360040"/>
          </a:xfrm>
          <a:prstGeom prst="line">
            <a:avLst/>
          </a:prstGeom>
          <a:ln>
            <a:solidFill>
              <a:schemeClr val="tx1"/>
            </a:solidFill>
          </a:ln>
        </p:spPr>
        <p:style>
          <a:lnRef idx="1">
            <a:schemeClr val="accent6"/>
          </a:lnRef>
          <a:fillRef idx="2">
            <a:schemeClr val="accent6"/>
          </a:fillRef>
          <a:effectRef idx="1">
            <a:schemeClr val="accent6"/>
          </a:effectRef>
          <a:fontRef idx="minor">
            <a:schemeClr val="dk1"/>
          </a:fontRef>
        </p:style>
      </p:cxnSp>
      <p:sp>
        <p:nvSpPr>
          <p:cNvPr id="13" name="Rectángulo 12">
            <a:extLst>
              <a:ext uri="{FF2B5EF4-FFF2-40B4-BE49-F238E27FC236}">
                <a16:creationId xmlns="" xmlns:a16="http://schemas.microsoft.com/office/drawing/2014/main" id="{B377CFE4-F974-430F-8D3E-31A44641DDDD}"/>
              </a:ext>
            </a:extLst>
          </p:cNvPr>
          <p:cNvSpPr/>
          <p:nvPr/>
        </p:nvSpPr>
        <p:spPr>
          <a:xfrm>
            <a:off x="2504728" y="3036424"/>
            <a:ext cx="1508771" cy="590058"/>
          </a:xfrm>
          <a:prstGeom prst="rect">
            <a:avLst/>
          </a:prstGeom>
          <a:solidFill>
            <a:srgbClr val="F9B367"/>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s-PE" sz="1600" b="1" dirty="0">
                <a:solidFill>
                  <a:schemeClr val="tx1"/>
                </a:solidFill>
              </a:rPr>
              <a:t>CANTIDADES </a:t>
            </a:r>
            <a:r>
              <a:rPr lang="es-PE" sz="1600" b="1" dirty="0"/>
              <a:t>FÍSICAS</a:t>
            </a:r>
            <a:endParaRPr lang="es-PE" sz="1600" b="1" dirty="0">
              <a:solidFill>
                <a:schemeClr val="tx1"/>
              </a:solidFill>
            </a:endParaRPr>
          </a:p>
        </p:txBody>
      </p:sp>
      <p:cxnSp>
        <p:nvCxnSpPr>
          <p:cNvPr id="14" name="Conector recto 13">
            <a:extLst>
              <a:ext uri="{FF2B5EF4-FFF2-40B4-BE49-F238E27FC236}">
                <a16:creationId xmlns="" xmlns:a16="http://schemas.microsoft.com/office/drawing/2014/main" id="{43098481-B66C-4565-AFF8-F4FBF153DF92}"/>
              </a:ext>
            </a:extLst>
          </p:cNvPr>
          <p:cNvCxnSpPr>
            <a:cxnSpLocks/>
          </p:cNvCxnSpPr>
          <p:nvPr/>
        </p:nvCxnSpPr>
        <p:spPr>
          <a:xfrm flipH="1" flipV="1">
            <a:off x="1203775" y="2800075"/>
            <a:ext cx="7391093" cy="2779"/>
          </a:xfrm>
          <a:prstGeom prst="line">
            <a:avLst/>
          </a:prstGeom>
          <a:ln>
            <a:solidFill>
              <a:schemeClr val="tx1"/>
            </a:solidFill>
          </a:ln>
        </p:spPr>
        <p:style>
          <a:lnRef idx="1">
            <a:schemeClr val="accent6"/>
          </a:lnRef>
          <a:fillRef idx="2">
            <a:schemeClr val="accent6"/>
          </a:fillRef>
          <a:effectRef idx="1">
            <a:schemeClr val="accent6"/>
          </a:effectRef>
          <a:fontRef idx="minor">
            <a:schemeClr val="dk1"/>
          </a:fontRef>
        </p:style>
      </p:cxnSp>
      <p:cxnSp>
        <p:nvCxnSpPr>
          <p:cNvPr id="15" name="Conector recto 14">
            <a:extLst>
              <a:ext uri="{FF2B5EF4-FFF2-40B4-BE49-F238E27FC236}">
                <a16:creationId xmlns="" xmlns:a16="http://schemas.microsoft.com/office/drawing/2014/main" id="{E4375B2A-706A-4D8E-8409-0FE4926350F3}"/>
              </a:ext>
            </a:extLst>
          </p:cNvPr>
          <p:cNvCxnSpPr>
            <a:cxnSpLocks/>
          </p:cNvCxnSpPr>
          <p:nvPr/>
        </p:nvCxnSpPr>
        <p:spPr>
          <a:xfrm>
            <a:off x="4918241" y="2811092"/>
            <a:ext cx="0" cy="360040"/>
          </a:xfrm>
          <a:prstGeom prst="line">
            <a:avLst/>
          </a:prstGeom>
          <a:ln>
            <a:solidFill>
              <a:schemeClr val="tx1"/>
            </a:solidFill>
          </a:ln>
        </p:spPr>
        <p:style>
          <a:lnRef idx="1">
            <a:schemeClr val="accent6"/>
          </a:lnRef>
          <a:fillRef idx="2">
            <a:schemeClr val="accent6"/>
          </a:fillRef>
          <a:effectRef idx="1">
            <a:schemeClr val="accent6"/>
          </a:effectRef>
          <a:fontRef idx="minor">
            <a:schemeClr val="dk1"/>
          </a:fontRef>
        </p:style>
      </p:cxnSp>
      <p:sp>
        <p:nvSpPr>
          <p:cNvPr id="16" name="Rectángulo 15">
            <a:extLst>
              <a:ext uri="{FF2B5EF4-FFF2-40B4-BE49-F238E27FC236}">
                <a16:creationId xmlns="" xmlns:a16="http://schemas.microsoft.com/office/drawing/2014/main" id="{B32EC4F4-40F8-440A-A577-A55B582660EF}"/>
              </a:ext>
            </a:extLst>
          </p:cNvPr>
          <p:cNvSpPr/>
          <p:nvPr/>
        </p:nvSpPr>
        <p:spPr>
          <a:xfrm>
            <a:off x="7744073" y="3066114"/>
            <a:ext cx="1917899" cy="569235"/>
          </a:xfrm>
          <a:prstGeom prst="rect">
            <a:avLst/>
          </a:prstGeom>
          <a:solidFill>
            <a:srgbClr val="F9B367"/>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s-PE" sz="1600" b="1" dirty="0" smtClean="0">
                <a:cs typeface="Arial" panose="020B0604020202020204" pitchFamily="34" charset="0"/>
              </a:rPr>
              <a:t>CALOR LATENTE</a:t>
            </a:r>
            <a:endParaRPr lang="es-PE" sz="1600" b="1" dirty="0">
              <a:cs typeface="Arial" panose="020B0604020202020204" pitchFamily="34" charset="0"/>
            </a:endParaRPr>
          </a:p>
        </p:txBody>
      </p:sp>
      <p:sp>
        <p:nvSpPr>
          <p:cNvPr id="18" name="Rectángulo 17">
            <a:extLst>
              <a:ext uri="{FF2B5EF4-FFF2-40B4-BE49-F238E27FC236}">
                <a16:creationId xmlns="" xmlns:a16="http://schemas.microsoft.com/office/drawing/2014/main" id="{491CDA35-9E9C-46DA-B439-A69909018FD2}"/>
              </a:ext>
            </a:extLst>
          </p:cNvPr>
          <p:cNvSpPr/>
          <p:nvPr/>
        </p:nvSpPr>
        <p:spPr>
          <a:xfrm>
            <a:off x="2553606" y="3860052"/>
            <a:ext cx="1463290" cy="2105101"/>
          </a:xfrm>
          <a:prstGeom prst="rect">
            <a:avLst/>
          </a:prstGeom>
          <a:solidFill>
            <a:srgbClr val="EAF991"/>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lvl="0" algn="just"/>
            <a:endParaRPr kumimoji="1" lang="en-GB" altLang="es-PE" sz="1400" dirty="0" smtClean="0">
              <a:solidFill>
                <a:schemeClr val="tx1"/>
              </a:solidFill>
              <a:latin typeface="Arial" panose="020B0604020202020204" pitchFamily="34" charset="0"/>
              <a:cs typeface="Arial" panose="020B0604020202020204" pitchFamily="34" charset="0"/>
            </a:endParaRPr>
          </a:p>
          <a:p>
            <a:pPr marL="203200" lvl="0" indent="-203200" algn="just">
              <a:buFont typeface="Arial" panose="020B0604020202020204" pitchFamily="34" charset="0"/>
              <a:buChar char="•"/>
            </a:pPr>
            <a:r>
              <a:rPr kumimoji="1" lang="en-GB" altLang="es-PE" sz="1400" dirty="0" err="1" smtClean="0">
                <a:solidFill>
                  <a:schemeClr val="tx1"/>
                </a:solidFill>
                <a:latin typeface="Arial" panose="020B0604020202020204" pitchFamily="34" charset="0"/>
                <a:cs typeface="Arial" panose="020B0604020202020204" pitchFamily="34" charset="0"/>
              </a:rPr>
              <a:t>Calor</a:t>
            </a:r>
            <a:endParaRPr kumimoji="1" lang="en-GB" altLang="es-PE" sz="1400" dirty="0">
              <a:solidFill>
                <a:schemeClr val="tx1"/>
              </a:solidFill>
              <a:latin typeface="Arial" panose="020B0604020202020204" pitchFamily="34" charset="0"/>
              <a:cs typeface="Arial" panose="020B0604020202020204" pitchFamily="34" charset="0"/>
            </a:endParaRPr>
          </a:p>
          <a:p>
            <a:pPr marL="203200" lvl="0" indent="-203200" algn="just">
              <a:buFont typeface="Arial" panose="020B0604020202020204" pitchFamily="34" charset="0"/>
              <a:buChar char="•"/>
            </a:pPr>
            <a:r>
              <a:rPr kumimoji="1" lang="en-GB" altLang="es-PE" sz="1400" dirty="0" err="1" smtClean="0">
                <a:solidFill>
                  <a:schemeClr val="tx1"/>
                </a:solidFill>
                <a:latin typeface="Arial" panose="020B0604020202020204" pitchFamily="34" charset="0"/>
                <a:cs typeface="Arial" panose="020B0604020202020204" pitchFamily="34" charset="0"/>
              </a:rPr>
              <a:t>Capacidad</a:t>
            </a:r>
            <a:r>
              <a:rPr kumimoji="1" lang="en-GB" altLang="es-PE" sz="1400" dirty="0" smtClean="0">
                <a:solidFill>
                  <a:schemeClr val="tx1"/>
                </a:solidFill>
                <a:latin typeface="Arial" panose="020B0604020202020204" pitchFamily="34" charset="0"/>
                <a:cs typeface="Arial" panose="020B0604020202020204" pitchFamily="34" charset="0"/>
              </a:rPr>
              <a:t> </a:t>
            </a:r>
            <a:r>
              <a:rPr kumimoji="1" lang="en-GB" altLang="es-PE" sz="1400" dirty="0" err="1" smtClean="0">
                <a:solidFill>
                  <a:schemeClr val="tx1"/>
                </a:solidFill>
                <a:latin typeface="Arial" panose="020B0604020202020204" pitchFamily="34" charset="0"/>
                <a:cs typeface="Arial" panose="020B0604020202020204" pitchFamily="34" charset="0"/>
              </a:rPr>
              <a:t>calorifica</a:t>
            </a:r>
            <a:r>
              <a:rPr kumimoji="1" lang="en-GB" altLang="es-PE" sz="1400" dirty="0" smtClean="0">
                <a:solidFill>
                  <a:schemeClr val="tx1"/>
                </a:solidFill>
                <a:latin typeface="Arial" panose="020B0604020202020204" pitchFamily="34" charset="0"/>
                <a:cs typeface="Arial" panose="020B0604020202020204" pitchFamily="34" charset="0"/>
              </a:rPr>
              <a:t>.</a:t>
            </a:r>
          </a:p>
          <a:p>
            <a:pPr marL="203200" lvl="0" indent="-203200" algn="just">
              <a:buFont typeface="Arial" panose="020B0604020202020204" pitchFamily="34" charset="0"/>
              <a:buChar char="•"/>
            </a:pPr>
            <a:r>
              <a:rPr kumimoji="1" lang="en-GB" altLang="es-PE" sz="1400" dirty="0" err="1" smtClean="0">
                <a:solidFill>
                  <a:schemeClr val="tx1"/>
                </a:solidFill>
                <a:latin typeface="Arial" panose="020B0604020202020204" pitchFamily="34" charset="0"/>
                <a:cs typeface="Arial" panose="020B0604020202020204" pitchFamily="34" charset="0"/>
              </a:rPr>
              <a:t>Calor</a:t>
            </a:r>
            <a:r>
              <a:rPr kumimoji="1" lang="en-GB" altLang="es-PE" sz="1400" dirty="0" smtClean="0">
                <a:solidFill>
                  <a:schemeClr val="tx1"/>
                </a:solidFill>
                <a:latin typeface="Arial" panose="020B0604020202020204" pitchFamily="34" charset="0"/>
                <a:cs typeface="Arial" panose="020B0604020202020204" pitchFamily="34" charset="0"/>
              </a:rPr>
              <a:t> </a:t>
            </a:r>
            <a:r>
              <a:rPr kumimoji="1" lang="en-GB" altLang="es-PE" sz="1400" dirty="0" err="1" smtClean="0">
                <a:solidFill>
                  <a:schemeClr val="tx1"/>
                </a:solidFill>
                <a:latin typeface="Arial" panose="020B0604020202020204" pitchFamily="34" charset="0"/>
                <a:cs typeface="Arial" panose="020B0604020202020204" pitchFamily="34" charset="0"/>
              </a:rPr>
              <a:t>especifico</a:t>
            </a:r>
            <a:r>
              <a:rPr kumimoji="1" lang="en-GB" altLang="es-PE" sz="1400" dirty="0" smtClean="0">
                <a:solidFill>
                  <a:schemeClr val="tx1"/>
                </a:solidFill>
                <a:latin typeface="Arial" panose="020B0604020202020204" pitchFamily="34" charset="0"/>
                <a:cs typeface="Arial" panose="020B0604020202020204" pitchFamily="34" charset="0"/>
              </a:rPr>
              <a:t>.</a:t>
            </a:r>
          </a:p>
          <a:p>
            <a:pPr marL="203200" lvl="0" indent="-203200" algn="just">
              <a:buFont typeface="Arial" panose="020B0604020202020204" pitchFamily="34" charset="0"/>
              <a:buChar char="•"/>
            </a:pPr>
            <a:r>
              <a:rPr kumimoji="1" lang="en-GB" altLang="es-PE" sz="1400" dirty="0" err="1" smtClean="0">
                <a:solidFill>
                  <a:schemeClr val="tx1"/>
                </a:solidFill>
                <a:latin typeface="Arial" panose="020B0604020202020204" pitchFamily="34" charset="0"/>
                <a:cs typeface="Arial" panose="020B0604020202020204" pitchFamily="34" charset="0"/>
              </a:rPr>
              <a:t>Temperatura</a:t>
            </a:r>
            <a:r>
              <a:rPr kumimoji="1" lang="en-GB" altLang="es-PE" sz="1400" dirty="0">
                <a:solidFill>
                  <a:schemeClr val="tx1"/>
                </a:solidFill>
                <a:latin typeface="Arial" panose="020B0604020202020204" pitchFamily="34" charset="0"/>
                <a:cs typeface="Arial" panose="020B0604020202020204" pitchFamily="34" charset="0"/>
              </a:rPr>
              <a:t>.</a:t>
            </a:r>
          </a:p>
          <a:p>
            <a:pPr marL="203200" lvl="0" indent="-203200" algn="just">
              <a:buFont typeface="Arial" panose="020B0604020202020204" pitchFamily="34" charset="0"/>
              <a:buChar char="•"/>
            </a:pPr>
            <a:r>
              <a:rPr kumimoji="1" lang="en-GB" altLang="es-PE" sz="1400" dirty="0" err="1" smtClean="0">
                <a:solidFill>
                  <a:schemeClr val="tx1"/>
                </a:solidFill>
                <a:latin typeface="Arial" panose="020B0604020202020204" pitchFamily="34" charset="0"/>
                <a:cs typeface="Arial" panose="020B0604020202020204" pitchFamily="34" charset="0"/>
              </a:rPr>
              <a:t>Flujo</a:t>
            </a:r>
            <a:r>
              <a:rPr kumimoji="1" lang="en-GB" altLang="es-PE" sz="1400" dirty="0" smtClean="0">
                <a:solidFill>
                  <a:schemeClr val="tx1"/>
                </a:solidFill>
                <a:latin typeface="Arial" panose="020B0604020202020204" pitchFamily="34" charset="0"/>
                <a:cs typeface="Arial" panose="020B0604020202020204" pitchFamily="34" charset="0"/>
              </a:rPr>
              <a:t> de </a:t>
            </a:r>
            <a:r>
              <a:rPr kumimoji="1" lang="en-GB" altLang="es-PE" sz="1400" dirty="0" err="1" smtClean="0">
                <a:solidFill>
                  <a:schemeClr val="tx1"/>
                </a:solidFill>
                <a:latin typeface="Arial" panose="020B0604020202020204" pitchFamily="34" charset="0"/>
                <a:cs typeface="Arial" panose="020B0604020202020204" pitchFamily="34" charset="0"/>
              </a:rPr>
              <a:t>calor</a:t>
            </a:r>
            <a:endParaRPr kumimoji="1" lang="en-GB" altLang="es-PE" sz="1400" dirty="0" smtClean="0">
              <a:solidFill>
                <a:schemeClr val="tx1"/>
              </a:solidFill>
              <a:latin typeface="Arial" panose="020B0604020202020204" pitchFamily="34" charset="0"/>
              <a:cs typeface="Arial" panose="020B0604020202020204" pitchFamily="34" charset="0"/>
            </a:endParaRPr>
          </a:p>
          <a:p>
            <a:pPr marL="203200" lvl="0" indent="-203200" algn="just">
              <a:buFont typeface="Arial" panose="020B0604020202020204" pitchFamily="34" charset="0"/>
              <a:buChar char="•"/>
            </a:pPr>
            <a:r>
              <a:rPr kumimoji="1" lang="en-GB" altLang="es-PE" sz="1400" dirty="0" err="1" smtClean="0">
                <a:solidFill>
                  <a:schemeClr val="tx1"/>
                </a:solidFill>
                <a:latin typeface="Arial" panose="020B0604020202020204" pitchFamily="34" charset="0"/>
                <a:cs typeface="Arial" panose="020B0604020202020204" pitchFamily="34" charset="0"/>
              </a:rPr>
              <a:t>Calor</a:t>
            </a:r>
            <a:r>
              <a:rPr kumimoji="1" lang="en-GB" altLang="es-PE" sz="1400" dirty="0" smtClean="0">
                <a:solidFill>
                  <a:schemeClr val="tx1"/>
                </a:solidFill>
                <a:latin typeface="Arial" panose="020B0604020202020204" pitchFamily="34" charset="0"/>
                <a:cs typeface="Arial" panose="020B0604020202020204" pitchFamily="34" charset="0"/>
              </a:rPr>
              <a:t> </a:t>
            </a:r>
            <a:r>
              <a:rPr kumimoji="1" lang="en-GB" altLang="es-PE" sz="1400" dirty="0" err="1" smtClean="0">
                <a:solidFill>
                  <a:schemeClr val="tx1"/>
                </a:solidFill>
                <a:latin typeface="Arial" panose="020B0604020202020204" pitchFamily="34" charset="0"/>
                <a:cs typeface="Arial" panose="020B0604020202020204" pitchFamily="34" charset="0"/>
              </a:rPr>
              <a:t>latente</a:t>
            </a:r>
            <a:r>
              <a:rPr kumimoji="1" lang="en-GB" altLang="es-PE" sz="1400" dirty="0" smtClean="0">
                <a:solidFill>
                  <a:schemeClr val="tx1"/>
                </a:solidFill>
                <a:latin typeface="Arial" panose="020B0604020202020204" pitchFamily="34" charset="0"/>
                <a:cs typeface="Arial" panose="020B0604020202020204" pitchFamily="34" charset="0"/>
              </a:rPr>
              <a:t>.</a:t>
            </a:r>
            <a:endParaRPr kumimoji="1" lang="en-GB" altLang="es-PE" sz="1400" dirty="0">
              <a:solidFill>
                <a:schemeClr val="tx1"/>
              </a:solidFill>
              <a:latin typeface="Arial" panose="020B0604020202020204" pitchFamily="34" charset="0"/>
              <a:cs typeface="Arial" panose="020B0604020202020204" pitchFamily="34" charset="0"/>
            </a:endParaRPr>
          </a:p>
          <a:p>
            <a:pPr lvl="0" algn="just"/>
            <a:endParaRPr lang="es-PE" sz="1400" dirty="0">
              <a:solidFill>
                <a:schemeClr val="tx1"/>
              </a:solidFill>
              <a:latin typeface="Arial" panose="020B0604020202020204" pitchFamily="34" charset="0"/>
              <a:cs typeface="Arial" panose="020B0604020202020204" pitchFamily="34" charset="0"/>
            </a:endParaRPr>
          </a:p>
        </p:txBody>
      </p:sp>
      <p:sp>
        <p:nvSpPr>
          <p:cNvPr id="20" name="Rectángulo 19">
            <a:extLst>
              <a:ext uri="{FF2B5EF4-FFF2-40B4-BE49-F238E27FC236}">
                <a16:creationId xmlns="" xmlns:a16="http://schemas.microsoft.com/office/drawing/2014/main" id="{B377CFE4-F974-430F-8D3E-31A44641DDDD}"/>
              </a:ext>
            </a:extLst>
          </p:cNvPr>
          <p:cNvSpPr/>
          <p:nvPr/>
        </p:nvSpPr>
        <p:spPr>
          <a:xfrm>
            <a:off x="200472" y="3036423"/>
            <a:ext cx="1853559" cy="716169"/>
          </a:xfrm>
          <a:prstGeom prst="rect">
            <a:avLst/>
          </a:prstGeom>
          <a:solidFill>
            <a:srgbClr val="F9B367"/>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s-PE" sz="1600" b="1" dirty="0" smtClean="0">
                <a:solidFill>
                  <a:schemeClr val="tx1"/>
                </a:solidFill>
              </a:rPr>
              <a:t>CALOR</a:t>
            </a:r>
            <a:endParaRPr lang="es-PE" sz="1600" b="1" dirty="0">
              <a:solidFill>
                <a:schemeClr val="tx1"/>
              </a:solidFill>
            </a:endParaRPr>
          </a:p>
        </p:txBody>
      </p:sp>
      <p:sp>
        <p:nvSpPr>
          <p:cNvPr id="21" name="Rectángulo 20">
            <a:extLst>
              <a:ext uri="{FF2B5EF4-FFF2-40B4-BE49-F238E27FC236}">
                <a16:creationId xmlns="" xmlns:a16="http://schemas.microsoft.com/office/drawing/2014/main" id="{6B0406B6-735E-446A-993D-567F64EC9E37}"/>
              </a:ext>
            </a:extLst>
          </p:cNvPr>
          <p:cNvSpPr/>
          <p:nvPr/>
        </p:nvSpPr>
        <p:spPr>
          <a:xfrm>
            <a:off x="4343554" y="3019702"/>
            <a:ext cx="1185510" cy="656056"/>
          </a:xfrm>
          <a:prstGeom prst="rect">
            <a:avLst/>
          </a:prstGeom>
          <a:solidFill>
            <a:srgbClr val="F9B367"/>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lvl="0" algn="ctr"/>
            <a:r>
              <a:rPr lang="es-PE" sz="1600" b="1" dirty="0" smtClean="0">
                <a:cs typeface="Arial" panose="020B0604020202020204" pitchFamily="34" charset="0"/>
              </a:rPr>
              <a:t>CALOR</a:t>
            </a:r>
            <a:endParaRPr lang="es-PE" sz="1600" b="1" dirty="0">
              <a:cs typeface="Arial" panose="020B0604020202020204" pitchFamily="34" charset="0"/>
            </a:endParaRPr>
          </a:p>
        </p:txBody>
      </p:sp>
      <mc:AlternateContent xmlns:mc="http://schemas.openxmlformats.org/markup-compatibility/2006" xmlns:a14="http://schemas.microsoft.com/office/drawing/2010/main">
        <mc:Choice Requires="a14">
          <p:sp>
            <p:nvSpPr>
              <p:cNvPr id="22" name="Rectángulo 21">
                <a:extLst>
                  <a:ext uri="{FF2B5EF4-FFF2-40B4-BE49-F238E27FC236}">
                    <a16:creationId xmlns="" xmlns:a16="http://schemas.microsoft.com/office/drawing/2014/main" id="{491CDA35-9E9C-46DA-B439-A69909018FD2}"/>
                  </a:ext>
                </a:extLst>
              </p:cNvPr>
              <p:cNvSpPr/>
              <p:nvPr/>
            </p:nvSpPr>
            <p:spPr>
              <a:xfrm>
                <a:off x="7888090" y="4033842"/>
                <a:ext cx="1673422" cy="2203470"/>
              </a:xfrm>
              <a:prstGeom prst="rect">
                <a:avLst/>
              </a:prstGeom>
              <a:solidFill>
                <a:srgbClr val="EAF991"/>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endParaRPr lang="es-MX" sz="1600" b="0" i="1" dirty="0" smtClean="0">
                  <a:latin typeface="Cambria Math" panose="02040503050406030204" pitchFamily="18" charset="0"/>
                  <a:ea typeface="Cambria Math" panose="02040503050406030204" pitchFamily="18" charset="0"/>
                </a:endParaRPr>
              </a:p>
              <a:p>
                <a:r>
                  <a:rPr lang="es-PE" sz="1600" i="1" dirty="0" smtClean="0">
                    <a:latin typeface="Cambria Math" panose="02040503050406030204" pitchFamily="18" charset="0"/>
                    <a:ea typeface="Cambria Math" panose="02040503050406030204" pitchFamily="18" charset="0"/>
                  </a:rPr>
                  <a:t>Calor latente de fusión</a:t>
                </a:r>
                <a:endParaRPr lang="es-PE" sz="1600" b="0" i="1" dirty="0" smtClean="0">
                  <a:latin typeface="Cambria Math" panose="02040503050406030204" pitchFamily="18" charset="0"/>
                  <a:ea typeface="Cambria Math" panose="02040503050406030204" pitchFamily="18" charset="0"/>
                </a:endParaRPr>
              </a:p>
              <a:p>
                <a:endParaRPr lang="es-PE" sz="1600" b="0" i="1" dirty="0" smtClean="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Cambria Math" panose="02040503050406030204" pitchFamily="18" charset="0"/>
                        </a:rPr>
                        <m:t>∆</m:t>
                      </m:r>
                      <m:r>
                        <a:rPr lang="es-PE" sz="1600" b="0" i="1" smtClean="0">
                          <a:latin typeface="Cambria Math" panose="02040503050406030204" pitchFamily="18" charset="0"/>
                          <a:ea typeface="Cambria Math" panose="02040503050406030204" pitchFamily="18" charset="0"/>
                        </a:rPr>
                        <m:t>𝑄</m:t>
                      </m:r>
                      <m:r>
                        <a:rPr lang="es-PE" sz="1600" i="1">
                          <a:latin typeface="Cambria Math" panose="02040503050406030204" pitchFamily="18" charset="0"/>
                          <a:ea typeface="Cambria Math" panose="02040503050406030204" pitchFamily="18" charset="0"/>
                        </a:rPr>
                        <m:t>=</m:t>
                      </m:r>
                      <m:r>
                        <a:rPr lang="es-PE" sz="1600" b="0" i="1" smtClean="0">
                          <a:latin typeface="Cambria Math" panose="02040503050406030204" pitchFamily="18" charset="0"/>
                          <a:ea typeface="Cambria Math" panose="02040503050406030204" pitchFamily="18" charset="0"/>
                        </a:rPr>
                        <m:t>𝑚</m:t>
                      </m:r>
                      <m:sSub>
                        <m:sSubPr>
                          <m:ctrlPr>
                            <a:rPr lang="es-PE" sz="1600" b="0" i="1" smtClean="0">
                              <a:latin typeface="Cambria Math" panose="02040503050406030204" pitchFamily="18" charset="0"/>
                              <a:ea typeface="Cambria Math" panose="02040503050406030204" pitchFamily="18" charset="0"/>
                            </a:rPr>
                          </m:ctrlPr>
                        </m:sSubPr>
                        <m:e>
                          <m:r>
                            <a:rPr lang="es-PE" sz="1600" b="0" i="1" smtClean="0">
                              <a:latin typeface="Cambria Math" panose="02040503050406030204" pitchFamily="18" charset="0"/>
                              <a:ea typeface="Cambria Math" panose="02040503050406030204" pitchFamily="18" charset="0"/>
                            </a:rPr>
                            <m:t>𝐿</m:t>
                          </m:r>
                        </m:e>
                        <m:sub>
                          <m:r>
                            <a:rPr lang="es-PE" sz="1600" b="0" i="1" smtClean="0">
                              <a:latin typeface="Cambria Math" panose="02040503050406030204" pitchFamily="18" charset="0"/>
                              <a:ea typeface="Cambria Math" panose="02040503050406030204" pitchFamily="18" charset="0"/>
                            </a:rPr>
                            <m:t>𝑓</m:t>
                          </m:r>
                        </m:sub>
                      </m:sSub>
                    </m:oMath>
                  </m:oMathPara>
                </a14:m>
                <a:endParaRPr lang="es-PE" sz="1600" dirty="0"/>
              </a:p>
              <a:p>
                <a:r>
                  <a:rPr lang="es-PE" sz="1600" i="1" dirty="0">
                    <a:latin typeface="Cambria Math" panose="02040503050406030204" pitchFamily="18" charset="0"/>
                    <a:ea typeface="Cambria Math" panose="02040503050406030204" pitchFamily="18" charset="0"/>
                  </a:rPr>
                  <a:t>Calor latente de </a:t>
                </a:r>
                <a:r>
                  <a:rPr lang="es-PE" sz="1600" i="1" dirty="0" smtClean="0">
                    <a:latin typeface="Cambria Math" panose="02040503050406030204" pitchFamily="18" charset="0"/>
                    <a:ea typeface="Cambria Math" panose="02040503050406030204" pitchFamily="18" charset="0"/>
                  </a:rPr>
                  <a:t>vaporización</a:t>
                </a:r>
              </a:p>
              <a:p>
                <a:endParaRPr lang="es-PE" sz="1600" dirty="0"/>
              </a:p>
              <a:p>
                <a:pPr/>
                <a14:m>
                  <m:oMathPara xmlns:m="http://schemas.openxmlformats.org/officeDocument/2006/math">
                    <m:oMathParaPr>
                      <m:jc m:val="centerGroup"/>
                    </m:oMathParaPr>
                    <m:oMath xmlns:m="http://schemas.openxmlformats.org/officeDocument/2006/math">
                      <m:r>
                        <a:rPr lang="es-MX" sz="1600" i="1">
                          <a:latin typeface="Cambria Math" panose="02040503050406030204" pitchFamily="18" charset="0"/>
                          <a:ea typeface="Cambria Math" panose="02040503050406030204" pitchFamily="18" charset="0"/>
                        </a:rPr>
                        <m:t>∆</m:t>
                      </m:r>
                      <m:r>
                        <a:rPr lang="es-PE" sz="1600" i="1">
                          <a:latin typeface="Cambria Math" panose="02040503050406030204" pitchFamily="18" charset="0"/>
                          <a:ea typeface="Cambria Math" panose="02040503050406030204" pitchFamily="18" charset="0"/>
                        </a:rPr>
                        <m:t>𝑄</m:t>
                      </m:r>
                      <m:r>
                        <a:rPr lang="es-PE" sz="1600" i="1">
                          <a:latin typeface="Cambria Math" panose="02040503050406030204" pitchFamily="18" charset="0"/>
                          <a:ea typeface="Cambria Math" panose="02040503050406030204" pitchFamily="18" charset="0"/>
                        </a:rPr>
                        <m:t>=</m:t>
                      </m:r>
                      <m:r>
                        <a:rPr lang="es-PE" sz="1600" i="1">
                          <a:latin typeface="Cambria Math" panose="02040503050406030204" pitchFamily="18" charset="0"/>
                          <a:ea typeface="Cambria Math" panose="02040503050406030204" pitchFamily="18" charset="0"/>
                        </a:rPr>
                        <m:t>𝑚</m:t>
                      </m:r>
                      <m:sSub>
                        <m:sSubPr>
                          <m:ctrlPr>
                            <a:rPr lang="es-PE" sz="1600" i="1">
                              <a:latin typeface="Cambria Math" panose="02040503050406030204" pitchFamily="18" charset="0"/>
                              <a:ea typeface="Cambria Math" panose="02040503050406030204" pitchFamily="18" charset="0"/>
                            </a:rPr>
                          </m:ctrlPr>
                        </m:sSubPr>
                        <m:e>
                          <m:r>
                            <a:rPr lang="es-PE" sz="1600" i="1">
                              <a:latin typeface="Cambria Math" panose="02040503050406030204" pitchFamily="18" charset="0"/>
                              <a:ea typeface="Cambria Math" panose="02040503050406030204" pitchFamily="18" charset="0"/>
                            </a:rPr>
                            <m:t>𝐿</m:t>
                          </m:r>
                        </m:e>
                        <m:sub>
                          <m:r>
                            <a:rPr lang="es-PE" sz="1600" b="0" i="1" smtClean="0">
                              <a:latin typeface="Cambria Math" panose="02040503050406030204" pitchFamily="18" charset="0"/>
                              <a:ea typeface="Cambria Math" panose="02040503050406030204" pitchFamily="18" charset="0"/>
                            </a:rPr>
                            <m:t>𝑣</m:t>
                          </m:r>
                        </m:sub>
                      </m:sSub>
                    </m:oMath>
                  </m:oMathPara>
                </a14:m>
                <a:endParaRPr lang="es-PE" sz="1600" b="0" dirty="0" smtClean="0">
                  <a:ea typeface="Cambria Math" panose="02040503050406030204" pitchFamily="18" charset="0"/>
                </a:endParaRPr>
              </a:p>
              <a:p>
                <a:endParaRPr lang="es-PE" sz="1600" dirty="0"/>
              </a:p>
            </p:txBody>
          </p:sp>
        </mc:Choice>
        <mc:Fallback xmlns="">
          <p:sp>
            <p:nvSpPr>
              <p:cNvPr id="22" name="Rectángulo 21">
                <a:extLst>
                  <a:ext uri="{FF2B5EF4-FFF2-40B4-BE49-F238E27FC236}">
                    <a16:creationId xmlns:a16="http://schemas.microsoft.com/office/drawing/2014/main" xmlns="" xmlns:a14="http://schemas.microsoft.com/office/drawing/2010/main" id="{491CDA35-9E9C-46DA-B439-A69909018FD2}"/>
                  </a:ext>
                </a:extLst>
              </p:cNvPr>
              <p:cNvSpPr>
                <a:spLocks noRot="1" noChangeAspect="1" noMove="1" noResize="1" noEditPoints="1" noAdjustHandles="1" noChangeArrowheads="1" noChangeShapeType="1" noTextEdit="1"/>
              </p:cNvSpPr>
              <p:nvPr/>
            </p:nvSpPr>
            <p:spPr>
              <a:xfrm>
                <a:off x="7888090" y="4033842"/>
                <a:ext cx="1673422" cy="2203470"/>
              </a:xfrm>
              <a:prstGeom prst="rect">
                <a:avLst/>
              </a:prstGeom>
              <a:blipFill rotWithShape="0">
                <a:blip r:embed="rId2"/>
                <a:stretch>
                  <a:fillRect/>
                </a:stretch>
              </a:blipFill>
              <a:ln>
                <a:solidFill>
                  <a:schemeClr val="tx1"/>
                </a:solidFill>
              </a:ln>
            </p:spPr>
            <p:txBody>
              <a:bodyPr/>
              <a:lstStyle/>
              <a:p>
                <a:r>
                  <a:rPr lang="es-PE">
                    <a:noFill/>
                  </a:rPr>
                  <a:t> </a:t>
                </a:r>
              </a:p>
            </p:txBody>
          </p:sp>
        </mc:Fallback>
      </mc:AlternateContent>
      <p:cxnSp>
        <p:nvCxnSpPr>
          <p:cNvPr id="23" name="Conector recto 22">
            <a:extLst>
              <a:ext uri="{FF2B5EF4-FFF2-40B4-BE49-F238E27FC236}">
                <a16:creationId xmlns="" xmlns:a16="http://schemas.microsoft.com/office/drawing/2014/main" id="{C2DA4E98-4D40-4E2B-AC84-9B82C98610BC}"/>
              </a:ext>
            </a:extLst>
          </p:cNvPr>
          <p:cNvCxnSpPr>
            <a:cxnSpLocks/>
          </p:cNvCxnSpPr>
          <p:nvPr/>
        </p:nvCxnSpPr>
        <p:spPr>
          <a:xfrm>
            <a:off x="1127251" y="3767360"/>
            <a:ext cx="0" cy="288032"/>
          </a:xfrm>
          <a:prstGeom prst="line">
            <a:avLst/>
          </a:prstGeom>
          <a:ln>
            <a:solidFill>
              <a:schemeClr val="tx1"/>
            </a:solidFill>
          </a:ln>
        </p:spPr>
        <p:style>
          <a:lnRef idx="1">
            <a:schemeClr val="accent6"/>
          </a:lnRef>
          <a:fillRef idx="2">
            <a:schemeClr val="accent6"/>
          </a:fillRef>
          <a:effectRef idx="1">
            <a:schemeClr val="accent6"/>
          </a:effectRef>
          <a:fontRef idx="minor">
            <a:schemeClr val="dk1"/>
          </a:fontRef>
        </p:style>
      </p:cxnSp>
      <p:sp>
        <p:nvSpPr>
          <p:cNvPr id="24" name="Rectángulo 23">
            <a:extLst>
              <a:ext uri="{FF2B5EF4-FFF2-40B4-BE49-F238E27FC236}">
                <a16:creationId xmlns="" xmlns:a16="http://schemas.microsoft.com/office/drawing/2014/main" id="{6B0406B6-735E-446A-993D-567F64EC9E37}"/>
              </a:ext>
            </a:extLst>
          </p:cNvPr>
          <p:cNvSpPr/>
          <p:nvPr/>
        </p:nvSpPr>
        <p:spPr>
          <a:xfrm>
            <a:off x="5871865" y="3044331"/>
            <a:ext cx="1735447" cy="631427"/>
          </a:xfrm>
          <a:prstGeom prst="rect">
            <a:avLst/>
          </a:prstGeom>
          <a:solidFill>
            <a:srgbClr val="F9B367"/>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lvl="0" algn="ctr"/>
            <a:r>
              <a:rPr lang="es-PE" sz="1600" b="1" dirty="0" smtClean="0">
                <a:cs typeface="Arial" panose="020B0604020202020204" pitchFamily="34" charset="0"/>
              </a:rPr>
              <a:t>TRANSFERENCIA DE CALOR</a:t>
            </a:r>
            <a:endParaRPr lang="es-PE" sz="1600" b="1" dirty="0">
              <a:cs typeface="Arial" panose="020B0604020202020204" pitchFamily="34" charset="0"/>
            </a:endParaRPr>
          </a:p>
        </p:txBody>
      </p:sp>
      <p:cxnSp>
        <p:nvCxnSpPr>
          <p:cNvPr id="26" name="Conector recto 25"/>
          <p:cNvCxnSpPr/>
          <p:nvPr/>
        </p:nvCxnSpPr>
        <p:spPr>
          <a:xfrm>
            <a:off x="1201213" y="2800075"/>
            <a:ext cx="0" cy="236349"/>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Conector recto 27"/>
          <p:cNvCxnSpPr/>
          <p:nvPr/>
        </p:nvCxnSpPr>
        <p:spPr>
          <a:xfrm>
            <a:off x="6846074" y="2811092"/>
            <a:ext cx="0" cy="243346"/>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Conector recto 28"/>
          <p:cNvCxnSpPr/>
          <p:nvPr/>
        </p:nvCxnSpPr>
        <p:spPr>
          <a:xfrm>
            <a:off x="3296816" y="2793078"/>
            <a:ext cx="0" cy="243346"/>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Rectángulo 32">
                <a:extLst>
                  <a:ext uri="{FF2B5EF4-FFF2-40B4-BE49-F238E27FC236}">
                    <a16:creationId xmlns="" xmlns:a16="http://schemas.microsoft.com/office/drawing/2014/main" id="{491CDA35-9E9C-46DA-B439-A69909018FD2}"/>
                  </a:ext>
                </a:extLst>
              </p:cNvPr>
              <p:cNvSpPr/>
              <p:nvPr/>
            </p:nvSpPr>
            <p:spPr>
              <a:xfrm>
                <a:off x="4227750" y="4149857"/>
                <a:ext cx="1373322" cy="791311"/>
              </a:xfrm>
              <a:prstGeom prst="rect">
                <a:avLst/>
              </a:prstGeom>
              <a:solidFill>
                <a:srgbClr val="EAF991"/>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lvl="0" algn="just"/>
                <a14:m>
                  <m:oMathPara xmlns:m="http://schemas.openxmlformats.org/officeDocument/2006/math">
                    <m:oMathParaPr>
                      <m:jc m:val="centerGroup"/>
                    </m:oMathParaPr>
                    <m:oMath xmlns:m="http://schemas.openxmlformats.org/officeDocument/2006/math">
                      <m:r>
                        <a:rPr lang="es-PE" sz="1600" i="1" smtClean="0">
                          <a:latin typeface="Cambria Math" panose="02040503050406030204" pitchFamily="18" charset="0"/>
                          <a:ea typeface="Cambria Math" panose="02040503050406030204" pitchFamily="18" charset="0"/>
                        </a:rPr>
                        <m:t>∆</m:t>
                      </m:r>
                      <m:r>
                        <a:rPr lang="es-PE" sz="1600" b="0" i="1" smtClean="0">
                          <a:latin typeface="Cambria Math" panose="02040503050406030204" pitchFamily="18" charset="0"/>
                          <a:ea typeface="Cambria Math" panose="02040503050406030204" pitchFamily="18" charset="0"/>
                        </a:rPr>
                        <m:t>𝑄</m:t>
                      </m:r>
                      <m:r>
                        <a:rPr lang="es-PE" sz="1600" b="0" i="1" smtClean="0">
                          <a:latin typeface="Cambria Math" panose="02040503050406030204" pitchFamily="18" charset="0"/>
                          <a:ea typeface="Cambria Math" panose="02040503050406030204" pitchFamily="18" charset="0"/>
                        </a:rPr>
                        <m:t>=</m:t>
                      </m:r>
                      <m:r>
                        <a:rPr lang="es-PE" sz="1600" b="0" i="1" smtClean="0">
                          <a:latin typeface="Cambria Math" panose="02040503050406030204" pitchFamily="18" charset="0"/>
                          <a:ea typeface="Cambria Math" panose="02040503050406030204" pitchFamily="18" charset="0"/>
                        </a:rPr>
                        <m:t>𝑚</m:t>
                      </m:r>
                      <m:sSub>
                        <m:sSubPr>
                          <m:ctrlPr>
                            <a:rPr lang="es-PE" sz="1600" b="0" i="1" smtClean="0">
                              <a:latin typeface="Cambria Math" panose="02040503050406030204" pitchFamily="18" charset="0"/>
                              <a:ea typeface="Cambria Math" panose="02040503050406030204" pitchFamily="18" charset="0"/>
                            </a:rPr>
                          </m:ctrlPr>
                        </m:sSubPr>
                        <m:e>
                          <m:r>
                            <a:rPr lang="es-PE" sz="1600" b="0" i="1" smtClean="0">
                              <a:latin typeface="Cambria Math" panose="02040503050406030204" pitchFamily="18" charset="0"/>
                              <a:ea typeface="Cambria Math" panose="02040503050406030204" pitchFamily="18" charset="0"/>
                            </a:rPr>
                            <m:t>𝐶</m:t>
                          </m:r>
                        </m:e>
                        <m:sub>
                          <m:r>
                            <a:rPr lang="es-PE" sz="1600" b="0" i="1" smtClean="0">
                              <a:latin typeface="Cambria Math" panose="02040503050406030204" pitchFamily="18" charset="0"/>
                              <a:ea typeface="Cambria Math" panose="02040503050406030204" pitchFamily="18" charset="0"/>
                            </a:rPr>
                            <m:t>𝑒</m:t>
                          </m:r>
                        </m:sub>
                      </m:sSub>
                      <m:r>
                        <a:rPr lang="es-PE" sz="1600" b="0" i="1" smtClean="0">
                          <a:latin typeface="Cambria Math" panose="02040503050406030204" pitchFamily="18" charset="0"/>
                          <a:ea typeface="Cambria Math" panose="02040503050406030204" pitchFamily="18" charset="0"/>
                        </a:rPr>
                        <m:t>∆</m:t>
                      </m:r>
                      <m:r>
                        <a:rPr lang="es-PE" sz="1600" b="0" i="1" smtClean="0">
                          <a:latin typeface="Cambria Math" panose="02040503050406030204" pitchFamily="18" charset="0"/>
                          <a:ea typeface="Cambria Math" panose="02040503050406030204" pitchFamily="18" charset="0"/>
                        </a:rPr>
                        <m:t>𝑇</m:t>
                      </m:r>
                    </m:oMath>
                  </m:oMathPara>
                </a14:m>
                <a:endParaRPr lang="es-PE" sz="1600" dirty="0">
                  <a:solidFill>
                    <a:schemeClr val="tx1"/>
                  </a:solidFill>
                  <a:latin typeface="Arial" panose="020B0604020202020204" pitchFamily="34" charset="0"/>
                  <a:cs typeface="Arial" panose="020B0604020202020204" pitchFamily="34" charset="0"/>
                </a:endParaRPr>
              </a:p>
            </p:txBody>
          </p:sp>
        </mc:Choice>
        <mc:Fallback xmlns="">
          <p:sp>
            <p:nvSpPr>
              <p:cNvPr id="33" name="Rectángulo 32">
                <a:extLst>
                  <a:ext uri="{FF2B5EF4-FFF2-40B4-BE49-F238E27FC236}">
                    <a16:creationId xmlns:a16="http://schemas.microsoft.com/office/drawing/2014/main" xmlns="" xmlns:a14="http://schemas.microsoft.com/office/drawing/2010/main" id="{491CDA35-9E9C-46DA-B439-A69909018FD2}"/>
                  </a:ext>
                </a:extLst>
              </p:cNvPr>
              <p:cNvSpPr>
                <a:spLocks noRot="1" noChangeAspect="1" noMove="1" noResize="1" noEditPoints="1" noAdjustHandles="1" noChangeArrowheads="1" noChangeShapeType="1" noTextEdit="1"/>
              </p:cNvSpPr>
              <p:nvPr/>
            </p:nvSpPr>
            <p:spPr>
              <a:xfrm>
                <a:off x="4227750" y="4149857"/>
                <a:ext cx="1373322" cy="791311"/>
              </a:xfrm>
              <a:prstGeom prst="rect">
                <a:avLst/>
              </a:prstGeom>
              <a:blipFill rotWithShape="0">
                <a:blip r:embed="rId3"/>
                <a:stretch>
                  <a:fillRect/>
                </a:stretch>
              </a:blipFill>
              <a:ln>
                <a:solidFill>
                  <a:schemeClr val="tx1"/>
                </a:solidFill>
              </a:ln>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19" name="Rectángulo 18">
                <a:extLst>
                  <a:ext uri="{FF2B5EF4-FFF2-40B4-BE49-F238E27FC236}">
                    <a16:creationId xmlns="" xmlns:a16="http://schemas.microsoft.com/office/drawing/2014/main" id="{44822C0F-02DC-406F-8E12-F1FFDD5CFB2F}"/>
                  </a:ext>
                </a:extLst>
              </p:cNvPr>
              <p:cNvSpPr/>
              <p:nvPr/>
            </p:nvSpPr>
            <p:spPr>
              <a:xfrm>
                <a:off x="5733873" y="3933056"/>
                <a:ext cx="1955431" cy="2530498"/>
              </a:xfrm>
              <a:prstGeom prst="rect">
                <a:avLst/>
              </a:prstGeom>
              <a:solidFill>
                <a:srgbClr val="EAF991"/>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just"/>
                <a:r>
                  <a:rPr lang="es-PE" sz="1600" i="1" dirty="0" smtClean="0">
                    <a:latin typeface="Arial" panose="020B0604020202020204" pitchFamily="34" charset="0"/>
                    <a:ea typeface="Cambria Math" panose="02040503050406030204" pitchFamily="18" charset="0"/>
                    <a:cs typeface="Arial" panose="020B0604020202020204" pitchFamily="34" charset="0"/>
                  </a:rPr>
                  <a:t>Conducción</a:t>
                </a:r>
              </a:p>
              <a:p>
                <a:pPr algn="just"/>
                <a14:m>
                  <m:oMathPara xmlns:m="http://schemas.openxmlformats.org/officeDocument/2006/math">
                    <m:oMathParaPr>
                      <m:jc m:val="centerGroup"/>
                    </m:oMathParaPr>
                    <m:oMath xmlns:m="http://schemas.openxmlformats.org/officeDocument/2006/math">
                      <m:r>
                        <m:rPr>
                          <m:sty m:val="p"/>
                        </m:rPr>
                        <a:rPr lang="es-PE" sz="1600" i="1" smtClean="0">
                          <a:latin typeface="Cambria Math" panose="02040503050406030204" pitchFamily="18" charset="0"/>
                          <a:ea typeface="Cambria Math" panose="02040503050406030204" pitchFamily="18" charset="0"/>
                        </a:rPr>
                        <m:t>H</m:t>
                      </m:r>
                      <m:r>
                        <a:rPr lang="es-PE" sz="1600" i="1">
                          <a:latin typeface="Cambria Math" panose="02040503050406030204" pitchFamily="18" charset="0"/>
                          <a:ea typeface="Cambria Math" panose="02040503050406030204" pitchFamily="18" charset="0"/>
                        </a:rPr>
                        <m:t>=</m:t>
                      </m:r>
                      <m:r>
                        <a:rPr lang="es-PE" sz="1600" b="0" i="1" smtClean="0">
                          <a:latin typeface="Cambria Math" panose="02040503050406030204" pitchFamily="18" charset="0"/>
                          <a:ea typeface="Cambria Math" panose="02040503050406030204" pitchFamily="18" charset="0"/>
                        </a:rPr>
                        <m:t>−</m:t>
                      </m:r>
                      <m:r>
                        <a:rPr lang="es-PE" sz="1600" b="0" i="1" smtClean="0">
                          <a:latin typeface="Cambria Math" panose="02040503050406030204" pitchFamily="18" charset="0"/>
                          <a:ea typeface="Cambria Math" panose="02040503050406030204" pitchFamily="18" charset="0"/>
                        </a:rPr>
                        <m:t>𝑘𝐴</m:t>
                      </m:r>
                      <m:f>
                        <m:fPr>
                          <m:ctrlPr>
                            <a:rPr lang="es-PE" sz="1600" b="0" i="1" smtClean="0">
                              <a:latin typeface="Cambria Math" panose="02040503050406030204" pitchFamily="18" charset="0"/>
                              <a:ea typeface="Cambria Math" panose="02040503050406030204" pitchFamily="18" charset="0"/>
                            </a:rPr>
                          </m:ctrlPr>
                        </m:fPr>
                        <m:num>
                          <m:r>
                            <a:rPr lang="es-PE" sz="1600" b="0" i="1" smtClean="0">
                              <a:latin typeface="Cambria Math" panose="02040503050406030204" pitchFamily="18" charset="0"/>
                              <a:ea typeface="Cambria Math" panose="02040503050406030204" pitchFamily="18" charset="0"/>
                            </a:rPr>
                            <m:t>𝑑𝑇</m:t>
                          </m:r>
                        </m:num>
                        <m:den>
                          <m:r>
                            <a:rPr lang="es-PE" sz="1600" b="0" i="1" smtClean="0">
                              <a:latin typeface="Cambria Math" panose="02040503050406030204" pitchFamily="18" charset="0"/>
                              <a:ea typeface="Cambria Math" panose="02040503050406030204" pitchFamily="18" charset="0"/>
                            </a:rPr>
                            <m:t>𝑑𝑥</m:t>
                          </m:r>
                        </m:den>
                      </m:f>
                    </m:oMath>
                  </m:oMathPara>
                </a14:m>
                <a:endParaRPr lang="es-PE" sz="1600" b="1" dirty="0" smtClean="0">
                  <a:solidFill>
                    <a:schemeClr val="tx1"/>
                  </a:solidFill>
                  <a:latin typeface="Arial" panose="020B0604020202020204" pitchFamily="34" charset="0"/>
                  <a:cs typeface="Arial" panose="020B0604020202020204" pitchFamily="34" charset="0"/>
                </a:endParaRPr>
              </a:p>
              <a:p>
                <a:pPr algn="just"/>
                <a:r>
                  <a:rPr lang="es-PE" sz="1600" i="1" dirty="0" smtClean="0">
                    <a:solidFill>
                      <a:schemeClr val="tx1"/>
                    </a:solidFill>
                    <a:latin typeface="Arial" panose="020B0604020202020204" pitchFamily="34" charset="0"/>
                    <a:cs typeface="Arial" panose="020B0604020202020204" pitchFamily="34" charset="0"/>
                  </a:rPr>
                  <a:t>Convección</a:t>
                </a:r>
              </a:p>
              <a:p>
                <a:pPr algn="just"/>
                <a:endParaRPr lang="es-PE" sz="1600" i="1" dirty="0" smtClean="0">
                  <a:solidFill>
                    <a:schemeClr val="tx1"/>
                  </a:solidFill>
                  <a:latin typeface="Arial" panose="020B0604020202020204" pitchFamily="34" charset="0"/>
                  <a:cs typeface="Arial" panose="020B0604020202020204" pitchFamily="34" charset="0"/>
                </a:endParaRPr>
              </a:p>
              <a:p>
                <a:pPr algn="just"/>
                <a14:m>
                  <m:oMathPara xmlns:m="http://schemas.openxmlformats.org/officeDocument/2006/math">
                    <m:oMathParaPr>
                      <m:jc m:val="centerGroup"/>
                    </m:oMathParaPr>
                    <m:oMath xmlns:m="http://schemas.openxmlformats.org/officeDocument/2006/math">
                      <m:r>
                        <m:rPr>
                          <m:sty m:val="p"/>
                        </m:rPr>
                        <a:rPr lang="es-PE" sz="1600" i="1">
                          <a:latin typeface="Cambria Math" panose="02040503050406030204" pitchFamily="18" charset="0"/>
                          <a:ea typeface="Cambria Math" panose="02040503050406030204" pitchFamily="18" charset="0"/>
                        </a:rPr>
                        <m:t>H</m:t>
                      </m:r>
                      <m:r>
                        <a:rPr lang="es-PE" sz="1600" i="1">
                          <a:latin typeface="Cambria Math" panose="02040503050406030204" pitchFamily="18" charset="0"/>
                          <a:ea typeface="Cambria Math" panose="02040503050406030204" pitchFamily="18" charset="0"/>
                        </a:rPr>
                        <m:t>=</m:t>
                      </m:r>
                      <m:r>
                        <a:rPr lang="es-PE" sz="1600" b="0" i="1" smtClean="0">
                          <a:latin typeface="Cambria Math" panose="02040503050406030204" pitchFamily="18" charset="0"/>
                          <a:ea typeface="Cambria Math" panose="02040503050406030204" pitchFamily="18" charset="0"/>
                        </a:rPr>
                        <m:t>h</m:t>
                      </m:r>
                      <m:r>
                        <a:rPr lang="es-PE" sz="1600" i="1">
                          <a:latin typeface="Cambria Math" panose="02040503050406030204" pitchFamily="18" charset="0"/>
                          <a:ea typeface="Cambria Math" panose="02040503050406030204" pitchFamily="18" charset="0"/>
                        </a:rPr>
                        <m:t>𝐴</m:t>
                      </m:r>
                      <m:d>
                        <m:dPr>
                          <m:ctrlPr>
                            <a:rPr lang="es-PE" sz="1600" i="1" smtClean="0">
                              <a:latin typeface="Cambria Math" panose="02040503050406030204" pitchFamily="18" charset="0"/>
                              <a:ea typeface="Cambria Math" panose="02040503050406030204" pitchFamily="18" charset="0"/>
                            </a:rPr>
                          </m:ctrlPr>
                        </m:dPr>
                        <m:e>
                          <m:sSub>
                            <m:sSubPr>
                              <m:ctrlPr>
                                <a:rPr lang="es-PE" sz="1600" i="1" smtClean="0">
                                  <a:latin typeface="Cambria Math" panose="02040503050406030204" pitchFamily="18" charset="0"/>
                                  <a:ea typeface="Cambria Math" panose="02040503050406030204" pitchFamily="18" charset="0"/>
                                </a:rPr>
                              </m:ctrlPr>
                            </m:sSubPr>
                            <m:e>
                              <m:r>
                                <a:rPr lang="es-PE" sz="1600" b="0" i="1" smtClean="0">
                                  <a:latin typeface="Cambria Math" panose="02040503050406030204" pitchFamily="18" charset="0"/>
                                  <a:ea typeface="Cambria Math" panose="02040503050406030204" pitchFamily="18" charset="0"/>
                                </a:rPr>
                                <m:t>𝑇</m:t>
                              </m:r>
                            </m:e>
                            <m:sub>
                              <m:r>
                                <a:rPr lang="es-PE" sz="1600" b="0" i="1" smtClean="0">
                                  <a:latin typeface="Cambria Math" panose="02040503050406030204" pitchFamily="18" charset="0"/>
                                  <a:ea typeface="Cambria Math" panose="02040503050406030204" pitchFamily="18" charset="0"/>
                                </a:rPr>
                                <m:t>𝑆</m:t>
                              </m:r>
                            </m:sub>
                          </m:sSub>
                          <m:r>
                            <a:rPr lang="es-PE" sz="1600" b="0" i="1" smtClean="0">
                              <a:latin typeface="Cambria Math" panose="02040503050406030204" pitchFamily="18" charset="0"/>
                              <a:ea typeface="Cambria Math" panose="02040503050406030204" pitchFamily="18" charset="0"/>
                            </a:rPr>
                            <m:t>−</m:t>
                          </m:r>
                          <m:sSub>
                            <m:sSubPr>
                              <m:ctrlPr>
                                <a:rPr lang="es-PE" sz="1600" b="0" i="1" smtClean="0">
                                  <a:latin typeface="Cambria Math" panose="02040503050406030204" pitchFamily="18" charset="0"/>
                                  <a:ea typeface="Cambria Math" panose="02040503050406030204" pitchFamily="18" charset="0"/>
                                </a:rPr>
                              </m:ctrlPr>
                            </m:sSubPr>
                            <m:e>
                              <m:r>
                                <a:rPr lang="es-PE" sz="1600" b="0" i="1" smtClean="0">
                                  <a:latin typeface="Cambria Math" panose="02040503050406030204" pitchFamily="18" charset="0"/>
                                  <a:ea typeface="Cambria Math" panose="02040503050406030204" pitchFamily="18" charset="0"/>
                                </a:rPr>
                                <m:t>𝑇</m:t>
                              </m:r>
                            </m:e>
                            <m:sub>
                              <m:r>
                                <a:rPr lang="es-PE" sz="1600" b="0" i="1" smtClean="0">
                                  <a:latin typeface="Cambria Math" panose="02040503050406030204" pitchFamily="18" charset="0"/>
                                  <a:ea typeface="Cambria Math" panose="02040503050406030204" pitchFamily="18" charset="0"/>
                                </a:rPr>
                                <m:t>𝐹</m:t>
                              </m:r>
                            </m:sub>
                          </m:sSub>
                        </m:e>
                      </m:d>
                    </m:oMath>
                  </m:oMathPara>
                </a14:m>
                <a:endParaRPr lang="es-PE" sz="1600" i="1" dirty="0" smtClean="0">
                  <a:solidFill>
                    <a:schemeClr val="tx1"/>
                  </a:solidFill>
                  <a:latin typeface="Arial" panose="020B0604020202020204" pitchFamily="34" charset="0"/>
                  <a:cs typeface="Arial" panose="020B0604020202020204" pitchFamily="34" charset="0"/>
                </a:endParaRPr>
              </a:p>
              <a:p>
                <a:pPr algn="just"/>
                <a:endParaRPr lang="es-PE" sz="1600" i="1" dirty="0" smtClean="0">
                  <a:solidFill>
                    <a:schemeClr val="tx1"/>
                  </a:solidFill>
                  <a:latin typeface="Arial" panose="020B0604020202020204" pitchFamily="34" charset="0"/>
                  <a:cs typeface="Arial" panose="020B0604020202020204" pitchFamily="34" charset="0"/>
                </a:endParaRPr>
              </a:p>
              <a:p>
                <a:pPr algn="just"/>
                <a:r>
                  <a:rPr lang="es-PE" sz="1600" i="1" dirty="0" smtClean="0">
                    <a:solidFill>
                      <a:schemeClr val="tx1"/>
                    </a:solidFill>
                    <a:latin typeface="Arial" panose="020B0604020202020204" pitchFamily="34" charset="0"/>
                    <a:cs typeface="Arial" panose="020B0604020202020204" pitchFamily="34" charset="0"/>
                  </a:rPr>
                  <a:t>Radiación</a:t>
                </a:r>
              </a:p>
              <a:p>
                <a:pPr algn="just"/>
                <a:endParaRPr lang="es-PE" sz="1600" i="1" dirty="0" smtClean="0">
                  <a:solidFill>
                    <a:schemeClr val="tx1"/>
                  </a:solidFill>
                  <a:latin typeface="Arial" panose="020B0604020202020204" pitchFamily="34" charset="0"/>
                  <a:cs typeface="Arial" panose="020B0604020202020204" pitchFamily="34" charset="0"/>
                </a:endParaRPr>
              </a:p>
              <a:p>
                <a:pPr algn="just"/>
                <a14:m>
                  <m:oMathPara xmlns:m="http://schemas.openxmlformats.org/officeDocument/2006/math">
                    <m:oMathParaPr>
                      <m:jc m:val="centerGroup"/>
                    </m:oMathParaPr>
                    <m:oMath xmlns:m="http://schemas.openxmlformats.org/officeDocument/2006/math">
                      <m:r>
                        <m:rPr>
                          <m:sty m:val="p"/>
                        </m:rPr>
                        <a:rPr lang="es-PE" sz="1600" i="1">
                          <a:latin typeface="Cambria Math" panose="02040503050406030204" pitchFamily="18" charset="0"/>
                          <a:ea typeface="Cambria Math" panose="02040503050406030204" pitchFamily="18" charset="0"/>
                        </a:rPr>
                        <m:t>H</m:t>
                      </m:r>
                      <m:r>
                        <a:rPr lang="es-PE" sz="1600" i="1">
                          <a:latin typeface="Cambria Math" panose="02040503050406030204" pitchFamily="18" charset="0"/>
                          <a:ea typeface="Cambria Math" panose="02040503050406030204" pitchFamily="18" charset="0"/>
                        </a:rPr>
                        <m:t>=</m:t>
                      </m:r>
                      <m:r>
                        <a:rPr lang="es-PE" sz="1600" i="1" smtClean="0">
                          <a:latin typeface="Cambria Math" panose="02040503050406030204" pitchFamily="18" charset="0"/>
                          <a:ea typeface="Cambria Math" panose="02040503050406030204" pitchFamily="18" charset="0"/>
                        </a:rPr>
                        <m:t>𝜎𝜖</m:t>
                      </m:r>
                      <m:r>
                        <a:rPr lang="es-PE" sz="1600" i="1">
                          <a:latin typeface="Cambria Math" panose="02040503050406030204" pitchFamily="18" charset="0"/>
                          <a:ea typeface="Cambria Math" panose="02040503050406030204" pitchFamily="18" charset="0"/>
                        </a:rPr>
                        <m:t>𝐴</m:t>
                      </m:r>
                      <m:d>
                        <m:dPr>
                          <m:ctrlPr>
                            <a:rPr lang="es-PE" sz="1600" i="1" smtClean="0">
                              <a:latin typeface="Cambria Math" panose="02040503050406030204" pitchFamily="18" charset="0"/>
                              <a:ea typeface="Cambria Math" panose="02040503050406030204" pitchFamily="18" charset="0"/>
                            </a:rPr>
                          </m:ctrlPr>
                        </m:dPr>
                        <m:e>
                          <m:sSubSup>
                            <m:sSubSupPr>
                              <m:ctrlPr>
                                <a:rPr lang="es-PE" sz="1600" i="1" smtClean="0">
                                  <a:latin typeface="Cambria Math" panose="02040503050406030204" pitchFamily="18" charset="0"/>
                                  <a:ea typeface="Cambria Math" panose="02040503050406030204" pitchFamily="18" charset="0"/>
                                </a:rPr>
                              </m:ctrlPr>
                            </m:sSubSupPr>
                            <m:e>
                              <m:r>
                                <a:rPr lang="es-PE" sz="1600" b="0" i="1" smtClean="0">
                                  <a:latin typeface="Cambria Math" panose="02040503050406030204" pitchFamily="18" charset="0"/>
                                  <a:ea typeface="Cambria Math" panose="02040503050406030204" pitchFamily="18" charset="0"/>
                                </a:rPr>
                                <m:t>𝑇</m:t>
                              </m:r>
                            </m:e>
                            <m:sub>
                              <m:r>
                                <a:rPr lang="es-PE" sz="1600" b="0" i="1" smtClean="0">
                                  <a:latin typeface="Cambria Math" panose="02040503050406030204" pitchFamily="18" charset="0"/>
                                  <a:ea typeface="Cambria Math" panose="02040503050406030204" pitchFamily="18" charset="0"/>
                                </a:rPr>
                                <m:t>𝑆</m:t>
                              </m:r>
                            </m:sub>
                            <m:sup>
                              <m:r>
                                <a:rPr lang="es-PE" sz="1600" b="0" i="1" smtClean="0">
                                  <a:latin typeface="Cambria Math" panose="02040503050406030204" pitchFamily="18" charset="0"/>
                                  <a:ea typeface="Cambria Math" panose="02040503050406030204" pitchFamily="18" charset="0"/>
                                </a:rPr>
                                <m:t>4</m:t>
                              </m:r>
                            </m:sup>
                          </m:sSubSup>
                          <m:r>
                            <a:rPr lang="es-PE" sz="1600" b="0" i="1" smtClean="0">
                              <a:latin typeface="Cambria Math" panose="02040503050406030204" pitchFamily="18" charset="0"/>
                              <a:ea typeface="Cambria Math" panose="02040503050406030204" pitchFamily="18" charset="0"/>
                            </a:rPr>
                            <m:t>−</m:t>
                          </m:r>
                          <m:sSubSup>
                            <m:sSubSupPr>
                              <m:ctrlPr>
                                <a:rPr lang="es-PE" sz="1600" b="0" i="1" smtClean="0">
                                  <a:latin typeface="Cambria Math" panose="02040503050406030204" pitchFamily="18" charset="0"/>
                                  <a:ea typeface="Cambria Math" panose="02040503050406030204" pitchFamily="18" charset="0"/>
                                </a:rPr>
                              </m:ctrlPr>
                            </m:sSubSupPr>
                            <m:e>
                              <m:r>
                                <a:rPr lang="es-PE" sz="1600" b="0" i="1" smtClean="0">
                                  <a:latin typeface="Cambria Math" panose="02040503050406030204" pitchFamily="18" charset="0"/>
                                  <a:ea typeface="Cambria Math" panose="02040503050406030204" pitchFamily="18" charset="0"/>
                                </a:rPr>
                                <m:t>𝑇</m:t>
                              </m:r>
                            </m:e>
                            <m:sub>
                              <m:r>
                                <a:rPr lang="es-PE" sz="1600" b="0" i="1" smtClean="0">
                                  <a:latin typeface="Cambria Math" panose="02040503050406030204" pitchFamily="18" charset="0"/>
                                  <a:ea typeface="Cambria Math" panose="02040503050406030204" pitchFamily="18" charset="0"/>
                                </a:rPr>
                                <m:t>0</m:t>
                              </m:r>
                            </m:sub>
                            <m:sup>
                              <m:r>
                                <a:rPr lang="es-PE" sz="1600" b="0" i="1" smtClean="0">
                                  <a:latin typeface="Cambria Math" panose="02040503050406030204" pitchFamily="18" charset="0"/>
                                  <a:ea typeface="Cambria Math" panose="02040503050406030204" pitchFamily="18" charset="0"/>
                                </a:rPr>
                                <m:t>4</m:t>
                              </m:r>
                            </m:sup>
                          </m:sSubSup>
                        </m:e>
                      </m:d>
                    </m:oMath>
                  </m:oMathPara>
                </a14:m>
                <a:endParaRPr lang="es-PE" sz="1600" i="1" dirty="0">
                  <a:solidFill>
                    <a:schemeClr val="tx1"/>
                  </a:solidFill>
                  <a:latin typeface="Arial" panose="020B0604020202020204" pitchFamily="34" charset="0"/>
                  <a:cs typeface="Arial" panose="020B0604020202020204" pitchFamily="34" charset="0"/>
                </a:endParaRPr>
              </a:p>
            </p:txBody>
          </p:sp>
        </mc:Choice>
        <mc:Fallback xmlns="">
          <p:sp>
            <p:nvSpPr>
              <p:cNvPr id="19" name="Rectángulo 18">
                <a:extLst>
                  <a:ext uri="{FF2B5EF4-FFF2-40B4-BE49-F238E27FC236}">
                    <a16:creationId xmlns:a16="http://schemas.microsoft.com/office/drawing/2014/main" xmlns="" xmlns:a14="http://schemas.microsoft.com/office/drawing/2010/main" id="{44822C0F-02DC-406F-8E12-F1FFDD5CFB2F}"/>
                  </a:ext>
                </a:extLst>
              </p:cNvPr>
              <p:cNvSpPr>
                <a:spLocks noRot="1" noChangeAspect="1" noMove="1" noResize="1" noEditPoints="1" noAdjustHandles="1" noChangeArrowheads="1" noChangeShapeType="1" noTextEdit="1"/>
              </p:cNvSpPr>
              <p:nvPr/>
            </p:nvSpPr>
            <p:spPr>
              <a:xfrm>
                <a:off x="5733873" y="3933056"/>
                <a:ext cx="1955431" cy="2530498"/>
              </a:xfrm>
              <a:prstGeom prst="rect">
                <a:avLst/>
              </a:prstGeom>
              <a:blipFill rotWithShape="0">
                <a:blip r:embed="rId4"/>
                <a:stretch>
                  <a:fillRect/>
                </a:stretch>
              </a:blipFill>
              <a:ln>
                <a:solidFill>
                  <a:schemeClr val="tx1"/>
                </a:solidFill>
              </a:ln>
            </p:spPr>
            <p:txBody>
              <a:bodyPr/>
              <a:lstStyle/>
              <a:p>
                <a:r>
                  <a:rPr lang="es-PE">
                    <a:noFill/>
                  </a:rPr>
                  <a:t> </a:t>
                </a:r>
              </a:p>
            </p:txBody>
          </p:sp>
        </mc:Fallback>
      </mc:AlternateContent>
      <p:sp>
        <p:nvSpPr>
          <p:cNvPr id="17" name="Rectángulo 16">
            <a:extLst>
              <a:ext uri="{FF2B5EF4-FFF2-40B4-BE49-F238E27FC236}">
                <a16:creationId xmlns="" xmlns:a16="http://schemas.microsoft.com/office/drawing/2014/main" id="{8EF499C7-AECE-44DE-89A6-BD7D3BC55E42}"/>
              </a:ext>
            </a:extLst>
          </p:cNvPr>
          <p:cNvSpPr/>
          <p:nvPr/>
        </p:nvSpPr>
        <p:spPr>
          <a:xfrm>
            <a:off x="200472" y="4077072"/>
            <a:ext cx="1872003" cy="2376264"/>
          </a:xfrm>
          <a:prstGeom prst="rect">
            <a:avLst/>
          </a:prstGeom>
          <a:solidFill>
            <a:srgbClr val="EAF991"/>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lvl="0" algn="just">
              <a:lnSpc>
                <a:spcPct val="150000"/>
              </a:lnSpc>
            </a:pPr>
            <a:r>
              <a:rPr lang="es-PE" sz="1400" dirty="0" smtClean="0">
                <a:latin typeface="Arial" panose="020B0604020202020204" pitchFamily="34" charset="0"/>
                <a:cs typeface="Arial" panose="020B0604020202020204" pitchFamily="34" charset="0"/>
              </a:rPr>
              <a:t>Forma de energía que se transfiere de un cuerpo a otro como consecuencia de una variación de temperatura. Es una energía en transito.</a:t>
            </a:r>
            <a:endParaRPr lang="es-PE" sz="14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67991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6" grpId="0" animBg="1"/>
      <p:bldP spid="18" grpId="0" animBg="1"/>
      <p:bldP spid="20" grpId="0" animBg="1"/>
      <p:bldP spid="21" grpId="0" animBg="1"/>
      <p:bldP spid="22" grpId="0" animBg="1"/>
      <p:bldP spid="24" grpId="0" animBg="1"/>
      <p:bldP spid="33" grpId="0" animBg="1"/>
      <p:bldP spid="19" grpId="0" animBg="1"/>
      <p:bldP spid="1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14" name="Rectángulo redondeado 13"/>
          <p:cNvSpPr/>
          <p:nvPr/>
        </p:nvSpPr>
        <p:spPr>
          <a:xfrm>
            <a:off x="1637806" y="720099"/>
            <a:ext cx="1731018" cy="571401"/>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400" b="1" dirty="0" smtClean="0">
                <a:solidFill>
                  <a:schemeClr val="tx1"/>
                </a:solidFill>
              </a:rPr>
              <a:t>CALOR  </a:t>
            </a:r>
            <a:endParaRPr lang="es-PE" sz="2400" dirty="0">
              <a:solidFill>
                <a:schemeClr val="tx1"/>
              </a:solidFill>
            </a:endParaRPr>
          </a:p>
        </p:txBody>
      </p:sp>
      <p:sp>
        <p:nvSpPr>
          <p:cNvPr id="3" name="Rectángulo 2"/>
          <p:cNvSpPr/>
          <p:nvPr/>
        </p:nvSpPr>
        <p:spPr>
          <a:xfrm>
            <a:off x="429780" y="1702642"/>
            <a:ext cx="7403540" cy="584775"/>
          </a:xfrm>
          <a:prstGeom prst="rect">
            <a:avLst/>
          </a:prstGeom>
        </p:spPr>
        <p:txBody>
          <a:bodyPr wrap="square">
            <a:spAutoFit/>
          </a:bodyPr>
          <a:lstStyle/>
          <a:p>
            <a:pPr algn="just"/>
            <a:r>
              <a:rPr lang="es-PE" sz="1600" dirty="0" smtClean="0">
                <a:latin typeface="NewBaskerville-Bold"/>
              </a:rPr>
              <a:t>El </a:t>
            </a:r>
            <a:r>
              <a:rPr lang="es-PE" sz="1600" dirty="0">
                <a:latin typeface="NewBaskerville-Bold"/>
              </a:rPr>
              <a:t>calor es la transferencia de energía a través de la frontera de un sistema debida </a:t>
            </a:r>
            <a:r>
              <a:rPr lang="es-PE" sz="1600" dirty="0" smtClean="0">
                <a:latin typeface="NewBaskerville-Bold"/>
              </a:rPr>
              <a:t>a una </a:t>
            </a:r>
            <a:r>
              <a:rPr lang="es-PE" sz="1600" dirty="0">
                <a:latin typeface="NewBaskerville-Bold"/>
              </a:rPr>
              <a:t>diferencia de temperatura entre el sistema y sus alrededores.</a:t>
            </a:r>
            <a:endParaRPr lang="es-PE" sz="1600" dirty="0"/>
          </a:p>
        </p:txBody>
      </p:sp>
      <p:sp>
        <p:nvSpPr>
          <p:cNvPr id="6" name="Rectángulo 5"/>
          <p:cNvSpPr/>
          <p:nvPr/>
        </p:nvSpPr>
        <p:spPr>
          <a:xfrm>
            <a:off x="429780" y="2264749"/>
            <a:ext cx="7403540" cy="584775"/>
          </a:xfrm>
          <a:prstGeom prst="rect">
            <a:avLst/>
          </a:prstGeom>
        </p:spPr>
        <p:txBody>
          <a:bodyPr wrap="square">
            <a:spAutoFit/>
          </a:bodyPr>
          <a:lstStyle/>
          <a:p>
            <a:r>
              <a:rPr lang="es-PE" sz="1600" dirty="0">
                <a:latin typeface="NewBaskerville-Roman"/>
              </a:rPr>
              <a:t>L</a:t>
            </a:r>
            <a:r>
              <a:rPr lang="es-PE" sz="1600" dirty="0" smtClean="0">
                <a:latin typeface="NewBaskerville-Roman"/>
              </a:rPr>
              <a:t>a </a:t>
            </a:r>
            <a:r>
              <a:rPr lang="es-PE" sz="1600" dirty="0">
                <a:latin typeface="NewBaskerville-Bold"/>
              </a:rPr>
              <a:t>caloría (cal)</a:t>
            </a:r>
            <a:r>
              <a:rPr lang="es-PE" sz="1600" dirty="0">
                <a:latin typeface="NewBaskerville-Roman"/>
              </a:rPr>
              <a:t>, que se define como </a:t>
            </a:r>
            <a:r>
              <a:rPr lang="es-PE" sz="1600" dirty="0">
                <a:latin typeface="NewBaskerville-Bold"/>
              </a:rPr>
              <a:t>la cantidad </a:t>
            </a:r>
            <a:r>
              <a:rPr lang="es-PE" sz="1600" dirty="0" smtClean="0">
                <a:latin typeface="NewBaskerville-Bold"/>
              </a:rPr>
              <a:t>de transferencia de  energía </a:t>
            </a:r>
            <a:r>
              <a:rPr lang="es-PE" sz="1600" dirty="0">
                <a:latin typeface="NewBaskerville-Bold"/>
              </a:rPr>
              <a:t>necesaria para elevar la temperatura de 1 g de agua de 14.5°C </a:t>
            </a:r>
            <a:r>
              <a:rPr lang="es-PE" sz="1600" dirty="0" smtClean="0">
                <a:latin typeface="NewBaskerville-Bold"/>
              </a:rPr>
              <a:t>a 15.5°C</a:t>
            </a:r>
            <a:endParaRPr lang="es-PE" sz="1600" dirty="0"/>
          </a:p>
        </p:txBody>
      </p:sp>
      <p:sp>
        <p:nvSpPr>
          <p:cNvPr id="7" name="Rectángulo 6"/>
          <p:cNvSpPr/>
          <p:nvPr/>
        </p:nvSpPr>
        <p:spPr>
          <a:xfrm>
            <a:off x="429780" y="2880160"/>
            <a:ext cx="7403540" cy="584775"/>
          </a:xfrm>
          <a:prstGeom prst="rect">
            <a:avLst/>
          </a:prstGeom>
        </p:spPr>
        <p:txBody>
          <a:bodyPr wrap="square">
            <a:spAutoFit/>
          </a:bodyPr>
          <a:lstStyle/>
          <a:p>
            <a:pPr algn="just"/>
            <a:r>
              <a:rPr lang="es-PE" sz="1600" dirty="0" smtClean="0">
                <a:latin typeface="NewBaskerville-Bold"/>
              </a:rPr>
              <a:t>Unidad </a:t>
            </a:r>
            <a:r>
              <a:rPr lang="es-PE" sz="1600" dirty="0">
                <a:latin typeface="NewBaskerville-Bold"/>
              </a:rPr>
              <a:t>térmica británica (</a:t>
            </a:r>
            <a:r>
              <a:rPr lang="es-PE" sz="1600" dirty="0" err="1">
                <a:latin typeface="NewBaskerville-Bold"/>
              </a:rPr>
              <a:t>Btu</a:t>
            </a:r>
            <a:r>
              <a:rPr lang="es-PE" sz="1600" dirty="0">
                <a:latin typeface="NewBaskerville-Bold"/>
              </a:rPr>
              <a:t>), que es la </a:t>
            </a:r>
            <a:r>
              <a:rPr lang="es-PE" sz="1600" dirty="0" smtClean="0">
                <a:latin typeface="NewBaskerville-Bold"/>
              </a:rPr>
              <a:t> cantidad </a:t>
            </a:r>
            <a:r>
              <a:rPr lang="es-PE" sz="1600" dirty="0">
                <a:latin typeface="NewBaskerville-Bold"/>
              </a:rPr>
              <a:t>de </a:t>
            </a:r>
            <a:r>
              <a:rPr lang="es-PE" sz="1600" dirty="0" smtClean="0">
                <a:latin typeface="NewBaskerville-Bold"/>
              </a:rPr>
              <a:t>transferencia de </a:t>
            </a:r>
            <a:r>
              <a:rPr lang="es-PE" sz="1600" dirty="0">
                <a:latin typeface="NewBaskerville-Bold"/>
              </a:rPr>
              <a:t>energía que se requiere para elevar la temperatura de 1 lb de agua de 63°F </a:t>
            </a:r>
            <a:r>
              <a:rPr lang="es-PE" sz="1600" dirty="0" smtClean="0">
                <a:latin typeface="NewBaskerville-Bold"/>
              </a:rPr>
              <a:t>a 64°F</a:t>
            </a:r>
            <a:r>
              <a:rPr lang="es-PE" sz="1600" dirty="0">
                <a:latin typeface="NewBaskerville-Roman"/>
              </a:rPr>
              <a:t>.</a:t>
            </a:r>
            <a:endParaRPr lang="es-PE" sz="1600" dirty="0"/>
          </a:p>
        </p:txBody>
      </p:sp>
      <p:sp>
        <p:nvSpPr>
          <p:cNvPr id="8" name="Rectángulo 7"/>
          <p:cNvSpPr/>
          <p:nvPr/>
        </p:nvSpPr>
        <p:spPr>
          <a:xfrm>
            <a:off x="469462" y="3447803"/>
            <a:ext cx="6510313" cy="338554"/>
          </a:xfrm>
          <a:prstGeom prst="rect">
            <a:avLst/>
          </a:prstGeom>
        </p:spPr>
        <p:txBody>
          <a:bodyPr wrap="square">
            <a:spAutoFit/>
          </a:bodyPr>
          <a:lstStyle/>
          <a:p>
            <a:r>
              <a:rPr lang="es-PE" sz="1600" b="1" dirty="0" smtClean="0">
                <a:latin typeface="NewBaskerville-Bold"/>
              </a:rPr>
              <a:t>Equivalente mecánico del </a:t>
            </a:r>
            <a:r>
              <a:rPr lang="es-PE" sz="1600" b="1" dirty="0">
                <a:latin typeface="NewBaskerville-Bold"/>
              </a:rPr>
              <a:t>calor</a:t>
            </a:r>
            <a:r>
              <a:rPr lang="es-PE" sz="1600" b="1" dirty="0">
                <a:latin typeface="NewBaskerville-Roman"/>
              </a:rPr>
              <a:t>.</a:t>
            </a:r>
            <a:endParaRPr lang="es-PE" sz="1600" b="1" dirty="0"/>
          </a:p>
        </p:txBody>
      </p:sp>
      <p:sp>
        <p:nvSpPr>
          <p:cNvPr id="9" name="Rectángulo 8"/>
          <p:cNvSpPr/>
          <p:nvPr/>
        </p:nvSpPr>
        <p:spPr>
          <a:xfrm>
            <a:off x="4198751" y="3440871"/>
            <a:ext cx="1691489" cy="369332"/>
          </a:xfrm>
          <a:prstGeom prst="rect">
            <a:avLst/>
          </a:prstGeom>
        </p:spPr>
        <p:txBody>
          <a:bodyPr wrap="none">
            <a:spAutoFit/>
          </a:bodyPr>
          <a:lstStyle/>
          <a:p>
            <a:r>
              <a:rPr lang="es-PE" dirty="0">
                <a:latin typeface="NewBaskerville-Roman"/>
              </a:rPr>
              <a:t>1 cal </a:t>
            </a:r>
            <a:r>
              <a:rPr lang="es-PE" dirty="0" smtClean="0">
                <a:latin typeface="NewBaskerville-Roman"/>
              </a:rPr>
              <a:t>= 4.186 </a:t>
            </a:r>
            <a:r>
              <a:rPr lang="es-PE" dirty="0">
                <a:latin typeface="NewBaskerville-Roman"/>
              </a:rPr>
              <a:t>J</a:t>
            </a:r>
            <a:endParaRPr lang="es-PE" dirty="0"/>
          </a:p>
        </p:txBody>
      </p:sp>
      <p:pic>
        <p:nvPicPr>
          <p:cNvPr id="10" name="Imagen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79450" y="3864153"/>
            <a:ext cx="1934090" cy="2805624"/>
          </a:xfrm>
          <a:prstGeom prst="rect">
            <a:avLst/>
          </a:prstGeom>
        </p:spPr>
      </p:pic>
      <p:pic>
        <p:nvPicPr>
          <p:cNvPr id="11" name="Imagen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96661" y="1433560"/>
            <a:ext cx="1570702" cy="2381387"/>
          </a:xfrm>
          <a:prstGeom prst="rect">
            <a:avLst/>
          </a:prstGeom>
        </p:spPr>
      </p:pic>
      <p:sp>
        <p:nvSpPr>
          <p:cNvPr id="12" name="Rectángulo 11"/>
          <p:cNvSpPr/>
          <p:nvPr/>
        </p:nvSpPr>
        <p:spPr>
          <a:xfrm>
            <a:off x="453154" y="3846030"/>
            <a:ext cx="7380166" cy="584775"/>
          </a:xfrm>
          <a:prstGeom prst="rect">
            <a:avLst/>
          </a:prstGeom>
        </p:spPr>
        <p:txBody>
          <a:bodyPr wrap="square">
            <a:spAutoFit/>
          </a:bodyPr>
          <a:lstStyle/>
          <a:p>
            <a:pPr algn="just"/>
            <a:r>
              <a:rPr lang="es-PE" sz="1600" dirty="0">
                <a:latin typeface="NewBaskerville-Roman"/>
              </a:rPr>
              <a:t>La </a:t>
            </a:r>
            <a:r>
              <a:rPr lang="es-PE" sz="1600" b="1" dirty="0">
                <a:latin typeface="NewBaskerville-Bold"/>
              </a:rPr>
              <a:t>capacidad térmica </a:t>
            </a:r>
            <a:r>
              <a:rPr lang="es-PE" sz="1600" i="1" dirty="0">
                <a:latin typeface="NewBaskerville-Italic"/>
              </a:rPr>
              <a:t>C </a:t>
            </a:r>
            <a:r>
              <a:rPr lang="es-PE" sz="1600" dirty="0">
                <a:latin typeface="NewBaskerville-Roman"/>
              </a:rPr>
              <a:t>de una muestra particular se define como la cantidad de </a:t>
            </a:r>
            <a:r>
              <a:rPr lang="es-PE" sz="1600" dirty="0" smtClean="0">
                <a:latin typeface="NewBaskerville-Roman"/>
              </a:rPr>
              <a:t>energía necesaria </a:t>
            </a:r>
            <a:r>
              <a:rPr lang="es-PE" sz="1600" dirty="0">
                <a:latin typeface="NewBaskerville-Roman"/>
              </a:rPr>
              <a:t>para elevar la temperatura de dicha muestra en 1°C.</a:t>
            </a:r>
            <a:endParaRPr lang="es-PE" sz="1600" dirty="0"/>
          </a:p>
        </p:txBody>
      </p:sp>
      <p:sp>
        <p:nvSpPr>
          <p:cNvPr id="13" name="Rectángulo 12"/>
          <p:cNvSpPr/>
          <p:nvPr/>
        </p:nvSpPr>
        <p:spPr>
          <a:xfrm>
            <a:off x="3512840" y="4425760"/>
            <a:ext cx="983346" cy="338554"/>
          </a:xfrm>
          <a:prstGeom prst="rect">
            <a:avLst/>
          </a:prstGeom>
        </p:spPr>
        <p:txBody>
          <a:bodyPr wrap="none">
            <a:spAutoFit/>
          </a:bodyPr>
          <a:lstStyle/>
          <a:p>
            <a:r>
              <a:rPr lang="es-PE" sz="1600" i="1" dirty="0">
                <a:latin typeface="NewBaskerville-Italic"/>
              </a:rPr>
              <a:t>Q </a:t>
            </a:r>
            <a:r>
              <a:rPr lang="es-PE" sz="1600" i="1" dirty="0" smtClean="0">
                <a:latin typeface="NewBaskerville-Italic"/>
              </a:rPr>
              <a:t>=C </a:t>
            </a:r>
            <a:r>
              <a:rPr lang="el-GR" sz="1600" i="1" dirty="0" smtClean="0">
                <a:latin typeface="NewBaskerville-Italic"/>
              </a:rPr>
              <a:t>Δ</a:t>
            </a:r>
            <a:r>
              <a:rPr lang="es-PE" sz="1600" i="1" dirty="0" smtClean="0">
                <a:latin typeface="NewBaskerville-Italic"/>
              </a:rPr>
              <a:t>T</a:t>
            </a:r>
            <a:endParaRPr lang="es-PE" sz="1600" dirty="0"/>
          </a:p>
        </p:txBody>
      </p:sp>
      <p:sp>
        <p:nvSpPr>
          <p:cNvPr id="15" name="Rectángulo 14"/>
          <p:cNvSpPr/>
          <p:nvPr/>
        </p:nvSpPr>
        <p:spPr>
          <a:xfrm>
            <a:off x="469462" y="4752681"/>
            <a:ext cx="7380166" cy="584775"/>
          </a:xfrm>
          <a:prstGeom prst="rect">
            <a:avLst/>
          </a:prstGeom>
        </p:spPr>
        <p:txBody>
          <a:bodyPr wrap="square">
            <a:spAutoFit/>
          </a:bodyPr>
          <a:lstStyle/>
          <a:p>
            <a:r>
              <a:rPr lang="es-PE" sz="1600" dirty="0">
                <a:latin typeface="NewBaskerville-Roman"/>
              </a:rPr>
              <a:t>El </a:t>
            </a:r>
            <a:r>
              <a:rPr lang="es-PE" sz="1600" b="1" dirty="0">
                <a:latin typeface="NewBaskerville-Bold"/>
              </a:rPr>
              <a:t>calor específico </a:t>
            </a:r>
            <a:r>
              <a:rPr lang="es-PE" sz="1600" i="1" dirty="0">
                <a:latin typeface="NewBaskerville-Italic"/>
              </a:rPr>
              <a:t>c </a:t>
            </a:r>
            <a:r>
              <a:rPr lang="es-PE" sz="1600" dirty="0">
                <a:latin typeface="NewBaskerville-Roman"/>
              </a:rPr>
              <a:t>de una sustancia es la capacidad </a:t>
            </a:r>
            <a:r>
              <a:rPr lang="es-PE" sz="1600" dirty="0" smtClean="0">
                <a:latin typeface="NewBaskerville-Roman"/>
              </a:rPr>
              <a:t>térmica </a:t>
            </a:r>
            <a:r>
              <a:rPr lang="es-PE" sz="1600" dirty="0">
                <a:latin typeface="NewBaskerville-Roman"/>
              </a:rPr>
              <a:t>por unidad de masa.</a:t>
            </a:r>
            <a:endParaRPr lang="es-PE" sz="1600" dirty="0"/>
          </a:p>
        </p:txBody>
      </p:sp>
      <mc:AlternateContent xmlns:mc="http://schemas.openxmlformats.org/markup-compatibility/2006" xmlns:a14="http://schemas.microsoft.com/office/drawing/2010/main">
        <mc:Choice Requires="a14">
          <p:sp>
            <p:nvSpPr>
              <p:cNvPr id="17" name="CuadroTexto 16"/>
              <p:cNvSpPr txBox="1"/>
              <p:nvPr/>
            </p:nvSpPr>
            <p:spPr>
              <a:xfrm>
                <a:off x="3512840" y="5080972"/>
                <a:ext cx="946093" cy="5203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b="0" i="1" smtClean="0">
                          <a:latin typeface="Cambria Math" panose="02040503050406030204" pitchFamily="18" charset="0"/>
                        </a:rPr>
                        <m:t>𝑐</m:t>
                      </m:r>
                      <m:r>
                        <a:rPr lang="es-PE" i="1" smtClean="0">
                          <a:latin typeface="Cambria Math" panose="02040503050406030204" pitchFamily="18" charset="0"/>
                        </a:rPr>
                        <m:t>=</m:t>
                      </m:r>
                      <m:f>
                        <m:fPr>
                          <m:ctrlPr>
                            <a:rPr lang="es-PE" i="1" smtClean="0">
                              <a:latin typeface="Cambria Math" panose="02040503050406030204" pitchFamily="18" charset="0"/>
                            </a:rPr>
                          </m:ctrlPr>
                        </m:fPr>
                        <m:num>
                          <m:r>
                            <a:rPr lang="es-PE" b="0" i="1" smtClean="0">
                              <a:latin typeface="Cambria Math" panose="02040503050406030204" pitchFamily="18" charset="0"/>
                            </a:rPr>
                            <m:t>𝑄</m:t>
                          </m:r>
                        </m:num>
                        <m:den>
                          <m:r>
                            <a:rPr lang="es-PE" b="0" i="1" smtClean="0">
                              <a:latin typeface="Cambria Math" panose="02040503050406030204" pitchFamily="18" charset="0"/>
                            </a:rPr>
                            <m:t>𝑚</m:t>
                          </m:r>
                          <m:r>
                            <a:rPr lang="es-PE" b="0" i="1" smtClean="0">
                              <a:latin typeface="Cambria Math" panose="02040503050406030204" pitchFamily="18" charset="0"/>
                              <a:ea typeface="Cambria Math" panose="02040503050406030204" pitchFamily="18" charset="0"/>
                            </a:rPr>
                            <m:t>∆</m:t>
                          </m:r>
                          <m:r>
                            <a:rPr lang="es-PE" b="0" i="1" smtClean="0">
                              <a:latin typeface="Cambria Math" panose="02040503050406030204" pitchFamily="18" charset="0"/>
                              <a:ea typeface="Cambria Math" panose="02040503050406030204" pitchFamily="18" charset="0"/>
                            </a:rPr>
                            <m:t>𝑇</m:t>
                          </m:r>
                        </m:den>
                      </m:f>
                    </m:oMath>
                  </m:oMathPara>
                </a14:m>
                <a:endParaRPr lang="es-PE" dirty="0"/>
              </a:p>
            </p:txBody>
          </p:sp>
        </mc:Choice>
        <mc:Fallback xmlns="">
          <p:sp>
            <p:nvSpPr>
              <p:cNvPr id="17" name="CuadroTexto 16"/>
              <p:cNvSpPr txBox="1">
                <a:spLocks noRot="1" noChangeAspect="1" noMove="1" noResize="1" noEditPoints="1" noAdjustHandles="1" noChangeArrowheads="1" noChangeShapeType="1" noTextEdit="1"/>
              </p:cNvSpPr>
              <p:nvPr/>
            </p:nvSpPr>
            <p:spPr>
              <a:xfrm>
                <a:off x="3512840" y="5080972"/>
                <a:ext cx="946093" cy="520399"/>
              </a:xfrm>
              <a:prstGeom prst="rect">
                <a:avLst/>
              </a:prstGeom>
              <a:blipFill rotWithShape="0">
                <a:blip r:embed="rId4"/>
                <a:stretch>
                  <a:fillRect/>
                </a:stretch>
              </a:blipFill>
            </p:spPr>
            <p:txBody>
              <a:bodyPr/>
              <a:lstStyle/>
              <a:p>
                <a:r>
                  <a:rPr lang="es-PE">
                    <a:noFill/>
                  </a:rPr>
                  <a:t> </a:t>
                </a:r>
              </a:p>
            </p:txBody>
          </p:sp>
        </mc:Fallback>
      </mc:AlternateContent>
      <p:sp>
        <p:nvSpPr>
          <p:cNvPr id="18" name="Rectángulo 17"/>
          <p:cNvSpPr/>
          <p:nvPr/>
        </p:nvSpPr>
        <p:spPr>
          <a:xfrm>
            <a:off x="453154" y="5654114"/>
            <a:ext cx="7403540" cy="830997"/>
          </a:xfrm>
          <a:prstGeom prst="rect">
            <a:avLst/>
          </a:prstGeom>
        </p:spPr>
        <p:txBody>
          <a:bodyPr wrap="square">
            <a:spAutoFit/>
          </a:bodyPr>
          <a:lstStyle/>
          <a:p>
            <a:r>
              <a:rPr lang="es-PE" sz="1600" dirty="0">
                <a:latin typeface="NewBaskerville-Roman"/>
              </a:rPr>
              <a:t>A partir de esta </a:t>
            </a:r>
            <a:r>
              <a:rPr lang="es-PE" sz="1600" dirty="0" smtClean="0">
                <a:latin typeface="NewBaskerville-Roman"/>
              </a:rPr>
              <a:t>definición, </a:t>
            </a:r>
            <a:r>
              <a:rPr lang="es-PE" sz="1600" dirty="0">
                <a:latin typeface="NewBaskerville-Roman"/>
              </a:rPr>
              <a:t>es factible relacionar la </a:t>
            </a:r>
            <a:r>
              <a:rPr lang="es-PE" sz="1600" dirty="0" smtClean="0">
                <a:latin typeface="NewBaskerville-Roman"/>
              </a:rPr>
              <a:t>energía </a:t>
            </a:r>
            <a:r>
              <a:rPr lang="es-PE" sz="1600" i="1" dirty="0">
                <a:latin typeface="NewBaskerville-Italic"/>
              </a:rPr>
              <a:t>Q </a:t>
            </a:r>
            <a:r>
              <a:rPr lang="es-PE" sz="1600" i="1" dirty="0" smtClean="0">
                <a:latin typeface="NewBaskerville-Italic"/>
              </a:rPr>
              <a:t> t</a:t>
            </a:r>
            <a:r>
              <a:rPr lang="es-PE" sz="1600" dirty="0" smtClean="0">
                <a:latin typeface="NewBaskerville-Roman"/>
              </a:rPr>
              <a:t>ransferida </a:t>
            </a:r>
            <a:r>
              <a:rPr lang="es-PE" sz="1600" dirty="0">
                <a:latin typeface="NewBaskerville-Roman"/>
              </a:rPr>
              <a:t>entre </a:t>
            </a:r>
            <a:r>
              <a:rPr lang="es-PE" sz="1600" dirty="0" smtClean="0">
                <a:latin typeface="NewBaskerville-Roman"/>
              </a:rPr>
              <a:t>una muestra </a:t>
            </a:r>
            <a:r>
              <a:rPr lang="es-PE" sz="1600" dirty="0">
                <a:latin typeface="NewBaskerville-Roman"/>
              </a:rPr>
              <a:t>de masa </a:t>
            </a:r>
            <a:r>
              <a:rPr lang="es-PE" sz="1600" i="1" dirty="0">
                <a:latin typeface="NewBaskerville-Italic"/>
              </a:rPr>
              <a:t>m </a:t>
            </a:r>
            <a:r>
              <a:rPr lang="es-PE" sz="1600" dirty="0">
                <a:latin typeface="NewBaskerville-Roman"/>
              </a:rPr>
              <a:t>de un material y </a:t>
            </a:r>
            <a:r>
              <a:rPr lang="es-PE" sz="1600" dirty="0" smtClean="0">
                <a:latin typeface="NewBaskerville-Roman"/>
              </a:rPr>
              <a:t>sus alrededores </a:t>
            </a:r>
            <a:r>
              <a:rPr lang="es-PE" sz="1600" dirty="0">
                <a:latin typeface="NewBaskerville-Roman"/>
              </a:rPr>
              <a:t>con un cambio de temperatura </a:t>
            </a:r>
            <a:r>
              <a:rPr lang="el-GR" sz="1600" dirty="0" smtClean="0">
                <a:latin typeface="NewBaskerville-Roman"/>
              </a:rPr>
              <a:t>Δ</a:t>
            </a:r>
            <a:r>
              <a:rPr lang="es-PE" sz="1600" i="1" dirty="0" smtClean="0">
                <a:latin typeface="NewBaskerville-Italic"/>
              </a:rPr>
              <a:t>T </a:t>
            </a:r>
            <a:r>
              <a:rPr lang="es-PE" sz="1600" dirty="0" smtClean="0">
                <a:latin typeface="NewBaskerville-Roman"/>
              </a:rPr>
              <a:t>como</a:t>
            </a:r>
            <a:endParaRPr lang="es-PE" sz="1600" dirty="0"/>
          </a:p>
        </p:txBody>
      </p:sp>
      <p:sp>
        <p:nvSpPr>
          <p:cNvPr id="19" name="Rectángulo 18"/>
          <p:cNvSpPr/>
          <p:nvPr/>
        </p:nvSpPr>
        <p:spPr>
          <a:xfrm>
            <a:off x="3762197" y="6300445"/>
            <a:ext cx="1286955" cy="369332"/>
          </a:xfrm>
          <a:prstGeom prst="rect">
            <a:avLst/>
          </a:prstGeom>
        </p:spPr>
        <p:txBody>
          <a:bodyPr wrap="none">
            <a:spAutoFit/>
          </a:bodyPr>
          <a:lstStyle/>
          <a:p>
            <a:r>
              <a:rPr lang="es-PE" i="1" dirty="0">
                <a:latin typeface="NewBaskerville-Italic"/>
              </a:rPr>
              <a:t>Q </a:t>
            </a:r>
            <a:r>
              <a:rPr lang="es-PE" i="1" dirty="0" smtClean="0">
                <a:latin typeface="NewBaskerville-Italic"/>
              </a:rPr>
              <a:t>= mc </a:t>
            </a:r>
            <a:r>
              <a:rPr lang="el-GR" i="1" dirty="0" smtClean="0">
                <a:latin typeface="NewBaskerville-Italic"/>
              </a:rPr>
              <a:t>Δ</a:t>
            </a:r>
            <a:r>
              <a:rPr lang="es-PE" i="1" dirty="0" smtClean="0">
                <a:latin typeface="NewBaskerville-Italic"/>
              </a:rPr>
              <a:t>T</a:t>
            </a:r>
            <a:endParaRPr lang="es-PE" dirty="0"/>
          </a:p>
        </p:txBody>
      </p:sp>
    </p:spTree>
    <p:extLst>
      <p:ext uri="{BB962C8B-B14F-4D97-AF65-F5344CB8AC3E}">
        <p14:creationId xmlns:p14="http://schemas.microsoft.com/office/powerpoint/2010/main" val="31336455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0512" y="1923441"/>
            <a:ext cx="8784976" cy="4385879"/>
          </a:xfrm>
          <a:prstGeom prst="rect">
            <a:avLst/>
          </a:prstGeom>
        </p:spPr>
      </p:pic>
      <p:sp>
        <p:nvSpPr>
          <p:cNvPr id="4" name="Rectángulo redondeado 3"/>
          <p:cNvSpPr/>
          <p:nvPr/>
        </p:nvSpPr>
        <p:spPr>
          <a:xfrm>
            <a:off x="1895836" y="1019550"/>
            <a:ext cx="2163066" cy="571401"/>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400" b="1" dirty="0" smtClean="0">
                <a:solidFill>
                  <a:schemeClr val="tx1"/>
                </a:solidFill>
              </a:rPr>
              <a:t>TABLA 13.1  </a:t>
            </a:r>
            <a:endParaRPr lang="es-PE" sz="2400" dirty="0">
              <a:solidFill>
                <a:schemeClr val="tx1"/>
              </a:solidFill>
            </a:endParaRPr>
          </a:p>
        </p:txBody>
      </p:sp>
      <p:sp>
        <p:nvSpPr>
          <p:cNvPr id="5" name="CuadroTexto 4"/>
          <p:cNvSpPr txBox="1"/>
          <p:nvPr/>
        </p:nvSpPr>
        <p:spPr>
          <a:xfrm>
            <a:off x="1907869" y="225395"/>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Tree>
    <p:extLst>
      <p:ext uri="{BB962C8B-B14F-4D97-AF65-F5344CB8AC3E}">
        <p14:creationId xmlns:p14="http://schemas.microsoft.com/office/powerpoint/2010/main" val="9834213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14" name="Rectángulo redondeado 13"/>
          <p:cNvSpPr/>
          <p:nvPr/>
        </p:nvSpPr>
        <p:spPr>
          <a:xfrm>
            <a:off x="1637806" y="720099"/>
            <a:ext cx="1907857" cy="571401"/>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400" b="1" dirty="0" smtClean="0">
                <a:solidFill>
                  <a:schemeClr val="tx1"/>
                </a:solidFill>
              </a:rPr>
              <a:t>EJEMPLOS</a:t>
            </a:r>
            <a:endParaRPr lang="es-PE" sz="2400" dirty="0">
              <a:solidFill>
                <a:schemeClr val="tx1"/>
              </a:solidFill>
            </a:endParaRPr>
          </a:p>
        </p:txBody>
      </p:sp>
      <mc:AlternateContent xmlns:mc="http://schemas.openxmlformats.org/markup-compatibility/2006" xmlns:a14="http://schemas.microsoft.com/office/drawing/2010/main">
        <mc:Choice Requires="a14">
          <p:sp>
            <p:nvSpPr>
              <p:cNvPr id="3" name="Rectángulo 2"/>
              <p:cNvSpPr/>
              <p:nvPr/>
            </p:nvSpPr>
            <p:spPr>
              <a:xfrm>
                <a:off x="344488" y="1772816"/>
                <a:ext cx="3816424" cy="2800767"/>
              </a:xfrm>
              <a:prstGeom prst="rect">
                <a:avLst/>
              </a:prstGeom>
            </p:spPr>
            <p:txBody>
              <a:bodyPr wrap="square">
                <a:spAutoFit/>
              </a:bodyPr>
              <a:lstStyle/>
              <a:p>
                <a:pPr algn="just"/>
                <a:r>
                  <a:rPr lang="es-PE" sz="1600" dirty="0" smtClean="0">
                    <a:latin typeface="Arial" panose="020B0604020202020204" pitchFamily="34" charset="0"/>
                    <a:cs typeface="Arial" panose="020B0604020202020204" pitchFamily="34" charset="0"/>
                  </a:rPr>
                  <a:t>El laser </a:t>
                </a:r>
                <a:r>
                  <a:rPr lang="es-PE" sz="1600" i="1" dirty="0">
                    <a:latin typeface="Arial" panose="020B0604020202020204" pitchFamily="34" charset="0"/>
                    <a:cs typeface="Arial" panose="020B0604020202020204" pitchFamily="34" charset="0"/>
                  </a:rPr>
                  <a:t>Nova </a:t>
                </a:r>
                <a:r>
                  <a:rPr lang="es-PE" sz="1600" dirty="0">
                    <a:latin typeface="Arial" panose="020B0604020202020204" pitchFamily="34" charset="0"/>
                    <a:cs typeface="Arial" panose="020B0604020202020204" pitchFamily="34" charset="0"/>
                  </a:rPr>
                  <a:t>en el Lawrence </a:t>
                </a:r>
                <a:r>
                  <a:rPr lang="es-PE" sz="1600" dirty="0" err="1">
                    <a:latin typeface="Arial" panose="020B0604020202020204" pitchFamily="34" charset="0"/>
                    <a:cs typeface="Arial" panose="020B0604020202020204" pitchFamily="34" charset="0"/>
                  </a:rPr>
                  <a:t>Livermore</a:t>
                </a:r>
                <a:r>
                  <a:rPr lang="es-PE" sz="1600" dirty="0">
                    <a:latin typeface="Arial" panose="020B0604020202020204" pitchFamily="34" charset="0"/>
                    <a:cs typeface="Arial" panose="020B0604020202020204" pitchFamily="34" charset="0"/>
                  </a:rPr>
                  <a:t> </a:t>
                </a:r>
                <a:r>
                  <a:rPr lang="es-PE" sz="1600" dirty="0" err="1">
                    <a:latin typeface="Arial" panose="020B0604020202020204" pitchFamily="34" charset="0"/>
                    <a:cs typeface="Arial" panose="020B0604020202020204" pitchFamily="34" charset="0"/>
                  </a:rPr>
                  <a:t>National</a:t>
                </a:r>
                <a:r>
                  <a:rPr lang="es-PE" sz="1600" dirty="0">
                    <a:latin typeface="Arial" panose="020B0604020202020204" pitchFamily="34" charset="0"/>
                    <a:cs typeface="Arial" panose="020B0604020202020204" pitchFamily="34" charset="0"/>
                  </a:rPr>
                  <a:t> </a:t>
                </a:r>
                <a:r>
                  <a:rPr lang="es-PE" sz="1600" dirty="0" err="1" smtClean="0">
                    <a:latin typeface="Arial" panose="020B0604020202020204" pitchFamily="34" charset="0"/>
                    <a:cs typeface="Arial" panose="020B0604020202020204" pitchFamily="34" charset="0"/>
                  </a:rPr>
                  <a:t>Laboratory</a:t>
                </a:r>
                <a:r>
                  <a:rPr lang="es-PE" sz="1600" dirty="0" smtClean="0">
                    <a:latin typeface="Arial" panose="020B0604020202020204" pitchFamily="34" charset="0"/>
                    <a:cs typeface="Arial" panose="020B0604020202020204" pitchFamily="34" charset="0"/>
                  </a:rPr>
                  <a:t> en </a:t>
                </a:r>
                <a:r>
                  <a:rPr lang="es-PE" sz="1600" dirty="0">
                    <a:latin typeface="Arial" panose="020B0604020202020204" pitchFamily="34" charset="0"/>
                    <a:cs typeface="Arial" panose="020B0604020202020204" pitchFamily="34" charset="0"/>
                  </a:rPr>
                  <a:t>California se uso en los primeros estudios de </a:t>
                </a:r>
                <a:r>
                  <a:rPr lang="es-PE" sz="1600" dirty="0" smtClean="0">
                    <a:latin typeface="Arial" panose="020B0604020202020204" pitchFamily="34" charset="0"/>
                    <a:cs typeface="Arial" panose="020B0604020202020204" pitchFamily="34" charset="0"/>
                  </a:rPr>
                  <a:t>inicio de fusión </a:t>
                </a:r>
                <a:r>
                  <a:rPr lang="es-PE" sz="1600" dirty="0">
                    <a:latin typeface="Arial" panose="020B0604020202020204" pitchFamily="34" charset="0"/>
                    <a:cs typeface="Arial" panose="020B0604020202020204" pitchFamily="34" charset="0"/>
                  </a:rPr>
                  <a:t>nuclear </a:t>
                </a:r>
                <a:r>
                  <a:rPr lang="es-PE" sz="1600" dirty="0" smtClean="0">
                    <a:latin typeface="Arial" panose="020B0604020202020204" pitchFamily="34" charset="0"/>
                    <a:cs typeface="Arial" panose="020B0604020202020204" pitchFamily="34" charset="0"/>
                  </a:rPr>
                  <a:t>controlada. </a:t>
                </a:r>
                <a:r>
                  <a:rPr lang="es-PE" sz="1600" dirty="0">
                    <a:latin typeface="Arial" panose="020B0604020202020204" pitchFamily="34" charset="0"/>
                    <a:cs typeface="Arial" panose="020B0604020202020204" pitchFamily="34" charset="0"/>
                  </a:rPr>
                  <a:t>Entregaba </a:t>
                </a:r>
                <a:r>
                  <a:rPr lang="es-PE" sz="1600" dirty="0" smtClean="0">
                    <a:latin typeface="Arial" panose="020B0604020202020204" pitchFamily="34" charset="0"/>
                    <a:cs typeface="Arial" panose="020B0604020202020204" pitchFamily="34" charset="0"/>
                  </a:rPr>
                  <a:t>una potencia </a:t>
                </a:r>
                <a:r>
                  <a:rPr lang="es-PE" sz="1600" dirty="0">
                    <a:latin typeface="Arial" panose="020B0604020202020204" pitchFamily="34" charset="0"/>
                    <a:cs typeface="Arial" panose="020B0604020202020204" pitchFamily="34" charset="0"/>
                  </a:rPr>
                  <a:t>de </a:t>
                </a:r>
                <a14:m>
                  <m:oMath xmlns:m="http://schemas.openxmlformats.org/officeDocument/2006/math">
                    <m:r>
                      <a:rPr lang="es-PE" sz="1600" b="0" i="1" smtClean="0">
                        <a:latin typeface="Cambria Math" panose="02040503050406030204" pitchFamily="18" charset="0"/>
                      </a:rPr>
                      <m:t>1,60</m:t>
                    </m:r>
                    <m:r>
                      <a:rPr lang="es-PE" sz="1600" b="0" i="1" smtClean="0">
                        <a:latin typeface="Cambria Math" panose="02040503050406030204" pitchFamily="18" charset="0"/>
                        <a:ea typeface="Cambria Math" panose="02040503050406030204" pitchFamily="18" charset="0"/>
                      </a:rPr>
                      <m:t>×</m:t>
                    </m:r>
                    <m:sSup>
                      <m:sSupPr>
                        <m:ctrlPr>
                          <a:rPr lang="es-PE" sz="1600" b="0" i="1" smtClean="0">
                            <a:latin typeface="Cambria Math" panose="02040503050406030204" pitchFamily="18" charset="0"/>
                            <a:ea typeface="Cambria Math" panose="02040503050406030204" pitchFamily="18" charset="0"/>
                          </a:rPr>
                        </m:ctrlPr>
                      </m:sSupPr>
                      <m:e>
                        <m:r>
                          <a:rPr lang="es-PE" sz="1600" b="0" i="1" smtClean="0">
                            <a:latin typeface="Cambria Math" panose="02040503050406030204" pitchFamily="18" charset="0"/>
                            <a:ea typeface="Cambria Math" panose="02040503050406030204" pitchFamily="18" charset="0"/>
                          </a:rPr>
                          <m:t>10</m:t>
                        </m:r>
                      </m:e>
                      <m:sup>
                        <m:r>
                          <a:rPr lang="es-PE" sz="1600" b="0" i="1" smtClean="0">
                            <a:latin typeface="Cambria Math" panose="02040503050406030204" pitchFamily="18" charset="0"/>
                            <a:ea typeface="Cambria Math" panose="02040503050406030204" pitchFamily="18" charset="0"/>
                          </a:rPr>
                          <m:t>13</m:t>
                        </m:r>
                      </m:sup>
                    </m:sSup>
                  </m:oMath>
                </a14:m>
                <a:r>
                  <a:rPr lang="es-PE" sz="1600" dirty="0" smtClean="0">
                    <a:latin typeface="Arial" panose="020B0604020202020204" pitchFamily="34" charset="0"/>
                    <a:cs typeface="Arial" panose="020B0604020202020204" pitchFamily="34" charset="0"/>
                  </a:rPr>
                  <a:t> </a:t>
                </a:r>
                <a:r>
                  <a:rPr lang="es-PE" sz="1600" dirty="0">
                    <a:latin typeface="Arial" panose="020B0604020202020204" pitchFamily="34" charset="0"/>
                    <a:cs typeface="Arial" panose="020B0604020202020204" pitchFamily="34" charset="0"/>
                  </a:rPr>
                  <a:t>W durante un intervalo de tiempo </a:t>
                </a:r>
                <a:r>
                  <a:rPr lang="es-PE" sz="1600" dirty="0" smtClean="0">
                    <a:latin typeface="Arial" panose="020B0604020202020204" pitchFamily="34" charset="0"/>
                    <a:cs typeface="Arial" panose="020B0604020202020204" pitchFamily="34" charset="0"/>
                  </a:rPr>
                  <a:t>de 2.50 </a:t>
                </a:r>
                <a:r>
                  <a:rPr lang="es-PE" sz="1600" dirty="0" err="1">
                    <a:latin typeface="Arial" panose="020B0604020202020204" pitchFamily="34" charset="0"/>
                    <a:cs typeface="Arial" panose="020B0604020202020204" pitchFamily="34" charset="0"/>
                  </a:rPr>
                  <a:t>ns</a:t>
                </a:r>
                <a:r>
                  <a:rPr lang="es-PE" sz="1600" dirty="0">
                    <a:latin typeface="Arial" panose="020B0604020202020204" pitchFamily="34" charset="0"/>
                    <a:cs typeface="Arial" panose="020B0604020202020204" pitchFamily="34" charset="0"/>
                  </a:rPr>
                  <a:t>. Explique como se compara esta salida de </a:t>
                </a:r>
                <a:r>
                  <a:rPr lang="es-PE" sz="1600" dirty="0" smtClean="0">
                    <a:latin typeface="Arial" panose="020B0604020202020204" pitchFamily="34" charset="0"/>
                    <a:cs typeface="Arial" panose="020B0604020202020204" pitchFamily="34" charset="0"/>
                  </a:rPr>
                  <a:t>energía en tal </a:t>
                </a:r>
                <a:r>
                  <a:rPr lang="es-PE" sz="1600" dirty="0">
                    <a:latin typeface="Arial" panose="020B0604020202020204" pitchFamily="34" charset="0"/>
                    <a:cs typeface="Arial" panose="020B0604020202020204" pitchFamily="34" charset="0"/>
                  </a:rPr>
                  <a:t>intervalo de tiempo, con la </a:t>
                </a:r>
                <a:r>
                  <a:rPr lang="es-PE" sz="1600" dirty="0" smtClean="0">
                    <a:latin typeface="Arial" panose="020B0604020202020204" pitchFamily="34" charset="0"/>
                    <a:cs typeface="Arial" panose="020B0604020202020204" pitchFamily="34" charset="0"/>
                  </a:rPr>
                  <a:t>energía </a:t>
                </a:r>
                <a:r>
                  <a:rPr lang="es-PE" sz="1600" dirty="0">
                    <a:latin typeface="Arial" panose="020B0604020202020204" pitchFamily="34" charset="0"/>
                    <a:cs typeface="Arial" panose="020B0604020202020204" pitchFamily="34" charset="0"/>
                  </a:rPr>
                  <a:t>requerida para </a:t>
                </a:r>
                <a:r>
                  <a:rPr lang="es-PE" sz="1600" dirty="0" smtClean="0">
                    <a:latin typeface="Arial" panose="020B0604020202020204" pitchFamily="34" charset="0"/>
                    <a:cs typeface="Arial" panose="020B0604020202020204" pitchFamily="34" charset="0"/>
                  </a:rPr>
                  <a:t>hacer una </a:t>
                </a:r>
                <a:r>
                  <a:rPr lang="es-PE" sz="1600" dirty="0">
                    <a:latin typeface="Arial" panose="020B0604020202020204" pitchFamily="34" charset="0"/>
                    <a:cs typeface="Arial" panose="020B0604020202020204" pitchFamily="34" charset="0"/>
                  </a:rPr>
                  <a:t>jarra de te calentando </a:t>
                </a:r>
                <a:r>
                  <a:rPr lang="es-PE" sz="1600" dirty="0" smtClean="0">
                    <a:latin typeface="Arial" panose="020B0604020202020204" pitchFamily="34" charset="0"/>
                    <a:cs typeface="Arial" panose="020B0604020202020204" pitchFamily="34" charset="0"/>
                  </a:rPr>
                  <a:t>0,800 </a:t>
                </a:r>
                <a:r>
                  <a:rPr lang="es-PE" sz="1600" dirty="0">
                    <a:latin typeface="Arial" panose="020B0604020202020204" pitchFamily="34" charset="0"/>
                    <a:cs typeface="Arial" panose="020B0604020202020204" pitchFamily="34" charset="0"/>
                  </a:rPr>
                  <a:t>kg de agua de </a:t>
                </a:r>
                <a:r>
                  <a:rPr lang="es-PE" sz="1600" dirty="0" smtClean="0">
                    <a:latin typeface="Arial" panose="020B0604020202020204" pitchFamily="34" charset="0"/>
                    <a:cs typeface="Arial" panose="020B0604020202020204" pitchFamily="34" charset="0"/>
                  </a:rPr>
                  <a:t>20,0°C a 100°C</a:t>
                </a:r>
                <a:r>
                  <a:rPr lang="es-PE" sz="1600" dirty="0">
                    <a:latin typeface="Arial" panose="020B0604020202020204" pitchFamily="34" charset="0"/>
                    <a:cs typeface="Arial" panose="020B0604020202020204" pitchFamily="34" charset="0"/>
                  </a:rPr>
                  <a:t>.</a:t>
                </a:r>
              </a:p>
            </p:txBody>
          </p:sp>
        </mc:Choice>
        <mc:Fallback xmlns="">
          <p:sp>
            <p:nvSpPr>
              <p:cNvPr id="3" name="Rectángulo 2"/>
              <p:cNvSpPr>
                <a:spLocks noRot="1" noChangeAspect="1" noMove="1" noResize="1" noEditPoints="1" noAdjustHandles="1" noChangeArrowheads="1" noChangeShapeType="1" noTextEdit="1"/>
              </p:cNvSpPr>
              <p:nvPr/>
            </p:nvSpPr>
            <p:spPr>
              <a:xfrm>
                <a:off x="344488" y="1772816"/>
                <a:ext cx="3816424" cy="2800767"/>
              </a:xfrm>
              <a:prstGeom prst="rect">
                <a:avLst/>
              </a:prstGeom>
              <a:blipFill rotWithShape="0">
                <a:blip r:embed="rId2"/>
                <a:stretch>
                  <a:fillRect l="-958" t="-654" r="-799" b="-1961"/>
                </a:stretch>
              </a:blipFill>
            </p:spPr>
            <p:txBody>
              <a:bodyPr/>
              <a:lstStyle/>
              <a:p>
                <a:r>
                  <a:rPr lang="es-PE">
                    <a:noFill/>
                  </a:rPr>
                  <a:t> </a:t>
                </a:r>
              </a:p>
            </p:txBody>
          </p:sp>
        </mc:Fallback>
      </mc:AlternateContent>
      <p:pic>
        <p:nvPicPr>
          <p:cNvPr id="4" name="Imagen 3"/>
          <p:cNvPicPr>
            <a:picLocks noChangeAspect="1"/>
          </p:cNvPicPr>
          <p:nvPr/>
        </p:nvPicPr>
        <p:blipFill>
          <a:blip r:embed="rId3"/>
          <a:stretch>
            <a:fillRect/>
          </a:stretch>
        </p:blipFill>
        <p:spPr>
          <a:xfrm>
            <a:off x="416496" y="4573583"/>
            <a:ext cx="2880320" cy="1994622"/>
          </a:xfrm>
          <a:prstGeom prst="rect">
            <a:avLst/>
          </a:prstGeom>
        </p:spPr>
      </p:pic>
      <p:sp>
        <p:nvSpPr>
          <p:cNvPr id="10" name="Rectángulo 9"/>
          <p:cNvSpPr/>
          <p:nvPr/>
        </p:nvSpPr>
        <p:spPr>
          <a:xfrm>
            <a:off x="4410602" y="1750699"/>
            <a:ext cx="5294926" cy="2800767"/>
          </a:xfrm>
          <a:prstGeom prst="rect">
            <a:avLst/>
          </a:prstGeom>
        </p:spPr>
        <p:txBody>
          <a:bodyPr wrap="square">
            <a:spAutoFit/>
          </a:bodyPr>
          <a:lstStyle/>
          <a:p>
            <a:pPr algn="just"/>
            <a:r>
              <a:rPr lang="es-PE" sz="1600" dirty="0">
                <a:latin typeface="Arial" panose="020B0604020202020204" pitchFamily="34" charset="0"/>
                <a:cs typeface="Arial" panose="020B0604020202020204" pitchFamily="34" charset="0"/>
              </a:rPr>
              <a:t>Un </a:t>
            </a:r>
            <a:r>
              <a:rPr lang="es-PE" sz="1600" dirty="0" smtClean="0">
                <a:latin typeface="Arial" panose="020B0604020202020204" pitchFamily="34" charset="0"/>
                <a:cs typeface="Arial" panose="020B0604020202020204" pitchFamily="34" charset="0"/>
              </a:rPr>
              <a:t>calorímetro </a:t>
            </a:r>
            <a:r>
              <a:rPr lang="es-PE" sz="1600" dirty="0">
                <a:latin typeface="Arial" panose="020B0604020202020204" pitchFamily="34" charset="0"/>
                <a:cs typeface="Arial" panose="020B0604020202020204" pitchFamily="34" charset="0"/>
              </a:rPr>
              <a:t>de aluminio, con una masa de 100 g, </a:t>
            </a:r>
            <a:r>
              <a:rPr lang="es-PE" sz="1600" dirty="0" smtClean="0">
                <a:latin typeface="Arial" panose="020B0604020202020204" pitchFamily="34" charset="0"/>
                <a:cs typeface="Arial" panose="020B0604020202020204" pitchFamily="34" charset="0"/>
              </a:rPr>
              <a:t>contiene 250 </a:t>
            </a:r>
            <a:r>
              <a:rPr lang="es-PE" sz="1600" dirty="0">
                <a:latin typeface="Arial" panose="020B0604020202020204" pitchFamily="34" charset="0"/>
                <a:cs typeface="Arial" panose="020B0604020202020204" pitchFamily="34" charset="0"/>
              </a:rPr>
              <a:t>g de agua. El </a:t>
            </a:r>
            <a:r>
              <a:rPr lang="es-PE" sz="1600" dirty="0" smtClean="0">
                <a:latin typeface="Arial" panose="020B0604020202020204" pitchFamily="34" charset="0"/>
                <a:cs typeface="Arial" panose="020B0604020202020204" pitchFamily="34" charset="0"/>
              </a:rPr>
              <a:t>calorímetro </a:t>
            </a:r>
            <a:r>
              <a:rPr lang="es-PE" sz="1600" dirty="0">
                <a:latin typeface="Arial" panose="020B0604020202020204" pitchFamily="34" charset="0"/>
                <a:cs typeface="Arial" panose="020B0604020202020204" pitchFamily="34" charset="0"/>
              </a:rPr>
              <a:t>y el agua </a:t>
            </a:r>
            <a:r>
              <a:rPr lang="es-PE" sz="1600" dirty="0" smtClean="0">
                <a:latin typeface="Arial" panose="020B0604020202020204" pitchFamily="34" charset="0"/>
                <a:cs typeface="Arial" panose="020B0604020202020204" pitchFamily="34" charset="0"/>
              </a:rPr>
              <a:t>están </a:t>
            </a:r>
            <a:r>
              <a:rPr lang="es-PE" sz="1600" dirty="0">
                <a:latin typeface="Arial" panose="020B0604020202020204" pitchFamily="34" charset="0"/>
                <a:cs typeface="Arial" panose="020B0604020202020204" pitchFamily="34" charset="0"/>
              </a:rPr>
              <a:t>en </a:t>
            </a:r>
            <a:r>
              <a:rPr lang="es-PE" sz="1600" dirty="0" smtClean="0">
                <a:latin typeface="Arial" panose="020B0604020202020204" pitchFamily="34" charset="0"/>
                <a:cs typeface="Arial" panose="020B0604020202020204" pitchFamily="34" charset="0"/>
              </a:rPr>
              <a:t>equilibrio térmico </a:t>
            </a:r>
            <a:r>
              <a:rPr lang="es-PE" sz="1600" dirty="0">
                <a:latin typeface="Arial" panose="020B0604020202020204" pitchFamily="34" charset="0"/>
                <a:cs typeface="Arial" panose="020B0604020202020204" pitchFamily="34" charset="0"/>
              </a:rPr>
              <a:t>a 10.0°C. Dos bloques </a:t>
            </a:r>
            <a:r>
              <a:rPr lang="es-PE" sz="1600" dirty="0" smtClean="0">
                <a:latin typeface="Arial" panose="020B0604020202020204" pitchFamily="34" charset="0"/>
                <a:cs typeface="Arial" panose="020B0604020202020204" pitchFamily="34" charset="0"/>
              </a:rPr>
              <a:t>metálicos </a:t>
            </a:r>
            <a:r>
              <a:rPr lang="es-PE" sz="1600" dirty="0">
                <a:latin typeface="Arial" panose="020B0604020202020204" pitchFamily="34" charset="0"/>
                <a:cs typeface="Arial" panose="020B0604020202020204" pitchFamily="34" charset="0"/>
              </a:rPr>
              <a:t>se colocan </a:t>
            </a:r>
            <a:r>
              <a:rPr lang="es-PE" sz="1600" dirty="0" smtClean="0">
                <a:latin typeface="Arial" panose="020B0604020202020204" pitchFamily="34" charset="0"/>
                <a:cs typeface="Arial" panose="020B0604020202020204" pitchFamily="34" charset="0"/>
              </a:rPr>
              <a:t>en el </a:t>
            </a:r>
            <a:r>
              <a:rPr lang="es-PE" sz="1600" dirty="0">
                <a:latin typeface="Arial" panose="020B0604020202020204" pitchFamily="34" charset="0"/>
                <a:cs typeface="Arial" panose="020B0604020202020204" pitchFamily="34" charset="0"/>
              </a:rPr>
              <a:t>agua. Uno es un trozo de cobre de 50.0 g a 80.0°C. El </a:t>
            </a:r>
            <a:r>
              <a:rPr lang="es-PE" sz="1600" dirty="0" smtClean="0">
                <a:latin typeface="Arial" panose="020B0604020202020204" pitchFamily="34" charset="0"/>
                <a:cs typeface="Arial" panose="020B0604020202020204" pitchFamily="34" charset="0"/>
              </a:rPr>
              <a:t>otro tiene </a:t>
            </a:r>
            <a:r>
              <a:rPr lang="es-PE" sz="1600" dirty="0">
                <a:latin typeface="Arial" panose="020B0604020202020204" pitchFamily="34" charset="0"/>
                <a:cs typeface="Arial" panose="020B0604020202020204" pitchFamily="34" charset="0"/>
              </a:rPr>
              <a:t>una masa de 70.0 g y originalmente esta a una </a:t>
            </a:r>
            <a:r>
              <a:rPr lang="es-PE" sz="1600" dirty="0" smtClean="0">
                <a:latin typeface="Arial" panose="020B0604020202020204" pitchFamily="34" charset="0"/>
                <a:cs typeface="Arial" panose="020B0604020202020204" pitchFamily="34" charset="0"/>
              </a:rPr>
              <a:t>temperatura de </a:t>
            </a:r>
            <a:r>
              <a:rPr lang="es-PE" sz="1600" dirty="0">
                <a:latin typeface="Arial" panose="020B0604020202020204" pitchFamily="34" charset="0"/>
                <a:cs typeface="Arial" panose="020B0604020202020204" pitchFamily="34" charset="0"/>
              </a:rPr>
              <a:t>100°C. Todo el sistema se estabiliza a </a:t>
            </a:r>
            <a:r>
              <a:rPr lang="es-PE" sz="1600" dirty="0" smtClean="0">
                <a:latin typeface="Arial" panose="020B0604020202020204" pitchFamily="34" charset="0"/>
                <a:cs typeface="Arial" panose="020B0604020202020204" pitchFamily="34" charset="0"/>
              </a:rPr>
              <a:t>una temperatura final </a:t>
            </a:r>
            <a:r>
              <a:rPr lang="es-PE" sz="1600" dirty="0">
                <a:latin typeface="Arial" panose="020B0604020202020204" pitchFamily="34" charset="0"/>
                <a:cs typeface="Arial" panose="020B0604020202020204" pitchFamily="34" charset="0"/>
              </a:rPr>
              <a:t>de 20.0°C. a) Determine el calor especifico de la </a:t>
            </a:r>
            <a:r>
              <a:rPr lang="es-PE" sz="1600" dirty="0" smtClean="0">
                <a:latin typeface="Arial" panose="020B0604020202020204" pitchFamily="34" charset="0"/>
                <a:cs typeface="Arial" panose="020B0604020202020204" pitchFamily="34" charset="0"/>
              </a:rPr>
              <a:t>muestra desconocida</a:t>
            </a:r>
            <a:r>
              <a:rPr lang="es-PE" sz="1600" dirty="0">
                <a:latin typeface="Arial" panose="020B0604020202020204" pitchFamily="34" charset="0"/>
                <a:cs typeface="Arial" panose="020B0604020202020204" pitchFamily="34" charset="0"/>
              </a:rPr>
              <a:t>. b) Con los datos de la </a:t>
            </a:r>
            <a:r>
              <a:rPr lang="es-PE" sz="1600" dirty="0" smtClean="0">
                <a:latin typeface="Arial" panose="020B0604020202020204" pitchFamily="34" charset="0"/>
                <a:cs typeface="Arial" panose="020B0604020202020204" pitchFamily="34" charset="0"/>
              </a:rPr>
              <a:t>tabla, </a:t>
            </a:r>
            <a:r>
              <a:rPr lang="es-PE" sz="1600" dirty="0">
                <a:latin typeface="Arial" panose="020B0604020202020204" pitchFamily="34" charset="0"/>
                <a:cs typeface="Arial" panose="020B0604020202020204" pitchFamily="34" charset="0"/>
              </a:rPr>
              <a:t>¿puede </a:t>
            </a:r>
            <a:r>
              <a:rPr lang="es-PE" sz="1600" dirty="0" smtClean="0">
                <a:latin typeface="Arial" panose="020B0604020202020204" pitchFamily="34" charset="0"/>
                <a:cs typeface="Arial" panose="020B0604020202020204" pitchFamily="34" charset="0"/>
              </a:rPr>
              <a:t>hacer una identificación </a:t>
            </a:r>
            <a:r>
              <a:rPr lang="es-PE" sz="1600" dirty="0">
                <a:latin typeface="Arial" panose="020B0604020202020204" pitchFamily="34" charset="0"/>
                <a:cs typeface="Arial" panose="020B0604020202020204" pitchFamily="34" charset="0"/>
              </a:rPr>
              <a:t>positiva del material desconocido? ¿</a:t>
            </a:r>
            <a:r>
              <a:rPr lang="es-PE" sz="1600" dirty="0" smtClean="0">
                <a:latin typeface="Arial" panose="020B0604020202020204" pitchFamily="34" charset="0"/>
                <a:cs typeface="Arial" panose="020B0604020202020204" pitchFamily="34" charset="0"/>
              </a:rPr>
              <a:t>Puede identificar </a:t>
            </a:r>
            <a:r>
              <a:rPr lang="es-PE" sz="1600" dirty="0">
                <a:latin typeface="Arial" panose="020B0604020202020204" pitchFamily="34" charset="0"/>
                <a:cs typeface="Arial" panose="020B0604020202020204" pitchFamily="34" charset="0"/>
              </a:rPr>
              <a:t>un material posible?</a:t>
            </a:r>
          </a:p>
        </p:txBody>
      </p:sp>
      <p:pic>
        <p:nvPicPr>
          <p:cNvPr id="11" name="Imagen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10602" y="4573583"/>
            <a:ext cx="2746801" cy="1932934"/>
          </a:xfrm>
          <a:prstGeom prst="rect">
            <a:avLst/>
          </a:prstGeom>
        </p:spPr>
      </p:pic>
    </p:spTree>
    <p:extLst>
      <p:ext uri="{BB962C8B-B14F-4D97-AF65-F5344CB8AC3E}">
        <p14:creationId xmlns:p14="http://schemas.microsoft.com/office/powerpoint/2010/main" val="10882187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6" name="Rectángulo redondeado 5"/>
          <p:cNvSpPr/>
          <p:nvPr/>
        </p:nvSpPr>
        <p:spPr>
          <a:xfrm>
            <a:off x="1640632" y="836712"/>
            <a:ext cx="5472607" cy="504056"/>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400" b="1" dirty="0" smtClean="0">
                <a:solidFill>
                  <a:schemeClr val="tx1"/>
                </a:solidFill>
              </a:rPr>
              <a:t>CAMBIOS DE ESTADO: CALOR LATENTE</a:t>
            </a:r>
            <a:endParaRPr lang="es-PE" sz="2400" b="1" dirty="0">
              <a:solidFill>
                <a:schemeClr val="tx1"/>
              </a:solidFill>
            </a:endParaRPr>
          </a:p>
        </p:txBody>
      </p:sp>
      <p:sp>
        <p:nvSpPr>
          <p:cNvPr id="3" name="Rectángulo 2"/>
          <p:cNvSpPr/>
          <p:nvPr/>
        </p:nvSpPr>
        <p:spPr>
          <a:xfrm>
            <a:off x="200472" y="1772816"/>
            <a:ext cx="4608512" cy="3046988"/>
          </a:xfrm>
          <a:prstGeom prst="rect">
            <a:avLst/>
          </a:prstGeom>
        </p:spPr>
        <p:txBody>
          <a:bodyPr wrap="square">
            <a:spAutoFit/>
          </a:bodyPr>
          <a:lstStyle/>
          <a:p>
            <a:pPr algn="just"/>
            <a:r>
              <a:rPr lang="es-PE" sz="1600" dirty="0" smtClean="0">
                <a:latin typeface="Arial" panose="020B0604020202020204" pitchFamily="34" charset="0"/>
                <a:cs typeface="Arial" panose="020B0604020202020204" pitchFamily="34" charset="0"/>
              </a:rPr>
              <a:t>En </a:t>
            </a:r>
            <a:r>
              <a:rPr lang="es-PE" sz="1600" dirty="0">
                <a:latin typeface="Arial" panose="020B0604020202020204" pitchFamily="34" charset="0"/>
                <a:cs typeface="Arial" panose="020B0604020202020204" pitchFamily="34" charset="0"/>
              </a:rPr>
              <a:t>algunas </a:t>
            </a:r>
            <a:r>
              <a:rPr lang="es-PE" sz="1600" dirty="0" smtClean="0">
                <a:latin typeface="Arial" panose="020B0604020202020204" pitchFamily="34" charset="0"/>
                <a:cs typeface="Arial" panose="020B0604020202020204" pitchFamily="34" charset="0"/>
              </a:rPr>
              <a:t>ocasiones, la </a:t>
            </a:r>
            <a:r>
              <a:rPr lang="es-PE" sz="1600" dirty="0">
                <a:latin typeface="Arial" panose="020B0604020202020204" pitchFamily="34" charset="0"/>
                <a:cs typeface="Arial" panose="020B0604020202020204" pitchFamily="34" charset="0"/>
              </a:rPr>
              <a:t>transferencia de </a:t>
            </a:r>
            <a:r>
              <a:rPr lang="es-PE" sz="1600" dirty="0" smtClean="0">
                <a:latin typeface="Arial" panose="020B0604020202020204" pitchFamily="34" charset="0"/>
                <a:cs typeface="Arial" panose="020B0604020202020204" pitchFamily="34" charset="0"/>
              </a:rPr>
              <a:t>energía </a:t>
            </a:r>
            <a:r>
              <a:rPr lang="es-PE" sz="1600" dirty="0">
                <a:latin typeface="Arial" panose="020B0604020202020204" pitchFamily="34" charset="0"/>
                <a:cs typeface="Arial" panose="020B0604020202020204" pitchFamily="34" charset="0"/>
              </a:rPr>
              <a:t>no resulta en un cambio de temperatura. Este es </a:t>
            </a:r>
            <a:r>
              <a:rPr lang="es-PE" sz="1600" dirty="0" smtClean="0">
                <a:latin typeface="Arial" panose="020B0604020202020204" pitchFamily="34" charset="0"/>
                <a:cs typeface="Arial" panose="020B0604020202020204" pitchFamily="34" charset="0"/>
              </a:rPr>
              <a:t>el caso </a:t>
            </a:r>
            <a:r>
              <a:rPr lang="es-PE" sz="1600" dirty="0">
                <a:latin typeface="Arial" panose="020B0604020202020204" pitchFamily="34" charset="0"/>
                <a:cs typeface="Arial" panose="020B0604020202020204" pitchFamily="34" charset="0"/>
              </a:rPr>
              <a:t>siempre que las </a:t>
            </a:r>
            <a:r>
              <a:rPr lang="es-PE" sz="1600" dirty="0" smtClean="0">
                <a:latin typeface="Arial" panose="020B0604020202020204" pitchFamily="34" charset="0"/>
                <a:cs typeface="Arial" panose="020B0604020202020204" pitchFamily="34" charset="0"/>
              </a:rPr>
              <a:t>características físicas </a:t>
            </a:r>
            <a:r>
              <a:rPr lang="es-PE" sz="1600" dirty="0">
                <a:latin typeface="Arial" panose="020B0604020202020204" pitchFamily="34" charset="0"/>
                <a:cs typeface="Arial" panose="020B0604020202020204" pitchFamily="34" charset="0"/>
              </a:rPr>
              <a:t>de la sustancia cambian de una forma a </a:t>
            </a:r>
            <a:r>
              <a:rPr lang="es-PE" sz="1600" dirty="0" smtClean="0">
                <a:latin typeface="Arial" panose="020B0604020202020204" pitchFamily="34" charset="0"/>
                <a:cs typeface="Arial" panose="020B0604020202020204" pitchFamily="34" charset="0"/>
              </a:rPr>
              <a:t>otra; tal </a:t>
            </a:r>
            <a:r>
              <a:rPr lang="es-PE" sz="1600" dirty="0">
                <a:latin typeface="Arial" panose="020B0604020202020204" pitchFamily="34" charset="0"/>
                <a:cs typeface="Arial" panose="020B0604020202020204" pitchFamily="34" charset="0"/>
              </a:rPr>
              <a:t>cambio se conoce </a:t>
            </a:r>
            <a:r>
              <a:rPr lang="es-PE" sz="1600" dirty="0" smtClean="0">
                <a:latin typeface="Arial" panose="020B0604020202020204" pitchFamily="34" charset="0"/>
                <a:cs typeface="Arial" panose="020B0604020202020204" pitchFamily="34" charset="0"/>
              </a:rPr>
              <a:t>comúnmente </a:t>
            </a:r>
            <a:r>
              <a:rPr lang="es-PE" sz="1600" dirty="0">
                <a:latin typeface="Arial" panose="020B0604020202020204" pitchFamily="34" charset="0"/>
                <a:cs typeface="Arial" panose="020B0604020202020204" pitchFamily="34" charset="0"/>
              </a:rPr>
              <a:t>como </a:t>
            </a:r>
            <a:r>
              <a:rPr lang="es-PE" sz="1600" b="1" dirty="0">
                <a:latin typeface="Arial" panose="020B0604020202020204" pitchFamily="34" charset="0"/>
                <a:cs typeface="Arial" panose="020B0604020202020204" pitchFamily="34" charset="0"/>
              </a:rPr>
              <a:t>cambio de fase</a:t>
            </a:r>
            <a:r>
              <a:rPr lang="es-PE" sz="1600" dirty="0">
                <a:latin typeface="Arial" panose="020B0604020202020204" pitchFamily="34" charset="0"/>
                <a:cs typeface="Arial" panose="020B0604020202020204" pitchFamily="34" charset="0"/>
              </a:rPr>
              <a:t>. Dos cambios de fase </a:t>
            </a:r>
            <a:r>
              <a:rPr lang="es-PE" sz="1600" dirty="0" smtClean="0">
                <a:latin typeface="Arial" panose="020B0604020202020204" pitchFamily="34" charset="0"/>
                <a:cs typeface="Arial" panose="020B0604020202020204" pitchFamily="34" charset="0"/>
              </a:rPr>
              <a:t>comunes son </a:t>
            </a:r>
            <a:r>
              <a:rPr lang="es-PE" sz="1600" dirty="0">
                <a:latin typeface="Arial" panose="020B0604020202020204" pitchFamily="34" charset="0"/>
                <a:cs typeface="Arial" panose="020B0604020202020204" pitchFamily="34" charset="0"/>
              </a:rPr>
              <a:t>de solido a liquido </a:t>
            </a:r>
            <a:r>
              <a:rPr lang="es-PE" sz="1600" dirty="0" smtClean="0">
                <a:latin typeface="Arial" panose="020B0604020202020204" pitchFamily="34" charset="0"/>
                <a:cs typeface="Arial" panose="020B0604020202020204" pitchFamily="34" charset="0"/>
              </a:rPr>
              <a:t>(fusión) </a:t>
            </a:r>
            <a:r>
              <a:rPr lang="es-PE" sz="1600" dirty="0">
                <a:latin typeface="Arial" panose="020B0604020202020204" pitchFamily="34" charset="0"/>
                <a:cs typeface="Arial" panose="020B0604020202020204" pitchFamily="34" charset="0"/>
              </a:rPr>
              <a:t>y de liquido a gas </a:t>
            </a:r>
            <a:r>
              <a:rPr lang="es-PE" sz="1600" dirty="0" smtClean="0">
                <a:latin typeface="Arial" panose="020B0604020202020204" pitchFamily="34" charset="0"/>
                <a:cs typeface="Arial" panose="020B0604020202020204" pitchFamily="34" charset="0"/>
              </a:rPr>
              <a:t>(ebullición); </a:t>
            </a:r>
            <a:r>
              <a:rPr lang="es-PE" sz="1600" dirty="0">
                <a:latin typeface="Arial" panose="020B0604020202020204" pitchFamily="34" charset="0"/>
                <a:cs typeface="Arial" panose="020B0604020202020204" pitchFamily="34" charset="0"/>
              </a:rPr>
              <a:t>otro es un cambio en </a:t>
            </a:r>
            <a:r>
              <a:rPr lang="es-PE" sz="1600" dirty="0" smtClean="0">
                <a:latin typeface="Arial" panose="020B0604020202020204" pitchFamily="34" charset="0"/>
                <a:cs typeface="Arial" panose="020B0604020202020204" pitchFamily="34" charset="0"/>
              </a:rPr>
              <a:t>la estructura </a:t>
            </a:r>
            <a:r>
              <a:rPr lang="es-PE" sz="1600" dirty="0">
                <a:latin typeface="Arial" panose="020B0604020202020204" pitchFamily="34" charset="0"/>
                <a:cs typeface="Arial" panose="020B0604020202020204" pitchFamily="34" charset="0"/>
              </a:rPr>
              <a:t>cristalina de un solido. Todos esos cambios de fase incluyen un cambio </a:t>
            </a:r>
            <a:r>
              <a:rPr lang="es-PE" sz="1600" dirty="0" smtClean="0">
                <a:latin typeface="Arial" panose="020B0604020202020204" pitchFamily="34" charset="0"/>
                <a:cs typeface="Arial" panose="020B0604020202020204" pitchFamily="34" charset="0"/>
              </a:rPr>
              <a:t>en la energía </a:t>
            </a:r>
            <a:r>
              <a:rPr lang="es-PE" sz="1600" dirty="0">
                <a:latin typeface="Arial" panose="020B0604020202020204" pitchFamily="34" charset="0"/>
                <a:cs typeface="Arial" panose="020B0604020202020204" pitchFamily="34" charset="0"/>
              </a:rPr>
              <a:t>interna del sistema pero no un cambio en su temperatura.</a:t>
            </a:r>
          </a:p>
        </p:txBody>
      </p:sp>
      <p:sp>
        <p:nvSpPr>
          <p:cNvPr id="4" name="Rectángulo 3"/>
          <p:cNvSpPr/>
          <p:nvPr/>
        </p:nvSpPr>
        <p:spPr>
          <a:xfrm>
            <a:off x="200472" y="4819433"/>
            <a:ext cx="4608512" cy="1908215"/>
          </a:xfrm>
          <a:prstGeom prst="rect">
            <a:avLst/>
          </a:prstGeom>
        </p:spPr>
        <p:txBody>
          <a:bodyPr wrap="square">
            <a:spAutoFit/>
          </a:bodyPr>
          <a:lstStyle/>
          <a:p>
            <a:pPr algn="just"/>
            <a:r>
              <a:rPr lang="es-PE" sz="1600" dirty="0">
                <a:latin typeface="Arial" panose="020B0604020202020204" pitchFamily="34" charset="0"/>
                <a:cs typeface="Arial" panose="020B0604020202020204" pitchFamily="34" charset="0"/>
              </a:rPr>
              <a:t>Si se requiere transferir una </a:t>
            </a:r>
            <a:r>
              <a:rPr lang="es-PE" sz="1600" dirty="0" smtClean="0">
                <a:latin typeface="Arial" panose="020B0604020202020204" pitchFamily="34" charset="0"/>
                <a:cs typeface="Arial" panose="020B0604020202020204" pitchFamily="34" charset="0"/>
              </a:rPr>
              <a:t>cantidad </a:t>
            </a:r>
            <a:r>
              <a:rPr lang="es-PE" sz="1600" i="1" dirty="0" smtClean="0">
                <a:latin typeface="Arial" panose="020B0604020202020204" pitchFamily="34" charset="0"/>
                <a:cs typeface="Arial" panose="020B0604020202020204" pitchFamily="34" charset="0"/>
              </a:rPr>
              <a:t>Q </a:t>
            </a:r>
            <a:r>
              <a:rPr lang="es-PE" sz="1600" dirty="0">
                <a:latin typeface="Arial" panose="020B0604020202020204" pitchFamily="34" charset="0"/>
                <a:cs typeface="Arial" panose="020B0604020202020204" pitchFamily="34" charset="0"/>
              </a:rPr>
              <a:t>de </a:t>
            </a:r>
            <a:r>
              <a:rPr lang="es-PE" sz="1600" dirty="0" smtClean="0">
                <a:latin typeface="Arial" panose="020B0604020202020204" pitchFamily="34" charset="0"/>
                <a:cs typeface="Arial" panose="020B0604020202020204" pitchFamily="34" charset="0"/>
              </a:rPr>
              <a:t>energía </a:t>
            </a:r>
            <a:r>
              <a:rPr lang="es-PE" sz="1600" dirty="0">
                <a:latin typeface="Arial" panose="020B0604020202020204" pitchFamily="34" charset="0"/>
                <a:cs typeface="Arial" panose="020B0604020202020204" pitchFamily="34" charset="0"/>
              </a:rPr>
              <a:t>para cambiar la fase de una masa </a:t>
            </a:r>
            <a:r>
              <a:rPr lang="es-PE" sz="1600" i="1" dirty="0">
                <a:latin typeface="Arial" panose="020B0604020202020204" pitchFamily="34" charset="0"/>
                <a:cs typeface="Arial" panose="020B0604020202020204" pitchFamily="34" charset="0"/>
              </a:rPr>
              <a:t>m </a:t>
            </a:r>
            <a:r>
              <a:rPr lang="es-PE" sz="1600" dirty="0">
                <a:latin typeface="Arial" panose="020B0604020202020204" pitchFamily="34" charset="0"/>
                <a:cs typeface="Arial" panose="020B0604020202020204" pitchFamily="34" charset="0"/>
              </a:rPr>
              <a:t>de una sustancia, el </a:t>
            </a:r>
            <a:r>
              <a:rPr lang="es-PE" sz="1600" b="1" dirty="0">
                <a:latin typeface="Arial" panose="020B0604020202020204" pitchFamily="34" charset="0"/>
                <a:cs typeface="Arial" panose="020B0604020202020204" pitchFamily="34" charset="0"/>
              </a:rPr>
              <a:t>calor latente </a:t>
            </a:r>
            <a:r>
              <a:rPr lang="es-PE" sz="1600" dirty="0">
                <a:latin typeface="Arial" panose="020B0604020202020204" pitchFamily="34" charset="0"/>
                <a:cs typeface="Arial" panose="020B0604020202020204" pitchFamily="34" charset="0"/>
              </a:rPr>
              <a:t>de </a:t>
            </a:r>
            <a:r>
              <a:rPr lang="es-PE" sz="1600" dirty="0" smtClean="0">
                <a:latin typeface="Arial" panose="020B0604020202020204" pitchFamily="34" charset="0"/>
                <a:cs typeface="Arial" panose="020B0604020202020204" pitchFamily="34" charset="0"/>
              </a:rPr>
              <a:t>la sustancia </a:t>
            </a:r>
            <a:r>
              <a:rPr lang="es-PE" sz="1600" dirty="0">
                <a:latin typeface="Arial" panose="020B0604020202020204" pitchFamily="34" charset="0"/>
                <a:cs typeface="Arial" panose="020B0604020202020204" pitchFamily="34" charset="0"/>
              </a:rPr>
              <a:t>se define </a:t>
            </a:r>
            <a:r>
              <a:rPr lang="es-PE" sz="1600" dirty="0" smtClean="0">
                <a:latin typeface="Arial" panose="020B0604020202020204" pitchFamily="34" charset="0"/>
                <a:cs typeface="Arial" panose="020B0604020202020204" pitchFamily="34" charset="0"/>
              </a:rPr>
              <a:t>como:</a:t>
            </a:r>
            <a:endParaRPr lang="es-PE" sz="1600" dirty="0">
              <a:latin typeface="Arial" panose="020B0604020202020204" pitchFamily="34" charset="0"/>
              <a:cs typeface="Arial" panose="020B0604020202020204" pitchFamily="34" charset="0"/>
            </a:endParaRPr>
          </a:p>
          <a:p>
            <a:endParaRPr lang="es-PE" i="1" dirty="0">
              <a:latin typeface="NewBaskerville-Italic"/>
            </a:endParaRPr>
          </a:p>
          <a:p>
            <a:endParaRPr lang="es-PE" i="1" dirty="0">
              <a:latin typeface="NewBaskerville-Italic"/>
            </a:endParaRPr>
          </a:p>
          <a:p>
            <a:endParaRPr lang="es-PE" dirty="0"/>
          </a:p>
        </p:txBody>
      </p:sp>
      <mc:AlternateContent xmlns:mc="http://schemas.openxmlformats.org/markup-compatibility/2006" xmlns:a14="http://schemas.microsoft.com/office/drawing/2010/main">
        <mc:Choice Requires="a14">
          <p:sp>
            <p:nvSpPr>
              <p:cNvPr id="5" name="CuadroTexto 4"/>
              <p:cNvSpPr txBox="1"/>
              <p:nvPr/>
            </p:nvSpPr>
            <p:spPr>
              <a:xfrm>
                <a:off x="2164539" y="5877272"/>
                <a:ext cx="680378" cy="5203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b="0" i="1" smtClean="0">
                          <a:latin typeface="Cambria Math" panose="02040503050406030204" pitchFamily="18" charset="0"/>
                        </a:rPr>
                        <m:t>𝐿</m:t>
                      </m:r>
                      <m:r>
                        <a:rPr lang="es-PE" i="1" smtClean="0">
                          <a:latin typeface="Cambria Math" panose="02040503050406030204" pitchFamily="18" charset="0"/>
                        </a:rPr>
                        <m:t>=</m:t>
                      </m:r>
                      <m:f>
                        <m:fPr>
                          <m:ctrlPr>
                            <a:rPr lang="es-PE" i="1" smtClean="0">
                              <a:latin typeface="Cambria Math" panose="02040503050406030204" pitchFamily="18" charset="0"/>
                            </a:rPr>
                          </m:ctrlPr>
                        </m:fPr>
                        <m:num>
                          <m:r>
                            <a:rPr lang="es-PE" b="0" i="1" smtClean="0">
                              <a:latin typeface="Cambria Math" panose="02040503050406030204" pitchFamily="18" charset="0"/>
                            </a:rPr>
                            <m:t>𝑄</m:t>
                          </m:r>
                        </m:num>
                        <m:den>
                          <m:r>
                            <a:rPr lang="es-PE" b="0" i="1" smtClean="0">
                              <a:latin typeface="Cambria Math" panose="02040503050406030204" pitchFamily="18" charset="0"/>
                            </a:rPr>
                            <m:t>𝑚</m:t>
                          </m:r>
                        </m:den>
                      </m:f>
                    </m:oMath>
                  </m:oMathPara>
                </a14:m>
                <a:endParaRPr lang="es-PE" dirty="0"/>
              </a:p>
            </p:txBody>
          </p:sp>
        </mc:Choice>
        <mc:Fallback xmlns="">
          <p:sp>
            <p:nvSpPr>
              <p:cNvPr id="5" name="CuadroTexto 4"/>
              <p:cNvSpPr txBox="1">
                <a:spLocks noRot="1" noChangeAspect="1" noMove="1" noResize="1" noEditPoints="1" noAdjustHandles="1" noChangeArrowheads="1" noChangeShapeType="1" noTextEdit="1"/>
              </p:cNvSpPr>
              <p:nvPr/>
            </p:nvSpPr>
            <p:spPr>
              <a:xfrm>
                <a:off x="2164539" y="5877272"/>
                <a:ext cx="680378" cy="520399"/>
              </a:xfrm>
              <a:prstGeom prst="rect">
                <a:avLst/>
              </a:prstGeom>
              <a:blipFill rotWithShape="0">
                <a:blip r:embed="rId2"/>
                <a:stretch>
                  <a:fillRect/>
                </a:stretch>
              </a:blipFill>
            </p:spPr>
            <p:txBody>
              <a:bodyPr/>
              <a:lstStyle/>
              <a:p>
                <a:r>
                  <a:rPr lang="es-PE">
                    <a:noFill/>
                  </a:rPr>
                  <a:t> </a:t>
                </a:r>
              </a:p>
            </p:txBody>
          </p:sp>
        </mc:Fallback>
      </mc:AlternateContent>
      <p:sp>
        <p:nvSpPr>
          <p:cNvPr id="7" name="Rectángulo 6"/>
          <p:cNvSpPr/>
          <p:nvPr/>
        </p:nvSpPr>
        <p:spPr>
          <a:xfrm>
            <a:off x="5056052" y="1772816"/>
            <a:ext cx="4536504" cy="1323439"/>
          </a:xfrm>
          <a:prstGeom prst="rect">
            <a:avLst/>
          </a:prstGeom>
        </p:spPr>
        <p:txBody>
          <a:bodyPr wrap="square">
            <a:spAutoFit/>
          </a:bodyPr>
          <a:lstStyle/>
          <a:p>
            <a:pPr algn="just"/>
            <a:r>
              <a:rPr lang="es-PE" sz="1600" dirty="0">
                <a:latin typeface="Arial" panose="020B0604020202020204" pitchFamily="34" charset="0"/>
                <a:cs typeface="Arial" panose="020B0604020202020204" pitchFamily="34" charset="0"/>
              </a:rPr>
              <a:t>A partir de la </a:t>
            </a:r>
            <a:r>
              <a:rPr lang="es-PE" sz="1600" dirty="0" smtClean="0">
                <a:latin typeface="Arial" panose="020B0604020202020204" pitchFamily="34" charset="0"/>
                <a:cs typeface="Arial" panose="020B0604020202020204" pitchFamily="34" charset="0"/>
              </a:rPr>
              <a:t>definición </a:t>
            </a:r>
            <a:r>
              <a:rPr lang="es-PE" sz="1600" dirty="0">
                <a:latin typeface="Arial" panose="020B0604020202020204" pitchFamily="34" charset="0"/>
                <a:cs typeface="Arial" panose="020B0604020202020204" pitchFamily="34" charset="0"/>
              </a:rPr>
              <a:t>de calor latente, y de nuevo al elegir el calor como el </a:t>
            </a:r>
            <a:r>
              <a:rPr lang="es-PE" sz="1600" dirty="0" smtClean="0">
                <a:latin typeface="Arial" panose="020B0604020202020204" pitchFamily="34" charset="0"/>
                <a:cs typeface="Arial" panose="020B0604020202020204" pitchFamily="34" charset="0"/>
              </a:rPr>
              <a:t>mecanismo de </a:t>
            </a:r>
            <a:r>
              <a:rPr lang="es-PE" sz="1600" dirty="0">
                <a:latin typeface="Arial" panose="020B0604020202020204" pitchFamily="34" charset="0"/>
                <a:cs typeface="Arial" panose="020B0604020202020204" pitchFamily="34" charset="0"/>
              </a:rPr>
              <a:t>transferencia de </a:t>
            </a:r>
            <a:r>
              <a:rPr lang="es-PE" sz="1600" dirty="0" smtClean="0">
                <a:latin typeface="Arial" panose="020B0604020202020204" pitchFamily="34" charset="0"/>
                <a:cs typeface="Arial" panose="020B0604020202020204" pitchFamily="34" charset="0"/>
              </a:rPr>
              <a:t>energía, </a:t>
            </a:r>
            <a:r>
              <a:rPr lang="es-PE" sz="1600" dirty="0">
                <a:latin typeface="Arial" panose="020B0604020202020204" pitchFamily="34" charset="0"/>
                <a:cs typeface="Arial" panose="020B0604020202020204" pitchFamily="34" charset="0"/>
              </a:rPr>
              <a:t>la </a:t>
            </a:r>
            <a:r>
              <a:rPr lang="es-PE" sz="1600" dirty="0" smtClean="0">
                <a:latin typeface="Arial" panose="020B0604020202020204" pitchFamily="34" charset="0"/>
                <a:cs typeface="Arial" panose="020B0604020202020204" pitchFamily="34" charset="0"/>
              </a:rPr>
              <a:t>energía </a:t>
            </a:r>
            <a:r>
              <a:rPr lang="es-PE" sz="1600" dirty="0">
                <a:latin typeface="Arial" panose="020B0604020202020204" pitchFamily="34" charset="0"/>
                <a:cs typeface="Arial" panose="020B0604020202020204" pitchFamily="34" charset="0"/>
              </a:rPr>
              <a:t>requerida para cambiar la fase de una </a:t>
            </a:r>
            <a:r>
              <a:rPr lang="es-PE" sz="1600" dirty="0" smtClean="0">
                <a:latin typeface="Arial" panose="020B0604020202020204" pitchFamily="34" charset="0"/>
                <a:cs typeface="Arial" panose="020B0604020202020204" pitchFamily="34" charset="0"/>
              </a:rPr>
              <a:t>masa dada </a:t>
            </a:r>
            <a:r>
              <a:rPr lang="es-PE" sz="1600" i="1" dirty="0">
                <a:latin typeface="Arial" panose="020B0604020202020204" pitchFamily="34" charset="0"/>
                <a:cs typeface="Arial" panose="020B0604020202020204" pitchFamily="34" charset="0"/>
              </a:rPr>
              <a:t>m </a:t>
            </a:r>
            <a:r>
              <a:rPr lang="es-PE" sz="1600" dirty="0">
                <a:latin typeface="Arial" panose="020B0604020202020204" pitchFamily="34" charset="0"/>
                <a:cs typeface="Arial" panose="020B0604020202020204" pitchFamily="34" charset="0"/>
              </a:rPr>
              <a:t>de una sustancia pura es</a:t>
            </a:r>
          </a:p>
        </p:txBody>
      </p:sp>
      <mc:AlternateContent xmlns:mc="http://schemas.openxmlformats.org/markup-compatibility/2006" xmlns:a14="http://schemas.microsoft.com/office/drawing/2010/main">
        <mc:Choice Requires="a14">
          <p:sp>
            <p:nvSpPr>
              <p:cNvPr id="9" name="CuadroTexto 8"/>
              <p:cNvSpPr txBox="1"/>
              <p:nvPr/>
            </p:nvSpPr>
            <p:spPr>
              <a:xfrm>
                <a:off x="6691740" y="3285930"/>
                <a:ext cx="83862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b="0" i="1" smtClean="0">
                          <a:latin typeface="Cambria Math" panose="02040503050406030204" pitchFamily="18" charset="0"/>
                        </a:rPr>
                        <m:t>𝑄</m:t>
                      </m:r>
                      <m:r>
                        <a:rPr lang="es-PE" i="1" smtClean="0">
                          <a:latin typeface="Cambria Math" panose="02040503050406030204" pitchFamily="18" charset="0"/>
                        </a:rPr>
                        <m:t>=</m:t>
                      </m:r>
                      <m:r>
                        <a:rPr lang="es-PE" b="0" i="1" smtClean="0">
                          <a:latin typeface="Cambria Math" panose="02040503050406030204" pitchFamily="18" charset="0"/>
                        </a:rPr>
                        <m:t>𝑚𝐿</m:t>
                      </m:r>
                    </m:oMath>
                  </m:oMathPara>
                </a14:m>
                <a:endParaRPr lang="es-PE" dirty="0"/>
              </a:p>
            </p:txBody>
          </p:sp>
        </mc:Choice>
        <mc:Fallback xmlns="">
          <p:sp>
            <p:nvSpPr>
              <p:cNvPr id="9" name="CuadroTexto 8"/>
              <p:cNvSpPr txBox="1">
                <a:spLocks noRot="1" noChangeAspect="1" noMove="1" noResize="1" noEditPoints="1" noAdjustHandles="1" noChangeArrowheads="1" noChangeShapeType="1" noTextEdit="1"/>
              </p:cNvSpPr>
              <p:nvPr/>
            </p:nvSpPr>
            <p:spPr>
              <a:xfrm>
                <a:off x="6691740" y="3285930"/>
                <a:ext cx="838627" cy="276999"/>
              </a:xfrm>
              <a:prstGeom prst="rect">
                <a:avLst/>
              </a:prstGeom>
              <a:blipFill rotWithShape="0">
                <a:blip r:embed="rId3"/>
                <a:stretch>
                  <a:fillRect l="-8759" r="-5839" b="-31111"/>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10" name="Rectángulo 9"/>
              <p:cNvSpPr/>
              <p:nvPr/>
            </p:nvSpPr>
            <p:spPr>
              <a:xfrm>
                <a:off x="4953000" y="3752604"/>
                <a:ext cx="4639556" cy="1604222"/>
              </a:xfrm>
              <a:prstGeom prst="rect">
                <a:avLst/>
              </a:prstGeom>
            </p:spPr>
            <p:txBody>
              <a:bodyPr wrap="square">
                <a:spAutoFit/>
              </a:bodyPr>
              <a:lstStyle/>
              <a:p>
                <a:pPr algn="just"/>
                <a:r>
                  <a:rPr lang="es-PE" sz="1600" b="1" dirty="0" smtClean="0">
                    <a:latin typeface="Arial" panose="020B0604020202020204" pitchFamily="34" charset="0"/>
                    <a:cs typeface="Arial" panose="020B0604020202020204" pitchFamily="34" charset="0"/>
                  </a:rPr>
                  <a:t>Calor latente de fusión </a:t>
                </a:r>
                <a14:m>
                  <m:oMath xmlns:m="http://schemas.openxmlformats.org/officeDocument/2006/math">
                    <m:sSub>
                      <m:sSubPr>
                        <m:ctrlPr>
                          <a:rPr lang="es-PE" sz="1600" b="1" i="1" smtClean="0">
                            <a:latin typeface="Cambria Math" panose="02040503050406030204" pitchFamily="18" charset="0"/>
                            <a:cs typeface="Arial" panose="020B0604020202020204" pitchFamily="34" charset="0"/>
                          </a:rPr>
                        </m:ctrlPr>
                      </m:sSubPr>
                      <m:e>
                        <m:r>
                          <a:rPr lang="es-PE" sz="1600" b="1" i="1" smtClean="0">
                            <a:latin typeface="Cambria Math" panose="02040503050406030204" pitchFamily="18" charset="0"/>
                            <a:cs typeface="Arial" panose="020B0604020202020204" pitchFamily="34" charset="0"/>
                          </a:rPr>
                          <m:t>𝑳</m:t>
                        </m:r>
                      </m:e>
                      <m:sub>
                        <m:r>
                          <a:rPr lang="es-PE" sz="1600" b="1" i="1" smtClean="0">
                            <a:latin typeface="Cambria Math" panose="02040503050406030204" pitchFamily="18" charset="0"/>
                            <a:cs typeface="Arial" panose="020B0604020202020204" pitchFamily="34" charset="0"/>
                          </a:rPr>
                          <m:t>𝒇</m:t>
                        </m:r>
                      </m:sub>
                    </m:sSub>
                  </m:oMath>
                </a14:m>
                <a:r>
                  <a:rPr lang="es-PE" sz="1600" dirty="0" smtClean="0">
                    <a:latin typeface="Arial" panose="020B0604020202020204" pitchFamily="34" charset="0"/>
                    <a:cs typeface="Arial" panose="020B0604020202020204" pitchFamily="34" charset="0"/>
                  </a:rPr>
                  <a:t> es </a:t>
                </a:r>
                <a:r>
                  <a:rPr lang="es-PE" sz="1600" dirty="0">
                    <a:latin typeface="Arial" panose="020B0604020202020204" pitchFamily="34" charset="0"/>
                    <a:cs typeface="Arial" panose="020B0604020202020204" pitchFamily="34" charset="0"/>
                  </a:rPr>
                  <a:t>el termino que se aplica cuando el cambio de fase es de </a:t>
                </a:r>
                <a:r>
                  <a:rPr lang="es-PE" sz="1600" dirty="0" smtClean="0">
                    <a:latin typeface="Arial" panose="020B0604020202020204" pitchFamily="34" charset="0"/>
                    <a:cs typeface="Arial" panose="020B0604020202020204" pitchFamily="34" charset="0"/>
                  </a:rPr>
                  <a:t>solido a </a:t>
                </a:r>
                <a:r>
                  <a:rPr lang="es-PE" sz="1600" dirty="0">
                    <a:latin typeface="Arial" panose="020B0604020202020204" pitchFamily="34" charset="0"/>
                    <a:cs typeface="Arial" panose="020B0604020202020204" pitchFamily="34" charset="0"/>
                  </a:rPr>
                  <a:t>liquido (</a:t>
                </a:r>
                <a:r>
                  <a:rPr lang="es-PE" sz="1600" i="1" dirty="0">
                    <a:latin typeface="Arial" panose="020B0604020202020204" pitchFamily="34" charset="0"/>
                    <a:cs typeface="Arial" panose="020B0604020202020204" pitchFamily="34" charset="0"/>
                  </a:rPr>
                  <a:t>derretir </a:t>
                </a:r>
                <a:r>
                  <a:rPr lang="es-PE" sz="1600" dirty="0">
                    <a:latin typeface="Arial" panose="020B0604020202020204" pitchFamily="34" charset="0"/>
                    <a:cs typeface="Arial" panose="020B0604020202020204" pitchFamily="34" charset="0"/>
                  </a:rPr>
                  <a:t>significa “combinar mediante </a:t>
                </a:r>
                <a:r>
                  <a:rPr lang="es-PE" sz="1600" dirty="0" err="1">
                    <a:latin typeface="Arial" panose="020B0604020202020204" pitchFamily="34" charset="0"/>
                    <a:cs typeface="Arial" panose="020B0604020202020204" pitchFamily="34" charset="0"/>
                  </a:rPr>
                  <a:t>fusion</a:t>
                </a:r>
                <a:r>
                  <a:rPr lang="es-PE" sz="1600" dirty="0">
                    <a:latin typeface="Arial" panose="020B0604020202020204" pitchFamily="34" charset="0"/>
                    <a:cs typeface="Arial" panose="020B0604020202020204" pitchFamily="34" charset="0"/>
                  </a:rPr>
                  <a:t>”), y </a:t>
                </a:r>
                <a:r>
                  <a:rPr lang="es-PE" sz="1600" b="1" dirty="0">
                    <a:latin typeface="Arial" panose="020B0604020202020204" pitchFamily="34" charset="0"/>
                    <a:cs typeface="Arial" panose="020B0604020202020204" pitchFamily="34" charset="0"/>
                  </a:rPr>
                  <a:t>calor latente de </a:t>
                </a:r>
                <a:r>
                  <a:rPr lang="es-PE" sz="1600" b="1" dirty="0" smtClean="0">
                    <a:latin typeface="Arial" panose="020B0604020202020204" pitchFamily="34" charset="0"/>
                    <a:cs typeface="Arial" panose="020B0604020202020204" pitchFamily="34" charset="0"/>
                  </a:rPr>
                  <a:t>vaporización </a:t>
                </a:r>
                <a14:m>
                  <m:oMath xmlns:m="http://schemas.openxmlformats.org/officeDocument/2006/math">
                    <m:sSub>
                      <m:sSubPr>
                        <m:ctrlPr>
                          <a:rPr lang="es-PE" sz="1600" b="1" i="1">
                            <a:latin typeface="Cambria Math" panose="02040503050406030204" pitchFamily="18" charset="0"/>
                            <a:cs typeface="Arial" panose="020B0604020202020204" pitchFamily="34" charset="0"/>
                          </a:rPr>
                        </m:ctrlPr>
                      </m:sSubPr>
                      <m:e>
                        <m:r>
                          <a:rPr lang="es-PE" sz="1600" b="1" i="1">
                            <a:latin typeface="Cambria Math" panose="02040503050406030204" pitchFamily="18" charset="0"/>
                            <a:cs typeface="Arial" panose="020B0604020202020204" pitchFamily="34" charset="0"/>
                          </a:rPr>
                          <m:t>𝑳</m:t>
                        </m:r>
                      </m:e>
                      <m:sub>
                        <m:r>
                          <a:rPr lang="es-PE" sz="1600" b="1" i="1" smtClean="0">
                            <a:latin typeface="Cambria Math" panose="02040503050406030204" pitchFamily="18" charset="0"/>
                            <a:cs typeface="Arial" panose="020B0604020202020204" pitchFamily="34" charset="0"/>
                          </a:rPr>
                          <m:t>𝒗</m:t>
                        </m:r>
                      </m:sub>
                    </m:sSub>
                  </m:oMath>
                </a14:m>
                <a:r>
                  <a:rPr lang="es-PE" sz="1600" b="1" dirty="0" smtClean="0">
                    <a:latin typeface="Arial" panose="020B0604020202020204" pitchFamily="34" charset="0"/>
                    <a:cs typeface="Arial" panose="020B0604020202020204" pitchFamily="34" charset="0"/>
                  </a:rPr>
                  <a:t> </a:t>
                </a:r>
                <a:r>
                  <a:rPr lang="es-PE" sz="1600" dirty="0" smtClean="0">
                    <a:latin typeface="Arial" panose="020B0604020202020204" pitchFamily="34" charset="0"/>
                    <a:cs typeface="Arial" panose="020B0604020202020204" pitchFamily="34" charset="0"/>
                  </a:rPr>
                  <a:t>es </a:t>
                </a:r>
                <a:r>
                  <a:rPr lang="es-PE" sz="1600" dirty="0">
                    <a:latin typeface="Arial" panose="020B0604020202020204" pitchFamily="34" charset="0"/>
                    <a:cs typeface="Arial" panose="020B0604020202020204" pitchFamily="34" charset="0"/>
                  </a:rPr>
                  <a:t>el termino que se usa cuando el cambio de fase es de liquido a gas (el liquido </a:t>
                </a:r>
                <a:r>
                  <a:rPr lang="es-PE" sz="1600" dirty="0" smtClean="0">
                    <a:latin typeface="Arial" panose="020B0604020202020204" pitchFamily="34" charset="0"/>
                    <a:cs typeface="Arial" panose="020B0604020202020204" pitchFamily="34" charset="0"/>
                  </a:rPr>
                  <a:t>se “vaporiza</a:t>
                </a:r>
                <a:r>
                  <a:rPr lang="es-PE" sz="1600" dirty="0">
                    <a:latin typeface="Arial" panose="020B0604020202020204" pitchFamily="34" charset="0"/>
                    <a:cs typeface="Arial" panose="020B0604020202020204" pitchFamily="34" charset="0"/>
                  </a:rPr>
                  <a:t>”)</a:t>
                </a:r>
              </a:p>
            </p:txBody>
          </p:sp>
        </mc:Choice>
        <mc:Fallback xmlns="">
          <p:sp>
            <p:nvSpPr>
              <p:cNvPr id="10" name="Rectángulo 9"/>
              <p:cNvSpPr>
                <a:spLocks noRot="1" noChangeAspect="1" noMove="1" noResize="1" noEditPoints="1" noAdjustHandles="1" noChangeArrowheads="1" noChangeShapeType="1" noTextEdit="1"/>
              </p:cNvSpPr>
              <p:nvPr/>
            </p:nvSpPr>
            <p:spPr>
              <a:xfrm>
                <a:off x="4953000" y="3752604"/>
                <a:ext cx="4639556" cy="1604222"/>
              </a:xfrm>
              <a:prstGeom prst="rect">
                <a:avLst/>
              </a:prstGeom>
              <a:blipFill rotWithShape="0">
                <a:blip r:embed="rId4"/>
                <a:stretch>
                  <a:fillRect l="-788" t="-1141" r="-657" b="-3422"/>
                </a:stretch>
              </a:blipFill>
            </p:spPr>
            <p:txBody>
              <a:bodyPr/>
              <a:lstStyle/>
              <a:p>
                <a:r>
                  <a:rPr lang="es-PE">
                    <a:noFill/>
                  </a:rPr>
                  <a:t> </a:t>
                </a:r>
              </a:p>
            </p:txBody>
          </p:sp>
        </mc:Fallback>
      </mc:AlternateContent>
    </p:spTree>
    <p:extLst>
      <p:ext uri="{BB962C8B-B14F-4D97-AF65-F5344CB8AC3E}">
        <p14:creationId xmlns:p14="http://schemas.microsoft.com/office/powerpoint/2010/main" val="34584631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6" name="Rectángulo redondeado 5"/>
          <p:cNvSpPr/>
          <p:nvPr/>
        </p:nvSpPr>
        <p:spPr>
          <a:xfrm>
            <a:off x="1640633" y="980728"/>
            <a:ext cx="1872207" cy="504056"/>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400" b="1" dirty="0" smtClean="0">
                <a:solidFill>
                  <a:schemeClr val="tx1"/>
                </a:solidFill>
              </a:rPr>
              <a:t>TABLA 13.2</a:t>
            </a:r>
            <a:endParaRPr lang="es-PE" sz="2400" b="1" dirty="0">
              <a:solidFill>
                <a:schemeClr val="tx1"/>
              </a:solidFill>
            </a:endParaRPr>
          </a:p>
        </p:txBody>
      </p:sp>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4528" y="1909710"/>
            <a:ext cx="8429102" cy="4438729"/>
          </a:xfrm>
          <a:prstGeom prst="rect">
            <a:avLst/>
          </a:prstGeom>
        </p:spPr>
      </p:pic>
    </p:spTree>
    <p:extLst>
      <p:ext uri="{BB962C8B-B14F-4D97-AF65-F5344CB8AC3E}">
        <p14:creationId xmlns:p14="http://schemas.microsoft.com/office/powerpoint/2010/main" val="306726331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6" name="Rectángulo redondeado 5"/>
          <p:cNvSpPr/>
          <p:nvPr/>
        </p:nvSpPr>
        <p:spPr>
          <a:xfrm>
            <a:off x="1568625" y="836712"/>
            <a:ext cx="3312367" cy="504056"/>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400" b="1" dirty="0" smtClean="0">
                <a:solidFill>
                  <a:schemeClr val="tx1"/>
                </a:solidFill>
              </a:rPr>
              <a:t>CAMBIOS DE FASE</a:t>
            </a:r>
            <a:endParaRPr lang="es-PE" sz="2400" b="1" dirty="0">
              <a:solidFill>
                <a:schemeClr val="tx1"/>
              </a:solidFill>
            </a:endParaRPr>
          </a:p>
        </p:txBody>
      </p:sp>
      <p:sp>
        <p:nvSpPr>
          <p:cNvPr id="4" name="Rectángulo 3"/>
          <p:cNvSpPr/>
          <p:nvPr/>
        </p:nvSpPr>
        <p:spPr>
          <a:xfrm>
            <a:off x="560512" y="1844824"/>
            <a:ext cx="8784976" cy="1354217"/>
          </a:xfrm>
          <a:prstGeom prst="rect">
            <a:avLst/>
          </a:prstGeom>
        </p:spPr>
        <p:txBody>
          <a:bodyPr wrap="square">
            <a:spAutoFit/>
          </a:bodyPr>
          <a:lstStyle/>
          <a:p>
            <a:pPr algn="just"/>
            <a:r>
              <a:rPr lang="es-PE" sz="1600" dirty="0">
                <a:latin typeface="Arial" panose="020B0604020202020204" pitchFamily="34" charset="0"/>
                <a:cs typeface="Arial" panose="020B0604020202020204" pitchFamily="34" charset="0"/>
              </a:rPr>
              <a:t>Para entender el papel del calor latente en los cambios de fase, considere la </a:t>
            </a:r>
            <a:r>
              <a:rPr lang="es-PE" sz="1600" dirty="0" smtClean="0">
                <a:latin typeface="Arial" panose="020B0604020202020204" pitchFamily="34" charset="0"/>
                <a:cs typeface="Arial" panose="020B0604020202020204" pitchFamily="34" charset="0"/>
              </a:rPr>
              <a:t>energía requerida </a:t>
            </a:r>
            <a:r>
              <a:rPr lang="es-PE" sz="1600" dirty="0">
                <a:latin typeface="Arial" panose="020B0604020202020204" pitchFamily="34" charset="0"/>
                <a:cs typeface="Arial" panose="020B0604020202020204" pitchFamily="34" charset="0"/>
              </a:rPr>
              <a:t>para convertir un cubo de hielo de </a:t>
            </a:r>
            <a:r>
              <a:rPr lang="es-PE" sz="1600" dirty="0" smtClean="0">
                <a:latin typeface="Arial" panose="020B0604020202020204" pitchFamily="34" charset="0"/>
                <a:cs typeface="Arial" panose="020B0604020202020204" pitchFamily="34" charset="0"/>
              </a:rPr>
              <a:t>1,00 </a:t>
            </a:r>
            <a:r>
              <a:rPr lang="es-PE" sz="1600" dirty="0">
                <a:latin typeface="Arial" panose="020B0604020202020204" pitchFamily="34" charset="0"/>
                <a:cs typeface="Arial" panose="020B0604020202020204" pitchFamily="34" charset="0"/>
              </a:rPr>
              <a:t>g de </a:t>
            </a:r>
            <a:r>
              <a:rPr lang="es-PE" sz="1600" dirty="0" smtClean="0">
                <a:latin typeface="Arial" panose="020B0604020202020204" pitchFamily="34" charset="0"/>
                <a:cs typeface="Arial" panose="020B0604020202020204" pitchFamily="34" charset="0"/>
              </a:rPr>
              <a:t>-30,0°C </a:t>
            </a:r>
            <a:r>
              <a:rPr lang="es-PE" sz="1600" dirty="0">
                <a:latin typeface="Arial" panose="020B0604020202020204" pitchFamily="34" charset="0"/>
                <a:cs typeface="Arial" panose="020B0604020202020204" pitchFamily="34" charset="0"/>
              </a:rPr>
              <a:t>a vapor a </a:t>
            </a:r>
            <a:r>
              <a:rPr lang="es-PE" sz="1600" dirty="0" smtClean="0">
                <a:latin typeface="Arial" panose="020B0604020202020204" pitchFamily="34" charset="0"/>
                <a:cs typeface="Arial" panose="020B0604020202020204" pitchFamily="34" charset="0"/>
              </a:rPr>
              <a:t>120°C</a:t>
            </a:r>
            <a:r>
              <a:rPr lang="es-PE" sz="1600" dirty="0">
                <a:latin typeface="Arial" panose="020B0604020202020204" pitchFamily="34" charset="0"/>
                <a:cs typeface="Arial" panose="020B0604020202020204" pitchFamily="34" charset="0"/>
              </a:rPr>
              <a:t>. </a:t>
            </a:r>
            <a:r>
              <a:rPr lang="es-PE" sz="1600" dirty="0" smtClean="0">
                <a:latin typeface="Arial" panose="020B0604020202020204" pitchFamily="34" charset="0"/>
                <a:cs typeface="Arial" panose="020B0604020202020204" pitchFamily="34" charset="0"/>
              </a:rPr>
              <a:t>La figura </a:t>
            </a:r>
            <a:r>
              <a:rPr lang="es-PE" sz="1600" dirty="0">
                <a:latin typeface="Arial" panose="020B0604020202020204" pitchFamily="34" charset="0"/>
                <a:cs typeface="Arial" panose="020B0604020202020204" pitchFamily="34" charset="0"/>
              </a:rPr>
              <a:t>indica los resultados experimentales obtenidos cuando al cubo se le </a:t>
            </a:r>
            <a:r>
              <a:rPr lang="es-PE" sz="1600" dirty="0" smtClean="0">
                <a:latin typeface="Arial" panose="020B0604020202020204" pitchFamily="34" charset="0"/>
                <a:cs typeface="Arial" panose="020B0604020202020204" pitchFamily="34" charset="0"/>
              </a:rPr>
              <a:t>agrega gradualmente energía. </a:t>
            </a:r>
            <a:r>
              <a:rPr lang="es-PE" sz="1600" dirty="0">
                <a:latin typeface="Arial" panose="020B0604020202020204" pitchFamily="34" charset="0"/>
                <a:cs typeface="Arial" panose="020B0604020202020204" pitchFamily="34" charset="0"/>
              </a:rPr>
              <a:t>Los resultados se presentan como una grafica de temperatura </a:t>
            </a:r>
            <a:r>
              <a:rPr lang="es-PE" sz="1600" dirty="0" smtClean="0">
                <a:latin typeface="Arial" panose="020B0604020202020204" pitchFamily="34" charset="0"/>
                <a:cs typeface="Arial" panose="020B0604020202020204" pitchFamily="34" charset="0"/>
              </a:rPr>
              <a:t>del sistema </a:t>
            </a:r>
            <a:r>
              <a:rPr lang="es-PE" sz="1600" dirty="0">
                <a:latin typeface="Arial" panose="020B0604020202020204" pitchFamily="34" charset="0"/>
                <a:cs typeface="Arial" panose="020B0604020202020204" pitchFamily="34" charset="0"/>
              </a:rPr>
              <a:t>del cubo de hielo con la </a:t>
            </a:r>
            <a:r>
              <a:rPr lang="es-PE" sz="1600" dirty="0" smtClean="0">
                <a:latin typeface="Arial" panose="020B0604020202020204" pitchFamily="34" charset="0"/>
                <a:cs typeface="Arial" panose="020B0604020202020204" pitchFamily="34" charset="0"/>
              </a:rPr>
              <a:t>energía </a:t>
            </a:r>
            <a:r>
              <a:rPr lang="es-PE" sz="1600" dirty="0">
                <a:latin typeface="Arial" panose="020B0604020202020204" pitchFamily="34" charset="0"/>
                <a:cs typeface="Arial" panose="020B0604020202020204" pitchFamily="34" charset="0"/>
              </a:rPr>
              <a:t>agregada al sistema. Examine cada </a:t>
            </a:r>
            <a:r>
              <a:rPr lang="es-PE" sz="1600" dirty="0" smtClean="0">
                <a:latin typeface="Arial" panose="020B0604020202020204" pitchFamily="34" charset="0"/>
                <a:cs typeface="Arial" panose="020B0604020202020204" pitchFamily="34" charset="0"/>
              </a:rPr>
              <a:t>porción de la </a:t>
            </a:r>
            <a:r>
              <a:rPr lang="es-PE" sz="1600" dirty="0">
                <a:latin typeface="Arial" panose="020B0604020202020204" pitchFamily="34" charset="0"/>
                <a:cs typeface="Arial" panose="020B0604020202020204" pitchFamily="34" charset="0"/>
              </a:rPr>
              <a:t>curva roja</a:t>
            </a:r>
            <a:r>
              <a:rPr lang="es-PE" dirty="0">
                <a:latin typeface="NewBaskerville-Roman"/>
              </a:rPr>
              <a:t>.</a:t>
            </a:r>
            <a:endParaRPr lang="es-PE" dirty="0"/>
          </a:p>
        </p:txBody>
      </p:sp>
      <p:pic>
        <p:nvPicPr>
          <p:cNvPr id="5" name="Imagen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50976" y="3501008"/>
            <a:ext cx="5460032" cy="2734780"/>
          </a:xfrm>
          <a:prstGeom prst="rect">
            <a:avLst/>
          </a:prstGeom>
        </p:spPr>
      </p:pic>
    </p:spTree>
    <p:extLst>
      <p:ext uri="{BB962C8B-B14F-4D97-AF65-F5344CB8AC3E}">
        <p14:creationId xmlns:p14="http://schemas.microsoft.com/office/powerpoint/2010/main" val="379709676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14" name="Rectángulo redondeado 13"/>
          <p:cNvSpPr/>
          <p:nvPr/>
        </p:nvSpPr>
        <p:spPr>
          <a:xfrm>
            <a:off x="1637806" y="720099"/>
            <a:ext cx="1907857" cy="571401"/>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400" b="1" dirty="0" smtClean="0">
                <a:solidFill>
                  <a:schemeClr val="tx1"/>
                </a:solidFill>
              </a:rPr>
              <a:t>EJEMPLOS</a:t>
            </a:r>
            <a:endParaRPr lang="es-PE" sz="2400" dirty="0">
              <a:solidFill>
                <a:schemeClr val="tx1"/>
              </a:solidFill>
            </a:endParaRPr>
          </a:p>
        </p:txBody>
      </p:sp>
      <p:sp>
        <p:nvSpPr>
          <p:cNvPr id="3" name="Rectángulo 2"/>
          <p:cNvSpPr/>
          <p:nvPr/>
        </p:nvSpPr>
        <p:spPr>
          <a:xfrm>
            <a:off x="344488" y="1772816"/>
            <a:ext cx="5112568" cy="3046988"/>
          </a:xfrm>
          <a:prstGeom prst="rect">
            <a:avLst/>
          </a:prstGeom>
        </p:spPr>
        <p:txBody>
          <a:bodyPr wrap="square">
            <a:spAutoFit/>
          </a:bodyPr>
          <a:lstStyle/>
          <a:p>
            <a:pPr algn="just"/>
            <a:r>
              <a:rPr lang="es-PE" sz="1600" dirty="0">
                <a:latin typeface="Arial" panose="020B0604020202020204" pitchFamily="34" charset="0"/>
                <a:cs typeface="Arial" panose="020B0604020202020204" pitchFamily="34" charset="0"/>
              </a:rPr>
              <a:t>Un </a:t>
            </a:r>
            <a:r>
              <a:rPr lang="es-PE" sz="1600" dirty="0" smtClean="0">
                <a:latin typeface="Arial" panose="020B0604020202020204" pitchFamily="34" charset="0"/>
                <a:cs typeface="Arial" panose="020B0604020202020204" pitchFamily="34" charset="0"/>
              </a:rPr>
              <a:t>automóvil </a:t>
            </a:r>
            <a:r>
              <a:rPr lang="es-PE" sz="1600" dirty="0">
                <a:latin typeface="Arial" panose="020B0604020202020204" pitchFamily="34" charset="0"/>
                <a:cs typeface="Arial" panose="020B0604020202020204" pitchFamily="34" charset="0"/>
              </a:rPr>
              <a:t>tiene una masa de 1 500 kg y sus frenos </a:t>
            </a:r>
            <a:r>
              <a:rPr lang="es-PE" sz="1600" dirty="0" smtClean="0">
                <a:latin typeface="Arial" panose="020B0604020202020204" pitchFamily="34" charset="0"/>
                <a:cs typeface="Arial" panose="020B0604020202020204" pitchFamily="34" charset="0"/>
              </a:rPr>
              <a:t>de aluminio </a:t>
            </a:r>
            <a:r>
              <a:rPr lang="es-PE" sz="1600" dirty="0">
                <a:latin typeface="Arial" panose="020B0604020202020204" pitchFamily="34" charset="0"/>
                <a:cs typeface="Arial" panose="020B0604020202020204" pitchFamily="34" charset="0"/>
              </a:rPr>
              <a:t>tienen una masa global de 6.00 kg. a) Suponga </a:t>
            </a:r>
            <a:r>
              <a:rPr lang="es-PE" sz="1600" dirty="0" smtClean="0">
                <a:latin typeface="Arial" panose="020B0604020202020204" pitchFamily="34" charset="0"/>
                <a:cs typeface="Arial" panose="020B0604020202020204" pitchFamily="34" charset="0"/>
              </a:rPr>
              <a:t>que toda </a:t>
            </a:r>
            <a:r>
              <a:rPr lang="es-PE" sz="1600" dirty="0">
                <a:latin typeface="Arial" panose="020B0604020202020204" pitchFamily="34" charset="0"/>
                <a:cs typeface="Arial" panose="020B0604020202020204" pitchFamily="34" charset="0"/>
              </a:rPr>
              <a:t>la </a:t>
            </a:r>
            <a:r>
              <a:rPr lang="es-PE" sz="1600" dirty="0" smtClean="0">
                <a:latin typeface="Arial" panose="020B0604020202020204" pitchFamily="34" charset="0"/>
                <a:cs typeface="Arial" panose="020B0604020202020204" pitchFamily="34" charset="0"/>
              </a:rPr>
              <a:t>energía mecánica </a:t>
            </a:r>
            <a:r>
              <a:rPr lang="es-PE" sz="1600" dirty="0">
                <a:latin typeface="Arial" panose="020B0604020202020204" pitchFamily="34" charset="0"/>
                <a:cs typeface="Arial" panose="020B0604020202020204" pitchFamily="34" charset="0"/>
              </a:rPr>
              <a:t>que desaparece cuando el auto </a:t>
            </a:r>
            <a:r>
              <a:rPr lang="es-PE" sz="1600" dirty="0" smtClean="0">
                <a:latin typeface="Arial" panose="020B0604020202020204" pitchFamily="34" charset="0"/>
                <a:cs typeface="Arial" panose="020B0604020202020204" pitchFamily="34" charset="0"/>
              </a:rPr>
              <a:t>se detiene </a:t>
            </a:r>
            <a:r>
              <a:rPr lang="es-PE" sz="1600" dirty="0">
                <a:latin typeface="Arial" panose="020B0604020202020204" pitchFamily="34" charset="0"/>
                <a:cs typeface="Arial" panose="020B0604020202020204" pitchFamily="34" charset="0"/>
              </a:rPr>
              <a:t>se deposita en los frenos y no se transfiere </a:t>
            </a:r>
            <a:r>
              <a:rPr lang="es-PE" sz="1600" dirty="0" smtClean="0">
                <a:latin typeface="Arial" panose="020B0604020202020204" pitchFamily="34" charset="0"/>
                <a:cs typeface="Arial" panose="020B0604020202020204" pitchFamily="34" charset="0"/>
              </a:rPr>
              <a:t>energía afuera </a:t>
            </a:r>
            <a:r>
              <a:rPr lang="es-PE" sz="1600" dirty="0">
                <a:latin typeface="Arial" panose="020B0604020202020204" pitchFamily="34" charset="0"/>
                <a:cs typeface="Arial" panose="020B0604020202020204" pitchFamily="34" charset="0"/>
              </a:rPr>
              <a:t>de los frenos por calor. Los frenos originalmente </a:t>
            </a:r>
            <a:r>
              <a:rPr lang="es-PE" sz="1600" dirty="0" smtClean="0">
                <a:latin typeface="Arial" panose="020B0604020202020204" pitchFamily="34" charset="0"/>
                <a:cs typeface="Arial" panose="020B0604020202020204" pitchFamily="34" charset="0"/>
              </a:rPr>
              <a:t>están a </a:t>
            </a:r>
            <a:r>
              <a:rPr lang="es-PE" sz="1600" dirty="0">
                <a:latin typeface="Arial" panose="020B0604020202020204" pitchFamily="34" charset="0"/>
                <a:cs typeface="Arial" panose="020B0604020202020204" pitchFamily="34" charset="0"/>
              </a:rPr>
              <a:t>20.0°C. ¿Cuantas veces se puede detener el </a:t>
            </a:r>
            <a:r>
              <a:rPr lang="es-PE" sz="1600" dirty="0" smtClean="0">
                <a:latin typeface="Arial" panose="020B0604020202020204" pitchFamily="34" charset="0"/>
                <a:cs typeface="Arial" panose="020B0604020202020204" pitchFamily="34" charset="0"/>
              </a:rPr>
              <a:t>automóvil desde 25.0 </a:t>
            </a:r>
            <a:r>
              <a:rPr lang="es-PE" sz="1600" dirty="0">
                <a:latin typeface="Arial" panose="020B0604020202020204" pitchFamily="34" charset="0"/>
                <a:cs typeface="Arial" panose="020B0604020202020204" pitchFamily="34" charset="0"/>
              </a:rPr>
              <a:t>m/s antes de que los frenos comiencen a fundirse? </a:t>
            </a:r>
            <a:r>
              <a:rPr lang="es-PE" sz="1600" dirty="0" smtClean="0">
                <a:latin typeface="Arial" panose="020B0604020202020204" pitchFamily="34" charset="0"/>
                <a:cs typeface="Arial" panose="020B0604020202020204" pitchFamily="34" charset="0"/>
              </a:rPr>
              <a:t>b) Identifique </a:t>
            </a:r>
            <a:r>
              <a:rPr lang="es-PE" sz="1600" dirty="0">
                <a:latin typeface="Arial" panose="020B0604020202020204" pitchFamily="34" charset="0"/>
                <a:cs typeface="Arial" panose="020B0604020202020204" pitchFamily="34" charset="0"/>
              </a:rPr>
              <a:t>algunos efectos ignorados en el inciso a) que </a:t>
            </a:r>
            <a:r>
              <a:rPr lang="es-PE" sz="1600" dirty="0" smtClean="0">
                <a:latin typeface="Arial" panose="020B0604020202020204" pitchFamily="34" charset="0"/>
                <a:cs typeface="Arial" panose="020B0604020202020204" pitchFamily="34" charset="0"/>
              </a:rPr>
              <a:t>sean importantes </a:t>
            </a:r>
            <a:r>
              <a:rPr lang="es-PE" sz="1600" dirty="0">
                <a:latin typeface="Arial" panose="020B0604020202020204" pitchFamily="34" charset="0"/>
                <a:cs typeface="Arial" panose="020B0604020202020204" pitchFamily="34" charset="0"/>
              </a:rPr>
              <a:t>en una </a:t>
            </a:r>
            <a:r>
              <a:rPr lang="es-PE" sz="1600" dirty="0" smtClean="0">
                <a:latin typeface="Arial" panose="020B0604020202020204" pitchFamily="34" charset="0"/>
                <a:cs typeface="Arial" panose="020B0604020202020204" pitchFamily="34" charset="0"/>
              </a:rPr>
              <a:t>valoración </a:t>
            </a:r>
            <a:r>
              <a:rPr lang="es-PE" sz="1600" dirty="0">
                <a:latin typeface="Arial" panose="020B0604020202020204" pitchFamily="34" charset="0"/>
                <a:cs typeface="Arial" panose="020B0604020202020204" pitchFamily="34" charset="0"/>
              </a:rPr>
              <a:t>mas realista del calentamiento</a:t>
            </a:r>
          </a:p>
          <a:p>
            <a:r>
              <a:rPr lang="es-PE" sz="1600" dirty="0">
                <a:latin typeface="Arial" panose="020B0604020202020204" pitchFamily="34" charset="0"/>
                <a:cs typeface="Arial" panose="020B0604020202020204" pitchFamily="34" charset="0"/>
              </a:rPr>
              <a:t>de los frenos.</a:t>
            </a:r>
          </a:p>
        </p:txBody>
      </p:sp>
      <p:pic>
        <p:nvPicPr>
          <p:cNvPr id="5" name="Imagen 4"/>
          <p:cNvPicPr>
            <a:picLocks noChangeAspect="1"/>
          </p:cNvPicPr>
          <p:nvPr/>
        </p:nvPicPr>
        <p:blipFill>
          <a:blip r:embed="rId2"/>
          <a:stretch>
            <a:fillRect/>
          </a:stretch>
        </p:blipFill>
        <p:spPr>
          <a:xfrm>
            <a:off x="2000672" y="4791664"/>
            <a:ext cx="2466975" cy="1847850"/>
          </a:xfrm>
          <a:prstGeom prst="rect">
            <a:avLst/>
          </a:prstGeom>
        </p:spPr>
      </p:pic>
      <p:sp>
        <p:nvSpPr>
          <p:cNvPr id="6" name="Rectángulo 5"/>
          <p:cNvSpPr/>
          <p:nvPr/>
        </p:nvSpPr>
        <p:spPr>
          <a:xfrm>
            <a:off x="5817096" y="1844824"/>
            <a:ext cx="3816424" cy="1569660"/>
          </a:xfrm>
          <a:prstGeom prst="rect">
            <a:avLst/>
          </a:prstGeom>
        </p:spPr>
        <p:txBody>
          <a:bodyPr wrap="square">
            <a:spAutoFit/>
          </a:bodyPr>
          <a:lstStyle/>
          <a:p>
            <a:pPr algn="just"/>
            <a:r>
              <a:rPr lang="es-PE" sz="1600" dirty="0">
                <a:latin typeface="Arial" panose="020B0604020202020204" pitchFamily="34" charset="0"/>
                <a:cs typeface="Arial" panose="020B0604020202020204" pitchFamily="34" charset="0"/>
              </a:rPr>
              <a:t>En un recipiente aislado 250 g de hielo a 0°C se agregan a </a:t>
            </a:r>
            <a:r>
              <a:rPr lang="es-PE" sz="1600" dirty="0" smtClean="0">
                <a:latin typeface="Arial" panose="020B0604020202020204" pitchFamily="34" charset="0"/>
                <a:cs typeface="Arial" panose="020B0604020202020204" pitchFamily="34" charset="0"/>
              </a:rPr>
              <a:t>600 g </a:t>
            </a:r>
            <a:r>
              <a:rPr lang="es-PE" sz="1600" dirty="0">
                <a:latin typeface="Arial" panose="020B0604020202020204" pitchFamily="34" charset="0"/>
                <a:cs typeface="Arial" panose="020B0604020202020204" pitchFamily="34" charset="0"/>
              </a:rPr>
              <a:t>de agua a 18.0°C. a) ¿Cual es la temperatura final del </a:t>
            </a:r>
            <a:r>
              <a:rPr lang="es-PE" sz="1600" dirty="0" smtClean="0">
                <a:latin typeface="Arial" panose="020B0604020202020204" pitchFamily="34" charset="0"/>
                <a:cs typeface="Arial" panose="020B0604020202020204" pitchFamily="34" charset="0"/>
              </a:rPr>
              <a:t>sistema? b</a:t>
            </a:r>
            <a:r>
              <a:rPr lang="es-PE" sz="1600" dirty="0">
                <a:latin typeface="Arial" panose="020B0604020202020204" pitchFamily="34" charset="0"/>
                <a:cs typeface="Arial" panose="020B0604020202020204" pitchFamily="34" charset="0"/>
              </a:rPr>
              <a:t>) ¿Cuanto hielo permanece cuando el sistema alcanza </a:t>
            </a:r>
            <a:r>
              <a:rPr lang="es-PE" sz="1600" dirty="0" smtClean="0">
                <a:latin typeface="Arial" panose="020B0604020202020204" pitchFamily="34" charset="0"/>
                <a:cs typeface="Arial" panose="020B0604020202020204" pitchFamily="34" charset="0"/>
              </a:rPr>
              <a:t>el equilibrio</a:t>
            </a:r>
            <a:r>
              <a:rPr lang="es-PE" sz="16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21895530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14" name="Rectángulo redondeado 13"/>
          <p:cNvSpPr/>
          <p:nvPr/>
        </p:nvSpPr>
        <p:spPr>
          <a:xfrm>
            <a:off x="1637806" y="720099"/>
            <a:ext cx="5691458" cy="571401"/>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400" b="1" dirty="0" smtClean="0">
                <a:solidFill>
                  <a:schemeClr val="tx1"/>
                </a:solidFill>
              </a:rPr>
              <a:t>PROPAGACIÓN DEL CALOR: CONDUCCIÓN</a:t>
            </a:r>
            <a:endParaRPr lang="es-PE" sz="2400" dirty="0">
              <a:solidFill>
                <a:schemeClr val="tx1"/>
              </a:solidFill>
            </a:endParaRPr>
          </a:p>
        </p:txBody>
      </p:sp>
      <p:sp>
        <p:nvSpPr>
          <p:cNvPr id="6" name="Rectangle 3"/>
          <p:cNvSpPr txBox="1">
            <a:spLocks noChangeArrowheads="1"/>
          </p:cNvSpPr>
          <p:nvPr/>
        </p:nvSpPr>
        <p:spPr>
          <a:xfrm>
            <a:off x="344489" y="1807307"/>
            <a:ext cx="4320480" cy="4824536"/>
          </a:xfrm>
          <a:prstGeom prst="rect">
            <a:avLst/>
          </a:prstGeom>
        </p:spPr>
        <p:txBody>
          <a:bodyPr>
            <a:noAutofit/>
          </a:bodyPr>
          <a:lstStyle>
            <a:lvl1pPr marL="342900" indent="-3429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1pPr>
            <a:lvl2pPr marL="742950" indent="-28575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2pPr>
            <a:lvl3pPr marL="11430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3pPr>
            <a:lvl4pPr marL="16002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4pPr>
            <a:lvl5pPr marL="20574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just">
              <a:lnSpc>
                <a:spcPct val="90000"/>
              </a:lnSpc>
              <a:buNone/>
            </a:pPr>
            <a:r>
              <a:rPr lang="es-ES" dirty="0" smtClean="0">
                <a:solidFill>
                  <a:schemeClr val="tx1"/>
                </a:solidFill>
              </a:rPr>
              <a:t>En el fenómeno de conducción las moléculas colisionan contra las vecinas de modo que comparten energía cinética</a:t>
            </a:r>
            <a:r>
              <a:rPr lang="es-ES" sz="1800" dirty="0" smtClean="0">
                <a:solidFill>
                  <a:schemeClr val="tx1"/>
                </a:solidFill>
              </a:rPr>
              <a:t>.</a:t>
            </a:r>
          </a:p>
          <a:p>
            <a:pPr marL="0" indent="0" algn="just">
              <a:lnSpc>
                <a:spcPct val="90000"/>
              </a:lnSpc>
              <a:buNone/>
            </a:pPr>
            <a:endParaRPr lang="es-ES" sz="1800" b="1" dirty="0" smtClean="0">
              <a:solidFill>
                <a:schemeClr val="tx1"/>
              </a:solidFill>
            </a:endParaRPr>
          </a:p>
          <a:p>
            <a:pPr marL="0" indent="0" algn="just">
              <a:lnSpc>
                <a:spcPct val="90000"/>
              </a:lnSpc>
              <a:buNone/>
            </a:pPr>
            <a:endParaRPr lang="es-ES" sz="1800" b="1" dirty="0">
              <a:solidFill>
                <a:schemeClr val="tx1"/>
              </a:solidFill>
            </a:endParaRPr>
          </a:p>
          <a:p>
            <a:pPr marL="0" indent="0" algn="just">
              <a:lnSpc>
                <a:spcPct val="90000"/>
              </a:lnSpc>
              <a:buNone/>
            </a:pPr>
            <a:endParaRPr lang="es-ES" sz="1800" b="1" dirty="0" smtClean="0">
              <a:solidFill>
                <a:schemeClr val="tx1"/>
              </a:solidFill>
            </a:endParaRPr>
          </a:p>
          <a:p>
            <a:pPr marL="0" indent="0" algn="just">
              <a:lnSpc>
                <a:spcPct val="90000"/>
              </a:lnSpc>
              <a:buNone/>
            </a:pPr>
            <a:endParaRPr lang="es-ES" sz="1800" b="1" dirty="0" smtClean="0">
              <a:solidFill>
                <a:schemeClr val="tx1"/>
              </a:solidFill>
            </a:endParaRPr>
          </a:p>
          <a:p>
            <a:pPr marL="0" indent="0" algn="just">
              <a:lnSpc>
                <a:spcPct val="90000"/>
              </a:lnSpc>
              <a:buNone/>
            </a:pPr>
            <a:endParaRPr lang="es-ES" sz="1800" b="1" dirty="0" smtClean="0">
              <a:solidFill>
                <a:schemeClr val="tx1"/>
              </a:solidFill>
            </a:endParaRPr>
          </a:p>
          <a:p>
            <a:pPr marL="0" indent="0" algn="just">
              <a:lnSpc>
                <a:spcPct val="90000"/>
              </a:lnSpc>
              <a:buNone/>
            </a:pPr>
            <a:endParaRPr lang="es-ES" sz="1800" b="1" dirty="0">
              <a:solidFill>
                <a:schemeClr val="tx1"/>
              </a:solidFill>
            </a:endParaRPr>
          </a:p>
          <a:p>
            <a:pPr marL="0" indent="0" algn="just">
              <a:lnSpc>
                <a:spcPct val="90000"/>
              </a:lnSpc>
              <a:buNone/>
            </a:pPr>
            <a:endParaRPr lang="es-ES" sz="1800" b="1" dirty="0">
              <a:solidFill>
                <a:schemeClr val="tx1"/>
              </a:solidFill>
            </a:endParaRPr>
          </a:p>
          <a:p>
            <a:pPr marL="0" indent="0" algn="just">
              <a:lnSpc>
                <a:spcPct val="90000"/>
              </a:lnSpc>
              <a:buNone/>
            </a:pPr>
            <a:endParaRPr lang="es-ES" b="1" dirty="0" smtClean="0">
              <a:solidFill>
                <a:schemeClr val="tx1"/>
              </a:solidFill>
            </a:endParaRPr>
          </a:p>
          <a:p>
            <a:pPr marL="0" indent="0" algn="just">
              <a:lnSpc>
                <a:spcPct val="90000"/>
              </a:lnSpc>
              <a:buNone/>
            </a:pPr>
            <a:r>
              <a:rPr lang="es-ES" b="1" dirty="0" smtClean="0">
                <a:solidFill>
                  <a:schemeClr val="tx1"/>
                </a:solidFill>
              </a:rPr>
              <a:t>Materiales térmicos</a:t>
            </a:r>
          </a:p>
          <a:p>
            <a:pPr marL="0" indent="0" algn="just">
              <a:lnSpc>
                <a:spcPct val="90000"/>
              </a:lnSpc>
              <a:buNone/>
            </a:pPr>
            <a:endParaRPr lang="es-ES" b="1" dirty="0" smtClean="0">
              <a:solidFill>
                <a:schemeClr val="tx1"/>
              </a:solidFill>
            </a:endParaRPr>
          </a:p>
          <a:p>
            <a:pPr marL="0" indent="0" algn="just">
              <a:lnSpc>
                <a:spcPct val="90000"/>
              </a:lnSpc>
              <a:spcAft>
                <a:spcPct val="25000"/>
              </a:spcAft>
              <a:buNone/>
            </a:pPr>
            <a:r>
              <a:rPr lang="es-PE" b="1" dirty="0" smtClean="0">
                <a:solidFill>
                  <a:schemeClr val="tx1"/>
                </a:solidFill>
              </a:rPr>
              <a:t>Un conductor térmico </a:t>
            </a:r>
            <a:r>
              <a:rPr lang="es-PE" dirty="0" smtClean="0">
                <a:solidFill>
                  <a:schemeClr val="tx1"/>
                </a:solidFill>
              </a:rPr>
              <a:t>es un material que facilita el paso del calor entre dos sistemas térmicos que están a diferentes temperaturas.</a:t>
            </a:r>
            <a:endParaRPr lang="es-MX" dirty="0" smtClean="0">
              <a:solidFill>
                <a:schemeClr val="tx1"/>
              </a:solidFill>
            </a:endParaRPr>
          </a:p>
          <a:p>
            <a:pPr>
              <a:lnSpc>
                <a:spcPct val="90000"/>
              </a:lnSpc>
            </a:pPr>
            <a:endParaRPr lang="es-ES" sz="1800" dirty="0"/>
          </a:p>
        </p:txBody>
      </p:sp>
      <p:pic>
        <p:nvPicPr>
          <p:cNvPr id="51" name="Imagen 5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8504" y="2630611"/>
            <a:ext cx="4176465" cy="2166541"/>
          </a:xfrm>
          <a:prstGeom prst="rect">
            <a:avLst/>
          </a:prstGeom>
        </p:spPr>
      </p:pic>
      <p:pic>
        <p:nvPicPr>
          <p:cNvPr id="52" name="Picture 6" descr="AislanGlass"/>
          <p:cNvPicPr>
            <a:picLocks noChangeAspect="1" noChangeArrowheads="1"/>
          </p:cNvPicPr>
          <p:nvPr/>
        </p:nvPicPr>
        <p:blipFill>
          <a:blip r:embed="rId3" cstate="print"/>
          <a:srcRect/>
          <a:stretch>
            <a:fillRect/>
          </a:stretch>
        </p:blipFill>
        <p:spPr bwMode="auto">
          <a:xfrm>
            <a:off x="5601072" y="3649066"/>
            <a:ext cx="3024336" cy="2982777"/>
          </a:xfrm>
          <a:prstGeom prst="rect">
            <a:avLst/>
          </a:prstGeom>
          <a:noFill/>
        </p:spPr>
      </p:pic>
      <p:sp>
        <p:nvSpPr>
          <p:cNvPr id="53" name="Rectángulo 52"/>
          <p:cNvSpPr/>
          <p:nvPr/>
        </p:nvSpPr>
        <p:spPr>
          <a:xfrm>
            <a:off x="5025008" y="1807307"/>
            <a:ext cx="4392488" cy="757130"/>
          </a:xfrm>
          <a:prstGeom prst="rect">
            <a:avLst/>
          </a:prstGeom>
        </p:spPr>
        <p:txBody>
          <a:bodyPr wrap="square">
            <a:spAutoFit/>
          </a:bodyPr>
          <a:lstStyle/>
          <a:p>
            <a:pPr algn="just">
              <a:lnSpc>
                <a:spcPct val="90000"/>
              </a:lnSpc>
            </a:pPr>
            <a:r>
              <a:rPr lang="es-PE" sz="1600" b="1" dirty="0">
                <a:latin typeface="Arial" panose="020B0604020202020204" pitchFamily="34" charset="0"/>
                <a:cs typeface="Arial" panose="020B0604020202020204" pitchFamily="34" charset="0"/>
              </a:rPr>
              <a:t>Aislante térmico </a:t>
            </a:r>
            <a:r>
              <a:rPr lang="es-PE" sz="1600" dirty="0">
                <a:latin typeface="Arial" panose="020B0604020202020204" pitchFamily="34" charset="0"/>
                <a:cs typeface="Arial" panose="020B0604020202020204" pitchFamily="34" charset="0"/>
              </a:rPr>
              <a:t>es un material que no permite el paso del calor entre dos sistemas que no están en equilibrio térmico.</a:t>
            </a:r>
          </a:p>
        </p:txBody>
      </p:sp>
      <p:sp>
        <p:nvSpPr>
          <p:cNvPr id="54" name="Rectángulo 53"/>
          <p:cNvSpPr/>
          <p:nvPr/>
        </p:nvSpPr>
        <p:spPr>
          <a:xfrm>
            <a:off x="5048283" y="2558214"/>
            <a:ext cx="4392488" cy="1077218"/>
          </a:xfrm>
          <a:prstGeom prst="rect">
            <a:avLst/>
          </a:prstGeom>
        </p:spPr>
        <p:txBody>
          <a:bodyPr wrap="square">
            <a:spAutoFit/>
          </a:bodyPr>
          <a:lstStyle/>
          <a:p>
            <a:pPr algn="just"/>
            <a:r>
              <a:rPr lang="es-PE" sz="1600" b="1" dirty="0" smtClean="0">
                <a:latin typeface="Arial" panose="020B0604020202020204" pitchFamily="34" charset="0"/>
                <a:cs typeface="Arial" panose="020B0604020202020204" pitchFamily="34" charset="0"/>
              </a:rPr>
              <a:t>Lana de vidrio: </a:t>
            </a:r>
            <a:r>
              <a:rPr lang="es-PE" sz="1600" dirty="0" smtClean="0">
                <a:latin typeface="Arial" panose="020B0604020202020204" pitchFamily="34" charset="0"/>
                <a:cs typeface="Arial" panose="020B0604020202020204" pitchFamily="34" charset="0"/>
              </a:rPr>
              <a:t>Filamento </a:t>
            </a:r>
            <a:r>
              <a:rPr lang="es-PE" sz="1600" dirty="0">
                <a:latin typeface="Arial" panose="020B0604020202020204" pitchFamily="34" charset="0"/>
                <a:cs typeface="Arial" panose="020B0604020202020204" pitchFamily="34" charset="0"/>
              </a:rPr>
              <a:t>continuo o discontinuo, obtenido mediante estiramiento de vidrio fundido, que se emplea como aislante térmico o acústico y para otros usos.</a:t>
            </a:r>
          </a:p>
        </p:txBody>
      </p:sp>
    </p:spTree>
    <p:extLst>
      <p:ext uri="{BB962C8B-B14F-4D97-AF65-F5344CB8AC3E}">
        <p14:creationId xmlns:p14="http://schemas.microsoft.com/office/powerpoint/2010/main" val="91947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xEl>
                                              <p:pRg st="11" end="11"/>
                                            </p:txEl>
                                          </p:spTgt>
                                        </p:tgtEl>
                                        <p:attrNameLst>
                                          <p:attrName>style.visibility</p:attrName>
                                        </p:attrNameLst>
                                      </p:cBhvr>
                                      <p:to>
                                        <p:strVal val="visible"/>
                                      </p:to>
                                    </p:set>
                                    <p:animEffect transition="in" filter="blinds(horizontal)">
                                      <p:cBhvr>
                                        <p:cTn id="7" dur="500"/>
                                        <p:tgtEl>
                                          <p:spTgt spid="6">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14" name="Rectángulo redondeado 13"/>
          <p:cNvSpPr/>
          <p:nvPr/>
        </p:nvSpPr>
        <p:spPr>
          <a:xfrm>
            <a:off x="1637806" y="720099"/>
            <a:ext cx="3315194" cy="571401"/>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400" b="1" dirty="0" smtClean="0">
                <a:solidFill>
                  <a:schemeClr val="tx1"/>
                </a:solidFill>
              </a:rPr>
              <a:t>LEY DE FOURIER</a:t>
            </a:r>
            <a:endParaRPr lang="es-PE" sz="2400" dirty="0">
              <a:solidFill>
                <a:schemeClr val="tx1"/>
              </a:solidFill>
            </a:endParaRPr>
          </a:p>
        </p:txBody>
      </p:sp>
      <mc:AlternateContent xmlns:mc="http://schemas.openxmlformats.org/markup-compatibility/2006" xmlns:a14="http://schemas.microsoft.com/office/drawing/2010/main">
        <mc:Choice Requires="a14">
          <p:sp>
            <p:nvSpPr>
              <p:cNvPr id="8" name="Content Placeholder 8"/>
              <p:cNvSpPr txBox="1">
                <a:spLocks/>
              </p:cNvSpPr>
              <p:nvPr/>
            </p:nvSpPr>
            <p:spPr>
              <a:xfrm>
                <a:off x="568860" y="1798168"/>
                <a:ext cx="4320480" cy="4367259"/>
              </a:xfrm>
              <a:prstGeom prst="rect">
                <a:avLst/>
              </a:prstGeom>
            </p:spPr>
            <p:txBody>
              <a:bodyPr/>
              <a:lstStyle>
                <a:lvl1pPr marL="342900" indent="-3429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1pPr>
                <a:lvl2pPr marL="742950" indent="-28575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2pPr>
                <a:lvl3pPr marL="11430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3pPr>
                <a:lvl4pPr marL="16002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4pPr>
                <a:lvl5pPr marL="20574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just">
                  <a:buClr>
                    <a:schemeClr val="tx2"/>
                  </a:buClr>
                  <a:buNone/>
                </a:pPr>
                <a:r>
                  <a:rPr lang="es-PE" dirty="0" smtClean="0">
                    <a:solidFill>
                      <a:schemeClr val="tx1"/>
                    </a:solidFill>
                  </a:rPr>
                  <a:t>Cuando los dos extremos de una barra tienen diferentes temperaturas, se produce conducción de calor de uno a otro extremo.</a:t>
                </a:r>
              </a:p>
              <a:p>
                <a:pPr marL="0" indent="0" algn="just">
                  <a:buClr>
                    <a:schemeClr val="tx2"/>
                  </a:buClr>
                  <a:buNone/>
                </a:pPr>
                <a:r>
                  <a:rPr lang="es-PE" dirty="0" smtClean="0">
                    <a:solidFill>
                      <a:schemeClr val="tx1"/>
                    </a:solidFill>
                  </a:rPr>
                  <a:t> </a:t>
                </a:r>
              </a:p>
              <a:p>
                <a:pPr marL="0" indent="0" algn="just">
                  <a:buClr>
                    <a:schemeClr val="tx2"/>
                  </a:buClr>
                  <a:buNone/>
                </a:pPr>
                <a:r>
                  <a:rPr lang="es-PE" dirty="0" smtClean="0">
                    <a:solidFill>
                      <a:schemeClr val="tx1"/>
                    </a:solidFill>
                  </a:rPr>
                  <a:t>Experimentalmente, se deduce que el flujo calorífico es directamente proporcional a la sección A del cuerpo y a la diferencia de temperatura por unidad de longitud.</a:t>
                </a:r>
              </a:p>
              <a:p>
                <a:pPr marL="0" indent="0" algn="just">
                  <a:buClr>
                    <a:schemeClr val="tx2"/>
                  </a:buClr>
                  <a:buNone/>
                </a:pPr>
                <a:endParaRPr lang="es-PE" dirty="0">
                  <a:solidFill>
                    <a:schemeClr val="tx1"/>
                  </a:solidFill>
                </a:endParaRPr>
              </a:p>
              <a:p>
                <a:pPr marL="0" indent="0" algn="just">
                  <a:buClr>
                    <a:schemeClr val="tx2"/>
                  </a:buClr>
                  <a:buNone/>
                </a:pPr>
                <a14:m>
                  <m:oMathPara xmlns:m="http://schemas.openxmlformats.org/officeDocument/2006/math">
                    <m:oMathParaPr>
                      <m:jc m:val="centerGroup"/>
                    </m:oMathParaPr>
                    <m:oMath xmlns:m="http://schemas.openxmlformats.org/officeDocument/2006/math">
                      <m:r>
                        <m:rPr>
                          <m:sty m:val="p"/>
                        </m:rPr>
                        <a:rPr lang="es-PE" sz="2000" i="1">
                          <a:solidFill>
                            <a:schemeClr val="tx1"/>
                          </a:solidFill>
                          <a:latin typeface="Cambria Math" panose="02040503050406030204" pitchFamily="18" charset="0"/>
                        </a:rPr>
                        <m:t>H</m:t>
                      </m:r>
                      <m:r>
                        <a:rPr lang="es-PE" sz="2000" i="1">
                          <a:solidFill>
                            <a:schemeClr val="tx1"/>
                          </a:solidFill>
                          <a:latin typeface="Cambria Math" panose="02040503050406030204" pitchFamily="18" charset="0"/>
                        </a:rPr>
                        <m:t>=−</m:t>
                      </m:r>
                      <m:r>
                        <a:rPr lang="es-PE" sz="2000" i="1">
                          <a:solidFill>
                            <a:schemeClr val="tx1"/>
                          </a:solidFill>
                          <a:latin typeface="Cambria Math" panose="02040503050406030204" pitchFamily="18" charset="0"/>
                        </a:rPr>
                        <m:t>𝑘𝐴</m:t>
                      </m:r>
                      <m:f>
                        <m:fPr>
                          <m:ctrlPr>
                            <a:rPr lang="es-PE" sz="2000" i="1">
                              <a:solidFill>
                                <a:schemeClr val="tx1"/>
                              </a:solidFill>
                              <a:latin typeface="Cambria Math" panose="02040503050406030204" pitchFamily="18" charset="0"/>
                            </a:rPr>
                          </m:ctrlPr>
                        </m:fPr>
                        <m:num>
                          <m:r>
                            <a:rPr lang="es-PE" sz="2000" i="1">
                              <a:solidFill>
                                <a:schemeClr val="tx1"/>
                              </a:solidFill>
                              <a:latin typeface="Cambria Math" panose="02040503050406030204" pitchFamily="18" charset="0"/>
                            </a:rPr>
                            <m:t>𝑑𝑇</m:t>
                          </m:r>
                        </m:num>
                        <m:den>
                          <m:r>
                            <a:rPr lang="es-PE" sz="2000" i="1">
                              <a:solidFill>
                                <a:schemeClr val="tx1"/>
                              </a:solidFill>
                              <a:latin typeface="Cambria Math" panose="02040503050406030204" pitchFamily="18" charset="0"/>
                            </a:rPr>
                            <m:t>𝑑𝑥</m:t>
                          </m:r>
                        </m:den>
                      </m:f>
                    </m:oMath>
                  </m:oMathPara>
                </a14:m>
                <a:endParaRPr lang="es-PE" sz="2000" dirty="0" smtClean="0">
                  <a:solidFill>
                    <a:schemeClr val="tx1"/>
                  </a:solidFill>
                </a:endParaRPr>
              </a:p>
              <a:p>
                <a:pPr marL="0" indent="0" algn="just">
                  <a:buClr>
                    <a:schemeClr val="tx2"/>
                  </a:buClr>
                  <a:buNone/>
                </a:pPr>
                <a:endParaRPr lang="es-PE" dirty="0" smtClean="0">
                  <a:solidFill>
                    <a:schemeClr val="tx1"/>
                  </a:solidFill>
                </a:endParaRPr>
              </a:p>
              <a:p>
                <a:pPr marL="0" indent="0" algn="just">
                  <a:buClr>
                    <a:schemeClr val="tx2"/>
                  </a:buClr>
                  <a:buNone/>
                </a:pPr>
                <a:r>
                  <a:rPr lang="es-PE" i="1" dirty="0" smtClean="0">
                    <a:solidFill>
                      <a:schemeClr val="tx1"/>
                    </a:solidFill>
                  </a:rPr>
                  <a:t>A – área transversal de flujo</a:t>
                </a:r>
              </a:p>
              <a:p>
                <a:pPr marL="0" indent="0" algn="just">
                  <a:buClr>
                    <a:schemeClr val="tx2"/>
                  </a:buClr>
                  <a:buNone/>
                </a:pPr>
                <a:r>
                  <a:rPr lang="es-PE" i="1" dirty="0" smtClean="0">
                    <a:solidFill>
                      <a:schemeClr val="tx1"/>
                    </a:solidFill>
                  </a:rPr>
                  <a:t>K – conductividad térmica</a:t>
                </a:r>
              </a:p>
              <a:p>
                <a:pPr marL="0" indent="0" algn="just">
                  <a:buNone/>
                </a:pPr>
                <a:r>
                  <a:rPr lang="es-PE" i="1" dirty="0" smtClean="0">
                    <a:solidFill>
                      <a:schemeClr val="tx1"/>
                    </a:solidFill>
                  </a:rPr>
                  <a:t>H</a:t>
                </a:r>
                <a:r>
                  <a:rPr lang="es-PE" dirty="0" smtClean="0">
                    <a:solidFill>
                      <a:schemeClr val="tx1"/>
                    </a:solidFill>
                  </a:rPr>
                  <a:t> se mide en J/s, W o cal/s .</a:t>
                </a:r>
              </a:p>
              <a:p>
                <a:pPr marL="0" indent="0" algn="just">
                  <a:buNone/>
                </a:pPr>
                <a:endParaRPr lang="es-PE" dirty="0" smtClean="0">
                  <a:solidFill>
                    <a:schemeClr val="tx1"/>
                  </a:solidFill>
                </a:endParaRPr>
              </a:p>
              <a:p>
                <a:pPr marL="0" indent="0">
                  <a:buNone/>
                </a:pPr>
                <a:endParaRPr lang="es-PE" sz="2000" dirty="0" smtClean="0">
                  <a:solidFill>
                    <a:schemeClr val="tx1"/>
                  </a:solidFill>
                  <a:latin typeface="Arial" panose="020B0604020202020204" pitchFamily="34" charset="0"/>
                  <a:cs typeface="Arial" panose="020B0604020202020204" pitchFamily="34" charset="0"/>
                </a:endParaRPr>
              </a:p>
              <a:p>
                <a:endParaRPr lang="es-PE" dirty="0"/>
              </a:p>
            </p:txBody>
          </p:sp>
        </mc:Choice>
        <mc:Fallback xmlns="">
          <p:sp>
            <p:nvSpPr>
              <p:cNvPr id="8" name="Content Placeholder 8"/>
              <p:cNvSpPr txBox="1">
                <a:spLocks noRot="1" noChangeAspect="1" noMove="1" noResize="1" noEditPoints="1" noAdjustHandles="1" noChangeArrowheads="1" noChangeShapeType="1" noTextEdit="1"/>
              </p:cNvSpPr>
              <p:nvPr/>
            </p:nvSpPr>
            <p:spPr>
              <a:xfrm>
                <a:off x="568860" y="1798168"/>
                <a:ext cx="4320480" cy="4367259"/>
              </a:xfrm>
              <a:prstGeom prst="rect">
                <a:avLst/>
              </a:prstGeom>
              <a:blipFill rotWithShape="0">
                <a:blip r:embed="rId2"/>
                <a:stretch>
                  <a:fillRect l="-705" t="-419" r="-846"/>
                </a:stretch>
              </a:blipFill>
            </p:spPr>
            <p:txBody>
              <a:bodyPr/>
              <a:lstStyle/>
              <a:p>
                <a:r>
                  <a:rPr lang="es-PE">
                    <a:noFill/>
                  </a:rPr>
                  <a:t> </a:t>
                </a:r>
              </a:p>
            </p:txBody>
          </p:sp>
        </mc:Fallback>
      </mc:AlternateContent>
      <p:pic>
        <p:nvPicPr>
          <p:cNvPr id="10" name="Picture 8" descr="Figure11-07"/>
          <p:cNvPicPr>
            <a:picLocks noChangeAspect="1" noChangeArrowheads="1"/>
          </p:cNvPicPr>
          <p:nvPr/>
        </p:nvPicPr>
        <p:blipFill>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sharpenSoften amount="16000"/>
                    </a14:imgEffect>
                  </a14:imgLayer>
                </a14:imgProps>
              </a:ext>
            </a:extLst>
          </a:blip>
          <a:srcRect r="-740" b="23010"/>
          <a:stretch>
            <a:fillRect/>
          </a:stretch>
        </p:blipFill>
        <p:spPr bwMode="auto">
          <a:xfrm>
            <a:off x="5601072" y="1772816"/>
            <a:ext cx="3889375" cy="4392612"/>
          </a:xfrm>
          <a:prstGeom prst="rect">
            <a:avLst/>
          </a:prstGeom>
          <a:noFill/>
          <a:ln w="9525">
            <a:noFill/>
            <a:miter lim="800000"/>
            <a:headEnd/>
            <a:tailEnd/>
          </a:ln>
        </p:spPr>
      </p:pic>
    </p:spTree>
    <p:extLst>
      <p:ext uri="{BB962C8B-B14F-4D97-AF65-F5344CB8AC3E}">
        <p14:creationId xmlns:p14="http://schemas.microsoft.com/office/powerpoint/2010/main" val="386563228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14" name="Rectángulo redondeado 13"/>
          <p:cNvSpPr/>
          <p:nvPr/>
        </p:nvSpPr>
        <p:spPr>
          <a:xfrm>
            <a:off x="1637806" y="720099"/>
            <a:ext cx="7491658" cy="571401"/>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400" b="1" dirty="0" smtClean="0">
                <a:solidFill>
                  <a:schemeClr val="tx1"/>
                </a:solidFill>
              </a:rPr>
              <a:t>CONDUCTIVIDADES TÉRMICAS DE ALGUNAS SUSTANCIAS</a:t>
            </a:r>
            <a:endParaRPr lang="es-PE" sz="2400" dirty="0">
              <a:solidFill>
                <a:schemeClr val="tx1"/>
              </a:solidFill>
            </a:endParaRPr>
          </a:p>
        </p:txBody>
      </p:sp>
      <p:graphicFrame>
        <p:nvGraphicFramePr>
          <p:cNvPr id="6" name="Group 120"/>
          <p:cNvGraphicFramePr>
            <a:graphicFrameLocks/>
          </p:cNvGraphicFramePr>
          <p:nvPr>
            <p:extLst>
              <p:ext uri="{D42A27DB-BD31-4B8C-83A1-F6EECF244321}">
                <p14:modId xmlns:p14="http://schemas.microsoft.com/office/powerpoint/2010/main" val="1960712777"/>
              </p:ext>
            </p:extLst>
          </p:nvPr>
        </p:nvGraphicFramePr>
        <p:xfrm>
          <a:off x="1280592" y="1700808"/>
          <a:ext cx="4258816" cy="5090160"/>
        </p:xfrm>
        <a:graphic>
          <a:graphicData uri="http://schemas.openxmlformats.org/drawingml/2006/table">
            <a:tbl>
              <a:tblPr/>
              <a:tblGrid>
                <a:gridCol w="1518375"/>
                <a:gridCol w="2740441"/>
              </a:tblGrid>
              <a:tr h="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s-ES" sz="1600" b="0" i="0" u="none" strike="noStrike" cap="none" normalizeH="0" baseline="0" dirty="0" smtClean="0">
                          <a:ln>
                            <a:noFill/>
                          </a:ln>
                          <a:solidFill>
                            <a:schemeClr val="bg1"/>
                          </a:solidFill>
                          <a:effectLst/>
                          <a:latin typeface="+mn-lt"/>
                          <a:ea typeface="Times New Roman" pitchFamily="18" charset="0"/>
                          <a:cs typeface="Arial" charset="0"/>
                        </a:rPr>
                        <a:t>Sustancia</a:t>
                      </a:r>
                    </a:p>
                  </a:txBody>
                  <a:tcPr marL="186331" marR="186331"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336699"/>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s-ES" sz="1600" b="0" i="0" u="none" strike="noStrike" cap="none" normalizeH="0" baseline="0" dirty="0" smtClean="0">
                          <a:ln>
                            <a:noFill/>
                          </a:ln>
                          <a:solidFill>
                            <a:schemeClr val="bg1"/>
                          </a:solidFill>
                          <a:effectLst/>
                          <a:latin typeface="+mn-lt"/>
                          <a:ea typeface="Times New Roman" pitchFamily="18" charset="0"/>
                          <a:cs typeface="Arial" charset="0"/>
                        </a:rPr>
                        <a:t>Conductividad térmica (W/m ºC )</a:t>
                      </a:r>
                    </a:p>
                  </a:txBody>
                  <a:tcPr marL="186331" marR="186331"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336699"/>
                    </a:solidFill>
                  </a:tcPr>
                </a:tc>
              </a:tr>
              <a:tr h="212725">
                <a:tc gridSpan="2">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s-ES" sz="1600" b="0" i="0" u="none" strike="noStrike" cap="none" normalizeH="0" baseline="0" dirty="0" smtClean="0">
                          <a:ln>
                            <a:noFill/>
                          </a:ln>
                          <a:solidFill>
                            <a:schemeClr val="tx1"/>
                          </a:solidFill>
                          <a:effectLst/>
                          <a:latin typeface="+mn-lt"/>
                          <a:ea typeface="Times New Roman" pitchFamily="18" charset="0"/>
                          <a:cs typeface="Arial" charset="0"/>
                        </a:rPr>
                        <a:t>Metales (a 25 ºC)</a:t>
                      </a:r>
                    </a:p>
                  </a:txBody>
                  <a:tcPr marL="186331" marR="186331"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E5EEF7"/>
                    </a:solidFill>
                  </a:tcPr>
                </a:tc>
                <a:tc hMerge="1">
                  <a:txBody>
                    <a:bodyPr/>
                    <a:lstStyle/>
                    <a:p>
                      <a:endParaRPr lang="es-MX"/>
                    </a:p>
                  </a:txBody>
                  <a:tcPr/>
                </a:tc>
              </a:tr>
              <a:tr h="21272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s-ES" sz="1600" b="0" i="0" u="none" strike="noStrike" cap="none" normalizeH="0" baseline="0" dirty="0" smtClean="0">
                          <a:ln>
                            <a:noFill/>
                          </a:ln>
                          <a:solidFill>
                            <a:schemeClr val="tx1"/>
                          </a:solidFill>
                          <a:effectLst/>
                          <a:latin typeface="+mn-lt"/>
                          <a:ea typeface="Times New Roman" pitchFamily="18" charset="0"/>
                          <a:cs typeface="Arial" charset="0"/>
                        </a:rPr>
                        <a:t>Aluminio</a:t>
                      </a:r>
                    </a:p>
                  </a:txBody>
                  <a:tcPr marL="186331" marR="186331"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E5EEF7"/>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s-ES" sz="1600" b="0" i="0" u="none" strike="noStrike" cap="none" normalizeH="0" baseline="0" dirty="0" smtClean="0">
                          <a:ln>
                            <a:noFill/>
                          </a:ln>
                          <a:solidFill>
                            <a:schemeClr val="tx1"/>
                          </a:solidFill>
                          <a:effectLst/>
                          <a:latin typeface="+mn-lt"/>
                          <a:ea typeface="Times New Roman" pitchFamily="18" charset="0"/>
                          <a:cs typeface="Arial" charset="0"/>
                        </a:rPr>
                        <a:t>238</a:t>
                      </a:r>
                    </a:p>
                  </a:txBody>
                  <a:tcPr marL="186331" marR="186331"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E5EEF7"/>
                    </a:solidFill>
                  </a:tcPr>
                </a:tc>
              </a:tr>
              <a:tr h="211138">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s-ES" sz="1600" b="0" i="0" u="none" strike="noStrike" cap="none" normalizeH="0" baseline="0" dirty="0" smtClean="0">
                          <a:ln>
                            <a:noFill/>
                          </a:ln>
                          <a:solidFill>
                            <a:schemeClr val="tx1"/>
                          </a:solidFill>
                          <a:effectLst/>
                          <a:latin typeface="+mn-lt"/>
                          <a:ea typeface="Times New Roman" pitchFamily="18" charset="0"/>
                          <a:cs typeface="Arial" charset="0"/>
                        </a:rPr>
                        <a:t>Cobre</a:t>
                      </a:r>
                    </a:p>
                  </a:txBody>
                  <a:tcPr marL="186331" marR="186331"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E5EEF7"/>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s-ES" sz="1600" b="0" i="0" u="none" strike="noStrike" cap="none" normalizeH="0" baseline="0" dirty="0" smtClean="0">
                          <a:ln>
                            <a:noFill/>
                          </a:ln>
                          <a:solidFill>
                            <a:schemeClr val="tx1"/>
                          </a:solidFill>
                          <a:effectLst/>
                          <a:latin typeface="+mn-lt"/>
                          <a:ea typeface="Times New Roman" pitchFamily="18" charset="0"/>
                          <a:cs typeface="Arial" charset="0"/>
                        </a:rPr>
                        <a:t>397</a:t>
                      </a:r>
                    </a:p>
                  </a:txBody>
                  <a:tcPr marL="186331" marR="186331"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E5EEF7"/>
                    </a:solidFill>
                  </a:tcPr>
                </a:tc>
              </a:tr>
              <a:tr h="21272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s-ES" sz="1600" b="0" i="0" u="none" strike="noStrike" cap="none" normalizeH="0" baseline="0" smtClean="0">
                          <a:ln>
                            <a:noFill/>
                          </a:ln>
                          <a:solidFill>
                            <a:schemeClr val="tx1"/>
                          </a:solidFill>
                          <a:effectLst/>
                          <a:latin typeface="+mn-lt"/>
                          <a:ea typeface="Times New Roman" pitchFamily="18" charset="0"/>
                          <a:cs typeface="Arial" charset="0"/>
                        </a:rPr>
                        <a:t>Hierro</a:t>
                      </a:r>
                    </a:p>
                  </a:txBody>
                  <a:tcPr marL="186331" marR="186331"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E5EEF7"/>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s-ES" sz="1600" b="0" i="0" u="none" strike="noStrike" cap="none" normalizeH="0" baseline="0" dirty="0" smtClean="0">
                          <a:ln>
                            <a:noFill/>
                          </a:ln>
                          <a:solidFill>
                            <a:schemeClr val="tx1"/>
                          </a:solidFill>
                          <a:effectLst/>
                          <a:latin typeface="+mn-lt"/>
                          <a:ea typeface="Times New Roman" pitchFamily="18" charset="0"/>
                          <a:cs typeface="Arial" charset="0"/>
                        </a:rPr>
                        <a:t>79,5</a:t>
                      </a:r>
                    </a:p>
                  </a:txBody>
                  <a:tcPr marL="186331" marR="186331"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E5EEF7"/>
                    </a:solidFill>
                  </a:tcPr>
                </a:tc>
              </a:tr>
              <a:tr h="21272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s-ES" sz="1600" b="0" i="0" u="none" strike="noStrike" cap="none" normalizeH="0" baseline="0" smtClean="0">
                          <a:ln>
                            <a:noFill/>
                          </a:ln>
                          <a:solidFill>
                            <a:schemeClr val="tx1"/>
                          </a:solidFill>
                          <a:effectLst/>
                          <a:latin typeface="+mn-lt"/>
                          <a:ea typeface="Times New Roman" pitchFamily="18" charset="0"/>
                          <a:cs typeface="Arial" charset="0"/>
                        </a:rPr>
                        <a:t>Plomo</a:t>
                      </a:r>
                    </a:p>
                  </a:txBody>
                  <a:tcPr marL="186331" marR="186331"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E5EEF7"/>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s-ES" sz="1600" b="0" i="0" u="none" strike="noStrike" cap="none" normalizeH="0" baseline="0" dirty="0" smtClean="0">
                          <a:ln>
                            <a:noFill/>
                          </a:ln>
                          <a:solidFill>
                            <a:schemeClr val="tx1"/>
                          </a:solidFill>
                          <a:effectLst/>
                          <a:latin typeface="+mn-lt"/>
                          <a:ea typeface="Times New Roman" pitchFamily="18" charset="0"/>
                          <a:cs typeface="Arial" charset="0"/>
                        </a:rPr>
                        <a:t>34,7</a:t>
                      </a:r>
                    </a:p>
                  </a:txBody>
                  <a:tcPr marL="186331" marR="186331"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E5EEF7"/>
                    </a:solidFill>
                  </a:tcPr>
                </a:tc>
              </a:tr>
              <a:tr h="21272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1600" b="0" i="0" u="none" strike="noStrike" cap="none" normalizeH="0" baseline="0" smtClean="0">
                          <a:ln>
                            <a:noFill/>
                          </a:ln>
                          <a:solidFill>
                            <a:schemeClr val="tx1"/>
                          </a:solidFill>
                          <a:effectLst/>
                          <a:latin typeface="+mn-lt"/>
                        </a:rPr>
                        <a:t>Acero</a:t>
                      </a:r>
                    </a:p>
                  </a:txBody>
                  <a:tcPr marL="186331" marR="186331"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E5EEF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1600" b="0" i="0" u="none" strike="noStrike" cap="none" normalizeH="0" baseline="0" dirty="0" smtClean="0">
                          <a:ln>
                            <a:noFill/>
                          </a:ln>
                          <a:solidFill>
                            <a:schemeClr val="tx1"/>
                          </a:solidFill>
                          <a:effectLst/>
                          <a:latin typeface="+mn-lt"/>
                        </a:rPr>
                        <a:t>79</a:t>
                      </a:r>
                    </a:p>
                  </a:txBody>
                  <a:tcPr marL="186331" marR="186331"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E5EEF7"/>
                    </a:solidFill>
                  </a:tcPr>
                </a:tc>
              </a:tr>
              <a:tr h="212725">
                <a:tc gridSpan="2">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s-ES" sz="1600" b="0" i="0" u="none" strike="noStrike" cap="none" normalizeH="0" baseline="0" dirty="0" smtClean="0">
                          <a:ln>
                            <a:noFill/>
                          </a:ln>
                          <a:solidFill>
                            <a:schemeClr val="tx1"/>
                          </a:solidFill>
                          <a:effectLst/>
                          <a:latin typeface="+mn-lt"/>
                          <a:ea typeface="Times New Roman" pitchFamily="18" charset="0"/>
                          <a:cs typeface="Arial" charset="0"/>
                        </a:rPr>
                        <a:t>No metales (valores aproximados)</a:t>
                      </a:r>
                    </a:p>
                  </a:txBody>
                  <a:tcPr marL="186331" marR="186331"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E5EEF7"/>
                    </a:solidFill>
                  </a:tcPr>
                </a:tc>
                <a:tc hMerge="1">
                  <a:txBody>
                    <a:bodyPr/>
                    <a:lstStyle/>
                    <a:p>
                      <a:endParaRPr lang="es-MX"/>
                    </a:p>
                  </a:txBody>
                  <a:tcPr/>
                </a:tc>
              </a:tr>
              <a:tr h="21272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s-ES" sz="1600" b="0" i="0" u="none" strike="noStrike" cap="none" normalizeH="0" baseline="0" smtClean="0">
                          <a:ln>
                            <a:noFill/>
                          </a:ln>
                          <a:solidFill>
                            <a:schemeClr val="tx1"/>
                          </a:solidFill>
                          <a:effectLst/>
                          <a:latin typeface="+mn-lt"/>
                          <a:ea typeface="Times New Roman" pitchFamily="18" charset="0"/>
                          <a:cs typeface="Arial" charset="0"/>
                        </a:rPr>
                        <a:t>Asbestos.</a:t>
                      </a:r>
                    </a:p>
                    <a:p>
                      <a:pPr marL="342900" marR="0" lvl="0" indent="-342900" algn="l" defTabSz="914400" rtl="0" eaLnBrk="1" fontAlgn="base" latinLnBrk="0" hangingPunct="1">
                        <a:lnSpc>
                          <a:spcPct val="100000"/>
                        </a:lnSpc>
                        <a:spcBef>
                          <a:spcPct val="0"/>
                        </a:spcBef>
                        <a:spcAft>
                          <a:spcPct val="0"/>
                        </a:spcAft>
                        <a:buClrTx/>
                        <a:buSzTx/>
                        <a:buFontTx/>
                        <a:buNone/>
                        <a:tabLst/>
                      </a:pPr>
                      <a:r>
                        <a:rPr kumimoji="0" lang="es-ES" sz="1600" b="0" i="0" u="none" strike="noStrike" cap="none" normalizeH="0" baseline="0" smtClean="0">
                          <a:ln>
                            <a:noFill/>
                          </a:ln>
                          <a:solidFill>
                            <a:schemeClr val="tx1"/>
                          </a:solidFill>
                          <a:effectLst/>
                          <a:latin typeface="+mn-lt"/>
                          <a:ea typeface="Times New Roman" pitchFamily="18" charset="0"/>
                          <a:cs typeface="Arial" charset="0"/>
                        </a:rPr>
                        <a:t>Madera</a:t>
                      </a:r>
                    </a:p>
                  </a:txBody>
                  <a:tcPr marL="186331" marR="186331"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E5EEF7"/>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s-ES" sz="1600" b="0" i="0" u="none" strike="noStrike" cap="none" normalizeH="0" baseline="0" dirty="0" smtClean="0">
                          <a:ln>
                            <a:noFill/>
                          </a:ln>
                          <a:solidFill>
                            <a:schemeClr val="tx1"/>
                          </a:solidFill>
                          <a:effectLst/>
                          <a:latin typeface="+mn-lt"/>
                          <a:ea typeface="Times New Roman" pitchFamily="18" charset="0"/>
                          <a:cs typeface="Arial" charset="0"/>
                        </a:rPr>
                        <a:t>0,08</a:t>
                      </a:r>
                    </a:p>
                  </a:txBody>
                  <a:tcPr marL="186331" marR="186331"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E5EEF7"/>
                    </a:solidFill>
                  </a:tcPr>
                </a:tc>
              </a:tr>
              <a:tr h="211138">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s-ES" sz="1600" b="0" i="0" u="none" strike="noStrike" cap="none" normalizeH="0" baseline="0" smtClean="0">
                          <a:ln>
                            <a:noFill/>
                          </a:ln>
                          <a:solidFill>
                            <a:schemeClr val="tx1"/>
                          </a:solidFill>
                          <a:effectLst/>
                          <a:latin typeface="+mn-lt"/>
                          <a:ea typeface="Times New Roman" pitchFamily="18" charset="0"/>
                          <a:cs typeface="Arial" charset="0"/>
                        </a:rPr>
                        <a:t>Concreto</a:t>
                      </a:r>
                    </a:p>
                  </a:txBody>
                  <a:tcPr marL="186331" marR="186331"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E5EEF7"/>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s-ES" sz="1600" b="0" i="0" u="none" strike="noStrike" cap="none" normalizeH="0" baseline="0" dirty="0" smtClean="0">
                          <a:ln>
                            <a:noFill/>
                          </a:ln>
                          <a:solidFill>
                            <a:schemeClr val="tx1"/>
                          </a:solidFill>
                          <a:effectLst/>
                          <a:latin typeface="+mn-lt"/>
                          <a:ea typeface="Times New Roman" pitchFamily="18" charset="0"/>
                          <a:cs typeface="Arial" charset="0"/>
                        </a:rPr>
                        <a:t>0,8</a:t>
                      </a:r>
                    </a:p>
                  </a:txBody>
                  <a:tcPr marL="186331" marR="186331"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E5EEF7"/>
                    </a:solidFill>
                  </a:tcPr>
                </a:tc>
              </a:tr>
              <a:tr h="21272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s-ES" sz="1600" b="0" i="0" u="none" strike="noStrike" cap="none" normalizeH="0" baseline="0" smtClean="0">
                          <a:ln>
                            <a:noFill/>
                          </a:ln>
                          <a:solidFill>
                            <a:schemeClr val="tx1"/>
                          </a:solidFill>
                          <a:effectLst/>
                          <a:latin typeface="+mn-lt"/>
                          <a:ea typeface="Times New Roman" pitchFamily="18" charset="0"/>
                          <a:cs typeface="Arial" charset="0"/>
                        </a:rPr>
                        <a:t>Vidrio:</a:t>
                      </a:r>
                    </a:p>
                    <a:p>
                      <a:pPr marL="342900" marR="0" lvl="0" indent="-342900" algn="l" defTabSz="914400" rtl="0" eaLnBrk="1" fontAlgn="base" latinLnBrk="0" hangingPunct="1">
                        <a:lnSpc>
                          <a:spcPct val="100000"/>
                        </a:lnSpc>
                        <a:spcBef>
                          <a:spcPct val="0"/>
                        </a:spcBef>
                        <a:spcAft>
                          <a:spcPct val="0"/>
                        </a:spcAft>
                        <a:buClrTx/>
                        <a:buSzTx/>
                        <a:buFontTx/>
                        <a:buNone/>
                        <a:tabLst/>
                      </a:pPr>
                      <a:r>
                        <a:rPr kumimoji="0" lang="es-ES" sz="1600" b="0" i="0" u="none" strike="noStrike" cap="none" normalizeH="0" baseline="0" smtClean="0">
                          <a:ln>
                            <a:noFill/>
                          </a:ln>
                          <a:solidFill>
                            <a:schemeClr val="tx1"/>
                          </a:solidFill>
                          <a:effectLst/>
                          <a:latin typeface="+mn-lt"/>
                          <a:ea typeface="Times New Roman" pitchFamily="18" charset="0"/>
                          <a:cs typeface="Arial" charset="0"/>
                        </a:rPr>
                        <a:t>Hormigón </a:t>
                      </a:r>
                    </a:p>
                  </a:txBody>
                  <a:tcPr marL="186331" marR="186331"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E5EEF7"/>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s-ES" sz="1600" b="0" i="0" u="none" strike="noStrike" cap="none" normalizeH="0" baseline="0" dirty="0" smtClean="0">
                          <a:ln>
                            <a:noFill/>
                          </a:ln>
                          <a:solidFill>
                            <a:schemeClr val="tx1"/>
                          </a:solidFill>
                          <a:effectLst/>
                          <a:latin typeface="+mn-lt"/>
                          <a:ea typeface="Times New Roman" pitchFamily="18" charset="0"/>
                          <a:cs typeface="Arial" charset="0"/>
                        </a:rPr>
                        <a:t>0,8</a:t>
                      </a:r>
                    </a:p>
                  </a:txBody>
                  <a:tcPr marL="186331" marR="186331"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E5EEF7"/>
                    </a:solidFill>
                  </a:tcPr>
                </a:tc>
              </a:tr>
              <a:tr h="21272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s-ES" sz="1600" b="0" i="0" u="none" strike="noStrike" cap="none" normalizeH="0" baseline="0" smtClean="0">
                          <a:ln>
                            <a:noFill/>
                          </a:ln>
                          <a:solidFill>
                            <a:schemeClr val="tx1"/>
                          </a:solidFill>
                          <a:effectLst/>
                          <a:latin typeface="+mn-lt"/>
                          <a:ea typeface="Times New Roman" pitchFamily="18" charset="0"/>
                          <a:cs typeface="Arial" charset="0"/>
                        </a:rPr>
                        <a:t>Hielo</a:t>
                      </a:r>
                    </a:p>
                  </a:txBody>
                  <a:tcPr marL="186331" marR="186331"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E5EEF7"/>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s-ES" sz="1600" b="0" i="0" u="none" strike="noStrike" cap="none" normalizeH="0" baseline="0" dirty="0" smtClean="0">
                          <a:ln>
                            <a:noFill/>
                          </a:ln>
                          <a:solidFill>
                            <a:schemeClr val="tx1"/>
                          </a:solidFill>
                          <a:effectLst/>
                          <a:latin typeface="+mn-lt"/>
                          <a:ea typeface="Times New Roman" pitchFamily="18" charset="0"/>
                          <a:cs typeface="Arial" charset="0"/>
                        </a:rPr>
                        <a:t>1,7-2</a:t>
                      </a:r>
                    </a:p>
                  </a:txBody>
                  <a:tcPr marL="186331" marR="186331"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E5EEF7"/>
                    </a:solidFill>
                  </a:tcPr>
                </a:tc>
              </a:tr>
              <a:tr h="21272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s-ES" sz="1600" b="0" i="0" u="none" strike="noStrike" cap="none" normalizeH="0" baseline="0" smtClean="0">
                          <a:ln>
                            <a:noFill/>
                          </a:ln>
                          <a:solidFill>
                            <a:schemeClr val="tx1"/>
                          </a:solidFill>
                          <a:effectLst/>
                          <a:latin typeface="+mn-lt"/>
                          <a:ea typeface="Times New Roman" pitchFamily="18" charset="0"/>
                          <a:cs typeface="Arial" charset="0"/>
                        </a:rPr>
                        <a:t>Agua </a:t>
                      </a:r>
                    </a:p>
                  </a:txBody>
                  <a:tcPr marL="186331" marR="186331"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E5EEF7"/>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s-ES" sz="1600" b="0" i="0" u="none" strike="noStrike" cap="none" normalizeH="0" baseline="0" dirty="0" smtClean="0">
                          <a:ln>
                            <a:noFill/>
                          </a:ln>
                          <a:solidFill>
                            <a:schemeClr val="tx1"/>
                          </a:solidFill>
                          <a:effectLst/>
                          <a:latin typeface="+mn-lt"/>
                          <a:ea typeface="Times New Roman" pitchFamily="18" charset="0"/>
                          <a:cs typeface="Arial" charset="0"/>
                        </a:rPr>
                        <a:t>0,59-0,60</a:t>
                      </a:r>
                    </a:p>
                  </a:txBody>
                  <a:tcPr marL="186331" marR="186331"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E5EEF7"/>
                    </a:solidFill>
                  </a:tcPr>
                </a:tc>
              </a:tr>
            </a:tbl>
          </a:graphicData>
        </a:graphic>
      </p:graphicFrame>
      <p:graphicFrame>
        <p:nvGraphicFramePr>
          <p:cNvPr id="7" name="Group 124"/>
          <p:cNvGraphicFramePr>
            <a:graphicFrameLocks/>
          </p:cNvGraphicFramePr>
          <p:nvPr>
            <p:extLst>
              <p:ext uri="{D42A27DB-BD31-4B8C-83A1-F6EECF244321}">
                <p14:modId xmlns:p14="http://schemas.microsoft.com/office/powerpoint/2010/main" val="66699706"/>
              </p:ext>
            </p:extLst>
          </p:nvPr>
        </p:nvGraphicFramePr>
        <p:xfrm>
          <a:off x="5817096" y="1700808"/>
          <a:ext cx="3816350" cy="2817497"/>
        </p:xfrm>
        <a:graphic>
          <a:graphicData uri="http://schemas.openxmlformats.org/drawingml/2006/table">
            <a:tbl>
              <a:tblPr/>
              <a:tblGrid>
                <a:gridCol w="1512887"/>
                <a:gridCol w="2303463"/>
              </a:tblGrid>
              <a:tr h="5667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1600" b="0" i="0" u="none" strike="noStrike" cap="none" normalizeH="0" baseline="0" dirty="0" smtClean="0">
                          <a:ln>
                            <a:noFill/>
                          </a:ln>
                          <a:solidFill>
                            <a:schemeClr val="bg1"/>
                          </a:solidFill>
                          <a:effectLst/>
                          <a:latin typeface="+mn-lt"/>
                          <a:ea typeface="Times New Roman" pitchFamily="18" charset="0"/>
                          <a:cs typeface="Arial" charset="0"/>
                        </a:rPr>
                        <a:t>Sustancia</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339933"/>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1600" b="0" i="0" u="none" strike="noStrike" cap="none" normalizeH="0" baseline="0" dirty="0" smtClean="0">
                          <a:ln>
                            <a:noFill/>
                          </a:ln>
                          <a:solidFill>
                            <a:schemeClr val="bg1"/>
                          </a:solidFill>
                          <a:effectLst/>
                          <a:latin typeface="+mn-lt"/>
                          <a:ea typeface="Times New Roman" pitchFamily="18" charset="0"/>
                          <a:cs typeface="Arial" charset="0"/>
                        </a:rPr>
                        <a:t>Conductividad térmica</a:t>
                      </a:r>
                    </a:p>
                    <a:p>
                      <a:pPr marL="0" marR="0" lvl="0" indent="0" algn="ctr" defTabSz="914400" rtl="0" eaLnBrk="1" fontAlgn="base" latinLnBrk="0" hangingPunct="1">
                        <a:lnSpc>
                          <a:spcPct val="100000"/>
                        </a:lnSpc>
                        <a:spcBef>
                          <a:spcPct val="0"/>
                        </a:spcBef>
                        <a:spcAft>
                          <a:spcPct val="0"/>
                        </a:spcAft>
                        <a:buClrTx/>
                        <a:buSzTx/>
                        <a:buFontTx/>
                        <a:buNone/>
                        <a:tabLst/>
                      </a:pPr>
                      <a:r>
                        <a:rPr kumimoji="0" lang="es-ES" sz="1600" b="0" i="0" u="none" strike="noStrike" cap="none" normalizeH="0" baseline="0" dirty="0" smtClean="0">
                          <a:ln>
                            <a:noFill/>
                          </a:ln>
                          <a:solidFill>
                            <a:schemeClr val="bg1"/>
                          </a:solidFill>
                          <a:effectLst/>
                          <a:latin typeface="+mn-lt"/>
                          <a:ea typeface="Times New Roman" pitchFamily="18" charset="0"/>
                          <a:cs typeface="Arial" charset="0"/>
                        </a:rPr>
                        <a:t>(W/m ºC )</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339933"/>
                    </a:solidFill>
                  </a:tcPr>
                </a:tc>
              </a:tr>
              <a:tr h="371475">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1600" b="0" i="0" u="none" strike="noStrike" cap="none" normalizeH="0" baseline="0" dirty="0" smtClean="0">
                          <a:ln>
                            <a:noFill/>
                          </a:ln>
                          <a:solidFill>
                            <a:schemeClr val="tx1"/>
                          </a:solidFill>
                          <a:effectLst/>
                          <a:latin typeface="+mn-lt"/>
                          <a:ea typeface="Times New Roman" pitchFamily="18" charset="0"/>
                          <a:cs typeface="Arial" charset="0"/>
                        </a:rPr>
                        <a:t>Gases (a 25 ºC )</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5FFD9"/>
                    </a:solidFill>
                  </a:tcPr>
                </a:tc>
                <a:tc hMerge="1">
                  <a:txBody>
                    <a:bodyPr/>
                    <a:lstStyle/>
                    <a:p>
                      <a:endParaRPr lang="es-MX"/>
                    </a:p>
                  </a:txBody>
                  <a:tcPr/>
                </a:tc>
              </a:tr>
              <a:tr h="3730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1600" b="0" i="0" u="none" strike="noStrike" cap="none" normalizeH="0" baseline="0" smtClean="0">
                          <a:ln>
                            <a:noFill/>
                          </a:ln>
                          <a:solidFill>
                            <a:schemeClr val="tx1"/>
                          </a:solidFill>
                          <a:effectLst/>
                          <a:latin typeface="+mn-lt"/>
                          <a:ea typeface="Times New Roman" pitchFamily="18" charset="0"/>
                          <a:cs typeface="Arial" charset="0"/>
                        </a:rPr>
                        <a:t>Aire</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5FFD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1600" b="0" i="0" u="none" strike="noStrike" cap="none" normalizeH="0" baseline="0" dirty="0" smtClean="0">
                          <a:ln>
                            <a:noFill/>
                          </a:ln>
                          <a:solidFill>
                            <a:schemeClr val="tx1"/>
                          </a:solidFill>
                          <a:effectLst/>
                          <a:latin typeface="+mn-lt"/>
                          <a:ea typeface="Times New Roman" pitchFamily="18" charset="0"/>
                          <a:cs typeface="Arial" charset="0"/>
                        </a:rPr>
                        <a:t>0,0234</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5FFD9"/>
                    </a:solidFill>
                  </a:tcPr>
                </a:tc>
              </a:tr>
              <a:tr h="3746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1600" b="0" i="0" u="none" strike="noStrike" cap="none" normalizeH="0" baseline="0" smtClean="0">
                          <a:ln>
                            <a:noFill/>
                          </a:ln>
                          <a:solidFill>
                            <a:schemeClr val="tx1"/>
                          </a:solidFill>
                          <a:effectLst/>
                          <a:latin typeface="+mn-lt"/>
                          <a:ea typeface="Times New Roman" pitchFamily="18" charset="0"/>
                          <a:cs typeface="Arial" charset="0"/>
                        </a:rPr>
                        <a:t>Helio</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5FFD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1600" b="0" i="0" u="none" strike="noStrike" cap="none" normalizeH="0" baseline="0" dirty="0" smtClean="0">
                          <a:ln>
                            <a:noFill/>
                          </a:ln>
                          <a:solidFill>
                            <a:schemeClr val="tx1"/>
                          </a:solidFill>
                          <a:effectLst/>
                          <a:latin typeface="+mn-lt"/>
                          <a:ea typeface="Times New Roman" pitchFamily="18" charset="0"/>
                          <a:cs typeface="Arial" charset="0"/>
                        </a:rPr>
                        <a:t>0,138</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5FFD9"/>
                    </a:solidFill>
                  </a:tcPr>
                </a:tc>
              </a:tr>
              <a:tr h="3730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1600" b="0" i="0" u="none" strike="noStrike" cap="none" normalizeH="0" baseline="0" dirty="0" smtClean="0">
                          <a:ln>
                            <a:noFill/>
                          </a:ln>
                          <a:solidFill>
                            <a:schemeClr val="tx1"/>
                          </a:solidFill>
                          <a:effectLst/>
                          <a:latin typeface="+mn-lt"/>
                          <a:ea typeface="Times New Roman" pitchFamily="18" charset="0"/>
                          <a:cs typeface="Arial" charset="0"/>
                        </a:rPr>
                        <a:t>Hidrógeno</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5FFD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1600" b="0" i="0" u="none" strike="noStrike" cap="none" normalizeH="0" baseline="0" dirty="0" smtClean="0">
                          <a:ln>
                            <a:noFill/>
                          </a:ln>
                          <a:solidFill>
                            <a:schemeClr val="tx1"/>
                          </a:solidFill>
                          <a:effectLst/>
                          <a:latin typeface="+mn-lt"/>
                          <a:ea typeface="Times New Roman" pitchFamily="18" charset="0"/>
                          <a:cs typeface="Arial" charset="0"/>
                        </a:rPr>
                        <a:t>0,172</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5FFD9"/>
                    </a:solidFill>
                  </a:tcPr>
                </a:tc>
              </a:tr>
              <a:tr h="3730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1600" b="0" i="0" u="none" strike="noStrike" cap="none" normalizeH="0" baseline="0" smtClean="0">
                          <a:ln>
                            <a:noFill/>
                          </a:ln>
                          <a:solidFill>
                            <a:schemeClr val="tx1"/>
                          </a:solidFill>
                          <a:effectLst/>
                          <a:latin typeface="+mn-lt"/>
                          <a:ea typeface="Times New Roman" pitchFamily="18" charset="0"/>
                          <a:cs typeface="Arial" charset="0"/>
                        </a:rPr>
                        <a:t>Nitrógeno</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5FFD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1600" b="0" i="0" u="none" strike="noStrike" cap="none" normalizeH="0" baseline="0" dirty="0" smtClean="0">
                          <a:ln>
                            <a:noFill/>
                          </a:ln>
                          <a:solidFill>
                            <a:schemeClr val="tx1"/>
                          </a:solidFill>
                          <a:effectLst/>
                          <a:latin typeface="+mn-lt"/>
                          <a:ea typeface="Times New Roman" pitchFamily="18" charset="0"/>
                          <a:cs typeface="Arial" charset="0"/>
                        </a:rPr>
                        <a:t>0,0234</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5FFD9"/>
                    </a:solidFill>
                  </a:tcPr>
                </a:tc>
              </a:tr>
              <a:tr h="3730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1600" b="0" i="0" u="none" strike="noStrike" cap="none" normalizeH="0" baseline="0" smtClean="0">
                          <a:ln>
                            <a:noFill/>
                          </a:ln>
                          <a:solidFill>
                            <a:schemeClr val="tx1"/>
                          </a:solidFill>
                          <a:effectLst/>
                          <a:latin typeface="+mn-lt"/>
                          <a:ea typeface="Times New Roman" pitchFamily="18" charset="0"/>
                          <a:cs typeface="Arial" charset="0"/>
                        </a:rPr>
                        <a:t>Oxígeno</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5FFD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1600" b="0" i="0" u="none" strike="noStrike" cap="none" normalizeH="0" baseline="0" dirty="0" smtClean="0">
                          <a:ln>
                            <a:noFill/>
                          </a:ln>
                          <a:solidFill>
                            <a:schemeClr val="tx1"/>
                          </a:solidFill>
                          <a:effectLst/>
                          <a:latin typeface="+mn-lt"/>
                          <a:ea typeface="Times New Roman" pitchFamily="18" charset="0"/>
                          <a:cs typeface="Arial" charset="0"/>
                        </a:rPr>
                        <a:t>0,0238</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5FFD9"/>
                    </a:solidFill>
                  </a:tcPr>
                </a:tc>
              </a:tr>
            </a:tbl>
          </a:graphicData>
        </a:graphic>
      </p:graphicFrame>
      <p:graphicFrame>
        <p:nvGraphicFramePr>
          <p:cNvPr id="9" name="Group 127"/>
          <p:cNvGraphicFramePr>
            <a:graphicFrameLocks noGrp="1"/>
          </p:cNvGraphicFramePr>
          <p:nvPr>
            <p:extLst>
              <p:ext uri="{D42A27DB-BD31-4B8C-83A1-F6EECF244321}">
                <p14:modId xmlns:p14="http://schemas.microsoft.com/office/powerpoint/2010/main" val="2012275445"/>
              </p:ext>
            </p:extLst>
          </p:nvPr>
        </p:nvGraphicFramePr>
        <p:xfrm>
          <a:off x="5747028" y="4711954"/>
          <a:ext cx="3852862" cy="1366203"/>
        </p:xfrm>
        <a:graphic>
          <a:graphicData uri="http://schemas.openxmlformats.org/drawingml/2006/table">
            <a:tbl>
              <a:tblPr/>
              <a:tblGrid>
                <a:gridCol w="2424102"/>
                <a:gridCol w="1428760"/>
              </a:tblGrid>
              <a:tr h="360363">
                <a:tc gridSpan="2">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s-ES" sz="1600" b="0" i="0" u="none" strike="noStrike" cap="none" normalizeH="0" baseline="0" dirty="0" smtClean="0">
                          <a:ln>
                            <a:noFill/>
                          </a:ln>
                          <a:solidFill>
                            <a:schemeClr val="bg1"/>
                          </a:solidFill>
                          <a:effectLst/>
                          <a:latin typeface="+mn-lt"/>
                          <a:ea typeface="Times New Roman" pitchFamily="18" charset="0"/>
                          <a:cs typeface="Arial" charset="0"/>
                        </a:rPr>
                        <a:t>Otros materiales</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336699"/>
                    </a:solidFill>
                  </a:tcPr>
                </a:tc>
                <a:tc hMerge="1">
                  <a:txBody>
                    <a:bodyPr/>
                    <a:lstStyle/>
                    <a:p>
                      <a:endParaRPr lang="es-MX"/>
                    </a:p>
                  </a:txBody>
                  <a:tcPr/>
                </a:tc>
              </a:tr>
              <a:tr h="14287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s-ES" sz="1600" b="0" i="0" u="none" strike="noStrike" cap="none" normalizeH="0" baseline="0" dirty="0" smtClean="0">
                          <a:ln>
                            <a:noFill/>
                          </a:ln>
                          <a:solidFill>
                            <a:schemeClr val="tx1"/>
                          </a:solidFill>
                          <a:effectLst/>
                          <a:latin typeface="+mn-lt"/>
                          <a:ea typeface="Times New Roman" pitchFamily="18" charset="0"/>
                          <a:cs typeface="Arial" charset="0"/>
                        </a:rPr>
                        <a:t>Músculo animal. Grasa</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E5EEF7"/>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s-ES" sz="1600" b="0" i="0" u="none" strike="noStrike" cap="none" normalizeH="0" baseline="0" smtClean="0">
                          <a:ln>
                            <a:noFill/>
                          </a:ln>
                          <a:solidFill>
                            <a:schemeClr val="tx1"/>
                          </a:solidFill>
                          <a:effectLst/>
                          <a:latin typeface="+mn-lt"/>
                          <a:ea typeface="Times New Roman" pitchFamily="18" charset="0"/>
                          <a:cs typeface="Arial" charset="0"/>
                        </a:rPr>
                        <a:t>0,2</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E5EEF7"/>
                    </a:solidFill>
                  </a:tcPr>
                </a:tc>
              </a:tr>
              <a:tr h="3175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s-ES" sz="1600" b="0" i="0" u="none" strike="noStrike" cap="none" normalizeH="0" baseline="0" dirty="0" smtClean="0">
                          <a:ln>
                            <a:noFill/>
                          </a:ln>
                          <a:solidFill>
                            <a:schemeClr val="tx1"/>
                          </a:solidFill>
                          <a:effectLst/>
                          <a:latin typeface="+mn-lt"/>
                          <a:ea typeface="Times New Roman" pitchFamily="18" charset="0"/>
                          <a:cs typeface="Arial" charset="0"/>
                        </a:rPr>
                        <a:t>Fieltro. Lana mineral</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E5EEF7"/>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s-ES" sz="1600" b="0" i="0" u="none" strike="noStrike" cap="none" normalizeH="0" baseline="0" smtClean="0">
                          <a:ln>
                            <a:noFill/>
                          </a:ln>
                          <a:solidFill>
                            <a:schemeClr val="tx1"/>
                          </a:solidFill>
                          <a:effectLst/>
                          <a:latin typeface="+mn-lt"/>
                          <a:ea typeface="Times New Roman" pitchFamily="18" charset="0"/>
                          <a:cs typeface="Arial" charset="0"/>
                        </a:rPr>
                        <a:t>0,04</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E5EEF7"/>
                    </a:solidFill>
                  </a:tcPr>
                </a:tc>
              </a:tr>
              <a:tr h="14287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s-ES" sz="1600" b="0" i="0" u="none" strike="noStrike" cap="none" normalizeH="0" baseline="0" dirty="0" smtClean="0">
                          <a:ln>
                            <a:noFill/>
                          </a:ln>
                          <a:solidFill>
                            <a:schemeClr val="tx1"/>
                          </a:solidFill>
                          <a:effectLst/>
                          <a:latin typeface="+mn-lt"/>
                          <a:ea typeface="Times New Roman" pitchFamily="18" charset="0"/>
                          <a:cs typeface="Arial" charset="0"/>
                        </a:rPr>
                        <a:t>Vello</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E5EEF7"/>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s-ES" sz="1600" b="0" i="0" u="none" strike="noStrike" cap="none" normalizeH="0" baseline="0" dirty="0" smtClean="0">
                          <a:ln>
                            <a:noFill/>
                          </a:ln>
                          <a:solidFill>
                            <a:schemeClr val="tx1"/>
                          </a:solidFill>
                          <a:effectLst/>
                          <a:latin typeface="+mn-lt"/>
                          <a:ea typeface="Times New Roman" pitchFamily="18" charset="0"/>
                          <a:cs typeface="Arial" charset="0"/>
                        </a:rPr>
                        <a:t>0,019</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E5EEF7"/>
                    </a:solidFill>
                  </a:tcPr>
                </a:tc>
              </a:tr>
            </a:tbl>
          </a:graphicData>
        </a:graphic>
      </p:graphicFrame>
    </p:spTree>
    <p:extLst>
      <p:ext uri="{BB962C8B-B14F-4D97-AF65-F5344CB8AC3E}">
        <p14:creationId xmlns:p14="http://schemas.microsoft.com/office/powerpoint/2010/main" val="2757460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linds(horizontal)">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14" name="Rectángulo redondeado 13"/>
          <p:cNvSpPr/>
          <p:nvPr/>
        </p:nvSpPr>
        <p:spPr>
          <a:xfrm>
            <a:off x="1712640" y="764704"/>
            <a:ext cx="2232248" cy="461665"/>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s-PE" sz="2400" dirty="0" smtClean="0">
                <a:solidFill>
                  <a:schemeClr val="tx1"/>
                </a:solidFill>
              </a:rPr>
              <a:t>EJEMPLOS</a:t>
            </a:r>
            <a:endParaRPr lang="es-PE" sz="2800" dirty="0">
              <a:solidFill>
                <a:schemeClr val="tx1"/>
              </a:solidFill>
            </a:endParaRPr>
          </a:p>
        </p:txBody>
      </p:sp>
      <p:sp>
        <p:nvSpPr>
          <p:cNvPr id="5" name="Rectángulo 4"/>
          <p:cNvSpPr/>
          <p:nvPr/>
        </p:nvSpPr>
        <p:spPr>
          <a:xfrm>
            <a:off x="632520" y="1772816"/>
            <a:ext cx="8784976" cy="1754326"/>
          </a:xfrm>
          <a:prstGeom prst="rect">
            <a:avLst/>
          </a:prstGeom>
        </p:spPr>
        <p:txBody>
          <a:bodyPr wrap="square">
            <a:spAutoFit/>
          </a:bodyPr>
          <a:lstStyle/>
          <a:p>
            <a:pPr algn="just">
              <a:spcBef>
                <a:spcPct val="0"/>
              </a:spcBef>
            </a:pPr>
            <a:r>
              <a:rPr lang="es-ES" dirty="0"/>
              <a:t>Una barra de acero de 10,0 cm de longitud se suelda a tope con una de cobre de 20,0 cm de longitud. Ambas están perfectamente aisladas por sus costados. Las barras tienen la misma sección transversal cuadrada de 2,00 cm de lado. El extremo libre de la barra de acero se mantiene a 100 </a:t>
            </a:r>
            <a:r>
              <a:rPr lang="es-ES" dirty="0" err="1"/>
              <a:t>ºC</a:t>
            </a:r>
            <a:r>
              <a:rPr lang="es-ES" dirty="0"/>
              <a:t> colocándolo en contacto con vapor de agua, y el de la barra de cobre se mantiene a 0 </a:t>
            </a:r>
            <a:r>
              <a:rPr lang="es-ES" dirty="0" err="1"/>
              <a:t>ºC</a:t>
            </a:r>
            <a:r>
              <a:rPr lang="es-ES" dirty="0"/>
              <a:t> colocándolo en contacto con hielo. Calcule la temperatura de la unión de las dos barras y la razón de flujo de calor.</a:t>
            </a:r>
          </a:p>
        </p:txBody>
      </p:sp>
      <p:grpSp>
        <p:nvGrpSpPr>
          <p:cNvPr id="7" name="14 Grupo"/>
          <p:cNvGrpSpPr>
            <a:grpSpLocks/>
          </p:cNvGrpSpPr>
          <p:nvPr/>
        </p:nvGrpSpPr>
        <p:grpSpPr bwMode="auto">
          <a:xfrm>
            <a:off x="416496" y="3717032"/>
            <a:ext cx="5016018" cy="2171700"/>
            <a:chOff x="6072198" y="1533241"/>
            <a:chExt cx="5016018" cy="2171700"/>
          </a:xfrm>
        </p:grpSpPr>
        <p:pic>
          <p:nvPicPr>
            <p:cNvPr id="8" name="Picture 13"/>
            <p:cNvPicPr>
              <a:picLocks noChangeAspect="1" noChangeArrowheads="1"/>
            </p:cNvPicPr>
            <p:nvPr/>
          </p:nvPicPr>
          <p:blipFill>
            <a:blip r:embed="rId2" cstate="print"/>
            <a:srcRect/>
            <a:stretch>
              <a:fillRect/>
            </a:stretch>
          </p:blipFill>
          <p:spPr bwMode="auto">
            <a:xfrm>
              <a:off x="6582891" y="1533241"/>
              <a:ext cx="4505325" cy="2171700"/>
            </a:xfrm>
            <a:prstGeom prst="rect">
              <a:avLst/>
            </a:prstGeom>
            <a:noFill/>
            <a:ln w="9525">
              <a:noFill/>
              <a:miter lim="800000"/>
              <a:headEnd/>
              <a:tailEnd/>
            </a:ln>
          </p:spPr>
        </p:pic>
        <p:sp>
          <p:nvSpPr>
            <p:cNvPr id="9" name="13 CuadroTexto"/>
            <p:cNvSpPr txBox="1">
              <a:spLocks noChangeArrowheads="1"/>
            </p:cNvSpPr>
            <p:nvPr/>
          </p:nvSpPr>
          <p:spPr bwMode="auto">
            <a:xfrm>
              <a:off x="6072198" y="2643182"/>
              <a:ext cx="325730" cy="369332"/>
            </a:xfrm>
            <a:prstGeom prst="rect">
              <a:avLst/>
            </a:prstGeom>
            <a:noFill/>
            <a:ln w="9525">
              <a:noFill/>
              <a:miter lim="800000"/>
              <a:headEnd/>
              <a:tailEnd/>
            </a:ln>
          </p:spPr>
          <p:txBody>
            <a:bodyPr wrap="none">
              <a:spAutoFit/>
            </a:bodyPr>
            <a:lstStyle/>
            <a:p>
              <a:r>
                <a:rPr lang="es-ES" sz="1800" dirty="0">
                  <a:solidFill>
                    <a:schemeClr val="tx1"/>
                  </a:solidFill>
                  <a:latin typeface="Arial" charset="0"/>
                  <a:cs typeface="Arial" charset="0"/>
                </a:rPr>
                <a:t>T</a:t>
              </a:r>
            </a:p>
          </p:txBody>
        </p:sp>
      </p:grpSp>
    </p:spTree>
    <p:extLst>
      <p:ext uri="{BB962C8B-B14F-4D97-AF65-F5344CB8AC3E}">
        <p14:creationId xmlns:p14="http://schemas.microsoft.com/office/powerpoint/2010/main" val="286779606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14" name="Rectángulo redondeado 13"/>
          <p:cNvSpPr/>
          <p:nvPr/>
        </p:nvSpPr>
        <p:spPr>
          <a:xfrm>
            <a:off x="1712640" y="764704"/>
            <a:ext cx="2376264" cy="461665"/>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s-PE" sz="2400" dirty="0" smtClean="0">
                <a:solidFill>
                  <a:schemeClr val="tx1"/>
                </a:solidFill>
              </a:rPr>
              <a:t>EJERCICIO</a:t>
            </a:r>
            <a:endParaRPr lang="es-PE" sz="2800" dirty="0">
              <a:solidFill>
                <a:schemeClr val="tx1"/>
              </a:solidFill>
            </a:endParaRPr>
          </a:p>
        </p:txBody>
      </p:sp>
      <p:sp>
        <p:nvSpPr>
          <p:cNvPr id="3" name="Rectángulo 2"/>
          <p:cNvSpPr/>
          <p:nvPr/>
        </p:nvSpPr>
        <p:spPr>
          <a:xfrm>
            <a:off x="424272" y="1754973"/>
            <a:ext cx="4528728" cy="2585323"/>
          </a:xfrm>
          <a:prstGeom prst="rect">
            <a:avLst/>
          </a:prstGeom>
        </p:spPr>
        <p:txBody>
          <a:bodyPr wrap="square">
            <a:spAutoFit/>
          </a:bodyPr>
          <a:lstStyle/>
          <a:p>
            <a:pPr algn="just"/>
            <a:r>
              <a:rPr lang="es-PE" dirty="0">
                <a:latin typeface="NewBaskerville-Roman"/>
              </a:rPr>
              <a:t>El interior de un cilindro hueco se mantiene a una </a:t>
            </a:r>
            <a:r>
              <a:rPr lang="es-PE" dirty="0" smtClean="0">
                <a:latin typeface="NewBaskerville-Roman"/>
              </a:rPr>
              <a:t>temperatura </a:t>
            </a:r>
            <a:r>
              <a:rPr lang="es-PE" i="1" dirty="0" smtClean="0">
                <a:latin typeface="NewBaskerville-Italic"/>
              </a:rPr>
              <a:t>T</a:t>
            </a:r>
            <a:r>
              <a:rPr lang="es-PE" sz="800" i="1" dirty="0" smtClean="0">
                <a:latin typeface="NewBaskerville-Italic"/>
              </a:rPr>
              <a:t>a </a:t>
            </a:r>
            <a:r>
              <a:rPr lang="es-PE" dirty="0">
                <a:latin typeface="NewBaskerville-Roman"/>
              </a:rPr>
              <a:t>mientras que el exterior esta a una temperatura menor </a:t>
            </a:r>
            <a:r>
              <a:rPr lang="es-PE" i="1" dirty="0" smtClean="0">
                <a:latin typeface="NewBaskerville-Italic"/>
              </a:rPr>
              <a:t>T</a:t>
            </a:r>
            <a:r>
              <a:rPr lang="es-PE" sz="800" i="1" dirty="0" smtClean="0">
                <a:latin typeface="NewBaskerville-Italic"/>
              </a:rPr>
              <a:t>b </a:t>
            </a:r>
            <a:r>
              <a:rPr lang="es-PE" dirty="0" smtClean="0">
                <a:latin typeface="NewBaskerville-Roman"/>
              </a:rPr>
              <a:t>. </a:t>
            </a:r>
            <a:r>
              <a:rPr lang="es-PE" dirty="0">
                <a:latin typeface="NewBaskerville-Roman"/>
              </a:rPr>
              <a:t>La pared del cilindro tiene una </a:t>
            </a:r>
            <a:r>
              <a:rPr lang="es-PE" dirty="0" smtClean="0">
                <a:latin typeface="NewBaskerville-Roman"/>
              </a:rPr>
              <a:t>conductividad térmica </a:t>
            </a:r>
            <a:r>
              <a:rPr lang="es-PE" i="1" dirty="0">
                <a:latin typeface="NewBaskerville-Italic"/>
              </a:rPr>
              <a:t>k</a:t>
            </a:r>
            <a:r>
              <a:rPr lang="es-PE" dirty="0">
                <a:latin typeface="NewBaskerville-Roman"/>
              </a:rPr>
              <a:t>. Si ignora los efectos de los extremos, </a:t>
            </a:r>
            <a:r>
              <a:rPr lang="es-PE" dirty="0" smtClean="0">
                <a:latin typeface="NewBaskerville-Roman"/>
              </a:rPr>
              <a:t>determine la </a:t>
            </a:r>
            <a:r>
              <a:rPr lang="es-PE" dirty="0">
                <a:latin typeface="NewBaskerville-Roman"/>
              </a:rPr>
              <a:t>rapidez de </a:t>
            </a:r>
            <a:r>
              <a:rPr lang="es-PE" dirty="0" smtClean="0">
                <a:latin typeface="NewBaskerville-Roman"/>
              </a:rPr>
              <a:t>conducción </a:t>
            </a:r>
            <a:r>
              <a:rPr lang="es-PE" dirty="0">
                <a:latin typeface="NewBaskerville-Roman"/>
              </a:rPr>
              <a:t>de </a:t>
            </a:r>
            <a:r>
              <a:rPr lang="es-PE" dirty="0" smtClean="0">
                <a:latin typeface="NewBaskerville-Roman"/>
              </a:rPr>
              <a:t>energía </a:t>
            </a:r>
            <a:r>
              <a:rPr lang="es-PE" dirty="0">
                <a:latin typeface="NewBaskerville-Roman"/>
              </a:rPr>
              <a:t>desde la superficie </a:t>
            </a:r>
            <a:r>
              <a:rPr lang="es-PE" dirty="0" smtClean="0">
                <a:latin typeface="NewBaskerville-Roman"/>
              </a:rPr>
              <a:t>interior hasta </a:t>
            </a:r>
            <a:r>
              <a:rPr lang="es-PE" dirty="0">
                <a:latin typeface="NewBaskerville-Roman"/>
              </a:rPr>
              <a:t>la exterior en la </a:t>
            </a:r>
            <a:r>
              <a:rPr lang="es-PE" dirty="0" err="1">
                <a:latin typeface="NewBaskerville-Roman"/>
              </a:rPr>
              <a:t>direccion</a:t>
            </a:r>
            <a:r>
              <a:rPr lang="es-PE" dirty="0">
                <a:latin typeface="NewBaskerville-Roman"/>
              </a:rPr>
              <a:t> </a:t>
            </a:r>
            <a:r>
              <a:rPr lang="es-PE" dirty="0" smtClean="0">
                <a:latin typeface="NewBaskerville-Roman"/>
              </a:rPr>
              <a:t>radial.</a:t>
            </a:r>
            <a:endParaRPr lang="es-PE" dirty="0"/>
          </a:p>
        </p:txBody>
      </p:sp>
      <p:pic>
        <p:nvPicPr>
          <p:cNvPr id="7" name="Imagen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2520" y="4365104"/>
            <a:ext cx="1609950" cy="1981477"/>
          </a:xfrm>
          <a:prstGeom prst="rect">
            <a:avLst/>
          </a:prstGeom>
        </p:spPr>
      </p:pic>
      <p:sp>
        <p:nvSpPr>
          <p:cNvPr id="9" name="Rectángulo 8"/>
          <p:cNvSpPr/>
          <p:nvPr/>
        </p:nvSpPr>
        <p:spPr>
          <a:xfrm>
            <a:off x="5241032" y="1762957"/>
            <a:ext cx="4176464" cy="3139321"/>
          </a:xfrm>
          <a:prstGeom prst="rect">
            <a:avLst/>
          </a:prstGeom>
        </p:spPr>
        <p:txBody>
          <a:bodyPr wrap="square">
            <a:spAutoFit/>
          </a:bodyPr>
          <a:lstStyle/>
          <a:p>
            <a:pPr algn="just"/>
            <a:r>
              <a:rPr lang="es-PE" dirty="0">
                <a:latin typeface="NewBaskerville-Roman"/>
              </a:rPr>
              <a:t>Un cascaron </a:t>
            </a:r>
            <a:r>
              <a:rPr lang="es-PE" dirty="0" smtClean="0">
                <a:latin typeface="NewBaskerville-Roman"/>
              </a:rPr>
              <a:t>esférico </a:t>
            </a:r>
            <a:r>
              <a:rPr lang="es-PE" dirty="0">
                <a:latin typeface="NewBaskerville-Roman"/>
              </a:rPr>
              <a:t>tiene </a:t>
            </a:r>
            <a:r>
              <a:rPr lang="es-PE" dirty="0" smtClean="0">
                <a:latin typeface="NewBaskerville-Roman"/>
              </a:rPr>
              <a:t>3,00 </a:t>
            </a:r>
            <a:r>
              <a:rPr lang="es-PE" dirty="0">
                <a:latin typeface="NewBaskerville-Roman"/>
              </a:rPr>
              <a:t>cm de radio interior </a:t>
            </a:r>
            <a:r>
              <a:rPr lang="es-PE" dirty="0" smtClean="0">
                <a:latin typeface="NewBaskerville-Roman"/>
              </a:rPr>
              <a:t>y 7,00 </a:t>
            </a:r>
            <a:r>
              <a:rPr lang="es-PE" dirty="0">
                <a:latin typeface="NewBaskerville-Roman"/>
              </a:rPr>
              <a:t>cm de radio exterior. Esta hecho de material con </a:t>
            </a:r>
            <a:r>
              <a:rPr lang="es-PE" dirty="0" smtClean="0">
                <a:latin typeface="NewBaskerville-Roman"/>
              </a:rPr>
              <a:t>conductividad térmica </a:t>
            </a:r>
            <a:r>
              <a:rPr lang="es-PE" i="1" dirty="0">
                <a:latin typeface="NewBaskerville-Italic"/>
              </a:rPr>
              <a:t>k </a:t>
            </a:r>
            <a:r>
              <a:rPr lang="es-PE" i="1" dirty="0" smtClean="0">
                <a:latin typeface="NewBaskerville-Italic"/>
              </a:rPr>
              <a:t>= </a:t>
            </a:r>
            <a:r>
              <a:rPr lang="es-PE" dirty="0" smtClean="0">
                <a:latin typeface="NewBaskerville-Roman"/>
              </a:rPr>
              <a:t>0.800 </a:t>
            </a:r>
            <a:r>
              <a:rPr lang="es-PE" dirty="0">
                <a:latin typeface="NewBaskerville-Roman"/>
              </a:rPr>
              <a:t>W/m </a:t>
            </a:r>
            <a:r>
              <a:rPr lang="es-PE" dirty="0" smtClean="0">
                <a:latin typeface="NewBaskerville-Roman"/>
              </a:rPr>
              <a:t>°C</a:t>
            </a:r>
            <a:r>
              <a:rPr lang="es-PE" dirty="0">
                <a:latin typeface="NewBaskerville-Roman"/>
              </a:rPr>
              <a:t>. El interior se mantiene </a:t>
            </a:r>
            <a:r>
              <a:rPr lang="es-PE" dirty="0" smtClean="0">
                <a:latin typeface="NewBaskerville-Roman"/>
              </a:rPr>
              <a:t>a 5°C </a:t>
            </a:r>
            <a:r>
              <a:rPr lang="es-PE" dirty="0">
                <a:latin typeface="NewBaskerville-Roman"/>
              </a:rPr>
              <a:t>de temperatura y el exterior a 40°C. </a:t>
            </a:r>
            <a:r>
              <a:rPr lang="es-PE" dirty="0" smtClean="0">
                <a:latin typeface="NewBaskerville-Roman"/>
              </a:rPr>
              <a:t>Después </a:t>
            </a:r>
            <a:r>
              <a:rPr lang="es-PE" dirty="0">
                <a:latin typeface="NewBaskerville-Roman"/>
              </a:rPr>
              <a:t>de un </a:t>
            </a:r>
            <a:r>
              <a:rPr lang="es-PE" dirty="0" smtClean="0">
                <a:latin typeface="NewBaskerville-Roman"/>
              </a:rPr>
              <a:t>intervalo de </a:t>
            </a:r>
            <a:r>
              <a:rPr lang="es-PE" dirty="0">
                <a:latin typeface="NewBaskerville-Roman"/>
              </a:rPr>
              <a:t>tiempo, el cascaron alcanza un estado estable en el </a:t>
            </a:r>
            <a:r>
              <a:rPr lang="es-PE" dirty="0" smtClean="0">
                <a:latin typeface="NewBaskerville-Roman"/>
              </a:rPr>
              <a:t>que la </a:t>
            </a:r>
            <a:r>
              <a:rPr lang="es-PE" dirty="0">
                <a:latin typeface="NewBaskerville-Roman"/>
              </a:rPr>
              <a:t>temperatura en cada punto dentro de el se mantiene </a:t>
            </a:r>
            <a:r>
              <a:rPr lang="es-PE" dirty="0" smtClean="0">
                <a:latin typeface="NewBaskerville-Roman"/>
              </a:rPr>
              <a:t>constante en </a:t>
            </a:r>
            <a:r>
              <a:rPr lang="es-PE" dirty="0">
                <a:latin typeface="NewBaskerville-Roman"/>
              </a:rPr>
              <a:t>el </a:t>
            </a:r>
            <a:r>
              <a:rPr lang="es-PE" dirty="0" smtClean="0">
                <a:latin typeface="NewBaskerville-Roman"/>
              </a:rPr>
              <a:t>tiempo. Determine el Flujo de calor.</a:t>
            </a:r>
            <a:endParaRPr lang="es-PE" dirty="0"/>
          </a:p>
        </p:txBody>
      </p:sp>
    </p:spTree>
    <p:extLst>
      <p:ext uri="{BB962C8B-B14F-4D97-AF65-F5344CB8AC3E}">
        <p14:creationId xmlns:p14="http://schemas.microsoft.com/office/powerpoint/2010/main" val="13355280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15" name="Rectángulo redondeado 14"/>
          <p:cNvSpPr/>
          <p:nvPr/>
        </p:nvSpPr>
        <p:spPr>
          <a:xfrm>
            <a:off x="1669791" y="868377"/>
            <a:ext cx="3355217" cy="571401"/>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400" b="1" dirty="0" smtClean="0">
                <a:solidFill>
                  <a:schemeClr val="tx1"/>
                </a:solidFill>
              </a:rPr>
              <a:t>CONVECCIÓN DE CALOR</a:t>
            </a:r>
            <a:endParaRPr lang="es-PE" sz="2400" dirty="0">
              <a:solidFill>
                <a:schemeClr val="tx1"/>
              </a:solidFill>
            </a:endParaRPr>
          </a:p>
        </p:txBody>
      </p:sp>
      <p:sp>
        <p:nvSpPr>
          <p:cNvPr id="8" name="Content Placeholder 10"/>
          <p:cNvSpPr txBox="1">
            <a:spLocks/>
          </p:cNvSpPr>
          <p:nvPr/>
        </p:nvSpPr>
        <p:spPr>
          <a:xfrm>
            <a:off x="344488" y="1716575"/>
            <a:ext cx="4680520" cy="5141425"/>
          </a:xfrm>
          <a:prstGeom prst="rect">
            <a:avLst/>
          </a:prstGeom>
        </p:spPr>
        <p:txBody>
          <a:bodyPr>
            <a:normAutofit/>
          </a:bodyPr>
          <a:lstStyle>
            <a:lvl1pPr marL="342900" indent="-3429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1pPr>
            <a:lvl2pPr marL="742950" indent="-28575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2pPr>
            <a:lvl3pPr marL="11430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3pPr>
            <a:lvl4pPr marL="16002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4pPr>
            <a:lvl5pPr marL="20574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just">
              <a:buNone/>
            </a:pPr>
            <a:r>
              <a:rPr lang="es-PE" dirty="0" smtClean="0">
                <a:solidFill>
                  <a:schemeClr val="tx1"/>
                </a:solidFill>
              </a:rPr>
              <a:t>Cuando un </a:t>
            </a:r>
            <a:r>
              <a:rPr lang="es-PE" b="1" dirty="0" smtClean="0">
                <a:solidFill>
                  <a:schemeClr val="tx1"/>
                </a:solidFill>
              </a:rPr>
              <a:t>fluido </a:t>
            </a:r>
            <a:r>
              <a:rPr lang="es-PE" dirty="0" smtClean="0">
                <a:solidFill>
                  <a:schemeClr val="tx1"/>
                </a:solidFill>
              </a:rPr>
              <a:t>se calienta, sus partículas se mueven más rápido, se separan más unas de otras y el fluido se hace menos denso y sube. Cuando se enfría, se hace más denso y baja: se crean unas corrientes  (verticales), las cuales son denominadas corrientes de convección. Estas corrientes tienden a distribuir el calor por toda la masa del fluido.</a:t>
            </a:r>
          </a:p>
          <a:p>
            <a:pPr marL="0" indent="0" algn="just">
              <a:buNone/>
            </a:pPr>
            <a:endParaRPr lang="es-PE" dirty="0" smtClean="0">
              <a:solidFill>
                <a:schemeClr val="tx1"/>
              </a:solidFill>
            </a:endParaRPr>
          </a:p>
          <a:p>
            <a:pPr marL="0" indent="0" algn="just">
              <a:buNone/>
            </a:pPr>
            <a:r>
              <a:rPr lang="es-PE" dirty="0" smtClean="0">
                <a:solidFill>
                  <a:schemeClr val="tx1"/>
                </a:solidFill>
              </a:rPr>
              <a:t>En un fluido, la mayor parte del calor es transportado de una parte a otra del cuerpo por el mismo fluido.  Se produce también desplazamiento de la masa de líquido o de gas, arrastrada por las corrientes </a:t>
            </a:r>
            <a:r>
              <a:rPr lang="es-PE" dirty="0" err="1" smtClean="0">
                <a:solidFill>
                  <a:schemeClr val="tx1"/>
                </a:solidFill>
              </a:rPr>
              <a:t>convectivas</a:t>
            </a:r>
            <a:r>
              <a:rPr lang="es-PE" dirty="0" smtClean="0">
                <a:solidFill>
                  <a:schemeClr val="tx1"/>
                </a:solidFill>
              </a:rPr>
              <a:t>. La </a:t>
            </a:r>
            <a:r>
              <a:rPr lang="es-PE" i="1" dirty="0" smtClean="0">
                <a:solidFill>
                  <a:schemeClr val="tx1"/>
                </a:solidFill>
              </a:rPr>
              <a:t>Tasa de transmisión de calor</a:t>
            </a:r>
            <a:r>
              <a:rPr lang="es-PE" dirty="0" smtClean="0">
                <a:solidFill>
                  <a:schemeClr val="tx1"/>
                </a:solidFill>
              </a:rPr>
              <a:t> por convección</a:t>
            </a:r>
          </a:p>
          <a:p>
            <a:endParaRPr lang="es-PE" dirty="0"/>
          </a:p>
        </p:txBody>
      </p:sp>
      <p:graphicFrame>
        <p:nvGraphicFramePr>
          <p:cNvPr id="9" name="Object 5"/>
          <p:cNvGraphicFramePr>
            <a:graphicFrameLocks noChangeAspect="1"/>
          </p:cNvGraphicFramePr>
          <p:nvPr>
            <p:extLst>
              <p:ext uri="{D42A27DB-BD31-4B8C-83A1-F6EECF244321}">
                <p14:modId xmlns:p14="http://schemas.microsoft.com/office/powerpoint/2010/main" val="22850459"/>
              </p:ext>
            </p:extLst>
          </p:nvPr>
        </p:nvGraphicFramePr>
        <p:xfrm>
          <a:off x="6122592" y="4773671"/>
          <a:ext cx="1789124" cy="425878"/>
        </p:xfrm>
        <a:graphic>
          <a:graphicData uri="http://schemas.openxmlformats.org/presentationml/2006/ole">
            <mc:AlternateContent xmlns:mc="http://schemas.openxmlformats.org/markup-compatibility/2006">
              <mc:Choice xmlns:v="urn:schemas-microsoft-com:vml" Requires="v">
                <p:oleObj spid="_x0000_s10247" name="Equation" r:id="rId3" imgW="1651000" imgH="393700" progId="">
                  <p:embed/>
                </p:oleObj>
              </mc:Choice>
              <mc:Fallback>
                <p:oleObj name="Equation" r:id="rId3" imgW="1651000" imgH="393700"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22592" y="4773671"/>
                        <a:ext cx="1789124" cy="425878"/>
                      </a:xfrm>
                      <a:prstGeom prst="rect">
                        <a:avLst/>
                      </a:prstGeom>
                      <a:solidFill>
                        <a:schemeClr val="tx2">
                          <a:lumMod val="60000"/>
                          <a:lumOff val="40000"/>
                        </a:schemeClr>
                      </a:solidFill>
                      <a:ln>
                        <a:noFill/>
                      </a:ln>
                      <a:extLst/>
                    </p:spPr>
                  </p:pic>
                </p:oleObj>
              </mc:Fallback>
            </mc:AlternateContent>
          </a:graphicData>
        </a:graphic>
      </p:graphicFrame>
      <p:pic>
        <p:nvPicPr>
          <p:cNvPr id="10" name="Picture 4" descr="fisica_014_05p"/>
          <p:cNvPicPr>
            <a:picLocks noChangeAspect="1" noChangeArrowheads="1"/>
          </p:cNvPicPr>
          <p:nvPr/>
        </p:nvPicPr>
        <p:blipFill>
          <a:blip r:embed="rId5" cstate="print"/>
          <a:stretch>
            <a:fillRect/>
          </a:stretch>
        </p:blipFill>
        <p:spPr>
          <a:xfrm>
            <a:off x="5838182" y="1569037"/>
            <a:ext cx="3057525" cy="2876550"/>
          </a:xfrm>
          <a:prstGeom prst="rect">
            <a:avLst/>
          </a:prstGeom>
          <a:noFill/>
          <a:ln/>
        </p:spPr>
      </p:pic>
      <p:sp>
        <p:nvSpPr>
          <p:cNvPr id="11" name="Text Box 6"/>
          <p:cNvSpPr txBox="1">
            <a:spLocks noChangeArrowheads="1"/>
          </p:cNvSpPr>
          <p:nvPr/>
        </p:nvSpPr>
        <p:spPr bwMode="auto">
          <a:xfrm>
            <a:off x="5241032" y="5436327"/>
            <a:ext cx="4052888" cy="1311275"/>
          </a:xfrm>
          <a:prstGeom prst="rect">
            <a:avLst/>
          </a:prstGeom>
          <a:noFill/>
          <a:ln w="9525">
            <a:noFill/>
            <a:miter lim="800000"/>
            <a:headEnd/>
            <a:tailEnd/>
          </a:ln>
          <a:effectLst/>
        </p:spPr>
        <p:txBody>
          <a:bodyPr>
            <a:spAutoFit/>
          </a:bodyPr>
          <a:lstStyle/>
          <a:p>
            <a:pPr eaLnBrk="0" hangingPunct="0"/>
            <a:r>
              <a:rPr lang="es-ES" i="1" dirty="0">
                <a:solidFill>
                  <a:schemeClr val="tx1"/>
                </a:solidFill>
              </a:rPr>
              <a:t>Donde </a:t>
            </a:r>
            <a:r>
              <a:rPr lang="es-ES" b="1" i="1" dirty="0">
                <a:solidFill>
                  <a:srgbClr val="336699"/>
                </a:solidFill>
              </a:rPr>
              <a:t>A</a:t>
            </a:r>
            <a:r>
              <a:rPr lang="es-ES" i="1" dirty="0">
                <a:solidFill>
                  <a:schemeClr val="tx1"/>
                </a:solidFill>
              </a:rPr>
              <a:t> es el área superficial del cuerpo en contacto con el ambiente circundante y </a:t>
            </a:r>
            <a:r>
              <a:rPr lang="es-ES" b="1" i="1" dirty="0">
                <a:solidFill>
                  <a:srgbClr val="336699"/>
                </a:solidFill>
              </a:rPr>
              <a:t>h</a:t>
            </a:r>
            <a:r>
              <a:rPr lang="es-ES" i="1" dirty="0">
                <a:solidFill>
                  <a:schemeClr val="tx1"/>
                </a:solidFill>
              </a:rPr>
              <a:t> es el coeficiente de transferencia por convección.</a:t>
            </a:r>
          </a:p>
          <a:p>
            <a:pPr eaLnBrk="0" hangingPunct="0"/>
            <a:endParaRPr lang="es-ES" i="1" dirty="0">
              <a:solidFill>
                <a:schemeClr val="tx1"/>
              </a:solidFill>
            </a:endParaRPr>
          </a:p>
        </p:txBody>
      </p:sp>
    </p:spTree>
    <p:extLst>
      <p:ext uri="{BB962C8B-B14F-4D97-AF65-F5344CB8AC3E}">
        <p14:creationId xmlns:p14="http://schemas.microsoft.com/office/powerpoint/2010/main" val="1079660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linds(horizontal)">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5" name="Rectángulo redondeado 4"/>
          <p:cNvSpPr/>
          <p:nvPr/>
        </p:nvSpPr>
        <p:spPr>
          <a:xfrm>
            <a:off x="1856656" y="999723"/>
            <a:ext cx="1656184" cy="527069"/>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s-PE" sz="2400" dirty="0" smtClean="0">
                <a:solidFill>
                  <a:schemeClr val="tx1"/>
                </a:solidFill>
              </a:rPr>
              <a:t>EJEMPLO</a:t>
            </a:r>
            <a:endParaRPr lang="es-PE" sz="2400" b="1" dirty="0">
              <a:solidFill>
                <a:schemeClr val="tx1"/>
              </a:solidFill>
            </a:endParaRPr>
          </a:p>
        </p:txBody>
      </p:sp>
      <p:sp>
        <p:nvSpPr>
          <p:cNvPr id="3" name="Rectángulo 2"/>
          <p:cNvSpPr/>
          <p:nvPr/>
        </p:nvSpPr>
        <p:spPr>
          <a:xfrm>
            <a:off x="352494" y="1948218"/>
            <a:ext cx="4608512" cy="2333459"/>
          </a:xfrm>
          <a:prstGeom prst="rect">
            <a:avLst/>
          </a:prstGeom>
        </p:spPr>
        <p:txBody>
          <a:bodyPr wrap="square">
            <a:spAutoFit/>
          </a:bodyPr>
          <a:lstStyle/>
          <a:p>
            <a:pPr lvl="0" algn="just">
              <a:lnSpc>
                <a:spcPct val="115000"/>
              </a:lnSpc>
              <a:spcAft>
                <a:spcPts val="1000"/>
              </a:spcAft>
            </a:pPr>
            <a:r>
              <a:rPr lang="es-ES" sz="1600" dirty="0">
                <a:latin typeface="Arial" panose="020B0604020202020204" pitchFamily="34" charset="0"/>
                <a:ea typeface="Calibri" panose="020F0502020204030204" pitchFamily="34" charset="0"/>
                <a:cs typeface="Arial" panose="020B0604020202020204" pitchFamily="34" charset="0"/>
              </a:rPr>
              <a:t>El aire en contacto con la superficie del agua de un lago se encuentra a una temperatura T</a:t>
            </a:r>
            <a:r>
              <a:rPr lang="es-ES" sz="1600" baseline="-25000" dirty="0">
                <a:latin typeface="Arial" panose="020B0604020202020204" pitchFamily="34" charset="0"/>
                <a:ea typeface="Calibri" panose="020F0502020204030204" pitchFamily="34" charset="0"/>
                <a:cs typeface="Arial" panose="020B0604020202020204" pitchFamily="34" charset="0"/>
              </a:rPr>
              <a:t>2</a:t>
            </a:r>
            <a:r>
              <a:rPr lang="es-ES" sz="1600" dirty="0">
                <a:latin typeface="Arial" panose="020B0604020202020204" pitchFamily="34" charset="0"/>
                <a:ea typeface="Calibri" panose="020F0502020204030204" pitchFamily="34" charset="0"/>
                <a:cs typeface="Arial" panose="020B0604020202020204" pitchFamily="34" charset="0"/>
              </a:rPr>
              <a:t> = -20,0°C. Si la densidad del hielo es </a:t>
            </a:r>
            <a:r>
              <a:rPr lang="es-ES" sz="1600" dirty="0" err="1">
                <a:latin typeface="Arial" panose="020B0604020202020204" pitchFamily="34" charset="0"/>
                <a:ea typeface="SymbolMT"/>
                <a:cs typeface="Arial" panose="020B0604020202020204" pitchFamily="34" charset="0"/>
              </a:rPr>
              <a:t>ρ</a:t>
            </a:r>
            <a:r>
              <a:rPr lang="es-ES" sz="1600" baseline="-25000" dirty="0" err="1">
                <a:latin typeface="Arial" panose="020B0604020202020204" pitchFamily="34" charset="0"/>
                <a:ea typeface="Calibri" panose="020F0502020204030204" pitchFamily="34" charset="0"/>
                <a:cs typeface="Arial" panose="020B0604020202020204" pitchFamily="34" charset="0"/>
              </a:rPr>
              <a:t>h</a:t>
            </a:r>
            <a:r>
              <a:rPr lang="es-ES" sz="1600" dirty="0">
                <a:latin typeface="Arial" panose="020B0604020202020204" pitchFamily="34" charset="0"/>
                <a:ea typeface="Calibri" panose="020F0502020204030204" pitchFamily="34" charset="0"/>
                <a:cs typeface="Arial" panose="020B0604020202020204" pitchFamily="34" charset="0"/>
              </a:rPr>
              <a:t> = 920 kg/m</a:t>
            </a:r>
            <a:r>
              <a:rPr lang="es-ES" sz="1600" baseline="30000" dirty="0">
                <a:latin typeface="Arial" panose="020B0604020202020204" pitchFamily="34" charset="0"/>
                <a:ea typeface="Calibri" panose="020F0502020204030204" pitchFamily="34" charset="0"/>
                <a:cs typeface="Arial" panose="020B0604020202020204" pitchFamily="34" charset="0"/>
              </a:rPr>
              <a:t>3</a:t>
            </a:r>
            <a:r>
              <a:rPr lang="es-ES" sz="1600" dirty="0">
                <a:latin typeface="Arial" panose="020B0604020202020204" pitchFamily="34" charset="0"/>
                <a:ea typeface="Calibri" panose="020F0502020204030204" pitchFamily="34" charset="0"/>
                <a:cs typeface="Arial" panose="020B0604020202020204" pitchFamily="34" charset="0"/>
              </a:rPr>
              <a:t> y sus propiedades térmicas son: calor específico Ce = 2093 J/</a:t>
            </a:r>
            <a:r>
              <a:rPr lang="es-ES" sz="1600" dirty="0" err="1">
                <a:latin typeface="Arial" panose="020B0604020202020204" pitchFamily="34" charset="0"/>
                <a:ea typeface="Calibri" panose="020F0502020204030204" pitchFamily="34" charset="0"/>
                <a:cs typeface="Arial" panose="020B0604020202020204" pitchFamily="34" charset="0"/>
              </a:rPr>
              <a:t>kg.K</a:t>
            </a:r>
            <a:r>
              <a:rPr lang="es-ES" sz="1600" dirty="0">
                <a:latin typeface="Arial" panose="020B0604020202020204" pitchFamily="34" charset="0"/>
                <a:ea typeface="Calibri" panose="020F0502020204030204" pitchFamily="34" charset="0"/>
                <a:cs typeface="Arial" panose="020B0604020202020204" pitchFamily="34" charset="0"/>
              </a:rPr>
              <a:t>, calor latente de fusión L = 335 kJ/kg, </a:t>
            </a:r>
            <a:r>
              <a:rPr lang="es-ES" sz="1600" dirty="0" smtClean="0">
                <a:latin typeface="Arial" panose="020B0604020202020204" pitchFamily="34" charset="0"/>
                <a:ea typeface="Calibri" panose="020F0502020204030204" pitchFamily="34" charset="0"/>
                <a:cs typeface="Arial" panose="020B0604020202020204" pitchFamily="34" charset="0"/>
              </a:rPr>
              <a:t>coeficiente de convección es </a:t>
            </a:r>
            <a:r>
              <a:rPr lang="es-ES" sz="1600" dirty="0">
                <a:latin typeface="Arial" panose="020B0604020202020204" pitchFamily="34" charset="0"/>
                <a:ea typeface="Calibri" panose="020F0502020204030204" pitchFamily="34" charset="0"/>
                <a:cs typeface="Arial" panose="020B0604020202020204" pitchFamily="34" charset="0"/>
              </a:rPr>
              <a:t>h = 2,22 </a:t>
            </a:r>
            <a:r>
              <a:rPr lang="es-ES" sz="1600" dirty="0" smtClean="0">
                <a:latin typeface="Arial" panose="020B0604020202020204" pitchFamily="34" charset="0"/>
                <a:ea typeface="Calibri" panose="020F0502020204030204" pitchFamily="34" charset="0"/>
                <a:cs typeface="Arial" panose="020B0604020202020204" pitchFamily="34" charset="0"/>
              </a:rPr>
              <a:t>J/m</a:t>
            </a:r>
            <a:r>
              <a:rPr lang="es-ES" sz="1600" baseline="30000" dirty="0" smtClean="0">
                <a:latin typeface="Arial" panose="020B0604020202020204" pitchFamily="34" charset="0"/>
                <a:ea typeface="Calibri" panose="020F0502020204030204" pitchFamily="34" charset="0"/>
                <a:cs typeface="Arial" panose="020B0604020202020204" pitchFamily="34" charset="0"/>
              </a:rPr>
              <a:t>2</a:t>
            </a:r>
            <a:r>
              <a:rPr lang="es-ES" sz="1600" dirty="0" smtClean="0">
                <a:latin typeface="Arial" panose="020B0604020202020204" pitchFamily="34" charset="0"/>
                <a:ea typeface="Calibri" panose="020F0502020204030204" pitchFamily="34" charset="0"/>
                <a:cs typeface="Arial" panose="020B0604020202020204" pitchFamily="34" charset="0"/>
              </a:rPr>
              <a:t>.s.K</a:t>
            </a:r>
            <a:r>
              <a:rPr lang="es-ES" sz="1600" dirty="0">
                <a:latin typeface="Arial" panose="020B0604020202020204" pitchFamily="34" charset="0"/>
                <a:ea typeface="Calibri" panose="020F0502020204030204" pitchFamily="34" charset="0"/>
                <a:cs typeface="Arial" panose="020B0604020202020204" pitchFamily="34" charset="0"/>
              </a:rPr>
              <a:t>.  Calcule la rapidez con la que crece el espesor de la capa de hielo.</a:t>
            </a:r>
            <a:endParaRPr lang="es-PE" sz="1600" dirty="0">
              <a:latin typeface="Arial" panose="020B0604020202020204" pitchFamily="34" charset="0"/>
              <a:ea typeface="Calibri" panose="020F0502020204030204" pitchFamily="34" charset="0"/>
              <a:cs typeface="Arial" panose="020B0604020202020204" pitchFamily="34" charset="0"/>
            </a:endParaRPr>
          </a:p>
        </p:txBody>
      </p:sp>
      <p:pic>
        <p:nvPicPr>
          <p:cNvPr id="11" name="Imagen 10"/>
          <p:cNvPicPr>
            <a:picLocks noChangeAspect="1"/>
          </p:cNvPicPr>
          <p:nvPr/>
        </p:nvPicPr>
        <p:blipFill>
          <a:blip r:embed="rId2"/>
          <a:stretch>
            <a:fillRect/>
          </a:stretch>
        </p:blipFill>
        <p:spPr>
          <a:xfrm>
            <a:off x="352494" y="4437112"/>
            <a:ext cx="4419600" cy="2114550"/>
          </a:xfrm>
          <a:prstGeom prst="rect">
            <a:avLst/>
          </a:prstGeom>
        </p:spPr>
      </p:pic>
      <p:sp>
        <p:nvSpPr>
          <p:cNvPr id="12" name="Rectángulo 11"/>
          <p:cNvSpPr/>
          <p:nvPr/>
        </p:nvSpPr>
        <p:spPr>
          <a:xfrm>
            <a:off x="5313040" y="2060848"/>
            <a:ext cx="4320480" cy="2308324"/>
          </a:xfrm>
          <a:prstGeom prst="rect">
            <a:avLst/>
          </a:prstGeom>
        </p:spPr>
        <p:txBody>
          <a:bodyPr wrap="square">
            <a:spAutoFit/>
          </a:bodyPr>
          <a:lstStyle/>
          <a:p>
            <a:pPr algn="just"/>
            <a:r>
              <a:rPr lang="es-PE" sz="1600" dirty="0">
                <a:latin typeface="Arial" panose="020B0604020202020204" pitchFamily="34" charset="0"/>
                <a:cs typeface="Arial" panose="020B0604020202020204" pitchFamily="34" charset="0"/>
              </a:rPr>
              <a:t>Para fines de transferencia de calor, se puede </a:t>
            </a:r>
            <a:r>
              <a:rPr lang="es-PE" sz="1600" dirty="0" smtClean="0">
                <a:latin typeface="Arial" panose="020B0604020202020204" pitchFamily="34" charset="0"/>
                <a:cs typeface="Arial" panose="020B0604020202020204" pitchFamily="34" charset="0"/>
              </a:rPr>
              <a:t>modelar a </a:t>
            </a:r>
            <a:r>
              <a:rPr lang="es-PE" sz="1600" dirty="0">
                <a:latin typeface="Arial" panose="020B0604020202020204" pitchFamily="34" charset="0"/>
                <a:cs typeface="Arial" panose="020B0604020202020204" pitchFamily="34" charset="0"/>
              </a:rPr>
              <a:t>un hombre quieto como un cilindro de 30 cm de </a:t>
            </a:r>
            <a:r>
              <a:rPr lang="es-PE" sz="1600" dirty="0" smtClean="0">
                <a:latin typeface="Arial" panose="020B0604020202020204" pitchFamily="34" charset="0"/>
                <a:cs typeface="Arial" panose="020B0604020202020204" pitchFamily="34" charset="0"/>
              </a:rPr>
              <a:t>diámetro y </a:t>
            </a:r>
            <a:r>
              <a:rPr lang="es-PE" sz="1600" dirty="0">
                <a:latin typeface="Arial" panose="020B0604020202020204" pitchFamily="34" charset="0"/>
                <a:cs typeface="Arial" panose="020B0604020202020204" pitchFamily="34" charset="0"/>
              </a:rPr>
              <a:t>170 cm de longitud, con las superficies superior </a:t>
            </a:r>
            <a:r>
              <a:rPr lang="es-PE" sz="1600" dirty="0" smtClean="0">
                <a:latin typeface="Arial" panose="020B0604020202020204" pitchFamily="34" charset="0"/>
                <a:cs typeface="Arial" panose="020B0604020202020204" pitchFamily="34" charset="0"/>
              </a:rPr>
              <a:t>e </a:t>
            </a:r>
            <a:r>
              <a:rPr lang="es-PE" sz="1600" dirty="0">
                <a:latin typeface="Arial" panose="020B0604020202020204" pitchFamily="34" charset="0"/>
                <a:cs typeface="Arial" panose="020B0604020202020204" pitchFamily="34" charset="0"/>
              </a:rPr>
              <a:t>inferior aisladas, y la superficie lateral a 34 °C en </a:t>
            </a:r>
            <a:r>
              <a:rPr lang="es-PE" sz="1600" dirty="0" smtClean="0">
                <a:latin typeface="Arial" panose="020B0604020202020204" pitchFamily="34" charset="0"/>
                <a:cs typeface="Arial" panose="020B0604020202020204" pitchFamily="34" charset="0"/>
              </a:rPr>
              <a:t>promedio. Calcule </a:t>
            </a:r>
            <a:r>
              <a:rPr lang="es-PE" sz="1600" dirty="0">
                <a:latin typeface="Arial" panose="020B0604020202020204" pitchFamily="34" charset="0"/>
                <a:cs typeface="Arial" panose="020B0604020202020204" pitchFamily="34" charset="0"/>
              </a:rPr>
              <a:t>la tasa de pérdida de calor de este hombre, </a:t>
            </a:r>
            <a:r>
              <a:rPr lang="es-PE" sz="1600" dirty="0" smtClean="0">
                <a:latin typeface="Arial" panose="020B0604020202020204" pitchFamily="34" charset="0"/>
                <a:cs typeface="Arial" panose="020B0604020202020204" pitchFamily="34" charset="0"/>
              </a:rPr>
              <a:t>para un </a:t>
            </a:r>
            <a:r>
              <a:rPr lang="es-PE" sz="1600" dirty="0">
                <a:latin typeface="Arial" panose="020B0604020202020204" pitchFamily="34" charset="0"/>
                <a:cs typeface="Arial" panose="020B0604020202020204" pitchFamily="34" charset="0"/>
              </a:rPr>
              <a:t>coeficiente de transferencia de calor por convección </a:t>
            </a:r>
            <a:r>
              <a:rPr lang="es-PE" sz="1600" dirty="0" smtClean="0">
                <a:latin typeface="Arial" panose="020B0604020202020204" pitchFamily="34" charset="0"/>
                <a:cs typeface="Arial" panose="020B0604020202020204" pitchFamily="34" charset="0"/>
              </a:rPr>
              <a:t>de 15 </a:t>
            </a:r>
            <a:r>
              <a:rPr lang="es-PE" sz="1600" dirty="0">
                <a:latin typeface="Arial" panose="020B0604020202020204" pitchFamily="34" charset="0"/>
                <a:cs typeface="Arial" panose="020B0604020202020204" pitchFamily="34" charset="0"/>
              </a:rPr>
              <a:t>W/m2 · °C, en un ambiente a 20 °C</a:t>
            </a:r>
          </a:p>
        </p:txBody>
      </p:sp>
    </p:spTree>
    <p:extLst>
      <p:ext uri="{BB962C8B-B14F-4D97-AF65-F5344CB8AC3E}">
        <p14:creationId xmlns:p14="http://schemas.microsoft.com/office/powerpoint/2010/main" val="201517889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6" name="Rectángulo redondeado 5"/>
          <p:cNvSpPr/>
          <p:nvPr/>
        </p:nvSpPr>
        <p:spPr>
          <a:xfrm>
            <a:off x="1712640" y="836712"/>
            <a:ext cx="6048672" cy="600730"/>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PE" sz="2400" dirty="0" smtClean="0">
                <a:solidFill>
                  <a:schemeClr val="tx1"/>
                </a:solidFill>
              </a:rPr>
              <a:t>TRANSFERENCIA DE CALOR POR RADIACIÓN</a:t>
            </a:r>
            <a:endParaRPr lang="es-PE" sz="2200" b="1" dirty="0">
              <a:solidFill>
                <a:schemeClr val="tx1"/>
              </a:solidFill>
              <a:latin typeface="Arial" panose="020B0604020202020204" pitchFamily="34" charset="0"/>
              <a:cs typeface="Arial" panose="020B0604020202020204" pitchFamily="34" charset="0"/>
            </a:endParaRPr>
          </a:p>
        </p:txBody>
      </p:sp>
      <p:sp>
        <p:nvSpPr>
          <p:cNvPr id="7" name="Rectangle 2"/>
          <p:cNvSpPr txBox="1">
            <a:spLocks noChangeArrowheads="1"/>
          </p:cNvSpPr>
          <p:nvPr/>
        </p:nvSpPr>
        <p:spPr>
          <a:xfrm>
            <a:off x="698376" y="1792496"/>
            <a:ext cx="4736162" cy="4229233"/>
          </a:xfrm>
          <a:prstGeom prst="rect">
            <a:avLst/>
          </a:prstGeom>
        </p:spPr>
        <p:txBody>
          <a:bodyPr>
            <a:normAutofit/>
          </a:bodyPr>
          <a:lstStyle>
            <a:lvl1pPr marL="342900" indent="-3429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1pPr>
            <a:lvl2pPr marL="742950" indent="-28575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2pPr>
            <a:lvl3pPr marL="11430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3pPr>
            <a:lvl4pPr marL="16002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4pPr>
            <a:lvl5pPr marL="20574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just">
              <a:spcBef>
                <a:spcPct val="50000"/>
              </a:spcBef>
              <a:buNone/>
            </a:pPr>
            <a:r>
              <a:rPr lang="es-ES" dirty="0" smtClean="0">
                <a:solidFill>
                  <a:schemeClr val="tx1"/>
                </a:solidFill>
              </a:rPr>
              <a:t>Se produce en medios no materiales, como espacio interplanetario, y hace posible, por ejemplo, que llegue a la Tierra el calor que despide el Sol. </a:t>
            </a:r>
          </a:p>
          <a:p>
            <a:pPr marL="0" indent="0" algn="just">
              <a:spcBef>
                <a:spcPct val="50000"/>
              </a:spcBef>
              <a:buNone/>
            </a:pPr>
            <a:r>
              <a:rPr lang="es-ES" dirty="0" smtClean="0">
                <a:solidFill>
                  <a:schemeClr val="tx1"/>
                </a:solidFill>
              </a:rPr>
              <a:t>El calor es una forma de radiación como la luz pero de longitud de onda más larga, radiación infrarroja.</a:t>
            </a:r>
          </a:p>
          <a:p>
            <a:pPr marL="0" indent="0" algn="just">
              <a:spcBef>
                <a:spcPct val="50000"/>
              </a:spcBef>
              <a:buNone/>
            </a:pPr>
            <a:r>
              <a:rPr lang="es-ES" dirty="0" smtClean="0">
                <a:solidFill>
                  <a:schemeClr val="tx1"/>
                </a:solidFill>
              </a:rPr>
              <a:t>Los cuerpos calientes emiten radiación electromagnética. Los objetos, además de emitir este tipo de radiación, también la absorben. </a:t>
            </a:r>
          </a:p>
          <a:p>
            <a:pPr marL="0" indent="0" algn="just">
              <a:spcBef>
                <a:spcPct val="50000"/>
              </a:spcBef>
              <a:buNone/>
            </a:pPr>
            <a:r>
              <a:rPr lang="es-ES" dirty="0" smtClean="0">
                <a:solidFill>
                  <a:schemeClr val="tx1"/>
                </a:solidFill>
              </a:rPr>
              <a:t>La transferencia de calor por radiación se produce cuando un objeto más caliente emite radiación electromagnética y otro más frío la absorbe.</a:t>
            </a:r>
            <a:endParaRPr lang="es-ES" dirty="0">
              <a:solidFill>
                <a:schemeClr val="tx1"/>
              </a:solidFill>
            </a:endParaRPr>
          </a:p>
        </p:txBody>
      </p:sp>
      <p:grpSp>
        <p:nvGrpSpPr>
          <p:cNvPr id="8" name="Group 6"/>
          <p:cNvGrpSpPr>
            <a:grpSpLocks/>
          </p:cNvGrpSpPr>
          <p:nvPr/>
        </p:nvGrpSpPr>
        <p:grpSpPr bwMode="auto">
          <a:xfrm>
            <a:off x="6627390" y="4892608"/>
            <a:ext cx="2555875" cy="1476375"/>
            <a:chOff x="432" y="1104"/>
            <a:chExt cx="4896" cy="2919"/>
          </a:xfrm>
        </p:grpSpPr>
        <p:sp>
          <p:nvSpPr>
            <p:cNvPr id="9" name="Rectangle 7"/>
            <p:cNvSpPr>
              <a:spLocks noChangeArrowheads="1"/>
            </p:cNvSpPr>
            <p:nvPr/>
          </p:nvSpPr>
          <p:spPr bwMode="auto">
            <a:xfrm>
              <a:off x="432" y="1824"/>
              <a:ext cx="1920" cy="1488"/>
            </a:xfrm>
            <a:prstGeom prst="rect">
              <a:avLst/>
            </a:prstGeom>
            <a:solidFill>
              <a:srgbClr val="FF3300"/>
            </a:solidFill>
            <a:ln w="9525">
              <a:solidFill>
                <a:schemeClr val="tx1"/>
              </a:solidFill>
              <a:miter lim="800000"/>
              <a:headEnd/>
              <a:tailEnd/>
            </a:ln>
            <a:effectLst/>
          </p:spPr>
          <p:txBody>
            <a:bodyPr wrap="none" anchor="ctr"/>
            <a:lstStyle/>
            <a:p>
              <a:pPr algn="ctr"/>
              <a:r>
                <a:rPr lang="es-PE" sz="1800" dirty="0">
                  <a:solidFill>
                    <a:srgbClr val="FFFFCC"/>
                  </a:solidFill>
                  <a:latin typeface="Arial" charset="0"/>
                </a:rPr>
                <a:t>Caliente</a:t>
              </a:r>
              <a:endParaRPr lang="es-ES" sz="1800" dirty="0">
                <a:solidFill>
                  <a:srgbClr val="FFFFCC"/>
                </a:solidFill>
                <a:latin typeface="Arial" charset="0"/>
              </a:endParaRPr>
            </a:p>
          </p:txBody>
        </p:sp>
        <p:sp>
          <p:nvSpPr>
            <p:cNvPr id="10" name="Rectangle 8"/>
            <p:cNvSpPr>
              <a:spLocks noChangeArrowheads="1"/>
            </p:cNvSpPr>
            <p:nvPr/>
          </p:nvSpPr>
          <p:spPr bwMode="auto">
            <a:xfrm>
              <a:off x="3408" y="1824"/>
              <a:ext cx="1920" cy="1488"/>
            </a:xfrm>
            <a:prstGeom prst="rect">
              <a:avLst/>
            </a:prstGeom>
            <a:solidFill>
              <a:srgbClr val="0066FF"/>
            </a:solidFill>
            <a:ln w="9525">
              <a:solidFill>
                <a:schemeClr val="tx1"/>
              </a:solidFill>
              <a:miter lim="800000"/>
              <a:headEnd/>
              <a:tailEnd/>
            </a:ln>
            <a:effectLst/>
          </p:spPr>
          <p:txBody>
            <a:bodyPr wrap="none" anchor="ctr"/>
            <a:lstStyle/>
            <a:p>
              <a:pPr algn="ctr"/>
              <a:r>
                <a:rPr lang="es-PE" sz="1800">
                  <a:solidFill>
                    <a:srgbClr val="FFFFCC"/>
                  </a:solidFill>
                  <a:latin typeface="Arial" charset="0"/>
                </a:rPr>
                <a:t>Frío</a:t>
              </a:r>
              <a:endParaRPr lang="es-ES" sz="1800">
                <a:solidFill>
                  <a:srgbClr val="FFFFCC"/>
                </a:solidFill>
                <a:latin typeface="Arial" charset="0"/>
              </a:endParaRPr>
            </a:p>
          </p:txBody>
        </p:sp>
        <p:sp>
          <p:nvSpPr>
            <p:cNvPr id="11" name="AutoShape 9"/>
            <p:cNvSpPr>
              <a:spLocks noChangeArrowheads="1"/>
            </p:cNvSpPr>
            <p:nvPr/>
          </p:nvSpPr>
          <p:spPr bwMode="auto">
            <a:xfrm>
              <a:off x="2620" y="1872"/>
              <a:ext cx="615" cy="306"/>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0">
              <a:gsLst>
                <a:gs pos="0">
                  <a:srgbClr val="FF3300"/>
                </a:gs>
                <a:gs pos="100000">
                  <a:schemeClr val="accent2"/>
                </a:gs>
              </a:gsLst>
              <a:lin ang="0" scaled="1"/>
            </a:gradFill>
            <a:ln w="9525">
              <a:solidFill>
                <a:schemeClr val="tx1"/>
              </a:solidFill>
              <a:miter lim="800000"/>
              <a:headEnd/>
              <a:tailEnd/>
            </a:ln>
            <a:effectLst/>
          </p:spPr>
          <p:txBody>
            <a:bodyPr wrap="none" anchor="ctr"/>
            <a:lstStyle/>
            <a:p>
              <a:endParaRPr lang="es-MX"/>
            </a:p>
          </p:txBody>
        </p:sp>
        <p:sp>
          <p:nvSpPr>
            <p:cNvPr id="12" name="AutoShape 10"/>
            <p:cNvSpPr>
              <a:spLocks noChangeArrowheads="1"/>
            </p:cNvSpPr>
            <p:nvPr/>
          </p:nvSpPr>
          <p:spPr bwMode="auto">
            <a:xfrm>
              <a:off x="2620" y="2256"/>
              <a:ext cx="615" cy="306"/>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0">
              <a:gsLst>
                <a:gs pos="0">
                  <a:srgbClr val="FF3300"/>
                </a:gs>
                <a:gs pos="100000">
                  <a:schemeClr val="accent2"/>
                </a:gs>
              </a:gsLst>
              <a:lin ang="0" scaled="1"/>
            </a:gradFill>
            <a:ln w="9525">
              <a:solidFill>
                <a:schemeClr val="tx1"/>
              </a:solidFill>
              <a:miter lim="800000"/>
              <a:headEnd/>
              <a:tailEnd/>
            </a:ln>
            <a:effectLst/>
          </p:spPr>
          <p:txBody>
            <a:bodyPr wrap="none" anchor="ctr"/>
            <a:lstStyle/>
            <a:p>
              <a:endParaRPr lang="es-MX"/>
            </a:p>
          </p:txBody>
        </p:sp>
        <p:sp>
          <p:nvSpPr>
            <p:cNvPr id="13" name="AutoShape 11"/>
            <p:cNvSpPr>
              <a:spLocks noChangeArrowheads="1"/>
            </p:cNvSpPr>
            <p:nvPr/>
          </p:nvSpPr>
          <p:spPr bwMode="auto">
            <a:xfrm>
              <a:off x="2620" y="2640"/>
              <a:ext cx="615" cy="306"/>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0">
              <a:gsLst>
                <a:gs pos="0">
                  <a:srgbClr val="FF3300"/>
                </a:gs>
                <a:gs pos="100000">
                  <a:schemeClr val="accent2"/>
                </a:gs>
              </a:gsLst>
              <a:lin ang="0" scaled="1"/>
            </a:gradFill>
            <a:ln w="9525">
              <a:solidFill>
                <a:schemeClr val="tx1"/>
              </a:solidFill>
              <a:miter lim="800000"/>
              <a:headEnd/>
              <a:tailEnd/>
            </a:ln>
            <a:effectLst/>
          </p:spPr>
          <p:txBody>
            <a:bodyPr wrap="none" anchor="ctr"/>
            <a:lstStyle/>
            <a:p>
              <a:endParaRPr lang="es-MX"/>
            </a:p>
          </p:txBody>
        </p:sp>
        <p:sp>
          <p:nvSpPr>
            <p:cNvPr id="14" name="AutoShape 12"/>
            <p:cNvSpPr>
              <a:spLocks noChangeArrowheads="1"/>
            </p:cNvSpPr>
            <p:nvPr/>
          </p:nvSpPr>
          <p:spPr bwMode="auto">
            <a:xfrm>
              <a:off x="2620" y="3024"/>
              <a:ext cx="615" cy="306"/>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0">
              <a:gsLst>
                <a:gs pos="0">
                  <a:srgbClr val="FF3300"/>
                </a:gs>
                <a:gs pos="100000">
                  <a:schemeClr val="accent2"/>
                </a:gs>
              </a:gsLst>
              <a:lin ang="0" scaled="1"/>
            </a:gradFill>
            <a:ln w="9525">
              <a:solidFill>
                <a:schemeClr val="tx1"/>
              </a:solidFill>
              <a:miter lim="800000"/>
              <a:headEnd/>
              <a:tailEnd/>
            </a:ln>
            <a:effectLst/>
          </p:spPr>
          <p:txBody>
            <a:bodyPr wrap="none" anchor="ctr"/>
            <a:lstStyle/>
            <a:p>
              <a:endParaRPr lang="es-MX"/>
            </a:p>
          </p:txBody>
        </p:sp>
        <p:sp>
          <p:nvSpPr>
            <p:cNvPr id="15" name="AutoShape 13"/>
            <p:cNvSpPr>
              <a:spLocks noChangeArrowheads="1"/>
            </p:cNvSpPr>
            <p:nvPr/>
          </p:nvSpPr>
          <p:spPr bwMode="auto">
            <a:xfrm>
              <a:off x="2620" y="1854"/>
              <a:ext cx="615" cy="306"/>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0">
              <a:gsLst>
                <a:gs pos="0">
                  <a:srgbClr val="FF3300"/>
                </a:gs>
                <a:gs pos="100000">
                  <a:schemeClr val="accent2"/>
                </a:gs>
              </a:gsLst>
              <a:lin ang="0" scaled="1"/>
            </a:gradFill>
            <a:ln w="9525">
              <a:solidFill>
                <a:schemeClr val="tx1"/>
              </a:solidFill>
              <a:miter lim="800000"/>
              <a:headEnd/>
              <a:tailEnd/>
            </a:ln>
            <a:effectLst/>
          </p:spPr>
          <p:txBody>
            <a:bodyPr wrap="none" anchor="ctr"/>
            <a:lstStyle/>
            <a:p>
              <a:endParaRPr lang="es-MX"/>
            </a:p>
          </p:txBody>
        </p:sp>
        <p:sp>
          <p:nvSpPr>
            <p:cNvPr id="16" name="AutoShape 14"/>
            <p:cNvSpPr>
              <a:spLocks noChangeArrowheads="1"/>
            </p:cNvSpPr>
            <p:nvPr/>
          </p:nvSpPr>
          <p:spPr bwMode="auto">
            <a:xfrm rot="-5400000">
              <a:off x="307" y="1259"/>
              <a:ext cx="615" cy="306"/>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0">
              <a:gsLst>
                <a:gs pos="0">
                  <a:schemeClr val="accent2"/>
                </a:gs>
                <a:gs pos="100000">
                  <a:srgbClr val="FF3300"/>
                </a:gs>
              </a:gsLst>
              <a:lin ang="5400000" scaled="1"/>
            </a:gradFill>
            <a:ln w="9525">
              <a:solidFill>
                <a:schemeClr val="tx1"/>
              </a:solidFill>
              <a:miter lim="800000"/>
              <a:headEnd/>
              <a:tailEnd/>
            </a:ln>
            <a:effectLst/>
          </p:spPr>
          <p:txBody>
            <a:bodyPr wrap="none" anchor="ctr"/>
            <a:lstStyle/>
            <a:p>
              <a:endParaRPr lang="es-MX"/>
            </a:p>
          </p:txBody>
        </p:sp>
        <p:sp>
          <p:nvSpPr>
            <p:cNvPr id="17" name="AutoShape 15"/>
            <p:cNvSpPr>
              <a:spLocks noChangeArrowheads="1"/>
            </p:cNvSpPr>
            <p:nvPr/>
          </p:nvSpPr>
          <p:spPr bwMode="auto">
            <a:xfrm rot="-5400000">
              <a:off x="805" y="1259"/>
              <a:ext cx="615" cy="306"/>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0">
              <a:gsLst>
                <a:gs pos="0">
                  <a:schemeClr val="accent2"/>
                </a:gs>
                <a:gs pos="100000">
                  <a:srgbClr val="FF3300"/>
                </a:gs>
              </a:gsLst>
              <a:lin ang="5400000" scaled="1"/>
            </a:gradFill>
            <a:ln w="9525">
              <a:solidFill>
                <a:schemeClr val="tx1"/>
              </a:solidFill>
              <a:miter lim="800000"/>
              <a:headEnd/>
              <a:tailEnd/>
            </a:ln>
            <a:effectLst/>
          </p:spPr>
          <p:txBody>
            <a:bodyPr wrap="none" anchor="ctr"/>
            <a:lstStyle/>
            <a:p>
              <a:endParaRPr lang="es-MX"/>
            </a:p>
          </p:txBody>
        </p:sp>
        <p:sp>
          <p:nvSpPr>
            <p:cNvPr id="18" name="AutoShape 16"/>
            <p:cNvSpPr>
              <a:spLocks noChangeArrowheads="1"/>
            </p:cNvSpPr>
            <p:nvPr/>
          </p:nvSpPr>
          <p:spPr bwMode="auto">
            <a:xfrm rot="-5400000">
              <a:off x="1843" y="1259"/>
              <a:ext cx="615" cy="306"/>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0">
              <a:gsLst>
                <a:gs pos="0">
                  <a:schemeClr val="accent2"/>
                </a:gs>
                <a:gs pos="100000">
                  <a:srgbClr val="FF3300"/>
                </a:gs>
              </a:gsLst>
              <a:lin ang="5400000" scaled="1"/>
            </a:gradFill>
            <a:ln w="9525">
              <a:solidFill>
                <a:schemeClr val="tx1"/>
              </a:solidFill>
              <a:miter lim="800000"/>
              <a:headEnd/>
              <a:tailEnd/>
            </a:ln>
            <a:effectLst/>
          </p:spPr>
          <p:txBody>
            <a:bodyPr wrap="none" anchor="ctr"/>
            <a:lstStyle/>
            <a:p>
              <a:endParaRPr lang="es-MX"/>
            </a:p>
          </p:txBody>
        </p:sp>
        <p:sp>
          <p:nvSpPr>
            <p:cNvPr id="19" name="AutoShape 17"/>
            <p:cNvSpPr>
              <a:spLocks noChangeArrowheads="1"/>
            </p:cNvSpPr>
            <p:nvPr/>
          </p:nvSpPr>
          <p:spPr bwMode="auto">
            <a:xfrm rot="-5400000">
              <a:off x="1363" y="1259"/>
              <a:ext cx="615" cy="306"/>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0">
              <a:gsLst>
                <a:gs pos="0">
                  <a:schemeClr val="accent2"/>
                </a:gs>
                <a:gs pos="100000">
                  <a:srgbClr val="FF3300"/>
                </a:gs>
              </a:gsLst>
              <a:lin ang="5400000" scaled="1"/>
            </a:gradFill>
            <a:ln w="9525">
              <a:solidFill>
                <a:schemeClr val="tx1"/>
              </a:solidFill>
              <a:miter lim="800000"/>
              <a:headEnd/>
              <a:tailEnd/>
            </a:ln>
            <a:effectLst/>
          </p:spPr>
          <p:txBody>
            <a:bodyPr wrap="none" anchor="ctr"/>
            <a:lstStyle/>
            <a:p>
              <a:endParaRPr lang="es-MX"/>
            </a:p>
          </p:txBody>
        </p:sp>
        <p:sp>
          <p:nvSpPr>
            <p:cNvPr id="20" name="AutoShape 18"/>
            <p:cNvSpPr>
              <a:spLocks noChangeArrowheads="1"/>
            </p:cNvSpPr>
            <p:nvPr/>
          </p:nvSpPr>
          <p:spPr bwMode="auto">
            <a:xfrm rot="5400000" flipV="1">
              <a:off x="325" y="3563"/>
              <a:ext cx="615" cy="306"/>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0">
              <a:gsLst>
                <a:gs pos="0">
                  <a:srgbClr val="FF3300"/>
                </a:gs>
                <a:gs pos="100000">
                  <a:schemeClr val="accent2"/>
                </a:gs>
              </a:gsLst>
              <a:lin ang="5400000" scaled="1"/>
            </a:gradFill>
            <a:ln w="9525">
              <a:solidFill>
                <a:schemeClr val="tx1"/>
              </a:solidFill>
              <a:miter lim="800000"/>
              <a:headEnd/>
              <a:tailEnd/>
            </a:ln>
            <a:effectLst/>
          </p:spPr>
          <p:txBody>
            <a:bodyPr wrap="none" anchor="ctr"/>
            <a:lstStyle/>
            <a:p>
              <a:endParaRPr lang="es-MX"/>
            </a:p>
          </p:txBody>
        </p:sp>
        <p:sp>
          <p:nvSpPr>
            <p:cNvPr id="21" name="AutoShape 19"/>
            <p:cNvSpPr>
              <a:spLocks noChangeArrowheads="1"/>
            </p:cNvSpPr>
            <p:nvPr/>
          </p:nvSpPr>
          <p:spPr bwMode="auto">
            <a:xfrm rot="5400000" flipV="1">
              <a:off x="835" y="3563"/>
              <a:ext cx="615" cy="306"/>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0">
              <a:gsLst>
                <a:gs pos="0">
                  <a:srgbClr val="FF3300"/>
                </a:gs>
                <a:gs pos="100000">
                  <a:schemeClr val="accent2"/>
                </a:gs>
              </a:gsLst>
              <a:lin ang="5400000" scaled="1"/>
            </a:gradFill>
            <a:ln w="9525">
              <a:solidFill>
                <a:schemeClr val="tx1"/>
              </a:solidFill>
              <a:miter lim="800000"/>
              <a:headEnd/>
              <a:tailEnd/>
            </a:ln>
            <a:effectLst/>
          </p:spPr>
          <p:txBody>
            <a:bodyPr wrap="none" anchor="ctr"/>
            <a:lstStyle/>
            <a:p>
              <a:endParaRPr lang="es-MX"/>
            </a:p>
          </p:txBody>
        </p:sp>
        <p:sp>
          <p:nvSpPr>
            <p:cNvPr id="22" name="AutoShape 20"/>
            <p:cNvSpPr>
              <a:spLocks noChangeArrowheads="1"/>
            </p:cNvSpPr>
            <p:nvPr/>
          </p:nvSpPr>
          <p:spPr bwMode="auto">
            <a:xfrm rot="5400000" flipV="1">
              <a:off x="1363" y="3563"/>
              <a:ext cx="615" cy="306"/>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0">
              <a:gsLst>
                <a:gs pos="0">
                  <a:srgbClr val="FF3300"/>
                </a:gs>
                <a:gs pos="100000">
                  <a:schemeClr val="accent2"/>
                </a:gs>
              </a:gsLst>
              <a:lin ang="5400000" scaled="1"/>
            </a:gradFill>
            <a:ln w="9525">
              <a:solidFill>
                <a:schemeClr val="tx1"/>
              </a:solidFill>
              <a:miter lim="800000"/>
              <a:headEnd/>
              <a:tailEnd/>
            </a:ln>
            <a:effectLst/>
          </p:spPr>
          <p:txBody>
            <a:bodyPr wrap="none" anchor="ctr"/>
            <a:lstStyle/>
            <a:p>
              <a:endParaRPr lang="es-MX"/>
            </a:p>
          </p:txBody>
        </p:sp>
        <p:sp>
          <p:nvSpPr>
            <p:cNvPr id="23" name="AutoShape 21"/>
            <p:cNvSpPr>
              <a:spLocks noChangeArrowheads="1"/>
            </p:cNvSpPr>
            <p:nvPr/>
          </p:nvSpPr>
          <p:spPr bwMode="auto">
            <a:xfrm rot="5400000" flipV="1">
              <a:off x="1843" y="3563"/>
              <a:ext cx="615" cy="306"/>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0">
              <a:gsLst>
                <a:gs pos="0">
                  <a:srgbClr val="FF3300"/>
                </a:gs>
                <a:gs pos="100000">
                  <a:schemeClr val="accent2"/>
                </a:gs>
              </a:gsLst>
              <a:lin ang="5400000" scaled="1"/>
            </a:gradFill>
            <a:ln w="9525">
              <a:solidFill>
                <a:schemeClr val="tx1"/>
              </a:solidFill>
              <a:miter lim="800000"/>
              <a:headEnd/>
              <a:tailEnd/>
            </a:ln>
            <a:effectLst/>
          </p:spPr>
          <p:txBody>
            <a:bodyPr wrap="none" anchor="ctr"/>
            <a:lstStyle/>
            <a:p>
              <a:endParaRPr lang="es-MX"/>
            </a:p>
          </p:txBody>
        </p:sp>
      </p:grpSp>
      <p:pic>
        <p:nvPicPr>
          <p:cNvPr id="24" name="Picture 23" descr="burner"/>
          <p:cNvPicPr>
            <a:picLocks noChangeAspect="1" noChangeArrowheads="1"/>
          </p:cNvPicPr>
          <p:nvPr/>
        </p:nvPicPr>
        <p:blipFill>
          <a:blip r:embed="rId2" cstate="print"/>
          <a:srcRect/>
          <a:stretch>
            <a:fillRect/>
          </a:stretch>
        </p:blipFill>
        <p:spPr bwMode="auto">
          <a:xfrm>
            <a:off x="6544357" y="1830663"/>
            <a:ext cx="2495587" cy="2668724"/>
          </a:xfrm>
          <a:prstGeom prst="rect">
            <a:avLst/>
          </a:prstGeom>
          <a:noFill/>
        </p:spPr>
      </p:pic>
    </p:spTree>
    <p:extLst>
      <p:ext uri="{BB962C8B-B14F-4D97-AF65-F5344CB8AC3E}">
        <p14:creationId xmlns:p14="http://schemas.microsoft.com/office/powerpoint/2010/main" val="390770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blinds(horizontal)">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blinds(horizontal)">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blinds(horizontal)">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blinds(horizontal)">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6" name="Rectángulo redondeado 5"/>
          <p:cNvSpPr/>
          <p:nvPr/>
        </p:nvSpPr>
        <p:spPr>
          <a:xfrm>
            <a:off x="1721702" y="788617"/>
            <a:ext cx="5967602" cy="530078"/>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400" b="1" dirty="0" smtClean="0">
                <a:solidFill>
                  <a:schemeClr val="tx1"/>
                </a:solidFill>
              </a:rPr>
              <a:t>TRANSFERENCIA DE CALOR POR RADIACIÓN</a:t>
            </a:r>
            <a:endParaRPr lang="es-PE" sz="2400" b="1" dirty="0">
              <a:solidFill>
                <a:schemeClr val="tx1"/>
              </a:solidFill>
            </a:endParaRPr>
          </a:p>
        </p:txBody>
      </p:sp>
      <p:graphicFrame>
        <p:nvGraphicFramePr>
          <p:cNvPr id="16" name="Object 8">
            <a:extLst>
              <a:ext uri="{FF2B5EF4-FFF2-40B4-BE49-F238E27FC236}">
                <a16:creationId xmlns="" xmlns:a16="http://schemas.microsoft.com/office/drawing/2014/main" id="{18708E5F-A929-41DD-A79C-09ED52478E0D}"/>
              </a:ext>
            </a:extLst>
          </p:cNvPr>
          <p:cNvGraphicFramePr>
            <a:graphicFrameLocks noChangeAspect="1"/>
          </p:cNvGraphicFramePr>
          <p:nvPr>
            <p:extLst>
              <p:ext uri="{D42A27DB-BD31-4B8C-83A1-F6EECF244321}">
                <p14:modId xmlns:p14="http://schemas.microsoft.com/office/powerpoint/2010/main" val="3665538873"/>
              </p:ext>
            </p:extLst>
          </p:nvPr>
        </p:nvGraphicFramePr>
        <p:xfrm>
          <a:off x="3655690" y="1830935"/>
          <a:ext cx="241300" cy="52388"/>
        </p:xfrm>
        <a:graphic>
          <a:graphicData uri="http://schemas.openxmlformats.org/presentationml/2006/ole">
            <mc:AlternateContent xmlns:mc="http://schemas.openxmlformats.org/markup-compatibility/2006">
              <mc:Choice xmlns:v="urn:schemas-microsoft-com:vml" Requires="v">
                <p:oleObj spid="_x0000_s9374" name="Equation" r:id="rId3" imgW="114102" imgH="177492" progId="Equation.DSMT4">
                  <p:embed/>
                </p:oleObj>
              </mc:Choice>
              <mc:Fallback>
                <p:oleObj name="Equation" r:id="rId3" imgW="114102" imgH="177492" progId="Equation.DSMT4">
                  <p:embed/>
                  <p:pic>
                    <p:nvPicPr>
                      <p:cNvPr id="23558"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5690" y="1830935"/>
                        <a:ext cx="241300" cy="52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 name="Rectangle 3"/>
          <p:cNvSpPr txBox="1">
            <a:spLocks noChangeArrowheads="1"/>
          </p:cNvSpPr>
          <p:nvPr/>
        </p:nvSpPr>
        <p:spPr>
          <a:xfrm>
            <a:off x="623970" y="1716575"/>
            <a:ext cx="4038600" cy="5141425"/>
          </a:xfrm>
          <a:prstGeom prst="rect">
            <a:avLst/>
          </a:prstGeom>
        </p:spPr>
        <p:txBody>
          <a:bodyPr>
            <a:normAutofit/>
          </a:bodyPr>
          <a:lstStyle>
            <a:lvl1pPr marL="342900" indent="-3429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1pPr>
            <a:lvl2pPr marL="742950" indent="-28575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2pPr>
            <a:lvl3pPr marL="11430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3pPr>
            <a:lvl4pPr marL="16002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4pPr>
            <a:lvl5pPr marL="20574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just">
              <a:buNone/>
            </a:pPr>
            <a:r>
              <a:rPr lang="es-PE" sz="1800" dirty="0" smtClean="0">
                <a:solidFill>
                  <a:schemeClr val="tx1"/>
                </a:solidFill>
              </a:rPr>
              <a:t>En la figura se aprecia un </a:t>
            </a:r>
            <a:r>
              <a:rPr lang="es-PE" sz="1800" dirty="0" err="1" smtClean="0">
                <a:solidFill>
                  <a:schemeClr val="tx1"/>
                </a:solidFill>
              </a:rPr>
              <a:t>termograma</a:t>
            </a:r>
            <a:r>
              <a:rPr lang="es-PE" sz="1800" dirty="0" smtClean="0">
                <a:solidFill>
                  <a:schemeClr val="tx1"/>
                </a:solidFill>
              </a:rPr>
              <a:t>. Detecta las radiaciones y el programa establece una relación entre la temperatura del emisor y la frecuencia de la radiación. </a:t>
            </a:r>
          </a:p>
          <a:p>
            <a:pPr marL="0" indent="0" algn="just">
              <a:buNone/>
            </a:pPr>
            <a:r>
              <a:rPr lang="es-PE" sz="1800" dirty="0" smtClean="0">
                <a:solidFill>
                  <a:schemeClr val="tx1"/>
                </a:solidFill>
              </a:rPr>
              <a:t>La cantidad de calor por unidad de tiempo, </a:t>
            </a:r>
            <a:r>
              <a:rPr lang="es-PE" sz="1800" b="1" i="1" dirty="0" smtClean="0">
                <a:solidFill>
                  <a:schemeClr val="tx1"/>
                </a:solidFill>
              </a:rPr>
              <a:t>H</a:t>
            </a:r>
            <a:r>
              <a:rPr lang="es-PE" sz="1800" dirty="0" smtClean="0">
                <a:solidFill>
                  <a:schemeClr val="tx1"/>
                </a:solidFill>
              </a:rPr>
              <a:t>, cedida por un cuerpo de área </a:t>
            </a:r>
            <a:r>
              <a:rPr lang="es-PE" sz="1800" b="1" i="1" dirty="0" smtClean="0">
                <a:solidFill>
                  <a:schemeClr val="tx1"/>
                </a:solidFill>
              </a:rPr>
              <a:t>A</a:t>
            </a:r>
            <a:r>
              <a:rPr lang="es-PE" sz="1800" dirty="0" smtClean="0">
                <a:solidFill>
                  <a:schemeClr val="tx1"/>
                </a:solidFill>
              </a:rPr>
              <a:t>, a temperatura absoluta </a:t>
            </a:r>
            <a:r>
              <a:rPr lang="es-PE" sz="1800" b="1" i="1" dirty="0" smtClean="0">
                <a:solidFill>
                  <a:schemeClr val="tx1"/>
                </a:solidFill>
              </a:rPr>
              <a:t>T</a:t>
            </a:r>
            <a:r>
              <a:rPr lang="es-PE" sz="1800" dirty="0" smtClean="0">
                <a:solidFill>
                  <a:schemeClr val="tx1"/>
                </a:solidFill>
              </a:rPr>
              <a:t> se expresa mediante la ley de Stefan-</a:t>
            </a:r>
            <a:r>
              <a:rPr lang="es-PE" sz="1800" dirty="0" err="1" smtClean="0">
                <a:solidFill>
                  <a:schemeClr val="tx1"/>
                </a:solidFill>
              </a:rPr>
              <a:t>Boltzmann</a:t>
            </a:r>
            <a:r>
              <a:rPr lang="es-PE" sz="1800" dirty="0" smtClean="0">
                <a:solidFill>
                  <a:schemeClr val="tx1"/>
                </a:solidFill>
              </a:rPr>
              <a:t>, según la cual:</a:t>
            </a:r>
          </a:p>
          <a:p>
            <a:pPr algn="just"/>
            <a:endParaRPr lang="es-PE" sz="1800" dirty="0" smtClean="0"/>
          </a:p>
          <a:p>
            <a:pPr algn="just"/>
            <a:endParaRPr lang="es-PE" sz="1800" dirty="0" smtClean="0"/>
          </a:p>
          <a:p>
            <a:pPr algn="just"/>
            <a:endParaRPr lang="es-PE" sz="1800" dirty="0" smtClean="0">
              <a:solidFill>
                <a:schemeClr val="tx1"/>
              </a:solidFill>
              <a:sym typeface="Symbol" pitchFamily="18" charset="2"/>
            </a:endParaRPr>
          </a:p>
          <a:p>
            <a:pPr marL="0" indent="0" algn="just">
              <a:buNone/>
            </a:pPr>
            <a:r>
              <a:rPr lang="el-GR" sz="1800" i="1" dirty="0" smtClean="0">
                <a:solidFill>
                  <a:schemeClr val="tx1"/>
                </a:solidFill>
                <a:sym typeface="Symbol" pitchFamily="18" charset="2"/>
              </a:rPr>
              <a:t>σ</a:t>
            </a:r>
            <a:r>
              <a:rPr lang="es-MX" sz="1800" i="1" dirty="0" smtClean="0">
                <a:solidFill>
                  <a:schemeClr val="tx1"/>
                </a:solidFill>
                <a:sym typeface="Symbol" pitchFamily="18" charset="2"/>
              </a:rPr>
              <a:t> = 5,67  10</a:t>
            </a:r>
            <a:r>
              <a:rPr lang="es-MX" sz="1800" i="1" baseline="30000" dirty="0" smtClean="0">
                <a:solidFill>
                  <a:schemeClr val="tx1"/>
                </a:solidFill>
                <a:sym typeface="Symbol" pitchFamily="18" charset="2"/>
              </a:rPr>
              <a:t>8</a:t>
            </a:r>
            <a:r>
              <a:rPr lang="es-MX" sz="1800" i="1" dirty="0" smtClean="0">
                <a:solidFill>
                  <a:schemeClr val="tx1"/>
                </a:solidFill>
                <a:sym typeface="Symbol" pitchFamily="18" charset="2"/>
              </a:rPr>
              <a:t> W/(m</a:t>
            </a:r>
            <a:r>
              <a:rPr lang="es-MX" sz="1800" i="1" baseline="30000" dirty="0" smtClean="0">
                <a:solidFill>
                  <a:schemeClr val="tx1"/>
                </a:solidFill>
                <a:sym typeface="Symbol" pitchFamily="18" charset="2"/>
              </a:rPr>
              <a:t>2</a:t>
            </a:r>
            <a:r>
              <a:rPr lang="es-MX" sz="1800" i="1" dirty="0" smtClean="0">
                <a:solidFill>
                  <a:schemeClr val="tx1"/>
                </a:solidFill>
                <a:sym typeface="Symbol" pitchFamily="18" charset="2"/>
              </a:rPr>
              <a:t>K</a:t>
            </a:r>
            <a:r>
              <a:rPr lang="es-MX" sz="1800" i="1" baseline="30000" dirty="0" smtClean="0">
                <a:solidFill>
                  <a:schemeClr val="tx1"/>
                </a:solidFill>
                <a:sym typeface="Symbol" pitchFamily="18" charset="2"/>
              </a:rPr>
              <a:t>4</a:t>
            </a:r>
            <a:r>
              <a:rPr lang="es-MX" sz="1800" i="1" dirty="0" smtClean="0">
                <a:solidFill>
                  <a:schemeClr val="tx1"/>
                </a:solidFill>
                <a:sym typeface="Symbol" pitchFamily="18" charset="2"/>
              </a:rPr>
              <a:t>)</a:t>
            </a:r>
          </a:p>
          <a:p>
            <a:pPr marL="0" indent="0" algn="just">
              <a:buNone/>
            </a:pPr>
            <a:r>
              <a:rPr lang="es-MX" sz="1800" i="1" dirty="0" smtClean="0">
                <a:solidFill>
                  <a:schemeClr val="tx1"/>
                </a:solidFill>
                <a:sym typeface="Symbol" pitchFamily="18" charset="2"/>
              </a:rPr>
              <a:t>e</a:t>
            </a:r>
            <a:r>
              <a:rPr lang="es-MX" sz="1800" dirty="0" smtClean="0">
                <a:solidFill>
                  <a:schemeClr val="tx1"/>
                </a:solidFill>
                <a:sym typeface="Symbol" pitchFamily="18" charset="2"/>
              </a:rPr>
              <a:t> es el coeficiente de </a:t>
            </a:r>
            <a:r>
              <a:rPr lang="es-MX" sz="1800" i="1" dirty="0" err="1" smtClean="0">
                <a:solidFill>
                  <a:schemeClr val="tx1"/>
                </a:solidFill>
                <a:sym typeface="Symbol" pitchFamily="18" charset="2"/>
              </a:rPr>
              <a:t>emisividad</a:t>
            </a:r>
            <a:r>
              <a:rPr lang="es-MX" sz="1800" dirty="0" smtClean="0">
                <a:solidFill>
                  <a:schemeClr val="tx1"/>
                </a:solidFill>
                <a:sym typeface="Symbol" pitchFamily="18" charset="2"/>
              </a:rPr>
              <a:t> (entre 0 y 1)</a:t>
            </a:r>
            <a:endParaRPr lang="es-MX" sz="1800" dirty="0">
              <a:solidFill>
                <a:schemeClr val="tx1"/>
              </a:solidFill>
              <a:sym typeface="Symbol" pitchFamily="18" charset="2"/>
            </a:endParaRPr>
          </a:p>
        </p:txBody>
      </p:sp>
      <p:sp>
        <p:nvSpPr>
          <p:cNvPr id="13" name="1 Marcador de contenido"/>
          <p:cNvSpPr txBox="1">
            <a:spLocks/>
          </p:cNvSpPr>
          <p:nvPr/>
        </p:nvSpPr>
        <p:spPr>
          <a:xfrm>
            <a:off x="4814970" y="1716575"/>
            <a:ext cx="4038600" cy="5141425"/>
          </a:xfrm>
          <a:prstGeom prst="rect">
            <a:avLst/>
          </a:prstGeom>
        </p:spPr>
        <p:txBody>
          <a:bodyPr>
            <a:normAutofit/>
          </a:bodyPr>
          <a:lstStyle>
            <a:lvl1pPr marL="342900" indent="-3429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1pPr>
            <a:lvl2pPr marL="742950" indent="-28575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2pPr>
            <a:lvl3pPr marL="11430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3pPr>
            <a:lvl4pPr marL="16002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4pPr>
            <a:lvl5pPr marL="20574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s-PE" dirty="0" smtClean="0"/>
          </a:p>
          <a:p>
            <a:endParaRPr lang="es-PE" dirty="0" smtClean="0"/>
          </a:p>
          <a:p>
            <a:endParaRPr lang="es-PE" dirty="0" smtClean="0"/>
          </a:p>
          <a:p>
            <a:endParaRPr lang="es-PE" dirty="0" smtClean="0"/>
          </a:p>
          <a:p>
            <a:endParaRPr lang="es-PE" dirty="0" smtClean="0"/>
          </a:p>
          <a:p>
            <a:endParaRPr lang="es-PE" dirty="0" smtClean="0"/>
          </a:p>
          <a:p>
            <a:endParaRPr lang="es-PE" dirty="0" smtClean="0"/>
          </a:p>
          <a:p>
            <a:endParaRPr lang="es-PE" dirty="0" smtClean="0"/>
          </a:p>
          <a:p>
            <a:endParaRPr lang="es-PE" dirty="0" smtClean="0"/>
          </a:p>
          <a:p>
            <a:pPr algn="just"/>
            <a:r>
              <a:rPr lang="es-PE" sz="1800" dirty="0" smtClean="0">
                <a:solidFill>
                  <a:schemeClr val="tx1"/>
                </a:solidFill>
              </a:rPr>
              <a:t>Si un cuerpo a temperatura absoluta </a:t>
            </a:r>
            <a:r>
              <a:rPr lang="es-PE" sz="1800" i="1" dirty="0" smtClean="0">
                <a:solidFill>
                  <a:schemeClr val="tx1"/>
                </a:solidFill>
              </a:rPr>
              <a:t>T</a:t>
            </a:r>
            <a:r>
              <a:rPr lang="es-PE" sz="1800" dirty="0" smtClean="0">
                <a:solidFill>
                  <a:schemeClr val="tx1"/>
                </a:solidFill>
              </a:rPr>
              <a:t> está rodeado por material a temperatura </a:t>
            </a:r>
            <a:r>
              <a:rPr lang="es-PE" sz="1800" i="1" dirty="0" err="1" smtClean="0">
                <a:solidFill>
                  <a:schemeClr val="tx1"/>
                </a:solidFill>
              </a:rPr>
              <a:t>T</a:t>
            </a:r>
            <a:r>
              <a:rPr lang="es-PE" sz="1800" i="1" baseline="-25000" dirty="0" err="1" smtClean="0">
                <a:solidFill>
                  <a:schemeClr val="tx1"/>
                </a:solidFill>
              </a:rPr>
              <a:t>s</a:t>
            </a:r>
            <a:r>
              <a:rPr lang="es-PE" sz="1800" dirty="0" smtClean="0">
                <a:solidFill>
                  <a:schemeClr val="tx1"/>
                </a:solidFill>
              </a:rPr>
              <a:t>, la corriente de calor neta  del cuerpo a su entorno es:</a:t>
            </a:r>
          </a:p>
          <a:p>
            <a:endParaRPr lang="es-PE" dirty="0"/>
          </a:p>
        </p:txBody>
      </p:sp>
      <p:graphicFrame>
        <p:nvGraphicFramePr>
          <p:cNvPr id="14" name="Object 8"/>
          <p:cNvGraphicFramePr>
            <a:graphicFrameLocks noChangeAspect="1"/>
          </p:cNvGraphicFramePr>
          <p:nvPr>
            <p:extLst>
              <p:ext uri="{D42A27DB-BD31-4B8C-83A1-F6EECF244321}">
                <p14:modId xmlns:p14="http://schemas.microsoft.com/office/powerpoint/2010/main" val="2190514501"/>
              </p:ext>
            </p:extLst>
          </p:nvPr>
        </p:nvGraphicFramePr>
        <p:xfrm>
          <a:off x="1952689" y="4881371"/>
          <a:ext cx="1357322" cy="376863"/>
        </p:xfrm>
        <a:graphic>
          <a:graphicData uri="http://schemas.openxmlformats.org/presentationml/2006/ole">
            <mc:AlternateContent xmlns:mc="http://schemas.openxmlformats.org/markup-compatibility/2006">
              <mc:Choice xmlns:v="urn:schemas-microsoft-com:vml" Requires="v">
                <p:oleObj spid="_x0000_s9375" name="Equation" r:id="rId5" imgW="1142504" imgH="317362" progId="">
                  <p:embed/>
                </p:oleObj>
              </mc:Choice>
              <mc:Fallback>
                <p:oleObj name="Equation" r:id="rId5" imgW="1142504" imgH="317362"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52689" y="4881371"/>
                        <a:ext cx="1357322" cy="376863"/>
                      </a:xfrm>
                      <a:prstGeom prst="rect">
                        <a:avLst/>
                      </a:prstGeom>
                      <a:solidFill>
                        <a:schemeClr val="tx2">
                          <a:lumMod val="60000"/>
                          <a:lumOff val="40000"/>
                        </a:schemeClr>
                      </a:solidFill>
                    </p:spPr>
                  </p:pic>
                </p:oleObj>
              </mc:Fallback>
            </mc:AlternateContent>
          </a:graphicData>
        </a:graphic>
      </p:graphicFrame>
      <p:grpSp>
        <p:nvGrpSpPr>
          <p:cNvPr id="15" name="Group 5"/>
          <p:cNvGrpSpPr>
            <a:grpSpLocks/>
          </p:cNvGrpSpPr>
          <p:nvPr/>
        </p:nvGrpSpPr>
        <p:grpSpPr bwMode="auto">
          <a:xfrm>
            <a:off x="5047746" y="1672083"/>
            <a:ext cx="3989387" cy="2516187"/>
            <a:chOff x="3089" y="725"/>
            <a:chExt cx="2367" cy="1644"/>
          </a:xfrm>
        </p:grpSpPr>
        <p:sp>
          <p:nvSpPr>
            <p:cNvPr id="17" name="Text Box 6"/>
            <p:cNvSpPr txBox="1">
              <a:spLocks noChangeArrowheads="1"/>
            </p:cNvSpPr>
            <p:nvPr/>
          </p:nvSpPr>
          <p:spPr bwMode="auto">
            <a:xfrm>
              <a:off x="3706" y="2209"/>
              <a:ext cx="1750" cy="160"/>
            </a:xfrm>
            <a:prstGeom prst="rect">
              <a:avLst/>
            </a:prstGeom>
            <a:noFill/>
            <a:ln w="9525" algn="ctr">
              <a:noFill/>
              <a:miter lim="800000"/>
              <a:headEnd/>
              <a:tailEnd/>
            </a:ln>
            <a:effectLst/>
          </p:spPr>
          <p:txBody>
            <a:bodyPr wrap="none">
              <a:spAutoFit/>
            </a:bodyPr>
            <a:lstStyle/>
            <a:p>
              <a:pPr algn="ctr" eaLnBrk="0" hangingPunct="0"/>
              <a:r>
                <a:rPr lang="es-PE" sz="1000" i="1">
                  <a:solidFill>
                    <a:schemeClr val="tx1"/>
                  </a:solidFill>
                  <a:cs typeface="Arial" charset="0"/>
                  <a:hlinkClick r:id="rId7"/>
                </a:rPr>
                <a:t>http://www.termografia.com/paginas/aplicaciones/medicina.htm</a:t>
              </a:r>
              <a:endParaRPr lang="es-PE" sz="1000" i="1">
                <a:solidFill>
                  <a:schemeClr val="tx1"/>
                </a:solidFill>
                <a:cs typeface="Arial" charset="0"/>
              </a:endParaRPr>
            </a:p>
          </p:txBody>
        </p:sp>
        <p:pic>
          <p:nvPicPr>
            <p:cNvPr id="18" name="Picture 7" descr="sars"/>
            <p:cNvPicPr>
              <a:picLocks noChangeAspect="1" noChangeArrowheads="1"/>
            </p:cNvPicPr>
            <p:nvPr/>
          </p:nvPicPr>
          <p:blipFill>
            <a:blip r:embed="rId8" cstate="print"/>
            <a:srcRect/>
            <a:stretch>
              <a:fillRect/>
            </a:stretch>
          </p:blipFill>
          <p:spPr bwMode="auto">
            <a:xfrm>
              <a:off x="3089" y="725"/>
              <a:ext cx="2314" cy="1531"/>
            </a:xfrm>
            <a:prstGeom prst="rect">
              <a:avLst/>
            </a:prstGeom>
            <a:noFill/>
            <a:ln/>
            <a:effectLst/>
          </p:spPr>
        </p:pic>
      </p:grpSp>
      <p:graphicFrame>
        <p:nvGraphicFramePr>
          <p:cNvPr id="19" name="Object 9"/>
          <p:cNvGraphicFramePr>
            <a:graphicFrameLocks noChangeAspect="1"/>
          </p:cNvGraphicFramePr>
          <p:nvPr>
            <p:extLst>
              <p:ext uri="{D42A27DB-BD31-4B8C-83A1-F6EECF244321}">
                <p14:modId xmlns:p14="http://schemas.microsoft.com/office/powerpoint/2010/main" val="2851998492"/>
              </p:ext>
            </p:extLst>
          </p:nvPr>
        </p:nvGraphicFramePr>
        <p:xfrm>
          <a:off x="5654374" y="6033915"/>
          <a:ext cx="2044719" cy="505415"/>
        </p:xfrm>
        <a:graphic>
          <a:graphicData uri="http://schemas.openxmlformats.org/presentationml/2006/ole">
            <mc:AlternateContent xmlns:mc="http://schemas.openxmlformats.org/markup-compatibility/2006">
              <mc:Choice xmlns:v="urn:schemas-microsoft-com:vml" Requires="v">
                <p:oleObj spid="_x0000_s9376" name="Equation" r:id="rId9" imgW="1905000" imgH="469900" progId="">
                  <p:embed/>
                </p:oleObj>
              </mc:Choice>
              <mc:Fallback>
                <p:oleObj name="Equation" r:id="rId9" imgW="1905000" imgH="469900" progId="">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654374" y="6033915"/>
                        <a:ext cx="2044719" cy="505415"/>
                      </a:xfrm>
                      <a:prstGeom prst="rect">
                        <a:avLst/>
                      </a:prstGeom>
                      <a:solidFill>
                        <a:schemeClr val="tx2">
                          <a:lumMod val="60000"/>
                          <a:lumOff val="40000"/>
                        </a:schemeClr>
                      </a:solidFill>
                    </p:spPr>
                  </p:pic>
                </p:oleObj>
              </mc:Fallback>
            </mc:AlternateContent>
          </a:graphicData>
        </a:graphic>
      </p:graphicFrame>
    </p:spTree>
    <p:extLst>
      <p:ext uri="{BB962C8B-B14F-4D97-AF65-F5344CB8AC3E}">
        <p14:creationId xmlns:p14="http://schemas.microsoft.com/office/powerpoint/2010/main" val="3973907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6" name="Rectángulo redondeado 5"/>
          <p:cNvSpPr/>
          <p:nvPr/>
        </p:nvSpPr>
        <p:spPr>
          <a:xfrm>
            <a:off x="1640632" y="909827"/>
            <a:ext cx="3024336" cy="525056"/>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PE" sz="2400" b="1" dirty="0" smtClean="0">
                <a:solidFill>
                  <a:schemeClr val="tx1"/>
                </a:solidFill>
                <a:latin typeface="Arial" panose="020B0604020202020204" pitchFamily="34" charset="0"/>
                <a:cs typeface="Arial" panose="020B0604020202020204" pitchFamily="34" charset="0"/>
              </a:rPr>
              <a:t>EJEMPLOS</a:t>
            </a:r>
            <a:endParaRPr lang="es-PE" sz="2400" b="1" dirty="0">
              <a:solidFill>
                <a:schemeClr val="tx1"/>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Rectángulo 2"/>
              <p:cNvSpPr/>
              <p:nvPr/>
            </p:nvSpPr>
            <p:spPr>
              <a:xfrm>
                <a:off x="4880992" y="1844824"/>
                <a:ext cx="4953000" cy="1815882"/>
              </a:xfrm>
              <a:prstGeom prst="rect">
                <a:avLst/>
              </a:prstGeom>
            </p:spPr>
            <p:txBody>
              <a:bodyPr>
                <a:spAutoFit/>
              </a:bodyPr>
              <a:lstStyle/>
              <a:p>
                <a:pPr algn="just"/>
                <a:r>
                  <a:rPr lang="es-PE" sz="1600" dirty="0">
                    <a:latin typeface="Arial" panose="020B0604020202020204" pitchFamily="34" charset="0"/>
                    <a:cs typeface="Arial" panose="020B0604020202020204" pitchFamily="34" charset="0"/>
                  </a:rPr>
                  <a:t>Una esfera de 9 cm de diámetro, cuya superficie se</a:t>
                </a:r>
              </a:p>
              <a:p>
                <a:pPr algn="just"/>
                <a:r>
                  <a:rPr lang="es-PE" sz="1600" dirty="0">
                    <a:latin typeface="Arial" panose="020B0604020202020204" pitchFamily="34" charset="0"/>
                    <a:cs typeface="Arial" panose="020B0604020202020204" pitchFamily="34" charset="0"/>
                  </a:rPr>
                  <a:t>mantiene a la temperatura de 110 °C, está colgada en el </a:t>
                </a:r>
                <a:r>
                  <a:rPr lang="es-PE" sz="1600" dirty="0" smtClean="0">
                    <a:latin typeface="Arial" panose="020B0604020202020204" pitchFamily="34" charset="0"/>
                    <a:cs typeface="Arial" panose="020B0604020202020204" pitchFamily="34" charset="0"/>
                  </a:rPr>
                  <a:t>centro de </a:t>
                </a:r>
                <a:r>
                  <a:rPr lang="es-PE" sz="1600" dirty="0">
                    <a:latin typeface="Arial" panose="020B0604020202020204" pitchFamily="34" charset="0"/>
                    <a:cs typeface="Arial" panose="020B0604020202020204" pitchFamily="34" charset="0"/>
                  </a:rPr>
                  <a:t>un recinto a 20 °C. Si el coeficiente de transferencia </a:t>
                </a:r>
                <a:r>
                  <a:rPr lang="es-PE" sz="1600" dirty="0" smtClean="0">
                    <a:latin typeface="Arial" panose="020B0604020202020204" pitchFamily="34" charset="0"/>
                    <a:cs typeface="Arial" panose="020B0604020202020204" pitchFamily="34" charset="0"/>
                  </a:rPr>
                  <a:t>de calor </a:t>
                </a:r>
                <a:r>
                  <a:rPr lang="es-PE" sz="1600" dirty="0">
                    <a:latin typeface="Arial" panose="020B0604020202020204" pitchFamily="34" charset="0"/>
                    <a:cs typeface="Arial" panose="020B0604020202020204" pitchFamily="34" charset="0"/>
                  </a:rPr>
                  <a:t>por convección es 15 W/</a:t>
                </a:r>
                <a14:m>
                  <m:oMath xmlns:m="http://schemas.openxmlformats.org/officeDocument/2006/math">
                    <m:sSup>
                      <m:sSupPr>
                        <m:ctrlPr>
                          <a:rPr lang="es-PE" sz="1600" i="1">
                            <a:solidFill>
                              <a:srgbClr val="000000"/>
                            </a:solidFill>
                            <a:latin typeface="Cambria Math" panose="02040503050406030204" pitchFamily="18" charset="0"/>
                            <a:cs typeface="Arial" panose="020B0604020202020204" pitchFamily="34" charset="0"/>
                          </a:rPr>
                        </m:ctrlPr>
                      </m:sSupPr>
                      <m:e>
                        <m:r>
                          <a:rPr lang="es-PE" sz="1600" i="1">
                            <a:solidFill>
                              <a:srgbClr val="000000"/>
                            </a:solidFill>
                            <a:latin typeface="Cambria Math" panose="02040503050406030204" pitchFamily="18" charset="0"/>
                            <a:cs typeface="Arial" panose="020B0604020202020204" pitchFamily="34" charset="0"/>
                          </a:rPr>
                          <m:t>𝑚</m:t>
                        </m:r>
                      </m:e>
                      <m:sup>
                        <m:r>
                          <a:rPr lang="es-PE" sz="1600" i="1">
                            <a:solidFill>
                              <a:srgbClr val="000000"/>
                            </a:solidFill>
                            <a:latin typeface="Cambria Math" panose="02040503050406030204" pitchFamily="18" charset="0"/>
                            <a:cs typeface="Arial" panose="020B0604020202020204" pitchFamily="34" charset="0"/>
                          </a:rPr>
                          <m:t>2</m:t>
                        </m:r>
                      </m:sup>
                    </m:sSup>
                  </m:oMath>
                </a14:m>
                <a:r>
                  <a:rPr lang="es-PE" sz="1600" dirty="0" smtClean="0">
                    <a:latin typeface="Arial" panose="020B0604020202020204" pitchFamily="34" charset="0"/>
                    <a:cs typeface="Arial" panose="020B0604020202020204" pitchFamily="34" charset="0"/>
                  </a:rPr>
                  <a:t>°</a:t>
                </a:r>
                <a:r>
                  <a:rPr lang="es-PE" sz="1600" dirty="0">
                    <a:latin typeface="Arial" panose="020B0604020202020204" pitchFamily="34" charset="0"/>
                    <a:cs typeface="Arial" panose="020B0604020202020204" pitchFamily="34" charset="0"/>
                  </a:rPr>
                  <a:t>C, y la </a:t>
                </a:r>
                <a:r>
                  <a:rPr lang="es-PE" sz="1600" dirty="0" err="1">
                    <a:latin typeface="Arial" panose="020B0604020202020204" pitchFamily="34" charset="0"/>
                    <a:cs typeface="Arial" panose="020B0604020202020204" pitchFamily="34" charset="0"/>
                  </a:rPr>
                  <a:t>emisividad</a:t>
                </a:r>
                <a:r>
                  <a:rPr lang="es-PE" sz="1600" dirty="0">
                    <a:latin typeface="Arial" panose="020B0604020202020204" pitchFamily="34" charset="0"/>
                    <a:cs typeface="Arial" panose="020B0604020202020204" pitchFamily="34" charset="0"/>
                  </a:rPr>
                  <a:t> de </a:t>
                </a:r>
                <a:r>
                  <a:rPr lang="es-PE" sz="1600" dirty="0" smtClean="0">
                    <a:latin typeface="Arial" panose="020B0604020202020204" pitchFamily="34" charset="0"/>
                    <a:cs typeface="Arial" panose="020B0604020202020204" pitchFamily="34" charset="0"/>
                  </a:rPr>
                  <a:t>la superficie </a:t>
                </a:r>
                <a:r>
                  <a:rPr lang="es-PE" sz="1600" dirty="0">
                    <a:latin typeface="Arial" panose="020B0604020202020204" pitchFamily="34" charset="0"/>
                    <a:cs typeface="Arial" panose="020B0604020202020204" pitchFamily="34" charset="0"/>
                  </a:rPr>
                  <a:t>es 0.8, calcule la tasa total de transferencia de </a:t>
                </a:r>
                <a:r>
                  <a:rPr lang="es-PE" sz="1600" dirty="0" smtClean="0">
                    <a:latin typeface="Arial" panose="020B0604020202020204" pitchFamily="34" charset="0"/>
                    <a:cs typeface="Arial" panose="020B0604020202020204" pitchFamily="34" charset="0"/>
                  </a:rPr>
                  <a:t>calor desde </a:t>
                </a:r>
                <a:r>
                  <a:rPr lang="es-PE" sz="1600" dirty="0">
                    <a:latin typeface="Arial" panose="020B0604020202020204" pitchFamily="34" charset="0"/>
                    <a:cs typeface="Arial" panose="020B0604020202020204" pitchFamily="34" charset="0"/>
                  </a:rPr>
                  <a:t>la esfera.</a:t>
                </a:r>
              </a:p>
            </p:txBody>
          </p:sp>
        </mc:Choice>
        <mc:Fallback xmlns="">
          <p:sp>
            <p:nvSpPr>
              <p:cNvPr id="3" name="Rectángulo 2"/>
              <p:cNvSpPr>
                <a:spLocks noRot="1" noChangeAspect="1" noMove="1" noResize="1" noEditPoints="1" noAdjustHandles="1" noChangeArrowheads="1" noChangeShapeType="1" noTextEdit="1"/>
              </p:cNvSpPr>
              <p:nvPr/>
            </p:nvSpPr>
            <p:spPr>
              <a:xfrm>
                <a:off x="4880992" y="1844824"/>
                <a:ext cx="4953000" cy="1815882"/>
              </a:xfrm>
              <a:prstGeom prst="rect">
                <a:avLst/>
              </a:prstGeom>
              <a:blipFill rotWithShape="0">
                <a:blip r:embed="rId2"/>
                <a:stretch>
                  <a:fillRect l="-739" t="-1007" r="-616" b="-3356"/>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5" name="Rectángulo 4"/>
              <p:cNvSpPr/>
              <p:nvPr/>
            </p:nvSpPr>
            <p:spPr>
              <a:xfrm>
                <a:off x="416496" y="1873672"/>
                <a:ext cx="4104456" cy="2345963"/>
              </a:xfrm>
              <a:prstGeom prst="rect">
                <a:avLst/>
              </a:prstGeom>
            </p:spPr>
            <p:txBody>
              <a:bodyPr wrap="square">
                <a:spAutoFit/>
              </a:bodyPr>
              <a:lstStyle/>
              <a:p>
                <a:pPr algn="just"/>
                <a:r>
                  <a:rPr lang="es-PE" sz="1600" dirty="0" smtClean="0">
                    <a:solidFill>
                      <a:srgbClr val="000000"/>
                    </a:solidFill>
                    <a:latin typeface="Arial" panose="020B0604020202020204" pitchFamily="34" charset="0"/>
                    <a:cs typeface="Arial" panose="020B0604020202020204" pitchFamily="34" charset="0"/>
                  </a:rPr>
                  <a:t>Se deja una plancha de 1</a:t>
                </a:r>
                <a:r>
                  <a:rPr lang="es-PE" sz="1600" dirty="0">
                    <a:solidFill>
                      <a:srgbClr val="FFFFFF"/>
                    </a:solidFill>
                    <a:latin typeface="Arial" panose="020B0604020202020204" pitchFamily="34" charset="0"/>
                    <a:cs typeface="Arial" panose="020B0604020202020204" pitchFamily="34" charset="0"/>
                  </a:rPr>
                  <a:t>,</a:t>
                </a:r>
                <a:r>
                  <a:rPr lang="es-PE" sz="1600" dirty="0">
                    <a:solidFill>
                      <a:srgbClr val="000000"/>
                    </a:solidFill>
                    <a:latin typeface="Arial" panose="020B0604020202020204" pitchFamily="34" charset="0"/>
                    <a:cs typeface="Arial" panose="020B0604020202020204" pitchFamily="34" charset="0"/>
                  </a:rPr>
                  <a:t>000 W sobre la tabla </a:t>
                </a:r>
                <a:r>
                  <a:rPr lang="es-PE" sz="1600" dirty="0" smtClean="0">
                    <a:solidFill>
                      <a:srgbClr val="000000"/>
                    </a:solidFill>
                    <a:latin typeface="Arial" panose="020B0604020202020204" pitchFamily="34" charset="0"/>
                    <a:cs typeface="Arial" panose="020B0604020202020204" pitchFamily="34" charset="0"/>
                  </a:rPr>
                  <a:t>de planchar</a:t>
                </a:r>
                <a:r>
                  <a:rPr lang="es-PE" sz="1600" dirty="0">
                    <a:solidFill>
                      <a:srgbClr val="000000"/>
                    </a:solidFill>
                    <a:latin typeface="Arial" panose="020B0604020202020204" pitchFamily="34" charset="0"/>
                    <a:cs typeface="Arial" panose="020B0604020202020204" pitchFamily="34" charset="0"/>
                  </a:rPr>
                  <a:t>, con su base al aire, que está a 20 °C. El </a:t>
                </a:r>
                <a:r>
                  <a:rPr lang="es-PE" sz="1600" dirty="0" smtClean="0">
                    <a:solidFill>
                      <a:srgbClr val="000000"/>
                    </a:solidFill>
                    <a:latin typeface="Arial" panose="020B0604020202020204" pitchFamily="34" charset="0"/>
                    <a:cs typeface="Arial" panose="020B0604020202020204" pitchFamily="34" charset="0"/>
                  </a:rPr>
                  <a:t>coeficiente de transferencia </a:t>
                </a:r>
                <a:r>
                  <a:rPr lang="es-PE" sz="1600" dirty="0">
                    <a:solidFill>
                      <a:srgbClr val="000000"/>
                    </a:solidFill>
                    <a:latin typeface="Arial" panose="020B0604020202020204" pitchFamily="34" charset="0"/>
                    <a:cs typeface="Arial" panose="020B0604020202020204" pitchFamily="34" charset="0"/>
                  </a:rPr>
                  <a:t>de calor por convección natural entre la </a:t>
                </a:r>
                <a:r>
                  <a:rPr lang="es-PE" sz="1600" dirty="0" smtClean="0">
                    <a:solidFill>
                      <a:srgbClr val="000000"/>
                    </a:solidFill>
                    <a:latin typeface="Arial" panose="020B0604020202020204" pitchFamily="34" charset="0"/>
                    <a:cs typeface="Arial" panose="020B0604020202020204" pitchFamily="34" charset="0"/>
                  </a:rPr>
                  <a:t>superficie de </a:t>
                </a:r>
                <a:r>
                  <a:rPr lang="es-PE" sz="1600" dirty="0">
                    <a:solidFill>
                      <a:srgbClr val="000000"/>
                    </a:solidFill>
                    <a:latin typeface="Arial" panose="020B0604020202020204" pitchFamily="34" charset="0"/>
                    <a:cs typeface="Arial" panose="020B0604020202020204" pitchFamily="34" charset="0"/>
                  </a:rPr>
                  <a:t>la base y el aire que la rodea es 35 </a:t>
                </a:r>
                <a:r>
                  <a:rPr lang="es-PE" sz="1600" dirty="0" smtClean="0">
                    <a:solidFill>
                      <a:srgbClr val="000000"/>
                    </a:solidFill>
                    <a:latin typeface="Arial" panose="020B0604020202020204" pitchFamily="34" charset="0"/>
                    <a:cs typeface="Arial" panose="020B0604020202020204" pitchFamily="34" charset="0"/>
                  </a:rPr>
                  <a:t>W/</a:t>
                </a:r>
                <a14:m>
                  <m:oMath xmlns:m="http://schemas.openxmlformats.org/officeDocument/2006/math">
                    <m:sSup>
                      <m:sSupPr>
                        <m:ctrlPr>
                          <a:rPr lang="es-PE" sz="1600" i="1" smtClean="0">
                            <a:solidFill>
                              <a:srgbClr val="000000"/>
                            </a:solidFill>
                            <a:latin typeface="Cambria Math" panose="02040503050406030204" pitchFamily="18" charset="0"/>
                            <a:cs typeface="Arial" panose="020B0604020202020204" pitchFamily="34" charset="0"/>
                          </a:rPr>
                        </m:ctrlPr>
                      </m:sSupPr>
                      <m:e>
                        <m:r>
                          <a:rPr lang="es-PE" sz="1600" b="0" i="1" smtClean="0">
                            <a:solidFill>
                              <a:srgbClr val="000000"/>
                            </a:solidFill>
                            <a:latin typeface="Cambria Math" panose="02040503050406030204" pitchFamily="18" charset="0"/>
                            <a:cs typeface="Arial" panose="020B0604020202020204" pitchFamily="34" charset="0"/>
                          </a:rPr>
                          <m:t>𝑚</m:t>
                        </m:r>
                      </m:e>
                      <m:sup>
                        <m:r>
                          <a:rPr lang="es-PE" sz="1600" i="1" smtClean="0">
                            <a:solidFill>
                              <a:srgbClr val="000000"/>
                            </a:solidFill>
                            <a:latin typeface="Cambria Math" panose="02040503050406030204" pitchFamily="18" charset="0"/>
                            <a:cs typeface="Arial" panose="020B0604020202020204" pitchFamily="34" charset="0"/>
                          </a:rPr>
                          <m:t>2</m:t>
                        </m:r>
                      </m:sup>
                    </m:sSup>
                  </m:oMath>
                </a14:m>
                <a:r>
                  <a:rPr lang="es-PE" sz="1600" dirty="0" smtClean="0">
                    <a:solidFill>
                      <a:srgbClr val="000000"/>
                    </a:solidFill>
                    <a:latin typeface="Arial" panose="020B0604020202020204" pitchFamily="34" charset="0"/>
                    <a:cs typeface="Arial" panose="020B0604020202020204" pitchFamily="34" charset="0"/>
                  </a:rPr>
                  <a:t>°</a:t>
                </a:r>
                <a:r>
                  <a:rPr lang="es-PE" sz="1600" dirty="0">
                    <a:solidFill>
                      <a:srgbClr val="000000"/>
                    </a:solidFill>
                    <a:latin typeface="Arial" panose="020B0604020202020204" pitchFamily="34" charset="0"/>
                    <a:cs typeface="Arial" panose="020B0604020202020204" pitchFamily="34" charset="0"/>
                  </a:rPr>
                  <a:t>C. Si </a:t>
                </a:r>
                <a:r>
                  <a:rPr lang="es-PE" sz="1600" dirty="0" smtClean="0">
                    <a:solidFill>
                      <a:srgbClr val="000000"/>
                    </a:solidFill>
                    <a:latin typeface="Arial" panose="020B0604020202020204" pitchFamily="34" charset="0"/>
                    <a:cs typeface="Arial" panose="020B0604020202020204" pitchFamily="34" charset="0"/>
                  </a:rPr>
                  <a:t>la </a:t>
                </a:r>
                <a:r>
                  <a:rPr lang="es-PE" sz="1600" dirty="0" err="1" smtClean="0">
                    <a:solidFill>
                      <a:srgbClr val="000000"/>
                    </a:solidFill>
                    <a:latin typeface="Arial" panose="020B0604020202020204" pitchFamily="34" charset="0"/>
                    <a:cs typeface="Arial" panose="020B0604020202020204" pitchFamily="34" charset="0"/>
                  </a:rPr>
                  <a:t>emisividad</a:t>
                </a:r>
                <a:r>
                  <a:rPr lang="es-PE" sz="1600" dirty="0" smtClean="0">
                    <a:solidFill>
                      <a:srgbClr val="000000"/>
                    </a:solidFill>
                    <a:latin typeface="Arial" panose="020B0604020202020204" pitchFamily="34" charset="0"/>
                    <a:cs typeface="Arial" panose="020B0604020202020204" pitchFamily="34" charset="0"/>
                  </a:rPr>
                  <a:t> </a:t>
                </a:r>
                <a:r>
                  <a:rPr lang="es-PE" sz="1600" dirty="0">
                    <a:solidFill>
                      <a:srgbClr val="000000"/>
                    </a:solidFill>
                    <a:latin typeface="Arial" panose="020B0604020202020204" pitchFamily="34" charset="0"/>
                    <a:cs typeface="Arial" panose="020B0604020202020204" pitchFamily="34" charset="0"/>
                  </a:rPr>
                  <a:t>de la base es 0.6, y su área es 0.02 </a:t>
                </a:r>
                <a14:m>
                  <m:oMath xmlns:m="http://schemas.openxmlformats.org/officeDocument/2006/math">
                    <m:sSup>
                      <m:sSupPr>
                        <m:ctrlPr>
                          <a:rPr lang="es-PE" sz="1600" i="1">
                            <a:solidFill>
                              <a:srgbClr val="000000"/>
                            </a:solidFill>
                            <a:latin typeface="Cambria Math" panose="02040503050406030204" pitchFamily="18" charset="0"/>
                            <a:cs typeface="Arial" panose="020B0604020202020204" pitchFamily="34" charset="0"/>
                          </a:rPr>
                        </m:ctrlPr>
                      </m:sSupPr>
                      <m:e>
                        <m:r>
                          <a:rPr lang="es-PE" sz="1600" i="1">
                            <a:solidFill>
                              <a:srgbClr val="000000"/>
                            </a:solidFill>
                            <a:latin typeface="Cambria Math" panose="02040503050406030204" pitchFamily="18" charset="0"/>
                            <a:cs typeface="Arial" panose="020B0604020202020204" pitchFamily="34" charset="0"/>
                          </a:rPr>
                          <m:t>𝑚</m:t>
                        </m:r>
                      </m:e>
                      <m:sup>
                        <m:r>
                          <a:rPr lang="es-PE" sz="1600" i="1">
                            <a:solidFill>
                              <a:srgbClr val="000000"/>
                            </a:solidFill>
                            <a:latin typeface="Cambria Math" panose="02040503050406030204" pitchFamily="18" charset="0"/>
                            <a:cs typeface="Arial" panose="020B0604020202020204" pitchFamily="34" charset="0"/>
                          </a:rPr>
                          <m:t>2</m:t>
                        </m:r>
                      </m:sup>
                    </m:sSup>
                  </m:oMath>
                </a14:m>
                <a:r>
                  <a:rPr lang="es-PE" sz="1600" dirty="0" smtClean="0">
                    <a:solidFill>
                      <a:srgbClr val="000000"/>
                    </a:solidFill>
                    <a:latin typeface="Arial" panose="020B0604020202020204" pitchFamily="34" charset="0"/>
                    <a:cs typeface="Arial" panose="020B0604020202020204" pitchFamily="34" charset="0"/>
                  </a:rPr>
                  <a:t>, </a:t>
                </a:r>
                <a:r>
                  <a:rPr lang="es-PE" sz="1600" dirty="0">
                    <a:solidFill>
                      <a:srgbClr val="000000"/>
                    </a:solidFill>
                    <a:latin typeface="Arial" panose="020B0604020202020204" pitchFamily="34" charset="0"/>
                    <a:cs typeface="Arial" panose="020B0604020202020204" pitchFamily="34" charset="0"/>
                  </a:rPr>
                  <a:t>calcule </a:t>
                </a:r>
                <a:r>
                  <a:rPr lang="es-PE" sz="1600" dirty="0" smtClean="0">
                    <a:solidFill>
                      <a:srgbClr val="000000"/>
                    </a:solidFill>
                    <a:latin typeface="Arial" panose="020B0604020202020204" pitchFamily="34" charset="0"/>
                    <a:cs typeface="Arial" panose="020B0604020202020204" pitchFamily="34" charset="0"/>
                  </a:rPr>
                  <a:t>la temperatura </a:t>
                </a:r>
                <a:r>
                  <a:rPr lang="es-PE" sz="1600" dirty="0">
                    <a:solidFill>
                      <a:srgbClr val="000000"/>
                    </a:solidFill>
                    <a:latin typeface="Arial" panose="020B0604020202020204" pitchFamily="34" charset="0"/>
                    <a:cs typeface="Arial" panose="020B0604020202020204" pitchFamily="34" charset="0"/>
                  </a:rPr>
                  <a:t>de la base de la plancha.</a:t>
                </a:r>
                <a:endParaRPr lang="es-PE" sz="1600" dirty="0">
                  <a:latin typeface="Arial" panose="020B0604020202020204" pitchFamily="34" charset="0"/>
                  <a:cs typeface="Arial" panose="020B0604020202020204" pitchFamily="34" charset="0"/>
                </a:endParaRPr>
              </a:p>
            </p:txBody>
          </p:sp>
        </mc:Choice>
        <mc:Fallback xmlns="">
          <p:sp>
            <p:nvSpPr>
              <p:cNvPr id="5" name="Rectángulo 4"/>
              <p:cNvSpPr>
                <a:spLocks noRot="1" noChangeAspect="1" noMove="1" noResize="1" noEditPoints="1" noAdjustHandles="1" noChangeArrowheads="1" noChangeShapeType="1" noTextEdit="1"/>
              </p:cNvSpPr>
              <p:nvPr/>
            </p:nvSpPr>
            <p:spPr>
              <a:xfrm>
                <a:off x="416496" y="1873672"/>
                <a:ext cx="4104456" cy="2345963"/>
              </a:xfrm>
              <a:prstGeom prst="rect">
                <a:avLst/>
              </a:prstGeom>
              <a:blipFill rotWithShape="0">
                <a:blip r:embed="rId3"/>
                <a:stretch>
                  <a:fillRect l="-742" t="-779" r="-742" b="-779"/>
                </a:stretch>
              </a:blipFill>
            </p:spPr>
            <p:txBody>
              <a:bodyPr/>
              <a:lstStyle/>
              <a:p>
                <a:r>
                  <a:rPr lang="es-PE">
                    <a:noFill/>
                  </a:rPr>
                  <a:t> </a:t>
                </a:r>
              </a:p>
            </p:txBody>
          </p:sp>
        </mc:Fallback>
      </mc:AlternateContent>
      <p:pic>
        <p:nvPicPr>
          <p:cNvPr id="11" name="Imagen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8584" y="4365104"/>
            <a:ext cx="2483946" cy="2069955"/>
          </a:xfrm>
          <a:prstGeom prst="rect">
            <a:avLst/>
          </a:prstGeom>
        </p:spPr>
      </p:pic>
    </p:spTree>
    <p:extLst>
      <p:ext uri="{BB962C8B-B14F-4D97-AF65-F5344CB8AC3E}">
        <p14:creationId xmlns:p14="http://schemas.microsoft.com/office/powerpoint/2010/main" val="92594441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2144964" y="174439"/>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6" name="Rectángulo redondeado 5"/>
          <p:cNvSpPr/>
          <p:nvPr/>
        </p:nvSpPr>
        <p:spPr>
          <a:xfrm>
            <a:off x="1748506" y="839037"/>
            <a:ext cx="2448272" cy="525056"/>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PE" sz="2400" b="1" dirty="0" smtClean="0">
                <a:solidFill>
                  <a:schemeClr val="tx1"/>
                </a:solidFill>
                <a:latin typeface="Arial" panose="020B0604020202020204" pitchFamily="34" charset="0"/>
                <a:cs typeface="Arial" panose="020B0604020202020204" pitchFamily="34" charset="0"/>
              </a:rPr>
              <a:t>EJERCICIOS</a:t>
            </a:r>
            <a:endParaRPr lang="es-PE" sz="2400" b="1" dirty="0">
              <a:solidFill>
                <a:schemeClr val="tx1"/>
              </a:solidFill>
              <a:latin typeface="Arial" panose="020B0604020202020204" pitchFamily="34" charset="0"/>
              <a:cs typeface="Arial" panose="020B0604020202020204" pitchFamily="34" charset="0"/>
            </a:endParaRPr>
          </a:p>
        </p:txBody>
      </p:sp>
      <p:sp>
        <p:nvSpPr>
          <p:cNvPr id="5" name="Rectángulo 4"/>
          <p:cNvSpPr/>
          <p:nvPr/>
        </p:nvSpPr>
        <p:spPr>
          <a:xfrm>
            <a:off x="4448944" y="1353685"/>
            <a:ext cx="5328592" cy="2800767"/>
          </a:xfrm>
          <a:prstGeom prst="rect">
            <a:avLst/>
          </a:prstGeom>
        </p:spPr>
        <p:txBody>
          <a:bodyPr wrap="square">
            <a:spAutoFit/>
          </a:bodyPr>
          <a:lstStyle/>
          <a:p>
            <a:pPr algn="just"/>
            <a:r>
              <a:rPr lang="es-PE" sz="1600" dirty="0">
                <a:latin typeface="Arial" panose="020B0604020202020204" pitchFamily="34" charset="0"/>
                <a:cs typeface="Arial" panose="020B0604020202020204" pitchFamily="34" charset="0"/>
              </a:rPr>
              <a:t>Una chapa metálica delgada está aislada en su </a:t>
            </a:r>
            <a:r>
              <a:rPr lang="es-PE" sz="1600" dirty="0" smtClean="0">
                <a:latin typeface="Arial" panose="020B0604020202020204" pitchFamily="34" charset="0"/>
                <a:cs typeface="Arial" panose="020B0604020202020204" pitchFamily="34" charset="0"/>
              </a:rPr>
              <a:t>cara trasera</a:t>
            </a:r>
            <a:r>
              <a:rPr lang="es-PE" sz="1600" dirty="0">
                <a:latin typeface="Arial" panose="020B0604020202020204" pitchFamily="34" charset="0"/>
                <a:cs typeface="Arial" panose="020B0604020202020204" pitchFamily="34" charset="0"/>
              </a:rPr>
              <a:t>, y su cara delantera está expuesta a la radiación </a:t>
            </a:r>
            <a:r>
              <a:rPr lang="es-PE" sz="1600" dirty="0" smtClean="0">
                <a:latin typeface="Arial" panose="020B0604020202020204" pitchFamily="34" charset="0"/>
                <a:cs typeface="Arial" panose="020B0604020202020204" pitchFamily="34" charset="0"/>
              </a:rPr>
              <a:t>solar. La </a:t>
            </a:r>
            <a:r>
              <a:rPr lang="es-PE" sz="1600" dirty="0">
                <a:latin typeface="Arial" panose="020B0604020202020204" pitchFamily="34" charset="0"/>
                <a:cs typeface="Arial" panose="020B0604020202020204" pitchFamily="34" charset="0"/>
              </a:rPr>
              <a:t>superficie expuesta de la chapa tiene 0.8 de </a:t>
            </a:r>
            <a:r>
              <a:rPr lang="es-PE" sz="1600" dirty="0" smtClean="0">
                <a:latin typeface="Arial" panose="020B0604020202020204" pitchFamily="34" charset="0"/>
                <a:cs typeface="Arial" panose="020B0604020202020204" pitchFamily="34" charset="0"/>
              </a:rPr>
              <a:t>absorbencia, para </a:t>
            </a:r>
            <a:r>
              <a:rPr lang="es-PE" sz="1600" dirty="0">
                <a:latin typeface="Arial" panose="020B0604020202020204" pitchFamily="34" charset="0"/>
                <a:cs typeface="Arial" panose="020B0604020202020204" pitchFamily="34" charset="0"/>
              </a:rPr>
              <a:t>radiación solar. Si esta radiación incide sobre la placa </a:t>
            </a:r>
            <a:r>
              <a:rPr lang="es-PE" sz="1600" dirty="0" smtClean="0">
                <a:latin typeface="Arial" panose="020B0604020202020204" pitchFamily="34" charset="0"/>
                <a:cs typeface="Arial" panose="020B0604020202020204" pitchFamily="34" charset="0"/>
              </a:rPr>
              <a:t>con una </a:t>
            </a:r>
            <a:r>
              <a:rPr lang="es-PE" sz="1600" dirty="0">
                <a:latin typeface="Arial" panose="020B0604020202020204" pitchFamily="34" charset="0"/>
                <a:cs typeface="Arial" panose="020B0604020202020204" pitchFamily="34" charset="0"/>
              </a:rPr>
              <a:t>potencia de 450 W/m2, y la </a:t>
            </a:r>
            <a:r>
              <a:rPr lang="es-PE" sz="1600" dirty="0" smtClean="0">
                <a:latin typeface="Arial" panose="020B0604020202020204" pitchFamily="34" charset="0"/>
                <a:cs typeface="Arial" panose="020B0604020202020204" pitchFamily="34" charset="0"/>
              </a:rPr>
              <a:t> temperatura </a:t>
            </a:r>
            <a:r>
              <a:rPr lang="es-PE" sz="1600" dirty="0">
                <a:latin typeface="Arial" panose="020B0604020202020204" pitchFamily="34" charset="0"/>
                <a:cs typeface="Arial" panose="020B0604020202020204" pitchFamily="34" charset="0"/>
              </a:rPr>
              <a:t>del aire que </a:t>
            </a:r>
            <a:r>
              <a:rPr lang="es-PE" sz="1600" dirty="0" smtClean="0">
                <a:latin typeface="Arial" panose="020B0604020202020204" pitchFamily="34" charset="0"/>
                <a:cs typeface="Arial" panose="020B0604020202020204" pitchFamily="34" charset="0"/>
              </a:rPr>
              <a:t>la rodea </a:t>
            </a:r>
            <a:r>
              <a:rPr lang="es-PE" sz="1600" dirty="0">
                <a:latin typeface="Arial" panose="020B0604020202020204" pitchFamily="34" charset="0"/>
                <a:cs typeface="Arial" panose="020B0604020202020204" pitchFamily="34" charset="0"/>
              </a:rPr>
              <a:t>es 25 °C, determine la temperatura de la chapa, </a:t>
            </a:r>
            <a:r>
              <a:rPr lang="es-PE" sz="1600" dirty="0" smtClean="0">
                <a:latin typeface="Arial" panose="020B0604020202020204" pitchFamily="34" charset="0"/>
                <a:cs typeface="Arial" panose="020B0604020202020204" pitchFamily="34" charset="0"/>
              </a:rPr>
              <a:t>cuando la </a:t>
            </a:r>
            <a:r>
              <a:rPr lang="es-PE" sz="1600" dirty="0">
                <a:latin typeface="Arial" panose="020B0604020202020204" pitchFamily="34" charset="0"/>
                <a:cs typeface="Arial" panose="020B0604020202020204" pitchFamily="34" charset="0"/>
              </a:rPr>
              <a:t>pérdida de calor por convección es igual a la energía </a:t>
            </a:r>
            <a:r>
              <a:rPr lang="es-PE" sz="1600" dirty="0" smtClean="0">
                <a:latin typeface="Arial" panose="020B0604020202020204" pitchFamily="34" charset="0"/>
                <a:cs typeface="Arial" panose="020B0604020202020204" pitchFamily="34" charset="0"/>
              </a:rPr>
              <a:t>solar absorbida </a:t>
            </a:r>
            <a:r>
              <a:rPr lang="es-PE" sz="1600" dirty="0">
                <a:latin typeface="Arial" panose="020B0604020202020204" pitchFamily="34" charset="0"/>
                <a:cs typeface="Arial" panose="020B0604020202020204" pitchFamily="34" charset="0"/>
              </a:rPr>
              <a:t>por la placa. Suponga que el coeficiente de </a:t>
            </a:r>
            <a:r>
              <a:rPr lang="es-PE" sz="1600" dirty="0" smtClean="0">
                <a:latin typeface="Arial" panose="020B0604020202020204" pitchFamily="34" charset="0"/>
                <a:cs typeface="Arial" panose="020B0604020202020204" pitchFamily="34" charset="0"/>
              </a:rPr>
              <a:t>transferencia de </a:t>
            </a:r>
            <a:r>
              <a:rPr lang="es-PE" sz="1600" dirty="0">
                <a:latin typeface="Arial" panose="020B0604020202020204" pitchFamily="34" charset="0"/>
                <a:cs typeface="Arial" panose="020B0604020202020204" pitchFamily="34" charset="0"/>
              </a:rPr>
              <a:t>calor por convección es 50 W/m2 · °C, y </a:t>
            </a:r>
            <a:r>
              <a:rPr lang="es-PE" sz="1600" dirty="0" smtClean="0">
                <a:latin typeface="Arial" panose="020B0604020202020204" pitchFamily="34" charset="0"/>
                <a:cs typeface="Arial" panose="020B0604020202020204" pitchFamily="34" charset="0"/>
              </a:rPr>
              <a:t>desprecie la </a:t>
            </a:r>
            <a:r>
              <a:rPr lang="es-PE" sz="1600" dirty="0">
                <a:latin typeface="Arial" panose="020B0604020202020204" pitchFamily="34" charset="0"/>
                <a:cs typeface="Arial" panose="020B0604020202020204" pitchFamily="34" charset="0"/>
              </a:rPr>
              <a:t>pérdida de calor por radiación.</a:t>
            </a:r>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93160" y="4293096"/>
            <a:ext cx="1800476" cy="2410161"/>
          </a:xfrm>
          <a:prstGeom prst="rect">
            <a:avLst/>
          </a:prstGeom>
        </p:spPr>
      </p:pic>
      <p:sp>
        <p:nvSpPr>
          <p:cNvPr id="7" name="Rectángulo 6"/>
          <p:cNvSpPr/>
          <p:nvPr/>
        </p:nvSpPr>
        <p:spPr>
          <a:xfrm>
            <a:off x="344488" y="1723016"/>
            <a:ext cx="3852290" cy="2308324"/>
          </a:xfrm>
          <a:prstGeom prst="rect">
            <a:avLst/>
          </a:prstGeom>
        </p:spPr>
        <p:txBody>
          <a:bodyPr wrap="square">
            <a:spAutoFit/>
          </a:bodyPr>
          <a:lstStyle/>
          <a:p>
            <a:pPr algn="just"/>
            <a:r>
              <a:rPr lang="es-PE" sz="1600" dirty="0">
                <a:latin typeface="Arial" panose="020B0604020202020204" pitchFamily="34" charset="0"/>
                <a:cs typeface="Arial" panose="020B0604020202020204" pitchFamily="34" charset="0"/>
              </a:rPr>
              <a:t>Un recipiente esférico de </a:t>
            </a:r>
            <a:r>
              <a:rPr lang="es-PE" sz="1600" dirty="0" smtClean="0">
                <a:latin typeface="Arial" panose="020B0604020202020204" pitchFamily="34" charset="0"/>
                <a:cs typeface="Arial" panose="020B0604020202020204" pitchFamily="34" charset="0"/>
              </a:rPr>
              <a:t>acero de </a:t>
            </a:r>
            <a:r>
              <a:rPr lang="es-PE" sz="1600" dirty="0" err="1" smtClean="0">
                <a:latin typeface="Arial" panose="020B0604020202020204" pitchFamily="34" charset="0"/>
                <a:cs typeface="Arial" panose="020B0604020202020204" pitchFamily="34" charset="0"/>
              </a:rPr>
              <a:t>emisividad</a:t>
            </a:r>
            <a:r>
              <a:rPr lang="es-PE" sz="1600" dirty="0" smtClean="0">
                <a:latin typeface="Arial" panose="020B0604020202020204" pitchFamily="34" charset="0"/>
                <a:cs typeface="Arial" panose="020B0604020202020204" pitchFamily="34" charset="0"/>
              </a:rPr>
              <a:t> e = 0,35 , </a:t>
            </a:r>
            <a:r>
              <a:rPr lang="es-PE" sz="1600" dirty="0">
                <a:latin typeface="Arial" panose="020B0604020202020204" pitchFamily="34" charset="0"/>
                <a:cs typeface="Arial" panose="020B0604020202020204" pitchFamily="34" charset="0"/>
              </a:rPr>
              <a:t>cuyo diámetro </a:t>
            </a:r>
            <a:r>
              <a:rPr lang="es-PE" sz="1600" dirty="0" smtClean="0">
                <a:latin typeface="Arial" panose="020B0604020202020204" pitchFamily="34" charset="0"/>
                <a:cs typeface="Arial" panose="020B0604020202020204" pitchFamily="34" charset="0"/>
              </a:rPr>
              <a:t>exterior es </a:t>
            </a:r>
            <a:r>
              <a:rPr lang="es-PE" sz="1600" dirty="0">
                <a:latin typeface="Arial" panose="020B0604020202020204" pitchFamily="34" charset="0"/>
                <a:cs typeface="Arial" panose="020B0604020202020204" pitchFamily="34" charset="0"/>
              </a:rPr>
              <a:t>20 cm, y cuya pared hueca tiene el espesor de 0.4 cm</a:t>
            </a:r>
            <a:r>
              <a:rPr lang="es-PE" sz="1600" dirty="0" smtClean="0">
                <a:latin typeface="Arial" panose="020B0604020202020204" pitchFamily="34" charset="0"/>
                <a:cs typeface="Arial" panose="020B0604020202020204" pitchFamily="34" charset="0"/>
              </a:rPr>
              <a:t>,</a:t>
            </a:r>
            <a:r>
              <a:rPr lang="es-PE" sz="1600" dirty="0">
                <a:latin typeface="Arial" panose="020B0604020202020204" pitchFamily="34" charset="0"/>
                <a:cs typeface="Arial" panose="020B0604020202020204" pitchFamily="34" charset="0"/>
              </a:rPr>
              <a:t> se llena con agua y hielo a 0 °C. La superficie externa está </a:t>
            </a:r>
            <a:r>
              <a:rPr lang="es-PE" sz="1600" dirty="0" smtClean="0">
                <a:latin typeface="Arial" panose="020B0604020202020204" pitchFamily="34" charset="0"/>
                <a:cs typeface="Arial" panose="020B0604020202020204" pitchFamily="34" charset="0"/>
              </a:rPr>
              <a:t>a 5 </a:t>
            </a:r>
            <a:r>
              <a:rPr lang="es-PE" sz="1600" dirty="0">
                <a:latin typeface="Arial" panose="020B0604020202020204" pitchFamily="34" charset="0"/>
                <a:cs typeface="Arial" panose="020B0604020202020204" pitchFamily="34" charset="0"/>
              </a:rPr>
              <a:t>°C. Calcule la tasa aproximada de pérdida de calor a </a:t>
            </a:r>
            <a:r>
              <a:rPr lang="es-PE" sz="1600" dirty="0" smtClean="0">
                <a:latin typeface="Arial" panose="020B0604020202020204" pitchFamily="34" charset="0"/>
                <a:cs typeface="Arial" panose="020B0604020202020204" pitchFamily="34" charset="0"/>
              </a:rPr>
              <a:t>través de </a:t>
            </a:r>
            <a:r>
              <a:rPr lang="es-PE" sz="1600" dirty="0">
                <a:latin typeface="Arial" panose="020B0604020202020204" pitchFamily="34" charset="0"/>
                <a:cs typeface="Arial" panose="020B0604020202020204" pitchFamily="34" charset="0"/>
              </a:rPr>
              <a:t>la esfera, y la rapidez con que se funde el hielo en </a:t>
            </a:r>
            <a:r>
              <a:rPr lang="es-PE" sz="1600" dirty="0" smtClean="0">
                <a:latin typeface="Arial" panose="020B0604020202020204" pitchFamily="34" charset="0"/>
                <a:cs typeface="Arial" panose="020B0604020202020204" pitchFamily="34" charset="0"/>
              </a:rPr>
              <a:t>el recipiente</a:t>
            </a:r>
            <a:r>
              <a:rPr lang="es-PE" sz="1600" dirty="0">
                <a:latin typeface="Arial" panose="020B0604020202020204" pitchFamily="34" charset="0"/>
                <a:cs typeface="Arial" panose="020B0604020202020204" pitchFamily="34" charset="0"/>
              </a:rPr>
              <a:t>.</a:t>
            </a:r>
          </a:p>
        </p:txBody>
      </p:sp>
      <p:pic>
        <p:nvPicPr>
          <p:cNvPr id="8" name="Imagen 7"/>
          <p:cNvPicPr>
            <a:picLocks noChangeAspect="1"/>
          </p:cNvPicPr>
          <p:nvPr/>
        </p:nvPicPr>
        <p:blipFill>
          <a:blip r:embed="rId3"/>
          <a:stretch>
            <a:fillRect/>
          </a:stretch>
        </p:blipFill>
        <p:spPr>
          <a:xfrm>
            <a:off x="1352600" y="4230098"/>
            <a:ext cx="2181225" cy="1781175"/>
          </a:xfrm>
          <a:prstGeom prst="rect">
            <a:avLst/>
          </a:prstGeom>
        </p:spPr>
      </p:pic>
    </p:spTree>
    <p:extLst>
      <p:ext uri="{BB962C8B-B14F-4D97-AF65-F5344CB8AC3E}">
        <p14:creationId xmlns:p14="http://schemas.microsoft.com/office/powerpoint/2010/main" val="354570833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10" name="Content Placeholder 4"/>
          <p:cNvSpPr txBox="1">
            <a:spLocks/>
          </p:cNvSpPr>
          <p:nvPr/>
        </p:nvSpPr>
        <p:spPr>
          <a:xfrm>
            <a:off x="4733611" y="1700808"/>
            <a:ext cx="4896544" cy="3960440"/>
          </a:xfrm>
          <a:prstGeom prst="rect">
            <a:avLst/>
          </a:prstGeom>
        </p:spPr>
        <p:txBody>
          <a:bodyPr/>
          <a:lstStyle>
            <a:lvl1pPr marL="342900" indent="-3429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1pPr>
            <a:lvl2pPr marL="742950" indent="-28575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2pPr>
            <a:lvl3pPr marL="11430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3pPr>
            <a:lvl4pPr marL="16002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4pPr>
            <a:lvl5pPr marL="20574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just"/>
            <a:r>
              <a:rPr lang="es-PE" sz="1800" dirty="0" smtClean="0">
                <a:solidFill>
                  <a:schemeClr val="tx1"/>
                </a:solidFill>
                <a:latin typeface="Arial" panose="020B0604020202020204" pitchFamily="34" charset="0"/>
                <a:cs typeface="Arial" panose="020B0604020202020204" pitchFamily="34" charset="0"/>
              </a:rPr>
              <a:t>Los procesos de transferencia de calor no se presentan solos en la naturaleza aparecen juntos.</a:t>
            </a:r>
            <a:endParaRPr lang="es-PE" sz="1800" dirty="0">
              <a:solidFill>
                <a:schemeClr val="tx1"/>
              </a:solidFill>
              <a:latin typeface="Arial" panose="020B0604020202020204" pitchFamily="34" charset="0"/>
              <a:cs typeface="Arial" panose="020B0604020202020204" pitchFamily="34" charset="0"/>
            </a:endParaRPr>
          </a:p>
          <a:p>
            <a:pPr algn="just"/>
            <a:r>
              <a:rPr lang="es-MX" sz="1800" dirty="0" smtClean="0">
                <a:solidFill>
                  <a:schemeClr val="tx1"/>
                </a:solidFill>
              </a:rPr>
              <a:t>El proceso de transferencia de calor por convección produce desplazamiento </a:t>
            </a:r>
            <a:r>
              <a:rPr lang="es-MX" sz="1800" smtClean="0">
                <a:solidFill>
                  <a:schemeClr val="tx1"/>
                </a:solidFill>
              </a:rPr>
              <a:t>de </a:t>
            </a:r>
            <a:r>
              <a:rPr lang="es-MX" sz="1800" smtClean="0">
                <a:solidFill>
                  <a:schemeClr val="tx1"/>
                </a:solidFill>
              </a:rPr>
              <a:t>masas</a:t>
            </a:r>
            <a:r>
              <a:rPr lang="es-MX" sz="1800" dirty="0" smtClean="0">
                <a:solidFill>
                  <a:schemeClr val="tx1"/>
                </a:solidFill>
              </a:rPr>
              <a:t>.</a:t>
            </a:r>
            <a:endParaRPr lang="es-MX" sz="1800" dirty="0">
              <a:solidFill>
                <a:schemeClr val="tx1"/>
              </a:solidFill>
            </a:endParaRPr>
          </a:p>
          <a:p>
            <a:pPr algn="just">
              <a:spcAft>
                <a:spcPts val="1200"/>
              </a:spcAft>
            </a:pPr>
            <a:r>
              <a:rPr lang="es-PE" sz="1800" dirty="0" smtClean="0">
                <a:solidFill>
                  <a:schemeClr val="tx1"/>
                </a:solidFill>
              </a:rPr>
              <a:t>Los estados de la materia en la actualidad no solo son tres se consideran </a:t>
            </a:r>
            <a:r>
              <a:rPr lang="es-PE" sz="1800" dirty="0" smtClean="0">
                <a:solidFill>
                  <a:schemeClr val="tx1"/>
                </a:solidFill>
              </a:rPr>
              <a:t>a la </a:t>
            </a:r>
            <a:r>
              <a:rPr lang="es-PE" sz="1800" dirty="0" smtClean="0">
                <a:solidFill>
                  <a:schemeClr val="tx1"/>
                </a:solidFill>
              </a:rPr>
              <a:t>fecha que hay 6 fases de la materia.</a:t>
            </a:r>
          </a:p>
          <a:p>
            <a:pPr algn="just">
              <a:spcAft>
                <a:spcPts val="1200"/>
              </a:spcAft>
            </a:pPr>
            <a:r>
              <a:rPr lang="es-PE" sz="1800" dirty="0" smtClean="0">
                <a:solidFill>
                  <a:schemeClr val="tx1"/>
                </a:solidFill>
              </a:rPr>
              <a:t>En los cambios de fase de los materiales cristalinos la temperatura no cambia hasta que la ultima partícula no cambia de fase.</a:t>
            </a:r>
            <a:endParaRPr lang="es-PE" sz="1800" dirty="0">
              <a:solidFill>
                <a:schemeClr val="tx1"/>
              </a:solidFill>
            </a:endParaRPr>
          </a:p>
        </p:txBody>
      </p:sp>
      <p:sp>
        <p:nvSpPr>
          <p:cNvPr id="14" name="Rectángulo redondeado 13"/>
          <p:cNvSpPr/>
          <p:nvPr/>
        </p:nvSpPr>
        <p:spPr>
          <a:xfrm>
            <a:off x="1640633" y="980728"/>
            <a:ext cx="3096343" cy="504056"/>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400" b="1" dirty="0">
                <a:solidFill>
                  <a:schemeClr val="tx1"/>
                </a:solidFill>
              </a:rPr>
              <a:t>CONCLUSIONES</a:t>
            </a:r>
          </a:p>
        </p:txBody>
      </p:sp>
      <p:pic>
        <p:nvPicPr>
          <p:cNvPr id="15" name="Imagen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4528" y="1988840"/>
            <a:ext cx="3739432" cy="3919646"/>
          </a:xfrm>
          <a:prstGeom prst="rect">
            <a:avLst/>
          </a:prstGeom>
        </p:spPr>
      </p:pic>
    </p:spTree>
    <p:extLst>
      <p:ext uri="{BB962C8B-B14F-4D97-AF65-F5344CB8AC3E}">
        <p14:creationId xmlns:p14="http://schemas.microsoft.com/office/powerpoint/2010/main" val="327042191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6" name="Rectángulo redondeado 5"/>
          <p:cNvSpPr/>
          <p:nvPr/>
        </p:nvSpPr>
        <p:spPr>
          <a:xfrm>
            <a:off x="1640633" y="980728"/>
            <a:ext cx="3312367" cy="504056"/>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400" b="1" dirty="0">
                <a:solidFill>
                  <a:schemeClr val="tx1"/>
                </a:solidFill>
              </a:rPr>
              <a:t>METACOGNICIÓN</a:t>
            </a:r>
          </a:p>
        </p:txBody>
      </p:sp>
      <p:sp>
        <p:nvSpPr>
          <p:cNvPr id="8" name="Bocadillo: rectángulo con esquinas redondeadas 1">
            <a:extLst>
              <a:ext uri="{FF2B5EF4-FFF2-40B4-BE49-F238E27FC236}">
                <a16:creationId xmlns="" xmlns:a16="http://schemas.microsoft.com/office/drawing/2014/main" id="{82BC446B-F639-467D-A250-25259F9EF4B8}"/>
              </a:ext>
            </a:extLst>
          </p:cNvPr>
          <p:cNvSpPr/>
          <p:nvPr/>
        </p:nvSpPr>
        <p:spPr>
          <a:xfrm>
            <a:off x="992560" y="2420888"/>
            <a:ext cx="7488832" cy="3240360"/>
          </a:xfrm>
          <a:prstGeom prst="wedgeRoundRectCallout">
            <a:avLst>
              <a:gd name="adj1" fmla="val -17962"/>
              <a:gd name="adj2" fmla="val 48532"/>
              <a:gd name="adj3" fmla="val 16667"/>
            </a:avLst>
          </a:prstGeom>
          <a:solidFill>
            <a:srgbClr val="00B0F0"/>
          </a:solidFill>
        </p:spPr>
        <p:style>
          <a:lnRef idx="1">
            <a:schemeClr val="accent1"/>
          </a:lnRef>
          <a:fillRef idx="3">
            <a:schemeClr val="accent1"/>
          </a:fillRef>
          <a:effectRef idx="2">
            <a:schemeClr val="accent1"/>
          </a:effectRef>
          <a:fontRef idx="minor">
            <a:schemeClr val="lt1"/>
          </a:fontRef>
        </p:style>
        <p:txBody>
          <a:bodyPr rtlCol="0" anchor="ctr"/>
          <a:lstStyle/>
          <a:p>
            <a:pPr marL="285750" indent="-285750" algn="just">
              <a:buFont typeface="Arial" panose="020B0604020202020204" pitchFamily="34" charset="0"/>
              <a:buChar char="•"/>
            </a:pPr>
            <a:r>
              <a:rPr lang="es-PE" sz="2400" dirty="0" smtClean="0">
                <a:solidFill>
                  <a:schemeClr val="tx1"/>
                </a:solidFill>
                <a:cs typeface="Arial" pitchFamily="34" charset="0"/>
              </a:rPr>
              <a:t>¿Cuáles son las diferencias entre las fases de una sustancia?</a:t>
            </a:r>
            <a:endParaRPr lang="es-PE" sz="2400" dirty="0">
              <a:solidFill>
                <a:schemeClr val="tx1"/>
              </a:solidFill>
              <a:cs typeface="Arial" pitchFamily="34" charset="0"/>
            </a:endParaRPr>
          </a:p>
          <a:p>
            <a:pPr marL="285750" indent="-285750" algn="just">
              <a:buFont typeface="Arial" panose="020B0604020202020204" pitchFamily="34" charset="0"/>
              <a:buChar char="•"/>
            </a:pPr>
            <a:r>
              <a:rPr lang="es-PE" sz="2400" dirty="0">
                <a:solidFill>
                  <a:schemeClr val="tx1"/>
                </a:solidFill>
                <a:cs typeface="Arial" pitchFamily="34" charset="0"/>
              </a:rPr>
              <a:t>¿Cómo </a:t>
            </a:r>
            <a:r>
              <a:rPr lang="es-PE" sz="2400" dirty="0" smtClean="0">
                <a:solidFill>
                  <a:schemeClr val="tx1"/>
                </a:solidFill>
                <a:cs typeface="Arial" pitchFamily="34" charset="0"/>
              </a:rPr>
              <a:t>se consideran las partículas en el calentamiento de un material? </a:t>
            </a:r>
            <a:endParaRPr lang="es-PE" sz="2400" dirty="0">
              <a:solidFill>
                <a:schemeClr val="tx1"/>
              </a:solidFill>
              <a:cs typeface="Arial" pitchFamily="34" charset="0"/>
            </a:endParaRPr>
          </a:p>
          <a:p>
            <a:pPr marL="285750" indent="-285750" algn="just">
              <a:buFont typeface="Arial" panose="020B0604020202020204" pitchFamily="34" charset="0"/>
              <a:buChar char="•"/>
            </a:pPr>
            <a:r>
              <a:rPr lang="es-PE" sz="2400" dirty="0" smtClean="0">
                <a:solidFill>
                  <a:schemeClr val="tx1"/>
                </a:solidFill>
                <a:cs typeface="Arial" pitchFamily="34" charset="0"/>
              </a:rPr>
              <a:t>¿Qué otros modelos existen de los procesos de transferencia de calor?</a:t>
            </a:r>
          </a:p>
          <a:p>
            <a:pPr marL="285750" indent="-285750" algn="just">
              <a:buFont typeface="Arial" panose="020B0604020202020204" pitchFamily="34" charset="0"/>
              <a:buChar char="•"/>
            </a:pPr>
            <a:r>
              <a:rPr lang="es-PE" sz="2400" dirty="0">
                <a:solidFill>
                  <a:schemeClr val="tx1"/>
                </a:solidFill>
                <a:cs typeface="Arial" pitchFamily="34" charset="0"/>
              </a:rPr>
              <a:t>¿</a:t>
            </a:r>
            <a:r>
              <a:rPr lang="es-PE" sz="2400" dirty="0" smtClean="0">
                <a:solidFill>
                  <a:schemeClr val="tx1"/>
                </a:solidFill>
                <a:cs typeface="Arial" pitchFamily="34" charset="0"/>
              </a:rPr>
              <a:t>Es aplicable el modelo de Fourier a todo material sólido?</a:t>
            </a:r>
            <a:endParaRPr lang="es-PE" sz="2400" dirty="0">
              <a:solidFill>
                <a:schemeClr val="tx1"/>
              </a:solidFill>
              <a:cs typeface="Arial" pitchFamily="34" charset="0"/>
            </a:endParaRPr>
          </a:p>
        </p:txBody>
      </p:sp>
    </p:spTree>
    <p:extLst>
      <p:ext uri="{BB962C8B-B14F-4D97-AF65-F5344CB8AC3E}">
        <p14:creationId xmlns:p14="http://schemas.microsoft.com/office/powerpoint/2010/main" val="133762991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6" name="Rectángulo redondeado 5"/>
          <p:cNvSpPr/>
          <p:nvPr/>
        </p:nvSpPr>
        <p:spPr>
          <a:xfrm>
            <a:off x="1640633" y="980728"/>
            <a:ext cx="2448271" cy="504056"/>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800" b="1" dirty="0">
                <a:solidFill>
                  <a:schemeClr val="tx1"/>
                </a:solidFill>
              </a:rPr>
              <a:t>REFERENCIAS</a:t>
            </a:r>
          </a:p>
        </p:txBody>
      </p:sp>
      <p:sp>
        <p:nvSpPr>
          <p:cNvPr id="7" name="Rectángulo 6"/>
          <p:cNvSpPr/>
          <p:nvPr/>
        </p:nvSpPr>
        <p:spPr>
          <a:xfrm>
            <a:off x="272480" y="1700808"/>
            <a:ext cx="9561512" cy="4939814"/>
          </a:xfrm>
          <a:prstGeom prst="rect">
            <a:avLst/>
          </a:prstGeom>
        </p:spPr>
        <p:txBody>
          <a:bodyPr wrap="square">
            <a:spAutoFit/>
          </a:bodyPr>
          <a:lstStyle/>
          <a:p>
            <a:r>
              <a:rPr lang="es-ES" sz="1600" b="1" u="sng" dirty="0"/>
              <a:t>Bibliografía Básica:</a:t>
            </a:r>
            <a:r>
              <a:rPr lang="es-ES" sz="1600" dirty="0"/>
              <a:t> </a:t>
            </a:r>
            <a:endParaRPr lang="es-PE" sz="1600" dirty="0"/>
          </a:p>
          <a:p>
            <a:r>
              <a:rPr lang="es-ES" sz="1600" dirty="0"/>
              <a:t>1. </a:t>
            </a:r>
            <a:r>
              <a:rPr lang="es-ES" sz="1600" b="1" dirty="0" err="1"/>
              <a:t>Serway</a:t>
            </a:r>
            <a:r>
              <a:rPr lang="es-ES" sz="1600" b="1" dirty="0"/>
              <a:t>, R. A. y </a:t>
            </a:r>
            <a:r>
              <a:rPr lang="es-ES" sz="1600" b="1" dirty="0" err="1"/>
              <a:t>Jewett</a:t>
            </a:r>
            <a:r>
              <a:rPr lang="es-ES" sz="1600" b="1" dirty="0"/>
              <a:t>, J. W.</a:t>
            </a:r>
            <a:r>
              <a:rPr lang="es-ES" sz="1600" dirty="0"/>
              <a:t> </a:t>
            </a:r>
            <a:r>
              <a:rPr lang="es-ES" sz="1600" i="1" dirty="0" err="1"/>
              <a:t>Fisica</a:t>
            </a:r>
            <a:r>
              <a:rPr lang="es-ES" sz="1600" i="1" dirty="0"/>
              <a:t> para Ciencias e </a:t>
            </a:r>
            <a:r>
              <a:rPr lang="es-ES" sz="1600" i="1" dirty="0" err="1"/>
              <a:t>Ingeneiría</a:t>
            </a:r>
            <a:r>
              <a:rPr lang="es-ES" sz="1600" i="1" dirty="0"/>
              <a:t>. </a:t>
            </a:r>
            <a:r>
              <a:rPr lang="es-ES" sz="1600" dirty="0"/>
              <a:t>México : </a:t>
            </a:r>
            <a:r>
              <a:rPr lang="es-ES" sz="1600" dirty="0" err="1"/>
              <a:t>Cengage</a:t>
            </a:r>
            <a:r>
              <a:rPr lang="es-ES" sz="1600" dirty="0"/>
              <a:t> </a:t>
            </a:r>
            <a:r>
              <a:rPr lang="es-ES" sz="1600" dirty="0" err="1"/>
              <a:t>Learning</a:t>
            </a:r>
            <a:r>
              <a:rPr lang="es-ES" sz="1600" dirty="0"/>
              <a:t>, 2015. Vol. I.</a:t>
            </a:r>
            <a:endParaRPr lang="es-PE" sz="1600" dirty="0"/>
          </a:p>
          <a:p>
            <a:r>
              <a:rPr lang="es-ES" sz="1600" dirty="0"/>
              <a:t>2. </a:t>
            </a:r>
            <a:r>
              <a:rPr lang="es-ES" sz="1600" b="1" dirty="0" err="1"/>
              <a:t>Resnick</a:t>
            </a:r>
            <a:r>
              <a:rPr lang="es-ES" sz="1600" b="1" dirty="0"/>
              <a:t>, R., </a:t>
            </a:r>
            <a:r>
              <a:rPr lang="es-ES" sz="1600" b="1" dirty="0" err="1"/>
              <a:t>Halliday</a:t>
            </a:r>
            <a:r>
              <a:rPr lang="es-ES" sz="1600" b="1" dirty="0"/>
              <a:t>, D. y </a:t>
            </a:r>
            <a:r>
              <a:rPr lang="es-ES" sz="1600" b="1" dirty="0" err="1"/>
              <a:t>Krane</a:t>
            </a:r>
            <a:r>
              <a:rPr lang="es-ES" sz="1600" b="1" dirty="0"/>
              <a:t>, K. S.</a:t>
            </a:r>
            <a:r>
              <a:rPr lang="es-ES" sz="1600" dirty="0"/>
              <a:t> </a:t>
            </a:r>
            <a:r>
              <a:rPr lang="es-ES" sz="1600" i="1" dirty="0"/>
              <a:t>Física. </a:t>
            </a:r>
            <a:r>
              <a:rPr lang="es-ES" sz="1600" dirty="0"/>
              <a:t>Quinta. México : </a:t>
            </a:r>
            <a:r>
              <a:rPr lang="es-ES" sz="1600" dirty="0" err="1"/>
              <a:t>Compañia</a:t>
            </a:r>
            <a:r>
              <a:rPr lang="es-ES" sz="1600" dirty="0"/>
              <a:t> editorial Continental, 2014. Vol. I.</a:t>
            </a:r>
            <a:endParaRPr lang="es-PE" sz="1600" dirty="0"/>
          </a:p>
          <a:p>
            <a:r>
              <a:rPr lang="es-ES" sz="1600" dirty="0"/>
              <a:t>3. </a:t>
            </a:r>
            <a:r>
              <a:rPr lang="es-ES" sz="1600" b="1" dirty="0" err="1"/>
              <a:t>Tipler</a:t>
            </a:r>
            <a:r>
              <a:rPr lang="es-ES" sz="1600" b="1" dirty="0"/>
              <a:t>, P. A. y Mosca, G.</a:t>
            </a:r>
            <a:r>
              <a:rPr lang="es-ES" sz="1600" dirty="0"/>
              <a:t> </a:t>
            </a:r>
            <a:r>
              <a:rPr lang="es-ES" sz="1600" i="1" dirty="0"/>
              <a:t>Física para la Ciencia y la Tecnología. </a:t>
            </a:r>
            <a:r>
              <a:rPr lang="es-ES" sz="1600" dirty="0"/>
              <a:t>Sexta. Barcelona : </a:t>
            </a:r>
            <a:r>
              <a:rPr lang="es-ES" sz="1600" dirty="0" err="1"/>
              <a:t>Reverté</a:t>
            </a:r>
            <a:r>
              <a:rPr lang="es-ES" sz="1600" dirty="0"/>
              <a:t> S.A., 2010. Vol. I.</a:t>
            </a:r>
            <a:endParaRPr lang="es-PE" sz="1600" dirty="0"/>
          </a:p>
          <a:p>
            <a:r>
              <a:rPr lang="es-ES" sz="1600" dirty="0"/>
              <a:t>4. </a:t>
            </a:r>
            <a:r>
              <a:rPr lang="es-ES" sz="1600" b="1" dirty="0" err="1"/>
              <a:t>Zemansky</a:t>
            </a:r>
            <a:r>
              <a:rPr lang="es-ES" sz="1600" b="1" dirty="0"/>
              <a:t>, M. W. y </a:t>
            </a:r>
            <a:r>
              <a:rPr lang="es-ES" sz="1600" b="1" dirty="0" err="1"/>
              <a:t>Freedman</a:t>
            </a:r>
            <a:r>
              <a:rPr lang="es-ES" sz="1600" b="1" dirty="0"/>
              <a:t>, R.A.</a:t>
            </a:r>
            <a:r>
              <a:rPr lang="es-ES" sz="1600" dirty="0"/>
              <a:t> </a:t>
            </a:r>
            <a:r>
              <a:rPr lang="es-ES" sz="1600" i="1" dirty="0"/>
              <a:t>Física Universitaria. </a:t>
            </a:r>
            <a:r>
              <a:rPr lang="es-ES" sz="1600" dirty="0"/>
              <a:t>México : Pearson </a:t>
            </a:r>
            <a:r>
              <a:rPr lang="es-ES" sz="1600" dirty="0" err="1"/>
              <a:t>Education</a:t>
            </a:r>
            <a:r>
              <a:rPr lang="es-ES" sz="1600" dirty="0"/>
              <a:t>, 2009. Vol. I.</a:t>
            </a:r>
            <a:endParaRPr lang="es-PE" sz="1600" dirty="0"/>
          </a:p>
          <a:p>
            <a:r>
              <a:rPr lang="es-ES" sz="1600" dirty="0"/>
              <a:t>5. </a:t>
            </a:r>
            <a:r>
              <a:rPr lang="es-ES" sz="1600" b="1" dirty="0" err="1"/>
              <a:t>Fishbane</a:t>
            </a:r>
            <a:r>
              <a:rPr lang="es-ES" sz="1600" b="1" dirty="0"/>
              <a:t>, P.M., </a:t>
            </a:r>
            <a:r>
              <a:rPr lang="es-ES" sz="1600" b="1" dirty="0" err="1"/>
              <a:t>Gasiorowicz</a:t>
            </a:r>
            <a:r>
              <a:rPr lang="es-ES" sz="1600" b="1" dirty="0"/>
              <a:t>, S. y </a:t>
            </a:r>
            <a:r>
              <a:rPr lang="es-ES" sz="1600" b="1" dirty="0" err="1"/>
              <a:t>Thornton</a:t>
            </a:r>
            <a:r>
              <a:rPr lang="es-ES" sz="1600" b="1" dirty="0"/>
              <a:t>, S.T.</a:t>
            </a:r>
            <a:r>
              <a:rPr lang="es-ES" sz="1600" dirty="0"/>
              <a:t> </a:t>
            </a:r>
            <a:r>
              <a:rPr lang="es-ES" sz="1600" i="1" dirty="0"/>
              <a:t>Física para Ciencias e </a:t>
            </a:r>
            <a:r>
              <a:rPr lang="es-ES" sz="1600" i="1" dirty="0" err="1"/>
              <a:t>Ingeneiría</a:t>
            </a:r>
            <a:r>
              <a:rPr lang="es-ES" sz="1600" i="1" dirty="0"/>
              <a:t>. </a:t>
            </a:r>
            <a:r>
              <a:rPr lang="es-ES" sz="1600" dirty="0"/>
              <a:t>México : Prentice Hall Hispanoamericana, 1996. Vol. I.</a:t>
            </a:r>
            <a:endParaRPr lang="es-PE" sz="1600" dirty="0"/>
          </a:p>
          <a:p>
            <a:r>
              <a:rPr lang="es-ES" sz="1600" dirty="0"/>
              <a:t>6. </a:t>
            </a:r>
            <a:r>
              <a:rPr lang="es-ES" sz="1600" b="1" dirty="0"/>
              <a:t>Alonso, M. y </a:t>
            </a:r>
            <a:r>
              <a:rPr lang="es-ES" sz="1600" b="1" dirty="0" err="1"/>
              <a:t>Finn</a:t>
            </a:r>
            <a:r>
              <a:rPr lang="es-ES" sz="1600" b="1" dirty="0"/>
              <a:t>, E.J.</a:t>
            </a:r>
            <a:r>
              <a:rPr lang="es-ES" sz="1600" dirty="0"/>
              <a:t> </a:t>
            </a:r>
            <a:r>
              <a:rPr lang="es-ES" sz="1600" i="1" dirty="0"/>
              <a:t>Física: Mecánica. </a:t>
            </a:r>
            <a:r>
              <a:rPr lang="es-ES" sz="1600" dirty="0"/>
              <a:t>México : Fondo Educativo Interamericano S. A., 1971. Vol. I.</a:t>
            </a:r>
            <a:endParaRPr lang="es-PE" sz="1600" dirty="0"/>
          </a:p>
          <a:p>
            <a:r>
              <a:rPr lang="es-ES" sz="1600" b="1" u="sng" dirty="0"/>
              <a:t>Bibliografía Complementaria:</a:t>
            </a:r>
            <a:endParaRPr lang="es-PE" sz="1600" b="1" u="sng" dirty="0"/>
          </a:p>
          <a:p>
            <a:r>
              <a:rPr lang="es-ES" sz="1600" b="1" dirty="0"/>
              <a:t> </a:t>
            </a:r>
            <a:r>
              <a:rPr lang="es-ES" sz="1600" dirty="0"/>
              <a:t>7. </a:t>
            </a:r>
            <a:r>
              <a:rPr lang="es-ES" sz="1600" b="1" dirty="0" err="1"/>
              <a:t>Beer</a:t>
            </a:r>
            <a:r>
              <a:rPr lang="es-ES" sz="1600" b="1" dirty="0"/>
              <a:t>, F. P., y otros.</a:t>
            </a:r>
            <a:r>
              <a:rPr lang="es-ES" sz="1600" dirty="0"/>
              <a:t> </a:t>
            </a:r>
            <a:r>
              <a:rPr lang="es-ES" sz="1600" i="1" dirty="0"/>
              <a:t>Mecánica vectorial para ingenieros: Dinámica. </a:t>
            </a:r>
            <a:r>
              <a:rPr lang="es-ES" sz="1600" dirty="0"/>
              <a:t>México : Mc Graw Hill, 2010. Vol. Novena.</a:t>
            </a:r>
            <a:endParaRPr lang="es-PE" sz="1600" dirty="0"/>
          </a:p>
          <a:p>
            <a:r>
              <a:rPr lang="es-ES" sz="1600" dirty="0"/>
              <a:t>8. </a:t>
            </a:r>
            <a:r>
              <a:rPr lang="es-ES" sz="1600" b="1" dirty="0" err="1"/>
              <a:t>Beer</a:t>
            </a:r>
            <a:r>
              <a:rPr lang="es-ES" sz="1600" b="1" dirty="0"/>
              <a:t>, F.P., y otros.</a:t>
            </a:r>
            <a:r>
              <a:rPr lang="es-ES" sz="1600" dirty="0"/>
              <a:t> </a:t>
            </a:r>
            <a:r>
              <a:rPr lang="es-ES" sz="1600" i="1" dirty="0"/>
              <a:t>Mecánica Vectorial para Ingenieros: Estática. </a:t>
            </a:r>
            <a:r>
              <a:rPr lang="es-ES" sz="1600" dirty="0"/>
              <a:t>Novena. México : Mc Graw Hill, 2010.</a:t>
            </a:r>
            <a:endParaRPr lang="es-PE" sz="1600" dirty="0"/>
          </a:p>
          <a:p>
            <a:r>
              <a:rPr lang="es-ES" sz="1600" dirty="0"/>
              <a:t>9. </a:t>
            </a:r>
            <a:r>
              <a:rPr lang="es-ES" sz="1600" b="1" dirty="0"/>
              <a:t>Bedford, A. y </a:t>
            </a:r>
            <a:r>
              <a:rPr lang="es-ES" sz="1600" b="1" dirty="0" err="1"/>
              <a:t>Fowler</a:t>
            </a:r>
            <a:r>
              <a:rPr lang="es-ES" sz="1600" b="1" dirty="0"/>
              <a:t>, W.</a:t>
            </a:r>
            <a:r>
              <a:rPr lang="es-ES" sz="1600" dirty="0"/>
              <a:t> </a:t>
            </a:r>
            <a:r>
              <a:rPr lang="es-ES" sz="1600" i="1" dirty="0"/>
              <a:t>Mecánica para Ingeniería: Estática. </a:t>
            </a:r>
            <a:r>
              <a:rPr lang="es-ES" sz="1600" dirty="0"/>
              <a:t>Quinta. México : Pearson Educación, 2008.</a:t>
            </a:r>
            <a:endParaRPr lang="es-PE" sz="1600" dirty="0"/>
          </a:p>
          <a:p>
            <a:r>
              <a:rPr lang="es-ES" sz="1600" dirty="0"/>
              <a:t>10. —. </a:t>
            </a:r>
            <a:r>
              <a:rPr lang="es-ES" sz="1600" i="1" dirty="0"/>
              <a:t>Mecánica para Ingeniería: Dinámica. </a:t>
            </a:r>
            <a:r>
              <a:rPr lang="es-ES" sz="1600" dirty="0"/>
              <a:t>Quinta. México : Pearson Educación, 2008.</a:t>
            </a:r>
            <a:endParaRPr lang="es-PE" sz="1600" dirty="0"/>
          </a:p>
          <a:p>
            <a:r>
              <a:rPr lang="es-ES" sz="1600" dirty="0"/>
              <a:t>11. </a:t>
            </a:r>
            <a:r>
              <a:rPr lang="es-ES" sz="1600" b="1" dirty="0" err="1"/>
              <a:t>Hibbeler</a:t>
            </a:r>
            <a:r>
              <a:rPr lang="es-ES" sz="1600" b="1" dirty="0"/>
              <a:t>, R. C.</a:t>
            </a:r>
            <a:r>
              <a:rPr lang="es-ES" sz="1600" dirty="0"/>
              <a:t> </a:t>
            </a:r>
            <a:r>
              <a:rPr lang="es-ES" sz="1600" i="1" dirty="0"/>
              <a:t>Mecánica Vectorial para Ingenieros: Estática. </a:t>
            </a:r>
            <a:r>
              <a:rPr lang="es-ES" sz="1600" dirty="0"/>
              <a:t>Décima. México : Pearson Educación, 2004.</a:t>
            </a:r>
            <a:endParaRPr lang="es-PE" sz="1600" dirty="0"/>
          </a:p>
          <a:p>
            <a:r>
              <a:rPr lang="es-ES" sz="1600" dirty="0"/>
              <a:t>12. —. </a:t>
            </a:r>
            <a:r>
              <a:rPr lang="es-ES" sz="1600" i="1" dirty="0"/>
              <a:t>Mecánica Vectorial para Ingenieros: Dinámica. </a:t>
            </a:r>
            <a:r>
              <a:rPr lang="es-ES" sz="1600" dirty="0"/>
              <a:t>Décima. México : Pearson Educación, 2004.</a:t>
            </a:r>
            <a:r>
              <a:rPr lang="es-ES" sz="1500" dirty="0">
                <a:ea typeface="Symbol" panose="05050102010706020507" pitchFamily="18" charset="2"/>
                <a:cs typeface="Arial" panose="020B0604020202020204" pitchFamily="34" charset="0"/>
              </a:rPr>
              <a:t> </a:t>
            </a:r>
          </a:p>
          <a:p>
            <a:r>
              <a:rPr lang="es-ES" sz="1500" b="1" u="sng" dirty="0">
                <a:ea typeface="Times New Roman" panose="02020603050405020304" pitchFamily="18" charset="0"/>
              </a:rPr>
              <a:t>Fuentes </a:t>
            </a:r>
            <a:r>
              <a:rPr lang="es-ES" sz="1500" b="1" u="sng" dirty="0" err="1">
                <a:ea typeface="Times New Roman" panose="02020603050405020304" pitchFamily="18" charset="0"/>
              </a:rPr>
              <a:t>hemerográficas</a:t>
            </a:r>
            <a:endParaRPr lang="es-ES" sz="1500" b="1" u="sng" dirty="0">
              <a:ea typeface="Times New Roman" panose="02020603050405020304" pitchFamily="18" charset="0"/>
            </a:endParaRPr>
          </a:p>
          <a:p>
            <a:r>
              <a:rPr lang="es-ES" sz="1500" dirty="0" err="1">
                <a:ea typeface="Times New Roman" panose="02020603050405020304" pitchFamily="18" charset="0"/>
              </a:rPr>
              <a:t>Physics</a:t>
            </a:r>
            <a:r>
              <a:rPr lang="es-ES" sz="1500" dirty="0">
                <a:ea typeface="Times New Roman" panose="02020603050405020304" pitchFamily="18" charset="0"/>
              </a:rPr>
              <a:t> </a:t>
            </a:r>
            <a:r>
              <a:rPr lang="es-ES" sz="1500" dirty="0" err="1">
                <a:ea typeface="Times New Roman" panose="02020603050405020304" pitchFamily="18" charset="0"/>
              </a:rPr>
              <a:t>today</a:t>
            </a:r>
            <a:r>
              <a:rPr lang="es-ES" sz="1500" dirty="0">
                <a:ea typeface="Times New Roman" panose="02020603050405020304" pitchFamily="18" charset="0"/>
              </a:rPr>
              <a:t>, 68(11), 38(2015); </a:t>
            </a:r>
            <a:r>
              <a:rPr lang="es-ES" sz="1500" dirty="0" err="1">
                <a:ea typeface="Times New Roman" panose="02020603050405020304" pitchFamily="18" charset="0"/>
              </a:rPr>
              <a:t>doi</a:t>
            </a:r>
            <a:r>
              <a:rPr lang="es-ES" sz="1500" dirty="0">
                <a:ea typeface="Times New Roman" panose="02020603050405020304" pitchFamily="18" charset="0"/>
              </a:rPr>
              <a:t> 10.1063/PT 3.2980.</a:t>
            </a:r>
            <a:endParaRPr lang="es-PE" sz="1500" dirty="0">
              <a:ea typeface="Times New Roman" panose="02020603050405020304" pitchFamily="18" charset="0"/>
            </a:endParaRPr>
          </a:p>
          <a:p>
            <a:r>
              <a:rPr lang="es-ES" sz="1500" b="1" u="sng" dirty="0" err="1">
                <a:ea typeface="Times New Roman" panose="02020603050405020304" pitchFamily="18" charset="0"/>
              </a:rPr>
              <a:t>Webgrafia</a:t>
            </a:r>
            <a:endParaRPr lang="es-ES" sz="1500" b="1" u="sng" dirty="0">
              <a:ea typeface="Times New Roman" panose="02020603050405020304" pitchFamily="18" charset="0"/>
            </a:endParaRPr>
          </a:p>
          <a:p>
            <a:r>
              <a:rPr lang="es-PE" sz="1500" u="sng" dirty="0">
                <a:ea typeface="Calibri" panose="020F0502020204030204" pitchFamily="34" charset="0"/>
                <a:cs typeface="Arial" panose="020B0604020202020204" pitchFamily="34" charset="0"/>
                <a:hlinkClick r:id="rId2"/>
              </a:rPr>
              <a:t>http://www.sc.ehu.es/sbweb/fisica/</a:t>
            </a:r>
            <a:endParaRPr lang="es-PE" sz="1500" u="sng" dirty="0">
              <a:ea typeface="Calibri" panose="020F0502020204030204" pitchFamily="34" charset="0"/>
              <a:cs typeface="Arial" panose="020B0604020202020204" pitchFamily="34" charset="0"/>
            </a:endParaRPr>
          </a:p>
          <a:p>
            <a:r>
              <a:rPr lang="es-PE" sz="1500" u="sng" dirty="0">
                <a:ea typeface="Calibri" panose="020F0502020204030204" pitchFamily="34" charset="0"/>
                <a:cs typeface="Arial" panose="020B0604020202020204" pitchFamily="34" charset="0"/>
                <a:hlinkClick r:id="rId3"/>
              </a:rPr>
              <a:t>http://www.fisicarecreativa.com/</a:t>
            </a:r>
            <a:endParaRPr lang="es-PE" sz="1500" dirty="0">
              <a:effectLst/>
              <a:ea typeface="Calibri" panose="020F0502020204030204" pitchFamily="34" charset="0"/>
            </a:endParaRPr>
          </a:p>
        </p:txBody>
      </p:sp>
    </p:spTree>
    <p:extLst>
      <p:ext uri="{BB962C8B-B14F-4D97-AF65-F5344CB8AC3E}">
        <p14:creationId xmlns:p14="http://schemas.microsoft.com/office/powerpoint/2010/main" val="485000593"/>
      </p:ext>
    </p:extLst>
  </p:cSld>
  <p:clrMapOvr>
    <a:masterClrMapping/>
  </p:clrMapOvr>
</p:sld>
</file>

<file path=ppt/theme/theme1.xml><?xml version="1.0" encoding="utf-8"?>
<a:theme xmlns:a="http://schemas.openxmlformats.org/drawingml/2006/main" name="PATRO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PATRON</Template>
  <TotalTime>12629</TotalTime>
  <Words>2660</Words>
  <Application>Microsoft Office PowerPoint</Application>
  <PresentationFormat>A4 (210 x 297 mm)</PresentationFormat>
  <Paragraphs>279</Paragraphs>
  <Slides>26</Slides>
  <Notes>0</Notes>
  <HiddenSlides>0</HiddenSlides>
  <MMClips>0</MMClips>
  <ScaleCrop>false</ScaleCrop>
  <HeadingPairs>
    <vt:vector size="8" baseType="variant">
      <vt:variant>
        <vt:lpstr>Fuentes usadas</vt:lpstr>
      </vt:variant>
      <vt:variant>
        <vt:i4>10</vt:i4>
      </vt:variant>
      <vt:variant>
        <vt:lpstr>Tema</vt:lpstr>
      </vt:variant>
      <vt:variant>
        <vt:i4>1</vt:i4>
      </vt:variant>
      <vt:variant>
        <vt:lpstr>Servidores OLE incrustados</vt:lpstr>
      </vt:variant>
      <vt:variant>
        <vt:i4>1</vt:i4>
      </vt:variant>
      <vt:variant>
        <vt:lpstr>Títulos de diapositiva</vt:lpstr>
      </vt:variant>
      <vt:variant>
        <vt:i4>26</vt:i4>
      </vt:variant>
    </vt:vector>
  </HeadingPairs>
  <TitlesOfParts>
    <vt:vector size="38" baseType="lpstr">
      <vt:lpstr>ＭＳ Ｐゴシック</vt:lpstr>
      <vt:lpstr>Arial</vt:lpstr>
      <vt:lpstr>Calibri</vt:lpstr>
      <vt:lpstr>Cambria Math</vt:lpstr>
      <vt:lpstr>NewBaskerville-Bold</vt:lpstr>
      <vt:lpstr>NewBaskerville-Italic</vt:lpstr>
      <vt:lpstr>NewBaskerville-Roman</vt:lpstr>
      <vt:lpstr>Symbol</vt:lpstr>
      <vt:lpstr>SymbolMT</vt:lpstr>
      <vt:lpstr>Times New Roman</vt:lpstr>
      <vt:lpstr>PATRON</vt:lpstr>
      <vt:lpstr>Equation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Universidad Privada del Norte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Daniel Delfin Narciso</dc:creator>
  <cp:lastModifiedBy>Cuenta Microsoft</cp:lastModifiedBy>
  <cp:revision>633</cp:revision>
  <dcterms:created xsi:type="dcterms:W3CDTF">2012-09-19T03:34:19Z</dcterms:created>
  <dcterms:modified xsi:type="dcterms:W3CDTF">2020-12-22T03:36:43Z</dcterms:modified>
</cp:coreProperties>
</file>