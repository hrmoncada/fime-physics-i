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363" r:id="rId2"/>
    <p:sldId id="256" r:id="rId3"/>
    <p:sldId id="365" r:id="rId4"/>
    <p:sldId id="366" r:id="rId5"/>
    <p:sldId id="367" r:id="rId6"/>
    <p:sldId id="389" r:id="rId7"/>
    <p:sldId id="411" r:id="rId8"/>
    <p:sldId id="412" r:id="rId9"/>
    <p:sldId id="414" r:id="rId10"/>
    <p:sldId id="415" r:id="rId11"/>
    <p:sldId id="417" r:id="rId12"/>
    <p:sldId id="418" r:id="rId13"/>
    <p:sldId id="419" r:id="rId14"/>
    <p:sldId id="420" r:id="rId15"/>
    <p:sldId id="416" r:id="rId16"/>
    <p:sldId id="422" r:id="rId17"/>
    <p:sldId id="421" r:id="rId18"/>
    <p:sldId id="376" r:id="rId19"/>
    <p:sldId id="382" r:id="rId20"/>
    <p:sldId id="378" r:id="rId21"/>
  </p:sldIdLst>
  <p:sldSz cx="9906000" cy="6858000" type="A4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D1611"/>
    <a:srgbClr val="A51313"/>
    <a:srgbClr val="B71515"/>
    <a:srgbClr val="D51919"/>
    <a:srgbClr val="B6120E"/>
    <a:srgbClr val="930E0B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36" autoAdjust="0"/>
    <p:restoredTop sz="94660"/>
  </p:normalViewPr>
  <p:slideViewPr>
    <p:cSldViewPr>
      <p:cViewPr varScale="1">
        <p:scale>
          <a:sx n="84" d="100"/>
          <a:sy n="84" d="100"/>
        </p:scale>
        <p:origin x="1464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19AD7-51CE-483B-A812-AE489C31F232}" type="datetimeFigureOut">
              <a:rPr lang="es-MX" smtClean="0"/>
              <a:t>06/01/2021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76D70-7FD1-490F-953D-DAC7EFCA24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52353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223AA-9B34-4DCC-A6E4-0C980A794CD5}" type="datetimeFigureOut">
              <a:rPr lang="es-MX" smtClean="0"/>
              <a:t>06/01/2021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07FDC-64A3-4F2D-9092-2E95035D7FC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6993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7"/>
          <p:cNvSpPr/>
          <p:nvPr/>
        </p:nvSpPr>
        <p:spPr>
          <a:xfrm>
            <a:off x="1" y="1835150"/>
            <a:ext cx="259689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4479" y="1848218"/>
            <a:ext cx="8420100" cy="345317"/>
          </a:xfrm>
          <a:prstGeom prst="rect">
            <a:avLst/>
          </a:prstGeom>
        </p:spPr>
        <p:txBody>
          <a:bodyPr/>
          <a:lstStyle>
            <a:lvl1pPr>
              <a:defRPr sz="2800" cap="all">
                <a:solidFill>
                  <a:srgbClr val="272727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4479" y="2287320"/>
            <a:ext cx="6934200" cy="97839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3260" y="5949280"/>
            <a:ext cx="2340260" cy="648072"/>
          </a:xfrm>
          <a:prstGeom prst="rect">
            <a:avLst/>
          </a:prstGeom>
        </p:spPr>
      </p:pic>
      <p:sp>
        <p:nvSpPr>
          <p:cNvPr id="7" name="Rectángulo 7"/>
          <p:cNvSpPr/>
          <p:nvPr/>
        </p:nvSpPr>
        <p:spPr>
          <a:xfrm>
            <a:off x="1" y="1835150"/>
            <a:ext cx="259689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" name="7 Rectángulo"/>
          <p:cNvSpPr/>
          <p:nvPr userDrawn="1"/>
        </p:nvSpPr>
        <p:spPr>
          <a:xfrm>
            <a:off x="7825563" y="12700"/>
            <a:ext cx="2066679" cy="11247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7"/>
          <p:cNvSpPr/>
          <p:nvPr userDrawn="1"/>
        </p:nvSpPr>
        <p:spPr>
          <a:xfrm>
            <a:off x="0" y="1835150"/>
            <a:ext cx="239713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None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495300" y="393580"/>
            <a:ext cx="15007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LOGROS</a:t>
            </a:r>
            <a:endParaRPr lang="es-MX" sz="2400" dirty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cap="all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95300" y="1078523"/>
            <a:ext cx="4375150" cy="51414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035550" y="1078523"/>
            <a:ext cx="4375150" cy="51414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95301" y="393580"/>
            <a:ext cx="50225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REFERENCIAS BIBLIOGRÁFICAS</a:t>
            </a:r>
            <a:endParaRPr lang="es-MX" sz="2400" dirty="0">
              <a:solidFill>
                <a:srgbClr val="FFC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95300" y="393580"/>
            <a:ext cx="26484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CONCLUSIONES</a:t>
            </a:r>
            <a:endParaRPr lang="es-MX" sz="2400" dirty="0">
              <a:solidFill>
                <a:srgbClr val="FFC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"/>
          <p:cNvSpPr/>
          <p:nvPr/>
        </p:nvSpPr>
        <p:spPr>
          <a:xfrm>
            <a:off x="9658351" y="482601"/>
            <a:ext cx="259689" cy="492125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77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772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 l="-9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0" r:id="rId8"/>
    <p:sldLayoutId id="2147483671" r:id="rId9"/>
  </p:sldLayoutIdLst>
  <p:transition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kern="1200" cap="all">
          <a:solidFill>
            <a:srgbClr val="EFA82F"/>
          </a:solidFill>
          <a:latin typeface="Arial"/>
          <a:ea typeface="ＭＳ Ｐゴシック" charset="-128"/>
          <a:cs typeface="+mj-cs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audio" Target="../media/audio2.wav"/><Relationship Id="rId7" Type="http://schemas.openxmlformats.org/officeDocument/2006/relationships/image" Target="../media/image1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audio" Target="../media/audio2.wav"/><Relationship Id="rId7" Type="http://schemas.openxmlformats.org/officeDocument/2006/relationships/image" Target="../media/image14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audio" Target="../media/audio3.wav"/><Relationship Id="rId7" Type="http://schemas.openxmlformats.org/officeDocument/2006/relationships/image" Target="../media/image25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audio" Target="../media/audio4.wav"/><Relationship Id="rId7" Type="http://schemas.openxmlformats.org/officeDocument/2006/relationships/image" Target="../media/image2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audio" Target="../media/audio3.wav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audio" Target="../media/audio4.wav"/><Relationship Id="rId7" Type="http://schemas.openxmlformats.org/officeDocument/2006/relationships/image" Target="../media/image3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audio" Target="../media/audio4.wav"/><Relationship Id="rId7" Type="http://schemas.openxmlformats.org/officeDocument/2006/relationships/image" Target="../media/image2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audio" Target="../media/audio3.wav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isicarecreativa.com/" TargetMode="External"/><Relationship Id="rId2" Type="http://schemas.openxmlformats.org/officeDocument/2006/relationships/hyperlink" Target="http://www.sc.ehu.es/sbweb/fisica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5" name="Rectángulo redondeado 4"/>
          <p:cNvSpPr/>
          <p:nvPr/>
        </p:nvSpPr>
        <p:spPr>
          <a:xfrm>
            <a:off x="776536" y="2132856"/>
            <a:ext cx="2862318" cy="3780444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sz="2400" dirty="0" smtClean="0">
              <a:solidFill>
                <a:schemeClr val="tx1"/>
              </a:solidFill>
            </a:endParaRPr>
          </a:p>
          <a:p>
            <a:r>
              <a:rPr lang="es-PE" sz="2400" dirty="0" smtClean="0">
                <a:solidFill>
                  <a:schemeClr val="tx1"/>
                </a:solidFill>
              </a:rPr>
              <a:t>Máquinas </a:t>
            </a:r>
            <a:r>
              <a:rPr lang="es-PE" sz="2400" dirty="0">
                <a:solidFill>
                  <a:schemeClr val="tx1"/>
                </a:solidFill>
              </a:rPr>
              <a:t>Térmicas. Segunda Ley de la Termodinámica.</a:t>
            </a:r>
          </a:p>
          <a:p>
            <a:r>
              <a:rPr lang="es-PE" sz="2400" dirty="0">
                <a:solidFill>
                  <a:schemeClr val="tx1"/>
                </a:solidFill>
              </a:rPr>
              <a:t>Procesos Reversibles e Irreversibles, Ciclo de Carnot.</a:t>
            </a:r>
          </a:p>
          <a:p>
            <a:endParaRPr lang="es-PE" sz="2400" dirty="0">
              <a:solidFill>
                <a:schemeClr val="tx1"/>
              </a:solidFill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548194" y="760506"/>
            <a:ext cx="6933198" cy="6480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04975" indent="-1704975"/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14:  SEGUNDA LEY DE LA TERMODINÁMICA</a:t>
            </a:r>
            <a:endParaRPr lang="es-PE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920" y="2132856"/>
            <a:ext cx="4926701" cy="378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92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5" name="Rectángulo redondeado 4"/>
          <p:cNvSpPr/>
          <p:nvPr/>
        </p:nvSpPr>
        <p:spPr>
          <a:xfrm>
            <a:off x="1640632" y="764704"/>
            <a:ext cx="5961184" cy="967154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200" b="1" dirty="0">
                <a:solidFill>
                  <a:schemeClr val="tx1"/>
                </a:solidFill>
              </a:rPr>
              <a:t>OBSERVA LA IMÁGEN .  .  .</a:t>
            </a:r>
          </a:p>
        </p:txBody>
      </p:sp>
      <p:sp>
        <p:nvSpPr>
          <p:cNvPr id="8" name="Rectángulo redondeado 7"/>
          <p:cNvSpPr/>
          <p:nvPr/>
        </p:nvSpPr>
        <p:spPr>
          <a:xfrm>
            <a:off x="556247" y="5925472"/>
            <a:ext cx="8264769" cy="646114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200" b="1" dirty="0">
                <a:solidFill>
                  <a:schemeClr val="tx1"/>
                </a:solidFill>
              </a:rPr>
              <a:t>¿Qué opinión tienes al respecto?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1918265"/>
            <a:ext cx="5355003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73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7" name="Rectángulo redondeado 6"/>
          <p:cNvSpPr/>
          <p:nvPr/>
        </p:nvSpPr>
        <p:spPr>
          <a:xfrm>
            <a:off x="1712641" y="780285"/>
            <a:ext cx="2664296" cy="67756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3200" dirty="0">
                <a:solidFill>
                  <a:schemeClr val="tx1"/>
                </a:solidFill>
              </a:rPr>
              <a:t>PENSEMOS. . .</a:t>
            </a:r>
          </a:p>
        </p:txBody>
      </p:sp>
      <p:sp>
        <p:nvSpPr>
          <p:cNvPr id="9" name="Rectángulo redondeado 8"/>
          <p:cNvSpPr/>
          <p:nvPr/>
        </p:nvSpPr>
        <p:spPr>
          <a:xfrm>
            <a:off x="1712641" y="4742241"/>
            <a:ext cx="6696744" cy="1898033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s-PE" sz="2000" b="1" dirty="0">
                <a:solidFill>
                  <a:schemeClr val="tx1"/>
                </a:solidFill>
              </a:rPr>
              <a:t>¿Qué entiendes por </a:t>
            </a:r>
            <a:r>
              <a:rPr lang="es-PE" sz="2000" b="1" dirty="0" smtClean="0">
                <a:solidFill>
                  <a:schemeClr val="tx1"/>
                </a:solidFill>
              </a:rPr>
              <a:t>máquina térmica?   </a:t>
            </a:r>
          </a:p>
          <a:p>
            <a:pPr>
              <a:lnSpc>
                <a:spcPct val="150000"/>
              </a:lnSpc>
            </a:pPr>
            <a:r>
              <a:rPr lang="es-PE" sz="2000" b="1" dirty="0" smtClean="0">
                <a:solidFill>
                  <a:schemeClr val="tx1"/>
                </a:solidFill>
              </a:rPr>
              <a:t>¿La segunda ley de la termodinámica tiene un solo enunciado? </a:t>
            </a:r>
          </a:p>
          <a:p>
            <a:pPr>
              <a:lnSpc>
                <a:spcPct val="150000"/>
              </a:lnSpc>
            </a:pPr>
            <a:r>
              <a:rPr lang="es-PE" sz="2000" b="1" dirty="0" smtClean="0">
                <a:solidFill>
                  <a:schemeClr val="tx1"/>
                </a:solidFill>
              </a:rPr>
              <a:t>¿Qué es un proceso reversible?</a:t>
            </a: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688" y="1643981"/>
            <a:ext cx="5400600" cy="294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1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2664295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chemeClr val="tx1"/>
                </a:solidFill>
              </a:rPr>
              <a:t>PROPÓSITO</a:t>
            </a:r>
          </a:p>
        </p:txBody>
      </p:sp>
      <p:sp>
        <p:nvSpPr>
          <p:cNvPr id="8" name="2 Redondear rectángulo de esquina diagonal"/>
          <p:cNvSpPr/>
          <p:nvPr/>
        </p:nvSpPr>
        <p:spPr>
          <a:xfrm>
            <a:off x="5241032" y="1484784"/>
            <a:ext cx="4176464" cy="4608512"/>
          </a:xfrm>
          <a:prstGeom prst="round2DiagRect">
            <a:avLst>
              <a:gd name="adj1" fmla="val 14362"/>
              <a:gd name="adj2" fmla="val 0"/>
            </a:avLst>
          </a:prstGeom>
          <a:solidFill>
            <a:srgbClr val="11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PE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finalizar la sesión, el estudiante resuelve problemas </a:t>
            </a:r>
            <a:r>
              <a:rPr lang="es-PE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relacionados con la Segunda Ley de la Termodinámica, </a:t>
            </a: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usando correctamente </a:t>
            </a:r>
            <a:r>
              <a:rPr lang="es-PE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definiciones con </a:t>
            </a: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orden, tres cifras significativas y las unidades respectivas.</a:t>
            </a:r>
            <a:endParaRPr lang="es-E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PE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6" y="2132856"/>
            <a:ext cx="3909322" cy="380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cto 26"/>
          <p:cNvCxnSpPr>
            <a:cxnSpLocks/>
          </p:cNvCxnSpPr>
          <p:nvPr/>
        </p:nvCxnSpPr>
        <p:spPr>
          <a:xfrm>
            <a:off x="8594868" y="2800075"/>
            <a:ext cx="0" cy="37105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/>
          <p:cNvCxnSpPr>
            <a:cxnSpLocks/>
            <a:stCxn id="16" idx="2"/>
          </p:cNvCxnSpPr>
          <p:nvPr/>
        </p:nvCxnSpPr>
        <p:spPr>
          <a:xfrm>
            <a:off x="8703023" y="3635349"/>
            <a:ext cx="0" cy="13892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/>
          <p:cNvCxnSpPr>
            <a:cxnSpLocks/>
          </p:cNvCxnSpPr>
          <p:nvPr/>
        </p:nvCxnSpPr>
        <p:spPr>
          <a:xfrm>
            <a:off x="4953000" y="3633033"/>
            <a:ext cx="0" cy="862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/>
          <p:cNvCxnSpPr/>
          <p:nvPr/>
        </p:nvCxnSpPr>
        <p:spPr>
          <a:xfrm>
            <a:off x="2932622" y="3626482"/>
            <a:ext cx="4154" cy="7010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xmlns="" id="{8001D105-DCAC-42FF-A68E-0D3DE034E8B2}"/>
              </a:ext>
            </a:extLst>
          </p:cNvPr>
          <p:cNvCxnSpPr>
            <a:cxnSpLocks/>
          </p:cNvCxnSpPr>
          <p:nvPr/>
        </p:nvCxnSpPr>
        <p:spPr>
          <a:xfrm>
            <a:off x="6681192" y="3666382"/>
            <a:ext cx="18611" cy="174120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ángulo redondeado 8"/>
          <p:cNvSpPr/>
          <p:nvPr/>
        </p:nvSpPr>
        <p:spPr>
          <a:xfrm>
            <a:off x="1640632" y="1003815"/>
            <a:ext cx="4352925" cy="527000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>
                <a:solidFill>
                  <a:schemeClr val="tx1"/>
                </a:solidFill>
              </a:rPr>
              <a:t>CONTENIDO TEMÁTICO</a:t>
            </a:r>
            <a:endParaRPr lang="es-PE" sz="2800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xmlns="" id="{8029014D-9243-4890-AF00-9E6FC9945B2C}"/>
              </a:ext>
            </a:extLst>
          </p:cNvPr>
          <p:cNvSpPr/>
          <p:nvPr/>
        </p:nvSpPr>
        <p:spPr>
          <a:xfrm>
            <a:off x="2600759" y="1844824"/>
            <a:ext cx="5195686" cy="576064"/>
          </a:xfrm>
          <a:prstGeom prst="rect">
            <a:avLst/>
          </a:prstGeom>
          <a:solidFill>
            <a:srgbClr val="1199FF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SEGUNDA LEY DE LA TERMODINÁMICA</a:t>
            </a:r>
            <a:endParaRPr lang="es-PE" sz="2400" b="1" dirty="0">
              <a:solidFill>
                <a:schemeClr val="tx1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xmlns="" id="{008A15F1-A2F7-4515-8854-56CDE8B68B99}"/>
              </a:ext>
            </a:extLst>
          </p:cNvPr>
          <p:cNvCxnSpPr>
            <a:cxnSpLocks/>
          </p:cNvCxnSpPr>
          <p:nvPr/>
        </p:nvCxnSpPr>
        <p:spPr>
          <a:xfrm>
            <a:off x="4916462" y="2451052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xmlns="" id="{B377CFE4-F974-430F-8D3E-31A44641DDDD}"/>
              </a:ext>
            </a:extLst>
          </p:cNvPr>
          <p:cNvSpPr/>
          <p:nvPr/>
        </p:nvSpPr>
        <p:spPr>
          <a:xfrm>
            <a:off x="2187679" y="3036424"/>
            <a:ext cx="1508771" cy="590058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solidFill>
                  <a:schemeClr val="tx1"/>
                </a:solidFill>
              </a:rPr>
              <a:t>CANTIDADES </a:t>
            </a:r>
            <a:r>
              <a:rPr lang="es-PE" sz="1600" b="1" dirty="0"/>
              <a:t>FÍSICAS</a:t>
            </a:r>
            <a:endParaRPr lang="es-PE" sz="1600" b="1" dirty="0">
              <a:solidFill>
                <a:schemeClr val="tx1"/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xmlns="" id="{43098481-B66C-4565-AFF8-F4FBF153DF92}"/>
              </a:ext>
            </a:extLst>
          </p:cNvPr>
          <p:cNvCxnSpPr>
            <a:cxnSpLocks/>
          </p:cNvCxnSpPr>
          <p:nvPr/>
        </p:nvCxnSpPr>
        <p:spPr>
          <a:xfrm flipH="1" flipV="1">
            <a:off x="1203775" y="2800075"/>
            <a:ext cx="7391093" cy="2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xmlns="" id="{E4375B2A-706A-4D8E-8409-0FE4926350F3}"/>
              </a:ext>
            </a:extLst>
          </p:cNvPr>
          <p:cNvCxnSpPr>
            <a:cxnSpLocks/>
          </p:cNvCxnSpPr>
          <p:nvPr/>
        </p:nvCxnSpPr>
        <p:spPr>
          <a:xfrm>
            <a:off x="4918241" y="2811092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xmlns="" id="{B32EC4F4-40F8-440A-A577-A55B582660EF}"/>
              </a:ext>
            </a:extLst>
          </p:cNvPr>
          <p:cNvSpPr/>
          <p:nvPr/>
        </p:nvSpPr>
        <p:spPr>
          <a:xfrm>
            <a:off x="7744073" y="3066114"/>
            <a:ext cx="1917899" cy="569235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cs typeface="Arial" panose="020B0604020202020204" pitchFamily="34" charset="0"/>
              </a:rPr>
              <a:t> </a:t>
            </a:r>
            <a:r>
              <a:rPr lang="es-PE" sz="1600" b="1" dirty="0" smtClean="0">
                <a:cs typeface="Arial" panose="020B0604020202020204" pitchFamily="34" charset="0"/>
              </a:rPr>
              <a:t>BOMBA DE CALOR Y REFRIGERADORES</a:t>
            </a:r>
            <a:endParaRPr lang="es-PE" sz="1600" b="1" dirty="0">
              <a:cs typeface="Arial" panose="020B0604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xmlns="" id="{491CDA35-9E9C-46DA-B439-A69909018FD2}"/>
              </a:ext>
            </a:extLst>
          </p:cNvPr>
          <p:cNvSpPr/>
          <p:nvPr/>
        </p:nvSpPr>
        <p:spPr>
          <a:xfrm>
            <a:off x="2193566" y="4305684"/>
            <a:ext cx="1463290" cy="1318925"/>
          </a:xfrm>
          <a:prstGeom prst="rect">
            <a:avLst/>
          </a:prstGeom>
          <a:solidFill>
            <a:srgbClr val="EAF991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03200" lvl="0" indent="-203200" algn="just">
              <a:buFont typeface="Arial" panose="020B0604020202020204" pitchFamily="34" charset="0"/>
              <a:buChar char="•"/>
            </a:pPr>
            <a:endParaRPr kumimoji="1" lang="en-GB" altLang="es-PE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3200" lvl="0" indent="-203200" algn="just">
              <a:buFont typeface="Arial" panose="020B0604020202020204" pitchFamily="34" charset="0"/>
              <a:buChar char="•"/>
            </a:pPr>
            <a:endParaRPr kumimoji="1" lang="en-GB" altLang="es-PE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3200" lvl="0" indent="-2032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Presión</a:t>
            </a:r>
            <a:endParaRPr kumimoji="1" lang="en-GB" altLang="es-PE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3200" lvl="0" indent="-2032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Calor</a:t>
            </a:r>
            <a:endParaRPr kumimoji="1" lang="en-GB" altLang="es-PE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3200" lvl="0" indent="-2032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Trabajo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03200" lvl="0" indent="-2032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Temperatura</a:t>
            </a:r>
            <a:r>
              <a:rPr kumimoji="1" lang="en-GB" altLang="es-P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03200" lvl="0" indent="-2032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Eficiencia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03200" lvl="0" indent="-203200" algn="just">
              <a:buFont typeface="Arial" panose="020B0604020202020204" pitchFamily="34" charset="0"/>
              <a:buChar char="•"/>
            </a:pPr>
            <a:endParaRPr kumimoji="1" lang="en-GB" altLang="es-P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endParaRPr lang="es-P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xmlns="" id="{B377CFE4-F974-430F-8D3E-31A44641DDDD}"/>
              </a:ext>
            </a:extLst>
          </p:cNvPr>
          <p:cNvSpPr/>
          <p:nvPr/>
        </p:nvSpPr>
        <p:spPr>
          <a:xfrm>
            <a:off x="200472" y="3036423"/>
            <a:ext cx="1853559" cy="716169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 smtClean="0">
                <a:solidFill>
                  <a:schemeClr val="tx1"/>
                </a:solidFill>
              </a:rPr>
              <a:t>MÁQUINA TÉRMICA</a:t>
            </a:r>
            <a:endParaRPr lang="es-PE" sz="1600" b="1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xmlns="" id="{6B0406B6-735E-446A-993D-567F64EC9E37}"/>
              </a:ext>
            </a:extLst>
          </p:cNvPr>
          <p:cNvSpPr/>
          <p:nvPr/>
        </p:nvSpPr>
        <p:spPr>
          <a:xfrm>
            <a:off x="4343554" y="3019702"/>
            <a:ext cx="1185510" cy="656056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600" b="1" dirty="0" smtClean="0">
                <a:cs typeface="Arial" panose="020B0604020202020204" pitchFamily="34" charset="0"/>
              </a:rPr>
              <a:t>TRABAJO</a:t>
            </a:r>
            <a:endParaRPr lang="es-PE" sz="1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xmlns="" id="{491CDA35-9E9C-46DA-B439-A69909018FD2}"/>
                  </a:ext>
                </a:extLst>
              </p:cNvPr>
              <p:cNvSpPr/>
              <p:nvPr/>
            </p:nvSpPr>
            <p:spPr>
              <a:xfrm>
                <a:off x="7888088" y="4033843"/>
                <a:ext cx="1673424" cy="1123349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s-MX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s-MX" sz="16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s-MX" sz="1600" b="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Coeficiente de operación: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𝐶𝑂𝑃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s-MX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s-PE" sz="1600" b="0" dirty="0" smtClean="0">
                  <a:ea typeface="Cambria Math" panose="02040503050406030204" pitchFamily="18" charset="0"/>
                </a:endParaRPr>
              </a:p>
              <a:p>
                <a:endParaRPr lang="es-PE" sz="1600" dirty="0"/>
              </a:p>
              <a:p>
                <a:endParaRPr lang="es-PE" sz="1600" dirty="0"/>
              </a:p>
            </p:txBody>
          </p:sp>
        </mc:Choice>
        <mc:Fallback xmlns="">
          <p:sp>
            <p:nvSpPr>
              <p:cNvPr id="22" name="Rectángulo 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91CDA35-9E9C-46DA-B439-A69909018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088" y="4033843"/>
                <a:ext cx="1673424" cy="112334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xmlns="" id="{C2DA4E98-4D40-4E2B-AC84-9B82C98610BC}"/>
              </a:ext>
            </a:extLst>
          </p:cNvPr>
          <p:cNvCxnSpPr>
            <a:cxnSpLocks/>
          </p:cNvCxnSpPr>
          <p:nvPr/>
        </p:nvCxnSpPr>
        <p:spPr>
          <a:xfrm>
            <a:off x="1127251" y="3767360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xmlns="" id="{6B0406B6-735E-446A-993D-567F64EC9E37}"/>
              </a:ext>
            </a:extLst>
          </p:cNvPr>
          <p:cNvSpPr/>
          <p:nvPr/>
        </p:nvSpPr>
        <p:spPr>
          <a:xfrm>
            <a:off x="5871865" y="3044331"/>
            <a:ext cx="1735447" cy="1011061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600" b="1" dirty="0" smtClean="0">
                <a:cs typeface="Arial" panose="020B0604020202020204" pitchFamily="34" charset="0"/>
              </a:rPr>
              <a:t>EFICIENCIA DE CARNOT </a:t>
            </a:r>
            <a:endParaRPr lang="es-PE" sz="1600" b="1" dirty="0">
              <a:cs typeface="Arial" panose="020B0604020202020204" pitchFamily="34" charset="0"/>
            </a:endParaRPr>
          </a:p>
        </p:txBody>
      </p:sp>
      <p:cxnSp>
        <p:nvCxnSpPr>
          <p:cNvPr id="26" name="Conector recto 25"/>
          <p:cNvCxnSpPr/>
          <p:nvPr/>
        </p:nvCxnSpPr>
        <p:spPr>
          <a:xfrm>
            <a:off x="1201213" y="2800075"/>
            <a:ext cx="0" cy="23634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/>
          <p:nvPr/>
        </p:nvCxnSpPr>
        <p:spPr>
          <a:xfrm>
            <a:off x="6846074" y="2811092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/>
          <p:cNvCxnSpPr/>
          <p:nvPr/>
        </p:nvCxnSpPr>
        <p:spPr>
          <a:xfrm>
            <a:off x="3014684" y="2793078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xmlns="" id="{491CDA35-9E9C-46DA-B439-A69909018FD2}"/>
                  </a:ext>
                </a:extLst>
              </p:cNvPr>
              <p:cNvSpPr/>
              <p:nvPr/>
            </p:nvSpPr>
            <p:spPr>
              <a:xfrm>
                <a:off x="4088904" y="4272756"/>
                <a:ext cx="1733867" cy="445397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=∆</m:t>
                      </m:r>
                      <m:sSub>
                        <m:sSubPr>
                          <m:ctrlP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−∆</m:t>
                      </m:r>
                      <m:sSub>
                        <m:sSubPr>
                          <m:ctrlP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PE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Rectángulo 3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91CDA35-9E9C-46DA-B439-A69909018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904" y="4272756"/>
                <a:ext cx="1733867" cy="44539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xmlns="" id="{44822C0F-02DC-406F-8E12-F1FFDD5CFB2F}"/>
                  </a:ext>
                </a:extLst>
              </p:cNvPr>
              <p:cNvSpPr/>
              <p:nvPr/>
            </p:nvSpPr>
            <p:spPr>
              <a:xfrm>
                <a:off x="5673080" y="5065816"/>
                <a:ext cx="2016225" cy="558793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l-G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PE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4822C0F-02DC-406F-8E12-F1FFDD5CF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080" y="5065816"/>
                <a:ext cx="2016225" cy="55879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ángulo 16">
            <a:extLst>
              <a:ext uri="{FF2B5EF4-FFF2-40B4-BE49-F238E27FC236}">
                <a16:creationId xmlns:a16="http://schemas.microsoft.com/office/drawing/2014/main" xmlns="" id="{8EF499C7-AECE-44DE-89A6-BD7D3BC55E42}"/>
              </a:ext>
            </a:extLst>
          </p:cNvPr>
          <p:cNvSpPr/>
          <p:nvPr/>
        </p:nvSpPr>
        <p:spPr>
          <a:xfrm>
            <a:off x="200472" y="4077072"/>
            <a:ext cx="1872003" cy="2088232"/>
          </a:xfrm>
          <a:prstGeom prst="rect">
            <a:avLst/>
          </a:prstGeom>
          <a:solidFill>
            <a:srgbClr val="EAF991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03200" indent="-203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s-PE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kumimoji="1" 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kumimoji="1" lang="es-P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máquina térmica es un dispositivo que toma energía por </a:t>
            </a:r>
            <a:r>
              <a:rPr kumimoji="1" 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calor </a:t>
            </a:r>
            <a:r>
              <a:rPr kumimoji="1" lang="es-P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 al funcionar en un proceso cíclico, expulsa una fracción de dicha energía mediante trabajo.</a:t>
            </a:r>
          </a:p>
          <a:p>
            <a:pPr lvl="0" algn="just">
              <a:lnSpc>
                <a:spcPct val="150000"/>
              </a:lnSpc>
            </a:pPr>
            <a:endParaRPr lang="es-P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99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6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33" grpId="0" animBg="1"/>
      <p:bldP spid="19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14" name="Rectángulo redondeado 13"/>
          <p:cNvSpPr/>
          <p:nvPr/>
        </p:nvSpPr>
        <p:spPr>
          <a:xfrm>
            <a:off x="2699491" y="770433"/>
            <a:ext cx="4646240" cy="57140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MÁQUINAS TÉRMICAS</a:t>
            </a:r>
            <a:endParaRPr lang="es-PE" sz="2400" dirty="0">
              <a:solidFill>
                <a:schemeClr val="tx1"/>
              </a:solidFill>
            </a:endParaRPr>
          </a:p>
        </p:txBody>
      </p:sp>
      <p:sp>
        <p:nvSpPr>
          <p:cNvPr id="8" name="Rectangle 22"/>
          <p:cNvSpPr txBox="1">
            <a:spLocks noChangeArrowheads="1"/>
          </p:cNvSpPr>
          <p:nvPr/>
        </p:nvSpPr>
        <p:spPr bwMode="auto">
          <a:xfrm>
            <a:off x="4267200" y="3505200"/>
            <a:ext cx="4495800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41313" indent="-341313" algn="l" defTabSz="457200" rtl="0" eaLnBrk="0" fontAlgn="base" hangingPunct="0">
              <a:spcBef>
                <a:spcPts val="225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Tahoma" pitchFamily="34" charset="0"/>
              <a:buChar char="•"/>
              <a:defRPr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1363" indent="-284163" algn="l" defTabSz="457200" rtl="0" eaLnBrk="0" fontAlgn="base" hangingPunct="0">
              <a:spcBef>
                <a:spcPts val="130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Tahoma" pitchFamily="34" charset="0"/>
              <a:buChar char="–"/>
              <a:defRPr sz="2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5000"/>
              </a:lnSpc>
              <a:spcBef>
                <a:spcPts val="105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Tahoma" pitchFamily="34" charset="0"/>
              <a:buChar char="•"/>
              <a:defRPr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75000"/>
              </a:lnSpc>
              <a:spcBef>
                <a:spcPts val="75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Tahoma" pitchFamily="34" charset="0"/>
              <a:buChar char="–"/>
              <a:defRPr sz="2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75000"/>
              </a:lnSpc>
              <a:spcBef>
                <a:spcPts val="675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Tahoma" pitchFamily="34" charset="0"/>
              <a:buChar char="»"/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5pPr>
            <a:lvl6pPr marL="2514600" indent="-228600" algn="l" defTabSz="457200" rtl="0" eaLnBrk="0" fontAlgn="base" hangingPunct="0">
              <a:lnSpc>
                <a:spcPct val="75000"/>
              </a:lnSpc>
              <a:spcBef>
                <a:spcPts val="675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Tahoma" pitchFamily="34" charset="0"/>
              <a:buChar char="»"/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6pPr>
            <a:lvl7pPr marL="2971800" indent="-228600" algn="l" defTabSz="457200" rtl="0" eaLnBrk="0" fontAlgn="base" hangingPunct="0">
              <a:lnSpc>
                <a:spcPct val="75000"/>
              </a:lnSpc>
              <a:spcBef>
                <a:spcPts val="675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Tahoma" pitchFamily="34" charset="0"/>
              <a:buChar char="»"/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7pPr>
            <a:lvl8pPr marL="3429000" indent="-228600" algn="l" defTabSz="457200" rtl="0" eaLnBrk="0" fontAlgn="base" hangingPunct="0">
              <a:lnSpc>
                <a:spcPct val="75000"/>
              </a:lnSpc>
              <a:spcBef>
                <a:spcPts val="675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Tahoma" pitchFamily="34" charset="0"/>
              <a:buChar char="»"/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8pPr>
            <a:lvl9pPr marL="3886200" indent="-228600" algn="l" defTabSz="457200" rtl="0" eaLnBrk="0" fontAlgn="base" hangingPunct="0">
              <a:lnSpc>
                <a:spcPct val="75000"/>
              </a:lnSpc>
              <a:spcBef>
                <a:spcPts val="675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Tahoma" pitchFamily="34" charset="0"/>
              <a:buChar char="»"/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9pPr>
          </a:lstStyle>
          <a:p>
            <a:pPr marL="341313" marR="0" lvl="0" indent="-341313" algn="l" defTabSz="457200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Tx/>
              <a:buSzPct val="100000"/>
              <a:buFont typeface="Tahoma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s-MX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cs typeface="Lucida Sans Unicode"/>
              </a:rPr>
              <a:t>Absorbe calor </a:t>
            </a:r>
            <a:r>
              <a:rPr kumimoji="0" lang="el-GR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/>
                <a:cs typeface="Lucida Sans Unicode"/>
              </a:rPr>
              <a:t>Δ</a:t>
            </a:r>
            <a:r>
              <a:rPr kumimoji="0" lang="es-MX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/>
                <a:cs typeface="Lucida Sans Unicode"/>
              </a:rPr>
              <a:t>Q</a:t>
            </a:r>
            <a:r>
              <a:rPr kumimoji="0" lang="es-MX" sz="28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/>
                <a:cs typeface="Lucida Sans Unicode"/>
              </a:rPr>
              <a:t>2</a:t>
            </a:r>
            <a:r>
              <a:rPr kumimoji="0" lang="es-MX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/>
                <a:cs typeface="Lucida Sans Unicode"/>
              </a:rPr>
              <a:t> </a:t>
            </a:r>
          </a:p>
          <a:p>
            <a:pPr marL="341313" marR="0" lvl="0" indent="-341313" algn="l" defTabSz="457200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Tx/>
              <a:buSzPct val="100000"/>
              <a:buFont typeface="Tahoma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s-MX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cs typeface="Lucida Sans Unicode"/>
              </a:rPr>
              <a:t>Realiza trabajo </a:t>
            </a:r>
            <a:r>
              <a:rPr kumimoji="0" lang="el-GR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/>
                <a:cs typeface="Lucida Sans Unicode"/>
              </a:rPr>
              <a:t>Δ</a:t>
            </a:r>
            <a:r>
              <a:rPr kumimoji="0" lang="es-MX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/>
                <a:cs typeface="Lucida Sans Unicode"/>
              </a:rPr>
              <a:t>W</a:t>
            </a:r>
            <a:endParaRPr kumimoji="0" lang="es-MX" sz="2800" b="0" i="0" u="none" strike="noStrike" kern="0" cap="none" spc="0" normalizeH="0" baseline="-2500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/>
              <a:cs typeface="Lucida Sans Unicode"/>
            </a:endParaRPr>
          </a:p>
          <a:p>
            <a:pPr marL="341313" marR="0" lvl="0" indent="-341313" algn="l" defTabSz="457200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Tx/>
              <a:buSzPct val="100000"/>
              <a:buFont typeface="Tahoma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s-MX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cs typeface="Lucida Sans Unicode"/>
              </a:rPr>
              <a:t>Liberación de calor </a:t>
            </a:r>
            <a:r>
              <a:rPr kumimoji="0" lang="el-GR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/>
                <a:cs typeface="Lucida Sans Unicode"/>
              </a:rPr>
              <a:t>Δ</a:t>
            </a:r>
            <a:r>
              <a:rPr kumimoji="0" lang="es-MX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/>
                <a:cs typeface="Lucida Sans Unicode"/>
              </a:rPr>
              <a:t>Q</a:t>
            </a:r>
            <a:r>
              <a:rPr kumimoji="0" lang="es-MX" sz="28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/>
                <a:cs typeface="Lucida Sans Unicode"/>
              </a:rPr>
              <a:t>1</a:t>
            </a:r>
            <a:endParaRPr kumimoji="0" lang="es-MX" sz="2800" b="0" i="0" u="none" strike="noStrike" kern="0" cap="none" spc="0" normalizeH="0" baseline="-2500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/>
              <a:cs typeface="Lucida Sans Unicode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4495800" y="1546831"/>
            <a:ext cx="4191000" cy="181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just" eaLnBrk="0" fontAlgn="base" hangingPunct="0">
              <a:spcBef>
                <a:spcPts val="2000"/>
              </a:spcBef>
              <a:spcAft>
                <a:spcPct val="0"/>
              </a:spcAft>
              <a:buClr>
                <a:srgbClr val="FFFF00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800" dirty="0">
                <a:latin typeface="Tahoma" pitchFamily="34" charset="0"/>
                <a:cs typeface="Lucida Sans Unicode"/>
              </a:rPr>
              <a:t>Una máquina térmica es cualquier dispositivo que pasa por un proceso cíclico:</a:t>
            </a:r>
          </a:p>
        </p:txBody>
      </p:sp>
      <p:grpSp>
        <p:nvGrpSpPr>
          <p:cNvPr id="10" name="Group 39"/>
          <p:cNvGrpSpPr>
            <a:grpSpLocks/>
          </p:cNvGrpSpPr>
          <p:nvPr/>
        </p:nvGrpSpPr>
        <p:grpSpPr bwMode="auto">
          <a:xfrm>
            <a:off x="577850" y="1887538"/>
            <a:ext cx="3482975" cy="3749675"/>
            <a:chOff x="364" y="1189"/>
            <a:chExt cx="2194" cy="2362"/>
          </a:xfrm>
        </p:grpSpPr>
        <p:grpSp>
          <p:nvGrpSpPr>
            <p:cNvPr id="11" name="Group 27"/>
            <p:cNvGrpSpPr>
              <a:grpSpLocks/>
            </p:cNvGrpSpPr>
            <p:nvPr/>
          </p:nvGrpSpPr>
          <p:grpSpPr bwMode="auto">
            <a:xfrm>
              <a:off x="514" y="1189"/>
              <a:ext cx="1680" cy="2362"/>
              <a:chOff x="514" y="1189"/>
              <a:chExt cx="1680" cy="2362"/>
            </a:xfrm>
          </p:grpSpPr>
          <p:grpSp>
            <p:nvGrpSpPr>
              <p:cNvPr id="22" name="Group 4"/>
              <p:cNvGrpSpPr>
                <a:grpSpLocks/>
              </p:cNvGrpSpPr>
              <p:nvPr/>
            </p:nvGrpSpPr>
            <p:grpSpPr bwMode="auto">
              <a:xfrm>
                <a:off x="514" y="3132"/>
                <a:ext cx="1543" cy="419"/>
                <a:chOff x="514" y="3132"/>
                <a:chExt cx="1543" cy="419"/>
              </a:xfrm>
            </p:grpSpPr>
            <p:pic>
              <p:nvPicPr>
                <p:cNvPr id="31" name="Picture 5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4" y="3132"/>
                  <a:ext cx="1544" cy="420"/>
                </a:xfrm>
                <a:prstGeom prst="rect">
                  <a:avLst/>
                </a:prstGeom>
                <a:noFill/>
              </p:spPr>
            </p:pic>
            <p:sp>
              <p:nvSpPr>
                <p:cNvPr id="32" name="AutoShape 6"/>
                <p:cNvSpPr>
                  <a:spLocks noChangeArrowheads="1"/>
                </p:cNvSpPr>
                <p:nvPr/>
              </p:nvSpPr>
              <p:spPr bwMode="auto">
                <a:xfrm>
                  <a:off x="514" y="3229"/>
                  <a:ext cx="1448" cy="323"/>
                </a:xfrm>
                <a:prstGeom prst="roundRect">
                  <a:avLst>
                    <a:gd name="adj" fmla="val 310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90000" tIns="46800" rIns="90000" bIns="46800" anchor="ctr"/>
                <a:lstStyle/>
                <a:p>
                  <a:pPr algn="ctr" eaLnBrk="0" fontAlgn="base" hangingPunct="0">
                    <a:spcBef>
                      <a:spcPts val="750"/>
                    </a:spcBef>
                    <a:spcAft>
                      <a:spcPct val="0"/>
                    </a:spcAft>
                    <a:buClr>
                      <a:srgbClr val="FFFFFF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s-MX" sz="2200" dirty="0" err="1">
                      <a:solidFill>
                        <a:srgbClr val="FFFFFF"/>
                      </a:solidFill>
                      <a:latin typeface="Tahoma" pitchFamily="34" charset="0"/>
                      <a:cs typeface="Lucida Sans Unicode"/>
                    </a:rPr>
                    <a:t>Dep</a:t>
                  </a:r>
                  <a:r>
                    <a:rPr lang="es-MX" sz="2200" dirty="0">
                      <a:solidFill>
                        <a:srgbClr val="FFFFFF"/>
                      </a:solidFill>
                      <a:latin typeface="Tahoma" pitchFamily="34" charset="0"/>
                      <a:cs typeface="Lucida Sans Unicode"/>
                    </a:rPr>
                    <a:t>. frío </a:t>
                  </a:r>
                  <a:r>
                    <a:rPr lang="es-MX" sz="2200" dirty="0" smtClean="0">
                      <a:solidFill>
                        <a:srgbClr val="FFFFFF"/>
                      </a:solidFill>
                      <a:latin typeface="Tahoma" pitchFamily="34" charset="0"/>
                      <a:cs typeface="Lucida Sans Unicode"/>
                    </a:rPr>
                    <a:t>T</a:t>
                  </a:r>
                  <a:r>
                    <a:rPr lang="es-MX" sz="2200" baseline="-25000" dirty="0">
                      <a:solidFill>
                        <a:srgbClr val="FFFFFF"/>
                      </a:solidFill>
                      <a:latin typeface="Tahoma" pitchFamily="34" charset="0"/>
                      <a:cs typeface="Lucida Sans Unicode"/>
                    </a:rPr>
                    <a:t>1</a:t>
                  </a:r>
                </a:p>
              </p:txBody>
            </p:sp>
          </p:grpSp>
          <p:pic>
            <p:nvPicPr>
              <p:cNvPr id="23" name="Picture 7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103" y="2579"/>
                <a:ext cx="368" cy="650"/>
              </a:xfrm>
              <a:prstGeom prst="rect">
                <a:avLst/>
              </a:prstGeom>
              <a:noFill/>
            </p:spPr>
          </p:pic>
          <p:pic>
            <p:nvPicPr>
              <p:cNvPr id="24" name="Picture 9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740" y="1981"/>
                <a:ext cx="1047" cy="742"/>
              </a:xfrm>
              <a:prstGeom prst="rect">
                <a:avLst/>
              </a:prstGeom>
              <a:noFill/>
            </p:spPr>
          </p:pic>
          <p:sp>
            <p:nvSpPr>
              <p:cNvPr id="25" name="AutoShape 10"/>
              <p:cNvSpPr>
                <a:spLocks noChangeArrowheads="1"/>
              </p:cNvSpPr>
              <p:nvPr/>
            </p:nvSpPr>
            <p:spPr bwMode="auto">
              <a:xfrm>
                <a:off x="768" y="2174"/>
                <a:ext cx="912" cy="454"/>
              </a:xfrm>
              <a:prstGeom prst="roundRect">
                <a:avLst>
                  <a:gd name="adj" fmla="val 218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90000" tIns="46800" rIns="90000" bIns="46800" anchor="ctr" anchorCtr="1"/>
              <a:lstStyle/>
              <a:p>
                <a:pPr algn="ctr" eaLnBrk="0" fontAlgn="base" hangingPunct="0">
                  <a:spcBef>
                    <a:spcPts val="750"/>
                  </a:spcBef>
                  <a:spcAft>
                    <a:spcPct val="0"/>
                  </a:spcAft>
                  <a:buClr>
                    <a:srgbClr val="006666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2400">
                    <a:solidFill>
                      <a:srgbClr val="FFFFFF"/>
                    </a:solidFill>
                    <a:latin typeface="Tahoma" pitchFamily="34" charset="0"/>
                    <a:cs typeface="Lucida Sans Unicode"/>
                  </a:rPr>
                  <a:t>Máquina</a:t>
                </a:r>
              </a:p>
            </p:txBody>
          </p:sp>
          <p:pic>
            <p:nvPicPr>
              <p:cNvPr id="26" name="Picture 11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1104" y="1488"/>
                <a:ext cx="368" cy="604"/>
              </a:xfrm>
              <a:prstGeom prst="rect">
                <a:avLst/>
              </a:prstGeom>
              <a:noFill/>
            </p:spPr>
          </p:pic>
          <p:pic>
            <p:nvPicPr>
              <p:cNvPr id="27" name="Picture 15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1645" y="2211"/>
                <a:ext cx="549" cy="282"/>
              </a:xfrm>
              <a:prstGeom prst="rect">
                <a:avLst/>
              </a:prstGeom>
              <a:noFill/>
            </p:spPr>
          </p:pic>
          <p:grpSp>
            <p:nvGrpSpPr>
              <p:cNvPr id="28" name="Group 12"/>
              <p:cNvGrpSpPr>
                <a:grpSpLocks/>
              </p:cNvGrpSpPr>
              <p:nvPr/>
            </p:nvGrpSpPr>
            <p:grpSpPr bwMode="auto">
              <a:xfrm>
                <a:off x="587" y="1189"/>
                <a:ext cx="1543" cy="419"/>
                <a:chOff x="605" y="1152"/>
                <a:chExt cx="1543" cy="419"/>
              </a:xfrm>
            </p:grpSpPr>
            <p:pic>
              <p:nvPicPr>
                <p:cNvPr id="29" name="Picture 13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605" y="1152"/>
                  <a:ext cx="1544" cy="420"/>
                </a:xfrm>
                <a:prstGeom prst="rect">
                  <a:avLst/>
                </a:prstGeom>
                <a:noFill/>
              </p:spPr>
            </p:pic>
            <p:sp>
              <p:nvSpPr>
                <p:cNvPr id="30" name="AutoShape 14"/>
                <p:cNvSpPr>
                  <a:spLocks noChangeArrowheads="1"/>
                </p:cNvSpPr>
                <p:nvPr/>
              </p:nvSpPr>
              <p:spPr bwMode="auto">
                <a:xfrm>
                  <a:off x="605" y="1250"/>
                  <a:ext cx="1448" cy="322"/>
                </a:xfrm>
                <a:prstGeom prst="roundRect">
                  <a:avLst>
                    <a:gd name="adj" fmla="val 310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lIns="90000" tIns="46800" rIns="90000" bIns="46800" anchor="ctr"/>
                <a:lstStyle/>
                <a:p>
                  <a:pPr algn="ctr" eaLnBrk="0" fontAlgn="base" hangingPunct="0">
                    <a:spcBef>
                      <a:spcPts val="750"/>
                    </a:spcBef>
                    <a:spcAft>
                      <a:spcPct val="0"/>
                    </a:spcAft>
                    <a:buClr>
                      <a:srgbClr val="FFFFFF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s-MX" sz="2200" dirty="0" err="1">
                      <a:solidFill>
                        <a:srgbClr val="FFFFFF"/>
                      </a:solidFill>
                      <a:latin typeface="Tahoma" pitchFamily="34" charset="0"/>
                      <a:cs typeface="Lucida Sans Unicode"/>
                    </a:rPr>
                    <a:t>Dep</a:t>
                  </a:r>
                  <a:r>
                    <a:rPr lang="es-MX" sz="2200" dirty="0">
                      <a:solidFill>
                        <a:srgbClr val="FFFFFF"/>
                      </a:solidFill>
                      <a:latin typeface="Tahoma" pitchFamily="34" charset="0"/>
                      <a:cs typeface="Lucida Sans Unicode"/>
                    </a:rPr>
                    <a:t>. Caliente </a:t>
                  </a:r>
                  <a:r>
                    <a:rPr lang="es-MX" sz="2200" dirty="0" smtClean="0">
                      <a:solidFill>
                        <a:srgbClr val="FFFFFF"/>
                      </a:solidFill>
                      <a:latin typeface="Tahoma" pitchFamily="34" charset="0"/>
                      <a:cs typeface="Lucida Sans Unicode"/>
                    </a:rPr>
                    <a:t>T</a:t>
                  </a:r>
                  <a:r>
                    <a:rPr lang="es-MX" sz="2200" baseline="-25000" dirty="0" smtClean="0">
                      <a:solidFill>
                        <a:srgbClr val="FFFFFF"/>
                      </a:solidFill>
                      <a:latin typeface="Tahoma" pitchFamily="34" charset="0"/>
                      <a:cs typeface="Lucida Sans Unicode"/>
                    </a:rPr>
                    <a:t>2</a:t>
                  </a:r>
                  <a:endParaRPr lang="es-MX" sz="2200" baseline="-25000" dirty="0">
                    <a:solidFill>
                      <a:srgbClr val="FFFFFF"/>
                    </a:solidFill>
                    <a:latin typeface="Tahoma" pitchFamily="34" charset="0"/>
                    <a:cs typeface="Lucida Sans Unicode"/>
                  </a:endParaRPr>
                </a:p>
              </p:txBody>
            </p:sp>
          </p:grpSp>
        </p:grpSp>
        <p:grpSp>
          <p:nvGrpSpPr>
            <p:cNvPr id="12" name="Group 31"/>
            <p:cNvGrpSpPr>
              <a:grpSpLocks/>
            </p:cNvGrpSpPr>
            <p:nvPr/>
          </p:nvGrpSpPr>
          <p:grpSpPr bwMode="auto">
            <a:xfrm>
              <a:off x="413" y="1582"/>
              <a:ext cx="953" cy="409"/>
              <a:chOff x="413" y="1582"/>
              <a:chExt cx="953" cy="409"/>
            </a:xfrm>
          </p:grpSpPr>
          <p:sp>
            <p:nvSpPr>
              <p:cNvPr id="20" name="Freeform 29"/>
              <p:cNvSpPr>
                <a:spLocks noChangeArrowheads="1"/>
              </p:cNvSpPr>
              <p:nvPr/>
            </p:nvSpPr>
            <p:spPr bwMode="auto">
              <a:xfrm>
                <a:off x="1126" y="1632"/>
                <a:ext cx="240" cy="337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264" y="1112"/>
                  </a:cxn>
                  <a:cxn ang="0">
                    <a:pos x="0" y="1112"/>
                  </a:cxn>
                  <a:cxn ang="0">
                    <a:pos x="529" y="1483"/>
                  </a:cxn>
                  <a:cxn ang="0">
                    <a:pos x="1059" y="1112"/>
                  </a:cxn>
                  <a:cxn ang="0">
                    <a:pos x="794" y="1112"/>
                  </a:cxn>
                  <a:cxn ang="0">
                    <a:pos x="794" y="0"/>
                  </a:cxn>
                  <a:cxn ang="0">
                    <a:pos x="264" y="0"/>
                  </a:cxn>
                </a:cxnLst>
                <a:rect l="0" t="0" r="r" b="b"/>
                <a:pathLst>
                  <a:path w="1060" h="1484">
                    <a:moveTo>
                      <a:pt x="264" y="0"/>
                    </a:moveTo>
                    <a:lnTo>
                      <a:pt x="264" y="1112"/>
                    </a:lnTo>
                    <a:lnTo>
                      <a:pt x="0" y="1112"/>
                    </a:lnTo>
                    <a:lnTo>
                      <a:pt x="529" y="1483"/>
                    </a:lnTo>
                    <a:lnTo>
                      <a:pt x="1059" y="1112"/>
                    </a:lnTo>
                    <a:lnTo>
                      <a:pt x="794" y="1112"/>
                    </a:lnTo>
                    <a:lnTo>
                      <a:pt x="794" y="0"/>
                    </a:lnTo>
                    <a:lnTo>
                      <a:pt x="264" y="0"/>
                    </a:lnTo>
                  </a:path>
                </a:pathLst>
              </a:custGeom>
              <a:solidFill>
                <a:srgbClr val="99FF33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s-ES" sz="2800">
                  <a:solidFill>
                    <a:srgbClr val="FFFFFF"/>
                  </a:solidFill>
                  <a:latin typeface="Tahoma" pitchFamily="34" charset="0"/>
                  <a:cs typeface="Lucida Sans Unicode"/>
                </a:endParaRPr>
              </a:p>
            </p:txBody>
          </p:sp>
          <p:sp>
            <p:nvSpPr>
              <p:cNvPr id="21" name="AutoShape 30"/>
              <p:cNvSpPr>
                <a:spLocks noChangeArrowheads="1"/>
              </p:cNvSpPr>
              <p:nvPr/>
            </p:nvSpPr>
            <p:spPr bwMode="auto">
              <a:xfrm>
                <a:off x="413" y="1582"/>
                <a:ext cx="606" cy="409"/>
              </a:xfrm>
              <a:prstGeom prst="roundRect">
                <a:avLst>
                  <a:gd name="adj" fmla="val 24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fontAlgn="base" hangingPunct="0">
                  <a:spcBef>
                    <a:spcPts val="2250"/>
                  </a:spcBef>
                  <a:spcAft>
                    <a:spcPct val="0"/>
                  </a:spcAft>
                </a:pPr>
                <a:r>
                  <a:rPr lang="el-GR" sz="3600" dirty="0" smtClean="0">
                    <a:solidFill>
                      <a:srgbClr val="FFFF00"/>
                    </a:solidFill>
                    <a:latin typeface="Tahoma" pitchFamily="34" charset="0"/>
                    <a:cs typeface="Lucida Sans Unicode"/>
                  </a:rPr>
                  <a:t>Δ</a:t>
                </a:r>
                <a:r>
                  <a:rPr lang="es-MX" sz="3600" dirty="0" smtClean="0">
                    <a:solidFill>
                      <a:srgbClr val="FFFF00"/>
                    </a:solidFill>
                    <a:latin typeface="Tahoma" pitchFamily="34" charset="0"/>
                    <a:cs typeface="Lucida Sans Unicode"/>
                  </a:rPr>
                  <a:t>Q</a:t>
                </a:r>
                <a:r>
                  <a:rPr lang="es-MX" sz="3600" baseline="-25000" dirty="0" smtClean="0">
                    <a:solidFill>
                      <a:srgbClr val="FFFF00"/>
                    </a:solidFill>
                    <a:latin typeface="Tahoma" pitchFamily="34" charset="0"/>
                    <a:cs typeface="Lucida Sans Unicode"/>
                  </a:rPr>
                  <a:t>2</a:t>
                </a:r>
                <a:endParaRPr lang="es-MX" sz="2400" dirty="0">
                  <a:solidFill>
                    <a:srgbClr val="FFFFFF"/>
                  </a:solidFill>
                  <a:latin typeface="Times New Roman" pitchFamily="18" charset="0"/>
                  <a:cs typeface="Lucida Sans Unicode"/>
                </a:endParaRPr>
              </a:p>
            </p:txBody>
          </p:sp>
        </p:grpSp>
        <p:grpSp>
          <p:nvGrpSpPr>
            <p:cNvPr id="13" name="Group 32"/>
            <p:cNvGrpSpPr>
              <a:grpSpLocks/>
            </p:cNvGrpSpPr>
            <p:nvPr/>
          </p:nvGrpSpPr>
          <p:grpSpPr bwMode="auto">
            <a:xfrm>
              <a:off x="1767" y="1726"/>
              <a:ext cx="791" cy="739"/>
              <a:chOff x="1767" y="1726"/>
              <a:chExt cx="791" cy="739"/>
            </a:xfrm>
          </p:grpSpPr>
          <p:sp>
            <p:nvSpPr>
              <p:cNvPr id="18" name="Freeform 33"/>
              <p:cNvSpPr>
                <a:spLocks noChangeArrowheads="1"/>
              </p:cNvSpPr>
              <p:nvPr/>
            </p:nvSpPr>
            <p:spPr bwMode="auto">
              <a:xfrm>
                <a:off x="1767" y="2321"/>
                <a:ext cx="336" cy="144"/>
              </a:xfrm>
              <a:custGeom>
                <a:avLst/>
                <a:gdLst/>
                <a:ahLst/>
                <a:cxnLst>
                  <a:cxn ang="0">
                    <a:pos x="0" y="211"/>
                  </a:cxn>
                  <a:cxn ang="0">
                    <a:pos x="1111" y="211"/>
                  </a:cxn>
                  <a:cxn ang="0">
                    <a:pos x="1111" y="0"/>
                  </a:cxn>
                  <a:cxn ang="0">
                    <a:pos x="1482" y="423"/>
                  </a:cxn>
                  <a:cxn ang="0">
                    <a:pos x="1111" y="846"/>
                  </a:cxn>
                  <a:cxn ang="0">
                    <a:pos x="1111" y="634"/>
                  </a:cxn>
                  <a:cxn ang="0">
                    <a:pos x="0" y="634"/>
                  </a:cxn>
                  <a:cxn ang="0">
                    <a:pos x="0" y="211"/>
                  </a:cxn>
                </a:cxnLst>
                <a:rect l="0" t="0" r="r" b="b"/>
                <a:pathLst>
                  <a:path w="1483" h="847">
                    <a:moveTo>
                      <a:pt x="0" y="211"/>
                    </a:moveTo>
                    <a:lnTo>
                      <a:pt x="1111" y="211"/>
                    </a:lnTo>
                    <a:lnTo>
                      <a:pt x="1111" y="0"/>
                    </a:lnTo>
                    <a:lnTo>
                      <a:pt x="1482" y="423"/>
                    </a:lnTo>
                    <a:lnTo>
                      <a:pt x="1111" y="846"/>
                    </a:lnTo>
                    <a:lnTo>
                      <a:pt x="1111" y="634"/>
                    </a:lnTo>
                    <a:lnTo>
                      <a:pt x="0" y="634"/>
                    </a:lnTo>
                    <a:lnTo>
                      <a:pt x="0" y="211"/>
                    </a:lnTo>
                  </a:path>
                </a:pathLst>
              </a:custGeom>
              <a:solidFill>
                <a:srgbClr val="00FF00"/>
              </a:solidFill>
              <a:ln w="939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s-ES" sz="2800">
                  <a:solidFill>
                    <a:srgbClr val="FFFFFF"/>
                  </a:solidFill>
                  <a:latin typeface="Tahoma" pitchFamily="34" charset="0"/>
                  <a:cs typeface="Lucida Sans Unicode"/>
                </a:endParaRPr>
              </a:p>
            </p:txBody>
          </p:sp>
          <p:sp>
            <p:nvSpPr>
              <p:cNvPr id="19" name="AutoShape 34"/>
              <p:cNvSpPr>
                <a:spLocks noChangeArrowheads="1"/>
              </p:cNvSpPr>
              <p:nvPr/>
            </p:nvSpPr>
            <p:spPr bwMode="auto">
              <a:xfrm>
                <a:off x="2001" y="1726"/>
                <a:ext cx="557" cy="409"/>
              </a:xfrm>
              <a:prstGeom prst="roundRect">
                <a:avLst>
                  <a:gd name="adj" fmla="val 24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fontAlgn="base" hangingPunct="0">
                  <a:spcBef>
                    <a:spcPts val="2250"/>
                  </a:spcBef>
                  <a:spcAft>
                    <a:spcPct val="0"/>
                  </a:spcAft>
                </a:pPr>
                <a:r>
                  <a:rPr lang="el-GR" sz="3600" dirty="0" smtClean="0">
                    <a:solidFill>
                      <a:srgbClr val="FFFF00"/>
                    </a:solidFill>
                    <a:latin typeface="Tahoma" pitchFamily="34" charset="0"/>
                    <a:cs typeface="Lucida Sans Unicode"/>
                  </a:rPr>
                  <a:t>Δ</a:t>
                </a:r>
                <a:r>
                  <a:rPr lang="es-MX" sz="3600" dirty="0" smtClean="0">
                    <a:solidFill>
                      <a:srgbClr val="FFFF00"/>
                    </a:solidFill>
                    <a:latin typeface="Tahoma" pitchFamily="34" charset="0"/>
                    <a:cs typeface="Lucida Sans Unicode"/>
                  </a:rPr>
                  <a:t>W</a:t>
                </a:r>
                <a:endParaRPr lang="es-MX" sz="2400" dirty="0">
                  <a:solidFill>
                    <a:srgbClr val="FFFFFF"/>
                  </a:solidFill>
                  <a:latin typeface="Times New Roman" pitchFamily="18" charset="0"/>
                  <a:cs typeface="Lucida Sans Unicode"/>
                </a:endParaRPr>
              </a:p>
            </p:txBody>
          </p:sp>
        </p:grpSp>
        <p:grpSp>
          <p:nvGrpSpPr>
            <p:cNvPr id="15" name="Group 35"/>
            <p:cNvGrpSpPr>
              <a:grpSpLocks/>
            </p:cNvGrpSpPr>
            <p:nvPr/>
          </p:nvGrpSpPr>
          <p:grpSpPr bwMode="auto">
            <a:xfrm>
              <a:off x="364" y="2638"/>
              <a:ext cx="1014" cy="483"/>
              <a:chOff x="364" y="2638"/>
              <a:chExt cx="1014" cy="483"/>
            </a:xfrm>
          </p:grpSpPr>
          <p:sp>
            <p:nvSpPr>
              <p:cNvPr id="16" name="Freeform 36"/>
              <p:cNvSpPr>
                <a:spLocks noChangeArrowheads="1"/>
              </p:cNvSpPr>
              <p:nvPr/>
            </p:nvSpPr>
            <p:spPr bwMode="auto">
              <a:xfrm>
                <a:off x="1186" y="2784"/>
                <a:ext cx="192" cy="337"/>
              </a:xfrm>
              <a:custGeom>
                <a:avLst/>
                <a:gdLst/>
                <a:ahLst/>
                <a:cxnLst>
                  <a:cxn ang="0">
                    <a:pos x="211" y="0"/>
                  </a:cxn>
                  <a:cxn ang="0">
                    <a:pos x="211" y="1112"/>
                  </a:cxn>
                  <a:cxn ang="0">
                    <a:pos x="0" y="1112"/>
                  </a:cxn>
                  <a:cxn ang="0">
                    <a:pos x="423" y="1483"/>
                  </a:cxn>
                  <a:cxn ang="0">
                    <a:pos x="847" y="1112"/>
                  </a:cxn>
                  <a:cxn ang="0">
                    <a:pos x="635" y="1112"/>
                  </a:cxn>
                  <a:cxn ang="0">
                    <a:pos x="635" y="0"/>
                  </a:cxn>
                  <a:cxn ang="0">
                    <a:pos x="211" y="0"/>
                  </a:cxn>
                </a:cxnLst>
                <a:rect l="0" t="0" r="r" b="b"/>
                <a:pathLst>
                  <a:path w="848" h="1484">
                    <a:moveTo>
                      <a:pt x="211" y="0"/>
                    </a:moveTo>
                    <a:lnTo>
                      <a:pt x="211" y="1112"/>
                    </a:lnTo>
                    <a:lnTo>
                      <a:pt x="0" y="1112"/>
                    </a:lnTo>
                    <a:lnTo>
                      <a:pt x="423" y="1483"/>
                    </a:lnTo>
                    <a:lnTo>
                      <a:pt x="847" y="1112"/>
                    </a:lnTo>
                    <a:lnTo>
                      <a:pt x="635" y="1112"/>
                    </a:lnTo>
                    <a:lnTo>
                      <a:pt x="635" y="0"/>
                    </a:lnTo>
                    <a:lnTo>
                      <a:pt x="211" y="0"/>
                    </a:lnTo>
                  </a:path>
                </a:pathLst>
              </a:custGeom>
              <a:solidFill>
                <a:srgbClr val="99FF33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s-ES" sz="2800">
                  <a:solidFill>
                    <a:srgbClr val="FFFFFF"/>
                  </a:solidFill>
                  <a:latin typeface="Tahoma" pitchFamily="34" charset="0"/>
                  <a:cs typeface="Lucida Sans Unicode"/>
                </a:endParaRPr>
              </a:p>
            </p:txBody>
          </p:sp>
          <p:sp>
            <p:nvSpPr>
              <p:cNvPr id="17" name="AutoShape 37"/>
              <p:cNvSpPr>
                <a:spLocks noChangeArrowheads="1"/>
              </p:cNvSpPr>
              <p:nvPr/>
            </p:nvSpPr>
            <p:spPr bwMode="auto">
              <a:xfrm>
                <a:off x="364" y="2638"/>
                <a:ext cx="606" cy="409"/>
              </a:xfrm>
              <a:prstGeom prst="roundRect">
                <a:avLst>
                  <a:gd name="adj" fmla="val 24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fontAlgn="base" hangingPunct="0">
                  <a:spcBef>
                    <a:spcPts val="2250"/>
                  </a:spcBef>
                  <a:spcAft>
                    <a:spcPct val="0"/>
                  </a:spcAft>
                </a:pPr>
                <a:r>
                  <a:rPr lang="el-GR" sz="3600" dirty="0" smtClean="0">
                    <a:solidFill>
                      <a:srgbClr val="FFFF00"/>
                    </a:solidFill>
                    <a:latin typeface="Tahoma" pitchFamily="34" charset="0"/>
                    <a:cs typeface="Lucida Sans Unicode"/>
                  </a:rPr>
                  <a:t>Δ</a:t>
                </a:r>
                <a:r>
                  <a:rPr lang="es-MX" sz="3600" dirty="0" smtClean="0">
                    <a:solidFill>
                      <a:srgbClr val="FFFF00"/>
                    </a:solidFill>
                    <a:latin typeface="Tahoma" pitchFamily="34" charset="0"/>
                    <a:cs typeface="Lucida Sans Unicode"/>
                  </a:rPr>
                  <a:t>Q</a:t>
                </a:r>
                <a:r>
                  <a:rPr lang="es-MX" sz="3600" baseline="-25000" dirty="0" smtClean="0">
                    <a:solidFill>
                      <a:srgbClr val="FFFF00"/>
                    </a:solidFill>
                    <a:latin typeface="Tahoma" pitchFamily="34" charset="0"/>
                    <a:cs typeface="Lucida Sans Unicode"/>
                  </a:rPr>
                  <a:t>1</a:t>
                </a:r>
                <a:endParaRPr lang="es-MX" sz="2400" dirty="0">
                  <a:solidFill>
                    <a:srgbClr val="FFFFFF"/>
                  </a:solidFill>
                  <a:latin typeface="Times New Roman" pitchFamily="18" charset="0"/>
                  <a:cs typeface="Lucida Sans Unicode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364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14" name="Rectángulo redondeado 13"/>
          <p:cNvSpPr/>
          <p:nvPr/>
        </p:nvSpPr>
        <p:spPr>
          <a:xfrm>
            <a:off x="2892624" y="791120"/>
            <a:ext cx="5184576" cy="57140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SEGUNDA LEY DE LA TERMODINÁMICA</a:t>
            </a:r>
            <a:endParaRPr lang="es-PE" sz="2400" dirty="0">
              <a:solidFill>
                <a:schemeClr val="tx1"/>
              </a:solidFill>
            </a:endParaRPr>
          </a:p>
        </p:txBody>
      </p:sp>
      <p:grpSp>
        <p:nvGrpSpPr>
          <p:cNvPr id="11" name="Group 22"/>
          <p:cNvGrpSpPr>
            <a:grpSpLocks/>
          </p:cNvGrpSpPr>
          <p:nvPr/>
        </p:nvGrpSpPr>
        <p:grpSpPr bwMode="auto">
          <a:xfrm>
            <a:off x="3817833" y="1989931"/>
            <a:ext cx="5029200" cy="3144838"/>
            <a:chOff x="2160" y="1268"/>
            <a:chExt cx="3168" cy="1981"/>
          </a:xfrm>
        </p:grpSpPr>
        <p:sp>
          <p:nvSpPr>
            <p:cNvPr id="12" name="AutoShape 23"/>
            <p:cNvSpPr>
              <a:spLocks noChangeArrowheads="1"/>
            </p:cNvSpPr>
            <p:nvPr/>
          </p:nvSpPr>
          <p:spPr bwMode="auto">
            <a:xfrm>
              <a:off x="2160" y="1268"/>
              <a:ext cx="3168" cy="1977"/>
            </a:xfrm>
            <a:prstGeom prst="roundRect">
              <a:avLst>
                <a:gd name="adj" fmla="val 46"/>
              </a:avLst>
            </a:prstGeom>
            <a:solidFill>
              <a:srgbClr val="CCFFCC"/>
            </a:solidFill>
            <a:ln w="57240">
              <a:solidFill>
                <a:srgbClr val="0000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s-ES" sz="2800">
                <a:solidFill>
                  <a:srgbClr val="FFFFFF"/>
                </a:solidFill>
                <a:latin typeface="Tahoma" pitchFamily="34" charset="0"/>
                <a:cs typeface="Lucida Sans Unicode"/>
              </a:endParaRPr>
            </a:p>
          </p:txBody>
        </p:sp>
        <p:sp>
          <p:nvSpPr>
            <p:cNvPr id="13" name="Text Box 24"/>
            <p:cNvSpPr txBox="1">
              <a:spLocks noChangeArrowheads="1"/>
            </p:cNvSpPr>
            <p:nvPr/>
          </p:nvSpPr>
          <p:spPr bwMode="auto">
            <a:xfrm>
              <a:off x="2232" y="1270"/>
              <a:ext cx="3096" cy="19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0000" tIns="46800" rIns="90000" bIns="46800" anchor="ctr">
              <a:spAutoFit/>
            </a:bodyPr>
            <a:lstStyle/>
            <a:p>
              <a:pPr algn="just" eaLnBrk="0" fontAlgn="base" hangingPunct="0">
                <a:spcBef>
                  <a:spcPts val="17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1400" dirty="0">
                  <a:solidFill>
                    <a:srgbClr val="000000"/>
                  </a:solidFill>
                  <a:latin typeface="Tahoma" pitchFamily="34" charset="0"/>
                  <a:cs typeface="Lucida Sans Unicode"/>
                </a:rPr>
                <a:t>Es imposible construir una máquina que, al operar en un ciclo, no produzca efectos distintos a la extracción de calor de un depósito y la realización de una cantidad equivalente de trabajo</a:t>
              </a:r>
              <a:r>
                <a:rPr lang="es-MX" sz="1400" dirty="0" smtClean="0">
                  <a:solidFill>
                    <a:srgbClr val="000000"/>
                  </a:solidFill>
                  <a:latin typeface="Tahoma" pitchFamily="34" charset="0"/>
                  <a:cs typeface="Lucida Sans Unicode"/>
                </a:rPr>
                <a:t>.</a:t>
              </a:r>
              <a:r>
                <a:rPr lang="es-PE" sz="1400" dirty="0">
                  <a:solidFill>
                    <a:srgbClr val="000000"/>
                  </a:solidFill>
                  <a:latin typeface="Tahoma" pitchFamily="34" charset="0"/>
                  <a:cs typeface="Lucida Sans Unicode"/>
                </a:rPr>
                <a:t> </a:t>
              </a:r>
              <a:endParaRPr lang="es-PE" sz="1400" dirty="0" smtClean="0">
                <a:solidFill>
                  <a:srgbClr val="000000"/>
                </a:solidFill>
                <a:latin typeface="Tahoma" pitchFamily="34" charset="0"/>
                <a:cs typeface="Lucida Sans Unicode"/>
              </a:endParaRPr>
            </a:p>
            <a:p>
              <a:pPr algn="just" eaLnBrk="0" fontAlgn="base" hangingPunct="0">
                <a:spcBef>
                  <a:spcPts val="17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PE" sz="1400" dirty="0" smtClean="0">
                  <a:solidFill>
                    <a:srgbClr val="000000"/>
                  </a:solidFill>
                  <a:latin typeface="Tahoma" pitchFamily="34" charset="0"/>
                  <a:cs typeface="Lucida Sans Unicode"/>
                </a:rPr>
                <a:t>Con </a:t>
              </a:r>
              <a:r>
                <a:rPr lang="es-PE" sz="1400" dirty="0">
                  <a:solidFill>
                    <a:srgbClr val="000000"/>
                  </a:solidFill>
                  <a:latin typeface="Tahoma" pitchFamily="34" charset="0"/>
                  <a:cs typeface="Lucida Sans Unicode"/>
                </a:rPr>
                <a:t>el trascurso del tiempo, los sistemas evolucionan espontáneamente de estados de baja probabilidad a estados de mayor probabilidad, pero no en sentido contrario. </a:t>
              </a:r>
              <a:endParaRPr lang="es-PE" sz="1400" dirty="0" smtClean="0">
                <a:solidFill>
                  <a:srgbClr val="000000"/>
                </a:solidFill>
                <a:latin typeface="Tahoma" pitchFamily="34" charset="0"/>
                <a:cs typeface="Lucida Sans Unicode"/>
              </a:endParaRPr>
            </a:p>
            <a:p>
              <a:pPr algn="just" eaLnBrk="0" fontAlgn="base" hangingPunct="0">
                <a:spcBef>
                  <a:spcPts val="175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PE" sz="1400" dirty="0" smtClean="0">
                  <a:solidFill>
                    <a:srgbClr val="000000"/>
                  </a:solidFill>
                  <a:latin typeface="Tahoma" pitchFamily="34" charset="0"/>
                  <a:cs typeface="Lucida Sans Unicode"/>
                </a:rPr>
                <a:t>Todo </a:t>
              </a:r>
              <a:r>
                <a:rPr lang="es-PE" sz="1400" dirty="0">
                  <a:solidFill>
                    <a:srgbClr val="000000"/>
                  </a:solidFill>
                  <a:latin typeface="Tahoma" pitchFamily="34" charset="0"/>
                  <a:cs typeface="Lucida Sans Unicode"/>
                </a:rPr>
                <a:t>sistema evoluciona desde un estado de máxima energía a un estado de mínima energía, es decir </a:t>
              </a:r>
              <a:r>
                <a:rPr lang="es-PE" sz="1400" dirty="0" smtClean="0">
                  <a:solidFill>
                    <a:srgbClr val="000000"/>
                  </a:solidFill>
                  <a:latin typeface="Tahoma" pitchFamily="34" charset="0"/>
                  <a:cs typeface="Lucida Sans Unicode"/>
                </a:rPr>
                <a:t>de </a:t>
              </a:r>
              <a:r>
                <a:rPr lang="es-PE" sz="1400" dirty="0">
                  <a:solidFill>
                    <a:srgbClr val="000000"/>
                  </a:solidFill>
                  <a:latin typeface="Tahoma" pitchFamily="34" charset="0"/>
                  <a:cs typeface="Lucida Sans Unicode"/>
                </a:rPr>
                <a:t>un estado de </a:t>
              </a:r>
              <a:r>
                <a:rPr lang="es-PE" sz="1400" dirty="0" smtClean="0">
                  <a:solidFill>
                    <a:srgbClr val="000000"/>
                  </a:solidFill>
                  <a:latin typeface="Tahoma" pitchFamily="34" charset="0"/>
                  <a:cs typeface="Lucida Sans Unicode"/>
                </a:rPr>
                <a:t>energía </a:t>
              </a:r>
              <a:r>
                <a:rPr lang="es-PE" sz="1400" dirty="0">
                  <a:solidFill>
                    <a:srgbClr val="000000"/>
                  </a:solidFill>
                  <a:latin typeface="Tahoma" pitchFamily="34" charset="0"/>
                  <a:cs typeface="Lucida Sans Unicode"/>
                </a:rPr>
                <a:t>mas preciado a uno de </a:t>
              </a:r>
              <a:r>
                <a:rPr lang="es-PE" sz="1400" dirty="0" smtClean="0">
                  <a:solidFill>
                    <a:srgbClr val="000000"/>
                  </a:solidFill>
                  <a:latin typeface="Tahoma" pitchFamily="34" charset="0"/>
                  <a:cs typeface="Lucida Sans Unicode"/>
                </a:rPr>
                <a:t>energía </a:t>
              </a:r>
              <a:r>
                <a:rPr lang="es-PE" sz="1400" dirty="0">
                  <a:solidFill>
                    <a:srgbClr val="000000"/>
                  </a:solidFill>
                  <a:latin typeface="Tahoma" pitchFamily="34" charset="0"/>
                  <a:cs typeface="Lucida Sans Unicode"/>
                </a:rPr>
                <a:t>menos preciado</a:t>
              </a:r>
              <a:endParaRPr lang="es-MX" sz="1400" dirty="0">
                <a:solidFill>
                  <a:srgbClr val="000000"/>
                </a:solidFill>
                <a:latin typeface="Tahoma" pitchFamily="34" charset="0"/>
                <a:cs typeface="Lucida Sans Unicode"/>
              </a:endParaRPr>
            </a:p>
          </p:txBody>
        </p:sp>
      </p:grpSp>
      <p:sp>
        <p:nvSpPr>
          <p:cNvPr id="15" name="Text Box 25"/>
          <p:cNvSpPr txBox="1">
            <a:spLocks noChangeArrowheads="1"/>
          </p:cNvSpPr>
          <p:nvPr/>
        </p:nvSpPr>
        <p:spPr bwMode="auto">
          <a:xfrm>
            <a:off x="1295400" y="5556916"/>
            <a:ext cx="6781800" cy="1017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0" fontAlgn="base" hangingPunct="0">
              <a:spcBef>
                <a:spcPts val="1875"/>
              </a:spcBef>
              <a:spcAft>
                <a:spcPct val="0"/>
              </a:spcAft>
              <a:buClr>
                <a:srgbClr val="FFFF00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000" dirty="0">
                <a:solidFill>
                  <a:srgbClr val="0000FF"/>
                </a:solidFill>
                <a:latin typeface="Tahoma" pitchFamily="34" charset="0"/>
                <a:cs typeface="Lucida Sans Unicode"/>
              </a:rPr>
              <a:t>No sólo no puede ganar (1a ley); </a:t>
            </a:r>
            <a:r>
              <a:rPr lang="es-MX" sz="3000" dirty="0" smtClean="0">
                <a:solidFill>
                  <a:srgbClr val="0000FF"/>
                </a:solidFill>
                <a:latin typeface="Tahoma" pitchFamily="34" charset="0"/>
                <a:cs typeface="Lucida Sans Unicode"/>
              </a:rPr>
              <a:t>¡ ni </a:t>
            </a:r>
            <a:r>
              <a:rPr lang="es-MX" sz="3000" dirty="0">
                <a:solidFill>
                  <a:srgbClr val="0000FF"/>
                </a:solidFill>
                <a:latin typeface="Tahoma" pitchFamily="34" charset="0"/>
                <a:cs typeface="Lucida Sans Unicode"/>
              </a:rPr>
              <a:t>siquiera puede </a:t>
            </a:r>
            <a:r>
              <a:rPr lang="es-MX" sz="3000" dirty="0" smtClean="0">
                <a:solidFill>
                  <a:srgbClr val="0000FF"/>
                </a:solidFill>
                <a:latin typeface="Tahoma" pitchFamily="34" charset="0"/>
                <a:cs typeface="Lucida Sans Unicode"/>
              </a:rPr>
              <a:t>igualar </a:t>
            </a:r>
            <a:r>
              <a:rPr lang="es-MX" sz="3000" dirty="0">
                <a:solidFill>
                  <a:srgbClr val="0000FF"/>
                </a:solidFill>
                <a:latin typeface="Tahoma" pitchFamily="34" charset="0"/>
                <a:cs typeface="Lucida Sans Unicode"/>
              </a:rPr>
              <a:t>(2a ley)! </a:t>
            </a:r>
          </a:p>
        </p:txBody>
      </p:sp>
      <p:grpSp>
        <p:nvGrpSpPr>
          <p:cNvPr id="16" name="Group 56"/>
          <p:cNvGrpSpPr>
            <a:grpSpLocks/>
          </p:cNvGrpSpPr>
          <p:nvPr/>
        </p:nvGrpSpPr>
        <p:grpSpPr bwMode="auto">
          <a:xfrm>
            <a:off x="556788" y="1828800"/>
            <a:ext cx="2838955" cy="3519488"/>
            <a:chOff x="350" y="1152"/>
            <a:chExt cx="1676" cy="2217"/>
          </a:xfrm>
        </p:grpSpPr>
        <p:sp>
          <p:nvSpPr>
            <p:cNvPr id="17" name="AutoShape 44"/>
            <p:cNvSpPr>
              <a:spLocks noChangeArrowheads="1"/>
            </p:cNvSpPr>
            <p:nvPr/>
          </p:nvSpPr>
          <p:spPr bwMode="auto">
            <a:xfrm>
              <a:off x="1504" y="1727"/>
              <a:ext cx="522" cy="409"/>
            </a:xfrm>
            <a:prstGeom prst="roundRect">
              <a:avLst>
                <a:gd name="adj" fmla="val 245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eaLnBrk="0" fontAlgn="base" hangingPunct="0">
                <a:spcBef>
                  <a:spcPts val="2250"/>
                </a:spcBef>
                <a:spcAft>
                  <a:spcPct val="0"/>
                </a:spcAft>
              </a:pPr>
              <a:r>
                <a:rPr lang="el-GR" sz="3600" dirty="0" smtClean="0">
                  <a:solidFill>
                    <a:srgbClr val="FFFF00"/>
                  </a:solidFill>
                  <a:latin typeface="Tahoma" pitchFamily="34" charset="0"/>
                  <a:cs typeface="Lucida Sans Unicode"/>
                </a:rPr>
                <a:t>Δ</a:t>
              </a:r>
              <a:r>
                <a:rPr lang="es-MX" sz="3600" dirty="0" smtClean="0">
                  <a:solidFill>
                    <a:srgbClr val="FFFF00"/>
                  </a:solidFill>
                  <a:latin typeface="Tahoma" pitchFamily="34" charset="0"/>
                  <a:cs typeface="Lucida Sans Unicode"/>
                </a:rPr>
                <a:t>W</a:t>
              </a:r>
              <a:endParaRPr lang="es-MX" sz="2400" dirty="0">
                <a:solidFill>
                  <a:srgbClr val="FFFFFF"/>
                </a:solidFill>
                <a:latin typeface="Times New Roman" pitchFamily="18" charset="0"/>
                <a:cs typeface="Lucida Sans Unicode"/>
              </a:endParaRPr>
            </a:p>
          </p:txBody>
        </p:sp>
        <p:grpSp>
          <p:nvGrpSpPr>
            <p:cNvPr id="18" name="Group 28"/>
            <p:cNvGrpSpPr>
              <a:grpSpLocks/>
            </p:cNvGrpSpPr>
            <p:nvPr/>
          </p:nvGrpSpPr>
          <p:grpSpPr bwMode="auto">
            <a:xfrm>
              <a:off x="384" y="2976"/>
              <a:ext cx="1561" cy="393"/>
              <a:chOff x="514" y="3132"/>
              <a:chExt cx="1543" cy="419"/>
            </a:xfrm>
          </p:grpSpPr>
          <p:pic>
            <p:nvPicPr>
              <p:cNvPr id="32" name="Picture 29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514" y="3132"/>
                <a:ext cx="1544" cy="420"/>
              </a:xfrm>
              <a:prstGeom prst="rect">
                <a:avLst/>
              </a:prstGeom>
              <a:noFill/>
            </p:spPr>
          </p:pic>
          <p:sp>
            <p:nvSpPr>
              <p:cNvPr id="33" name="AutoShape 30"/>
              <p:cNvSpPr>
                <a:spLocks noChangeArrowheads="1"/>
              </p:cNvSpPr>
              <p:nvPr/>
            </p:nvSpPr>
            <p:spPr bwMode="auto">
              <a:xfrm>
                <a:off x="514" y="3229"/>
                <a:ext cx="1448" cy="323"/>
              </a:xfrm>
              <a:prstGeom prst="roundRect">
                <a:avLst>
                  <a:gd name="adj" fmla="val 310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algn="ctr" eaLnBrk="0" fontAlgn="base" hangingPunct="0">
                  <a:spcBef>
                    <a:spcPts val="750"/>
                  </a:spcBef>
                  <a:spcAft>
                    <a:spcPct val="0"/>
                  </a:spcAft>
                  <a:buClr>
                    <a:srgbClr val="FFFFFF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2200" dirty="0" err="1">
                    <a:solidFill>
                      <a:srgbClr val="FFFFFF"/>
                    </a:solidFill>
                    <a:latin typeface="Tahoma" pitchFamily="34" charset="0"/>
                    <a:cs typeface="Lucida Sans Unicode"/>
                  </a:rPr>
                  <a:t>Dep</a:t>
                </a:r>
                <a:r>
                  <a:rPr lang="es-MX" sz="2200" dirty="0">
                    <a:solidFill>
                      <a:srgbClr val="FFFFFF"/>
                    </a:solidFill>
                    <a:latin typeface="Tahoma" pitchFamily="34" charset="0"/>
                    <a:cs typeface="Lucida Sans Unicode"/>
                  </a:rPr>
                  <a:t>. frío </a:t>
                </a:r>
                <a:r>
                  <a:rPr lang="es-MX" sz="2200" dirty="0" smtClean="0">
                    <a:solidFill>
                      <a:srgbClr val="FFFFFF"/>
                    </a:solidFill>
                    <a:latin typeface="Tahoma" pitchFamily="34" charset="0"/>
                    <a:cs typeface="Lucida Sans Unicode"/>
                  </a:rPr>
                  <a:t>T</a:t>
                </a:r>
                <a:r>
                  <a:rPr lang="es-MX" sz="2200" baseline="-25000" dirty="0" smtClean="0">
                    <a:solidFill>
                      <a:srgbClr val="FFFFFF"/>
                    </a:solidFill>
                    <a:latin typeface="Tahoma" pitchFamily="34" charset="0"/>
                    <a:cs typeface="Lucida Sans Unicode"/>
                  </a:rPr>
                  <a:t>1</a:t>
                </a:r>
                <a:endParaRPr lang="es-MX" sz="2200" baseline="-25000" dirty="0">
                  <a:solidFill>
                    <a:srgbClr val="FFFFFF"/>
                  </a:solidFill>
                  <a:latin typeface="Tahoma" pitchFamily="34" charset="0"/>
                  <a:cs typeface="Lucida Sans Unicode"/>
                </a:endParaRPr>
              </a:p>
            </p:txBody>
          </p:sp>
        </p:grpSp>
        <p:pic>
          <p:nvPicPr>
            <p:cNvPr id="19" name="Picture 3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941" y="2457"/>
              <a:ext cx="304" cy="611"/>
            </a:xfrm>
            <a:prstGeom prst="rect">
              <a:avLst/>
            </a:prstGeom>
            <a:noFill/>
          </p:spPr>
        </p:pic>
        <p:pic>
          <p:nvPicPr>
            <p:cNvPr id="20" name="Picture 3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41" y="1896"/>
              <a:ext cx="864" cy="696"/>
            </a:xfrm>
            <a:prstGeom prst="rect">
              <a:avLst/>
            </a:prstGeom>
            <a:noFill/>
          </p:spPr>
        </p:pic>
        <p:sp>
          <p:nvSpPr>
            <p:cNvPr id="21" name="AutoShape 33"/>
            <p:cNvSpPr>
              <a:spLocks noChangeArrowheads="1"/>
            </p:cNvSpPr>
            <p:nvPr/>
          </p:nvSpPr>
          <p:spPr bwMode="auto">
            <a:xfrm>
              <a:off x="528" y="2077"/>
              <a:ext cx="960" cy="426"/>
            </a:xfrm>
            <a:prstGeom prst="roundRect">
              <a:avLst>
                <a:gd name="adj" fmla="val 218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 algn="ctr" eaLnBrk="0" fontAlgn="base" hangingPunct="0">
                <a:spcBef>
                  <a:spcPts val="750"/>
                </a:spcBef>
                <a:spcAft>
                  <a:spcPct val="0"/>
                </a:spcAft>
                <a:buClr>
                  <a:srgbClr val="006666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400">
                  <a:solidFill>
                    <a:srgbClr val="FFFFFF"/>
                  </a:solidFill>
                  <a:latin typeface="Tahoma" pitchFamily="34" charset="0"/>
                  <a:cs typeface="Lucida Sans Unicode"/>
                </a:rPr>
                <a:t>Máquina</a:t>
              </a:r>
            </a:p>
          </p:txBody>
        </p:sp>
        <p:pic>
          <p:nvPicPr>
            <p:cNvPr id="22" name="Picture 34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942" y="1433"/>
              <a:ext cx="303" cy="567"/>
            </a:xfrm>
            <a:prstGeom prst="rect">
              <a:avLst/>
            </a:prstGeom>
            <a:noFill/>
          </p:spPr>
        </p:pic>
        <p:pic>
          <p:nvPicPr>
            <p:cNvPr id="23" name="Picture 3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392" y="2112"/>
              <a:ext cx="453" cy="265"/>
            </a:xfrm>
            <a:prstGeom prst="rect">
              <a:avLst/>
            </a:prstGeom>
            <a:noFill/>
          </p:spPr>
        </p:pic>
        <p:grpSp>
          <p:nvGrpSpPr>
            <p:cNvPr id="24" name="Group 36"/>
            <p:cNvGrpSpPr>
              <a:grpSpLocks/>
            </p:cNvGrpSpPr>
            <p:nvPr/>
          </p:nvGrpSpPr>
          <p:grpSpPr bwMode="auto">
            <a:xfrm>
              <a:off x="515" y="1152"/>
              <a:ext cx="1453" cy="393"/>
              <a:chOff x="605" y="1152"/>
              <a:chExt cx="1543" cy="419"/>
            </a:xfrm>
          </p:grpSpPr>
          <p:pic>
            <p:nvPicPr>
              <p:cNvPr id="30" name="Picture 37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605" y="1152"/>
                <a:ext cx="1544" cy="420"/>
              </a:xfrm>
              <a:prstGeom prst="rect">
                <a:avLst/>
              </a:prstGeom>
              <a:noFill/>
            </p:spPr>
          </p:pic>
          <p:sp>
            <p:nvSpPr>
              <p:cNvPr id="31" name="AutoShape 38"/>
              <p:cNvSpPr>
                <a:spLocks noChangeArrowheads="1"/>
              </p:cNvSpPr>
              <p:nvPr/>
            </p:nvSpPr>
            <p:spPr bwMode="auto">
              <a:xfrm>
                <a:off x="605" y="1250"/>
                <a:ext cx="1448" cy="322"/>
              </a:xfrm>
              <a:prstGeom prst="roundRect">
                <a:avLst>
                  <a:gd name="adj" fmla="val 310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algn="ctr" eaLnBrk="0" fontAlgn="base" hangingPunct="0">
                  <a:spcBef>
                    <a:spcPts val="750"/>
                  </a:spcBef>
                  <a:spcAft>
                    <a:spcPct val="0"/>
                  </a:spcAft>
                  <a:buClr>
                    <a:srgbClr val="FFFFFF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2200" dirty="0" err="1">
                    <a:solidFill>
                      <a:srgbClr val="FFFFFF"/>
                    </a:solidFill>
                    <a:latin typeface="Tahoma" pitchFamily="34" charset="0"/>
                    <a:cs typeface="Lucida Sans Unicode"/>
                  </a:rPr>
                  <a:t>Dep</a:t>
                </a:r>
                <a:r>
                  <a:rPr lang="es-MX" sz="2200" dirty="0">
                    <a:solidFill>
                      <a:srgbClr val="FFFFFF"/>
                    </a:solidFill>
                    <a:latin typeface="Tahoma" pitchFamily="34" charset="0"/>
                    <a:cs typeface="Lucida Sans Unicode"/>
                  </a:rPr>
                  <a:t>. caliente </a:t>
                </a:r>
                <a:r>
                  <a:rPr lang="es-MX" sz="2200" dirty="0" smtClean="0">
                    <a:solidFill>
                      <a:srgbClr val="FFFFFF"/>
                    </a:solidFill>
                    <a:latin typeface="Tahoma" pitchFamily="34" charset="0"/>
                    <a:cs typeface="Lucida Sans Unicode"/>
                  </a:rPr>
                  <a:t>T</a:t>
                </a:r>
                <a:r>
                  <a:rPr lang="es-MX" sz="2200" baseline="-25000" dirty="0">
                    <a:solidFill>
                      <a:srgbClr val="FFFFFF"/>
                    </a:solidFill>
                    <a:latin typeface="Tahoma" pitchFamily="34" charset="0"/>
                    <a:cs typeface="Lucida Sans Unicode"/>
                  </a:rPr>
                  <a:t>2</a:t>
                </a:r>
              </a:p>
            </p:txBody>
          </p:sp>
        </p:grpSp>
        <p:sp>
          <p:nvSpPr>
            <p:cNvPr id="26" name="AutoShape 41"/>
            <p:cNvSpPr>
              <a:spLocks noChangeArrowheads="1"/>
            </p:cNvSpPr>
            <p:nvPr/>
          </p:nvSpPr>
          <p:spPr bwMode="auto">
            <a:xfrm>
              <a:off x="350" y="1583"/>
              <a:ext cx="568" cy="409"/>
            </a:xfrm>
            <a:prstGeom prst="roundRect">
              <a:avLst>
                <a:gd name="adj" fmla="val 245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eaLnBrk="0" fontAlgn="base" hangingPunct="0">
                <a:spcBef>
                  <a:spcPts val="2250"/>
                </a:spcBef>
                <a:spcAft>
                  <a:spcPct val="0"/>
                </a:spcAft>
              </a:pPr>
              <a:r>
                <a:rPr lang="el-GR" sz="3600" dirty="0" smtClean="0">
                  <a:solidFill>
                    <a:srgbClr val="FFFF00"/>
                  </a:solidFill>
                  <a:latin typeface="Tahoma" pitchFamily="34" charset="0"/>
                  <a:cs typeface="Lucida Sans Unicode"/>
                </a:rPr>
                <a:t>Δ</a:t>
              </a:r>
              <a:r>
                <a:rPr lang="es-MX" sz="3600" dirty="0" smtClean="0">
                  <a:solidFill>
                    <a:srgbClr val="FFFF00"/>
                  </a:solidFill>
                  <a:latin typeface="Tahoma" pitchFamily="34" charset="0"/>
                  <a:cs typeface="Lucida Sans Unicode"/>
                </a:rPr>
                <a:t>Q</a:t>
              </a:r>
              <a:r>
                <a:rPr lang="es-MX" sz="3600" baseline="-25000" dirty="0" smtClean="0">
                  <a:solidFill>
                    <a:srgbClr val="FFFF00"/>
                  </a:solidFill>
                  <a:latin typeface="Tahoma" pitchFamily="34" charset="0"/>
                  <a:cs typeface="Lucida Sans Unicode"/>
                </a:rPr>
                <a:t>2</a:t>
              </a:r>
              <a:endParaRPr lang="es-MX" sz="2400" dirty="0">
                <a:solidFill>
                  <a:srgbClr val="FFFFFF"/>
                </a:solidFill>
                <a:latin typeface="Times New Roman" pitchFamily="18" charset="0"/>
                <a:cs typeface="Lucida Sans Unicode"/>
              </a:endParaRPr>
            </a:p>
          </p:txBody>
        </p:sp>
        <p:sp>
          <p:nvSpPr>
            <p:cNvPr id="27" name="Freeform 46"/>
            <p:cNvSpPr>
              <a:spLocks noChangeArrowheads="1"/>
            </p:cNvSpPr>
            <p:nvPr/>
          </p:nvSpPr>
          <p:spPr bwMode="auto">
            <a:xfrm>
              <a:off x="960" y="2592"/>
              <a:ext cx="159" cy="317"/>
            </a:xfrm>
            <a:custGeom>
              <a:avLst/>
              <a:gdLst/>
              <a:ahLst/>
              <a:cxnLst>
                <a:cxn ang="0">
                  <a:pos x="211" y="0"/>
                </a:cxn>
                <a:cxn ang="0">
                  <a:pos x="211" y="1112"/>
                </a:cxn>
                <a:cxn ang="0">
                  <a:pos x="0" y="1112"/>
                </a:cxn>
                <a:cxn ang="0">
                  <a:pos x="423" y="1483"/>
                </a:cxn>
                <a:cxn ang="0">
                  <a:pos x="847" y="1112"/>
                </a:cxn>
                <a:cxn ang="0">
                  <a:pos x="635" y="1112"/>
                </a:cxn>
                <a:cxn ang="0">
                  <a:pos x="635" y="0"/>
                </a:cxn>
                <a:cxn ang="0">
                  <a:pos x="211" y="0"/>
                </a:cxn>
              </a:cxnLst>
              <a:rect l="0" t="0" r="r" b="b"/>
              <a:pathLst>
                <a:path w="848" h="1484">
                  <a:moveTo>
                    <a:pt x="211" y="0"/>
                  </a:moveTo>
                  <a:lnTo>
                    <a:pt x="211" y="1112"/>
                  </a:lnTo>
                  <a:lnTo>
                    <a:pt x="0" y="1112"/>
                  </a:lnTo>
                  <a:lnTo>
                    <a:pt x="423" y="1483"/>
                  </a:lnTo>
                  <a:lnTo>
                    <a:pt x="847" y="1112"/>
                  </a:lnTo>
                  <a:lnTo>
                    <a:pt x="635" y="1112"/>
                  </a:lnTo>
                  <a:lnTo>
                    <a:pt x="635" y="0"/>
                  </a:lnTo>
                  <a:lnTo>
                    <a:pt x="211" y="0"/>
                  </a:lnTo>
                </a:path>
              </a:pathLst>
            </a:custGeom>
            <a:solidFill>
              <a:srgbClr val="99FF33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s-ES" sz="2800">
                <a:solidFill>
                  <a:srgbClr val="FFFFFF"/>
                </a:solidFill>
                <a:latin typeface="Tahoma" pitchFamily="34" charset="0"/>
                <a:cs typeface="Lucida Sans Unicode"/>
              </a:endParaRPr>
            </a:p>
          </p:txBody>
        </p:sp>
        <p:sp>
          <p:nvSpPr>
            <p:cNvPr id="28" name="AutoShape 47"/>
            <p:cNvSpPr>
              <a:spLocks noChangeArrowheads="1"/>
            </p:cNvSpPr>
            <p:nvPr/>
          </p:nvSpPr>
          <p:spPr bwMode="auto">
            <a:xfrm>
              <a:off x="382" y="2543"/>
              <a:ext cx="568" cy="409"/>
            </a:xfrm>
            <a:prstGeom prst="roundRect">
              <a:avLst>
                <a:gd name="adj" fmla="val 245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eaLnBrk="0" fontAlgn="base" hangingPunct="0">
                <a:spcBef>
                  <a:spcPts val="2250"/>
                </a:spcBef>
                <a:spcAft>
                  <a:spcPct val="0"/>
                </a:spcAft>
              </a:pPr>
              <a:r>
                <a:rPr lang="el-GR" sz="3600" dirty="0" smtClean="0">
                  <a:solidFill>
                    <a:srgbClr val="FFFF00"/>
                  </a:solidFill>
                  <a:latin typeface="Tahoma" pitchFamily="34" charset="0"/>
                  <a:cs typeface="Lucida Sans Unicode"/>
                </a:rPr>
                <a:t>Δ</a:t>
              </a:r>
              <a:r>
                <a:rPr lang="es-MX" sz="3600" dirty="0" smtClean="0">
                  <a:solidFill>
                    <a:srgbClr val="FFFF00"/>
                  </a:solidFill>
                  <a:latin typeface="Tahoma" pitchFamily="34" charset="0"/>
                  <a:cs typeface="Lucida Sans Unicode"/>
                </a:rPr>
                <a:t>Q</a:t>
              </a:r>
              <a:r>
                <a:rPr lang="es-MX" sz="3600" baseline="-25000" dirty="0" smtClean="0">
                  <a:solidFill>
                    <a:srgbClr val="FFFF00"/>
                  </a:solidFill>
                  <a:latin typeface="Tahoma" pitchFamily="34" charset="0"/>
                  <a:cs typeface="Lucida Sans Unicode"/>
                </a:rPr>
                <a:t>1</a:t>
              </a:r>
              <a:endParaRPr lang="es-MX" sz="2400" dirty="0">
                <a:solidFill>
                  <a:srgbClr val="FFFFFF"/>
                </a:solidFill>
                <a:latin typeface="Times New Roman" pitchFamily="18" charset="0"/>
                <a:cs typeface="Lucida Sans Unicode"/>
              </a:endParaRPr>
            </a:p>
          </p:txBody>
        </p:sp>
        <p:sp>
          <p:nvSpPr>
            <p:cNvPr id="29" name="Freeform 55"/>
            <p:cNvSpPr>
              <a:spLocks noChangeArrowheads="1"/>
            </p:cNvSpPr>
            <p:nvPr/>
          </p:nvSpPr>
          <p:spPr bwMode="auto">
            <a:xfrm rot="16200000" flipH="1">
              <a:off x="1499" y="2101"/>
              <a:ext cx="198" cy="316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264" y="1112"/>
                </a:cxn>
                <a:cxn ang="0">
                  <a:pos x="0" y="1112"/>
                </a:cxn>
                <a:cxn ang="0">
                  <a:pos x="529" y="1483"/>
                </a:cxn>
                <a:cxn ang="0">
                  <a:pos x="1059" y="1112"/>
                </a:cxn>
                <a:cxn ang="0">
                  <a:pos x="794" y="1112"/>
                </a:cxn>
                <a:cxn ang="0">
                  <a:pos x="794" y="0"/>
                </a:cxn>
                <a:cxn ang="0">
                  <a:pos x="264" y="0"/>
                </a:cxn>
              </a:cxnLst>
              <a:rect l="0" t="0" r="r" b="b"/>
              <a:pathLst>
                <a:path w="1060" h="1484">
                  <a:moveTo>
                    <a:pt x="264" y="0"/>
                  </a:moveTo>
                  <a:lnTo>
                    <a:pt x="264" y="1112"/>
                  </a:lnTo>
                  <a:lnTo>
                    <a:pt x="0" y="1112"/>
                  </a:lnTo>
                  <a:lnTo>
                    <a:pt x="529" y="1483"/>
                  </a:lnTo>
                  <a:lnTo>
                    <a:pt x="1059" y="1112"/>
                  </a:lnTo>
                  <a:lnTo>
                    <a:pt x="794" y="1112"/>
                  </a:lnTo>
                  <a:lnTo>
                    <a:pt x="794" y="0"/>
                  </a:lnTo>
                  <a:lnTo>
                    <a:pt x="264" y="0"/>
                  </a:lnTo>
                </a:path>
              </a:pathLst>
            </a:custGeom>
            <a:solidFill>
              <a:srgbClr val="99FF33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s-ES" sz="2800">
                <a:solidFill>
                  <a:srgbClr val="FFFFFF"/>
                </a:solidFill>
                <a:latin typeface="Tahoma" pitchFamily="34" charset="0"/>
                <a:cs typeface="Lucida Sans Unicode"/>
              </a:endParaRPr>
            </a:p>
          </p:txBody>
        </p:sp>
      </p:grpSp>
      <p:sp>
        <p:nvSpPr>
          <p:cNvPr id="34" name="Freeform 57"/>
          <p:cNvSpPr>
            <a:spLocks noChangeArrowheads="1"/>
          </p:cNvSpPr>
          <p:nvPr/>
        </p:nvSpPr>
        <p:spPr bwMode="auto">
          <a:xfrm>
            <a:off x="1568450" y="2759075"/>
            <a:ext cx="314325" cy="501650"/>
          </a:xfrm>
          <a:custGeom>
            <a:avLst/>
            <a:gdLst/>
            <a:ahLst/>
            <a:cxnLst>
              <a:cxn ang="0">
                <a:pos x="264" y="0"/>
              </a:cxn>
              <a:cxn ang="0">
                <a:pos x="264" y="1112"/>
              </a:cxn>
              <a:cxn ang="0">
                <a:pos x="0" y="1112"/>
              </a:cxn>
              <a:cxn ang="0">
                <a:pos x="529" y="1483"/>
              </a:cxn>
              <a:cxn ang="0">
                <a:pos x="1059" y="1112"/>
              </a:cxn>
              <a:cxn ang="0">
                <a:pos x="794" y="1112"/>
              </a:cxn>
              <a:cxn ang="0">
                <a:pos x="794" y="0"/>
              </a:cxn>
              <a:cxn ang="0">
                <a:pos x="264" y="0"/>
              </a:cxn>
            </a:cxnLst>
            <a:rect l="0" t="0" r="r" b="b"/>
            <a:pathLst>
              <a:path w="1060" h="1484">
                <a:moveTo>
                  <a:pt x="264" y="0"/>
                </a:moveTo>
                <a:lnTo>
                  <a:pt x="264" y="1112"/>
                </a:lnTo>
                <a:lnTo>
                  <a:pt x="0" y="1112"/>
                </a:lnTo>
                <a:lnTo>
                  <a:pt x="529" y="1483"/>
                </a:lnTo>
                <a:lnTo>
                  <a:pt x="1059" y="1112"/>
                </a:lnTo>
                <a:lnTo>
                  <a:pt x="794" y="1112"/>
                </a:lnTo>
                <a:lnTo>
                  <a:pt x="794" y="0"/>
                </a:lnTo>
                <a:lnTo>
                  <a:pt x="264" y="0"/>
                </a:lnTo>
              </a:path>
            </a:pathLst>
          </a:custGeom>
          <a:solidFill>
            <a:srgbClr val="99FF33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s-ES" sz="2800">
              <a:solidFill>
                <a:srgbClr val="FFFFFF"/>
              </a:solidFill>
              <a:latin typeface="Tahoma" pitchFamily="34" charset="0"/>
              <a:cs typeface="Lucida Sans Unicode"/>
            </a:endParaRPr>
          </a:p>
        </p:txBody>
      </p:sp>
      <p:grpSp>
        <p:nvGrpSpPr>
          <p:cNvPr id="35" name="Group 58"/>
          <p:cNvGrpSpPr>
            <a:grpSpLocks/>
          </p:cNvGrpSpPr>
          <p:nvPr/>
        </p:nvGrpSpPr>
        <p:grpSpPr bwMode="auto">
          <a:xfrm>
            <a:off x="457200" y="4114800"/>
            <a:ext cx="1600200" cy="609600"/>
            <a:chOff x="288" y="2592"/>
            <a:chExt cx="1008" cy="384"/>
          </a:xfrm>
        </p:grpSpPr>
        <p:sp>
          <p:nvSpPr>
            <p:cNvPr id="36" name="Line 59"/>
            <p:cNvSpPr>
              <a:spLocks noChangeShapeType="1"/>
            </p:cNvSpPr>
            <p:nvPr/>
          </p:nvSpPr>
          <p:spPr bwMode="auto">
            <a:xfrm flipH="1">
              <a:off x="288" y="2592"/>
              <a:ext cx="1008" cy="336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s-ES" sz="2800">
                <a:solidFill>
                  <a:srgbClr val="FFFFFF"/>
                </a:solidFill>
                <a:latin typeface="Tahoma" pitchFamily="34" charset="0"/>
                <a:cs typeface="Lucida Sans Unicode"/>
              </a:endParaRPr>
            </a:p>
          </p:txBody>
        </p:sp>
        <p:sp>
          <p:nvSpPr>
            <p:cNvPr id="37" name="Line 60"/>
            <p:cNvSpPr>
              <a:spLocks noChangeShapeType="1"/>
            </p:cNvSpPr>
            <p:nvPr/>
          </p:nvSpPr>
          <p:spPr bwMode="auto">
            <a:xfrm flipH="1" flipV="1">
              <a:off x="288" y="2640"/>
              <a:ext cx="1008" cy="336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s-ES" sz="2800">
                <a:solidFill>
                  <a:srgbClr val="FFFFFF"/>
                </a:solidFill>
                <a:latin typeface="Tahoma" pitchFamily="34" charset="0"/>
                <a:cs typeface="Lucida Sans Unicod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82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utoUpdateAnimBg="0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14" name="Rectángulo redondeado 13"/>
          <p:cNvSpPr/>
          <p:nvPr/>
        </p:nvSpPr>
        <p:spPr>
          <a:xfrm>
            <a:off x="1637806" y="720099"/>
            <a:ext cx="5835474" cy="57140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PROCESOS REVERSIBLES E IRREVERSIBLES</a:t>
            </a:r>
            <a:endParaRPr lang="es-PE" sz="2400" dirty="0">
              <a:solidFill>
                <a:schemeClr val="tx1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632520" y="1772816"/>
            <a:ext cx="87129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/>
              <a:t>En un proceso reversible el sistema se somete al </a:t>
            </a:r>
            <a:r>
              <a:rPr lang="es-PE" dirty="0" smtClean="0"/>
              <a:t>proceso que </a:t>
            </a:r>
            <a:r>
              <a:rPr lang="es-PE" dirty="0"/>
              <a:t>puede regresar a sus condiciones iniciales a lo largo de la misma trayectoria sobre </a:t>
            </a:r>
            <a:r>
              <a:rPr lang="es-PE" dirty="0" smtClean="0"/>
              <a:t>un diagrama </a:t>
            </a:r>
            <a:r>
              <a:rPr lang="es-PE" dirty="0"/>
              <a:t>PV, y cada punto a lo largo de dicha trayectoria está en estado de equilibrio. </a:t>
            </a:r>
            <a:r>
              <a:rPr lang="es-PE" dirty="0" smtClean="0"/>
              <a:t>Un proceso </a:t>
            </a:r>
            <a:r>
              <a:rPr lang="es-PE" dirty="0"/>
              <a:t>que no satisface estos requisitos es </a:t>
            </a:r>
            <a:r>
              <a:rPr lang="es-PE" dirty="0" smtClean="0"/>
              <a:t>irreversible. Todos </a:t>
            </a:r>
            <a:r>
              <a:rPr lang="es-PE" dirty="0"/>
              <a:t>los procesos naturales son irreversibles. Si el gas regresa a su volumen y temperatura originales sin cambiar los </a:t>
            </a:r>
            <a:r>
              <a:rPr lang="es-PE" dirty="0" smtClean="0"/>
              <a:t>alrededores, el </a:t>
            </a:r>
            <a:r>
              <a:rPr lang="es-PE" dirty="0"/>
              <a:t>proceso es reversible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8" y="3610660"/>
            <a:ext cx="1943663" cy="202188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416496" y="5671279"/>
            <a:ext cx="30243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sz="1200" dirty="0"/>
              <a:t>Un gas en </a:t>
            </a:r>
            <a:r>
              <a:rPr lang="es-PE" sz="1200" dirty="0" smtClean="0"/>
              <a:t>contacto térmico </a:t>
            </a:r>
            <a:r>
              <a:rPr lang="es-PE" sz="1200" dirty="0"/>
              <a:t>con un depósito </a:t>
            </a:r>
            <a:r>
              <a:rPr lang="es-PE" sz="1200" dirty="0" smtClean="0"/>
              <a:t>de energía </a:t>
            </a:r>
            <a:r>
              <a:rPr lang="es-PE" sz="1200" dirty="0"/>
              <a:t>se comprime </a:t>
            </a:r>
            <a:r>
              <a:rPr lang="es-PE" sz="1200" dirty="0" smtClean="0"/>
              <a:t>lentamente conforme </a:t>
            </a:r>
            <a:r>
              <a:rPr lang="es-PE" sz="1200" dirty="0"/>
              <a:t>granos </a:t>
            </a:r>
            <a:r>
              <a:rPr lang="es-PE" sz="1200" dirty="0" smtClean="0"/>
              <a:t>individuales de </a:t>
            </a:r>
            <a:r>
              <a:rPr lang="es-PE" sz="1200" dirty="0"/>
              <a:t>arena caen sobre el </a:t>
            </a:r>
            <a:r>
              <a:rPr lang="es-PE" sz="1200" dirty="0" smtClean="0"/>
              <a:t>pistón. La </a:t>
            </a:r>
            <a:r>
              <a:rPr lang="es-PE" sz="1200" dirty="0"/>
              <a:t>compresión es isotérmica </a:t>
            </a:r>
            <a:r>
              <a:rPr lang="es-PE" sz="1200" dirty="0" smtClean="0"/>
              <a:t>y reversible</a:t>
            </a:r>
            <a:r>
              <a:rPr lang="es-PE" sz="1200" dirty="0"/>
              <a:t>.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920" y="3650098"/>
            <a:ext cx="489585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3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14" name="Rectángulo redondeado 13"/>
          <p:cNvSpPr/>
          <p:nvPr/>
        </p:nvSpPr>
        <p:spPr>
          <a:xfrm>
            <a:off x="1637806" y="720099"/>
            <a:ext cx="3747242" cy="57140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EL CICLO DE CARNOT</a:t>
            </a:r>
            <a:endParaRPr lang="es-PE" sz="2400" dirty="0">
              <a:solidFill>
                <a:schemeClr val="tx1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8" y="3947577"/>
            <a:ext cx="4608512" cy="2731492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69491" y="5368540"/>
            <a:ext cx="37256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sz="1600" dirty="0"/>
              <a:t>Ninguna máquina térmica que funcione entre dos depósitos de energía </a:t>
            </a:r>
            <a:r>
              <a:rPr lang="es-PE" sz="1600" dirty="0" smtClean="0"/>
              <a:t>puede ser </a:t>
            </a:r>
            <a:r>
              <a:rPr lang="es-PE" sz="1600" dirty="0"/>
              <a:t>más eficiente que una máquina de Carnot que funcione entre los mismos </a:t>
            </a:r>
            <a:r>
              <a:rPr lang="es-PE" sz="1600" dirty="0" smtClean="0"/>
              <a:t>dos depósitos</a:t>
            </a:r>
            <a:r>
              <a:rPr lang="es-PE" sz="1600" dirty="0"/>
              <a:t>.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491" y="1376936"/>
            <a:ext cx="3563790" cy="3964002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344488" y="1700808"/>
            <a:ext cx="331236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sz="1400" dirty="0">
                <a:latin typeface="NewBaskerville-Roman"/>
              </a:rPr>
              <a:t>En 1824 un ingeniero </a:t>
            </a:r>
            <a:r>
              <a:rPr lang="es-PE" sz="1400" dirty="0" smtClean="0">
                <a:latin typeface="NewBaskerville-Roman"/>
              </a:rPr>
              <a:t>francés </a:t>
            </a:r>
            <a:r>
              <a:rPr lang="es-PE" sz="1400" dirty="0">
                <a:latin typeface="NewBaskerville-Roman"/>
              </a:rPr>
              <a:t>llamado </a:t>
            </a:r>
            <a:r>
              <a:rPr lang="es-PE" sz="1400" dirty="0" err="1">
                <a:latin typeface="NewBaskerville-Roman"/>
              </a:rPr>
              <a:t>Sadi</a:t>
            </a:r>
            <a:r>
              <a:rPr lang="es-PE" sz="1400" dirty="0">
                <a:latin typeface="NewBaskerville-Roman"/>
              </a:rPr>
              <a:t> Carnot </a:t>
            </a:r>
            <a:r>
              <a:rPr lang="es-PE" sz="1400" dirty="0" smtClean="0">
                <a:latin typeface="NewBaskerville-Roman"/>
              </a:rPr>
              <a:t>describió </a:t>
            </a:r>
            <a:r>
              <a:rPr lang="es-PE" sz="1400" dirty="0">
                <a:latin typeface="NewBaskerville-Roman"/>
              </a:rPr>
              <a:t>una maquina </a:t>
            </a:r>
            <a:r>
              <a:rPr lang="es-PE" sz="1400" dirty="0" smtClean="0">
                <a:latin typeface="NewBaskerville-Roman"/>
              </a:rPr>
              <a:t>teórica, ahora llamada </a:t>
            </a:r>
            <a:r>
              <a:rPr lang="es-PE" sz="1400" b="1" dirty="0">
                <a:latin typeface="NewBaskerville-Bold"/>
              </a:rPr>
              <a:t>máquina de Carnot</a:t>
            </a:r>
            <a:r>
              <a:rPr lang="es-PE" sz="1400" dirty="0">
                <a:latin typeface="NewBaskerville-Roman"/>
              </a:rPr>
              <a:t>, que es de gran importancia desde puntos de vista </a:t>
            </a:r>
            <a:r>
              <a:rPr lang="es-PE" sz="1400" dirty="0" smtClean="0">
                <a:latin typeface="NewBaskerville-Roman"/>
              </a:rPr>
              <a:t>prácticos y teóricos. </a:t>
            </a:r>
            <a:r>
              <a:rPr lang="es-PE" sz="1400" dirty="0">
                <a:latin typeface="NewBaskerville-Roman"/>
              </a:rPr>
              <a:t>El </a:t>
            </a:r>
            <a:r>
              <a:rPr lang="es-PE" sz="1400" dirty="0" smtClean="0">
                <a:latin typeface="NewBaskerville-Roman"/>
              </a:rPr>
              <a:t>demostró </a:t>
            </a:r>
            <a:r>
              <a:rPr lang="es-PE" sz="1400" dirty="0">
                <a:latin typeface="NewBaskerville-Roman"/>
              </a:rPr>
              <a:t>que una maquina </a:t>
            </a:r>
            <a:r>
              <a:rPr lang="es-PE" sz="1400" dirty="0" smtClean="0">
                <a:latin typeface="NewBaskerville-Roman"/>
              </a:rPr>
              <a:t>térmica que funciona </a:t>
            </a:r>
            <a:r>
              <a:rPr lang="es-PE" sz="1400" dirty="0">
                <a:latin typeface="NewBaskerville-Roman"/>
              </a:rPr>
              <a:t>en un ciclo reversible ideal</a:t>
            </a:r>
            <a:r>
              <a:rPr lang="es-PE" sz="1400" dirty="0" smtClean="0">
                <a:latin typeface="NewBaskerville-Roman"/>
              </a:rPr>
              <a:t>,  llamado </a:t>
            </a:r>
            <a:r>
              <a:rPr lang="es-PE" sz="1400" b="1" dirty="0">
                <a:latin typeface="NewBaskerville-Bold"/>
              </a:rPr>
              <a:t>ciclo de Carnot</a:t>
            </a:r>
            <a:r>
              <a:rPr lang="es-PE" sz="1400" dirty="0">
                <a:latin typeface="NewBaskerville-Roman"/>
              </a:rPr>
              <a:t>, entre dos </a:t>
            </a:r>
            <a:r>
              <a:rPr lang="es-PE" sz="1400" dirty="0" smtClean="0">
                <a:latin typeface="NewBaskerville-Roman"/>
              </a:rPr>
              <a:t>depósitos </a:t>
            </a:r>
            <a:r>
              <a:rPr lang="es-PE" sz="1400" dirty="0">
                <a:latin typeface="NewBaskerville-Roman"/>
              </a:rPr>
              <a:t>de </a:t>
            </a:r>
            <a:r>
              <a:rPr lang="es-PE" sz="1400" dirty="0" smtClean="0">
                <a:latin typeface="NewBaskerville-Roman"/>
              </a:rPr>
              <a:t>energía </a:t>
            </a:r>
            <a:r>
              <a:rPr lang="es-PE" sz="1400" dirty="0">
                <a:latin typeface="NewBaskerville-Roman"/>
              </a:rPr>
              <a:t>es la maquina mas eficiente posible.</a:t>
            </a:r>
            <a:endParaRPr lang="es-PE" sz="14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279" y="1499144"/>
            <a:ext cx="1581789" cy="2515617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3368824" y="4076723"/>
            <a:ext cx="248140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sz="1000" dirty="0">
                <a:latin typeface="MyriadPro-Cond"/>
              </a:rPr>
              <a:t>Ingeniero francés (</a:t>
            </a:r>
            <a:r>
              <a:rPr lang="es-PE" sz="1000" dirty="0" smtClean="0">
                <a:latin typeface="MyriadPro-Cond"/>
              </a:rPr>
              <a:t>1796–1832) </a:t>
            </a:r>
            <a:r>
              <a:rPr lang="es-PE" sz="1000" dirty="0" smtClean="0">
                <a:latin typeface="MyriadPro-LightCond"/>
              </a:rPr>
              <a:t>Carnot </a:t>
            </a:r>
            <a:r>
              <a:rPr lang="es-PE" sz="1000" dirty="0">
                <a:latin typeface="MyriadPro-LightCond"/>
              </a:rPr>
              <a:t>fue el primero en demostrar </a:t>
            </a:r>
            <a:r>
              <a:rPr lang="es-PE" sz="1000" dirty="0" smtClean="0">
                <a:latin typeface="MyriadPro-LightCond"/>
              </a:rPr>
              <a:t>la relación </a:t>
            </a:r>
            <a:r>
              <a:rPr lang="es-PE" sz="1000" dirty="0">
                <a:latin typeface="MyriadPro-LightCond"/>
              </a:rPr>
              <a:t>cuantitativa entre trabajo y calor.</a:t>
            </a:r>
          </a:p>
          <a:p>
            <a:pPr algn="just"/>
            <a:r>
              <a:rPr lang="es-PE" sz="1000" dirty="0">
                <a:latin typeface="MyriadPro-LightCond"/>
              </a:rPr>
              <a:t>En 1824 publicó su única obra, </a:t>
            </a:r>
            <a:r>
              <a:rPr lang="es-PE" sz="1000" i="1" dirty="0" smtClean="0">
                <a:latin typeface="MyriadPro-LightCondIt"/>
              </a:rPr>
              <a:t>Reflexiones acerca </a:t>
            </a:r>
            <a:r>
              <a:rPr lang="es-PE" sz="1000" i="1" dirty="0">
                <a:latin typeface="MyriadPro-LightCondIt"/>
              </a:rPr>
              <a:t>del poder motriz del calor</a:t>
            </a:r>
            <a:r>
              <a:rPr lang="es-PE" sz="1000" dirty="0">
                <a:latin typeface="MyriadPro-LightCond"/>
              </a:rPr>
              <a:t>, </a:t>
            </a:r>
            <a:r>
              <a:rPr lang="es-PE" sz="1000" dirty="0" smtClean="0">
                <a:latin typeface="MyriadPro-LightCond"/>
              </a:rPr>
              <a:t>que revisaba </a:t>
            </a:r>
            <a:r>
              <a:rPr lang="es-PE" sz="1000" dirty="0">
                <a:latin typeface="MyriadPro-LightCond"/>
              </a:rPr>
              <a:t>la importancia industrial, </a:t>
            </a:r>
            <a:r>
              <a:rPr lang="es-PE" sz="1000" dirty="0" smtClean="0">
                <a:latin typeface="MyriadPro-LightCond"/>
              </a:rPr>
              <a:t>política y </a:t>
            </a:r>
            <a:r>
              <a:rPr lang="es-PE" sz="1000" dirty="0">
                <a:latin typeface="MyriadPro-LightCond"/>
              </a:rPr>
              <a:t>económica de la máquina de </a:t>
            </a:r>
            <a:r>
              <a:rPr lang="es-PE" sz="1000" dirty="0" smtClean="0">
                <a:latin typeface="MyriadPro-LightCond"/>
              </a:rPr>
              <a:t>vapor. En </a:t>
            </a:r>
            <a:r>
              <a:rPr lang="es-PE" sz="1000" dirty="0">
                <a:latin typeface="MyriadPro-LightCond"/>
              </a:rPr>
              <a:t>ella definió el trabajo como “el </a:t>
            </a:r>
            <a:r>
              <a:rPr lang="es-PE" sz="1000" dirty="0" smtClean="0">
                <a:latin typeface="MyriadPro-LightCond"/>
              </a:rPr>
              <a:t>peso levantado </a:t>
            </a:r>
            <a:r>
              <a:rPr lang="es-PE" sz="1000" dirty="0">
                <a:latin typeface="MyriadPro-LightCond"/>
              </a:rPr>
              <a:t>a través de una altura”.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5746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 txBox="1">
            <a:spLocks noChangeArrowheads="1"/>
          </p:cNvSpPr>
          <p:nvPr/>
        </p:nvSpPr>
        <p:spPr>
          <a:xfrm>
            <a:off x="1782810" y="890504"/>
            <a:ext cx="7315200" cy="742950"/>
          </a:xfrm>
          <a:prstGeom prst="rect">
            <a:avLst/>
          </a:prstGeom>
          <a:ln/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kern="1200" cap="all">
                <a:solidFill>
                  <a:srgbClr val="EFA82F"/>
                </a:solidFill>
                <a:latin typeface="Arial"/>
                <a:ea typeface="ＭＳ Ｐゴシック" charset="-128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9pPr>
          </a:lstStyle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800" dirty="0" smtClean="0">
                <a:solidFill>
                  <a:schemeClr val="tx1"/>
                </a:solidFill>
              </a:rPr>
              <a:t>EFICIENCIA DE UNA MÁQUINA</a:t>
            </a:r>
            <a:endParaRPr lang="es-MX" sz="2800" dirty="0">
              <a:solidFill>
                <a:schemeClr val="tx1"/>
              </a:solidFill>
            </a:endParaRPr>
          </a:p>
        </p:txBody>
      </p:sp>
      <p:sp>
        <p:nvSpPr>
          <p:cNvPr id="4" name="Text Box 22"/>
          <p:cNvSpPr txBox="1">
            <a:spLocks noChangeArrowheads="1"/>
          </p:cNvSpPr>
          <p:nvPr/>
        </p:nvSpPr>
        <p:spPr bwMode="auto">
          <a:xfrm>
            <a:off x="4088904" y="1834675"/>
            <a:ext cx="5503863" cy="1941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just">
              <a:spcBef>
                <a:spcPts val="1875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000" dirty="0"/>
              <a:t>La eficiencia de una máquina térmica es la razón del trabajo neto realizado W a la entrada de calor Q</a:t>
            </a:r>
            <a:r>
              <a:rPr lang="es-MX" sz="3000" baseline="-25000" dirty="0"/>
              <a:t>H</a:t>
            </a:r>
            <a:r>
              <a:rPr lang="es-MX" sz="3000" dirty="0"/>
              <a:t>.</a:t>
            </a:r>
          </a:p>
        </p:txBody>
      </p: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4792167" y="5191274"/>
            <a:ext cx="3352800" cy="1301750"/>
            <a:chOff x="2555" y="2828"/>
            <a:chExt cx="2112" cy="820"/>
          </a:xfrm>
        </p:grpSpPr>
        <p:sp>
          <p:nvSpPr>
            <p:cNvPr id="6" name="AutoShape 24"/>
            <p:cNvSpPr>
              <a:spLocks noChangeArrowheads="1"/>
            </p:cNvSpPr>
            <p:nvPr/>
          </p:nvSpPr>
          <p:spPr bwMode="auto">
            <a:xfrm>
              <a:off x="2555" y="2832"/>
              <a:ext cx="2112" cy="816"/>
            </a:xfrm>
            <a:prstGeom prst="roundRect">
              <a:avLst>
                <a:gd name="adj" fmla="val 120"/>
              </a:avLst>
            </a:prstGeom>
            <a:solidFill>
              <a:srgbClr val="00B0F0"/>
            </a:solidFill>
            <a:ln w="50760">
              <a:solidFill>
                <a:srgbClr val="0000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7" name="AutoShape 25"/>
            <p:cNvSpPr>
              <a:spLocks noChangeArrowheads="1"/>
            </p:cNvSpPr>
            <p:nvPr/>
          </p:nvSpPr>
          <p:spPr bwMode="auto">
            <a:xfrm>
              <a:off x="2891" y="3072"/>
              <a:ext cx="935" cy="346"/>
            </a:xfrm>
            <a:prstGeom prst="roundRect">
              <a:avLst>
                <a:gd name="adj" fmla="val 28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>
                  <a:solidFill>
                    <a:srgbClr val="000000"/>
                  </a:solidFill>
                </a:rPr>
                <a:t>e = 1 -</a:t>
              </a:r>
              <a:r>
                <a:rPr lang="es-MX" sz="3000">
                  <a:solidFill>
                    <a:srgbClr val="FFFF00"/>
                  </a:solidFill>
                </a:rPr>
                <a:t> </a:t>
              </a:r>
            </a:p>
          </p:txBody>
        </p:sp>
        <p:sp>
          <p:nvSpPr>
            <p:cNvPr id="8" name="AutoShape 26"/>
            <p:cNvSpPr>
              <a:spLocks noChangeArrowheads="1"/>
            </p:cNvSpPr>
            <p:nvPr/>
          </p:nvSpPr>
          <p:spPr bwMode="auto">
            <a:xfrm>
              <a:off x="3851" y="2828"/>
              <a:ext cx="394" cy="786"/>
            </a:xfrm>
            <a:prstGeom prst="roundRect">
              <a:avLst>
                <a:gd name="adj" fmla="val 250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>
                  <a:solidFill>
                    <a:srgbClr val="000000"/>
                  </a:solidFill>
                </a:rPr>
                <a:t>Q</a:t>
              </a:r>
              <a:r>
                <a:rPr lang="es-MX" sz="3000" baseline="-25000">
                  <a:solidFill>
                    <a:srgbClr val="000000"/>
                  </a:solidFill>
                </a:rPr>
                <a:t>C</a:t>
              </a:r>
            </a:p>
            <a:p>
              <a:pPr>
                <a:spcBef>
                  <a:spcPts val="1875"/>
                </a:spcBef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>
                  <a:solidFill>
                    <a:srgbClr val="000000"/>
                  </a:solidFill>
                </a:rPr>
                <a:t>Q</a:t>
              </a:r>
              <a:r>
                <a:rPr lang="es-MX" sz="3000" baseline="-2500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9" name="Line 27"/>
            <p:cNvSpPr>
              <a:spLocks noChangeShapeType="1"/>
            </p:cNvSpPr>
            <p:nvPr/>
          </p:nvSpPr>
          <p:spPr bwMode="auto">
            <a:xfrm>
              <a:off x="3803" y="3264"/>
              <a:ext cx="432" cy="1"/>
            </a:xfrm>
            <a:prstGeom prst="line">
              <a:avLst/>
            </a:prstGeom>
            <a:noFill/>
            <a:ln w="381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4592110" y="3713314"/>
            <a:ext cx="3559598" cy="1285876"/>
            <a:chOff x="2721" y="1897"/>
            <a:chExt cx="1641" cy="810"/>
          </a:xfrm>
        </p:grpSpPr>
        <p:sp>
          <p:nvSpPr>
            <p:cNvPr id="11" name="AutoShape 29"/>
            <p:cNvSpPr>
              <a:spLocks noChangeArrowheads="1"/>
            </p:cNvSpPr>
            <p:nvPr/>
          </p:nvSpPr>
          <p:spPr bwMode="auto">
            <a:xfrm>
              <a:off x="2721" y="2109"/>
              <a:ext cx="1641" cy="350"/>
            </a:xfrm>
            <a:prstGeom prst="roundRect">
              <a:avLst>
                <a:gd name="adj" fmla="val 28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square"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dirty="0"/>
                <a:t>e </a:t>
              </a:r>
              <a:r>
                <a:rPr lang="es-MX" sz="3000" dirty="0" smtClean="0"/>
                <a:t>=               = </a:t>
              </a:r>
              <a:endParaRPr lang="es-MX" sz="3000" dirty="0"/>
            </a:p>
          </p:txBody>
        </p:sp>
        <p:sp>
          <p:nvSpPr>
            <p:cNvPr id="12" name="AutoShape 30"/>
            <p:cNvSpPr>
              <a:spLocks noChangeArrowheads="1"/>
            </p:cNvSpPr>
            <p:nvPr/>
          </p:nvSpPr>
          <p:spPr bwMode="auto">
            <a:xfrm>
              <a:off x="3036" y="1897"/>
              <a:ext cx="277" cy="795"/>
            </a:xfrm>
            <a:prstGeom prst="roundRect">
              <a:avLst>
                <a:gd name="adj" fmla="val 250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dirty="0"/>
                <a:t>W</a:t>
              </a:r>
            </a:p>
            <a:p>
              <a:pPr>
                <a:spcBef>
                  <a:spcPts val="1875"/>
                </a:spcBef>
                <a:buClr>
                  <a:srgbClr val="FFFF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dirty="0"/>
                <a:t>Q</a:t>
              </a:r>
              <a:r>
                <a:rPr lang="es-MX" sz="3000" baseline="-25000" dirty="0"/>
                <a:t>H</a:t>
              </a:r>
            </a:p>
          </p:txBody>
        </p:sp>
        <p:sp>
          <p:nvSpPr>
            <p:cNvPr id="13" name="AutoShape 31"/>
            <p:cNvSpPr>
              <a:spLocks noChangeArrowheads="1"/>
            </p:cNvSpPr>
            <p:nvPr/>
          </p:nvSpPr>
          <p:spPr bwMode="auto">
            <a:xfrm>
              <a:off x="3803" y="1912"/>
              <a:ext cx="552" cy="795"/>
            </a:xfrm>
            <a:prstGeom prst="roundRect">
              <a:avLst>
                <a:gd name="adj" fmla="val 125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Q</a:t>
              </a:r>
              <a:r>
                <a:rPr lang="es-MX" sz="3000" baseline="-25000"/>
                <a:t>H</a:t>
              </a:r>
              <a:r>
                <a:rPr lang="es-MX" sz="3000"/>
                <a:t>- Q</a:t>
              </a:r>
              <a:r>
                <a:rPr lang="es-MX" sz="3000" baseline="-25000"/>
                <a:t>C</a:t>
              </a:r>
            </a:p>
            <a:p>
              <a:pPr>
                <a:spcBef>
                  <a:spcPts val="1875"/>
                </a:spcBef>
                <a:buClr>
                  <a:srgbClr val="FFFF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   Q</a:t>
              </a:r>
              <a:r>
                <a:rPr lang="es-MX" sz="3000" baseline="-25000"/>
                <a:t>H</a:t>
              </a:r>
            </a:p>
          </p:txBody>
        </p:sp>
        <p:sp>
          <p:nvSpPr>
            <p:cNvPr id="14" name="Line 32"/>
            <p:cNvSpPr>
              <a:spLocks noChangeShapeType="1"/>
            </p:cNvSpPr>
            <p:nvPr/>
          </p:nvSpPr>
          <p:spPr bwMode="auto">
            <a:xfrm>
              <a:off x="3020" y="2308"/>
              <a:ext cx="277" cy="1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Line 33"/>
            <p:cNvSpPr>
              <a:spLocks noChangeShapeType="1"/>
            </p:cNvSpPr>
            <p:nvPr/>
          </p:nvSpPr>
          <p:spPr bwMode="auto">
            <a:xfrm flipV="1">
              <a:off x="3755" y="2295"/>
              <a:ext cx="596" cy="9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</p:grpSp>
      <p:grpSp>
        <p:nvGrpSpPr>
          <p:cNvPr id="16" name="Group 35"/>
          <p:cNvGrpSpPr>
            <a:grpSpLocks/>
          </p:cNvGrpSpPr>
          <p:nvPr/>
        </p:nvGrpSpPr>
        <p:grpSpPr bwMode="auto">
          <a:xfrm>
            <a:off x="786729" y="2332198"/>
            <a:ext cx="2555463" cy="3764238"/>
            <a:chOff x="384" y="1144"/>
            <a:chExt cx="1488" cy="1928"/>
          </a:xfrm>
        </p:grpSpPr>
        <p:grpSp>
          <p:nvGrpSpPr>
            <p:cNvPr id="17" name="Group 4"/>
            <p:cNvGrpSpPr>
              <a:grpSpLocks/>
            </p:cNvGrpSpPr>
            <p:nvPr/>
          </p:nvGrpSpPr>
          <p:grpSpPr bwMode="auto">
            <a:xfrm>
              <a:off x="557" y="2728"/>
              <a:ext cx="1315" cy="344"/>
              <a:chOff x="557" y="2728"/>
              <a:chExt cx="1066" cy="344"/>
            </a:xfrm>
          </p:grpSpPr>
          <p:pic>
            <p:nvPicPr>
              <p:cNvPr id="33" name="Picture 5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557" y="2728"/>
                <a:ext cx="1067" cy="345"/>
              </a:xfrm>
              <a:prstGeom prst="rect">
                <a:avLst/>
              </a:prstGeom>
              <a:noFill/>
            </p:spPr>
          </p:pic>
          <p:sp>
            <p:nvSpPr>
              <p:cNvPr id="34" name="AutoShape 6"/>
              <p:cNvSpPr>
                <a:spLocks noChangeArrowheads="1"/>
              </p:cNvSpPr>
              <p:nvPr/>
            </p:nvSpPr>
            <p:spPr bwMode="auto">
              <a:xfrm>
                <a:off x="557" y="2808"/>
                <a:ext cx="1001" cy="265"/>
              </a:xfrm>
              <a:prstGeom prst="roundRect">
                <a:avLst>
                  <a:gd name="adj" fmla="val 37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algn="ctr">
                  <a:spcBef>
                    <a:spcPts val="600"/>
                  </a:spcBef>
                  <a:buClr>
                    <a:srgbClr val="FFFFFF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180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Dep. frío T</a:t>
                </a:r>
                <a:r>
                  <a:rPr lang="es-MX" sz="1800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</p:grpSp>
        <p:pic>
          <p:nvPicPr>
            <p:cNvPr id="18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964" y="2275"/>
              <a:ext cx="254" cy="533"/>
            </a:xfrm>
            <a:prstGeom prst="rect">
              <a:avLst/>
            </a:prstGeom>
            <a:noFill/>
          </p:spPr>
        </p:pic>
        <p:grpSp>
          <p:nvGrpSpPr>
            <p:cNvPr id="19" name="Group 8"/>
            <p:cNvGrpSpPr>
              <a:grpSpLocks/>
            </p:cNvGrpSpPr>
            <p:nvPr/>
          </p:nvGrpSpPr>
          <p:grpSpPr bwMode="auto">
            <a:xfrm>
              <a:off x="480" y="1784"/>
              <a:ext cx="1104" cy="608"/>
              <a:chOff x="713" y="1784"/>
              <a:chExt cx="722" cy="608"/>
            </a:xfrm>
          </p:grpSpPr>
          <p:pic>
            <p:nvPicPr>
              <p:cNvPr id="31" name="Picture 9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713" y="1784"/>
                <a:ext cx="723" cy="609"/>
              </a:xfrm>
              <a:prstGeom prst="rect">
                <a:avLst/>
              </a:prstGeom>
              <a:noFill/>
            </p:spPr>
          </p:pic>
          <p:sp>
            <p:nvSpPr>
              <p:cNvPr id="32" name="AutoShape 10"/>
              <p:cNvSpPr>
                <a:spLocks noChangeArrowheads="1"/>
              </p:cNvSpPr>
              <p:nvPr/>
            </p:nvSpPr>
            <p:spPr bwMode="auto">
              <a:xfrm>
                <a:off x="811" y="1942"/>
                <a:ext cx="463" cy="372"/>
              </a:xfrm>
              <a:prstGeom prst="roundRect">
                <a:avLst>
                  <a:gd name="adj" fmla="val 269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algn="ctr">
                  <a:spcBef>
                    <a:spcPts val="600"/>
                  </a:spcBef>
                  <a:buClr>
                    <a:srgbClr val="006666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1800"/>
                  <a:t>Máquina</a:t>
                </a:r>
              </a:p>
            </p:txBody>
          </p:sp>
        </p:grpSp>
        <p:pic>
          <p:nvPicPr>
            <p:cNvPr id="20" name="Picture 1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964" y="1368"/>
              <a:ext cx="254" cy="495"/>
            </a:xfrm>
            <a:prstGeom prst="rect">
              <a:avLst/>
            </a:prstGeom>
            <a:noFill/>
          </p:spPr>
        </p:pic>
        <p:grpSp>
          <p:nvGrpSpPr>
            <p:cNvPr id="21" name="Group 12"/>
            <p:cNvGrpSpPr>
              <a:grpSpLocks/>
            </p:cNvGrpSpPr>
            <p:nvPr/>
          </p:nvGrpSpPr>
          <p:grpSpPr bwMode="auto">
            <a:xfrm>
              <a:off x="432" y="1144"/>
              <a:ext cx="1344" cy="344"/>
              <a:chOff x="620" y="1104"/>
              <a:chExt cx="1066" cy="344"/>
            </a:xfrm>
          </p:grpSpPr>
          <p:pic>
            <p:nvPicPr>
              <p:cNvPr id="29" name="Picture 13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620" y="1104"/>
                <a:ext cx="1067" cy="345"/>
              </a:xfrm>
              <a:prstGeom prst="rect">
                <a:avLst/>
              </a:prstGeom>
              <a:noFill/>
            </p:spPr>
          </p:pic>
          <p:sp>
            <p:nvSpPr>
              <p:cNvPr id="30" name="AutoShape 14"/>
              <p:cNvSpPr>
                <a:spLocks noChangeArrowheads="1"/>
              </p:cNvSpPr>
              <p:nvPr/>
            </p:nvSpPr>
            <p:spPr bwMode="auto">
              <a:xfrm>
                <a:off x="620" y="1184"/>
                <a:ext cx="1001" cy="265"/>
              </a:xfrm>
              <a:prstGeom prst="roundRect">
                <a:avLst>
                  <a:gd name="adj" fmla="val 37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algn="ctr">
                  <a:spcBef>
                    <a:spcPts val="600"/>
                  </a:spcBef>
                  <a:buClr>
                    <a:srgbClr val="FFFFFF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180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Dep. caliente T</a:t>
                </a:r>
                <a:r>
                  <a:rPr lang="es-MX" sz="1800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H</a:t>
                </a:r>
              </a:p>
            </p:txBody>
          </p:sp>
        </p:grpSp>
        <p:pic>
          <p:nvPicPr>
            <p:cNvPr id="22" name="Picture 15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1339" y="1972"/>
              <a:ext cx="379" cy="231"/>
            </a:xfrm>
            <a:prstGeom prst="rect">
              <a:avLst/>
            </a:prstGeom>
            <a:noFill/>
          </p:spPr>
        </p:pic>
        <p:sp>
          <p:nvSpPr>
            <p:cNvPr id="23" name="Freeform 16"/>
            <p:cNvSpPr>
              <a:spLocks noChangeArrowheads="1"/>
            </p:cNvSpPr>
            <p:nvPr/>
          </p:nvSpPr>
          <p:spPr bwMode="auto">
            <a:xfrm>
              <a:off x="960" y="1536"/>
              <a:ext cx="166" cy="276"/>
            </a:xfrm>
            <a:custGeom>
              <a:avLst/>
              <a:gdLst/>
              <a:ahLst/>
              <a:cxnLst>
                <a:cxn ang="0">
                  <a:pos x="182" y="0"/>
                </a:cxn>
                <a:cxn ang="0">
                  <a:pos x="182" y="913"/>
                </a:cxn>
                <a:cxn ang="0">
                  <a:pos x="0" y="913"/>
                </a:cxn>
                <a:cxn ang="0">
                  <a:pos x="364" y="1218"/>
                </a:cxn>
                <a:cxn ang="0">
                  <a:pos x="729" y="913"/>
                </a:cxn>
                <a:cxn ang="0">
                  <a:pos x="546" y="913"/>
                </a:cxn>
                <a:cxn ang="0">
                  <a:pos x="546" y="0"/>
                </a:cxn>
                <a:cxn ang="0">
                  <a:pos x="182" y="0"/>
                </a:cxn>
              </a:cxnLst>
              <a:rect l="0" t="0" r="r" b="b"/>
              <a:pathLst>
                <a:path w="730" h="1219">
                  <a:moveTo>
                    <a:pt x="182" y="0"/>
                  </a:moveTo>
                  <a:lnTo>
                    <a:pt x="182" y="913"/>
                  </a:lnTo>
                  <a:lnTo>
                    <a:pt x="0" y="913"/>
                  </a:lnTo>
                  <a:lnTo>
                    <a:pt x="364" y="1218"/>
                  </a:lnTo>
                  <a:lnTo>
                    <a:pt x="729" y="913"/>
                  </a:lnTo>
                  <a:lnTo>
                    <a:pt x="546" y="913"/>
                  </a:lnTo>
                  <a:lnTo>
                    <a:pt x="546" y="0"/>
                  </a:lnTo>
                  <a:lnTo>
                    <a:pt x="182" y="0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4" name="Freeform 17"/>
            <p:cNvSpPr>
              <a:spLocks noChangeArrowheads="1"/>
            </p:cNvSpPr>
            <p:nvPr/>
          </p:nvSpPr>
          <p:spPr bwMode="auto">
            <a:xfrm>
              <a:off x="1392" y="2016"/>
              <a:ext cx="232" cy="159"/>
            </a:xfrm>
            <a:custGeom>
              <a:avLst/>
              <a:gdLst/>
              <a:ahLst/>
              <a:cxnLst>
                <a:cxn ang="0">
                  <a:pos x="0" y="174"/>
                </a:cxn>
                <a:cxn ang="0">
                  <a:pos x="768" y="174"/>
                </a:cxn>
                <a:cxn ang="0">
                  <a:pos x="768" y="0"/>
                </a:cxn>
                <a:cxn ang="0">
                  <a:pos x="1024" y="349"/>
                </a:cxn>
                <a:cxn ang="0">
                  <a:pos x="768" y="698"/>
                </a:cxn>
                <a:cxn ang="0">
                  <a:pos x="768" y="523"/>
                </a:cxn>
                <a:cxn ang="0">
                  <a:pos x="0" y="523"/>
                </a:cxn>
                <a:cxn ang="0">
                  <a:pos x="0" y="174"/>
                </a:cxn>
              </a:cxnLst>
              <a:rect l="0" t="0" r="r" b="b"/>
              <a:pathLst>
                <a:path w="1025" h="699">
                  <a:moveTo>
                    <a:pt x="0" y="174"/>
                  </a:moveTo>
                  <a:lnTo>
                    <a:pt x="768" y="174"/>
                  </a:lnTo>
                  <a:lnTo>
                    <a:pt x="768" y="0"/>
                  </a:lnTo>
                  <a:lnTo>
                    <a:pt x="1024" y="349"/>
                  </a:lnTo>
                  <a:lnTo>
                    <a:pt x="768" y="698"/>
                  </a:lnTo>
                  <a:lnTo>
                    <a:pt x="768" y="523"/>
                  </a:lnTo>
                  <a:lnTo>
                    <a:pt x="0" y="523"/>
                  </a:lnTo>
                  <a:lnTo>
                    <a:pt x="0" y="174"/>
                  </a:lnTo>
                </a:path>
              </a:pathLst>
            </a:custGeom>
            <a:solidFill>
              <a:srgbClr val="99FF33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5" name="Freeform 18"/>
            <p:cNvSpPr>
              <a:spLocks noChangeArrowheads="1"/>
            </p:cNvSpPr>
            <p:nvPr/>
          </p:nvSpPr>
          <p:spPr bwMode="auto">
            <a:xfrm>
              <a:off x="1005" y="2425"/>
              <a:ext cx="132" cy="276"/>
            </a:xfrm>
            <a:custGeom>
              <a:avLst/>
              <a:gdLst/>
              <a:ahLst/>
              <a:cxnLst>
                <a:cxn ang="0">
                  <a:pos x="145" y="0"/>
                </a:cxn>
                <a:cxn ang="0">
                  <a:pos x="145" y="913"/>
                </a:cxn>
                <a:cxn ang="0">
                  <a:pos x="0" y="913"/>
                </a:cxn>
                <a:cxn ang="0">
                  <a:pos x="291" y="1218"/>
                </a:cxn>
                <a:cxn ang="0">
                  <a:pos x="583" y="913"/>
                </a:cxn>
                <a:cxn ang="0">
                  <a:pos x="437" y="913"/>
                </a:cxn>
                <a:cxn ang="0">
                  <a:pos x="437" y="0"/>
                </a:cxn>
                <a:cxn ang="0">
                  <a:pos x="145" y="0"/>
                </a:cxn>
              </a:cxnLst>
              <a:rect l="0" t="0" r="r" b="b"/>
              <a:pathLst>
                <a:path w="584" h="1219">
                  <a:moveTo>
                    <a:pt x="145" y="0"/>
                  </a:moveTo>
                  <a:lnTo>
                    <a:pt x="145" y="913"/>
                  </a:lnTo>
                  <a:lnTo>
                    <a:pt x="0" y="913"/>
                  </a:lnTo>
                  <a:lnTo>
                    <a:pt x="291" y="1218"/>
                  </a:lnTo>
                  <a:lnTo>
                    <a:pt x="583" y="913"/>
                  </a:lnTo>
                  <a:lnTo>
                    <a:pt x="437" y="913"/>
                  </a:lnTo>
                  <a:lnTo>
                    <a:pt x="437" y="0"/>
                  </a:lnTo>
                  <a:lnTo>
                    <a:pt x="145" y="0"/>
                  </a:lnTo>
                </a:path>
              </a:pathLst>
            </a:custGeom>
            <a:solidFill>
              <a:srgbClr val="66FFFF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6" name="AutoShape 19"/>
            <p:cNvSpPr>
              <a:spLocks noChangeArrowheads="1"/>
            </p:cNvSpPr>
            <p:nvPr/>
          </p:nvSpPr>
          <p:spPr bwMode="auto">
            <a:xfrm>
              <a:off x="384" y="1440"/>
              <a:ext cx="410" cy="365"/>
            </a:xfrm>
            <a:prstGeom prst="roundRect">
              <a:avLst>
                <a:gd name="adj" fmla="val 273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 i="1">
                  <a:solidFill>
                    <a:schemeClr val="tx1"/>
                  </a:solidFill>
                </a:rPr>
                <a:t>Q</a:t>
              </a:r>
              <a:r>
                <a:rPr lang="es-MX" sz="3200" i="1" baseline="-2500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27" name="AutoShape 20"/>
            <p:cNvSpPr>
              <a:spLocks noChangeArrowheads="1"/>
            </p:cNvSpPr>
            <p:nvPr/>
          </p:nvSpPr>
          <p:spPr bwMode="auto">
            <a:xfrm>
              <a:off x="1488" y="1536"/>
              <a:ext cx="347" cy="365"/>
            </a:xfrm>
            <a:prstGeom prst="roundRect">
              <a:avLst>
                <a:gd name="adj" fmla="val 28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 i="1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28" name="AutoShape 21"/>
            <p:cNvSpPr>
              <a:spLocks noChangeArrowheads="1"/>
            </p:cNvSpPr>
            <p:nvPr/>
          </p:nvSpPr>
          <p:spPr bwMode="auto">
            <a:xfrm>
              <a:off x="384" y="2256"/>
              <a:ext cx="398" cy="365"/>
            </a:xfrm>
            <a:prstGeom prst="roundRect">
              <a:avLst>
                <a:gd name="adj" fmla="val 273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 i="1">
                  <a:solidFill>
                    <a:schemeClr val="tx1"/>
                  </a:solidFill>
                </a:rPr>
                <a:t>Q</a:t>
              </a:r>
              <a:r>
                <a:rPr lang="es-MX" sz="3200" i="1" baseline="-25000">
                  <a:solidFill>
                    <a:schemeClr val="tx1"/>
                  </a:solidFill>
                </a:rPr>
                <a:t>C</a:t>
              </a:r>
            </a:p>
          </p:txBody>
        </p:sp>
      </p:grpSp>
      <p:sp>
        <p:nvSpPr>
          <p:cNvPr id="35" name="CuadroTexto 34"/>
          <p:cNvSpPr txBox="1"/>
          <p:nvPr/>
        </p:nvSpPr>
        <p:spPr>
          <a:xfrm>
            <a:off x="2301231" y="116997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</p:spTree>
    <p:extLst>
      <p:ext uri="{BB962C8B-B14F-4D97-AF65-F5344CB8AC3E}">
        <p14:creationId xmlns:p14="http://schemas.microsoft.com/office/powerpoint/2010/main" val="350635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ungle%20Menu%20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adroTexto 34"/>
          <p:cNvSpPr txBox="1"/>
          <p:nvPr/>
        </p:nvSpPr>
        <p:spPr>
          <a:xfrm>
            <a:off x="2301231" y="116997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37" name="Rectangle 1"/>
          <p:cNvSpPr txBox="1">
            <a:spLocks noChangeArrowheads="1"/>
          </p:cNvSpPr>
          <p:nvPr/>
        </p:nvSpPr>
        <p:spPr>
          <a:xfrm>
            <a:off x="1568624" y="908720"/>
            <a:ext cx="7315200" cy="1285875"/>
          </a:xfrm>
          <a:prstGeom prst="rect">
            <a:avLst/>
          </a:prstGeom>
          <a:ln/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kern="1200" cap="all">
                <a:solidFill>
                  <a:srgbClr val="EFA82F"/>
                </a:solidFill>
                <a:latin typeface="Arial"/>
                <a:ea typeface="ＭＳ Ｐゴシック" charset="-128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9pPr>
          </a:lstStyle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800" dirty="0" smtClean="0">
                <a:solidFill>
                  <a:schemeClr val="tx1"/>
                </a:solidFill>
              </a:rPr>
              <a:t>EFICIENCIA DE UNA MÁQUINA IDEAL (máquina de Carnot)</a:t>
            </a:r>
            <a:endParaRPr lang="es-MX" sz="2800" dirty="0">
              <a:solidFill>
                <a:schemeClr val="tx1"/>
              </a:solidFill>
            </a:endParaRPr>
          </a:p>
        </p:txBody>
      </p:sp>
      <p:sp>
        <p:nvSpPr>
          <p:cNvPr id="38" name="Text Box 22"/>
          <p:cNvSpPr txBox="1">
            <a:spLocks noChangeArrowheads="1"/>
          </p:cNvSpPr>
          <p:nvPr/>
        </p:nvSpPr>
        <p:spPr bwMode="auto">
          <a:xfrm>
            <a:off x="4417393" y="2211968"/>
            <a:ext cx="5122862" cy="1017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ts val="1875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000" dirty="0"/>
              <a:t>Para una máquina perfecta, las cantidades Q de calor ganado y perdido son proporcionales a las temperaturas absolutas T.</a:t>
            </a:r>
          </a:p>
        </p:txBody>
      </p:sp>
      <p:grpSp>
        <p:nvGrpSpPr>
          <p:cNvPr id="39" name="Group 23"/>
          <p:cNvGrpSpPr>
            <a:grpSpLocks/>
          </p:cNvGrpSpPr>
          <p:nvPr/>
        </p:nvGrpSpPr>
        <p:grpSpPr bwMode="auto">
          <a:xfrm>
            <a:off x="5226224" y="4782877"/>
            <a:ext cx="2895600" cy="1377950"/>
            <a:chOff x="2496" y="3116"/>
            <a:chExt cx="1824" cy="868"/>
          </a:xfrm>
          <a:solidFill>
            <a:srgbClr val="00B0F0"/>
          </a:solidFill>
        </p:grpSpPr>
        <p:sp>
          <p:nvSpPr>
            <p:cNvPr id="40" name="AutoShape 24"/>
            <p:cNvSpPr>
              <a:spLocks noChangeArrowheads="1"/>
            </p:cNvSpPr>
            <p:nvPr/>
          </p:nvSpPr>
          <p:spPr bwMode="auto">
            <a:xfrm>
              <a:off x="2496" y="3120"/>
              <a:ext cx="1824" cy="864"/>
            </a:xfrm>
            <a:prstGeom prst="roundRect">
              <a:avLst>
                <a:gd name="adj" fmla="val 116"/>
              </a:avLst>
            </a:prstGeom>
            <a:grpFill/>
            <a:ln w="50760">
              <a:solidFill>
                <a:srgbClr val="0000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1" name="AutoShape 25"/>
            <p:cNvSpPr>
              <a:spLocks noChangeArrowheads="1"/>
            </p:cNvSpPr>
            <p:nvPr/>
          </p:nvSpPr>
          <p:spPr bwMode="auto">
            <a:xfrm>
              <a:off x="2640" y="3359"/>
              <a:ext cx="935" cy="348"/>
            </a:xfrm>
            <a:prstGeom prst="roundRect">
              <a:avLst>
                <a:gd name="adj" fmla="val 287"/>
              </a:avLst>
            </a:prstGeom>
            <a:grp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>
                  <a:solidFill>
                    <a:srgbClr val="000000"/>
                  </a:solidFill>
                </a:rPr>
                <a:t>e = 1 - </a:t>
              </a:r>
            </a:p>
          </p:txBody>
        </p:sp>
        <p:sp>
          <p:nvSpPr>
            <p:cNvPr id="42" name="AutoShape 26"/>
            <p:cNvSpPr>
              <a:spLocks noChangeArrowheads="1"/>
            </p:cNvSpPr>
            <p:nvPr/>
          </p:nvSpPr>
          <p:spPr bwMode="auto">
            <a:xfrm>
              <a:off x="3600" y="3116"/>
              <a:ext cx="364" cy="786"/>
            </a:xfrm>
            <a:prstGeom prst="roundRect">
              <a:avLst>
                <a:gd name="adj" fmla="val 273"/>
              </a:avLst>
            </a:prstGeom>
            <a:grp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>
                  <a:solidFill>
                    <a:srgbClr val="000000"/>
                  </a:solidFill>
                </a:rPr>
                <a:t>T</a:t>
              </a:r>
              <a:r>
                <a:rPr lang="es-MX" sz="3000" baseline="-25000">
                  <a:solidFill>
                    <a:srgbClr val="000000"/>
                  </a:solidFill>
                </a:rPr>
                <a:t>C</a:t>
              </a:r>
            </a:p>
            <a:p>
              <a:pPr>
                <a:spcBef>
                  <a:spcPts val="1875"/>
                </a:spcBef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>
                  <a:solidFill>
                    <a:srgbClr val="000000"/>
                  </a:solidFill>
                </a:rPr>
                <a:t>T</a:t>
              </a:r>
              <a:r>
                <a:rPr lang="es-MX" sz="3000" baseline="-2500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43" name="Line 27"/>
            <p:cNvSpPr>
              <a:spLocks noChangeShapeType="1"/>
            </p:cNvSpPr>
            <p:nvPr/>
          </p:nvSpPr>
          <p:spPr bwMode="auto">
            <a:xfrm>
              <a:off x="3552" y="3552"/>
              <a:ext cx="432" cy="1"/>
            </a:xfrm>
            <a:prstGeom prst="line">
              <a:avLst/>
            </a:prstGeom>
            <a:grpFill/>
            <a:ln w="381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4" name="Group 28"/>
          <p:cNvGrpSpPr>
            <a:grpSpLocks/>
          </p:cNvGrpSpPr>
          <p:nvPr/>
        </p:nvGrpSpPr>
        <p:grpSpPr bwMode="auto">
          <a:xfrm>
            <a:off x="5270674" y="3297153"/>
            <a:ext cx="2362200" cy="1262063"/>
            <a:chOff x="2496" y="2200"/>
            <a:chExt cx="1488" cy="795"/>
          </a:xfrm>
        </p:grpSpPr>
        <p:sp>
          <p:nvSpPr>
            <p:cNvPr id="45" name="AutoShape 29"/>
            <p:cNvSpPr>
              <a:spLocks noChangeArrowheads="1"/>
            </p:cNvSpPr>
            <p:nvPr/>
          </p:nvSpPr>
          <p:spPr bwMode="auto">
            <a:xfrm>
              <a:off x="2496" y="2446"/>
              <a:ext cx="465" cy="350"/>
            </a:xfrm>
            <a:prstGeom prst="roundRect">
              <a:avLst>
                <a:gd name="adj" fmla="val 28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dirty="0"/>
                <a:t>e = </a:t>
              </a:r>
            </a:p>
          </p:txBody>
        </p:sp>
        <p:sp>
          <p:nvSpPr>
            <p:cNvPr id="46" name="AutoShape 30"/>
            <p:cNvSpPr>
              <a:spLocks noChangeArrowheads="1"/>
            </p:cNvSpPr>
            <p:nvPr/>
          </p:nvSpPr>
          <p:spPr bwMode="auto">
            <a:xfrm>
              <a:off x="3120" y="2200"/>
              <a:ext cx="661" cy="795"/>
            </a:xfrm>
            <a:prstGeom prst="roundRect">
              <a:avLst>
                <a:gd name="adj" fmla="val 130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T</a:t>
              </a:r>
              <a:r>
                <a:rPr lang="es-MX" sz="3000" baseline="-25000"/>
                <a:t>H</a:t>
              </a:r>
              <a:r>
                <a:rPr lang="es-MX" sz="3000"/>
                <a:t>- T</a:t>
              </a:r>
              <a:r>
                <a:rPr lang="es-MX" sz="3000" baseline="-25000"/>
                <a:t>C</a:t>
              </a:r>
            </a:p>
            <a:p>
              <a:pPr>
                <a:spcBef>
                  <a:spcPts val="1875"/>
                </a:spcBef>
                <a:buClr>
                  <a:srgbClr val="FFFF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   T</a:t>
              </a:r>
              <a:r>
                <a:rPr lang="es-MX" sz="3000" baseline="-25000"/>
                <a:t>H</a:t>
              </a:r>
            </a:p>
          </p:txBody>
        </p:sp>
        <p:sp>
          <p:nvSpPr>
            <p:cNvPr id="47" name="Line 31"/>
            <p:cNvSpPr>
              <a:spLocks noChangeShapeType="1"/>
            </p:cNvSpPr>
            <p:nvPr/>
          </p:nvSpPr>
          <p:spPr bwMode="auto">
            <a:xfrm>
              <a:off x="3072" y="2640"/>
              <a:ext cx="912" cy="1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s-ES"/>
            </a:p>
          </p:txBody>
        </p:sp>
      </p:grpSp>
      <p:grpSp>
        <p:nvGrpSpPr>
          <p:cNvPr id="65" name="Group 35"/>
          <p:cNvGrpSpPr>
            <a:grpSpLocks/>
          </p:cNvGrpSpPr>
          <p:nvPr/>
        </p:nvGrpSpPr>
        <p:grpSpPr bwMode="auto">
          <a:xfrm>
            <a:off x="821530" y="2498562"/>
            <a:ext cx="2555463" cy="3764238"/>
            <a:chOff x="384" y="1144"/>
            <a:chExt cx="1488" cy="1928"/>
          </a:xfrm>
        </p:grpSpPr>
        <p:grpSp>
          <p:nvGrpSpPr>
            <p:cNvPr id="66" name="Group 4"/>
            <p:cNvGrpSpPr>
              <a:grpSpLocks/>
            </p:cNvGrpSpPr>
            <p:nvPr/>
          </p:nvGrpSpPr>
          <p:grpSpPr bwMode="auto">
            <a:xfrm>
              <a:off x="557" y="2728"/>
              <a:ext cx="1315" cy="344"/>
              <a:chOff x="557" y="2728"/>
              <a:chExt cx="1066" cy="344"/>
            </a:xfrm>
          </p:grpSpPr>
          <p:pic>
            <p:nvPicPr>
              <p:cNvPr id="82" name="Picture 5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57" y="2728"/>
                <a:ext cx="1067" cy="345"/>
              </a:xfrm>
              <a:prstGeom prst="rect">
                <a:avLst/>
              </a:prstGeom>
              <a:noFill/>
            </p:spPr>
          </p:pic>
          <p:sp>
            <p:nvSpPr>
              <p:cNvPr id="83" name="AutoShape 6"/>
              <p:cNvSpPr>
                <a:spLocks noChangeArrowheads="1"/>
              </p:cNvSpPr>
              <p:nvPr/>
            </p:nvSpPr>
            <p:spPr bwMode="auto">
              <a:xfrm>
                <a:off x="557" y="2808"/>
                <a:ext cx="1001" cy="265"/>
              </a:xfrm>
              <a:prstGeom prst="roundRect">
                <a:avLst>
                  <a:gd name="adj" fmla="val 37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algn="ctr">
                  <a:spcBef>
                    <a:spcPts val="600"/>
                  </a:spcBef>
                  <a:buClr>
                    <a:srgbClr val="FFFFFF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180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Dep. frío T</a:t>
                </a:r>
                <a:r>
                  <a:rPr lang="es-MX" sz="1800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</p:grpSp>
        <p:pic>
          <p:nvPicPr>
            <p:cNvPr id="67" name="Picture 7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64" y="2275"/>
              <a:ext cx="254" cy="533"/>
            </a:xfrm>
            <a:prstGeom prst="rect">
              <a:avLst/>
            </a:prstGeom>
            <a:noFill/>
          </p:spPr>
        </p:pic>
        <p:grpSp>
          <p:nvGrpSpPr>
            <p:cNvPr id="68" name="Group 8"/>
            <p:cNvGrpSpPr>
              <a:grpSpLocks/>
            </p:cNvGrpSpPr>
            <p:nvPr/>
          </p:nvGrpSpPr>
          <p:grpSpPr bwMode="auto">
            <a:xfrm>
              <a:off x="480" y="1784"/>
              <a:ext cx="1104" cy="608"/>
              <a:chOff x="713" y="1784"/>
              <a:chExt cx="722" cy="608"/>
            </a:xfrm>
          </p:grpSpPr>
          <p:pic>
            <p:nvPicPr>
              <p:cNvPr id="80" name="Picture 9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713" y="1784"/>
                <a:ext cx="723" cy="609"/>
              </a:xfrm>
              <a:prstGeom prst="rect">
                <a:avLst/>
              </a:prstGeom>
              <a:noFill/>
            </p:spPr>
          </p:pic>
          <p:sp>
            <p:nvSpPr>
              <p:cNvPr id="81" name="AutoShape 10"/>
              <p:cNvSpPr>
                <a:spLocks noChangeArrowheads="1"/>
              </p:cNvSpPr>
              <p:nvPr/>
            </p:nvSpPr>
            <p:spPr bwMode="auto">
              <a:xfrm>
                <a:off x="811" y="1942"/>
                <a:ext cx="463" cy="372"/>
              </a:xfrm>
              <a:prstGeom prst="roundRect">
                <a:avLst>
                  <a:gd name="adj" fmla="val 269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algn="ctr">
                  <a:spcBef>
                    <a:spcPts val="600"/>
                  </a:spcBef>
                  <a:buClr>
                    <a:srgbClr val="006666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1800"/>
                  <a:t>Máquina</a:t>
                </a:r>
              </a:p>
            </p:txBody>
          </p:sp>
        </p:grpSp>
        <p:pic>
          <p:nvPicPr>
            <p:cNvPr id="69" name="Picture 1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964" y="1368"/>
              <a:ext cx="254" cy="495"/>
            </a:xfrm>
            <a:prstGeom prst="rect">
              <a:avLst/>
            </a:prstGeom>
            <a:noFill/>
          </p:spPr>
        </p:pic>
        <p:grpSp>
          <p:nvGrpSpPr>
            <p:cNvPr id="70" name="Group 12"/>
            <p:cNvGrpSpPr>
              <a:grpSpLocks/>
            </p:cNvGrpSpPr>
            <p:nvPr/>
          </p:nvGrpSpPr>
          <p:grpSpPr bwMode="auto">
            <a:xfrm>
              <a:off x="432" y="1144"/>
              <a:ext cx="1344" cy="344"/>
              <a:chOff x="620" y="1104"/>
              <a:chExt cx="1066" cy="344"/>
            </a:xfrm>
          </p:grpSpPr>
          <p:pic>
            <p:nvPicPr>
              <p:cNvPr id="78" name="Picture 13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620" y="1104"/>
                <a:ext cx="1067" cy="345"/>
              </a:xfrm>
              <a:prstGeom prst="rect">
                <a:avLst/>
              </a:prstGeom>
              <a:noFill/>
            </p:spPr>
          </p:pic>
          <p:sp>
            <p:nvSpPr>
              <p:cNvPr id="79" name="AutoShape 14"/>
              <p:cNvSpPr>
                <a:spLocks noChangeArrowheads="1"/>
              </p:cNvSpPr>
              <p:nvPr/>
            </p:nvSpPr>
            <p:spPr bwMode="auto">
              <a:xfrm>
                <a:off x="620" y="1184"/>
                <a:ext cx="1001" cy="265"/>
              </a:xfrm>
              <a:prstGeom prst="roundRect">
                <a:avLst>
                  <a:gd name="adj" fmla="val 37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algn="ctr">
                  <a:spcBef>
                    <a:spcPts val="600"/>
                  </a:spcBef>
                  <a:buClr>
                    <a:srgbClr val="FFFFFF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180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Dep. caliente T</a:t>
                </a:r>
                <a:r>
                  <a:rPr lang="es-MX" sz="1800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H</a:t>
                </a:r>
              </a:p>
            </p:txBody>
          </p:sp>
        </p:grpSp>
        <p:pic>
          <p:nvPicPr>
            <p:cNvPr id="71" name="Picture 1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339" y="1972"/>
              <a:ext cx="379" cy="231"/>
            </a:xfrm>
            <a:prstGeom prst="rect">
              <a:avLst/>
            </a:prstGeom>
            <a:noFill/>
          </p:spPr>
        </p:pic>
        <p:sp>
          <p:nvSpPr>
            <p:cNvPr id="72" name="Freeform 16"/>
            <p:cNvSpPr>
              <a:spLocks noChangeArrowheads="1"/>
            </p:cNvSpPr>
            <p:nvPr/>
          </p:nvSpPr>
          <p:spPr bwMode="auto">
            <a:xfrm>
              <a:off x="960" y="1536"/>
              <a:ext cx="166" cy="276"/>
            </a:xfrm>
            <a:custGeom>
              <a:avLst/>
              <a:gdLst/>
              <a:ahLst/>
              <a:cxnLst>
                <a:cxn ang="0">
                  <a:pos x="182" y="0"/>
                </a:cxn>
                <a:cxn ang="0">
                  <a:pos x="182" y="913"/>
                </a:cxn>
                <a:cxn ang="0">
                  <a:pos x="0" y="913"/>
                </a:cxn>
                <a:cxn ang="0">
                  <a:pos x="364" y="1218"/>
                </a:cxn>
                <a:cxn ang="0">
                  <a:pos x="729" y="913"/>
                </a:cxn>
                <a:cxn ang="0">
                  <a:pos x="546" y="913"/>
                </a:cxn>
                <a:cxn ang="0">
                  <a:pos x="546" y="0"/>
                </a:cxn>
                <a:cxn ang="0">
                  <a:pos x="182" y="0"/>
                </a:cxn>
              </a:cxnLst>
              <a:rect l="0" t="0" r="r" b="b"/>
              <a:pathLst>
                <a:path w="730" h="1219">
                  <a:moveTo>
                    <a:pt x="182" y="0"/>
                  </a:moveTo>
                  <a:lnTo>
                    <a:pt x="182" y="913"/>
                  </a:lnTo>
                  <a:lnTo>
                    <a:pt x="0" y="913"/>
                  </a:lnTo>
                  <a:lnTo>
                    <a:pt x="364" y="1218"/>
                  </a:lnTo>
                  <a:lnTo>
                    <a:pt x="729" y="913"/>
                  </a:lnTo>
                  <a:lnTo>
                    <a:pt x="546" y="913"/>
                  </a:lnTo>
                  <a:lnTo>
                    <a:pt x="546" y="0"/>
                  </a:lnTo>
                  <a:lnTo>
                    <a:pt x="182" y="0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73" name="Freeform 17"/>
            <p:cNvSpPr>
              <a:spLocks noChangeArrowheads="1"/>
            </p:cNvSpPr>
            <p:nvPr/>
          </p:nvSpPr>
          <p:spPr bwMode="auto">
            <a:xfrm>
              <a:off x="1392" y="2016"/>
              <a:ext cx="232" cy="159"/>
            </a:xfrm>
            <a:custGeom>
              <a:avLst/>
              <a:gdLst/>
              <a:ahLst/>
              <a:cxnLst>
                <a:cxn ang="0">
                  <a:pos x="0" y="174"/>
                </a:cxn>
                <a:cxn ang="0">
                  <a:pos x="768" y="174"/>
                </a:cxn>
                <a:cxn ang="0">
                  <a:pos x="768" y="0"/>
                </a:cxn>
                <a:cxn ang="0">
                  <a:pos x="1024" y="349"/>
                </a:cxn>
                <a:cxn ang="0">
                  <a:pos x="768" y="698"/>
                </a:cxn>
                <a:cxn ang="0">
                  <a:pos x="768" y="523"/>
                </a:cxn>
                <a:cxn ang="0">
                  <a:pos x="0" y="523"/>
                </a:cxn>
                <a:cxn ang="0">
                  <a:pos x="0" y="174"/>
                </a:cxn>
              </a:cxnLst>
              <a:rect l="0" t="0" r="r" b="b"/>
              <a:pathLst>
                <a:path w="1025" h="699">
                  <a:moveTo>
                    <a:pt x="0" y="174"/>
                  </a:moveTo>
                  <a:lnTo>
                    <a:pt x="768" y="174"/>
                  </a:lnTo>
                  <a:lnTo>
                    <a:pt x="768" y="0"/>
                  </a:lnTo>
                  <a:lnTo>
                    <a:pt x="1024" y="349"/>
                  </a:lnTo>
                  <a:lnTo>
                    <a:pt x="768" y="698"/>
                  </a:lnTo>
                  <a:lnTo>
                    <a:pt x="768" y="523"/>
                  </a:lnTo>
                  <a:lnTo>
                    <a:pt x="0" y="523"/>
                  </a:lnTo>
                  <a:lnTo>
                    <a:pt x="0" y="174"/>
                  </a:lnTo>
                </a:path>
              </a:pathLst>
            </a:custGeom>
            <a:solidFill>
              <a:srgbClr val="99FF33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74" name="Freeform 18"/>
            <p:cNvSpPr>
              <a:spLocks noChangeArrowheads="1"/>
            </p:cNvSpPr>
            <p:nvPr/>
          </p:nvSpPr>
          <p:spPr bwMode="auto">
            <a:xfrm>
              <a:off x="1005" y="2425"/>
              <a:ext cx="132" cy="276"/>
            </a:xfrm>
            <a:custGeom>
              <a:avLst/>
              <a:gdLst/>
              <a:ahLst/>
              <a:cxnLst>
                <a:cxn ang="0">
                  <a:pos x="145" y="0"/>
                </a:cxn>
                <a:cxn ang="0">
                  <a:pos x="145" y="913"/>
                </a:cxn>
                <a:cxn ang="0">
                  <a:pos x="0" y="913"/>
                </a:cxn>
                <a:cxn ang="0">
                  <a:pos x="291" y="1218"/>
                </a:cxn>
                <a:cxn ang="0">
                  <a:pos x="583" y="913"/>
                </a:cxn>
                <a:cxn ang="0">
                  <a:pos x="437" y="913"/>
                </a:cxn>
                <a:cxn ang="0">
                  <a:pos x="437" y="0"/>
                </a:cxn>
                <a:cxn ang="0">
                  <a:pos x="145" y="0"/>
                </a:cxn>
              </a:cxnLst>
              <a:rect l="0" t="0" r="r" b="b"/>
              <a:pathLst>
                <a:path w="584" h="1219">
                  <a:moveTo>
                    <a:pt x="145" y="0"/>
                  </a:moveTo>
                  <a:lnTo>
                    <a:pt x="145" y="913"/>
                  </a:lnTo>
                  <a:lnTo>
                    <a:pt x="0" y="913"/>
                  </a:lnTo>
                  <a:lnTo>
                    <a:pt x="291" y="1218"/>
                  </a:lnTo>
                  <a:lnTo>
                    <a:pt x="583" y="913"/>
                  </a:lnTo>
                  <a:lnTo>
                    <a:pt x="437" y="913"/>
                  </a:lnTo>
                  <a:lnTo>
                    <a:pt x="437" y="0"/>
                  </a:lnTo>
                  <a:lnTo>
                    <a:pt x="145" y="0"/>
                  </a:lnTo>
                </a:path>
              </a:pathLst>
            </a:custGeom>
            <a:solidFill>
              <a:srgbClr val="66FFFF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75" name="AutoShape 19"/>
            <p:cNvSpPr>
              <a:spLocks noChangeArrowheads="1"/>
            </p:cNvSpPr>
            <p:nvPr/>
          </p:nvSpPr>
          <p:spPr bwMode="auto">
            <a:xfrm>
              <a:off x="384" y="1440"/>
              <a:ext cx="410" cy="365"/>
            </a:xfrm>
            <a:prstGeom prst="roundRect">
              <a:avLst>
                <a:gd name="adj" fmla="val 273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 i="1">
                  <a:solidFill>
                    <a:schemeClr val="tx1"/>
                  </a:solidFill>
                </a:rPr>
                <a:t>Q</a:t>
              </a:r>
              <a:r>
                <a:rPr lang="es-MX" sz="3200" i="1" baseline="-2500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76" name="AutoShape 20"/>
            <p:cNvSpPr>
              <a:spLocks noChangeArrowheads="1"/>
            </p:cNvSpPr>
            <p:nvPr/>
          </p:nvSpPr>
          <p:spPr bwMode="auto">
            <a:xfrm>
              <a:off x="1488" y="1536"/>
              <a:ext cx="347" cy="365"/>
            </a:xfrm>
            <a:prstGeom prst="roundRect">
              <a:avLst>
                <a:gd name="adj" fmla="val 28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 i="1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77" name="AutoShape 21"/>
            <p:cNvSpPr>
              <a:spLocks noChangeArrowheads="1"/>
            </p:cNvSpPr>
            <p:nvPr/>
          </p:nvSpPr>
          <p:spPr bwMode="auto">
            <a:xfrm>
              <a:off x="384" y="2256"/>
              <a:ext cx="398" cy="365"/>
            </a:xfrm>
            <a:prstGeom prst="roundRect">
              <a:avLst>
                <a:gd name="adj" fmla="val 273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 i="1">
                  <a:solidFill>
                    <a:schemeClr val="tx1"/>
                  </a:solidFill>
                </a:rPr>
                <a:t>Q</a:t>
              </a:r>
              <a:r>
                <a:rPr lang="es-MX" sz="3200" i="1" baseline="-25000">
                  <a:solidFill>
                    <a:schemeClr val="tx1"/>
                  </a:solidFill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404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adroTexto 34"/>
          <p:cNvSpPr txBox="1"/>
          <p:nvPr/>
        </p:nvSpPr>
        <p:spPr>
          <a:xfrm>
            <a:off x="2301231" y="116997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87" name="Rectangle 1"/>
          <p:cNvSpPr txBox="1">
            <a:spLocks noChangeArrowheads="1"/>
          </p:cNvSpPr>
          <p:nvPr/>
        </p:nvSpPr>
        <p:spPr>
          <a:xfrm>
            <a:off x="1320552" y="984969"/>
            <a:ext cx="7315200" cy="742950"/>
          </a:xfrm>
          <a:prstGeom prst="rect">
            <a:avLst/>
          </a:prstGeom>
          <a:ln/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kern="1200" cap="all">
                <a:solidFill>
                  <a:srgbClr val="EFA82F"/>
                </a:solidFill>
                <a:latin typeface="Arial"/>
                <a:ea typeface="ＭＳ Ｐゴシック" charset="-128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9pPr>
          </a:lstStyle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800" dirty="0" smtClean="0">
                <a:solidFill>
                  <a:schemeClr val="tx1"/>
                </a:solidFill>
              </a:rPr>
              <a:t>REFRIGERADORES</a:t>
            </a:r>
            <a:endParaRPr lang="es-MX" sz="2800" dirty="0">
              <a:solidFill>
                <a:schemeClr val="tx1"/>
              </a:solidFill>
            </a:endParaRPr>
          </a:p>
        </p:txBody>
      </p:sp>
      <p:sp>
        <p:nvSpPr>
          <p:cNvPr id="88" name="Text Box 22"/>
          <p:cNvSpPr txBox="1">
            <a:spLocks noChangeArrowheads="1"/>
          </p:cNvSpPr>
          <p:nvPr/>
        </p:nvSpPr>
        <p:spPr bwMode="auto">
          <a:xfrm>
            <a:off x="4520952" y="2105963"/>
            <a:ext cx="4648200" cy="2095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just">
              <a:spcBef>
                <a:spcPts val="2000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600" dirty="0"/>
              <a:t>Un refrigerador es una máquina que opera a la inversa: realiza trabajo </a:t>
            </a:r>
            <a:r>
              <a:rPr lang="es-MX" sz="2600" u="sng" dirty="0">
                <a:solidFill>
                  <a:srgbClr val="FF0000"/>
                </a:solidFill>
              </a:rPr>
              <a:t>sobre</a:t>
            </a:r>
            <a:r>
              <a:rPr lang="es-MX" sz="2600" dirty="0"/>
              <a:t> gas que extrae calor </a:t>
            </a:r>
            <a:r>
              <a:rPr lang="es-MX" sz="2600" u="sng" dirty="0">
                <a:solidFill>
                  <a:srgbClr val="FF0000"/>
                </a:solidFill>
              </a:rPr>
              <a:t>del</a:t>
            </a:r>
            <a:r>
              <a:rPr lang="es-MX" sz="2600" dirty="0"/>
              <a:t> depósito frío y deposita calor </a:t>
            </a:r>
            <a:r>
              <a:rPr lang="es-MX" sz="2600" u="sng" dirty="0">
                <a:solidFill>
                  <a:srgbClr val="FF0000"/>
                </a:solidFill>
              </a:rPr>
              <a:t>en</a:t>
            </a:r>
            <a:r>
              <a:rPr lang="es-MX" sz="2600" dirty="0">
                <a:solidFill>
                  <a:srgbClr val="FF0000"/>
                </a:solidFill>
              </a:rPr>
              <a:t> </a:t>
            </a:r>
            <a:r>
              <a:rPr lang="es-MX" sz="2600" dirty="0"/>
              <a:t>el depósito caliente.</a:t>
            </a:r>
          </a:p>
        </p:txBody>
      </p:sp>
      <p:sp>
        <p:nvSpPr>
          <p:cNvPr id="89" name="Text Box 23"/>
          <p:cNvSpPr txBox="1">
            <a:spLocks noChangeArrowheads="1"/>
          </p:cNvSpPr>
          <p:nvPr/>
        </p:nvSpPr>
        <p:spPr bwMode="auto">
          <a:xfrm>
            <a:off x="4749552" y="4691376"/>
            <a:ext cx="4267200" cy="64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>
              <a:spcBef>
                <a:spcPts val="2250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600" dirty="0" err="1"/>
              <a:t>W</a:t>
            </a:r>
            <a:r>
              <a:rPr lang="es-MX" sz="3600" baseline="-25000" dirty="0" err="1"/>
              <a:t>in</a:t>
            </a:r>
            <a:r>
              <a:rPr lang="es-MX" sz="3600" baseline="-25000" dirty="0"/>
              <a:t> </a:t>
            </a:r>
            <a:r>
              <a:rPr lang="es-MX" sz="3600" dirty="0"/>
              <a:t>+ </a:t>
            </a:r>
            <a:r>
              <a:rPr lang="es-MX" sz="3600" dirty="0" err="1"/>
              <a:t>Q</a:t>
            </a:r>
            <a:r>
              <a:rPr lang="es-MX" sz="3600" baseline="-25000" dirty="0" err="1"/>
              <a:t>frío</a:t>
            </a:r>
            <a:r>
              <a:rPr lang="es-MX" sz="3600" baseline="-25000" dirty="0"/>
              <a:t> </a:t>
            </a:r>
            <a:r>
              <a:rPr lang="es-MX" sz="3600" dirty="0"/>
              <a:t>= </a:t>
            </a:r>
            <a:r>
              <a:rPr lang="es-MX" sz="3600" dirty="0" err="1"/>
              <a:t>Q</a:t>
            </a:r>
            <a:r>
              <a:rPr lang="es-MX" sz="3600" baseline="-25000" dirty="0" err="1"/>
              <a:t>caliente</a:t>
            </a:r>
            <a:endParaRPr lang="es-MX" sz="3600" baseline="-25000" dirty="0"/>
          </a:p>
        </p:txBody>
      </p:sp>
      <p:grpSp>
        <p:nvGrpSpPr>
          <p:cNvPr id="90" name="Group 24"/>
          <p:cNvGrpSpPr>
            <a:grpSpLocks/>
          </p:cNvGrpSpPr>
          <p:nvPr/>
        </p:nvGrpSpPr>
        <p:grpSpPr bwMode="auto">
          <a:xfrm>
            <a:off x="4673352" y="5706194"/>
            <a:ext cx="4343400" cy="769938"/>
            <a:chOff x="2736" y="3577"/>
            <a:chExt cx="2448" cy="485"/>
          </a:xfrm>
        </p:grpSpPr>
        <p:sp>
          <p:nvSpPr>
            <p:cNvPr id="91" name="AutoShape 25"/>
            <p:cNvSpPr>
              <a:spLocks noChangeArrowheads="1"/>
            </p:cNvSpPr>
            <p:nvPr/>
          </p:nvSpPr>
          <p:spPr bwMode="auto">
            <a:xfrm>
              <a:off x="2736" y="3577"/>
              <a:ext cx="2448" cy="485"/>
            </a:xfrm>
            <a:prstGeom prst="roundRect">
              <a:avLst>
                <a:gd name="adj" fmla="val 204"/>
              </a:avLst>
            </a:prstGeom>
            <a:solidFill>
              <a:srgbClr val="FFFFCC"/>
            </a:solidFill>
            <a:ln w="38160">
              <a:solidFill>
                <a:srgbClr val="0000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92" name="Text Box 26"/>
            <p:cNvSpPr txBox="1">
              <a:spLocks noChangeArrowheads="1"/>
            </p:cNvSpPr>
            <p:nvPr/>
          </p:nvSpPr>
          <p:spPr bwMode="auto">
            <a:xfrm>
              <a:off x="2736" y="3589"/>
              <a:ext cx="2448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137160" anchor="ctr">
              <a:spAutoFit/>
            </a:bodyPr>
            <a:lstStyle/>
            <a:p>
              <a:pPr algn="ctr">
                <a:spcBef>
                  <a:spcPts val="2250"/>
                </a:spcBef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600">
                  <a:solidFill>
                    <a:srgbClr val="000000"/>
                  </a:solidFill>
                </a:rPr>
                <a:t>W</a:t>
              </a:r>
              <a:r>
                <a:rPr lang="es-MX" sz="3600" baseline="-25000">
                  <a:solidFill>
                    <a:srgbClr val="000000"/>
                  </a:solidFill>
                </a:rPr>
                <a:t>IN </a:t>
              </a:r>
              <a:r>
                <a:rPr lang="es-MX" sz="3600">
                  <a:solidFill>
                    <a:srgbClr val="000000"/>
                  </a:solidFill>
                </a:rPr>
                <a:t>= Q</a:t>
              </a:r>
              <a:r>
                <a:rPr lang="es-MX" sz="3600" baseline="-25000">
                  <a:solidFill>
                    <a:srgbClr val="000000"/>
                  </a:solidFill>
                </a:rPr>
                <a:t>caliente </a:t>
              </a:r>
              <a:r>
                <a:rPr lang="es-MX" sz="3600">
                  <a:solidFill>
                    <a:srgbClr val="000000"/>
                  </a:solidFill>
                </a:rPr>
                <a:t>- Q</a:t>
              </a:r>
              <a:r>
                <a:rPr lang="es-MX" sz="3600" baseline="-25000">
                  <a:solidFill>
                    <a:srgbClr val="000000"/>
                  </a:solidFill>
                </a:rPr>
                <a:t>frío</a:t>
              </a:r>
            </a:p>
          </p:txBody>
        </p:sp>
      </p:grpSp>
      <p:grpSp>
        <p:nvGrpSpPr>
          <p:cNvPr id="93" name="Group 45"/>
          <p:cNvGrpSpPr>
            <a:grpSpLocks/>
          </p:cNvGrpSpPr>
          <p:nvPr/>
        </p:nvGrpSpPr>
        <p:grpSpPr bwMode="auto">
          <a:xfrm>
            <a:off x="1015752" y="1966044"/>
            <a:ext cx="3124200" cy="4495800"/>
            <a:chOff x="288" y="864"/>
            <a:chExt cx="1968" cy="2832"/>
          </a:xfrm>
        </p:grpSpPr>
        <p:sp>
          <p:nvSpPr>
            <p:cNvPr id="94" name="Rectangle 29"/>
            <p:cNvSpPr>
              <a:spLocks noChangeArrowheads="1"/>
            </p:cNvSpPr>
            <p:nvPr/>
          </p:nvSpPr>
          <p:spPr bwMode="auto">
            <a:xfrm>
              <a:off x="288" y="864"/>
              <a:ext cx="1968" cy="2832"/>
            </a:xfrm>
            <a:prstGeom prst="rect">
              <a:avLst/>
            </a:prstGeom>
            <a:solidFill>
              <a:srgbClr val="FFFFCC"/>
            </a:solidFill>
            <a:ln w="381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s-ES"/>
            </a:p>
          </p:txBody>
        </p:sp>
        <p:pic>
          <p:nvPicPr>
            <p:cNvPr id="95" name="Picture 30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32" y="3072"/>
              <a:ext cx="1544" cy="420"/>
            </a:xfrm>
            <a:prstGeom prst="rect">
              <a:avLst/>
            </a:prstGeom>
            <a:noFill/>
          </p:spPr>
        </p:pic>
        <p:sp>
          <p:nvSpPr>
            <p:cNvPr id="96" name="AutoShape 31"/>
            <p:cNvSpPr>
              <a:spLocks noChangeArrowheads="1"/>
            </p:cNvSpPr>
            <p:nvPr/>
          </p:nvSpPr>
          <p:spPr bwMode="auto">
            <a:xfrm>
              <a:off x="432" y="3120"/>
              <a:ext cx="1448" cy="323"/>
            </a:xfrm>
            <a:prstGeom prst="roundRect">
              <a:avLst>
                <a:gd name="adj" fmla="val 310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algn="ctr">
                <a:spcBef>
                  <a:spcPts val="75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2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Dep. frío T</a:t>
              </a:r>
              <a:r>
                <a:rPr lang="es-MX" sz="22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</a:t>
              </a:r>
            </a:p>
          </p:txBody>
        </p:sp>
        <p:pic>
          <p:nvPicPr>
            <p:cNvPr id="97" name="Picture 3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020" y="2531"/>
              <a:ext cx="368" cy="650"/>
            </a:xfrm>
            <a:prstGeom prst="rect">
              <a:avLst/>
            </a:prstGeom>
            <a:noFill/>
          </p:spPr>
        </p:pic>
        <p:pic>
          <p:nvPicPr>
            <p:cNvPr id="98" name="Picture 3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72" y="1920"/>
              <a:ext cx="1119" cy="743"/>
            </a:xfrm>
            <a:prstGeom prst="rect">
              <a:avLst/>
            </a:prstGeom>
            <a:noFill/>
          </p:spPr>
        </p:pic>
        <p:sp>
          <p:nvSpPr>
            <p:cNvPr id="99" name="AutoShape 34"/>
            <p:cNvSpPr>
              <a:spLocks noChangeArrowheads="1"/>
            </p:cNvSpPr>
            <p:nvPr/>
          </p:nvSpPr>
          <p:spPr bwMode="auto">
            <a:xfrm>
              <a:off x="768" y="2064"/>
              <a:ext cx="852" cy="454"/>
            </a:xfrm>
            <a:prstGeom prst="roundRect">
              <a:avLst>
                <a:gd name="adj" fmla="val 218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750"/>
                </a:spcBef>
                <a:buClr>
                  <a:srgbClr val="006666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400"/>
                <a:t>Máquina</a:t>
              </a:r>
            </a:p>
          </p:txBody>
        </p:sp>
        <p:pic>
          <p:nvPicPr>
            <p:cNvPr id="100" name="Picture 3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056" y="1392"/>
              <a:ext cx="368" cy="604"/>
            </a:xfrm>
            <a:prstGeom prst="rect">
              <a:avLst/>
            </a:prstGeom>
            <a:noFill/>
          </p:spPr>
        </p:pic>
        <p:pic>
          <p:nvPicPr>
            <p:cNvPr id="101" name="Picture 36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23" y="1104"/>
              <a:ext cx="1544" cy="420"/>
            </a:xfrm>
            <a:prstGeom prst="rect">
              <a:avLst/>
            </a:prstGeom>
            <a:noFill/>
          </p:spPr>
        </p:pic>
        <p:sp>
          <p:nvSpPr>
            <p:cNvPr id="102" name="AutoShape 37"/>
            <p:cNvSpPr>
              <a:spLocks noChangeArrowheads="1"/>
            </p:cNvSpPr>
            <p:nvPr/>
          </p:nvSpPr>
          <p:spPr bwMode="auto">
            <a:xfrm>
              <a:off x="528" y="1152"/>
              <a:ext cx="1448" cy="322"/>
            </a:xfrm>
            <a:prstGeom prst="roundRect">
              <a:avLst>
                <a:gd name="adj" fmla="val 310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algn="ctr">
                <a:spcBef>
                  <a:spcPts val="75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2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Dep. caliente T</a:t>
              </a:r>
              <a:r>
                <a:rPr lang="es-MX" sz="22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H</a:t>
              </a:r>
            </a:p>
          </p:txBody>
        </p:sp>
        <p:pic>
          <p:nvPicPr>
            <p:cNvPr id="103" name="Picture 38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1563" y="2163"/>
              <a:ext cx="549" cy="282"/>
            </a:xfrm>
            <a:prstGeom prst="rect">
              <a:avLst/>
            </a:prstGeom>
            <a:noFill/>
          </p:spPr>
        </p:pic>
        <p:sp>
          <p:nvSpPr>
            <p:cNvPr id="104" name="Freeform 39"/>
            <p:cNvSpPr>
              <a:spLocks noChangeArrowheads="1"/>
            </p:cNvSpPr>
            <p:nvPr/>
          </p:nvSpPr>
          <p:spPr bwMode="auto">
            <a:xfrm>
              <a:off x="1056" y="1536"/>
              <a:ext cx="241" cy="336"/>
            </a:xfrm>
            <a:custGeom>
              <a:avLst/>
              <a:gdLst/>
              <a:ahLst/>
              <a:cxnLst>
                <a:cxn ang="0">
                  <a:pos x="265" y="1482"/>
                </a:cxn>
                <a:cxn ang="0">
                  <a:pos x="265" y="371"/>
                </a:cxn>
                <a:cxn ang="0">
                  <a:pos x="0" y="371"/>
                </a:cxn>
                <a:cxn ang="0">
                  <a:pos x="530" y="0"/>
                </a:cxn>
                <a:cxn ang="0">
                  <a:pos x="1060" y="371"/>
                </a:cxn>
                <a:cxn ang="0">
                  <a:pos x="795" y="371"/>
                </a:cxn>
                <a:cxn ang="0">
                  <a:pos x="795" y="1482"/>
                </a:cxn>
                <a:cxn ang="0">
                  <a:pos x="265" y="1482"/>
                </a:cxn>
              </a:cxnLst>
              <a:rect l="0" t="0" r="r" b="b"/>
              <a:pathLst>
                <a:path w="1061" h="1483">
                  <a:moveTo>
                    <a:pt x="265" y="1482"/>
                  </a:moveTo>
                  <a:lnTo>
                    <a:pt x="265" y="371"/>
                  </a:lnTo>
                  <a:lnTo>
                    <a:pt x="0" y="371"/>
                  </a:lnTo>
                  <a:lnTo>
                    <a:pt x="530" y="0"/>
                  </a:lnTo>
                  <a:lnTo>
                    <a:pt x="1060" y="371"/>
                  </a:lnTo>
                  <a:lnTo>
                    <a:pt x="795" y="371"/>
                  </a:lnTo>
                  <a:lnTo>
                    <a:pt x="795" y="1482"/>
                  </a:lnTo>
                  <a:lnTo>
                    <a:pt x="265" y="1482"/>
                  </a:lnTo>
                </a:path>
              </a:pathLst>
            </a:custGeom>
            <a:solidFill>
              <a:srgbClr val="FF3300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05" name="Freeform 40"/>
            <p:cNvSpPr>
              <a:spLocks noChangeArrowheads="1"/>
            </p:cNvSpPr>
            <p:nvPr/>
          </p:nvSpPr>
          <p:spPr bwMode="auto">
            <a:xfrm>
              <a:off x="1728" y="2208"/>
              <a:ext cx="337" cy="192"/>
            </a:xfrm>
            <a:custGeom>
              <a:avLst/>
              <a:gdLst/>
              <a:ahLst/>
              <a:cxnLst>
                <a:cxn ang="0">
                  <a:pos x="1483" y="636"/>
                </a:cxn>
                <a:cxn ang="0">
                  <a:pos x="371" y="636"/>
                </a:cxn>
                <a:cxn ang="0">
                  <a:pos x="371" y="847"/>
                </a:cxn>
                <a:cxn ang="0">
                  <a:pos x="0" y="424"/>
                </a:cxn>
                <a:cxn ang="0">
                  <a:pos x="371" y="0"/>
                </a:cxn>
                <a:cxn ang="0">
                  <a:pos x="371" y="212"/>
                </a:cxn>
                <a:cxn ang="0">
                  <a:pos x="1483" y="212"/>
                </a:cxn>
                <a:cxn ang="0">
                  <a:pos x="1483" y="636"/>
                </a:cxn>
              </a:cxnLst>
              <a:rect l="0" t="0" r="r" b="b"/>
              <a:pathLst>
                <a:path w="1484" h="848">
                  <a:moveTo>
                    <a:pt x="1483" y="636"/>
                  </a:moveTo>
                  <a:lnTo>
                    <a:pt x="371" y="636"/>
                  </a:lnTo>
                  <a:lnTo>
                    <a:pt x="371" y="847"/>
                  </a:lnTo>
                  <a:lnTo>
                    <a:pt x="0" y="424"/>
                  </a:lnTo>
                  <a:lnTo>
                    <a:pt x="371" y="0"/>
                  </a:lnTo>
                  <a:lnTo>
                    <a:pt x="371" y="212"/>
                  </a:lnTo>
                  <a:lnTo>
                    <a:pt x="1483" y="212"/>
                  </a:lnTo>
                  <a:lnTo>
                    <a:pt x="1483" y="636"/>
                  </a:lnTo>
                </a:path>
              </a:pathLst>
            </a:custGeom>
            <a:solidFill>
              <a:srgbClr val="99FF33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06" name="Freeform 41"/>
            <p:cNvSpPr>
              <a:spLocks noChangeArrowheads="1"/>
            </p:cNvSpPr>
            <p:nvPr/>
          </p:nvSpPr>
          <p:spPr bwMode="auto">
            <a:xfrm>
              <a:off x="1056" y="2736"/>
              <a:ext cx="193" cy="337"/>
            </a:xfrm>
            <a:custGeom>
              <a:avLst/>
              <a:gdLst/>
              <a:ahLst/>
              <a:cxnLst>
                <a:cxn ang="0">
                  <a:pos x="212" y="1483"/>
                </a:cxn>
                <a:cxn ang="0">
                  <a:pos x="212" y="371"/>
                </a:cxn>
                <a:cxn ang="0">
                  <a:pos x="0" y="371"/>
                </a:cxn>
                <a:cxn ang="0">
                  <a:pos x="424" y="0"/>
                </a:cxn>
                <a:cxn ang="0">
                  <a:pos x="848" y="371"/>
                </a:cxn>
                <a:cxn ang="0">
                  <a:pos x="636" y="371"/>
                </a:cxn>
                <a:cxn ang="0">
                  <a:pos x="636" y="1483"/>
                </a:cxn>
                <a:cxn ang="0">
                  <a:pos x="212" y="1483"/>
                </a:cxn>
              </a:cxnLst>
              <a:rect l="0" t="0" r="r" b="b"/>
              <a:pathLst>
                <a:path w="849" h="1484">
                  <a:moveTo>
                    <a:pt x="212" y="1483"/>
                  </a:moveTo>
                  <a:lnTo>
                    <a:pt x="212" y="371"/>
                  </a:lnTo>
                  <a:lnTo>
                    <a:pt x="0" y="371"/>
                  </a:lnTo>
                  <a:lnTo>
                    <a:pt x="424" y="0"/>
                  </a:lnTo>
                  <a:lnTo>
                    <a:pt x="848" y="371"/>
                  </a:lnTo>
                  <a:lnTo>
                    <a:pt x="636" y="371"/>
                  </a:lnTo>
                  <a:lnTo>
                    <a:pt x="636" y="1483"/>
                  </a:lnTo>
                  <a:lnTo>
                    <a:pt x="212" y="1483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07" name="AutoShape 42"/>
            <p:cNvSpPr>
              <a:spLocks noChangeArrowheads="1"/>
            </p:cNvSpPr>
            <p:nvPr/>
          </p:nvSpPr>
          <p:spPr bwMode="auto">
            <a:xfrm>
              <a:off x="480" y="1536"/>
              <a:ext cx="595" cy="404"/>
            </a:xfrm>
            <a:prstGeom prst="roundRect">
              <a:avLst>
                <a:gd name="adj" fmla="val 245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25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600">
                  <a:solidFill>
                    <a:schemeClr val="tx1"/>
                  </a:solidFill>
                </a:rPr>
                <a:t>Q</a:t>
              </a:r>
              <a:r>
                <a:rPr lang="es-MX" sz="3600" baseline="-25000">
                  <a:solidFill>
                    <a:schemeClr val="tx1"/>
                  </a:solidFill>
                </a:rPr>
                <a:t>hot</a:t>
              </a:r>
            </a:p>
          </p:txBody>
        </p:sp>
        <p:sp>
          <p:nvSpPr>
            <p:cNvPr id="108" name="AutoShape 43"/>
            <p:cNvSpPr>
              <a:spLocks noChangeArrowheads="1"/>
            </p:cNvSpPr>
            <p:nvPr/>
          </p:nvSpPr>
          <p:spPr bwMode="auto">
            <a:xfrm>
              <a:off x="336" y="2640"/>
              <a:ext cx="663" cy="404"/>
            </a:xfrm>
            <a:prstGeom prst="roundRect">
              <a:avLst>
                <a:gd name="adj" fmla="val 245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25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600">
                  <a:solidFill>
                    <a:schemeClr val="tx1"/>
                  </a:solidFill>
                </a:rPr>
                <a:t>Q</a:t>
              </a:r>
              <a:r>
                <a:rPr lang="es-MX" sz="3600" baseline="-25000">
                  <a:solidFill>
                    <a:schemeClr val="tx1"/>
                  </a:solidFill>
                </a:rPr>
                <a:t>cold</a:t>
              </a:r>
            </a:p>
          </p:txBody>
        </p:sp>
        <p:sp>
          <p:nvSpPr>
            <p:cNvPr id="109" name="AutoShape 44"/>
            <p:cNvSpPr>
              <a:spLocks noChangeArrowheads="1"/>
            </p:cNvSpPr>
            <p:nvPr/>
          </p:nvSpPr>
          <p:spPr bwMode="auto">
            <a:xfrm>
              <a:off x="1728" y="1632"/>
              <a:ext cx="527" cy="404"/>
            </a:xfrm>
            <a:prstGeom prst="roundRect">
              <a:avLst>
                <a:gd name="adj" fmla="val 245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25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600">
                  <a:solidFill>
                    <a:schemeClr val="tx1"/>
                  </a:solidFill>
                </a:rPr>
                <a:t>W</a:t>
              </a:r>
              <a:r>
                <a:rPr lang="es-MX" sz="3600" baseline="-25000">
                  <a:solidFill>
                    <a:schemeClr val="tx1"/>
                  </a:solidFill>
                </a:rPr>
                <a:t>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396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%20Menu%20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%20Menu%20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utoUpdateAnimBg="0"/>
      <p:bldP spid="8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adroTexto 34"/>
          <p:cNvSpPr txBox="1"/>
          <p:nvPr/>
        </p:nvSpPr>
        <p:spPr>
          <a:xfrm>
            <a:off x="2301231" y="116997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26" name="Rectangle 1"/>
          <p:cNvSpPr txBox="1">
            <a:spLocks noChangeArrowheads="1"/>
          </p:cNvSpPr>
          <p:nvPr/>
        </p:nvSpPr>
        <p:spPr>
          <a:xfrm>
            <a:off x="1465387" y="720379"/>
            <a:ext cx="7315200" cy="1285875"/>
          </a:xfrm>
          <a:prstGeom prst="rect">
            <a:avLst/>
          </a:prstGeom>
          <a:ln/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kern="1200" cap="all">
                <a:solidFill>
                  <a:srgbClr val="EFA82F"/>
                </a:solidFill>
                <a:latin typeface="Arial"/>
                <a:ea typeface="ＭＳ Ｐゴシック" charset="-128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9pPr>
          </a:lstStyle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800" dirty="0" smtClean="0">
                <a:solidFill>
                  <a:schemeClr val="tx1"/>
                </a:solidFill>
              </a:rPr>
              <a:t>LA SEGUNDA LEY PARA REFRIGERADORES</a:t>
            </a:r>
            <a:endParaRPr lang="es-MX" sz="2800" dirty="0">
              <a:solidFill>
                <a:schemeClr val="tx1"/>
              </a:solidFill>
            </a:endParaRPr>
          </a:p>
        </p:txBody>
      </p:sp>
      <p:sp>
        <p:nvSpPr>
          <p:cNvPr id="27" name="Text Box 18"/>
          <p:cNvSpPr txBox="1">
            <a:spLocks noChangeArrowheads="1"/>
          </p:cNvSpPr>
          <p:nvPr/>
        </p:nvSpPr>
        <p:spPr bwMode="auto">
          <a:xfrm>
            <a:off x="3908401" y="2229664"/>
            <a:ext cx="5190256" cy="2556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just">
              <a:spcBef>
                <a:spcPts val="2000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200" dirty="0"/>
              <a:t>Es imposible construir un refrigerador que absorba calor de un depósito frío y deposite igual calor a un depósito caliente con </a:t>
            </a:r>
            <a:r>
              <a:rPr lang="es-MX" sz="3200" dirty="0">
                <a:latin typeface="Symbol" pitchFamily="18" charset="2"/>
              </a:rPr>
              <a:t></a:t>
            </a:r>
            <a:r>
              <a:rPr lang="es-MX" sz="3200" dirty="0"/>
              <a:t>W = 0.</a:t>
            </a:r>
          </a:p>
        </p:txBody>
      </p:sp>
      <p:sp>
        <p:nvSpPr>
          <p:cNvPr id="28" name="Text Box 19"/>
          <p:cNvSpPr txBox="1">
            <a:spLocks noChangeArrowheads="1"/>
          </p:cNvSpPr>
          <p:nvPr/>
        </p:nvSpPr>
        <p:spPr bwMode="auto">
          <a:xfrm>
            <a:off x="3879057" y="5149724"/>
            <a:ext cx="5638800" cy="1017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ts val="1875"/>
              </a:spcBef>
              <a:buClr>
                <a:srgbClr val="FFFF00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000" dirty="0">
                <a:solidFill>
                  <a:srgbClr val="FF0000"/>
                </a:solidFill>
              </a:rPr>
              <a:t>Si fuese posible, ¡se podría establecer movimiento perpetuo!</a:t>
            </a:r>
          </a:p>
        </p:txBody>
      </p:sp>
      <p:grpSp>
        <p:nvGrpSpPr>
          <p:cNvPr id="29" name="Group 24"/>
          <p:cNvGrpSpPr>
            <a:grpSpLocks/>
          </p:cNvGrpSpPr>
          <p:nvPr/>
        </p:nvGrpSpPr>
        <p:grpSpPr bwMode="auto">
          <a:xfrm>
            <a:off x="560512" y="2266603"/>
            <a:ext cx="2474912" cy="3810000"/>
            <a:chOff x="313" y="1152"/>
            <a:chExt cx="1559" cy="2400"/>
          </a:xfrm>
        </p:grpSpPr>
        <p:sp>
          <p:nvSpPr>
            <p:cNvPr id="30" name="Rectangle 22"/>
            <p:cNvSpPr>
              <a:spLocks noChangeArrowheads="1"/>
            </p:cNvSpPr>
            <p:nvPr/>
          </p:nvSpPr>
          <p:spPr bwMode="auto">
            <a:xfrm>
              <a:off x="336" y="1152"/>
              <a:ext cx="1536" cy="2400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s-ES"/>
            </a:p>
          </p:txBody>
        </p:sp>
        <p:pic>
          <p:nvPicPr>
            <p:cNvPr id="31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51" y="2953"/>
              <a:ext cx="1080" cy="359"/>
            </a:xfrm>
            <a:prstGeom prst="rect">
              <a:avLst/>
            </a:prstGeom>
            <a:noFill/>
          </p:spPr>
        </p:pic>
        <p:sp>
          <p:nvSpPr>
            <p:cNvPr id="32" name="AutoShape 5"/>
            <p:cNvSpPr>
              <a:spLocks noChangeArrowheads="1"/>
            </p:cNvSpPr>
            <p:nvPr/>
          </p:nvSpPr>
          <p:spPr bwMode="auto">
            <a:xfrm>
              <a:off x="336" y="3050"/>
              <a:ext cx="1248" cy="263"/>
            </a:xfrm>
            <a:prstGeom prst="roundRect">
              <a:avLst>
                <a:gd name="adj" fmla="val 380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6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1400"/>
                <a:t>Dep. frío T</a:t>
              </a:r>
              <a:r>
                <a:rPr lang="es-MX" sz="1400" baseline="-25000"/>
                <a:t>C</a:t>
              </a:r>
            </a:p>
          </p:txBody>
        </p:sp>
        <p:pic>
          <p:nvPicPr>
            <p:cNvPr id="33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51" y="2504"/>
              <a:ext cx="280" cy="546"/>
            </a:xfrm>
            <a:prstGeom prst="rect">
              <a:avLst/>
            </a:prstGeom>
            <a:noFill/>
          </p:spPr>
        </p:pic>
        <p:pic>
          <p:nvPicPr>
            <p:cNvPr id="34" name="Picture 8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05" y="2017"/>
              <a:ext cx="741" cy="622"/>
            </a:xfrm>
            <a:prstGeom prst="rect">
              <a:avLst/>
            </a:prstGeom>
            <a:noFill/>
          </p:spPr>
        </p:pic>
        <p:sp>
          <p:nvSpPr>
            <p:cNvPr id="36" name="AutoShape 9"/>
            <p:cNvSpPr>
              <a:spLocks noChangeArrowheads="1"/>
            </p:cNvSpPr>
            <p:nvPr/>
          </p:nvSpPr>
          <p:spPr bwMode="auto">
            <a:xfrm>
              <a:off x="576" y="2192"/>
              <a:ext cx="720" cy="370"/>
            </a:xfrm>
            <a:prstGeom prst="roundRect">
              <a:avLst>
                <a:gd name="adj" fmla="val 269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600"/>
                </a:spcBef>
                <a:buClr>
                  <a:srgbClr val="006666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Máquina</a:t>
              </a:r>
            </a:p>
          </p:txBody>
        </p:sp>
        <p:pic>
          <p:nvPicPr>
            <p:cNvPr id="37" name="Picture 10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851" y="1606"/>
              <a:ext cx="280" cy="508"/>
            </a:xfrm>
            <a:prstGeom prst="rect">
              <a:avLst/>
            </a:prstGeom>
            <a:noFill/>
          </p:spPr>
        </p:pic>
        <p:pic>
          <p:nvPicPr>
            <p:cNvPr id="38" name="Picture 12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13" y="1417"/>
              <a:ext cx="1081" cy="359"/>
            </a:xfrm>
            <a:prstGeom prst="rect">
              <a:avLst/>
            </a:prstGeom>
            <a:noFill/>
          </p:spPr>
        </p:pic>
        <p:sp>
          <p:nvSpPr>
            <p:cNvPr id="39" name="AutoShape 13"/>
            <p:cNvSpPr>
              <a:spLocks noChangeArrowheads="1"/>
            </p:cNvSpPr>
            <p:nvPr/>
          </p:nvSpPr>
          <p:spPr bwMode="auto">
            <a:xfrm>
              <a:off x="480" y="1465"/>
              <a:ext cx="1167" cy="263"/>
            </a:xfrm>
            <a:prstGeom prst="roundRect">
              <a:avLst>
                <a:gd name="adj" fmla="val 380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6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1400"/>
                <a:t>Dep. caliente T</a:t>
              </a:r>
              <a:r>
                <a:rPr lang="es-MX" sz="1400" baseline="-25000"/>
                <a:t>H</a:t>
              </a:r>
            </a:p>
          </p:txBody>
        </p:sp>
        <p:sp>
          <p:nvSpPr>
            <p:cNvPr id="40" name="Freeform 14"/>
            <p:cNvSpPr>
              <a:spLocks noChangeArrowheads="1"/>
            </p:cNvSpPr>
            <p:nvPr/>
          </p:nvSpPr>
          <p:spPr bwMode="auto">
            <a:xfrm>
              <a:off x="883" y="1777"/>
              <a:ext cx="154" cy="263"/>
            </a:xfrm>
            <a:custGeom>
              <a:avLst/>
              <a:gdLst/>
              <a:ahLst/>
              <a:cxnLst>
                <a:cxn ang="0">
                  <a:pos x="169" y="1158"/>
                </a:cxn>
                <a:cxn ang="0">
                  <a:pos x="169" y="290"/>
                </a:cxn>
                <a:cxn ang="0">
                  <a:pos x="0" y="290"/>
                </a:cxn>
                <a:cxn ang="0">
                  <a:pos x="337" y="0"/>
                </a:cxn>
                <a:cxn ang="0">
                  <a:pos x="676" y="290"/>
                </a:cxn>
                <a:cxn ang="0">
                  <a:pos x="506" y="290"/>
                </a:cxn>
                <a:cxn ang="0">
                  <a:pos x="506" y="1158"/>
                </a:cxn>
                <a:cxn ang="0">
                  <a:pos x="169" y="1158"/>
                </a:cxn>
              </a:cxnLst>
              <a:rect l="0" t="0" r="r" b="b"/>
              <a:pathLst>
                <a:path w="677" h="1159">
                  <a:moveTo>
                    <a:pt x="169" y="1158"/>
                  </a:moveTo>
                  <a:lnTo>
                    <a:pt x="169" y="290"/>
                  </a:lnTo>
                  <a:lnTo>
                    <a:pt x="0" y="290"/>
                  </a:lnTo>
                  <a:lnTo>
                    <a:pt x="337" y="0"/>
                  </a:lnTo>
                  <a:lnTo>
                    <a:pt x="676" y="290"/>
                  </a:lnTo>
                  <a:lnTo>
                    <a:pt x="506" y="290"/>
                  </a:lnTo>
                  <a:lnTo>
                    <a:pt x="506" y="1158"/>
                  </a:lnTo>
                  <a:lnTo>
                    <a:pt x="169" y="1158"/>
                  </a:lnTo>
                </a:path>
              </a:pathLst>
            </a:custGeom>
            <a:solidFill>
              <a:srgbClr val="FF3300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1" name="Freeform 15"/>
            <p:cNvSpPr>
              <a:spLocks noChangeArrowheads="1"/>
            </p:cNvSpPr>
            <p:nvPr/>
          </p:nvSpPr>
          <p:spPr bwMode="auto">
            <a:xfrm>
              <a:off x="883" y="2713"/>
              <a:ext cx="123" cy="263"/>
            </a:xfrm>
            <a:custGeom>
              <a:avLst/>
              <a:gdLst/>
              <a:ahLst/>
              <a:cxnLst>
                <a:cxn ang="0">
                  <a:pos x="134" y="1158"/>
                </a:cxn>
                <a:cxn ang="0">
                  <a:pos x="134" y="290"/>
                </a:cxn>
                <a:cxn ang="0">
                  <a:pos x="0" y="290"/>
                </a:cxn>
                <a:cxn ang="0">
                  <a:pos x="270" y="0"/>
                </a:cxn>
                <a:cxn ang="0">
                  <a:pos x="541" y="290"/>
                </a:cxn>
                <a:cxn ang="0">
                  <a:pos x="405" y="290"/>
                </a:cxn>
                <a:cxn ang="0">
                  <a:pos x="405" y="1158"/>
                </a:cxn>
                <a:cxn ang="0">
                  <a:pos x="134" y="1158"/>
                </a:cxn>
              </a:cxnLst>
              <a:rect l="0" t="0" r="r" b="b"/>
              <a:pathLst>
                <a:path w="542" h="1159">
                  <a:moveTo>
                    <a:pt x="134" y="1158"/>
                  </a:moveTo>
                  <a:lnTo>
                    <a:pt x="134" y="290"/>
                  </a:lnTo>
                  <a:lnTo>
                    <a:pt x="0" y="290"/>
                  </a:lnTo>
                  <a:lnTo>
                    <a:pt x="270" y="0"/>
                  </a:lnTo>
                  <a:lnTo>
                    <a:pt x="541" y="290"/>
                  </a:lnTo>
                  <a:lnTo>
                    <a:pt x="405" y="290"/>
                  </a:lnTo>
                  <a:lnTo>
                    <a:pt x="405" y="1158"/>
                  </a:lnTo>
                  <a:lnTo>
                    <a:pt x="134" y="1158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2" name="AutoShape 16"/>
            <p:cNvSpPr>
              <a:spLocks noChangeArrowheads="1"/>
            </p:cNvSpPr>
            <p:nvPr/>
          </p:nvSpPr>
          <p:spPr bwMode="auto">
            <a:xfrm>
              <a:off x="313" y="1751"/>
              <a:ext cx="537" cy="366"/>
            </a:xfrm>
            <a:prstGeom prst="roundRect">
              <a:avLst>
                <a:gd name="adj" fmla="val 28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>
                  <a:solidFill>
                    <a:schemeClr val="tx1"/>
                  </a:solidFill>
                </a:rPr>
                <a:t>Q</a:t>
              </a:r>
              <a:r>
                <a:rPr lang="es-MX" sz="3200" baseline="-25000">
                  <a:solidFill>
                    <a:schemeClr val="tx1"/>
                  </a:solidFill>
                </a:rPr>
                <a:t>hot</a:t>
              </a:r>
            </a:p>
          </p:txBody>
        </p:sp>
        <p:sp>
          <p:nvSpPr>
            <p:cNvPr id="43" name="AutoShape 17"/>
            <p:cNvSpPr>
              <a:spLocks noChangeArrowheads="1"/>
            </p:cNvSpPr>
            <p:nvPr/>
          </p:nvSpPr>
          <p:spPr bwMode="auto">
            <a:xfrm>
              <a:off x="1056" y="2592"/>
              <a:ext cx="596" cy="366"/>
            </a:xfrm>
            <a:prstGeom prst="roundRect">
              <a:avLst>
                <a:gd name="adj" fmla="val 28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>
                  <a:solidFill>
                    <a:schemeClr val="tx1"/>
                  </a:solidFill>
                </a:rPr>
                <a:t>Q</a:t>
              </a:r>
              <a:r>
                <a:rPr lang="es-MX" sz="3200" baseline="-25000">
                  <a:solidFill>
                    <a:schemeClr val="tx1"/>
                  </a:solidFill>
                </a:rPr>
                <a:t>cold</a:t>
              </a:r>
            </a:p>
          </p:txBody>
        </p:sp>
      </p:grpSp>
      <p:sp>
        <p:nvSpPr>
          <p:cNvPr id="44" name="Line 20"/>
          <p:cNvSpPr>
            <a:spLocks noChangeShapeType="1"/>
          </p:cNvSpPr>
          <p:nvPr/>
        </p:nvSpPr>
        <p:spPr bwMode="auto">
          <a:xfrm flipH="1" flipV="1">
            <a:off x="2876600" y="4824065"/>
            <a:ext cx="841375" cy="765175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087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%20Menu%20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%20Menu%20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utoUpdateAnimBg="0"/>
      <p:bldP spid="28" grpId="0" autoUpdateAnimBg="0"/>
      <p:bldP spid="4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adroTexto 34"/>
          <p:cNvSpPr txBox="1"/>
          <p:nvPr/>
        </p:nvSpPr>
        <p:spPr>
          <a:xfrm>
            <a:off x="2301231" y="116997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21" name="Rectangle 1"/>
          <p:cNvSpPr txBox="1">
            <a:spLocks noChangeArrowheads="1"/>
          </p:cNvSpPr>
          <p:nvPr/>
        </p:nvSpPr>
        <p:spPr>
          <a:xfrm>
            <a:off x="1208584" y="908720"/>
            <a:ext cx="8153400" cy="742950"/>
          </a:xfrm>
          <a:prstGeom prst="rect">
            <a:avLst/>
          </a:prstGeom>
          <a:ln/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kern="1200" cap="all">
                <a:solidFill>
                  <a:srgbClr val="EFA82F"/>
                </a:solidFill>
                <a:latin typeface="Arial"/>
                <a:ea typeface="ＭＳ Ｐゴシック" charset="-128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9pPr>
          </a:lstStyle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800" dirty="0" smtClean="0">
                <a:solidFill>
                  <a:schemeClr val="tx1"/>
                </a:solidFill>
              </a:rPr>
              <a:t>COEFICIENTE DE RENDIMIENTO (COP)</a:t>
            </a:r>
            <a:endParaRPr lang="es-MX" sz="2800" dirty="0">
              <a:solidFill>
                <a:schemeClr val="tx1"/>
              </a:solidFill>
            </a:endParaRPr>
          </a:p>
        </p:txBody>
      </p:sp>
      <p:grpSp>
        <p:nvGrpSpPr>
          <p:cNvPr id="22" name="Group 38"/>
          <p:cNvGrpSpPr>
            <a:grpSpLocks/>
          </p:cNvGrpSpPr>
          <p:nvPr/>
        </p:nvGrpSpPr>
        <p:grpSpPr bwMode="auto">
          <a:xfrm>
            <a:off x="1056184" y="1965995"/>
            <a:ext cx="2438400" cy="3657600"/>
            <a:chOff x="384" y="912"/>
            <a:chExt cx="1536" cy="2304"/>
          </a:xfrm>
        </p:grpSpPr>
        <p:sp>
          <p:nvSpPr>
            <p:cNvPr id="23" name="Rectangle 37"/>
            <p:cNvSpPr>
              <a:spLocks noChangeArrowheads="1"/>
            </p:cNvSpPr>
            <p:nvPr/>
          </p:nvSpPr>
          <p:spPr bwMode="auto">
            <a:xfrm>
              <a:off x="384" y="912"/>
              <a:ext cx="1536" cy="2304"/>
            </a:xfrm>
            <a:prstGeom prst="rect">
              <a:avLst/>
            </a:prstGeom>
            <a:solidFill>
              <a:srgbClr val="FFFFCC"/>
            </a:solidFill>
            <a:ln w="571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s-ES"/>
            </a:p>
          </p:txBody>
        </p:sp>
        <p:pic>
          <p:nvPicPr>
            <p:cNvPr id="24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7" y="2728"/>
              <a:ext cx="1067" cy="345"/>
            </a:xfrm>
            <a:prstGeom prst="rect">
              <a:avLst/>
            </a:prstGeom>
            <a:noFill/>
          </p:spPr>
        </p:pic>
        <p:sp>
          <p:nvSpPr>
            <p:cNvPr id="25" name="AutoShape 6"/>
            <p:cNvSpPr>
              <a:spLocks noChangeArrowheads="1"/>
            </p:cNvSpPr>
            <p:nvPr/>
          </p:nvSpPr>
          <p:spPr bwMode="auto">
            <a:xfrm>
              <a:off x="480" y="2784"/>
              <a:ext cx="1171" cy="265"/>
            </a:xfrm>
            <a:prstGeom prst="roundRect">
              <a:avLst>
                <a:gd name="adj" fmla="val 375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algn="ctr">
                <a:spcBef>
                  <a:spcPts val="6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1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Dep. frío T</a:t>
              </a:r>
              <a:r>
                <a:rPr lang="es-MX" sz="1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</a:t>
              </a:r>
            </a:p>
          </p:txBody>
        </p:sp>
        <p:pic>
          <p:nvPicPr>
            <p:cNvPr id="45" name="Picture 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964" y="2275"/>
              <a:ext cx="254" cy="533"/>
            </a:xfrm>
            <a:prstGeom prst="rect">
              <a:avLst/>
            </a:prstGeom>
            <a:noFill/>
          </p:spPr>
        </p:pic>
        <p:pic>
          <p:nvPicPr>
            <p:cNvPr id="46" name="Picture 9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13" y="1784"/>
              <a:ext cx="723" cy="609"/>
            </a:xfrm>
            <a:prstGeom prst="rect">
              <a:avLst/>
            </a:prstGeom>
            <a:noFill/>
          </p:spPr>
        </p:pic>
        <p:sp>
          <p:nvSpPr>
            <p:cNvPr id="47" name="AutoShape 10"/>
            <p:cNvSpPr>
              <a:spLocks noChangeArrowheads="1"/>
            </p:cNvSpPr>
            <p:nvPr/>
          </p:nvSpPr>
          <p:spPr bwMode="auto">
            <a:xfrm>
              <a:off x="672" y="1942"/>
              <a:ext cx="725" cy="372"/>
            </a:xfrm>
            <a:prstGeom prst="roundRect">
              <a:avLst>
                <a:gd name="adj" fmla="val 269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algn="ctr">
                <a:spcBef>
                  <a:spcPts val="600"/>
                </a:spcBef>
                <a:buClr>
                  <a:srgbClr val="006666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1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Máquina</a:t>
              </a:r>
            </a:p>
          </p:txBody>
        </p:sp>
        <p:pic>
          <p:nvPicPr>
            <p:cNvPr id="48" name="Picture 1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964" y="1368"/>
              <a:ext cx="254" cy="495"/>
            </a:xfrm>
            <a:prstGeom prst="rect">
              <a:avLst/>
            </a:prstGeom>
            <a:noFill/>
          </p:spPr>
        </p:pic>
        <p:pic>
          <p:nvPicPr>
            <p:cNvPr id="49" name="Picture 13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620" y="1104"/>
              <a:ext cx="1067" cy="345"/>
            </a:xfrm>
            <a:prstGeom prst="rect">
              <a:avLst/>
            </a:prstGeom>
            <a:noFill/>
          </p:spPr>
        </p:pic>
        <p:sp>
          <p:nvSpPr>
            <p:cNvPr id="50" name="AutoShape 14"/>
            <p:cNvSpPr>
              <a:spLocks noChangeArrowheads="1"/>
            </p:cNvSpPr>
            <p:nvPr/>
          </p:nvSpPr>
          <p:spPr bwMode="auto">
            <a:xfrm>
              <a:off x="528" y="1152"/>
              <a:ext cx="1252" cy="265"/>
            </a:xfrm>
            <a:prstGeom prst="roundRect">
              <a:avLst>
                <a:gd name="adj" fmla="val 375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algn="ctr">
                <a:spcBef>
                  <a:spcPts val="6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1400"/>
                <a:t>Dep. caliente T</a:t>
              </a:r>
              <a:r>
                <a:rPr lang="es-MX" sz="1400" baseline="-25000"/>
                <a:t>H</a:t>
              </a:r>
            </a:p>
          </p:txBody>
        </p:sp>
        <p:pic>
          <p:nvPicPr>
            <p:cNvPr id="51" name="Picture 15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1339" y="1972"/>
              <a:ext cx="379" cy="231"/>
            </a:xfrm>
            <a:prstGeom prst="rect">
              <a:avLst/>
            </a:prstGeom>
            <a:noFill/>
          </p:spPr>
        </p:pic>
        <p:sp>
          <p:nvSpPr>
            <p:cNvPr id="52" name="Freeform 16"/>
            <p:cNvSpPr>
              <a:spLocks noChangeArrowheads="1"/>
            </p:cNvSpPr>
            <p:nvPr/>
          </p:nvSpPr>
          <p:spPr bwMode="auto">
            <a:xfrm>
              <a:off x="960" y="1458"/>
              <a:ext cx="165" cy="276"/>
            </a:xfrm>
            <a:custGeom>
              <a:avLst/>
              <a:gdLst/>
              <a:ahLst/>
              <a:cxnLst>
                <a:cxn ang="0">
                  <a:pos x="181" y="1218"/>
                </a:cxn>
                <a:cxn ang="0">
                  <a:pos x="181" y="305"/>
                </a:cxn>
                <a:cxn ang="0">
                  <a:pos x="0" y="305"/>
                </a:cxn>
                <a:cxn ang="0">
                  <a:pos x="363" y="0"/>
                </a:cxn>
                <a:cxn ang="0">
                  <a:pos x="727" y="305"/>
                </a:cxn>
                <a:cxn ang="0">
                  <a:pos x="546" y="305"/>
                </a:cxn>
                <a:cxn ang="0">
                  <a:pos x="546" y="1218"/>
                </a:cxn>
                <a:cxn ang="0">
                  <a:pos x="181" y="1218"/>
                </a:cxn>
              </a:cxnLst>
              <a:rect l="0" t="0" r="r" b="b"/>
              <a:pathLst>
                <a:path w="728" h="1219">
                  <a:moveTo>
                    <a:pt x="181" y="1218"/>
                  </a:moveTo>
                  <a:lnTo>
                    <a:pt x="181" y="305"/>
                  </a:lnTo>
                  <a:lnTo>
                    <a:pt x="0" y="305"/>
                  </a:lnTo>
                  <a:lnTo>
                    <a:pt x="363" y="0"/>
                  </a:lnTo>
                  <a:lnTo>
                    <a:pt x="727" y="305"/>
                  </a:lnTo>
                  <a:lnTo>
                    <a:pt x="546" y="305"/>
                  </a:lnTo>
                  <a:lnTo>
                    <a:pt x="546" y="1218"/>
                  </a:lnTo>
                  <a:lnTo>
                    <a:pt x="181" y="1218"/>
                  </a:lnTo>
                </a:path>
              </a:pathLst>
            </a:custGeom>
            <a:solidFill>
              <a:srgbClr val="FF3300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3" name="Freeform 17"/>
            <p:cNvSpPr>
              <a:spLocks noChangeArrowheads="1"/>
            </p:cNvSpPr>
            <p:nvPr/>
          </p:nvSpPr>
          <p:spPr bwMode="auto">
            <a:xfrm>
              <a:off x="1420" y="2009"/>
              <a:ext cx="232" cy="159"/>
            </a:xfrm>
            <a:custGeom>
              <a:avLst/>
              <a:gdLst/>
              <a:ahLst/>
              <a:cxnLst>
                <a:cxn ang="0">
                  <a:pos x="1024" y="524"/>
                </a:cxn>
                <a:cxn ang="0">
                  <a:pos x="256" y="524"/>
                </a:cxn>
                <a:cxn ang="0">
                  <a:pos x="256" y="698"/>
                </a:cxn>
                <a:cxn ang="0">
                  <a:pos x="0" y="349"/>
                </a:cxn>
                <a:cxn ang="0">
                  <a:pos x="256" y="0"/>
                </a:cxn>
                <a:cxn ang="0">
                  <a:pos x="256" y="175"/>
                </a:cxn>
                <a:cxn ang="0">
                  <a:pos x="1024" y="175"/>
                </a:cxn>
                <a:cxn ang="0">
                  <a:pos x="1024" y="524"/>
                </a:cxn>
              </a:cxnLst>
              <a:rect l="0" t="0" r="r" b="b"/>
              <a:pathLst>
                <a:path w="1025" h="699">
                  <a:moveTo>
                    <a:pt x="1024" y="524"/>
                  </a:moveTo>
                  <a:lnTo>
                    <a:pt x="256" y="524"/>
                  </a:lnTo>
                  <a:lnTo>
                    <a:pt x="256" y="698"/>
                  </a:lnTo>
                  <a:lnTo>
                    <a:pt x="0" y="349"/>
                  </a:lnTo>
                  <a:lnTo>
                    <a:pt x="256" y="0"/>
                  </a:lnTo>
                  <a:lnTo>
                    <a:pt x="256" y="175"/>
                  </a:lnTo>
                  <a:lnTo>
                    <a:pt x="1024" y="175"/>
                  </a:lnTo>
                  <a:lnTo>
                    <a:pt x="1024" y="524"/>
                  </a:lnTo>
                </a:path>
              </a:pathLst>
            </a:custGeom>
            <a:solidFill>
              <a:srgbClr val="99FF33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4" name="Freeform 18"/>
            <p:cNvSpPr>
              <a:spLocks noChangeArrowheads="1"/>
            </p:cNvSpPr>
            <p:nvPr/>
          </p:nvSpPr>
          <p:spPr bwMode="auto">
            <a:xfrm>
              <a:off x="960" y="2442"/>
              <a:ext cx="132" cy="276"/>
            </a:xfrm>
            <a:custGeom>
              <a:avLst/>
              <a:gdLst/>
              <a:ahLst/>
              <a:cxnLst>
                <a:cxn ang="0">
                  <a:pos x="145" y="1218"/>
                </a:cxn>
                <a:cxn ang="0">
                  <a:pos x="145" y="305"/>
                </a:cxn>
                <a:cxn ang="0">
                  <a:pos x="0" y="305"/>
                </a:cxn>
                <a:cxn ang="0">
                  <a:pos x="291" y="0"/>
                </a:cxn>
                <a:cxn ang="0">
                  <a:pos x="583" y="305"/>
                </a:cxn>
                <a:cxn ang="0">
                  <a:pos x="437" y="305"/>
                </a:cxn>
                <a:cxn ang="0">
                  <a:pos x="437" y="1218"/>
                </a:cxn>
                <a:cxn ang="0">
                  <a:pos x="145" y="1218"/>
                </a:cxn>
              </a:cxnLst>
              <a:rect l="0" t="0" r="r" b="b"/>
              <a:pathLst>
                <a:path w="584" h="1219">
                  <a:moveTo>
                    <a:pt x="145" y="1218"/>
                  </a:moveTo>
                  <a:lnTo>
                    <a:pt x="145" y="305"/>
                  </a:lnTo>
                  <a:lnTo>
                    <a:pt x="0" y="305"/>
                  </a:lnTo>
                  <a:lnTo>
                    <a:pt x="291" y="0"/>
                  </a:lnTo>
                  <a:lnTo>
                    <a:pt x="583" y="305"/>
                  </a:lnTo>
                  <a:lnTo>
                    <a:pt x="437" y="305"/>
                  </a:lnTo>
                  <a:lnTo>
                    <a:pt x="437" y="1218"/>
                  </a:lnTo>
                  <a:lnTo>
                    <a:pt x="145" y="1218"/>
                  </a:lnTo>
                </a:path>
              </a:pathLst>
            </a:custGeom>
            <a:solidFill>
              <a:srgbClr val="99CCFF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5" name="AutoShape 19"/>
            <p:cNvSpPr>
              <a:spLocks noChangeArrowheads="1"/>
            </p:cNvSpPr>
            <p:nvPr/>
          </p:nvSpPr>
          <p:spPr bwMode="auto">
            <a:xfrm>
              <a:off x="384" y="1440"/>
              <a:ext cx="410" cy="365"/>
            </a:xfrm>
            <a:prstGeom prst="roundRect">
              <a:avLst>
                <a:gd name="adj" fmla="val 273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>
                  <a:solidFill>
                    <a:schemeClr val="tx1"/>
                  </a:solidFill>
                </a:rPr>
                <a:t>Q</a:t>
              </a:r>
              <a:r>
                <a:rPr lang="es-MX" sz="3200" baseline="-2500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56" name="AutoShape 20"/>
            <p:cNvSpPr>
              <a:spLocks noChangeArrowheads="1"/>
            </p:cNvSpPr>
            <p:nvPr/>
          </p:nvSpPr>
          <p:spPr bwMode="auto">
            <a:xfrm>
              <a:off x="1440" y="1536"/>
              <a:ext cx="347" cy="365"/>
            </a:xfrm>
            <a:prstGeom prst="roundRect">
              <a:avLst>
                <a:gd name="adj" fmla="val 28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57" name="AutoShape 21"/>
            <p:cNvSpPr>
              <a:spLocks noChangeArrowheads="1"/>
            </p:cNvSpPr>
            <p:nvPr/>
          </p:nvSpPr>
          <p:spPr bwMode="auto">
            <a:xfrm>
              <a:off x="384" y="2256"/>
              <a:ext cx="398" cy="365"/>
            </a:xfrm>
            <a:prstGeom prst="roundRect">
              <a:avLst>
                <a:gd name="adj" fmla="val 273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 dirty="0">
                  <a:solidFill>
                    <a:schemeClr val="tx1"/>
                  </a:solidFill>
                </a:rPr>
                <a:t>Q</a:t>
              </a:r>
              <a:r>
                <a:rPr lang="es-MX" sz="3200" baseline="-25000" dirty="0">
                  <a:solidFill>
                    <a:schemeClr val="tx1"/>
                  </a:solidFill>
                </a:rPr>
                <a:t>C</a:t>
              </a:r>
            </a:p>
          </p:txBody>
        </p:sp>
      </p:grpSp>
      <p:sp>
        <p:nvSpPr>
          <p:cNvPr id="58" name="Text Box 22"/>
          <p:cNvSpPr txBox="1">
            <a:spLocks noChangeArrowheads="1"/>
          </p:cNvSpPr>
          <p:nvPr/>
        </p:nvSpPr>
        <p:spPr bwMode="auto">
          <a:xfrm>
            <a:off x="4040684" y="1897850"/>
            <a:ext cx="5029200" cy="1017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just">
              <a:spcBef>
                <a:spcPts val="1875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000" dirty="0"/>
              <a:t>El </a:t>
            </a:r>
            <a:r>
              <a:rPr lang="es-MX" sz="2000" dirty="0">
                <a:solidFill>
                  <a:srgbClr val="FF0000"/>
                </a:solidFill>
              </a:rPr>
              <a:t>COP (K)</a:t>
            </a:r>
            <a:r>
              <a:rPr lang="es-MX" sz="2000" dirty="0"/>
              <a:t> de una máquina </a:t>
            </a:r>
            <a:r>
              <a:rPr lang="es-MX" sz="2000" dirty="0" err="1" smtClean="0"/>
              <a:t>frigorifica</a:t>
            </a:r>
            <a:r>
              <a:rPr lang="es-MX" sz="2000" dirty="0" smtClean="0"/>
              <a:t> </a:t>
            </a:r>
            <a:r>
              <a:rPr lang="es-MX" sz="2000" dirty="0"/>
              <a:t>es la razón del </a:t>
            </a:r>
            <a:r>
              <a:rPr lang="es-MX" sz="2000" dirty="0">
                <a:solidFill>
                  <a:srgbClr val="FF0000"/>
                </a:solidFill>
              </a:rPr>
              <a:t>CALOR </a:t>
            </a:r>
            <a:r>
              <a:rPr lang="es-MX" sz="2000" dirty="0" smtClean="0">
                <a:solidFill>
                  <a:srgbClr val="FF0000"/>
                </a:solidFill>
              </a:rPr>
              <a:t>Q</a:t>
            </a:r>
            <a:r>
              <a:rPr lang="es-MX" sz="2000" baseline="-25000" dirty="0" smtClean="0">
                <a:solidFill>
                  <a:srgbClr val="FF0000"/>
                </a:solidFill>
              </a:rPr>
              <a:t>C</a:t>
            </a:r>
            <a:r>
              <a:rPr lang="es-MX" sz="2000" dirty="0" smtClean="0">
                <a:solidFill>
                  <a:srgbClr val="FF0000"/>
                </a:solidFill>
              </a:rPr>
              <a:t> </a:t>
            </a:r>
            <a:r>
              <a:rPr lang="es-MX" sz="2000" dirty="0"/>
              <a:t>extraído al </a:t>
            </a:r>
            <a:r>
              <a:rPr lang="es-MX" sz="2000" dirty="0">
                <a:solidFill>
                  <a:srgbClr val="FF0000"/>
                </a:solidFill>
              </a:rPr>
              <a:t>TRABAJO</a:t>
            </a:r>
            <a:r>
              <a:rPr lang="es-MX" sz="2000" dirty="0"/>
              <a:t> neto realizado </a:t>
            </a:r>
            <a:r>
              <a:rPr lang="es-MX" sz="2000" dirty="0">
                <a:solidFill>
                  <a:srgbClr val="FF0000"/>
                </a:solidFill>
              </a:rPr>
              <a:t>W.</a:t>
            </a:r>
          </a:p>
        </p:txBody>
      </p:sp>
      <p:grpSp>
        <p:nvGrpSpPr>
          <p:cNvPr id="59" name="Group 23"/>
          <p:cNvGrpSpPr>
            <a:grpSpLocks/>
          </p:cNvGrpSpPr>
          <p:nvPr/>
        </p:nvGrpSpPr>
        <p:grpSpPr bwMode="auto">
          <a:xfrm>
            <a:off x="6944233" y="2786597"/>
            <a:ext cx="2326665" cy="1168767"/>
            <a:chOff x="2976" y="3187"/>
            <a:chExt cx="1728" cy="991"/>
          </a:xfrm>
        </p:grpSpPr>
        <p:sp>
          <p:nvSpPr>
            <p:cNvPr id="60" name="AutoShape 24"/>
            <p:cNvSpPr>
              <a:spLocks noChangeArrowheads="1"/>
            </p:cNvSpPr>
            <p:nvPr/>
          </p:nvSpPr>
          <p:spPr bwMode="auto">
            <a:xfrm>
              <a:off x="2976" y="3286"/>
              <a:ext cx="1728" cy="842"/>
            </a:xfrm>
            <a:prstGeom prst="roundRect">
              <a:avLst>
                <a:gd name="adj" fmla="val 116"/>
              </a:avLst>
            </a:prstGeom>
            <a:solidFill>
              <a:srgbClr val="00B0F0"/>
            </a:solidFill>
            <a:ln w="38160">
              <a:solidFill>
                <a:srgbClr val="0000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61" name="AutoShape 25"/>
            <p:cNvSpPr>
              <a:spLocks noChangeArrowheads="1"/>
            </p:cNvSpPr>
            <p:nvPr/>
          </p:nvSpPr>
          <p:spPr bwMode="auto">
            <a:xfrm>
              <a:off x="3120" y="3527"/>
              <a:ext cx="410" cy="323"/>
            </a:xfrm>
            <a:prstGeom prst="roundRect">
              <a:avLst>
                <a:gd name="adj" fmla="val 296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400" dirty="0">
                  <a:solidFill>
                    <a:srgbClr val="000000"/>
                  </a:solidFill>
                </a:rPr>
                <a:t>K =</a:t>
              </a:r>
              <a:r>
                <a:rPr lang="es-MX" sz="2400" dirty="0">
                  <a:solidFill>
                    <a:srgbClr val="FFFF00"/>
                  </a:solidFill>
                </a:rPr>
                <a:t> </a:t>
              </a:r>
            </a:p>
          </p:txBody>
        </p:sp>
        <p:sp>
          <p:nvSpPr>
            <p:cNvPr id="62" name="Text Box 26"/>
            <p:cNvSpPr txBox="1">
              <a:spLocks noChangeArrowheads="1"/>
            </p:cNvSpPr>
            <p:nvPr/>
          </p:nvSpPr>
          <p:spPr bwMode="auto">
            <a:xfrm>
              <a:off x="3696" y="3187"/>
              <a:ext cx="768" cy="9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dirty="0">
                  <a:solidFill>
                    <a:srgbClr val="000000"/>
                  </a:solidFill>
                </a:rPr>
                <a:t>   </a:t>
              </a:r>
              <a:r>
                <a:rPr lang="es-MX" sz="2400" dirty="0" smtClean="0">
                  <a:solidFill>
                    <a:srgbClr val="000000"/>
                  </a:solidFill>
                </a:rPr>
                <a:t>T</a:t>
              </a:r>
              <a:r>
                <a:rPr lang="es-MX" sz="2400" baseline="-25000" dirty="0">
                  <a:solidFill>
                    <a:srgbClr val="000000"/>
                  </a:solidFill>
                </a:rPr>
                <a:t>C</a:t>
              </a:r>
              <a:r>
                <a:rPr lang="es-MX" sz="2400" baseline="-25000" dirty="0" smtClean="0">
                  <a:solidFill>
                    <a:srgbClr val="000000"/>
                  </a:solidFill>
                </a:rPr>
                <a:t> </a:t>
              </a:r>
              <a:endParaRPr lang="es-MX" sz="2400" baseline="-25000" dirty="0">
                <a:solidFill>
                  <a:srgbClr val="000000"/>
                </a:solidFill>
              </a:endParaRPr>
            </a:p>
            <a:p>
              <a:pPr>
                <a:spcBef>
                  <a:spcPts val="1875"/>
                </a:spcBef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400" dirty="0">
                  <a:solidFill>
                    <a:srgbClr val="000000"/>
                  </a:solidFill>
                </a:rPr>
                <a:t>T</a:t>
              </a:r>
              <a:r>
                <a:rPr lang="es-MX" sz="2400" baseline="-25000" dirty="0">
                  <a:solidFill>
                    <a:srgbClr val="000000"/>
                  </a:solidFill>
                </a:rPr>
                <a:t>H</a:t>
              </a:r>
              <a:r>
                <a:rPr lang="es-MX" sz="2400" dirty="0">
                  <a:solidFill>
                    <a:srgbClr val="000000"/>
                  </a:solidFill>
                </a:rPr>
                <a:t>- T</a:t>
              </a:r>
              <a:r>
                <a:rPr lang="es-MX" sz="2400" baseline="-25000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63" name="Line 27"/>
            <p:cNvSpPr>
              <a:spLocks noChangeShapeType="1"/>
            </p:cNvSpPr>
            <p:nvPr/>
          </p:nvSpPr>
          <p:spPr bwMode="auto">
            <a:xfrm>
              <a:off x="3641" y="3707"/>
              <a:ext cx="912" cy="1"/>
            </a:xfrm>
            <a:prstGeom prst="line">
              <a:avLst/>
            </a:prstGeom>
            <a:noFill/>
            <a:ln w="381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5" name="Group 29"/>
          <p:cNvGrpSpPr>
            <a:grpSpLocks/>
          </p:cNvGrpSpPr>
          <p:nvPr/>
        </p:nvGrpSpPr>
        <p:grpSpPr bwMode="auto">
          <a:xfrm>
            <a:off x="4147653" y="2926747"/>
            <a:ext cx="2540589" cy="873850"/>
            <a:chOff x="2326" y="2134"/>
            <a:chExt cx="1744" cy="976"/>
          </a:xfrm>
        </p:grpSpPr>
        <p:sp>
          <p:nvSpPr>
            <p:cNvPr id="66" name="AutoShape 30"/>
            <p:cNvSpPr>
              <a:spLocks noChangeArrowheads="1"/>
            </p:cNvSpPr>
            <p:nvPr/>
          </p:nvSpPr>
          <p:spPr bwMode="auto">
            <a:xfrm>
              <a:off x="2698" y="2182"/>
              <a:ext cx="358" cy="928"/>
            </a:xfrm>
            <a:prstGeom prst="roundRect">
              <a:avLst>
                <a:gd name="adj" fmla="val 218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1600" dirty="0" smtClean="0"/>
                <a:t>Q </a:t>
              </a:r>
              <a:r>
                <a:rPr lang="es-MX" sz="1600" baseline="-25000" dirty="0" smtClean="0"/>
                <a:t>C</a:t>
              </a:r>
              <a:r>
                <a:rPr lang="es-MX" sz="1600" dirty="0" smtClean="0"/>
                <a:t> </a:t>
              </a:r>
              <a:endParaRPr lang="es-MX" sz="1600" dirty="0"/>
            </a:p>
            <a:p>
              <a:pPr>
                <a:spcBef>
                  <a:spcPts val="1875"/>
                </a:spcBef>
                <a:buClr>
                  <a:srgbClr val="FFFF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1600" dirty="0"/>
                <a:t>W</a:t>
              </a:r>
            </a:p>
          </p:txBody>
        </p:sp>
        <p:grpSp>
          <p:nvGrpSpPr>
            <p:cNvPr id="67" name="Group 31"/>
            <p:cNvGrpSpPr>
              <a:grpSpLocks/>
            </p:cNvGrpSpPr>
            <p:nvPr/>
          </p:nvGrpSpPr>
          <p:grpSpPr bwMode="auto">
            <a:xfrm>
              <a:off x="2326" y="2134"/>
              <a:ext cx="1744" cy="928"/>
              <a:chOff x="2326" y="2134"/>
              <a:chExt cx="1744" cy="928"/>
            </a:xfrm>
          </p:grpSpPr>
          <p:sp>
            <p:nvSpPr>
              <p:cNvPr id="68" name="AutoShape 32"/>
              <p:cNvSpPr>
                <a:spLocks noChangeArrowheads="1"/>
              </p:cNvSpPr>
              <p:nvPr/>
            </p:nvSpPr>
            <p:spPr bwMode="auto">
              <a:xfrm>
                <a:off x="2326" y="2432"/>
                <a:ext cx="1152" cy="381"/>
              </a:xfrm>
              <a:prstGeom prst="roundRect">
                <a:avLst>
                  <a:gd name="adj" fmla="val 287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square" lIns="90000" tIns="46800" rIns="90000" bIns="46800" anchor="ctr">
                <a:spAutoFit/>
              </a:bodyPr>
              <a:lstStyle/>
              <a:p>
                <a:pPr>
                  <a:spcBef>
                    <a:spcPts val="1875"/>
                  </a:spcBef>
                  <a:buClr>
                    <a:srgbClr val="FFFF00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1600" dirty="0"/>
                  <a:t>K =       </a:t>
                </a:r>
                <a:r>
                  <a:rPr lang="es-MX" sz="1600" dirty="0" smtClean="0"/>
                  <a:t>            = </a:t>
                </a:r>
                <a:endParaRPr lang="es-MX" sz="1600" dirty="0"/>
              </a:p>
            </p:txBody>
          </p:sp>
          <p:sp>
            <p:nvSpPr>
              <p:cNvPr id="69" name="AutoShape 33"/>
              <p:cNvSpPr>
                <a:spLocks noChangeArrowheads="1"/>
              </p:cNvSpPr>
              <p:nvPr/>
            </p:nvSpPr>
            <p:spPr bwMode="auto">
              <a:xfrm>
                <a:off x="3444" y="2134"/>
                <a:ext cx="626" cy="928"/>
              </a:xfrm>
              <a:prstGeom prst="roundRect">
                <a:avLst>
                  <a:gd name="adj" fmla="val 12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ts val="1875"/>
                  </a:spcBef>
                  <a:buClr>
                    <a:srgbClr val="FFFF00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1600" dirty="0"/>
                  <a:t>   </a:t>
                </a:r>
                <a:r>
                  <a:rPr lang="es-MX" sz="1600" dirty="0" smtClean="0"/>
                  <a:t>Q </a:t>
                </a:r>
                <a:r>
                  <a:rPr lang="es-MX" sz="1600" baseline="-25000" dirty="0" smtClean="0"/>
                  <a:t>C </a:t>
                </a:r>
                <a:endParaRPr lang="es-MX" sz="1600" baseline="-25000" dirty="0"/>
              </a:p>
              <a:p>
                <a:pPr>
                  <a:spcBef>
                    <a:spcPts val="1875"/>
                  </a:spcBef>
                  <a:buClr>
                    <a:srgbClr val="FFFF00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1600" dirty="0" smtClean="0"/>
                  <a:t>Q </a:t>
                </a:r>
                <a:r>
                  <a:rPr lang="es-MX" sz="1600" baseline="-25000" dirty="0" smtClean="0"/>
                  <a:t>H </a:t>
                </a:r>
                <a:r>
                  <a:rPr lang="es-MX" sz="1600" dirty="0" smtClean="0"/>
                  <a:t>- Q </a:t>
                </a:r>
                <a:r>
                  <a:rPr lang="es-MX" sz="1600" baseline="-25000" dirty="0" smtClean="0"/>
                  <a:t>C</a:t>
                </a:r>
                <a:endParaRPr lang="es-MX" sz="1600" baseline="-25000" dirty="0"/>
              </a:p>
            </p:txBody>
          </p:sp>
          <p:sp>
            <p:nvSpPr>
              <p:cNvPr id="70" name="Line 34"/>
              <p:cNvSpPr>
                <a:spLocks noChangeShapeType="1"/>
              </p:cNvSpPr>
              <p:nvPr/>
            </p:nvSpPr>
            <p:spPr bwMode="auto">
              <a:xfrm>
                <a:off x="2645" y="2640"/>
                <a:ext cx="432" cy="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s-ES" sz="1600"/>
              </a:p>
            </p:txBody>
          </p:sp>
        </p:grpSp>
      </p:grpSp>
      <p:cxnSp>
        <p:nvCxnSpPr>
          <p:cNvPr id="3" name="Conector recto 2"/>
          <p:cNvCxnSpPr>
            <a:stCxn id="68" idx="3"/>
          </p:cNvCxnSpPr>
          <p:nvPr/>
        </p:nvCxnSpPr>
        <p:spPr>
          <a:xfrm flipV="1">
            <a:off x="5825840" y="3363224"/>
            <a:ext cx="697771" cy="8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 Box 22"/>
          <p:cNvSpPr txBox="1">
            <a:spLocks noChangeArrowheads="1"/>
          </p:cNvSpPr>
          <p:nvPr/>
        </p:nvSpPr>
        <p:spPr bwMode="auto">
          <a:xfrm>
            <a:off x="4190494" y="4089856"/>
            <a:ext cx="5029200" cy="1017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just">
              <a:spcBef>
                <a:spcPts val="1875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000" dirty="0"/>
              <a:t>El </a:t>
            </a:r>
            <a:r>
              <a:rPr lang="es-MX" sz="2000" dirty="0">
                <a:solidFill>
                  <a:srgbClr val="FF0000"/>
                </a:solidFill>
              </a:rPr>
              <a:t>COP (K)</a:t>
            </a:r>
            <a:r>
              <a:rPr lang="es-MX" sz="2000" dirty="0"/>
              <a:t> de una </a:t>
            </a:r>
            <a:r>
              <a:rPr lang="es-MX" sz="2000" dirty="0" smtClean="0"/>
              <a:t>bomba de calor </a:t>
            </a:r>
            <a:r>
              <a:rPr lang="es-MX" sz="2000" dirty="0"/>
              <a:t>es la razón del </a:t>
            </a:r>
            <a:r>
              <a:rPr lang="es-MX" sz="2000" dirty="0">
                <a:solidFill>
                  <a:srgbClr val="FF0000"/>
                </a:solidFill>
              </a:rPr>
              <a:t>CALOR </a:t>
            </a:r>
            <a:r>
              <a:rPr lang="es-MX" sz="2000" dirty="0" smtClean="0">
                <a:solidFill>
                  <a:srgbClr val="FF0000"/>
                </a:solidFill>
              </a:rPr>
              <a:t>Q </a:t>
            </a:r>
            <a:r>
              <a:rPr lang="es-MX" sz="2000" baseline="-25000" dirty="0" smtClean="0">
                <a:solidFill>
                  <a:srgbClr val="FF0000"/>
                </a:solidFill>
              </a:rPr>
              <a:t>H</a:t>
            </a:r>
            <a:r>
              <a:rPr lang="es-MX" sz="2000" dirty="0" smtClean="0">
                <a:solidFill>
                  <a:srgbClr val="FF0000"/>
                </a:solidFill>
              </a:rPr>
              <a:t> </a:t>
            </a:r>
            <a:r>
              <a:rPr lang="es-MX" sz="2000" dirty="0"/>
              <a:t>extraído al </a:t>
            </a:r>
            <a:r>
              <a:rPr lang="es-MX" sz="2000" dirty="0">
                <a:solidFill>
                  <a:srgbClr val="FF0000"/>
                </a:solidFill>
              </a:rPr>
              <a:t>TRABAJO</a:t>
            </a:r>
            <a:r>
              <a:rPr lang="es-MX" sz="2000" dirty="0"/>
              <a:t> neto realizado </a:t>
            </a:r>
            <a:r>
              <a:rPr lang="es-MX" sz="2000" dirty="0">
                <a:solidFill>
                  <a:srgbClr val="FF0000"/>
                </a:solidFill>
              </a:rPr>
              <a:t>W.</a:t>
            </a:r>
          </a:p>
        </p:txBody>
      </p:sp>
      <p:grpSp>
        <p:nvGrpSpPr>
          <p:cNvPr id="38" name="Group 29"/>
          <p:cNvGrpSpPr>
            <a:grpSpLocks/>
          </p:cNvGrpSpPr>
          <p:nvPr/>
        </p:nvGrpSpPr>
        <p:grpSpPr bwMode="auto">
          <a:xfrm>
            <a:off x="4190494" y="5301161"/>
            <a:ext cx="2475035" cy="873850"/>
            <a:chOff x="2326" y="2134"/>
            <a:chExt cx="1699" cy="976"/>
          </a:xfrm>
        </p:grpSpPr>
        <p:sp>
          <p:nvSpPr>
            <p:cNvPr id="39" name="AutoShape 30"/>
            <p:cNvSpPr>
              <a:spLocks noChangeArrowheads="1"/>
            </p:cNvSpPr>
            <p:nvPr/>
          </p:nvSpPr>
          <p:spPr bwMode="auto">
            <a:xfrm>
              <a:off x="2698" y="2182"/>
              <a:ext cx="342" cy="928"/>
            </a:xfrm>
            <a:prstGeom prst="roundRect">
              <a:avLst>
                <a:gd name="adj" fmla="val 218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1600" dirty="0" smtClean="0"/>
                <a:t>Q </a:t>
              </a:r>
              <a:r>
                <a:rPr lang="es-MX" sz="1600" baseline="-25000" dirty="0"/>
                <a:t>H</a:t>
              </a:r>
              <a:r>
                <a:rPr lang="es-MX" sz="1600" dirty="0" smtClean="0"/>
                <a:t> </a:t>
              </a:r>
              <a:endParaRPr lang="es-MX" sz="1600" dirty="0"/>
            </a:p>
            <a:p>
              <a:pPr>
                <a:spcBef>
                  <a:spcPts val="1875"/>
                </a:spcBef>
                <a:buClr>
                  <a:srgbClr val="FFFF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1600" dirty="0"/>
                <a:t>W</a:t>
              </a:r>
            </a:p>
          </p:txBody>
        </p:sp>
        <p:grpSp>
          <p:nvGrpSpPr>
            <p:cNvPr id="40" name="Group 31"/>
            <p:cNvGrpSpPr>
              <a:grpSpLocks/>
            </p:cNvGrpSpPr>
            <p:nvPr/>
          </p:nvGrpSpPr>
          <p:grpSpPr bwMode="auto">
            <a:xfrm>
              <a:off x="2326" y="2134"/>
              <a:ext cx="1699" cy="928"/>
              <a:chOff x="2326" y="2134"/>
              <a:chExt cx="1699" cy="928"/>
            </a:xfrm>
          </p:grpSpPr>
          <p:sp>
            <p:nvSpPr>
              <p:cNvPr id="41" name="AutoShape 32"/>
              <p:cNvSpPr>
                <a:spLocks noChangeArrowheads="1"/>
              </p:cNvSpPr>
              <p:nvPr/>
            </p:nvSpPr>
            <p:spPr bwMode="auto">
              <a:xfrm>
                <a:off x="2326" y="2432"/>
                <a:ext cx="1152" cy="381"/>
              </a:xfrm>
              <a:prstGeom prst="roundRect">
                <a:avLst>
                  <a:gd name="adj" fmla="val 287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square" lIns="90000" tIns="46800" rIns="90000" bIns="46800" anchor="ctr">
                <a:spAutoFit/>
              </a:bodyPr>
              <a:lstStyle/>
              <a:p>
                <a:pPr>
                  <a:spcBef>
                    <a:spcPts val="1875"/>
                  </a:spcBef>
                  <a:buClr>
                    <a:srgbClr val="FFFF00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1600" dirty="0"/>
                  <a:t>K =       </a:t>
                </a:r>
                <a:r>
                  <a:rPr lang="es-MX" sz="1600" dirty="0" smtClean="0"/>
                  <a:t>            = </a:t>
                </a:r>
                <a:endParaRPr lang="es-MX" sz="1600" dirty="0"/>
              </a:p>
            </p:txBody>
          </p:sp>
          <p:sp>
            <p:nvSpPr>
              <p:cNvPr id="42" name="AutoShape 33"/>
              <p:cNvSpPr>
                <a:spLocks noChangeArrowheads="1"/>
              </p:cNvSpPr>
              <p:nvPr/>
            </p:nvSpPr>
            <p:spPr bwMode="auto">
              <a:xfrm>
                <a:off x="3444" y="2134"/>
                <a:ext cx="581" cy="928"/>
              </a:xfrm>
              <a:prstGeom prst="roundRect">
                <a:avLst>
                  <a:gd name="adj" fmla="val 12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ts val="1875"/>
                  </a:spcBef>
                  <a:buClr>
                    <a:srgbClr val="FFFF00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1600" dirty="0"/>
                  <a:t>   </a:t>
                </a:r>
                <a:r>
                  <a:rPr lang="es-MX" sz="1600" dirty="0" smtClean="0"/>
                  <a:t>Q </a:t>
                </a:r>
                <a:r>
                  <a:rPr lang="es-MX" sz="1600" baseline="-25000" dirty="0"/>
                  <a:t>H</a:t>
                </a:r>
              </a:p>
              <a:p>
                <a:pPr>
                  <a:spcBef>
                    <a:spcPts val="1875"/>
                  </a:spcBef>
                  <a:buClr>
                    <a:srgbClr val="FFFF00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1600" dirty="0" smtClean="0"/>
                  <a:t>Q </a:t>
                </a:r>
                <a:r>
                  <a:rPr lang="es-MX" sz="1600" baseline="-25000" dirty="0" smtClean="0"/>
                  <a:t>H </a:t>
                </a:r>
                <a:r>
                  <a:rPr lang="es-MX" sz="1600" dirty="0" smtClean="0"/>
                  <a:t>- Q </a:t>
                </a:r>
                <a:r>
                  <a:rPr lang="es-MX" sz="1600" baseline="-25000" dirty="0" smtClean="0"/>
                  <a:t>C</a:t>
                </a:r>
                <a:endParaRPr lang="es-MX" sz="1600" baseline="-25000" dirty="0"/>
              </a:p>
            </p:txBody>
          </p:sp>
          <p:sp>
            <p:nvSpPr>
              <p:cNvPr id="43" name="Line 34"/>
              <p:cNvSpPr>
                <a:spLocks noChangeShapeType="1"/>
              </p:cNvSpPr>
              <p:nvPr/>
            </p:nvSpPr>
            <p:spPr bwMode="auto">
              <a:xfrm>
                <a:off x="2645" y="2640"/>
                <a:ext cx="432" cy="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s-ES" sz="1600"/>
              </a:p>
            </p:txBody>
          </p:sp>
          <p:sp>
            <p:nvSpPr>
              <p:cNvPr id="72" name="Line 34"/>
              <p:cNvSpPr>
                <a:spLocks noChangeShapeType="1"/>
              </p:cNvSpPr>
              <p:nvPr/>
            </p:nvSpPr>
            <p:spPr bwMode="auto">
              <a:xfrm>
                <a:off x="3439" y="2645"/>
                <a:ext cx="432" cy="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s-ES" sz="1600"/>
              </a:p>
            </p:txBody>
          </p:sp>
        </p:grpSp>
      </p:grpSp>
      <p:grpSp>
        <p:nvGrpSpPr>
          <p:cNvPr id="73" name="Group 23"/>
          <p:cNvGrpSpPr>
            <a:grpSpLocks/>
          </p:cNvGrpSpPr>
          <p:nvPr/>
        </p:nvGrpSpPr>
        <p:grpSpPr bwMode="auto">
          <a:xfrm>
            <a:off x="7049344" y="5214181"/>
            <a:ext cx="2326665" cy="1004833"/>
            <a:chOff x="2976" y="3276"/>
            <a:chExt cx="1728" cy="852"/>
          </a:xfrm>
        </p:grpSpPr>
        <p:sp>
          <p:nvSpPr>
            <p:cNvPr id="74" name="AutoShape 24"/>
            <p:cNvSpPr>
              <a:spLocks noChangeArrowheads="1"/>
            </p:cNvSpPr>
            <p:nvPr/>
          </p:nvSpPr>
          <p:spPr bwMode="auto">
            <a:xfrm>
              <a:off x="2976" y="3286"/>
              <a:ext cx="1728" cy="842"/>
            </a:xfrm>
            <a:prstGeom prst="roundRect">
              <a:avLst>
                <a:gd name="adj" fmla="val 116"/>
              </a:avLst>
            </a:prstGeom>
            <a:solidFill>
              <a:srgbClr val="00B0F0"/>
            </a:solidFill>
            <a:ln w="38160">
              <a:solidFill>
                <a:srgbClr val="0000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75" name="AutoShape 25"/>
            <p:cNvSpPr>
              <a:spLocks noChangeArrowheads="1"/>
            </p:cNvSpPr>
            <p:nvPr/>
          </p:nvSpPr>
          <p:spPr bwMode="auto">
            <a:xfrm>
              <a:off x="3120" y="3527"/>
              <a:ext cx="410" cy="323"/>
            </a:xfrm>
            <a:prstGeom prst="roundRect">
              <a:avLst>
                <a:gd name="adj" fmla="val 296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400" dirty="0">
                  <a:solidFill>
                    <a:srgbClr val="000000"/>
                  </a:solidFill>
                </a:rPr>
                <a:t>K =</a:t>
              </a:r>
              <a:r>
                <a:rPr lang="es-MX" sz="2400" dirty="0">
                  <a:solidFill>
                    <a:srgbClr val="FFFF00"/>
                  </a:solidFill>
                </a:rPr>
                <a:t> </a:t>
              </a:r>
            </a:p>
          </p:txBody>
        </p:sp>
        <p:sp>
          <p:nvSpPr>
            <p:cNvPr id="76" name="Text Box 26"/>
            <p:cNvSpPr txBox="1">
              <a:spLocks noChangeArrowheads="1"/>
            </p:cNvSpPr>
            <p:nvPr/>
          </p:nvSpPr>
          <p:spPr bwMode="auto">
            <a:xfrm>
              <a:off x="3696" y="3276"/>
              <a:ext cx="768" cy="8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ts val="1875"/>
                </a:spcBef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dirty="0">
                  <a:solidFill>
                    <a:srgbClr val="000000"/>
                  </a:solidFill>
                </a:rPr>
                <a:t>   </a:t>
              </a:r>
              <a:r>
                <a:rPr lang="es-MX" sz="2400" dirty="0">
                  <a:solidFill>
                    <a:srgbClr val="000000"/>
                  </a:solidFill>
                </a:rPr>
                <a:t>T</a:t>
              </a:r>
              <a:r>
                <a:rPr lang="es-MX" sz="2400" baseline="-25000" dirty="0">
                  <a:solidFill>
                    <a:srgbClr val="000000"/>
                  </a:solidFill>
                </a:rPr>
                <a:t>H </a:t>
              </a:r>
            </a:p>
            <a:p>
              <a:pPr>
                <a:spcBef>
                  <a:spcPts val="1875"/>
                </a:spcBef>
                <a:buClr>
                  <a:srgbClr val="0000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400" dirty="0">
                  <a:solidFill>
                    <a:srgbClr val="000000"/>
                  </a:solidFill>
                </a:rPr>
                <a:t>T</a:t>
              </a:r>
              <a:r>
                <a:rPr lang="es-MX" sz="2400" baseline="-25000" dirty="0">
                  <a:solidFill>
                    <a:srgbClr val="000000"/>
                  </a:solidFill>
                </a:rPr>
                <a:t>H</a:t>
              </a:r>
              <a:r>
                <a:rPr lang="es-MX" sz="2400" dirty="0">
                  <a:solidFill>
                    <a:srgbClr val="000000"/>
                  </a:solidFill>
                </a:rPr>
                <a:t>- T</a:t>
              </a:r>
              <a:r>
                <a:rPr lang="es-MX" sz="2400" baseline="-25000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77" name="Line 27"/>
            <p:cNvSpPr>
              <a:spLocks noChangeShapeType="1"/>
            </p:cNvSpPr>
            <p:nvPr/>
          </p:nvSpPr>
          <p:spPr bwMode="auto">
            <a:xfrm>
              <a:off x="3641" y="3707"/>
              <a:ext cx="912" cy="1"/>
            </a:xfrm>
            <a:prstGeom prst="line">
              <a:avLst/>
            </a:prstGeom>
            <a:noFill/>
            <a:ln w="381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67408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%20Menu%20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%20Menu%20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%20Menu%20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%20Menu%20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utoUpdateAnimBg="0"/>
      <p:bldP spid="3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13" name="Rectángulo redondeado 12"/>
          <p:cNvSpPr/>
          <p:nvPr/>
        </p:nvSpPr>
        <p:spPr>
          <a:xfrm>
            <a:off x="1637806" y="720099"/>
            <a:ext cx="2163066" cy="57140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EJERCICIOS</a:t>
            </a:r>
            <a:endParaRPr lang="es-PE" sz="2400" dirty="0">
              <a:solidFill>
                <a:schemeClr val="tx1"/>
              </a:solidFill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344488" y="1772816"/>
            <a:ext cx="9073008" cy="189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PE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Cuando un hombre regresa a su casa bien sellada en un día de verano, encuentra que su casa está a T</a:t>
            </a:r>
            <a:r>
              <a:rPr lang="es-PE" sz="1600" baseline="-25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s-PE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35 °C. Enciende el acondicionador de aire, que enfría toda la casa a </a:t>
            </a:r>
            <a:r>
              <a:rPr lang="es-PE" sz="16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s-PE" sz="1600" baseline="-250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s-PE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20 °C en t = 30 minutos. Si el COP del sistema de acondicionamiento de aire es 2.8, determine la potencia que toma el acondicionador de aire. Suponga que toda la masa dentro de la casa equivale a 800 kg de aire para el cual c</a:t>
            </a:r>
            <a:r>
              <a:rPr lang="es-PE" sz="1600" i="1" baseline="-25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s-PE" sz="1600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0.72 kJ/kg ·°C y </a:t>
            </a:r>
            <a:r>
              <a:rPr lang="es-PE" sz="1600" i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s-PE" sz="1600" i="1" baseline="-250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s-PE" sz="1600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s-PE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1.0 kJ/kg · °C.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magen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966079"/>
            <a:ext cx="3114675" cy="1800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484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13" name="Rectángulo redondeado 12"/>
          <p:cNvSpPr/>
          <p:nvPr/>
        </p:nvSpPr>
        <p:spPr>
          <a:xfrm>
            <a:off x="1637806" y="720099"/>
            <a:ext cx="2163066" cy="57140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EJERCICIOS</a:t>
            </a:r>
            <a:endParaRPr lang="es-PE" sz="2400" dirty="0">
              <a:solidFill>
                <a:schemeClr val="tx1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776536" y="1772816"/>
            <a:ext cx="87129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PE" dirty="0">
                <a:latin typeface="Arial" panose="020B0604020202020204" pitchFamily="34" charset="0"/>
                <a:ea typeface="NewBaskerville-Roman"/>
                <a:cs typeface="Times New Roman" panose="02020603050405020304" pitchFamily="18" charset="0"/>
              </a:rPr>
              <a:t>Una maquina térmica tiene una potencia de salida mecánica de 5,00 kW y una eficiencia de 25,0%. La máquina expulsa 8 000 J de energía de escape en cada ciclo. Encuentre a) la energía que admite durante cada ciclo y b) el intervalo de tiempo por cada ciclo.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776536" y="3717032"/>
            <a:ext cx="8568952" cy="2125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PE" dirty="0">
                <a:latin typeface="NewBaskerville-Roman"/>
                <a:ea typeface="Calibri" panose="020F0502020204030204" pitchFamily="34" charset="0"/>
                <a:cs typeface="NewBaskerville-Roman"/>
              </a:rPr>
              <a:t>Un refrigerador tiene un coeficiente de realizaci</a:t>
            </a:r>
            <a:r>
              <a:rPr lang="es-PE" dirty="0">
                <a:latin typeface="NewBaskerville-Roman"/>
                <a:ea typeface="NewBaskerville-Roman"/>
                <a:cs typeface="NewBaskerville-Roman"/>
              </a:rPr>
              <a:t>ó</a:t>
            </a:r>
            <a:r>
              <a:rPr lang="es-PE" dirty="0">
                <a:latin typeface="NewBaskerville-Roman"/>
                <a:ea typeface="Calibri" panose="020F0502020204030204" pitchFamily="34" charset="0"/>
                <a:cs typeface="NewBaskerville-Roman"/>
              </a:rPr>
              <a:t>n de 3.00. El compartimiento de charolas de hielo est</a:t>
            </a:r>
            <a:r>
              <a:rPr lang="es-PE" dirty="0">
                <a:latin typeface="NewBaskerville-Roman"/>
                <a:ea typeface="NewBaskerville-Roman"/>
                <a:cs typeface="NewBaskerville-Roman"/>
              </a:rPr>
              <a:t>á</a:t>
            </a:r>
            <a:r>
              <a:rPr lang="es-PE" dirty="0">
                <a:latin typeface="NewBaskerville-Roman"/>
                <a:ea typeface="Calibri" panose="020F0502020204030204" pitchFamily="34" charset="0"/>
                <a:cs typeface="NewBaskerville-Roman"/>
              </a:rPr>
              <a:t> a -20.0</a:t>
            </a:r>
            <a:r>
              <a:rPr lang="es-PE" dirty="0">
                <a:latin typeface="NewBaskerville-Roman"/>
                <a:ea typeface="NewBaskerville-Roman"/>
                <a:cs typeface="NewBaskerville-Roman"/>
              </a:rPr>
              <a:t>°</a:t>
            </a:r>
            <a:r>
              <a:rPr lang="es-PE" dirty="0">
                <a:latin typeface="NewBaskerville-Roman"/>
                <a:ea typeface="Calibri" panose="020F0502020204030204" pitchFamily="34" charset="0"/>
                <a:cs typeface="NewBaskerville-Roman"/>
              </a:rPr>
              <a:t>C, y la temperatura ambiente es de 22.0</a:t>
            </a:r>
            <a:r>
              <a:rPr lang="es-PE" dirty="0">
                <a:latin typeface="NewBaskerville-Roman"/>
                <a:ea typeface="NewBaskerville-Roman"/>
                <a:cs typeface="NewBaskerville-Roman"/>
              </a:rPr>
              <a:t>°</a:t>
            </a:r>
            <a:r>
              <a:rPr lang="es-PE" dirty="0">
                <a:latin typeface="NewBaskerville-Roman"/>
                <a:ea typeface="Calibri" panose="020F0502020204030204" pitchFamily="34" charset="0"/>
                <a:cs typeface="NewBaskerville-Roman"/>
              </a:rPr>
              <a:t>C. El refrigerador puede convertir 30.0 g de agua a 22.0</a:t>
            </a:r>
            <a:r>
              <a:rPr lang="en-US" dirty="0">
                <a:latin typeface="NewBaskerville-Roman"/>
                <a:ea typeface="Calibri" panose="020F0502020204030204" pitchFamily="34" charset="0"/>
                <a:cs typeface="NewBaskerville-Roman"/>
              </a:rPr>
              <a:t>°</a:t>
            </a:r>
            <a:r>
              <a:rPr lang="es-PE" dirty="0">
                <a:latin typeface="NewBaskerville-Roman"/>
                <a:ea typeface="Calibri" panose="020F0502020204030204" pitchFamily="34" charset="0"/>
                <a:cs typeface="NewBaskerville-Roman"/>
              </a:rPr>
              <a:t>C a 30.0 g de hielo a -20.0</a:t>
            </a:r>
            <a:r>
              <a:rPr lang="es-PE" dirty="0">
                <a:latin typeface="NewBaskerville-Roman"/>
                <a:ea typeface="NewBaskerville-Roman"/>
                <a:cs typeface="NewBaskerville-Roman"/>
              </a:rPr>
              <a:t>°</a:t>
            </a:r>
            <a:r>
              <a:rPr lang="es-PE" dirty="0">
                <a:latin typeface="NewBaskerville-Roman"/>
                <a:ea typeface="Calibri" panose="020F0502020204030204" pitchFamily="34" charset="0"/>
                <a:cs typeface="NewBaskerville-Roman"/>
              </a:rPr>
              <a:t>C cada minuto. </a:t>
            </a:r>
            <a:r>
              <a:rPr lang="es-PE" dirty="0">
                <a:latin typeface="NewBaskerville-Roman"/>
                <a:ea typeface="NewBaskerville-Roman"/>
                <a:cs typeface="NewBaskerville-Roman"/>
              </a:rPr>
              <a:t>¿</a:t>
            </a:r>
            <a:r>
              <a:rPr lang="es-PE" dirty="0">
                <a:latin typeface="NewBaskerville-Roman"/>
                <a:ea typeface="Calibri" panose="020F0502020204030204" pitchFamily="34" charset="0"/>
                <a:cs typeface="NewBaskerville-Roman"/>
              </a:rPr>
              <a:t>Qu</a:t>
            </a:r>
            <a:r>
              <a:rPr lang="es-PE" dirty="0">
                <a:latin typeface="NewBaskerville-Roman"/>
                <a:ea typeface="NewBaskerville-Roman"/>
                <a:cs typeface="NewBaskerville-Roman"/>
              </a:rPr>
              <a:t>é</a:t>
            </a:r>
            <a:r>
              <a:rPr lang="es-PE" dirty="0">
                <a:latin typeface="NewBaskerville-Roman"/>
                <a:ea typeface="Calibri" panose="020F0502020204030204" pitchFamily="34" charset="0"/>
                <a:cs typeface="NewBaskerville-Roman"/>
              </a:rPr>
              <a:t> potencia de entrada se requiere? Proporcione su respuesta en watts.</a:t>
            </a:r>
            <a:endParaRPr lang="es-PE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94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13" name="Rectángulo redondeado 12"/>
          <p:cNvSpPr/>
          <p:nvPr/>
        </p:nvSpPr>
        <p:spPr>
          <a:xfrm>
            <a:off x="1637806" y="720099"/>
            <a:ext cx="2163066" cy="57140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EJERCICIOS</a:t>
            </a:r>
            <a:endParaRPr lang="es-PE" sz="2400" dirty="0">
              <a:solidFill>
                <a:schemeClr val="tx1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704528" y="1901018"/>
            <a:ext cx="8208912" cy="1870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s-PE" dirty="0">
                <a:latin typeface="Arial" panose="020B0604020202020204" pitchFamily="34" charset="0"/>
                <a:ea typeface="NewBaskerville-Roman"/>
                <a:cs typeface="Times New Roman" panose="02020603050405020304" pitchFamily="18" charset="0"/>
              </a:rPr>
              <a:t>Suponga que una maquina térmica se conecta a dos depósitos de energía, uno es una alberca de aluminio fundido (660°C) y el otro un bloque de mercurio solido (-38.9°C). La máquina participa al congelar 1,00 g de aluminio y fundir 15,0 g de mercurio durante cada ciclo. El calor de fusión del aluminio es 3,97 X 10</a:t>
            </a:r>
            <a:r>
              <a:rPr lang="es-PE" baseline="30000" dirty="0">
                <a:latin typeface="Arial" panose="020B0604020202020204" pitchFamily="34" charset="0"/>
                <a:ea typeface="NewBaskerville-Roman"/>
                <a:cs typeface="Times New Roman" panose="02020603050405020304" pitchFamily="18" charset="0"/>
              </a:rPr>
              <a:t>5 </a:t>
            </a:r>
            <a:r>
              <a:rPr lang="es-PE" dirty="0">
                <a:latin typeface="Arial" panose="020B0604020202020204" pitchFamily="34" charset="0"/>
                <a:ea typeface="NewBaskerville-Roman"/>
                <a:cs typeface="Times New Roman" panose="02020603050405020304" pitchFamily="18" charset="0"/>
              </a:rPr>
              <a:t>J/kg; el calor de fusión del mercurio es 1.18 X 10</a:t>
            </a:r>
            <a:r>
              <a:rPr lang="es-PE" baseline="30000" dirty="0">
                <a:latin typeface="Arial" panose="020B0604020202020204" pitchFamily="34" charset="0"/>
                <a:ea typeface="NewBaskerville-Roman"/>
                <a:cs typeface="Times New Roman" panose="02020603050405020304" pitchFamily="18" charset="0"/>
              </a:rPr>
              <a:t>4</a:t>
            </a:r>
            <a:r>
              <a:rPr lang="es-PE" dirty="0">
                <a:latin typeface="Arial" panose="020B0604020202020204" pitchFamily="34" charset="0"/>
                <a:ea typeface="NewBaskerville-Roman"/>
                <a:cs typeface="Times New Roman" panose="02020603050405020304" pitchFamily="18" charset="0"/>
              </a:rPr>
              <a:t> J/kg. ¿Cuál es la eficiencia de esta máquina?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436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4733611" y="1700808"/>
            <a:ext cx="4896544" cy="495792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PE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temperatura la podemos definir desde el punto de vista microscópico como una medida de la energía cinética media de las partículas.</a:t>
            </a:r>
            <a:endParaRPr lang="es-PE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800" dirty="0" smtClean="0">
                <a:solidFill>
                  <a:schemeClr val="tx1"/>
                </a:solidFill>
              </a:rPr>
              <a:t>El modelo molecular usando las leyes de Newton se aproximan a los valores experimentales encontrados para gases reales.</a:t>
            </a:r>
            <a:endParaRPr lang="es-MX" sz="1800" dirty="0">
              <a:solidFill>
                <a:schemeClr val="tx1"/>
              </a:solidFill>
            </a:endParaRPr>
          </a:p>
          <a:p>
            <a:pPr algn="just">
              <a:spcAft>
                <a:spcPts val="1200"/>
              </a:spcAft>
            </a:pPr>
            <a:r>
              <a:rPr lang="es-PE" sz="1800" dirty="0" smtClean="0">
                <a:solidFill>
                  <a:schemeClr val="tx1"/>
                </a:solidFill>
              </a:rPr>
              <a:t>La energía interna de un sistema solo depende de la temperatura.</a:t>
            </a:r>
          </a:p>
          <a:p>
            <a:pPr algn="just">
              <a:spcAft>
                <a:spcPts val="1200"/>
              </a:spcAft>
            </a:pPr>
            <a:r>
              <a:rPr lang="es-PE" sz="1800" dirty="0" smtClean="0">
                <a:solidFill>
                  <a:schemeClr val="tx1"/>
                </a:solidFill>
              </a:rPr>
              <a:t>El principio de </a:t>
            </a:r>
            <a:r>
              <a:rPr lang="es-PE" sz="1800" dirty="0" err="1" smtClean="0">
                <a:solidFill>
                  <a:schemeClr val="tx1"/>
                </a:solidFill>
              </a:rPr>
              <a:t>equipartición</a:t>
            </a:r>
            <a:r>
              <a:rPr lang="es-PE" sz="1800" dirty="0" smtClean="0">
                <a:solidFill>
                  <a:schemeClr val="tx1"/>
                </a:solidFill>
              </a:rPr>
              <a:t> de la energía nos permite deducir los valores para el calor especifico a volumen constante.</a:t>
            </a:r>
            <a:endParaRPr lang="es-PE" sz="1800" dirty="0">
              <a:solidFill>
                <a:schemeClr val="tx1"/>
              </a:solidFill>
            </a:endParaRPr>
          </a:p>
        </p:txBody>
      </p:sp>
      <p:sp>
        <p:nvSpPr>
          <p:cNvPr id="14" name="Rectángulo redondeado 13"/>
          <p:cNvSpPr/>
          <p:nvPr/>
        </p:nvSpPr>
        <p:spPr>
          <a:xfrm>
            <a:off x="1640633" y="980728"/>
            <a:ext cx="3096343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chemeClr val="tx1"/>
                </a:solidFill>
              </a:rPr>
              <a:t>CONCLUSIONES</a:t>
            </a: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28" y="1988840"/>
            <a:ext cx="3739432" cy="391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2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3312367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chemeClr val="tx1"/>
                </a:solidFill>
              </a:rPr>
              <a:t>METACOGNICIÓN</a:t>
            </a:r>
          </a:p>
        </p:txBody>
      </p:sp>
      <p:sp>
        <p:nvSpPr>
          <p:cNvPr id="8" name="Bocadillo: rectángulo con esquinas redondeadas 1">
            <a:extLst>
              <a:ext uri="{FF2B5EF4-FFF2-40B4-BE49-F238E27FC236}">
                <a16:creationId xmlns:a16="http://schemas.microsoft.com/office/drawing/2014/main" xmlns="" id="{82BC446B-F639-467D-A250-25259F9EF4B8}"/>
              </a:ext>
            </a:extLst>
          </p:cNvPr>
          <p:cNvSpPr/>
          <p:nvPr/>
        </p:nvSpPr>
        <p:spPr>
          <a:xfrm>
            <a:off x="992560" y="2420888"/>
            <a:ext cx="7488832" cy="2664296"/>
          </a:xfrm>
          <a:prstGeom prst="wedgeRoundRectCallout">
            <a:avLst>
              <a:gd name="adj1" fmla="val -17962"/>
              <a:gd name="adj2" fmla="val 48532"/>
              <a:gd name="adj3" fmla="val 16667"/>
            </a:avLst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¿Cuáles son las diferencias entre gases ideales y gases reales?</a:t>
            </a:r>
            <a:endParaRPr lang="es-PE" sz="24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>
                <a:solidFill>
                  <a:schemeClr val="tx1"/>
                </a:solidFill>
                <a:cs typeface="Arial" pitchFamily="34" charset="0"/>
              </a:rPr>
              <a:t>¿Cómo </a:t>
            </a: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se consideran las partículas en un gas ideal? </a:t>
            </a:r>
            <a:endParaRPr lang="es-PE" sz="24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¿Qué otros modelos existen de los gases ideales?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>
                <a:solidFill>
                  <a:schemeClr val="tx1"/>
                </a:solidFill>
                <a:cs typeface="Arial" pitchFamily="34" charset="0"/>
              </a:rPr>
              <a:t>¿</a:t>
            </a: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Es aplicable el modelo molecular de os gases en la ingeniería?</a:t>
            </a:r>
            <a:endParaRPr lang="es-PE" sz="2400" dirty="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46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2448271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>
                <a:solidFill>
                  <a:schemeClr val="tx1"/>
                </a:solidFill>
              </a:rPr>
              <a:t>REFERENCIAS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272480" y="1700808"/>
            <a:ext cx="9561512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u="sng" dirty="0"/>
              <a:t>Bibliografía Básica:</a:t>
            </a:r>
            <a:r>
              <a:rPr lang="es-ES" sz="1600" dirty="0"/>
              <a:t> </a:t>
            </a:r>
            <a:endParaRPr lang="es-PE" sz="1600" dirty="0"/>
          </a:p>
          <a:p>
            <a:r>
              <a:rPr lang="es-ES" sz="1600" dirty="0"/>
              <a:t>1. </a:t>
            </a:r>
            <a:r>
              <a:rPr lang="es-ES" sz="1600" b="1" dirty="0" err="1"/>
              <a:t>Serway</a:t>
            </a:r>
            <a:r>
              <a:rPr lang="es-ES" sz="1600" b="1" dirty="0"/>
              <a:t>, R. A. y </a:t>
            </a:r>
            <a:r>
              <a:rPr lang="es-ES" sz="1600" b="1" dirty="0" err="1"/>
              <a:t>Jewett</a:t>
            </a:r>
            <a:r>
              <a:rPr lang="es-ES" sz="1600" b="1" dirty="0"/>
              <a:t>, J. W.</a:t>
            </a:r>
            <a:r>
              <a:rPr lang="es-ES" sz="1600" dirty="0"/>
              <a:t> </a:t>
            </a:r>
            <a:r>
              <a:rPr lang="es-ES" sz="1600" i="1" dirty="0" err="1"/>
              <a:t>Fisica</a:t>
            </a:r>
            <a:r>
              <a:rPr lang="es-ES" sz="1600" i="1" dirty="0"/>
              <a:t> para Ciencias e </a:t>
            </a:r>
            <a:r>
              <a:rPr lang="es-ES" sz="1600" i="1" dirty="0" err="1"/>
              <a:t>Ingeneiría</a:t>
            </a:r>
            <a:r>
              <a:rPr lang="es-ES" sz="1600" i="1" dirty="0"/>
              <a:t>. </a:t>
            </a:r>
            <a:r>
              <a:rPr lang="es-ES" sz="1600" dirty="0"/>
              <a:t>México : </a:t>
            </a:r>
            <a:r>
              <a:rPr lang="es-ES" sz="1600" dirty="0" err="1"/>
              <a:t>Cengage</a:t>
            </a:r>
            <a:r>
              <a:rPr lang="es-ES" sz="1600" dirty="0"/>
              <a:t> </a:t>
            </a:r>
            <a:r>
              <a:rPr lang="es-ES" sz="1600" dirty="0" err="1"/>
              <a:t>Learning</a:t>
            </a:r>
            <a:r>
              <a:rPr lang="es-ES" sz="1600" dirty="0"/>
              <a:t>, 2015. Vol. I.</a:t>
            </a:r>
            <a:endParaRPr lang="es-PE" sz="1600" dirty="0"/>
          </a:p>
          <a:p>
            <a:r>
              <a:rPr lang="es-ES" sz="1600" dirty="0"/>
              <a:t>2. </a:t>
            </a:r>
            <a:r>
              <a:rPr lang="es-ES" sz="1600" b="1" dirty="0" err="1"/>
              <a:t>Resnick</a:t>
            </a:r>
            <a:r>
              <a:rPr lang="es-ES" sz="1600" b="1" dirty="0"/>
              <a:t>, R., </a:t>
            </a:r>
            <a:r>
              <a:rPr lang="es-ES" sz="1600" b="1" dirty="0" err="1"/>
              <a:t>Halliday</a:t>
            </a:r>
            <a:r>
              <a:rPr lang="es-ES" sz="1600" b="1" dirty="0"/>
              <a:t>, D. y </a:t>
            </a:r>
            <a:r>
              <a:rPr lang="es-ES" sz="1600" b="1" dirty="0" err="1"/>
              <a:t>Krane</a:t>
            </a:r>
            <a:r>
              <a:rPr lang="es-ES" sz="1600" b="1" dirty="0"/>
              <a:t>, K. S.</a:t>
            </a:r>
            <a:r>
              <a:rPr lang="es-ES" sz="1600" dirty="0"/>
              <a:t> </a:t>
            </a:r>
            <a:r>
              <a:rPr lang="es-ES" sz="1600" i="1" dirty="0"/>
              <a:t>Física. </a:t>
            </a:r>
            <a:r>
              <a:rPr lang="es-ES" sz="1600" dirty="0"/>
              <a:t>Quinta. México : </a:t>
            </a:r>
            <a:r>
              <a:rPr lang="es-ES" sz="1600" dirty="0" err="1"/>
              <a:t>Compañia</a:t>
            </a:r>
            <a:r>
              <a:rPr lang="es-ES" sz="1600" dirty="0"/>
              <a:t> editorial Continental, 2014. Vol. I.</a:t>
            </a:r>
            <a:endParaRPr lang="es-PE" sz="1600" dirty="0"/>
          </a:p>
          <a:p>
            <a:r>
              <a:rPr lang="es-ES" sz="1600" dirty="0"/>
              <a:t>3. </a:t>
            </a:r>
            <a:r>
              <a:rPr lang="es-ES" sz="1600" b="1" dirty="0" err="1"/>
              <a:t>Tipler</a:t>
            </a:r>
            <a:r>
              <a:rPr lang="es-ES" sz="1600" b="1" dirty="0"/>
              <a:t>, P. A. y Mosca, G.</a:t>
            </a:r>
            <a:r>
              <a:rPr lang="es-ES" sz="1600" dirty="0"/>
              <a:t> </a:t>
            </a:r>
            <a:r>
              <a:rPr lang="es-ES" sz="1600" i="1" dirty="0"/>
              <a:t>Física para la Ciencia y la Tecnología. </a:t>
            </a:r>
            <a:r>
              <a:rPr lang="es-ES" sz="1600" dirty="0"/>
              <a:t>Sexta. Barcelona : </a:t>
            </a:r>
            <a:r>
              <a:rPr lang="es-ES" sz="1600" dirty="0" err="1"/>
              <a:t>Reverté</a:t>
            </a:r>
            <a:r>
              <a:rPr lang="es-ES" sz="1600" dirty="0"/>
              <a:t> S.A., 2010. Vol. I.</a:t>
            </a:r>
            <a:endParaRPr lang="es-PE" sz="1600" dirty="0"/>
          </a:p>
          <a:p>
            <a:r>
              <a:rPr lang="es-ES" sz="1600" dirty="0"/>
              <a:t>4. </a:t>
            </a:r>
            <a:r>
              <a:rPr lang="es-ES" sz="1600" b="1" dirty="0" err="1"/>
              <a:t>Zemansky</a:t>
            </a:r>
            <a:r>
              <a:rPr lang="es-ES" sz="1600" b="1" dirty="0"/>
              <a:t>, M. W. y </a:t>
            </a:r>
            <a:r>
              <a:rPr lang="es-ES" sz="1600" b="1" dirty="0" err="1"/>
              <a:t>Freedman</a:t>
            </a:r>
            <a:r>
              <a:rPr lang="es-ES" sz="1600" b="1" dirty="0"/>
              <a:t>, R.A.</a:t>
            </a:r>
            <a:r>
              <a:rPr lang="es-ES" sz="1600" dirty="0"/>
              <a:t> </a:t>
            </a:r>
            <a:r>
              <a:rPr lang="es-ES" sz="1600" i="1" dirty="0"/>
              <a:t>Física Universitaria. </a:t>
            </a:r>
            <a:r>
              <a:rPr lang="es-ES" sz="1600" dirty="0"/>
              <a:t>México : Pearson </a:t>
            </a:r>
            <a:r>
              <a:rPr lang="es-ES" sz="1600" dirty="0" err="1"/>
              <a:t>Education</a:t>
            </a:r>
            <a:r>
              <a:rPr lang="es-ES" sz="1600" dirty="0"/>
              <a:t>, 2009. Vol. I.</a:t>
            </a:r>
            <a:endParaRPr lang="es-PE" sz="1600" dirty="0"/>
          </a:p>
          <a:p>
            <a:r>
              <a:rPr lang="es-ES" sz="1600" dirty="0"/>
              <a:t>5. </a:t>
            </a:r>
            <a:r>
              <a:rPr lang="es-ES" sz="1600" b="1" dirty="0" err="1"/>
              <a:t>Fishbane</a:t>
            </a:r>
            <a:r>
              <a:rPr lang="es-ES" sz="1600" b="1" dirty="0"/>
              <a:t>, P.M., </a:t>
            </a:r>
            <a:r>
              <a:rPr lang="es-ES" sz="1600" b="1" dirty="0" err="1"/>
              <a:t>Gasiorowicz</a:t>
            </a:r>
            <a:r>
              <a:rPr lang="es-ES" sz="1600" b="1" dirty="0"/>
              <a:t>, S. y </a:t>
            </a:r>
            <a:r>
              <a:rPr lang="es-ES" sz="1600" b="1" dirty="0" err="1"/>
              <a:t>Thornton</a:t>
            </a:r>
            <a:r>
              <a:rPr lang="es-ES" sz="1600" b="1" dirty="0"/>
              <a:t>, S.T.</a:t>
            </a:r>
            <a:r>
              <a:rPr lang="es-ES" sz="1600" dirty="0"/>
              <a:t> </a:t>
            </a:r>
            <a:r>
              <a:rPr lang="es-ES" sz="1600" i="1" dirty="0"/>
              <a:t>Física para Ciencias e </a:t>
            </a:r>
            <a:r>
              <a:rPr lang="es-ES" sz="1600" i="1" dirty="0" smtClean="0"/>
              <a:t>Ingeniería. </a:t>
            </a:r>
            <a:r>
              <a:rPr lang="es-ES" sz="1600" dirty="0"/>
              <a:t>México : Prentice Hall Hispanoamericana, 1996. Vol. I.</a:t>
            </a:r>
            <a:endParaRPr lang="es-PE" sz="1600" dirty="0"/>
          </a:p>
          <a:p>
            <a:r>
              <a:rPr lang="es-ES" sz="1600" dirty="0"/>
              <a:t>6. </a:t>
            </a:r>
            <a:r>
              <a:rPr lang="es-ES" sz="1600" b="1" dirty="0"/>
              <a:t>Alonso, M. y </a:t>
            </a:r>
            <a:r>
              <a:rPr lang="es-ES" sz="1600" b="1" dirty="0" err="1"/>
              <a:t>Finn</a:t>
            </a:r>
            <a:r>
              <a:rPr lang="es-ES" sz="1600" b="1" dirty="0"/>
              <a:t>, E.J.</a:t>
            </a:r>
            <a:r>
              <a:rPr lang="es-ES" sz="1600" dirty="0"/>
              <a:t> </a:t>
            </a:r>
            <a:r>
              <a:rPr lang="es-ES" sz="1600" i="1" dirty="0"/>
              <a:t>Física: Mecánica. </a:t>
            </a:r>
            <a:r>
              <a:rPr lang="es-ES" sz="1600" dirty="0"/>
              <a:t>México : Fondo Educativo Interamericano S. A., 1971. Vol. I.</a:t>
            </a:r>
            <a:endParaRPr lang="es-PE" sz="1600" dirty="0"/>
          </a:p>
          <a:p>
            <a:r>
              <a:rPr lang="es-ES" sz="1600" b="1" u="sng" dirty="0"/>
              <a:t>Bibliografía Complementaria:</a:t>
            </a:r>
            <a:endParaRPr lang="es-PE" sz="1600" b="1" u="sng" dirty="0"/>
          </a:p>
          <a:p>
            <a:r>
              <a:rPr lang="es-ES" sz="1600" b="1" dirty="0"/>
              <a:t> </a:t>
            </a:r>
            <a:r>
              <a:rPr lang="es-ES" sz="1600" dirty="0"/>
              <a:t>7. </a:t>
            </a:r>
            <a:r>
              <a:rPr lang="es-ES" sz="1600" b="1" dirty="0" err="1"/>
              <a:t>Beer</a:t>
            </a:r>
            <a:r>
              <a:rPr lang="es-ES" sz="1600" b="1" dirty="0"/>
              <a:t>, F. P., y otros.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ingenieros: Dinámica. </a:t>
            </a:r>
            <a:r>
              <a:rPr lang="es-ES" sz="1600" dirty="0"/>
              <a:t>México : Mc Graw Hill, 2010. Vol. Novena.</a:t>
            </a:r>
            <a:endParaRPr lang="es-PE" sz="1600" dirty="0"/>
          </a:p>
          <a:p>
            <a:r>
              <a:rPr lang="es-ES" sz="1600" dirty="0"/>
              <a:t>8. </a:t>
            </a:r>
            <a:r>
              <a:rPr lang="es-ES" sz="1600" b="1" dirty="0" err="1"/>
              <a:t>Beer</a:t>
            </a:r>
            <a:r>
              <a:rPr lang="es-ES" sz="1600" b="1" dirty="0"/>
              <a:t>, F.P., y otros.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Ingenieros: Estática. </a:t>
            </a:r>
            <a:r>
              <a:rPr lang="es-ES" sz="1600" dirty="0"/>
              <a:t>Novena. México : Mc Graw Hill, 2010.</a:t>
            </a:r>
            <a:endParaRPr lang="es-PE" sz="1600" dirty="0"/>
          </a:p>
          <a:p>
            <a:r>
              <a:rPr lang="es-ES" sz="1600" dirty="0"/>
              <a:t>9. </a:t>
            </a:r>
            <a:r>
              <a:rPr lang="es-ES" sz="1600" b="1" dirty="0"/>
              <a:t>Bedford, A. y </a:t>
            </a:r>
            <a:r>
              <a:rPr lang="es-ES" sz="1600" b="1" dirty="0" err="1"/>
              <a:t>Fowler</a:t>
            </a:r>
            <a:r>
              <a:rPr lang="es-ES" sz="1600" b="1" dirty="0"/>
              <a:t>, W.</a:t>
            </a:r>
            <a:r>
              <a:rPr lang="es-ES" sz="1600" dirty="0"/>
              <a:t> </a:t>
            </a:r>
            <a:r>
              <a:rPr lang="es-ES" sz="1600" i="1" dirty="0"/>
              <a:t>Mecánica para Ingeniería: Estática. </a:t>
            </a:r>
            <a:r>
              <a:rPr lang="es-ES" sz="1600" dirty="0"/>
              <a:t>Quinta. México : Pearson Educación, 2008.</a:t>
            </a:r>
            <a:endParaRPr lang="es-PE" sz="1600" dirty="0"/>
          </a:p>
          <a:p>
            <a:r>
              <a:rPr lang="es-ES" sz="1600" dirty="0"/>
              <a:t>10. —. </a:t>
            </a:r>
            <a:r>
              <a:rPr lang="es-ES" sz="1600" i="1" dirty="0"/>
              <a:t>Mecánica para Ingeniería: Dinámica. </a:t>
            </a:r>
            <a:r>
              <a:rPr lang="es-ES" sz="1600" dirty="0"/>
              <a:t>Quinta. México : Pearson Educación, 2008.</a:t>
            </a:r>
            <a:endParaRPr lang="es-PE" sz="1600" dirty="0"/>
          </a:p>
          <a:p>
            <a:r>
              <a:rPr lang="es-ES" sz="1600" dirty="0"/>
              <a:t>11. </a:t>
            </a:r>
            <a:r>
              <a:rPr lang="es-ES" sz="1600" b="1" dirty="0" err="1"/>
              <a:t>Hibbeler</a:t>
            </a:r>
            <a:r>
              <a:rPr lang="es-ES" sz="1600" b="1" dirty="0"/>
              <a:t>, R. C.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Ingenieros: Estática. </a:t>
            </a:r>
            <a:r>
              <a:rPr lang="es-ES" sz="1600" dirty="0"/>
              <a:t>Décima. México : Pearson Educación, 2004.</a:t>
            </a:r>
            <a:endParaRPr lang="es-PE" sz="1600" dirty="0"/>
          </a:p>
          <a:p>
            <a:r>
              <a:rPr lang="es-ES" sz="1600" dirty="0"/>
              <a:t>12. —. </a:t>
            </a:r>
            <a:r>
              <a:rPr lang="es-ES" sz="1600" i="1" dirty="0"/>
              <a:t>Mecánica Vectorial para Ingenieros: Dinámica. </a:t>
            </a:r>
            <a:r>
              <a:rPr lang="es-ES" sz="1600" dirty="0"/>
              <a:t>Décima. México : Pearson Educación, 2004.</a:t>
            </a:r>
            <a:r>
              <a:rPr lang="es-ES" sz="1500" dirty="0">
                <a:ea typeface="Symbol" panose="05050102010706020507" pitchFamily="18" charset="2"/>
                <a:cs typeface="Arial" panose="020B0604020202020204" pitchFamily="34" charset="0"/>
              </a:rPr>
              <a:t> </a:t>
            </a:r>
          </a:p>
          <a:p>
            <a:r>
              <a:rPr lang="es-ES" sz="1500" b="1" u="sng" dirty="0">
                <a:ea typeface="Times New Roman" panose="02020603050405020304" pitchFamily="18" charset="0"/>
              </a:rPr>
              <a:t>Fuentes </a:t>
            </a:r>
            <a:r>
              <a:rPr lang="es-ES" sz="1500" b="1" u="sng" dirty="0" err="1">
                <a:ea typeface="Times New Roman" panose="02020603050405020304" pitchFamily="18" charset="0"/>
              </a:rPr>
              <a:t>hemerográficas</a:t>
            </a:r>
            <a:endParaRPr lang="es-ES" sz="1500" b="1" u="sng" dirty="0">
              <a:ea typeface="Times New Roman" panose="02020603050405020304" pitchFamily="18" charset="0"/>
            </a:endParaRPr>
          </a:p>
          <a:p>
            <a:r>
              <a:rPr lang="es-ES" sz="1500" dirty="0" err="1">
                <a:ea typeface="Times New Roman" panose="02020603050405020304" pitchFamily="18" charset="0"/>
              </a:rPr>
              <a:t>Physics</a:t>
            </a:r>
            <a:r>
              <a:rPr lang="es-ES" sz="1500" dirty="0">
                <a:ea typeface="Times New Roman" panose="02020603050405020304" pitchFamily="18" charset="0"/>
              </a:rPr>
              <a:t> </a:t>
            </a:r>
            <a:r>
              <a:rPr lang="es-ES" sz="1500" dirty="0" err="1">
                <a:ea typeface="Times New Roman" panose="02020603050405020304" pitchFamily="18" charset="0"/>
              </a:rPr>
              <a:t>today</a:t>
            </a:r>
            <a:r>
              <a:rPr lang="es-ES" sz="1500" dirty="0">
                <a:ea typeface="Times New Roman" panose="02020603050405020304" pitchFamily="18" charset="0"/>
              </a:rPr>
              <a:t>, 68(11), 38(2015); </a:t>
            </a:r>
            <a:r>
              <a:rPr lang="es-ES" sz="1500" dirty="0" err="1">
                <a:ea typeface="Times New Roman" panose="02020603050405020304" pitchFamily="18" charset="0"/>
              </a:rPr>
              <a:t>doi</a:t>
            </a:r>
            <a:r>
              <a:rPr lang="es-ES" sz="1500" dirty="0">
                <a:ea typeface="Times New Roman" panose="02020603050405020304" pitchFamily="18" charset="0"/>
              </a:rPr>
              <a:t> 10.1063/PT 3.2980.</a:t>
            </a:r>
            <a:endParaRPr lang="es-PE" sz="1500" dirty="0">
              <a:ea typeface="Times New Roman" panose="02020603050405020304" pitchFamily="18" charset="0"/>
            </a:endParaRPr>
          </a:p>
          <a:p>
            <a:r>
              <a:rPr lang="es-ES" sz="1500" b="1" u="sng" dirty="0" err="1">
                <a:ea typeface="Times New Roman" panose="02020603050405020304" pitchFamily="18" charset="0"/>
              </a:rPr>
              <a:t>Webgrafia</a:t>
            </a:r>
            <a:endParaRPr lang="es-ES" sz="1500" b="1" u="sng" dirty="0">
              <a:ea typeface="Times New Roman" panose="02020603050405020304" pitchFamily="18" charset="0"/>
            </a:endParaRPr>
          </a:p>
          <a:p>
            <a:r>
              <a:rPr lang="es-PE" sz="1500" u="sng" dirty="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http://www.sc.ehu.es/sbweb/fisica/</a:t>
            </a:r>
            <a:endParaRPr lang="es-PE" sz="1500" u="sng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PE" sz="1500" u="sng" dirty="0"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http://www.fisicarecreativa.com/</a:t>
            </a:r>
            <a:endParaRPr lang="es-PE" sz="1500" dirty="0"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000593"/>
      </p:ext>
    </p:extLst>
  </p:cSld>
  <p:clrMapOvr>
    <a:masterClrMapping/>
  </p:clrMapOvr>
</p:sld>
</file>

<file path=ppt/theme/theme1.xml><?xml version="1.0" encoding="utf-8"?>
<a:theme xmlns:a="http://schemas.openxmlformats.org/drawingml/2006/main" name="PATR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PATRON</Template>
  <TotalTime>12524</TotalTime>
  <Words>1600</Words>
  <Application>Microsoft Office PowerPoint</Application>
  <PresentationFormat>A4 (210 x 297 mm)</PresentationFormat>
  <Paragraphs>215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34" baseType="lpstr">
      <vt:lpstr>MS PGothic</vt:lpstr>
      <vt:lpstr>Arial</vt:lpstr>
      <vt:lpstr>Calibri</vt:lpstr>
      <vt:lpstr>Cambria Math</vt:lpstr>
      <vt:lpstr>Lucida Sans Unicode</vt:lpstr>
      <vt:lpstr>MyriadPro-Cond</vt:lpstr>
      <vt:lpstr>MyriadPro-LightCond</vt:lpstr>
      <vt:lpstr>MyriadPro-LightCondIt</vt:lpstr>
      <vt:lpstr>NewBaskerville-Bold</vt:lpstr>
      <vt:lpstr>NewBaskerville-Roman</vt:lpstr>
      <vt:lpstr>Symbol</vt:lpstr>
      <vt:lpstr>Tahoma</vt:lpstr>
      <vt:lpstr>Times New Roman</vt:lpstr>
      <vt:lpstr>PATRON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Privada del Norte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Delfin Narciso</dc:creator>
  <cp:lastModifiedBy>Cuenta Microsoft</cp:lastModifiedBy>
  <cp:revision>634</cp:revision>
  <dcterms:created xsi:type="dcterms:W3CDTF">2012-09-19T03:34:19Z</dcterms:created>
  <dcterms:modified xsi:type="dcterms:W3CDTF">2021-01-06T20:31:44Z</dcterms:modified>
</cp:coreProperties>
</file>