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handoutMasterIdLst>
    <p:handoutMasterId r:id="rId27"/>
  </p:handoutMasterIdLst>
  <p:sldIdLst>
    <p:sldId id="363" r:id="rId2"/>
    <p:sldId id="256" r:id="rId3"/>
    <p:sldId id="365" r:id="rId4"/>
    <p:sldId id="366" r:id="rId5"/>
    <p:sldId id="367" r:id="rId6"/>
    <p:sldId id="389" r:id="rId7"/>
    <p:sldId id="411" r:id="rId8"/>
    <p:sldId id="410" r:id="rId9"/>
    <p:sldId id="400" r:id="rId10"/>
    <p:sldId id="412" r:id="rId11"/>
    <p:sldId id="415" r:id="rId12"/>
    <p:sldId id="416" r:id="rId13"/>
    <p:sldId id="414" r:id="rId14"/>
    <p:sldId id="417" r:id="rId15"/>
    <p:sldId id="401" r:id="rId16"/>
    <p:sldId id="413" r:id="rId17"/>
    <p:sldId id="395" r:id="rId18"/>
    <p:sldId id="418" r:id="rId19"/>
    <p:sldId id="406" r:id="rId20"/>
    <p:sldId id="371" r:id="rId21"/>
    <p:sldId id="407" r:id="rId22"/>
    <p:sldId id="376" r:id="rId23"/>
    <p:sldId id="382" r:id="rId24"/>
    <p:sldId id="378" r:id="rId25"/>
  </p:sldIdLst>
  <p:sldSz cx="9906000" cy="6858000" type="A4"/>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D1611"/>
    <a:srgbClr val="A51313"/>
    <a:srgbClr val="B71515"/>
    <a:srgbClr val="D51919"/>
    <a:srgbClr val="B6120E"/>
    <a:srgbClr val="930E0B"/>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36" autoAdjust="0"/>
    <p:restoredTop sz="94660"/>
  </p:normalViewPr>
  <p:slideViewPr>
    <p:cSldViewPr>
      <p:cViewPr varScale="1">
        <p:scale>
          <a:sx n="84" d="100"/>
          <a:sy n="84" d="100"/>
        </p:scale>
        <p:origin x="1464" y="42"/>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18.wmf"/><Relationship Id="rId1" Type="http://schemas.openxmlformats.org/officeDocument/2006/relationships/image" Target="../media/image24.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18.wmf"/><Relationship Id="rId1" Type="http://schemas.openxmlformats.org/officeDocument/2006/relationships/image" Target="../media/image30.wmf"/><Relationship Id="rId6" Type="http://schemas.openxmlformats.org/officeDocument/2006/relationships/image" Target="../media/image32.wmf"/><Relationship Id="rId5" Type="http://schemas.openxmlformats.org/officeDocument/2006/relationships/image" Target="../media/image26.wmf"/><Relationship Id="rId4"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219AD7-51CE-483B-A812-AE489C31F232}" type="datetimeFigureOut">
              <a:rPr lang="es-MX" smtClean="0"/>
              <a:t>24/11/2019</a:t>
            </a:fld>
            <a:endParaRPr lang="es-MX"/>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E476D70-7FD1-490F-953D-DAC7EFCA2461}" type="slidenum">
              <a:rPr lang="es-MX" smtClean="0"/>
              <a:t>‹Nº›</a:t>
            </a:fld>
            <a:endParaRPr lang="es-MX"/>
          </a:p>
        </p:txBody>
      </p:sp>
    </p:spTree>
    <p:extLst>
      <p:ext uri="{BB962C8B-B14F-4D97-AF65-F5344CB8AC3E}">
        <p14:creationId xmlns:p14="http://schemas.microsoft.com/office/powerpoint/2010/main" val="1745235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5223AA-9B34-4DCC-A6E4-0C980A794CD5}" type="datetimeFigureOut">
              <a:rPr lang="es-MX" smtClean="0"/>
              <a:t>24/11/2019</a:t>
            </a:fld>
            <a:endParaRPr lang="es-MX"/>
          </a:p>
        </p:txBody>
      </p:sp>
      <p:sp>
        <p:nvSpPr>
          <p:cNvPr id="4" name="3 Marcador de imagen de diapositiva"/>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D07FDC-64A3-4F2D-9092-2E95035D7FC4}" type="slidenum">
              <a:rPr lang="es-MX" smtClean="0"/>
              <a:t>‹Nº›</a:t>
            </a:fld>
            <a:endParaRPr lang="es-MX"/>
          </a:p>
        </p:txBody>
      </p:sp>
    </p:spTree>
    <p:extLst>
      <p:ext uri="{BB962C8B-B14F-4D97-AF65-F5344CB8AC3E}">
        <p14:creationId xmlns:p14="http://schemas.microsoft.com/office/powerpoint/2010/main" val="41469930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ctrTitle"/>
          </p:nvPr>
        </p:nvSpPr>
        <p:spPr>
          <a:xfrm>
            <a:off x="534479" y="1848218"/>
            <a:ext cx="8420100" cy="345317"/>
          </a:xfrm>
          <a:prstGeom prst="rect">
            <a:avLst/>
          </a:prstGeom>
        </p:spPr>
        <p:txBody>
          <a:bodyPr/>
          <a:lstStyle>
            <a:lvl1pPr>
              <a:defRPr sz="2800" cap="all">
                <a:solidFill>
                  <a:srgbClr val="272727"/>
                </a:solidFill>
              </a:defRPr>
            </a:lvl1pPr>
          </a:lstStyle>
          <a:p>
            <a:r>
              <a:rPr lang="es-ES"/>
              <a:t>Haga clic para modificar el estilo de título del patrón</a:t>
            </a:r>
            <a:endParaRPr lang="es-ES" dirty="0"/>
          </a:p>
        </p:txBody>
      </p:sp>
      <p:sp>
        <p:nvSpPr>
          <p:cNvPr id="3" name="Subtítulo 2"/>
          <p:cNvSpPr>
            <a:spLocks noGrp="1"/>
          </p:cNvSpPr>
          <p:nvPr>
            <p:ph type="subTitle" idx="1"/>
          </p:nvPr>
        </p:nvSpPr>
        <p:spPr>
          <a:xfrm>
            <a:off x="534479" y="2287320"/>
            <a:ext cx="6934200" cy="978395"/>
          </a:xfrm>
          <a:prstGeom prst="rect">
            <a:avLst/>
          </a:prstGeom>
        </p:spPr>
        <p:txBody>
          <a:bodyPr anchor="ctr"/>
          <a:lstStyle>
            <a:lvl1pPr marL="0" indent="0" algn="l">
              <a:buNone/>
              <a:defRPr sz="1800">
                <a:solidFill>
                  <a:schemeClr val="bg2">
                    <a:lumMod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pic>
        <p:nvPicPr>
          <p:cNvPr id="5" name="4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93260" y="5949280"/>
            <a:ext cx="2340260" cy="648072"/>
          </a:xfrm>
          <a:prstGeom prst="rect">
            <a:avLst/>
          </a:prstGeom>
        </p:spPr>
      </p:pic>
      <p:sp>
        <p:nvSpPr>
          <p:cNvPr id="7"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8" name="7 Rectángulo"/>
          <p:cNvSpPr/>
          <p:nvPr userDrawn="1"/>
        </p:nvSpPr>
        <p:spPr>
          <a:xfrm>
            <a:off x="7825563" y="12700"/>
            <a:ext cx="2066679" cy="1124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7"/>
          <p:cNvSpPr/>
          <p:nvPr userDrawn="1"/>
        </p:nvSpPr>
        <p:spPr>
          <a:xfrm>
            <a:off x="0" y="1835150"/>
            <a:ext cx="239713"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DUCCION">
    <p:spTree>
      <p:nvGrpSpPr>
        <p:cNvPr id="1" name=""/>
        <p:cNvGrpSpPr/>
        <p:nvPr/>
      </p:nvGrpSpPr>
      <p:grpSpPr>
        <a:xfrm>
          <a:off x="0" y="0"/>
          <a:ext cx="0" cy="0"/>
          <a:chOff x="0" y="0"/>
          <a:chExt cx="0" cy="0"/>
        </a:xfrm>
      </p:grpSpPr>
      <p:sp>
        <p:nvSpPr>
          <p:cNvPr id="5"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None/>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6" name="Rectangle 5"/>
          <p:cNvSpPr/>
          <p:nvPr/>
        </p:nvSpPr>
        <p:spPr>
          <a:xfrm>
            <a:off x="495300" y="393580"/>
            <a:ext cx="1500732" cy="461665"/>
          </a:xfrm>
          <a:prstGeom prst="rect">
            <a:avLst/>
          </a:prstGeom>
        </p:spPr>
        <p:txBody>
          <a:bodyPr wrap="none">
            <a:spAutoFit/>
          </a:bodyPr>
          <a:lstStyle/>
          <a:p>
            <a:r>
              <a:rPr lang="es-ES_tradnl" sz="2400" dirty="0">
                <a:solidFill>
                  <a:srgbClr val="FFC000"/>
                </a:solidFill>
                <a:latin typeface="Arial" pitchFamily="34" charset="0"/>
                <a:cs typeface="Arial" pitchFamily="34" charset="0"/>
              </a:rPr>
              <a:t>LOGROS</a:t>
            </a:r>
            <a:endParaRPr lang="es-MX" sz="2400" dirty="0">
              <a:solidFill>
                <a:srgbClr val="FFC000"/>
              </a:solidFill>
              <a:latin typeface="Arial" pitchFamily="34" charset="0"/>
              <a:cs typeface="Arial" pitchFamily="34" charset="0"/>
            </a:endParaRPr>
          </a:p>
        </p:txBody>
      </p:sp>
      <p:sp>
        <p:nvSpPr>
          <p:cNvPr id="8"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pic>
        <p:nvPicPr>
          <p:cNvPr id="2" name="1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5"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normAutofit/>
          </a:bodyPr>
          <a:lstStyle>
            <a:lvl1pPr>
              <a:defRPr sz="2400" cap="all"/>
            </a:lvl1pPr>
          </a:lstStyle>
          <a:p>
            <a:r>
              <a:rPr lang="es-ES"/>
              <a:t>Haga clic para modificar el estilo de título del patrón</a:t>
            </a:r>
            <a:endParaRPr lang="es-ES" dirty="0"/>
          </a:p>
        </p:txBody>
      </p:sp>
      <p:sp>
        <p:nvSpPr>
          <p:cNvPr id="3" name="Marcador de contenido 2"/>
          <p:cNvSpPr>
            <a:spLocks noGrp="1"/>
          </p:cNvSpPr>
          <p:nvPr>
            <p:ph idx="1"/>
          </p:nvPr>
        </p:nvSpPr>
        <p:spPr>
          <a:xfrm>
            <a:off x="495300" y="1078523"/>
            <a:ext cx="8915400" cy="5141425"/>
          </a:xfrm>
          <a:prstGeom prst="rect">
            <a:avLst/>
          </a:prstGeom>
        </p:spPr>
        <p:txBody>
          <a:bodyPr/>
          <a:lstStyle>
            <a:lvl1pPr>
              <a:defRPr sz="2000"/>
            </a:lvl1pPr>
            <a:lvl2pPr>
              <a:defRPr sz="2000"/>
            </a:lvl2pPr>
            <a:lvl3pPr>
              <a:defRPr sz="2000"/>
            </a:lvl3pPr>
            <a:lvl4pPr>
              <a:defRPr sz="2000"/>
            </a:lvl4pPr>
            <a:lvl5pPr>
              <a:defRPr sz="20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6"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sp>
        <p:nvSpPr>
          <p:cNvPr id="3" name="Marcador de contenido 2"/>
          <p:cNvSpPr>
            <a:spLocks noGrp="1"/>
          </p:cNvSpPr>
          <p:nvPr>
            <p:ph sz="half" idx="1"/>
          </p:nvPr>
        </p:nvSpPr>
        <p:spPr>
          <a:xfrm>
            <a:off x="49530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Marcador de contenido 3"/>
          <p:cNvSpPr>
            <a:spLocks noGrp="1"/>
          </p:cNvSpPr>
          <p:nvPr>
            <p:ph sz="half" idx="2"/>
          </p:nvPr>
        </p:nvSpPr>
        <p:spPr>
          <a:xfrm>
            <a:off x="503555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pic>
        <p:nvPicPr>
          <p:cNvPr id="8" name="7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1" y="393580"/>
            <a:ext cx="5022529"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REFERENCIAS BIBLIOGRÁFICAS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0" y="393580"/>
            <a:ext cx="2648482"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CONCLUSIONES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4" name="Rectángulo 8"/>
          <p:cNvSpPr/>
          <p:nvPr/>
        </p:nvSpPr>
        <p:spPr>
          <a:xfrm>
            <a:off x="9658351" y="482601"/>
            <a:ext cx="259689"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l="-9000" r="-1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0" r:id="rId8"/>
    <p:sldLayoutId id="2147483671" r:id="rId9"/>
  </p:sldLayoutIdLst>
  <p:transition>
    <p:wipe dir="r"/>
  </p:transition>
  <p:hf hdr="0"/>
  <p:txStyles>
    <p:titleStyle>
      <a:lvl1pPr algn="l" defTabSz="457200" rtl="0" eaLnBrk="1" fontAlgn="base" hangingPunct="1">
        <a:spcBef>
          <a:spcPct val="0"/>
        </a:spcBef>
        <a:spcAft>
          <a:spcPct val="0"/>
        </a:spcAft>
        <a:defRPr sz="2400" kern="1200" cap="all">
          <a:solidFill>
            <a:srgbClr val="EFA82F"/>
          </a:solidFill>
          <a:latin typeface="Arial"/>
          <a:ea typeface="ＭＳ Ｐゴシック"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2pPr>
      <a:lvl3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3pPr>
      <a:lvl4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4pPr>
      <a:lvl5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9pPr>
    </p:titleStyle>
    <p:body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9.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13.wmf"/><Relationship Id="rId5" Type="http://schemas.openxmlformats.org/officeDocument/2006/relationships/oleObject" Target="../embeddings/oleObject3.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20.wmf"/><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image" Target="../media/image17.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oleObject" Target="../embeddings/oleObject9.bin"/><Relationship Id="rId14" Type="http://schemas.openxmlformats.org/officeDocument/2006/relationships/image" Target="../media/image21.wmf"/></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17.bin"/><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26.wmf"/><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image" Target="../media/image18.w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25.wmf"/><Relationship Id="rId4" Type="http://schemas.openxmlformats.org/officeDocument/2006/relationships/image" Target="../media/image24.wmf"/><Relationship Id="rId9" Type="http://schemas.openxmlformats.org/officeDocument/2006/relationships/oleObject" Target="../embeddings/oleObject15.bin"/><Relationship Id="rId14" Type="http://schemas.openxmlformats.org/officeDocument/2006/relationships/image" Target="../media/image27.wmf"/></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23.bin"/><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26.wmf"/><Relationship Id="rId2" Type="http://schemas.openxmlformats.org/officeDocument/2006/relationships/slideLayout" Target="../slideLayouts/slideLayout9.xml"/><Relationship Id="rId1" Type="http://schemas.openxmlformats.org/officeDocument/2006/relationships/vmlDrawing" Target="../drawings/vmlDrawing5.vml"/><Relationship Id="rId6" Type="http://schemas.openxmlformats.org/officeDocument/2006/relationships/image" Target="../media/image18.wmf"/><Relationship Id="rId11" Type="http://schemas.openxmlformats.org/officeDocument/2006/relationships/oleObject" Target="../embeddings/oleObject22.bin"/><Relationship Id="rId5" Type="http://schemas.openxmlformats.org/officeDocument/2006/relationships/oleObject" Target="../embeddings/oleObject19.bin"/><Relationship Id="rId10" Type="http://schemas.openxmlformats.org/officeDocument/2006/relationships/image" Target="../media/image31.wmf"/><Relationship Id="rId4" Type="http://schemas.openxmlformats.org/officeDocument/2006/relationships/image" Target="../media/image30.wmf"/><Relationship Id="rId9" Type="http://schemas.openxmlformats.org/officeDocument/2006/relationships/oleObject" Target="../embeddings/oleObject21.bin"/><Relationship Id="rId14" Type="http://schemas.openxmlformats.org/officeDocument/2006/relationships/image" Target="../media/image32.wmf"/></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9.xml"/><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9.xml"/><Relationship Id="rId1" Type="http://schemas.openxmlformats.org/officeDocument/2006/relationships/vmlDrawing" Target="../drawings/vmlDrawing6.vml"/><Relationship Id="rId4" Type="http://schemas.openxmlformats.org/officeDocument/2006/relationships/image" Target="../media/image39.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40.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hyperlink" Target="http://www.fisicarecreativa.com/" TargetMode="External"/><Relationship Id="rId2" Type="http://schemas.openxmlformats.org/officeDocument/2006/relationships/hyperlink" Target="http://www.sc.ehu.es/sbweb/fisica/"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018349" y="2132856"/>
            <a:ext cx="2232248" cy="352839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es-ES" sz="2400" dirty="0" smtClean="0">
                <a:solidFill>
                  <a:schemeClr val="tx1"/>
                </a:solidFill>
              </a:rPr>
              <a:t>Procesos Reversible e Irreversibles</a:t>
            </a:r>
          </a:p>
          <a:p>
            <a:r>
              <a:rPr lang="es-ES" sz="2400" dirty="0" smtClean="0">
                <a:solidFill>
                  <a:schemeClr val="tx1"/>
                </a:solidFill>
              </a:rPr>
              <a:t>Entropía y Segunda Ley</a:t>
            </a:r>
          </a:p>
          <a:p>
            <a:r>
              <a:rPr lang="es-ES" sz="2400" dirty="0" smtClean="0">
                <a:solidFill>
                  <a:schemeClr val="tx1"/>
                </a:solidFill>
              </a:rPr>
              <a:t>Entropía y probabilidad.</a:t>
            </a:r>
            <a:endParaRPr lang="es-PE" sz="2400" dirty="0">
              <a:solidFill>
                <a:schemeClr val="tx1"/>
              </a:solidFill>
            </a:endParaRPr>
          </a:p>
        </p:txBody>
      </p:sp>
      <p:sp>
        <p:nvSpPr>
          <p:cNvPr id="6" name="Rectángulo redondeado 5"/>
          <p:cNvSpPr/>
          <p:nvPr/>
        </p:nvSpPr>
        <p:spPr>
          <a:xfrm>
            <a:off x="1548194" y="760506"/>
            <a:ext cx="3404806" cy="64807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1704975" indent="-1704975"/>
            <a:r>
              <a:rPr lang="es-PE" sz="2000" b="1" dirty="0">
                <a:solidFill>
                  <a:schemeClr val="tx1"/>
                </a:solidFill>
                <a:latin typeface="Arial" panose="020B0604020202020204" pitchFamily="34" charset="0"/>
                <a:cs typeface="Arial" panose="020B0604020202020204" pitchFamily="34" charset="0"/>
              </a:rPr>
              <a:t>SEMANA </a:t>
            </a:r>
            <a:r>
              <a:rPr lang="es-PE" sz="2000" b="1" dirty="0" smtClean="0">
                <a:solidFill>
                  <a:schemeClr val="tx1"/>
                </a:solidFill>
                <a:latin typeface="Arial" panose="020B0604020202020204" pitchFamily="34" charset="0"/>
                <a:cs typeface="Arial" panose="020B0604020202020204" pitchFamily="34" charset="0"/>
              </a:rPr>
              <a:t>15:  ENTROPIA</a:t>
            </a:r>
            <a:endParaRPr lang="es-PE" sz="2000" b="1" dirty="0">
              <a:solidFill>
                <a:schemeClr val="tx1"/>
              </a:solidFill>
              <a:latin typeface="Arial" panose="020B0604020202020204" pitchFamily="34" charset="0"/>
              <a:cs typeface="Arial" panose="020B0604020202020204" pitchFamily="34" charset="0"/>
            </a:endParaRPr>
          </a:p>
        </p:txBody>
      </p:sp>
      <p:pic>
        <p:nvPicPr>
          <p:cNvPr id="10242" name="Picture 2" descr="Resultado de imagen para ENTROP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0912" y="2065649"/>
            <a:ext cx="5040560" cy="3595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923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640632" y="764704"/>
            <a:ext cx="5961184" cy="96715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OBSERVA LA IMÁGEN .  .  .</a:t>
            </a:r>
          </a:p>
        </p:txBody>
      </p:sp>
      <p:sp>
        <p:nvSpPr>
          <p:cNvPr id="8" name="Rectángulo redondeado 7"/>
          <p:cNvSpPr/>
          <p:nvPr/>
        </p:nvSpPr>
        <p:spPr>
          <a:xfrm>
            <a:off x="5457056" y="3429000"/>
            <a:ext cx="3730895" cy="1368152"/>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¿Qué opinión tienes al respecto?</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0632" y="1832544"/>
            <a:ext cx="3096344" cy="4776530"/>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38733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7" name="Rectángulo redondeado 6"/>
          <p:cNvSpPr/>
          <p:nvPr/>
        </p:nvSpPr>
        <p:spPr>
          <a:xfrm>
            <a:off x="1712641" y="873007"/>
            <a:ext cx="2664296" cy="67756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3200" dirty="0">
                <a:solidFill>
                  <a:schemeClr val="tx1"/>
                </a:solidFill>
              </a:rPr>
              <a:t>PENSEMOS. . .</a:t>
            </a:r>
          </a:p>
        </p:txBody>
      </p:sp>
      <p:sp>
        <p:nvSpPr>
          <p:cNvPr id="9" name="Rectángulo redondeado 8"/>
          <p:cNvSpPr/>
          <p:nvPr/>
        </p:nvSpPr>
        <p:spPr>
          <a:xfrm>
            <a:off x="752078" y="5220134"/>
            <a:ext cx="7560841" cy="140558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s-PE" sz="2000" b="1" dirty="0">
                <a:solidFill>
                  <a:schemeClr val="tx1"/>
                </a:solidFill>
              </a:rPr>
              <a:t>¿Qué entiendes por </a:t>
            </a:r>
            <a:r>
              <a:rPr lang="es-PE" sz="2000" b="1" dirty="0" smtClean="0">
                <a:solidFill>
                  <a:schemeClr val="tx1"/>
                </a:solidFill>
              </a:rPr>
              <a:t>Desorden?   </a:t>
            </a:r>
          </a:p>
          <a:p>
            <a:pPr>
              <a:lnSpc>
                <a:spcPct val="150000"/>
              </a:lnSpc>
            </a:pPr>
            <a:r>
              <a:rPr lang="es-PE" sz="2000" b="1" dirty="0" smtClean="0">
                <a:solidFill>
                  <a:schemeClr val="tx1"/>
                </a:solidFill>
              </a:rPr>
              <a:t>¿</a:t>
            </a:r>
            <a:r>
              <a:rPr lang="es-PE" sz="2000" b="1" dirty="0">
                <a:solidFill>
                  <a:schemeClr val="tx1"/>
                </a:solidFill>
              </a:rPr>
              <a:t>Qué entiendes por </a:t>
            </a:r>
            <a:r>
              <a:rPr lang="es-PE" sz="2000" b="1" dirty="0" smtClean="0">
                <a:solidFill>
                  <a:schemeClr val="tx1"/>
                </a:solidFill>
              </a:rPr>
              <a:t>Probabilidad? </a:t>
            </a:r>
          </a:p>
          <a:p>
            <a:pPr>
              <a:lnSpc>
                <a:spcPct val="150000"/>
              </a:lnSpc>
            </a:pPr>
            <a:r>
              <a:rPr lang="es-PE" sz="2000" b="1" dirty="0" smtClean="0">
                <a:solidFill>
                  <a:schemeClr val="tx1"/>
                </a:solidFill>
              </a:rPr>
              <a:t>¿Tiene que ver la entropía con la segunda ley de la termodinámica? </a:t>
            </a:r>
            <a:endParaRPr lang="es-PE" sz="2400" b="1" dirty="0">
              <a:solidFill>
                <a:schemeClr val="tx1"/>
              </a:solidFill>
            </a:endParaRPr>
          </a:p>
        </p:txBody>
      </p:sp>
      <p:pic>
        <p:nvPicPr>
          <p:cNvPr id="3" name="Picture 2" descr="Resultado de imagen para ENTROP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641" y="1801064"/>
            <a:ext cx="5639717" cy="3168574"/>
          </a:xfrm>
          <a:prstGeom prst="ellipse">
            <a:avLst/>
          </a:prstGeom>
          <a:ln w="63500" cap="rnd">
            <a:solidFill>
              <a:schemeClr val="tx2">
                <a:lumMod val="60000"/>
                <a:lumOff val="40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1107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664295"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PROPÓSITO</a:t>
            </a:r>
          </a:p>
        </p:txBody>
      </p:sp>
      <p:sp>
        <p:nvSpPr>
          <p:cNvPr id="8" name="2 Redondear rectángulo de esquina diagonal"/>
          <p:cNvSpPr/>
          <p:nvPr/>
        </p:nvSpPr>
        <p:spPr>
          <a:xfrm>
            <a:off x="5241032" y="1484784"/>
            <a:ext cx="4176464" cy="4608512"/>
          </a:xfrm>
          <a:prstGeom prst="round2DiagRect">
            <a:avLst>
              <a:gd name="adj1" fmla="val 14362"/>
              <a:gd name="adj2" fmla="val 0"/>
            </a:avLst>
          </a:prstGeom>
          <a:solidFill>
            <a:srgbClr val="11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es-PE" sz="2000" dirty="0">
              <a:solidFill>
                <a:schemeClr val="tx1"/>
              </a:solidFill>
              <a:latin typeface="Arial" panose="020B0604020202020204" pitchFamily="34" charset="0"/>
              <a:cs typeface="Arial" panose="020B0604020202020204" pitchFamily="34" charset="0"/>
            </a:endParaRPr>
          </a:p>
          <a:p>
            <a:pPr algn="just">
              <a:lnSpc>
                <a:spcPct val="150000"/>
              </a:lnSpc>
            </a:pPr>
            <a:r>
              <a:rPr lang="es-PE" sz="2000" dirty="0">
                <a:solidFill>
                  <a:schemeClr val="tx1"/>
                </a:solidFill>
                <a:latin typeface="Arial" panose="020B0604020202020204" pitchFamily="34" charset="0"/>
                <a:cs typeface="Arial" panose="020B0604020202020204" pitchFamily="34" charset="0"/>
              </a:rPr>
              <a:t>Al finalizar la sesión, el estudiante resuelve problemas </a:t>
            </a:r>
            <a:r>
              <a:rPr lang="es-PE" sz="2000" dirty="0" smtClean="0">
                <a:solidFill>
                  <a:schemeClr val="tx1"/>
                </a:solidFill>
                <a:latin typeface="Arial" panose="020B0604020202020204" pitchFamily="34" charset="0"/>
                <a:cs typeface="Arial" panose="020B0604020202020204" pitchFamily="34" charset="0"/>
              </a:rPr>
              <a:t>relacionados con la entropía y procesos reversibles e irreversibles y probabilidad, usando correctamente las definiciones con </a:t>
            </a:r>
            <a:r>
              <a:rPr lang="es-PE" sz="2000" dirty="0">
                <a:solidFill>
                  <a:schemeClr val="tx1"/>
                </a:solidFill>
                <a:latin typeface="Arial" panose="020B0604020202020204" pitchFamily="34" charset="0"/>
                <a:cs typeface="Arial" panose="020B0604020202020204" pitchFamily="34" charset="0"/>
              </a:rPr>
              <a:t>orden, tres cifras significativas y las unidades respectivas.</a:t>
            </a:r>
            <a:endParaRPr lang="es-ES" sz="2000" dirty="0">
              <a:solidFill>
                <a:schemeClr val="tx1"/>
              </a:solidFill>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s-PE" sz="2000" b="1" dirty="0">
              <a:solidFill>
                <a:schemeClr val="tx1"/>
              </a:solidFill>
              <a:latin typeface="Arial" panose="020B0604020202020204" pitchFamily="34" charset="0"/>
              <a:cs typeface="Arial" panose="020B0604020202020204" pitchFamily="34" charset="0"/>
            </a:endParaRPr>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536" y="2132856"/>
            <a:ext cx="3909322" cy="3807451"/>
          </a:xfrm>
          <a:prstGeom prst="rect">
            <a:avLst/>
          </a:prstGeom>
        </p:spPr>
      </p:pic>
    </p:spTree>
    <p:extLst>
      <p:ext uri="{BB962C8B-B14F-4D97-AF65-F5344CB8AC3E}">
        <p14:creationId xmlns:p14="http://schemas.microsoft.com/office/powerpoint/2010/main" val="14124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p:cNvCxnSpPr>
            <a:cxnSpLocks/>
          </p:cNvCxnSpPr>
          <p:nvPr/>
        </p:nvCxnSpPr>
        <p:spPr>
          <a:xfrm>
            <a:off x="8594868" y="2800075"/>
            <a:ext cx="0" cy="3710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Conector recto 7"/>
          <p:cNvCxnSpPr>
            <a:cxnSpLocks/>
            <a:stCxn id="16" idx="2"/>
          </p:cNvCxnSpPr>
          <p:nvPr/>
        </p:nvCxnSpPr>
        <p:spPr>
          <a:xfrm>
            <a:off x="8703023" y="3635349"/>
            <a:ext cx="0" cy="1389283"/>
          </a:xfrm>
          <a:prstGeom prst="line">
            <a:avLst/>
          </a:prstGeom>
        </p:spPr>
        <p:style>
          <a:lnRef idx="2">
            <a:schemeClr val="dk1"/>
          </a:lnRef>
          <a:fillRef idx="0">
            <a:schemeClr val="dk1"/>
          </a:fillRef>
          <a:effectRef idx="1">
            <a:schemeClr val="dk1"/>
          </a:effectRef>
          <a:fontRef idx="minor">
            <a:schemeClr val="tx1"/>
          </a:fontRef>
        </p:style>
      </p:cxnSp>
      <p:cxnSp>
        <p:nvCxnSpPr>
          <p:cNvPr id="6" name="Conector recto 5"/>
          <p:cNvCxnSpPr>
            <a:cxnSpLocks/>
          </p:cNvCxnSpPr>
          <p:nvPr/>
        </p:nvCxnSpPr>
        <p:spPr>
          <a:xfrm>
            <a:off x="5029186" y="3633033"/>
            <a:ext cx="0" cy="8627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Conector recto 29"/>
          <p:cNvCxnSpPr/>
          <p:nvPr/>
        </p:nvCxnSpPr>
        <p:spPr>
          <a:xfrm>
            <a:off x="2932622" y="3626482"/>
            <a:ext cx="4154" cy="7010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9" name="Rectángulo redondeado 8"/>
          <p:cNvSpPr/>
          <p:nvPr/>
        </p:nvSpPr>
        <p:spPr>
          <a:xfrm>
            <a:off x="1640632" y="1003815"/>
            <a:ext cx="4352925" cy="52700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CONTENIDO TEMÁTICO</a:t>
            </a:r>
            <a:endParaRPr lang="es-PE" sz="2800" dirty="0">
              <a:solidFill>
                <a:schemeClr val="tx1"/>
              </a:solidFill>
            </a:endParaRPr>
          </a:p>
        </p:txBody>
      </p:sp>
      <p:sp>
        <p:nvSpPr>
          <p:cNvPr id="11" name="Rectángulo 10">
            <a:extLst>
              <a:ext uri="{FF2B5EF4-FFF2-40B4-BE49-F238E27FC236}">
                <a16:creationId xmlns:a16="http://schemas.microsoft.com/office/drawing/2014/main" xmlns="" id="{8029014D-9243-4890-AF00-9E6FC9945B2C}"/>
              </a:ext>
            </a:extLst>
          </p:cNvPr>
          <p:cNvSpPr/>
          <p:nvPr/>
        </p:nvSpPr>
        <p:spPr>
          <a:xfrm>
            <a:off x="3728864" y="1866750"/>
            <a:ext cx="2428427" cy="576064"/>
          </a:xfrm>
          <a:prstGeom prst="rect">
            <a:avLst/>
          </a:prstGeom>
          <a:solidFill>
            <a:srgbClr val="1199FF"/>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2400" b="1" dirty="0" smtClean="0">
                <a:solidFill>
                  <a:schemeClr val="tx1"/>
                </a:solidFill>
              </a:rPr>
              <a:t>ENTROPÍA</a:t>
            </a:r>
            <a:endParaRPr lang="es-PE" sz="2400" b="1" dirty="0">
              <a:solidFill>
                <a:schemeClr val="tx1"/>
              </a:solidFill>
            </a:endParaRPr>
          </a:p>
        </p:txBody>
      </p:sp>
      <p:cxnSp>
        <p:nvCxnSpPr>
          <p:cNvPr id="12" name="Conector recto 11">
            <a:extLst>
              <a:ext uri="{FF2B5EF4-FFF2-40B4-BE49-F238E27FC236}">
                <a16:creationId xmlns:a16="http://schemas.microsoft.com/office/drawing/2014/main" xmlns="" id="{008A15F1-A2F7-4515-8854-56CDE8B68B99}"/>
              </a:ext>
            </a:extLst>
          </p:cNvPr>
          <p:cNvCxnSpPr>
            <a:cxnSpLocks/>
          </p:cNvCxnSpPr>
          <p:nvPr/>
        </p:nvCxnSpPr>
        <p:spPr>
          <a:xfrm>
            <a:off x="4916462" y="245105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3" name="Rectángulo 12">
            <a:extLst>
              <a:ext uri="{FF2B5EF4-FFF2-40B4-BE49-F238E27FC236}">
                <a16:creationId xmlns:a16="http://schemas.microsoft.com/office/drawing/2014/main" xmlns="" id="{B377CFE4-F974-430F-8D3E-31A44641DDDD}"/>
              </a:ext>
            </a:extLst>
          </p:cNvPr>
          <p:cNvSpPr/>
          <p:nvPr/>
        </p:nvSpPr>
        <p:spPr>
          <a:xfrm>
            <a:off x="2187679" y="3036424"/>
            <a:ext cx="1508771" cy="590058"/>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solidFill>
                  <a:schemeClr val="tx1"/>
                </a:solidFill>
              </a:rPr>
              <a:t>CANTIDADES </a:t>
            </a:r>
            <a:r>
              <a:rPr lang="es-PE" sz="1600" b="1" dirty="0"/>
              <a:t>FÍSICAS</a:t>
            </a:r>
            <a:endParaRPr lang="es-PE" sz="1600" b="1" dirty="0">
              <a:solidFill>
                <a:schemeClr val="tx1"/>
              </a:solidFill>
            </a:endParaRPr>
          </a:p>
        </p:txBody>
      </p:sp>
      <p:cxnSp>
        <p:nvCxnSpPr>
          <p:cNvPr id="14" name="Conector recto 13">
            <a:extLst>
              <a:ext uri="{FF2B5EF4-FFF2-40B4-BE49-F238E27FC236}">
                <a16:creationId xmlns:a16="http://schemas.microsoft.com/office/drawing/2014/main" xmlns="" id="{43098481-B66C-4565-AFF8-F4FBF153DF92}"/>
              </a:ext>
            </a:extLst>
          </p:cNvPr>
          <p:cNvCxnSpPr>
            <a:cxnSpLocks/>
          </p:cNvCxnSpPr>
          <p:nvPr/>
        </p:nvCxnSpPr>
        <p:spPr>
          <a:xfrm flipH="1" flipV="1">
            <a:off x="1203775" y="2800075"/>
            <a:ext cx="7391093" cy="2779"/>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cxnSp>
        <p:nvCxnSpPr>
          <p:cNvPr id="15" name="Conector recto 14">
            <a:extLst>
              <a:ext uri="{FF2B5EF4-FFF2-40B4-BE49-F238E27FC236}">
                <a16:creationId xmlns:a16="http://schemas.microsoft.com/office/drawing/2014/main" xmlns="" id="{E4375B2A-706A-4D8E-8409-0FE4926350F3}"/>
              </a:ext>
            </a:extLst>
          </p:cNvPr>
          <p:cNvCxnSpPr>
            <a:cxnSpLocks/>
          </p:cNvCxnSpPr>
          <p:nvPr/>
        </p:nvCxnSpPr>
        <p:spPr>
          <a:xfrm>
            <a:off x="4918241" y="281109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6" name="Rectángulo 15">
            <a:extLst>
              <a:ext uri="{FF2B5EF4-FFF2-40B4-BE49-F238E27FC236}">
                <a16:creationId xmlns:a16="http://schemas.microsoft.com/office/drawing/2014/main" xmlns="" id="{B32EC4F4-40F8-440A-A577-A55B582660EF}"/>
              </a:ext>
            </a:extLst>
          </p:cNvPr>
          <p:cNvSpPr/>
          <p:nvPr/>
        </p:nvSpPr>
        <p:spPr>
          <a:xfrm>
            <a:off x="7744073" y="3066114"/>
            <a:ext cx="1917899" cy="569235"/>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cs typeface="Arial" panose="020B0604020202020204" pitchFamily="34" charset="0"/>
              </a:rPr>
              <a:t> </a:t>
            </a:r>
            <a:r>
              <a:rPr lang="es-PE" sz="1600" b="1" dirty="0" smtClean="0">
                <a:cs typeface="Arial" panose="020B0604020202020204" pitchFamily="34" charset="0"/>
              </a:rPr>
              <a:t>ENTROPÍA Y PROBABILIDAD</a:t>
            </a:r>
            <a:endParaRPr lang="es-PE" sz="1600" b="1" dirty="0">
              <a:cs typeface="Arial" panose="020B0604020202020204" pitchFamily="34" charset="0"/>
            </a:endParaRPr>
          </a:p>
        </p:txBody>
      </p:sp>
      <p:sp>
        <p:nvSpPr>
          <p:cNvPr id="18" name="Rectángulo 17">
            <a:extLst>
              <a:ext uri="{FF2B5EF4-FFF2-40B4-BE49-F238E27FC236}">
                <a16:creationId xmlns:a16="http://schemas.microsoft.com/office/drawing/2014/main" xmlns="" id="{491CDA35-9E9C-46DA-B439-A69909018FD2}"/>
              </a:ext>
            </a:extLst>
          </p:cNvPr>
          <p:cNvSpPr/>
          <p:nvPr/>
        </p:nvSpPr>
        <p:spPr>
          <a:xfrm>
            <a:off x="2321731" y="3860052"/>
            <a:ext cx="1463290" cy="1205764"/>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Volúmen</a:t>
            </a:r>
            <a:endParaRPr kumimoji="1" lang="en-GB" altLang="es-PE" sz="1400" dirty="0" smtClean="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Calor</a:t>
            </a:r>
            <a:endParaRPr kumimoji="1" lang="en-GB" altLang="es-PE" sz="1400" dirty="0" smtClean="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Temperatura</a:t>
            </a:r>
            <a:endParaRPr kumimoji="1" lang="en-GB" altLang="es-PE" sz="1400" dirty="0" smtClean="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Energía</a:t>
            </a:r>
            <a:endParaRPr kumimoji="1" lang="en-GB" altLang="es-PE" sz="1400" dirty="0" smtClean="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Entropía</a:t>
            </a:r>
            <a:r>
              <a:rPr kumimoji="1" lang="en-GB" altLang="es-PE" sz="1400" dirty="0" smtClean="0">
                <a:solidFill>
                  <a:schemeClr val="tx1"/>
                </a:solidFill>
                <a:latin typeface="Arial" panose="020B0604020202020204" pitchFamily="34" charset="0"/>
                <a:cs typeface="Arial" panose="020B0604020202020204" pitchFamily="34" charset="0"/>
              </a:rPr>
              <a:t>. </a:t>
            </a:r>
            <a:endParaRPr lang="es-PE" sz="1400" dirty="0">
              <a:solidFill>
                <a:schemeClr val="tx1"/>
              </a:solidFill>
              <a:latin typeface="Arial" panose="020B0604020202020204" pitchFamily="34" charset="0"/>
              <a:cs typeface="Arial" panose="020B0604020202020204" pitchFamily="34" charset="0"/>
            </a:endParaRPr>
          </a:p>
        </p:txBody>
      </p:sp>
      <p:sp>
        <p:nvSpPr>
          <p:cNvPr id="20" name="Rectángulo 19">
            <a:extLst>
              <a:ext uri="{FF2B5EF4-FFF2-40B4-BE49-F238E27FC236}">
                <a16:creationId xmlns:a16="http://schemas.microsoft.com/office/drawing/2014/main" xmlns="" id="{B377CFE4-F974-430F-8D3E-31A44641DDDD}"/>
              </a:ext>
            </a:extLst>
          </p:cNvPr>
          <p:cNvSpPr/>
          <p:nvPr/>
        </p:nvSpPr>
        <p:spPr>
          <a:xfrm>
            <a:off x="200472" y="3036423"/>
            <a:ext cx="1853559" cy="59005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smtClean="0">
                <a:solidFill>
                  <a:schemeClr val="tx1"/>
                </a:solidFill>
              </a:rPr>
              <a:t>ENTROPIA</a:t>
            </a:r>
            <a:endParaRPr lang="es-PE" sz="1600" b="1" dirty="0">
              <a:solidFill>
                <a:schemeClr val="tx1"/>
              </a:solidFill>
            </a:endParaRPr>
          </a:p>
        </p:txBody>
      </p:sp>
      <p:sp>
        <p:nvSpPr>
          <p:cNvPr id="21" name="Rectángulo 20">
            <a:extLst>
              <a:ext uri="{FF2B5EF4-FFF2-40B4-BE49-F238E27FC236}">
                <a16:creationId xmlns:a16="http://schemas.microsoft.com/office/drawing/2014/main" xmlns="" id="{6B0406B6-735E-446A-993D-567F64EC9E37}"/>
              </a:ext>
            </a:extLst>
          </p:cNvPr>
          <p:cNvSpPr/>
          <p:nvPr/>
        </p:nvSpPr>
        <p:spPr>
          <a:xfrm>
            <a:off x="3965337" y="3019702"/>
            <a:ext cx="1982738" cy="656056"/>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smtClean="0">
                <a:cs typeface="Arial" panose="020B0604020202020204" pitchFamily="34" charset="0"/>
              </a:rPr>
              <a:t>ENTROPÍA</a:t>
            </a:r>
            <a:endParaRPr lang="es-PE" sz="1600" b="1" dirty="0">
              <a:cs typeface="Arial" panose="020B0604020202020204" pitchFamily="34" charset="0"/>
            </a:endParaRPr>
          </a:p>
        </p:txBody>
      </p:sp>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xmlns="" id="{491CDA35-9E9C-46DA-B439-A69909018FD2}"/>
                  </a:ext>
                </a:extLst>
              </p:cNvPr>
              <p:cNvSpPr/>
              <p:nvPr/>
            </p:nvSpPr>
            <p:spPr>
              <a:xfrm>
                <a:off x="7834034" y="4391151"/>
                <a:ext cx="1865527" cy="633481"/>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endParaRPr lang="es-MX" sz="1600" b="0" i="1" dirty="0" smtClean="0">
                  <a:latin typeface="Cambria Math" panose="02040503050406030204" pitchFamily="18" charset="0"/>
                  <a:ea typeface="Cambria Math" panose="02040503050406030204" pitchFamily="18" charset="0"/>
                </a:endParaRPr>
              </a:p>
              <a:p>
                <a:endParaRPr lang="es-MX" sz="16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PE" sz="1600" b="0" i="1" smtClean="0">
                          <a:latin typeface="Cambria Math" panose="02040503050406030204" pitchFamily="18" charset="0"/>
                          <a:ea typeface="Cambria Math" panose="02040503050406030204" pitchFamily="18" charset="0"/>
                        </a:rPr>
                        <m:t>𝑆</m:t>
                      </m:r>
                      <m:r>
                        <a:rPr lang="es-PE" sz="1600" i="1">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𝑁𝑘</m:t>
                      </m:r>
                      <m:func>
                        <m:funcPr>
                          <m:ctrlPr>
                            <a:rPr lang="es-PE" sz="1600" b="0" i="1" smtClean="0">
                              <a:latin typeface="Cambria Math" panose="02040503050406030204" pitchFamily="18" charset="0"/>
                              <a:ea typeface="Cambria Math" panose="02040503050406030204" pitchFamily="18" charset="0"/>
                            </a:rPr>
                          </m:ctrlPr>
                        </m:funcPr>
                        <m:fName>
                          <m:r>
                            <m:rPr>
                              <m:sty m:val="p"/>
                            </m:rPr>
                            <a:rPr lang="es-PE" sz="1600" b="0" i="0" smtClean="0">
                              <a:latin typeface="Cambria Math" panose="02040503050406030204" pitchFamily="18" charset="0"/>
                              <a:ea typeface="Cambria Math" panose="02040503050406030204" pitchFamily="18" charset="0"/>
                            </a:rPr>
                            <m:t>ln</m:t>
                          </m:r>
                        </m:fName>
                        <m:e>
                          <m:r>
                            <a:rPr lang="es-PE" sz="1600" b="0" i="1" smtClean="0">
                              <a:latin typeface="Cambria Math" panose="02040503050406030204" pitchFamily="18" charset="0"/>
                              <a:ea typeface="Cambria Math" panose="02040503050406030204" pitchFamily="18" charset="0"/>
                            </a:rPr>
                            <m:t>𝑤</m:t>
                          </m:r>
                        </m:e>
                      </m:func>
                    </m:oMath>
                  </m:oMathPara>
                </a14:m>
                <a:endParaRPr lang="es-PE" sz="1600" dirty="0"/>
              </a:p>
              <a:p>
                <a:endParaRPr lang="es-PE" sz="1600" dirty="0"/>
              </a:p>
              <a:p>
                <a:endParaRPr lang="es-PE" sz="1600" dirty="0"/>
              </a:p>
            </p:txBody>
          </p:sp>
        </mc:Choice>
        <mc:Fallback xmlns="">
          <p:sp>
            <p:nvSpPr>
              <p:cNvPr id="22" name="Rectángulo 21">
                <a:extLst>
                  <a:ext uri="{FF2B5EF4-FFF2-40B4-BE49-F238E27FC236}">
                    <a16:creationId xmlns="" xmlns:a16="http://schemas.microsoft.com/office/drawing/2014/main"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7834034" y="4391151"/>
                <a:ext cx="1865527" cy="633481"/>
              </a:xfrm>
              <a:prstGeom prst="rect">
                <a:avLst/>
              </a:prstGeom>
              <a:blipFill rotWithShape="0">
                <a:blip r:embed="rId2"/>
                <a:stretch>
                  <a:fillRect/>
                </a:stretch>
              </a:blipFill>
              <a:ln>
                <a:solidFill>
                  <a:schemeClr val="tx1"/>
                </a:solidFill>
              </a:ln>
            </p:spPr>
            <p:txBody>
              <a:bodyPr/>
              <a:lstStyle/>
              <a:p>
                <a:r>
                  <a:rPr lang="es-PE">
                    <a:noFill/>
                  </a:rPr>
                  <a:t> </a:t>
                </a:r>
              </a:p>
            </p:txBody>
          </p:sp>
        </mc:Fallback>
      </mc:AlternateContent>
      <p:cxnSp>
        <p:nvCxnSpPr>
          <p:cNvPr id="23" name="Conector recto 22">
            <a:extLst>
              <a:ext uri="{FF2B5EF4-FFF2-40B4-BE49-F238E27FC236}">
                <a16:creationId xmlns:a16="http://schemas.microsoft.com/office/drawing/2014/main" xmlns="" id="{C2DA4E98-4D40-4E2B-AC84-9B82C98610BC}"/>
              </a:ext>
            </a:extLst>
          </p:cNvPr>
          <p:cNvCxnSpPr>
            <a:cxnSpLocks/>
          </p:cNvCxnSpPr>
          <p:nvPr/>
        </p:nvCxnSpPr>
        <p:spPr>
          <a:xfrm>
            <a:off x="1127251" y="3767360"/>
            <a:ext cx="0" cy="288032"/>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24" name="Rectángulo 23">
            <a:extLst>
              <a:ext uri="{FF2B5EF4-FFF2-40B4-BE49-F238E27FC236}">
                <a16:creationId xmlns:a16="http://schemas.microsoft.com/office/drawing/2014/main" xmlns="" id="{6B0406B6-735E-446A-993D-567F64EC9E37}"/>
              </a:ext>
            </a:extLst>
          </p:cNvPr>
          <p:cNvSpPr/>
          <p:nvPr/>
        </p:nvSpPr>
        <p:spPr>
          <a:xfrm>
            <a:off x="6084836" y="3011484"/>
            <a:ext cx="1522476" cy="873635"/>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smtClean="0">
                <a:cs typeface="Arial" panose="020B0604020202020204" pitchFamily="34" charset="0"/>
              </a:rPr>
              <a:t>PROCESOS REVERSIBLES E IRREVERSIBLES </a:t>
            </a:r>
            <a:endParaRPr lang="es-PE" sz="1600" b="1" dirty="0">
              <a:cs typeface="Arial" panose="020B0604020202020204" pitchFamily="34" charset="0"/>
            </a:endParaRPr>
          </a:p>
        </p:txBody>
      </p:sp>
      <p:cxnSp>
        <p:nvCxnSpPr>
          <p:cNvPr id="26" name="Conector recto 25"/>
          <p:cNvCxnSpPr/>
          <p:nvPr/>
        </p:nvCxnSpPr>
        <p:spPr>
          <a:xfrm>
            <a:off x="1201213" y="2800075"/>
            <a:ext cx="0" cy="23634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p:cNvCxnSpPr/>
          <p:nvPr/>
        </p:nvCxnSpPr>
        <p:spPr>
          <a:xfrm>
            <a:off x="6846074" y="2811092"/>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p:cNvCxnSpPr/>
          <p:nvPr/>
        </p:nvCxnSpPr>
        <p:spPr>
          <a:xfrm>
            <a:off x="3014684" y="2793078"/>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ángulo 32">
                <a:extLst>
                  <a:ext uri="{FF2B5EF4-FFF2-40B4-BE49-F238E27FC236}">
                    <a16:creationId xmlns:a16="http://schemas.microsoft.com/office/drawing/2014/main" xmlns="" id="{491CDA35-9E9C-46DA-B439-A69909018FD2}"/>
                  </a:ext>
                </a:extLst>
              </p:cNvPr>
              <p:cNvSpPr/>
              <p:nvPr/>
            </p:nvSpPr>
            <p:spPr>
              <a:xfrm>
                <a:off x="4081432" y="4233321"/>
                <a:ext cx="1951688" cy="791311"/>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14:m>
                  <m:oMathPara xmlns:m="http://schemas.openxmlformats.org/officeDocument/2006/math">
                    <m:oMathParaPr>
                      <m:jc m:val="centerGroup"/>
                    </m:oMathParaPr>
                    <m:oMath xmlns:m="http://schemas.openxmlformats.org/officeDocument/2006/math">
                      <m:r>
                        <a:rPr lang="es-PE" sz="160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𝑆</m:t>
                      </m:r>
                      <m:r>
                        <a:rPr lang="es-PE" sz="1600" i="1">
                          <a:latin typeface="Cambria Math" panose="02040503050406030204" pitchFamily="18" charset="0"/>
                        </a:rPr>
                        <m:t>=</m:t>
                      </m:r>
                      <m:nary>
                        <m:naryPr>
                          <m:chr m:val="∮"/>
                          <m:limLoc m:val="undOvr"/>
                          <m:subHide m:val="on"/>
                          <m:supHide m:val="on"/>
                          <m:ctrlPr>
                            <a:rPr lang="es-PE" sz="1600" i="1" smtClean="0">
                              <a:latin typeface="Cambria Math" panose="02040503050406030204" pitchFamily="18" charset="0"/>
                            </a:rPr>
                          </m:ctrlPr>
                        </m:naryPr>
                        <m:sub/>
                        <m:sup/>
                        <m:e>
                          <m:r>
                            <a:rPr lang="es-PE" sz="1600" b="0" i="1" smtClean="0">
                              <a:latin typeface="Cambria Math" panose="02040503050406030204" pitchFamily="18" charset="0"/>
                            </a:rPr>
                            <m:t>𝑑𝑆</m:t>
                          </m:r>
                        </m:e>
                      </m:nary>
                      <m:r>
                        <a:rPr lang="es-PE" sz="1600" b="0" i="1" smtClean="0">
                          <a:latin typeface="Cambria Math" panose="02040503050406030204" pitchFamily="18" charset="0"/>
                        </a:rPr>
                        <m:t>=</m:t>
                      </m:r>
                      <m:nary>
                        <m:naryPr>
                          <m:chr m:val="∮"/>
                          <m:limLoc m:val="undOvr"/>
                          <m:subHide m:val="on"/>
                          <m:supHide m:val="on"/>
                          <m:ctrlPr>
                            <a:rPr lang="es-PE" sz="1600" b="0" i="1" smtClean="0">
                              <a:latin typeface="Cambria Math" panose="02040503050406030204" pitchFamily="18" charset="0"/>
                            </a:rPr>
                          </m:ctrlPr>
                        </m:naryPr>
                        <m:sub/>
                        <m:sup/>
                        <m:e>
                          <m:f>
                            <m:fPr>
                              <m:ctrlPr>
                                <a:rPr lang="es-PE" sz="1600" b="0" i="1" smtClean="0">
                                  <a:latin typeface="Cambria Math" panose="02040503050406030204" pitchFamily="18" charset="0"/>
                                </a:rPr>
                              </m:ctrlPr>
                            </m:fPr>
                            <m:num>
                              <m:r>
                                <a:rPr lang="es-PE" sz="1600" b="0" i="1" smtClean="0">
                                  <a:latin typeface="Cambria Math" panose="02040503050406030204" pitchFamily="18" charset="0"/>
                                </a:rPr>
                                <m:t>𝑑𝑄</m:t>
                              </m:r>
                            </m:num>
                            <m:den>
                              <m:r>
                                <a:rPr lang="es-PE" sz="1600" b="0" i="1" smtClean="0">
                                  <a:latin typeface="Cambria Math" panose="02040503050406030204" pitchFamily="18" charset="0"/>
                                </a:rPr>
                                <m:t>𝑇</m:t>
                              </m:r>
                            </m:den>
                          </m:f>
                        </m:e>
                      </m:nary>
                      <m:r>
                        <a:rPr lang="es-PE" sz="1600" i="1">
                          <a:latin typeface="Cambria Math" panose="02040503050406030204" pitchFamily="18" charset="0"/>
                        </a:rPr>
                        <m:t> </m:t>
                      </m:r>
                    </m:oMath>
                  </m:oMathPara>
                </a14:m>
                <a:endParaRPr lang="es-PE" sz="1600" dirty="0">
                  <a:solidFill>
                    <a:schemeClr val="tx1"/>
                  </a:solidFill>
                  <a:latin typeface="Arial" panose="020B0604020202020204" pitchFamily="34" charset="0"/>
                  <a:cs typeface="Arial" panose="020B0604020202020204" pitchFamily="34" charset="0"/>
                </a:endParaRPr>
              </a:p>
            </p:txBody>
          </p:sp>
        </mc:Choice>
        <mc:Fallback xmlns="">
          <p:sp>
            <p:nvSpPr>
              <p:cNvPr id="33" name="Rectángulo 32">
                <a:extLst>
                  <a:ext uri="{FF2B5EF4-FFF2-40B4-BE49-F238E27FC236}">
                    <a16:creationId xmlns="" xmlns:a16="http://schemas.microsoft.com/office/drawing/2014/main"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4081432" y="4233321"/>
                <a:ext cx="1951688" cy="791311"/>
              </a:xfrm>
              <a:prstGeom prst="rect">
                <a:avLst/>
              </a:prstGeom>
              <a:blipFill rotWithShape="0">
                <a:blip r:embed="rId3"/>
                <a:stretch>
                  <a:fillRect/>
                </a:stretch>
              </a:blipFill>
              <a:ln>
                <a:solidFill>
                  <a:schemeClr val="tx1"/>
                </a:solidFill>
              </a:ln>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Rectángulo 18">
                <a:extLst>
                  <a:ext uri="{FF2B5EF4-FFF2-40B4-BE49-F238E27FC236}">
                    <a16:creationId xmlns:a16="http://schemas.microsoft.com/office/drawing/2014/main" xmlns="" id="{44822C0F-02DC-406F-8E12-F1FFDD5CFB2F}"/>
                  </a:ext>
                </a:extLst>
              </p:cNvPr>
              <p:cNvSpPr/>
              <p:nvPr/>
            </p:nvSpPr>
            <p:spPr>
              <a:xfrm>
                <a:off x="6331136" y="4179307"/>
                <a:ext cx="1214152" cy="899337"/>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s-PE" sz="1600" i="1" dirty="0" smtClean="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nary>
                        <m:naryPr>
                          <m:chr m:val="∮"/>
                          <m:limLoc m:val="undOvr"/>
                          <m:subHide m:val="on"/>
                          <m:supHide m:val="on"/>
                          <m:ctrlPr>
                            <a:rPr lang="es-PE" sz="1600" i="1">
                              <a:latin typeface="Cambria Math" panose="02040503050406030204" pitchFamily="18" charset="0"/>
                            </a:rPr>
                          </m:ctrlPr>
                        </m:naryPr>
                        <m:sub/>
                        <m:sup/>
                        <m:e>
                          <m:r>
                            <a:rPr lang="es-PE" sz="1600" i="1">
                              <a:latin typeface="Cambria Math" panose="02040503050406030204" pitchFamily="18" charset="0"/>
                            </a:rPr>
                            <m:t>𝑑𝑆</m:t>
                          </m:r>
                        </m:e>
                      </m:nary>
                      <m:r>
                        <a:rPr lang="es-PE" sz="160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0</m:t>
                      </m:r>
                    </m:oMath>
                  </m:oMathPara>
                </a14:m>
                <a:endParaRPr lang="es-PE" sz="1600" dirty="0"/>
              </a:p>
              <a:p>
                <a:pPr algn="just"/>
                <a:endParaRPr lang="es-PE" sz="1600" b="1" dirty="0">
                  <a:solidFill>
                    <a:schemeClr val="tx1"/>
                  </a:solidFill>
                  <a:latin typeface="Arial" panose="020B0604020202020204" pitchFamily="34" charset="0"/>
                  <a:cs typeface="Arial" panose="020B0604020202020204" pitchFamily="34" charset="0"/>
                </a:endParaRPr>
              </a:p>
            </p:txBody>
          </p:sp>
        </mc:Choice>
        <mc:Fallback xmlns="">
          <p:sp>
            <p:nvSpPr>
              <p:cNvPr id="19" name="Rectángulo 18">
                <a:extLst>
                  <a:ext uri="{FF2B5EF4-FFF2-40B4-BE49-F238E27FC236}">
                    <a16:creationId xmlns="" xmlns:a16="http://schemas.microsoft.com/office/drawing/2014/main" xmlns:a14="http://schemas.microsoft.com/office/drawing/2010/main" id="{44822C0F-02DC-406F-8E12-F1FFDD5CFB2F}"/>
                  </a:ext>
                </a:extLst>
              </p:cNvPr>
              <p:cNvSpPr>
                <a:spLocks noRot="1" noChangeAspect="1" noMove="1" noResize="1" noEditPoints="1" noAdjustHandles="1" noChangeArrowheads="1" noChangeShapeType="1" noTextEdit="1"/>
              </p:cNvSpPr>
              <p:nvPr/>
            </p:nvSpPr>
            <p:spPr>
              <a:xfrm>
                <a:off x="6331136" y="4179307"/>
                <a:ext cx="1214152" cy="899337"/>
              </a:xfrm>
              <a:prstGeom prst="rect">
                <a:avLst/>
              </a:prstGeom>
              <a:blipFill rotWithShape="0">
                <a:blip r:embed="rId4"/>
                <a:stretch>
                  <a:fillRect/>
                </a:stretch>
              </a:blipFill>
              <a:ln>
                <a:solidFill>
                  <a:schemeClr val="tx1"/>
                </a:solidFill>
              </a:ln>
            </p:spPr>
            <p:txBody>
              <a:bodyPr/>
              <a:lstStyle/>
              <a:p>
                <a:r>
                  <a:rPr lang="es-PE">
                    <a:noFill/>
                  </a:rPr>
                  <a:t> </a:t>
                </a:r>
              </a:p>
            </p:txBody>
          </p:sp>
        </mc:Fallback>
      </mc:AlternateContent>
      <p:sp>
        <p:nvSpPr>
          <p:cNvPr id="17" name="Rectángulo 16">
            <a:extLst>
              <a:ext uri="{FF2B5EF4-FFF2-40B4-BE49-F238E27FC236}">
                <a16:creationId xmlns:a16="http://schemas.microsoft.com/office/drawing/2014/main" xmlns="" id="{8EF499C7-AECE-44DE-89A6-BD7D3BC55E42}"/>
              </a:ext>
            </a:extLst>
          </p:cNvPr>
          <p:cNvSpPr/>
          <p:nvPr/>
        </p:nvSpPr>
        <p:spPr>
          <a:xfrm>
            <a:off x="128463" y="3752593"/>
            <a:ext cx="1966545" cy="2988775"/>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lnSpc>
                <a:spcPct val="150000"/>
              </a:lnSpc>
            </a:pPr>
            <a:r>
              <a:rPr lang="es-PE" sz="1400" dirty="0" smtClean="0">
                <a:latin typeface="Arial" panose="020B0604020202020204" pitchFamily="34" charset="0"/>
                <a:cs typeface="Arial" panose="020B0604020202020204" pitchFamily="34" charset="0"/>
              </a:rPr>
              <a:t>Es una medida del grado de desorden de un sistema, por lo que permite cuantificar la segunda ley de la termodinámica, constituye una función de estado del sistema.</a:t>
            </a:r>
            <a:endParaRPr lang="es-PE" sz="1400" dirty="0">
              <a:solidFill>
                <a:schemeClr val="tx1"/>
              </a:solidFill>
              <a:latin typeface="Arial" panose="020B0604020202020204" pitchFamily="34" charset="0"/>
              <a:cs typeface="Arial" panose="020B0604020202020204" pitchFamily="34" charset="0"/>
            </a:endParaRPr>
          </a:p>
        </p:txBody>
      </p:sp>
      <p:cxnSp>
        <p:nvCxnSpPr>
          <p:cNvPr id="5" name="Conector recto 4"/>
          <p:cNvCxnSpPr>
            <a:stCxn id="24" idx="2"/>
          </p:cNvCxnSpPr>
          <p:nvPr/>
        </p:nvCxnSpPr>
        <p:spPr>
          <a:xfrm>
            <a:off x="6846074" y="3885119"/>
            <a:ext cx="0" cy="294188"/>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799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18" grpId="0" animBg="1"/>
      <p:bldP spid="20" grpId="0" animBg="1"/>
      <p:bldP spid="21" grpId="0" animBg="1"/>
      <p:bldP spid="22" grpId="0" animBg="1"/>
      <p:bldP spid="24" grpId="0" animBg="1"/>
      <p:bldP spid="33" grpId="0" animBg="1"/>
      <p:bldP spid="19"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2523106"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smtClean="0">
                <a:solidFill>
                  <a:schemeClr val="tx1"/>
                </a:solidFill>
              </a:rPr>
              <a:t>ENTROPÍA</a:t>
            </a:r>
            <a:endParaRPr lang="es-PE" sz="2800" dirty="0">
              <a:solidFill>
                <a:schemeClr val="tx1"/>
              </a:solidFill>
            </a:endParaRPr>
          </a:p>
        </p:txBody>
      </p:sp>
      <p:sp>
        <p:nvSpPr>
          <p:cNvPr id="6" name="Rectangle 7"/>
          <p:cNvSpPr txBox="1">
            <a:spLocks noChangeArrowheads="1"/>
          </p:cNvSpPr>
          <p:nvPr/>
        </p:nvSpPr>
        <p:spPr>
          <a:xfrm>
            <a:off x="848544" y="1988840"/>
            <a:ext cx="5832648" cy="4608512"/>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defRPr/>
            </a:pPr>
            <a:r>
              <a:rPr lang="es-ES" sz="2000" dirty="0" smtClean="0">
                <a:solidFill>
                  <a:schemeClr val="tx1"/>
                </a:solidFill>
              </a:rPr>
              <a:t>Es una medida cuantitativa del desorden</a:t>
            </a:r>
          </a:p>
          <a:p>
            <a:pPr algn="just">
              <a:defRPr/>
            </a:pPr>
            <a:r>
              <a:rPr lang="es-ES" sz="2000" dirty="0" smtClean="0">
                <a:solidFill>
                  <a:schemeClr val="tx1"/>
                </a:solidFill>
              </a:rPr>
              <a:t>Se define el cambio infinitesimal de entropía </a:t>
            </a:r>
            <a:r>
              <a:rPr lang="es-ES" sz="2000" dirty="0" err="1" smtClean="0">
                <a:solidFill>
                  <a:schemeClr val="tx1"/>
                </a:solidFill>
              </a:rPr>
              <a:t>dS</a:t>
            </a:r>
            <a:r>
              <a:rPr lang="es-ES" sz="2000" dirty="0" smtClean="0">
                <a:solidFill>
                  <a:schemeClr val="tx1"/>
                </a:solidFill>
              </a:rPr>
              <a:t> durante un proceso reversible como </a:t>
            </a:r>
          </a:p>
          <a:p>
            <a:pPr algn="just">
              <a:defRPr/>
            </a:pPr>
            <a:endParaRPr lang="es-ES" sz="2000" dirty="0" smtClean="0">
              <a:solidFill>
                <a:schemeClr val="tx1"/>
              </a:solidFill>
            </a:endParaRPr>
          </a:p>
          <a:p>
            <a:pPr marL="0" indent="0" algn="just">
              <a:buNone/>
              <a:defRPr/>
            </a:pPr>
            <a:endParaRPr lang="es-ES" sz="2000" dirty="0" smtClean="0">
              <a:solidFill>
                <a:schemeClr val="tx1"/>
              </a:solidFill>
            </a:endParaRPr>
          </a:p>
          <a:p>
            <a:pPr marL="0" indent="0" algn="just">
              <a:buNone/>
              <a:defRPr/>
            </a:pPr>
            <a:endParaRPr lang="es-ES" sz="2000" dirty="0" smtClean="0">
              <a:solidFill>
                <a:schemeClr val="tx1"/>
              </a:solidFill>
            </a:endParaRPr>
          </a:p>
          <a:p>
            <a:pPr algn="just">
              <a:defRPr/>
            </a:pPr>
            <a:r>
              <a:rPr lang="es-ES" sz="2000" dirty="0" smtClean="0">
                <a:solidFill>
                  <a:schemeClr val="tx1"/>
                </a:solidFill>
              </a:rPr>
              <a:t>La entropía es una </a:t>
            </a:r>
            <a:r>
              <a:rPr lang="es-ES" sz="2000" b="1" dirty="0" smtClean="0">
                <a:solidFill>
                  <a:schemeClr val="tx1"/>
                </a:solidFill>
              </a:rPr>
              <a:t>función de estado</a:t>
            </a:r>
            <a:r>
              <a:rPr lang="es-ES" sz="2000" dirty="0" smtClean="0">
                <a:solidFill>
                  <a:schemeClr val="tx1"/>
                </a:solidFill>
              </a:rPr>
              <a:t> del sistema.</a:t>
            </a:r>
          </a:p>
          <a:p>
            <a:pPr algn="just">
              <a:defRPr/>
            </a:pPr>
            <a:r>
              <a:rPr lang="es-ES" sz="2000" dirty="0" smtClean="0">
                <a:solidFill>
                  <a:schemeClr val="tx1"/>
                </a:solidFill>
              </a:rPr>
              <a:t>Para calcular la variación de entropía en procesos irreversibles basta encontrar un camino reversible que conecte los estados inicial y final del sistema.</a:t>
            </a:r>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8109" y="1844824"/>
            <a:ext cx="1961640" cy="4248472"/>
          </a:xfrm>
          <a:prstGeom prst="rect">
            <a:avLst/>
          </a:prstGeom>
        </p:spPr>
      </p:pic>
      <p:graphicFrame>
        <p:nvGraphicFramePr>
          <p:cNvPr id="8" name="Object 4"/>
          <p:cNvGraphicFramePr>
            <a:graphicFrameLocks noChangeAspect="1"/>
          </p:cNvGraphicFramePr>
          <p:nvPr>
            <p:extLst>
              <p:ext uri="{D42A27DB-BD31-4B8C-83A1-F6EECF244321}">
                <p14:modId xmlns:p14="http://schemas.microsoft.com/office/powerpoint/2010/main" val="2884294468"/>
              </p:ext>
            </p:extLst>
          </p:nvPr>
        </p:nvGraphicFramePr>
        <p:xfrm>
          <a:off x="2144688" y="3141663"/>
          <a:ext cx="1749425" cy="950913"/>
        </p:xfrm>
        <a:graphic>
          <a:graphicData uri="http://schemas.openxmlformats.org/presentationml/2006/ole">
            <mc:AlternateContent xmlns:mc="http://schemas.openxmlformats.org/markup-compatibility/2006">
              <mc:Choice xmlns:v="urn:schemas-microsoft-com:vml" Requires="v">
                <p:oleObj spid="_x0000_s13327" name="Ecuación" r:id="rId4" imgW="723600" imgH="393480" progId="Equation.3">
                  <p:embed/>
                </p:oleObj>
              </mc:Choice>
              <mc:Fallback>
                <p:oleObj name="Ecuación" r:id="rId4" imgW="723600" imgH="393480" progId="Equation.3">
                  <p:embed/>
                  <p:pic>
                    <p:nvPicPr>
                      <p:cNvPr id="0" name=""/>
                      <p:cNvPicPr>
                        <a:picLocks noChangeAspect="1" noChangeArrowheads="1"/>
                      </p:cNvPicPr>
                      <p:nvPr/>
                    </p:nvPicPr>
                    <p:blipFill>
                      <a:blip r:embed="rId5"/>
                      <a:srcRect/>
                      <a:stretch>
                        <a:fillRect/>
                      </a:stretch>
                    </p:blipFill>
                    <p:spPr bwMode="auto">
                      <a:xfrm>
                        <a:off x="2144688" y="3141663"/>
                        <a:ext cx="1749425" cy="950913"/>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
        <p:nvSpPr>
          <p:cNvPr id="9" name="Text Box 8"/>
          <p:cNvSpPr txBox="1">
            <a:spLocks noChangeArrowheads="1"/>
          </p:cNvSpPr>
          <p:nvPr/>
        </p:nvSpPr>
        <p:spPr bwMode="auto">
          <a:xfrm>
            <a:off x="4481030" y="3388519"/>
            <a:ext cx="1504950" cy="457200"/>
          </a:xfrm>
          <a:prstGeom prst="rect">
            <a:avLst/>
          </a:prstGeom>
          <a:noFill/>
          <a:ln>
            <a:noFill/>
          </a:ln>
          <a:effectLst/>
          <a:extLst>
            <a:ext uri="{909E8E84-426E-40DD-AFC4-6F175D3DCCD1}">
              <a14:hiddenFill xmlns:a14="http://schemas.microsoft.com/office/drawing/2010/main">
                <a:gradFill rotWithShape="1">
                  <a:gsLst>
                    <a:gs pos="0">
                      <a:srgbClr val="746F09"/>
                    </a:gs>
                    <a:gs pos="50000">
                      <a:srgbClr val="FBF013"/>
                    </a:gs>
                    <a:gs pos="100000">
                      <a:srgbClr val="746F09"/>
                    </a:gs>
                  </a:gsLst>
                  <a:lin ang="5400000" scaled="1"/>
                </a:gra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r>
              <a:rPr lang="es-ES" sz="2400" dirty="0"/>
              <a:t>S = [J/K]</a:t>
            </a:r>
          </a:p>
        </p:txBody>
      </p:sp>
    </p:spTree>
    <p:extLst>
      <p:ext uri="{BB962C8B-B14F-4D97-AF65-F5344CB8AC3E}">
        <p14:creationId xmlns:p14="http://schemas.microsoft.com/office/powerpoint/2010/main" val="3133645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5547442" cy="72186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ENTROPÍA EN PROCESOS REVERSIBLES</a:t>
            </a:r>
          </a:p>
          <a:p>
            <a:pPr algn="ctr"/>
            <a:r>
              <a:rPr lang="es-PE" sz="2400" b="1" dirty="0" smtClean="0">
                <a:solidFill>
                  <a:schemeClr val="tx1"/>
                </a:solidFill>
              </a:rPr>
              <a:t>(GAS IDEAL)</a:t>
            </a:r>
            <a:endParaRPr lang="es-PE" sz="2400" dirty="0">
              <a:solidFill>
                <a:schemeClr val="tx1"/>
              </a:solidFill>
            </a:endParaRPr>
          </a:p>
        </p:txBody>
      </p:sp>
      <p:sp>
        <p:nvSpPr>
          <p:cNvPr id="10" name="Rectangle 3"/>
          <p:cNvSpPr txBox="1">
            <a:spLocks noChangeArrowheads="1"/>
          </p:cNvSpPr>
          <p:nvPr/>
        </p:nvSpPr>
        <p:spPr>
          <a:xfrm>
            <a:off x="920552" y="1700808"/>
            <a:ext cx="7427119" cy="4789487"/>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90000"/>
              </a:lnSpc>
              <a:defRPr/>
            </a:pPr>
            <a:r>
              <a:rPr lang="es-ES" sz="2000" dirty="0" smtClean="0">
                <a:solidFill>
                  <a:schemeClr val="tx1"/>
                </a:solidFill>
              </a:rPr>
              <a:t>Recordemos la primera ley de la termodinámica de forma infinitesimal</a:t>
            </a:r>
          </a:p>
          <a:p>
            <a:pPr>
              <a:lnSpc>
                <a:spcPct val="90000"/>
              </a:lnSpc>
              <a:defRPr/>
            </a:pPr>
            <a:endParaRPr lang="es-ES" sz="2000" dirty="0" smtClean="0">
              <a:solidFill>
                <a:schemeClr val="tx1"/>
              </a:solidFill>
            </a:endParaRPr>
          </a:p>
          <a:p>
            <a:pPr>
              <a:lnSpc>
                <a:spcPct val="90000"/>
              </a:lnSpc>
              <a:defRPr/>
            </a:pPr>
            <a:endParaRPr lang="es-ES" sz="2000" dirty="0">
              <a:solidFill>
                <a:schemeClr val="tx1"/>
              </a:solidFill>
            </a:endParaRPr>
          </a:p>
          <a:p>
            <a:pPr>
              <a:lnSpc>
                <a:spcPct val="90000"/>
              </a:lnSpc>
              <a:defRPr/>
            </a:pPr>
            <a:endParaRPr lang="es-ES" sz="2000" dirty="0" smtClean="0">
              <a:solidFill>
                <a:schemeClr val="tx1"/>
              </a:solidFill>
            </a:endParaRPr>
          </a:p>
          <a:p>
            <a:pPr>
              <a:lnSpc>
                <a:spcPct val="90000"/>
              </a:lnSpc>
              <a:defRPr/>
            </a:pPr>
            <a:r>
              <a:rPr lang="es-ES" sz="2000" dirty="0" smtClean="0">
                <a:solidFill>
                  <a:schemeClr val="tx1"/>
                </a:solidFill>
              </a:rPr>
              <a:t>En un gas ideal </a:t>
            </a:r>
            <a:r>
              <a:rPr lang="es-ES" sz="2000" b="1" dirty="0" err="1" smtClean="0">
                <a:solidFill>
                  <a:schemeClr val="tx1"/>
                </a:solidFill>
              </a:rPr>
              <a:t>pV</a:t>
            </a:r>
            <a:r>
              <a:rPr lang="es-ES" sz="2000" b="1" dirty="0" smtClean="0">
                <a:solidFill>
                  <a:schemeClr val="tx1"/>
                </a:solidFill>
              </a:rPr>
              <a:t>=</a:t>
            </a:r>
            <a:r>
              <a:rPr lang="es-ES" sz="2000" b="1" dirty="0" err="1" smtClean="0">
                <a:solidFill>
                  <a:schemeClr val="tx1"/>
                </a:solidFill>
              </a:rPr>
              <a:t>nRT</a:t>
            </a:r>
            <a:endParaRPr lang="es-ES" sz="2000" b="1" dirty="0" smtClean="0">
              <a:solidFill>
                <a:schemeClr val="tx1"/>
              </a:solidFill>
            </a:endParaRPr>
          </a:p>
          <a:p>
            <a:pPr marL="0" indent="0">
              <a:lnSpc>
                <a:spcPct val="90000"/>
              </a:lnSpc>
              <a:buNone/>
              <a:defRPr/>
            </a:pPr>
            <a:endParaRPr lang="es-ES" sz="2000" b="1" dirty="0" smtClean="0">
              <a:solidFill>
                <a:schemeClr val="tx1"/>
              </a:solidFill>
            </a:endParaRPr>
          </a:p>
          <a:p>
            <a:pPr>
              <a:lnSpc>
                <a:spcPct val="90000"/>
              </a:lnSpc>
              <a:defRPr/>
            </a:pPr>
            <a:endParaRPr lang="es-ES" sz="2000" b="1" dirty="0" smtClean="0">
              <a:solidFill>
                <a:schemeClr val="tx1"/>
              </a:solidFill>
            </a:endParaRPr>
          </a:p>
          <a:p>
            <a:pPr>
              <a:lnSpc>
                <a:spcPct val="90000"/>
              </a:lnSpc>
              <a:defRPr/>
            </a:pPr>
            <a:endParaRPr lang="es-ES" sz="2000" b="1" dirty="0" smtClean="0">
              <a:solidFill>
                <a:schemeClr val="tx1"/>
              </a:solidFill>
            </a:endParaRPr>
          </a:p>
          <a:p>
            <a:pPr>
              <a:lnSpc>
                <a:spcPct val="90000"/>
              </a:lnSpc>
              <a:defRPr/>
            </a:pPr>
            <a:endParaRPr lang="es-ES" sz="2000" b="1" dirty="0" smtClean="0">
              <a:solidFill>
                <a:schemeClr val="tx1"/>
              </a:solidFill>
            </a:endParaRPr>
          </a:p>
          <a:p>
            <a:pPr>
              <a:lnSpc>
                <a:spcPct val="90000"/>
              </a:lnSpc>
              <a:defRPr/>
            </a:pPr>
            <a:r>
              <a:rPr lang="es-ES" sz="2000" dirty="0" smtClean="0">
                <a:solidFill>
                  <a:schemeClr val="tx1"/>
                </a:solidFill>
              </a:rPr>
              <a:t>Variación de entropía total entre un estado 1 y un estado 2</a:t>
            </a:r>
          </a:p>
        </p:txBody>
      </p:sp>
      <p:graphicFrame>
        <p:nvGraphicFramePr>
          <p:cNvPr id="11" name="Object 6"/>
          <p:cNvGraphicFramePr>
            <a:graphicFrameLocks noChangeAspect="1"/>
          </p:cNvGraphicFramePr>
          <p:nvPr>
            <p:extLst>
              <p:ext uri="{D42A27DB-BD31-4B8C-83A1-F6EECF244321}">
                <p14:modId xmlns:p14="http://schemas.microsoft.com/office/powerpoint/2010/main" val="2362757074"/>
              </p:ext>
            </p:extLst>
          </p:nvPr>
        </p:nvGraphicFramePr>
        <p:xfrm>
          <a:off x="1461553" y="2510433"/>
          <a:ext cx="2916237" cy="612775"/>
        </p:xfrm>
        <a:graphic>
          <a:graphicData uri="http://schemas.openxmlformats.org/presentationml/2006/ole">
            <mc:AlternateContent xmlns:mc="http://schemas.openxmlformats.org/markup-compatibility/2006">
              <mc:Choice xmlns:v="urn:schemas-microsoft-com:vml" Requires="v">
                <p:oleObj spid="_x0000_s14366" name="Ecuación" r:id="rId3" imgW="965200" imgH="203200" progId="Equation.3">
                  <p:embed/>
                </p:oleObj>
              </mc:Choice>
              <mc:Fallback>
                <p:oleObj name="Ecuación" r:id="rId3" imgW="965200" imgH="203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1553" y="2510433"/>
                        <a:ext cx="2916237" cy="612775"/>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12" name="Object 9"/>
          <p:cNvGraphicFramePr>
            <a:graphicFrameLocks noChangeAspect="1"/>
          </p:cNvGraphicFramePr>
          <p:nvPr>
            <p:extLst>
              <p:ext uri="{D42A27DB-BD31-4B8C-83A1-F6EECF244321}">
                <p14:modId xmlns:p14="http://schemas.microsoft.com/office/powerpoint/2010/main" val="1973936008"/>
              </p:ext>
            </p:extLst>
          </p:nvPr>
        </p:nvGraphicFramePr>
        <p:xfrm>
          <a:off x="5071071" y="2497572"/>
          <a:ext cx="2665412" cy="625636"/>
        </p:xfrm>
        <a:graphic>
          <a:graphicData uri="http://schemas.openxmlformats.org/presentationml/2006/ole">
            <mc:AlternateContent xmlns:mc="http://schemas.openxmlformats.org/markup-compatibility/2006">
              <mc:Choice xmlns:v="urn:schemas-microsoft-com:vml" Requires="v">
                <p:oleObj spid="_x0000_s14367" name="Ecuación" r:id="rId5" imgW="1143000" imgH="228600" progId="Equation.3">
                  <p:embed/>
                </p:oleObj>
              </mc:Choice>
              <mc:Fallback>
                <p:oleObj name="Ecuación" r:id="rId5" imgW="11430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1071" y="2497572"/>
                        <a:ext cx="2665412" cy="625636"/>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
        <p:nvSpPr>
          <p:cNvPr id="13" name="AutoShape 10"/>
          <p:cNvSpPr>
            <a:spLocks noChangeArrowheads="1"/>
          </p:cNvSpPr>
          <p:nvPr/>
        </p:nvSpPr>
        <p:spPr bwMode="auto">
          <a:xfrm>
            <a:off x="4511683" y="2564470"/>
            <a:ext cx="323850" cy="431800"/>
          </a:xfrm>
          <a:prstGeom prst="leftRightArrow">
            <a:avLst>
              <a:gd name="adj1" fmla="val 50000"/>
              <a:gd name="adj2" fmla="val 20000"/>
            </a:avLst>
          </a:prstGeom>
          <a:solidFill>
            <a:schemeClr val="tx2">
              <a:lumMod val="75000"/>
            </a:schemeClr>
          </a:solidFill>
          <a:ln w="9525">
            <a:no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graphicFrame>
        <p:nvGraphicFramePr>
          <p:cNvPr id="15" name="Object 13"/>
          <p:cNvGraphicFramePr>
            <a:graphicFrameLocks noChangeAspect="1"/>
          </p:cNvGraphicFramePr>
          <p:nvPr>
            <p:extLst>
              <p:ext uri="{D42A27DB-BD31-4B8C-83A1-F6EECF244321}">
                <p14:modId xmlns:p14="http://schemas.microsoft.com/office/powerpoint/2010/main" val="3430319960"/>
              </p:ext>
            </p:extLst>
          </p:nvPr>
        </p:nvGraphicFramePr>
        <p:xfrm>
          <a:off x="2729714" y="3889772"/>
          <a:ext cx="3887788" cy="852487"/>
        </p:xfrm>
        <a:graphic>
          <a:graphicData uri="http://schemas.openxmlformats.org/presentationml/2006/ole">
            <mc:AlternateContent xmlns:mc="http://schemas.openxmlformats.org/markup-compatibility/2006">
              <mc:Choice xmlns:v="urn:schemas-microsoft-com:vml" Requires="v">
                <p:oleObj spid="_x0000_s14368" name="Ecuación" r:id="rId7" imgW="1790700" imgH="393700" progId="Equation.3">
                  <p:embed/>
                </p:oleObj>
              </mc:Choice>
              <mc:Fallback>
                <p:oleObj name="Ecuación" r:id="rId7" imgW="17907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29714" y="3889772"/>
                        <a:ext cx="3887788" cy="852487"/>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16" name="Object 17"/>
          <p:cNvGraphicFramePr>
            <a:graphicFrameLocks noChangeAspect="1"/>
          </p:cNvGraphicFramePr>
          <p:nvPr>
            <p:extLst>
              <p:ext uri="{D42A27DB-BD31-4B8C-83A1-F6EECF244321}">
                <p14:modId xmlns:p14="http://schemas.microsoft.com/office/powerpoint/2010/main" val="1099579438"/>
              </p:ext>
            </p:extLst>
          </p:nvPr>
        </p:nvGraphicFramePr>
        <p:xfrm>
          <a:off x="3170577" y="5555257"/>
          <a:ext cx="3225800" cy="935038"/>
        </p:xfrm>
        <a:graphic>
          <a:graphicData uri="http://schemas.openxmlformats.org/presentationml/2006/ole">
            <mc:AlternateContent xmlns:mc="http://schemas.openxmlformats.org/markup-compatibility/2006">
              <mc:Choice xmlns:v="urn:schemas-microsoft-com:vml" Requires="v">
                <p:oleObj spid="_x0000_s14369" name="Ecuación" r:id="rId9" imgW="1485900" imgH="431800" progId="Equation.3">
                  <p:embed/>
                </p:oleObj>
              </mc:Choice>
              <mc:Fallback>
                <p:oleObj name="Ecuación" r:id="rId9" imgW="1485900" imgH="4318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0577" y="5555257"/>
                        <a:ext cx="3225800" cy="935038"/>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Tree>
    <p:extLst>
      <p:ext uri="{BB962C8B-B14F-4D97-AF65-F5344CB8AC3E}">
        <p14:creationId xmlns:p14="http://schemas.microsoft.com/office/powerpoint/2010/main" val="108821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4971378"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PROCESO ISOTERMICO (REVERSIBLE)</a:t>
            </a:r>
            <a:endParaRPr lang="es-PE" sz="2400" dirty="0">
              <a:solidFill>
                <a:schemeClr val="tx1"/>
              </a:solidFill>
            </a:endParaRPr>
          </a:p>
        </p:txBody>
      </p:sp>
      <p:sp>
        <p:nvSpPr>
          <p:cNvPr id="6" name="Rectangle 3"/>
          <p:cNvSpPr txBox="1">
            <a:spLocks noChangeArrowheads="1"/>
          </p:cNvSpPr>
          <p:nvPr/>
        </p:nvSpPr>
        <p:spPr>
          <a:xfrm>
            <a:off x="560512" y="1988840"/>
            <a:ext cx="4914900" cy="4530725"/>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90000"/>
              </a:lnSpc>
              <a:buClrTx/>
              <a:defRPr/>
            </a:pPr>
            <a:r>
              <a:rPr lang="es-ES" sz="2000" dirty="0" smtClean="0">
                <a:solidFill>
                  <a:schemeClr val="tx1"/>
                </a:solidFill>
              </a:rPr>
              <a:t>T= </a:t>
            </a:r>
            <a:r>
              <a:rPr lang="es-ES" sz="2000" dirty="0" err="1" smtClean="0">
                <a:solidFill>
                  <a:schemeClr val="tx1"/>
                </a:solidFill>
              </a:rPr>
              <a:t>cte</a:t>
            </a:r>
            <a:endParaRPr lang="es-ES" sz="2000" dirty="0" smtClean="0">
              <a:solidFill>
                <a:schemeClr val="tx1"/>
              </a:solidFill>
            </a:endParaRPr>
          </a:p>
          <a:p>
            <a:pPr>
              <a:lnSpc>
                <a:spcPct val="90000"/>
              </a:lnSpc>
              <a:buFont typeface="Wingdings" panose="05000000000000000000" pitchFamily="2" charset="2"/>
              <a:buNone/>
              <a:defRPr/>
            </a:pPr>
            <a:endParaRPr lang="es-ES" sz="2000" dirty="0" smtClean="0">
              <a:solidFill>
                <a:schemeClr val="tx1"/>
              </a:solidFill>
            </a:endParaRPr>
          </a:p>
          <a:p>
            <a:pPr>
              <a:lnSpc>
                <a:spcPct val="90000"/>
              </a:lnSpc>
              <a:buFont typeface="Wingdings" panose="05000000000000000000" pitchFamily="2" charset="2"/>
              <a:buNone/>
              <a:defRPr/>
            </a:pPr>
            <a:endParaRPr lang="es-ES" sz="2000" dirty="0" smtClean="0">
              <a:solidFill>
                <a:schemeClr val="tx1"/>
              </a:solidFill>
            </a:endParaRPr>
          </a:p>
          <a:p>
            <a:pPr>
              <a:lnSpc>
                <a:spcPct val="90000"/>
              </a:lnSpc>
              <a:buClr>
                <a:schemeClr val="tx1"/>
              </a:buClr>
              <a:defRPr/>
            </a:pPr>
            <a:r>
              <a:rPr lang="es-ES" sz="2000" dirty="0" smtClean="0">
                <a:solidFill>
                  <a:schemeClr val="tx1"/>
                </a:solidFill>
              </a:rPr>
              <a:t>Si el sistema aumenta de volumen</a:t>
            </a:r>
          </a:p>
          <a:p>
            <a:pPr>
              <a:lnSpc>
                <a:spcPct val="90000"/>
              </a:lnSpc>
              <a:defRPr/>
            </a:pPr>
            <a:endParaRPr lang="es-ES" sz="2000" dirty="0" smtClean="0">
              <a:solidFill>
                <a:schemeClr val="tx1"/>
              </a:solidFill>
            </a:endParaRPr>
          </a:p>
          <a:p>
            <a:pPr marL="0" indent="0">
              <a:lnSpc>
                <a:spcPct val="90000"/>
              </a:lnSpc>
              <a:buNone/>
              <a:defRPr/>
            </a:pPr>
            <a:endParaRPr lang="es-ES" sz="2000" dirty="0" smtClean="0">
              <a:solidFill>
                <a:schemeClr val="tx1"/>
              </a:solidFill>
            </a:endParaRPr>
          </a:p>
          <a:p>
            <a:pPr>
              <a:lnSpc>
                <a:spcPct val="90000"/>
              </a:lnSpc>
              <a:buClrTx/>
              <a:defRPr/>
            </a:pPr>
            <a:r>
              <a:rPr lang="es-ES" sz="2000" dirty="0" smtClean="0">
                <a:solidFill>
                  <a:schemeClr val="tx1"/>
                </a:solidFill>
              </a:rPr>
              <a:t>En un sistema Universo cerrado</a:t>
            </a:r>
          </a:p>
          <a:p>
            <a:pPr>
              <a:lnSpc>
                <a:spcPct val="90000"/>
              </a:lnSpc>
              <a:defRPr/>
            </a:pPr>
            <a:endParaRPr lang="es-ES" sz="2000" dirty="0" smtClean="0">
              <a:solidFill>
                <a:schemeClr val="tx1"/>
              </a:solidFill>
            </a:endParaRPr>
          </a:p>
          <a:p>
            <a:pPr>
              <a:lnSpc>
                <a:spcPct val="90000"/>
              </a:lnSpc>
              <a:defRPr/>
            </a:pPr>
            <a:endParaRPr lang="es-ES" sz="2000" dirty="0" smtClean="0">
              <a:solidFill>
                <a:schemeClr val="tx1"/>
              </a:solidFill>
            </a:endParaRPr>
          </a:p>
          <a:p>
            <a:pPr>
              <a:lnSpc>
                <a:spcPct val="90000"/>
              </a:lnSpc>
              <a:defRPr/>
            </a:pPr>
            <a:endParaRPr lang="es-ES" sz="2000" dirty="0" smtClean="0">
              <a:solidFill>
                <a:schemeClr val="tx1"/>
              </a:solidFill>
            </a:endParaRPr>
          </a:p>
          <a:p>
            <a:pPr>
              <a:lnSpc>
                <a:spcPct val="90000"/>
              </a:lnSpc>
              <a:buClrTx/>
              <a:defRPr/>
            </a:pPr>
            <a:r>
              <a:rPr lang="es-ES" sz="2000" dirty="0" smtClean="0">
                <a:solidFill>
                  <a:schemeClr val="tx1"/>
                </a:solidFill>
              </a:rPr>
              <a:t>La variación total de entropía es nula</a:t>
            </a:r>
          </a:p>
        </p:txBody>
      </p:sp>
      <p:graphicFrame>
        <p:nvGraphicFramePr>
          <p:cNvPr id="7" name="Object 6"/>
          <p:cNvGraphicFramePr>
            <a:graphicFrameLocks noChangeAspect="1"/>
          </p:cNvGraphicFramePr>
          <p:nvPr>
            <p:extLst>
              <p:ext uri="{D42A27DB-BD31-4B8C-83A1-F6EECF244321}">
                <p14:modId xmlns:p14="http://schemas.microsoft.com/office/powerpoint/2010/main" val="4050982104"/>
              </p:ext>
            </p:extLst>
          </p:nvPr>
        </p:nvGraphicFramePr>
        <p:xfrm>
          <a:off x="6620000" y="1801515"/>
          <a:ext cx="2089150" cy="887413"/>
        </p:xfrm>
        <a:graphic>
          <a:graphicData uri="http://schemas.openxmlformats.org/presentationml/2006/ole">
            <mc:AlternateContent xmlns:mc="http://schemas.openxmlformats.org/markup-compatibility/2006">
              <mc:Choice xmlns:v="urn:schemas-microsoft-com:vml" Requires="v">
                <p:oleObj spid="_x0000_s15404" name="Ecuación" r:id="rId3" imgW="1016000" imgH="431800" progId="Equation.3">
                  <p:embed/>
                </p:oleObj>
              </mc:Choice>
              <mc:Fallback>
                <p:oleObj name="Ecuación" r:id="rId3" imgW="10160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0000" y="1801515"/>
                        <a:ext cx="2089150" cy="887413"/>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8" name="Object 9"/>
          <p:cNvGraphicFramePr>
            <a:graphicFrameLocks noChangeAspect="1"/>
          </p:cNvGraphicFramePr>
          <p:nvPr>
            <p:extLst>
              <p:ext uri="{D42A27DB-BD31-4B8C-83A1-F6EECF244321}">
                <p14:modId xmlns:p14="http://schemas.microsoft.com/office/powerpoint/2010/main" val="3135740424"/>
              </p:ext>
            </p:extLst>
          </p:nvPr>
        </p:nvGraphicFramePr>
        <p:xfrm>
          <a:off x="3738687" y="1657053"/>
          <a:ext cx="1736725" cy="906462"/>
        </p:xfrm>
        <a:graphic>
          <a:graphicData uri="http://schemas.openxmlformats.org/presentationml/2006/ole">
            <mc:AlternateContent xmlns:mc="http://schemas.openxmlformats.org/markup-compatibility/2006">
              <mc:Choice xmlns:v="urn:schemas-microsoft-com:vml" Requires="v">
                <p:oleObj spid="_x0000_s15405" name="Ecuación" r:id="rId5" imgW="800100" imgH="419100" progId="Equation.3">
                  <p:embed/>
                </p:oleObj>
              </mc:Choice>
              <mc:Fallback>
                <p:oleObj name="Ecuación" r:id="rId5" imgW="8001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8687" y="1657053"/>
                        <a:ext cx="1736725" cy="906462"/>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9" name="Object 13"/>
          <p:cNvGraphicFramePr>
            <a:graphicFrameLocks noChangeAspect="1"/>
          </p:cNvGraphicFramePr>
          <p:nvPr>
            <p:extLst>
              <p:ext uri="{D42A27DB-BD31-4B8C-83A1-F6EECF244321}">
                <p14:modId xmlns:p14="http://schemas.microsoft.com/office/powerpoint/2010/main" val="3099214612"/>
              </p:ext>
            </p:extLst>
          </p:nvPr>
        </p:nvGraphicFramePr>
        <p:xfrm>
          <a:off x="5312197" y="3358520"/>
          <a:ext cx="1296987" cy="522288"/>
        </p:xfrm>
        <a:graphic>
          <a:graphicData uri="http://schemas.openxmlformats.org/presentationml/2006/ole">
            <mc:AlternateContent xmlns:mc="http://schemas.openxmlformats.org/markup-compatibility/2006">
              <mc:Choice xmlns:v="urn:schemas-microsoft-com:vml" Requires="v">
                <p:oleObj spid="_x0000_s15406" name="Ecuación" r:id="rId7" imgW="596900" imgH="241300" progId="Equation.3">
                  <p:embed/>
                </p:oleObj>
              </mc:Choice>
              <mc:Fallback>
                <p:oleObj name="Ecuación" r:id="rId7" imgW="596900" imgH="241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2197" y="3358520"/>
                        <a:ext cx="1296987" cy="522288"/>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
        <p:nvSpPr>
          <p:cNvPr id="10" name="AutoShape 14"/>
          <p:cNvSpPr>
            <a:spLocks noChangeArrowheads="1"/>
          </p:cNvSpPr>
          <p:nvPr/>
        </p:nvSpPr>
        <p:spPr bwMode="auto">
          <a:xfrm>
            <a:off x="2803650" y="2017415"/>
            <a:ext cx="720725" cy="433388"/>
          </a:xfrm>
          <a:prstGeom prst="rightArrow">
            <a:avLst>
              <a:gd name="adj1" fmla="val 50000"/>
              <a:gd name="adj2" fmla="val 41575"/>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sp>
        <p:nvSpPr>
          <p:cNvPr id="11" name="AutoShape 15"/>
          <p:cNvSpPr>
            <a:spLocks noChangeArrowheads="1"/>
          </p:cNvSpPr>
          <p:nvPr/>
        </p:nvSpPr>
        <p:spPr bwMode="auto">
          <a:xfrm>
            <a:off x="5611937" y="2161878"/>
            <a:ext cx="792163" cy="287337"/>
          </a:xfrm>
          <a:prstGeom prst="leftRightArrow">
            <a:avLst>
              <a:gd name="adj1" fmla="val 50000"/>
              <a:gd name="adj2" fmla="val 55138"/>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graphicFrame>
        <p:nvGraphicFramePr>
          <p:cNvPr id="12" name="Object 18"/>
          <p:cNvGraphicFramePr>
            <a:graphicFrameLocks noChangeAspect="1"/>
          </p:cNvGraphicFramePr>
          <p:nvPr>
            <p:extLst>
              <p:ext uri="{D42A27DB-BD31-4B8C-83A1-F6EECF244321}">
                <p14:modId xmlns:p14="http://schemas.microsoft.com/office/powerpoint/2010/main" val="2717755319"/>
              </p:ext>
            </p:extLst>
          </p:nvPr>
        </p:nvGraphicFramePr>
        <p:xfrm>
          <a:off x="2458407" y="4558264"/>
          <a:ext cx="2290762" cy="522287"/>
        </p:xfrm>
        <a:graphic>
          <a:graphicData uri="http://schemas.openxmlformats.org/presentationml/2006/ole">
            <mc:AlternateContent xmlns:mc="http://schemas.openxmlformats.org/markup-compatibility/2006">
              <mc:Choice xmlns:v="urn:schemas-microsoft-com:vml" Requires="v">
                <p:oleObj spid="_x0000_s15407" name="Ecuación" r:id="rId9" imgW="1054100" imgH="241300" progId="Equation.3">
                  <p:embed/>
                </p:oleObj>
              </mc:Choice>
              <mc:Fallback>
                <p:oleObj name="Ecuación" r:id="rId9" imgW="1054100" imgH="2413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58407" y="4558264"/>
                        <a:ext cx="2290762" cy="522287"/>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13" name="Object 21"/>
          <p:cNvGraphicFramePr>
            <a:graphicFrameLocks noChangeAspect="1"/>
          </p:cNvGraphicFramePr>
          <p:nvPr>
            <p:extLst>
              <p:ext uri="{D42A27DB-BD31-4B8C-83A1-F6EECF244321}">
                <p14:modId xmlns:p14="http://schemas.microsoft.com/office/powerpoint/2010/main" val="2500336489"/>
              </p:ext>
            </p:extLst>
          </p:nvPr>
        </p:nvGraphicFramePr>
        <p:xfrm>
          <a:off x="6404100" y="4558263"/>
          <a:ext cx="2622550" cy="522287"/>
        </p:xfrm>
        <a:graphic>
          <a:graphicData uri="http://schemas.openxmlformats.org/presentationml/2006/ole">
            <mc:AlternateContent xmlns:mc="http://schemas.openxmlformats.org/markup-compatibility/2006">
              <mc:Choice xmlns:v="urn:schemas-microsoft-com:vml" Requires="v">
                <p:oleObj spid="_x0000_s15408" name="Ecuación" r:id="rId11" imgW="1206500" imgH="241300" progId="Equation.3">
                  <p:embed/>
                </p:oleObj>
              </mc:Choice>
              <mc:Fallback>
                <p:oleObj name="Ecuación" r:id="rId11" imgW="1206500" imgH="2413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04100" y="4558263"/>
                        <a:ext cx="2622550" cy="522287"/>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15" name="Object 24"/>
          <p:cNvGraphicFramePr>
            <a:graphicFrameLocks noChangeAspect="1"/>
          </p:cNvGraphicFramePr>
          <p:nvPr>
            <p:extLst>
              <p:ext uri="{D42A27DB-BD31-4B8C-83A1-F6EECF244321}">
                <p14:modId xmlns:p14="http://schemas.microsoft.com/office/powerpoint/2010/main" val="3389444951"/>
              </p:ext>
            </p:extLst>
          </p:nvPr>
        </p:nvGraphicFramePr>
        <p:xfrm>
          <a:off x="5475412" y="5694549"/>
          <a:ext cx="3725862" cy="522287"/>
        </p:xfrm>
        <a:graphic>
          <a:graphicData uri="http://schemas.openxmlformats.org/presentationml/2006/ole">
            <mc:AlternateContent xmlns:mc="http://schemas.openxmlformats.org/markup-compatibility/2006">
              <mc:Choice xmlns:v="urn:schemas-microsoft-com:vml" Requires="v">
                <p:oleObj spid="_x0000_s15409" name="Ecuación" r:id="rId13" imgW="1714500" imgH="241300" progId="Equation.3">
                  <p:embed/>
                </p:oleObj>
              </mc:Choice>
              <mc:Fallback>
                <p:oleObj name="Ecuación" r:id="rId13" imgW="1714500" imgH="2413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75412" y="5694549"/>
                        <a:ext cx="3725862" cy="522287"/>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
        <p:nvSpPr>
          <p:cNvPr id="16" name="AutoShape 25"/>
          <p:cNvSpPr>
            <a:spLocks noChangeArrowheads="1"/>
          </p:cNvSpPr>
          <p:nvPr/>
        </p:nvSpPr>
        <p:spPr bwMode="auto">
          <a:xfrm>
            <a:off x="4607049" y="5712011"/>
            <a:ext cx="647700" cy="504825"/>
          </a:xfrm>
          <a:prstGeom prst="rightArrow">
            <a:avLst>
              <a:gd name="adj1" fmla="val 50000"/>
              <a:gd name="adj2" fmla="val 32075"/>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sp>
        <p:nvSpPr>
          <p:cNvPr id="17" name="AutoShape 26"/>
          <p:cNvSpPr>
            <a:spLocks noChangeArrowheads="1"/>
          </p:cNvSpPr>
          <p:nvPr/>
        </p:nvSpPr>
        <p:spPr bwMode="auto">
          <a:xfrm>
            <a:off x="5147593" y="4675813"/>
            <a:ext cx="792163" cy="287337"/>
          </a:xfrm>
          <a:prstGeom prst="leftRightArrow">
            <a:avLst>
              <a:gd name="adj1" fmla="val 50000"/>
              <a:gd name="adj2" fmla="val 55138"/>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spTree>
    <p:extLst>
      <p:ext uri="{BB962C8B-B14F-4D97-AF65-F5344CB8AC3E}">
        <p14:creationId xmlns:p14="http://schemas.microsoft.com/office/powerpoint/2010/main" val="91947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712640" y="908720"/>
            <a:ext cx="1944216"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dirty="0" smtClean="0">
                <a:solidFill>
                  <a:schemeClr val="tx1"/>
                </a:solidFill>
              </a:rPr>
              <a:t>EJERCICIO</a:t>
            </a:r>
            <a:endParaRPr lang="es-PE" sz="2400" b="1" dirty="0">
              <a:solidFill>
                <a:schemeClr val="tx1"/>
              </a:solidFill>
            </a:endParaRPr>
          </a:p>
        </p:txBody>
      </p:sp>
      <p:sp>
        <p:nvSpPr>
          <p:cNvPr id="3" name="Rectángulo 2"/>
          <p:cNvSpPr/>
          <p:nvPr/>
        </p:nvSpPr>
        <p:spPr>
          <a:xfrm>
            <a:off x="200472" y="1737080"/>
            <a:ext cx="4680520" cy="3139321"/>
          </a:xfrm>
          <a:prstGeom prst="rect">
            <a:avLst/>
          </a:prstGeom>
        </p:spPr>
        <p:txBody>
          <a:bodyPr wrap="square">
            <a:spAutoFit/>
          </a:bodyPr>
          <a:lstStyle/>
          <a:p>
            <a:pPr algn="just"/>
            <a:r>
              <a:rPr lang="es-PE" dirty="0">
                <a:latin typeface="NewBaskerville-Roman"/>
              </a:rPr>
              <a:t>Una muestra de 1.00 mol de gas H</a:t>
            </a:r>
            <a:r>
              <a:rPr lang="es-PE" sz="800" dirty="0">
                <a:latin typeface="NewBaskerville-Roman"/>
              </a:rPr>
              <a:t>2 </a:t>
            </a:r>
            <a:r>
              <a:rPr lang="es-PE" dirty="0">
                <a:latin typeface="NewBaskerville-Roman"/>
              </a:rPr>
              <a:t>se coloca en el lado </a:t>
            </a:r>
            <a:r>
              <a:rPr lang="es-PE" dirty="0" smtClean="0">
                <a:latin typeface="NewBaskerville-Roman"/>
              </a:rPr>
              <a:t>izquierdo del </a:t>
            </a:r>
            <a:r>
              <a:rPr lang="es-PE" dirty="0">
                <a:latin typeface="NewBaskerville-Roman"/>
              </a:rPr>
              <a:t>contenedor que se muestra en la </a:t>
            </a:r>
            <a:r>
              <a:rPr lang="es-PE" dirty="0" smtClean="0">
                <a:latin typeface="NewBaskerville-Roman"/>
              </a:rPr>
              <a:t>figura, que tiene volúmenes iguales izquierdo </a:t>
            </a:r>
            <a:r>
              <a:rPr lang="es-PE" dirty="0">
                <a:latin typeface="NewBaskerville-Roman"/>
              </a:rPr>
              <a:t>y derecho. El lado </a:t>
            </a:r>
            <a:r>
              <a:rPr lang="es-PE" dirty="0" smtClean="0">
                <a:latin typeface="NewBaskerville-Roman"/>
              </a:rPr>
              <a:t>derecho esta vacío. </a:t>
            </a:r>
            <a:r>
              <a:rPr lang="es-PE" dirty="0">
                <a:latin typeface="NewBaskerville-Roman"/>
              </a:rPr>
              <a:t>Cuando la </a:t>
            </a:r>
            <a:r>
              <a:rPr lang="es-PE" dirty="0" smtClean="0">
                <a:latin typeface="NewBaskerville-Roman"/>
              </a:rPr>
              <a:t>válvula </a:t>
            </a:r>
            <a:r>
              <a:rPr lang="es-PE" dirty="0">
                <a:latin typeface="NewBaskerville-Roman"/>
              </a:rPr>
              <a:t>se abre, el gas circula hacia el </a:t>
            </a:r>
            <a:r>
              <a:rPr lang="es-PE" dirty="0" smtClean="0">
                <a:latin typeface="NewBaskerville-Roman"/>
              </a:rPr>
              <a:t>lado derecho</a:t>
            </a:r>
            <a:r>
              <a:rPr lang="es-PE" dirty="0">
                <a:latin typeface="NewBaskerville-Roman"/>
              </a:rPr>
              <a:t>. ¿Cual es el cambio en </a:t>
            </a:r>
            <a:r>
              <a:rPr lang="es-PE" dirty="0" smtClean="0">
                <a:latin typeface="NewBaskerville-Roman"/>
              </a:rPr>
              <a:t>entropía </a:t>
            </a:r>
            <a:r>
              <a:rPr lang="es-PE" dirty="0">
                <a:latin typeface="NewBaskerville-Roman"/>
              </a:rPr>
              <a:t>total del gas? ¿</a:t>
            </a:r>
            <a:r>
              <a:rPr lang="es-PE" dirty="0" smtClean="0">
                <a:latin typeface="NewBaskerville-Roman"/>
              </a:rPr>
              <a:t>Cambia la </a:t>
            </a:r>
            <a:r>
              <a:rPr lang="es-PE" dirty="0">
                <a:latin typeface="NewBaskerville-Roman"/>
              </a:rPr>
              <a:t>temperatura del gas? Suponga que el contenedor es </a:t>
            </a:r>
            <a:r>
              <a:rPr lang="es-PE" dirty="0" smtClean="0">
                <a:latin typeface="NewBaskerville-Roman"/>
              </a:rPr>
              <a:t>tan grande </a:t>
            </a:r>
            <a:r>
              <a:rPr lang="es-PE" dirty="0">
                <a:latin typeface="NewBaskerville-Roman"/>
              </a:rPr>
              <a:t>que el hidrogeno se comporta como un gas ideal.</a:t>
            </a:r>
            <a:endParaRPr lang="es-PE" dirty="0"/>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544" y="4797152"/>
            <a:ext cx="3319034" cy="1561007"/>
          </a:xfrm>
          <a:prstGeom prst="rect">
            <a:avLst/>
          </a:prstGeom>
        </p:spPr>
      </p:pic>
      <p:sp>
        <p:nvSpPr>
          <p:cNvPr id="7" name="Rectángulo 6"/>
          <p:cNvSpPr/>
          <p:nvPr/>
        </p:nvSpPr>
        <p:spPr>
          <a:xfrm>
            <a:off x="5169024" y="1737079"/>
            <a:ext cx="4392488" cy="2862322"/>
          </a:xfrm>
          <a:prstGeom prst="rect">
            <a:avLst/>
          </a:prstGeom>
        </p:spPr>
        <p:txBody>
          <a:bodyPr wrap="square">
            <a:spAutoFit/>
          </a:bodyPr>
          <a:lstStyle/>
          <a:p>
            <a:pPr algn="just"/>
            <a:r>
              <a:rPr lang="es-PE" dirty="0">
                <a:latin typeface="NewBaskerville-Roman"/>
              </a:rPr>
              <a:t>Un recipiente de 2.00 L tiene un separador al centro que lo </a:t>
            </a:r>
            <a:r>
              <a:rPr lang="es-PE" dirty="0" smtClean="0">
                <a:latin typeface="NewBaskerville-Roman"/>
              </a:rPr>
              <a:t>divide en </a:t>
            </a:r>
            <a:r>
              <a:rPr lang="es-PE" dirty="0">
                <a:latin typeface="NewBaskerville-Roman"/>
              </a:rPr>
              <a:t>dos partes iguales, como se muestra en la </a:t>
            </a:r>
            <a:r>
              <a:rPr lang="es-PE" dirty="0" smtClean="0">
                <a:latin typeface="NewBaskerville-Roman"/>
              </a:rPr>
              <a:t>figura. El </a:t>
            </a:r>
            <a:r>
              <a:rPr lang="es-PE" dirty="0">
                <a:latin typeface="NewBaskerville-Roman"/>
              </a:rPr>
              <a:t>lado izquierdo contiene gas H</a:t>
            </a:r>
            <a:r>
              <a:rPr lang="es-PE" sz="800" dirty="0">
                <a:latin typeface="NewBaskerville-Roman"/>
              </a:rPr>
              <a:t>2 </a:t>
            </a:r>
            <a:r>
              <a:rPr lang="es-PE" dirty="0">
                <a:latin typeface="NewBaskerville-Roman"/>
              </a:rPr>
              <a:t>y el lado derecho </a:t>
            </a:r>
            <a:r>
              <a:rPr lang="es-PE" dirty="0" smtClean="0">
                <a:latin typeface="NewBaskerville-Roman"/>
              </a:rPr>
              <a:t>contiene gas </a:t>
            </a:r>
            <a:r>
              <a:rPr lang="es-PE" dirty="0">
                <a:latin typeface="NewBaskerville-Roman"/>
              </a:rPr>
              <a:t>O</a:t>
            </a:r>
            <a:r>
              <a:rPr lang="es-PE" sz="800" dirty="0">
                <a:latin typeface="NewBaskerville-Roman"/>
              </a:rPr>
              <a:t>2</a:t>
            </a:r>
            <a:r>
              <a:rPr lang="es-PE" dirty="0">
                <a:latin typeface="NewBaskerville-Roman"/>
              </a:rPr>
              <a:t>. Ambos gases </a:t>
            </a:r>
            <a:r>
              <a:rPr lang="es-PE" dirty="0" smtClean="0">
                <a:latin typeface="NewBaskerville-Roman"/>
              </a:rPr>
              <a:t>están </a:t>
            </a:r>
            <a:r>
              <a:rPr lang="es-PE" dirty="0">
                <a:latin typeface="NewBaskerville-Roman"/>
              </a:rPr>
              <a:t>a temperatura ambiente y a </a:t>
            </a:r>
            <a:r>
              <a:rPr lang="es-PE" dirty="0" smtClean="0">
                <a:latin typeface="NewBaskerville-Roman"/>
              </a:rPr>
              <a:t>presión atmosférica. </a:t>
            </a:r>
            <a:r>
              <a:rPr lang="es-PE" dirty="0">
                <a:latin typeface="NewBaskerville-Roman"/>
              </a:rPr>
              <a:t>Se retira el separador y se permite que los </a:t>
            </a:r>
            <a:r>
              <a:rPr lang="es-PE" dirty="0" smtClean="0">
                <a:latin typeface="NewBaskerville-Roman"/>
              </a:rPr>
              <a:t>gases se </a:t>
            </a:r>
            <a:r>
              <a:rPr lang="es-PE" dirty="0">
                <a:latin typeface="NewBaskerville-Roman"/>
              </a:rPr>
              <a:t>mezclen. ¿Cual es el aumento en </a:t>
            </a:r>
            <a:r>
              <a:rPr lang="es-PE" dirty="0" smtClean="0">
                <a:latin typeface="NewBaskerville-Roman"/>
              </a:rPr>
              <a:t>entropía </a:t>
            </a:r>
            <a:r>
              <a:rPr lang="es-PE" dirty="0">
                <a:latin typeface="NewBaskerville-Roman"/>
              </a:rPr>
              <a:t>del sistema?</a:t>
            </a:r>
            <a:endParaRPr lang="es-PE" dirty="0"/>
          </a:p>
        </p:txBody>
      </p:sp>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7096" y="4702240"/>
            <a:ext cx="2826143" cy="1750829"/>
          </a:xfrm>
          <a:prstGeom prst="rect">
            <a:avLst/>
          </a:prstGeom>
        </p:spPr>
      </p:pic>
    </p:spTree>
    <p:extLst>
      <p:ext uri="{BB962C8B-B14F-4D97-AF65-F5344CB8AC3E}">
        <p14:creationId xmlns:p14="http://schemas.microsoft.com/office/powerpoint/2010/main" val="20151788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4899370"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PROCESO ISÓBARO (REVERSIBLE)</a:t>
            </a:r>
            <a:endParaRPr lang="es-PE" sz="2400" dirty="0">
              <a:solidFill>
                <a:schemeClr val="tx1"/>
              </a:solidFill>
            </a:endParaRPr>
          </a:p>
        </p:txBody>
      </p:sp>
      <p:sp>
        <p:nvSpPr>
          <p:cNvPr id="8" name="Rectangle 3"/>
          <p:cNvSpPr txBox="1">
            <a:spLocks noChangeArrowheads="1"/>
          </p:cNvSpPr>
          <p:nvPr/>
        </p:nvSpPr>
        <p:spPr>
          <a:xfrm>
            <a:off x="401878" y="1805781"/>
            <a:ext cx="4835525" cy="4530725"/>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80000"/>
              </a:lnSpc>
              <a:buClrTx/>
              <a:defRPr/>
            </a:pPr>
            <a:r>
              <a:rPr lang="es-ES" sz="2000" dirty="0" smtClean="0">
                <a:solidFill>
                  <a:schemeClr val="tx1"/>
                </a:solidFill>
              </a:rPr>
              <a:t>El calor y la variación de entropía no son proporcionales</a:t>
            </a:r>
          </a:p>
          <a:p>
            <a:pPr>
              <a:lnSpc>
                <a:spcPct val="80000"/>
              </a:lnSpc>
              <a:defRPr/>
            </a:pPr>
            <a:endParaRPr lang="es-ES" sz="2000" dirty="0" smtClean="0">
              <a:solidFill>
                <a:schemeClr val="tx1"/>
              </a:solidFill>
            </a:endParaRPr>
          </a:p>
          <a:p>
            <a:pPr marL="0" indent="0">
              <a:lnSpc>
                <a:spcPct val="80000"/>
              </a:lnSpc>
              <a:buNone/>
              <a:defRPr/>
            </a:pPr>
            <a:endParaRPr lang="es-ES" sz="2000" dirty="0" smtClean="0">
              <a:solidFill>
                <a:schemeClr val="tx1"/>
              </a:solidFill>
            </a:endParaRPr>
          </a:p>
          <a:p>
            <a:pPr>
              <a:lnSpc>
                <a:spcPct val="80000"/>
              </a:lnSpc>
              <a:buClrTx/>
              <a:defRPr/>
            </a:pPr>
            <a:r>
              <a:rPr lang="es-ES" sz="2000" dirty="0" smtClean="0">
                <a:solidFill>
                  <a:schemeClr val="tx1"/>
                </a:solidFill>
              </a:rPr>
              <a:t>P= </a:t>
            </a:r>
            <a:r>
              <a:rPr lang="es-ES" sz="2000" dirty="0" err="1" smtClean="0">
                <a:solidFill>
                  <a:schemeClr val="tx1"/>
                </a:solidFill>
              </a:rPr>
              <a:t>cte</a:t>
            </a:r>
            <a:endParaRPr lang="es-ES" sz="2000" dirty="0" smtClean="0">
              <a:solidFill>
                <a:schemeClr val="tx1"/>
              </a:solidFill>
            </a:endParaRPr>
          </a:p>
          <a:p>
            <a:pPr>
              <a:lnSpc>
                <a:spcPct val="80000"/>
              </a:lnSpc>
              <a:buFont typeface="Wingdings" panose="05000000000000000000" pitchFamily="2" charset="2"/>
              <a:buNone/>
              <a:defRPr/>
            </a:pPr>
            <a:endParaRPr lang="es-ES" sz="2000" dirty="0" smtClean="0">
              <a:solidFill>
                <a:schemeClr val="tx1"/>
              </a:solidFill>
            </a:endParaRPr>
          </a:p>
          <a:p>
            <a:pPr>
              <a:lnSpc>
                <a:spcPct val="80000"/>
              </a:lnSpc>
              <a:buFont typeface="Wingdings" panose="05000000000000000000" pitchFamily="2" charset="2"/>
              <a:buNone/>
              <a:defRPr/>
            </a:pPr>
            <a:endParaRPr lang="es-ES" sz="2000" dirty="0" smtClean="0">
              <a:solidFill>
                <a:schemeClr val="tx1"/>
              </a:solidFill>
            </a:endParaRPr>
          </a:p>
          <a:p>
            <a:pPr>
              <a:lnSpc>
                <a:spcPct val="80000"/>
              </a:lnSpc>
              <a:buClrTx/>
              <a:defRPr/>
            </a:pPr>
            <a:r>
              <a:rPr lang="es-ES" sz="2000" dirty="0" smtClean="0">
                <a:solidFill>
                  <a:schemeClr val="tx1"/>
                </a:solidFill>
              </a:rPr>
              <a:t>Si el sistema aumenta de temperatura</a:t>
            </a:r>
          </a:p>
          <a:p>
            <a:pPr>
              <a:lnSpc>
                <a:spcPct val="80000"/>
              </a:lnSpc>
              <a:defRPr/>
            </a:pPr>
            <a:endParaRPr lang="es-ES" sz="2000" dirty="0" smtClean="0">
              <a:solidFill>
                <a:schemeClr val="tx1"/>
              </a:solidFill>
            </a:endParaRPr>
          </a:p>
          <a:p>
            <a:pPr marL="0" indent="0">
              <a:lnSpc>
                <a:spcPct val="80000"/>
              </a:lnSpc>
              <a:buNone/>
              <a:defRPr/>
            </a:pPr>
            <a:endParaRPr lang="es-ES" sz="2000" dirty="0" smtClean="0">
              <a:solidFill>
                <a:schemeClr val="tx1"/>
              </a:solidFill>
            </a:endParaRPr>
          </a:p>
          <a:p>
            <a:pPr>
              <a:lnSpc>
                <a:spcPct val="80000"/>
              </a:lnSpc>
              <a:buClr>
                <a:schemeClr val="tx1"/>
              </a:buClr>
              <a:defRPr/>
            </a:pPr>
            <a:r>
              <a:rPr lang="es-ES" sz="2000" dirty="0" smtClean="0">
                <a:solidFill>
                  <a:schemeClr val="tx1"/>
                </a:solidFill>
              </a:rPr>
              <a:t>Si el proceso es reversible</a:t>
            </a:r>
          </a:p>
          <a:p>
            <a:pPr>
              <a:lnSpc>
                <a:spcPct val="80000"/>
              </a:lnSpc>
              <a:defRPr/>
            </a:pPr>
            <a:endParaRPr lang="es-ES" sz="2000" dirty="0" smtClean="0">
              <a:solidFill>
                <a:schemeClr val="tx1"/>
              </a:solidFill>
            </a:endParaRPr>
          </a:p>
          <a:p>
            <a:pPr marL="0" indent="0">
              <a:lnSpc>
                <a:spcPct val="80000"/>
              </a:lnSpc>
              <a:buNone/>
              <a:defRPr/>
            </a:pPr>
            <a:endParaRPr lang="es-ES" sz="2000" dirty="0" smtClean="0">
              <a:solidFill>
                <a:schemeClr val="tx1"/>
              </a:solidFill>
            </a:endParaRPr>
          </a:p>
          <a:p>
            <a:pPr marL="0" indent="0">
              <a:lnSpc>
                <a:spcPct val="80000"/>
              </a:lnSpc>
              <a:buNone/>
              <a:defRPr/>
            </a:pPr>
            <a:endParaRPr lang="es-ES" sz="2000" dirty="0" smtClean="0">
              <a:solidFill>
                <a:schemeClr val="tx1"/>
              </a:solidFill>
            </a:endParaRPr>
          </a:p>
          <a:p>
            <a:pPr>
              <a:lnSpc>
                <a:spcPct val="80000"/>
              </a:lnSpc>
              <a:buClrTx/>
              <a:defRPr/>
            </a:pPr>
            <a:r>
              <a:rPr lang="es-ES" sz="2000" dirty="0" smtClean="0">
                <a:solidFill>
                  <a:schemeClr val="tx1"/>
                </a:solidFill>
              </a:rPr>
              <a:t>En procesos irreversibles</a:t>
            </a:r>
          </a:p>
        </p:txBody>
      </p:sp>
      <p:graphicFrame>
        <p:nvGraphicFramePr>
          <p:cNvPr id="9" name="Object 4"/>
          <p:cNvGraphicFramePr>
            <a:graphicFrameLocks noChangeAspect="1"/>
          </p:cNvGraphicFramePr>
          <p:nvPr>
            <p:extLst>
              <p:ext uri="{D42A27DB-BD31-4B8C-83A1-F6EECF244321}">
                <p14:modId xmlns:p14="http://schemas.microsoft.com/office/powerpoint/2010/main" val="3992328077"/>
              </p:ext>
            </p:extLst>
          </p:nvPr>
        </p:nvGraphicFramePr>
        <p:xfrm>
          <a:off x="6537176" y="2574994"/>
          <a:ext cx="2462439" cy="941114"/>
        </p:xfrm>
        <a:graphic>
          <a:graphicData uri="http://schemas.openxmlformats.org/presentationml/2006/ole">
            <mc:AlternateContent xmlns:mc="http://schemas.openxmlformats.org/markup-compatibility/2006">
              <mc:Choice xmlns:v="urn:schemas-microsoft-com:vml" Requires="v">
                <p:oleObj spid="_x0000_s16434" name="Ecuación" r:id="rId3" imgW="1130040" imgH="431640" progId="Equation.3">
                  <p:embed/>
                </p:oleObj>
              </mc:Choice>
              <mc:Fallback>
                <p:oleObj name="Ecuación" r:id="rId3" imgW="1130040" imgH="431640" progId="Equation.3">
                  <p:embed/>
                  <p:pic>
                    <p:nvPicPr>
                      <p:cNvPr id="0" name=""/>
                      <p:cNvPicPr>
                        <a:picLocks noChangeAspect="1" noChangeArrowheads="1"/>
                      </p:cNvPicPr>
                      <p:nvPr/>
                    </p:nvPicPr>
                    <p:blipFill>
                      <a:blip r:embed="rId4"/>
                      <a:srcRect/>
                      <a:stretch>
                        <a:fillRect/>
                      </a:stretch>
                    </p:blipFill>
                    <p:spPr bwMode="auto">
                      <a:xfrm>
                        <a:off x="6537176" y="2574994"/>
                        <a:ext cx="2462439" cy="941114"/>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1809350640"/>
              </p:ext>
            </p:extLst>
          </p:nvPr>
        </p:nvGraphicFramePr>
        <p:xfrm>
          <a:off x="7044531" y="3844348"/>
          <a:ext cx="1296987" cy="522288"/>
        </p:xfrm>
        <a:graphic>
          <a:graphicData uri="http://schemas.openxmlformats.org/presentationml/2006/ole">
            <mc:AlternateContent xmlns:mc="http://schemas.openxmlformats.org/markup-compatibility/2006">
              <mc:Choice xmlns:v="urn:schemas-microsoft-com:vml" Requires="v">
                <p:oleObj spid="_x0000_s16435" name="Ecuación" r:id="rId5" imgW="596900" imgH="241300" progId="Equation.3">
                  <p:embed/>
                </p:oleObj>
              </mc:Choice>
              <mc:Fallback>
                <p:oleObj name="Ecuación" r:id="rId5" imgW="5969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44531" y="3844348"/>
                        <a:ext cx="1296987" cy="522288"/>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11" name="Object 6"/>
          <p:cNvGraphicFramePr>
            <a:graphicFrameLocks noChangeAspect="1"/>
          </p:cNvGraphicFramePr>
          <p:nvPr>
            <p:extLst>
              <p:ext uri="{D42A27DB-BD31-4B8C-83A1-F6EECF244321}">
                <p14:modId xmlns:p14="http://schemas.microsoft.com/office/powerpoint/2010/main" val="3925356997"/>
              </p:ext>
            </p:extLst>
          </p:nvPr>
        </p:nvGraphicFramePr>
        <p:xfrm>
          <a:off x="4880992" y="5023117"/>
          <a:ext cx="3725863" cy="522288"/>
        </p:xfrm>
        <a:graphic>
          <a:graphicData uri="http://schemas.openxmlformats.org/presentationml/2006/ole">
            <mc:AlternateContent xmlns:mc="http://schemas.openxmlformats.org/markup-compatibility/2006">
              <mc:Choice xmlns:v="urn:schemas-microsoft-com:vml" Requires="v">
                <p:oleObj spid="_x0000_s16436" name="Ecuación" r:id="rId7" imgW="1714500" imgH="241300" progId="Equation.3">
                  <p:embed/>
                </p:oleObj>
              </mc:Choice>
              <mc:Fallback>
                <p:oleObj name="Ecuación" r:id="rId7" imgW="1714500" imgH="241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80992" y="5023117"/>
                        <a:ext cx="3725863" cy="522288"/>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
        <p:nvSpPr>
          <p:cNvPr id="12" name="AutoShape 7"/>
          <p:cNvSpPr>
            <a:spLocks noChangeArrowheads="1"/>
          </p:cNvSpPr>
          <p:nvPr/>
        </p:nvSpPr>
        <p:spPr bwMode="auto">
          <a:xfrm>
            <a:off x="5659438" y="3826408"/>
            <a:ext cx="647700" cy="504825"/>
          </a:xfrm>
          <a:prstGeom prst="rightArrow">
            <a:avLst>
              <a:gd name="adj1" fmla="val 50000"/>
              <a:gd name="adj2" fmla="val 32075"/>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graphicFrame>
        <p:nvGraphicFramePr>
          <p:cNvPr id="13" name="Object 8"/>
          <p:cNvGraphicFramePr>
            <a:graphicFrameLocks noChangeAspect="1"/>
          </p:cNvGraphicFramePr>
          <p:nvPr>
            <p:extLst>
              <p:ext uri="{D42A27DB-BD31-4B8C-83A1-F6EECF244321}">
                <p14:modId xmlns:p14="http://schemas.microsoft.com/office/powerpoint/2010/main" val="1850355627"/>
              </p:ext>
            </p:extLst>
          </p:nvPr>
        </p:nvGraphicFramePr>
        <p:xfrm>
          <a:off x="2076450" y="2620750"/>
          <a:ext cx="3344863" cy="950913"/>
        </p:xfrm>
        <a:graphic>
          <a:graphicData uri="http://schemas.openxmlformats.org/presentationml/2006/ole">
            <mc:AlternateContent xmlns:mc="http://schemas.openxmlformats.org/markup-compatibility/2006">
              <mc:Choice xmlns:v="urn:schemas-microsoft-com:vml" Requires="v">
                <p:oleObj spid="_x0000_s16437" name="Ecuación" r:id="rId9" imgW="1384200" imgH="393480" progId="Equation.3">
                  <p:embed/>
                </p:oleObj>
              </mc:Choice>
              <mc:Fallback>
                <p:oleObj name="Ecuación" r:id="rId9" imgW="1384200" imgH="393480" progId="Equation.3">
                  <p:embed/>
                  <p:pic>
                    <p:nvPicPr>
                      <p:cNvPr id="0" name=""/>
                      <p:cNvPicPr>
                        <a:picLocks noChangeAspect="1" noChangeArrowheads="1"/>
                      </p:cNvPicPr>
                      <p:nvPr/>
                    </p:nvPicPr>
                    <p:blipFill>
                      <a:blip r:embed="rId10"/>
                      <a:srcRect/>
                      <a:stretch>
                        <a:fillRect/>
                      </a:stretch>
                    </p:blipFill>
                    <p:spPr bwMode="auto">
                      <a:xfrm>
                        <a:off x="2076450" y="2620750"/>
                        <a:ext cx="3344863" cy="950913"/>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
        <p:nvSpPr>
          <p:cNvPr id="15" name="AutoShape 9"/>
          <p:cNvSpPr>
            <a:spLocks noChangeArrowheads="1"/>
          </p:cNvSpPr>
          <p:nvPr/>
        </p:nvSpPr>
        <p:spPr bwMode="auto">
          <a:xfrm>
            <a:off x="5569953" y="2991114"/>
            <a:ext cx="792162" cy="287337"/>
          </a:xfrm>
          <a:prstGeom prst="leftRightArrow">
            <a:avLst>
              <a:gd name="adj1" fmla="val 50000"/>
              <a:gd name="adj2" fmla="val 55138"/>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graphicFrame>
        <p:nvGraphicFramePr>
          <p:cNvPr id="16" name="Object 10"/>
          <p:cNvGraphicFramePr>
            <a:graphicFrameLocks noChangeAspect="1"/>
          </p:cNvGraphicFramePr>
          <p:nvPr>
            <p:extLst>
              <p:ext uri="{D42A27DB-BD31-4B8C-83A1-F6EECF244321}">
                <p14:modId xmlns:p14="http://schemas.microsoft.com/office/powerpoint/2010/main" val="416325980"/>
              </p:ext>
            </p:extLst>
          </p:nvPr>
        </p:nvGraphicFramePr>
        <p:xfrm>
          <a:off x="4511796" y="5967413"/>
          <a:ext cx="1379537" cy="495300"/>
        </p:xfrm>
        <a:graphic>
          <a:graphicData uri="http://schemas.openxmlformats.org/presentationml/2006/ole">
            <mc:AlternateContent xmlns:mc="http://schemas.openxmlformats.org/markup-compatibility/2006">
              <mc:Choice xmlns:v="urn:schemas-microsoft-com:vml" Requires="v">
                <p:oleObj spid="_x0000_s16438" name="Ecuación" r:id="rId11" imgW="634725" imgH="228501" progId="Equation.3">
                  <p:embed/>
                </p:oleObj>
              </mc:Choice>
              <mc:Fallback>
                <p:oleObj name="Ecuación" r:id="rId11" imgW="634725" imgH="228501"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1796" y="5967413"/>
                        <a:ext cx="1379537" cy="495300"/>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17" name="Object 11"/>
          <p:cNvGraphicFramePr>
            <a:graphicFrameLocks noChangeAspect="1"/>
          </p:cNvGraphicFramePr>
          <p:nvPr>
            <p:extLst>
              <p:ext uri="{D42A27DB-BD31-4B8C-83A1-F6EECF244321}">
                <p14:modId xmlns:p14="http://schemas.microsoft.com/office/powerpoint/2010/main" val="296810971"/>
              </p:ext>
            </p:extLst>
          </p:nvPr>
        </p:nvGraphicFramePr>
        <p:xfrm>
          <a:off x="5422899" y="1781024"/>
          <a:ext cx="2270125" cy="496887"/>
        </p:xfrm>
        <a:graphic>
          <a:graphicData uri="http://schemas.openxmlformats.org/presentationml/2006/ole">
            <mc:AlternateContent xmlns:mc="http://schemas.openxmlformats.org/markup-compatibility/2006">
              <mc:Choice xmlns:v="urn:schemas-microsoft-com:vml" Requires="v">
                <p:oleObj spid="_x0000_s16439" name="Ecuación" r:id="rId13" imgW="1104900" imgH="241300" progId="Equation.3">
                  <p:embed/>
                </p:oleObj>
              </mc:Choice>
              <mc:Fallback>
                <p:oleObj name="Ecuación" r:id="rId13" imgW="1104900" imgH="2413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22899" y="1781024"/>
                        <a:ext cx="2270125" cy="496887"/>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Tree>
    <p:extLst>
      <p:ext uri="{BB962C8B-B14F-4D97-AF65-F5344CB8AC3E}">
        <p14:creationId xmlns:p14="http://schemas.microsoft.com/office/powerpoint/2010/main" val="3865632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712640" y="908720"/>
            <a:ext cx="1944216"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dirty="0" smtClean="0">
                <a:solidFill>
                  <a:schemeClr val="tx1"/>
                </a:solidFill>
              </a:rPr>
              <a:t>EJERCICIO</a:t>
            </a:r>
            <a:endParaRPr lang="es-PE" sz="2400" b="1" dirty="0">
              <a:solidFill>
                <a:schemeClr val="tx1"/>
              </a:solidFill>
            </a:endParaRPr>
          </a:p>
        </p:txBody>
      </p:sp>
      <p:sp>
        <p:nvSpPr>
          <p:cNvPr id="3" name="Rectángulo 2"/>
          <p:cNvSpPr/>
          <p:nvPr/>
        </p:nvSpPr>
        <p:spPr>
          <a:xfrm>
            <a:off x="200472" y="1737080"/>
            <a:ext cx="4680520" cy="3139321"/>
          </a:xfrm>
          <a:prstGeom prst="rect">
            <a:avLst/>
          </a:prstGeom>
        </p:spPr>
        <p:txBody>
          <a:bodyPr wrap="square">
            <a:spAutoFit/>
          </a:bodyPr>
          <a:lstStyle/>
          <a:p>
            <a:pPr algn="just"/>
            <a:r>
              <a:rPr lang="es-PE" dirty="0">
                <a:latin typeface="NewBaskerville-Roman"/>
              </a:rPr>
              <a:t>Una muestra de 1.00 mol de gas H</a:t>
            </a:r>
            <a:r>
              <a:rPr lang="es-PE" sz="800" dirty="0">
                <a:latin typeface="NewBaskerville-Roman"/>
              </a:rPr>
              <a:t>2 </a:t>
            </a:r>
            <a:r>
              <a:rPr lang="es-PE" dirty="0">
                <a:latin typeface="NewBaskerville-Roman"/>
              </a:rPr>
              <a:t>se coloca en el lado </a:t>
            </a:r>
            <a:r>
              <a:rPr lang="es-PE" dirty="0" smtClean="0">
                <a:latin typeface="NewBaskerville-Roman"/>
              </a:rPr>
              <a:t>izquierdo del </a:t>
            </a:r>
            <a:r>
              <a:rPr lang="es-PE" dirty="0">
                <a:latin typeface="NewBaskerville-Roman"/>
              </a:rPr>
              <a:t>contenedor que se muestra en la </a:t>
            </a:r>
            <a:r>
              <a:rPr lang="es-PE" dirty="0" smtClean="0">
                <a:latin typeface="NewBaskerville-Roman"/>
              </a:rPr>
              <a:t>figura, que tiene volúmenes iguales izquierdo </a:t>
            </a:r>
            <a:r>
              <a:rPr lang="es-PE" dirty="0">
                <a:latin typeface="NewBaskerville-Roman"/>
              </a:rPr>
              <a:t>y derecho. El lado </a:t>
            </a:r>
            <a:r>
              <a:rPr lang="es-PE" dirty="0" smtClean="0">
                <a:latin typeface="NewBaskerville-Roman"/>
              </a:rPr>
              <a:t>derecho esta vacío. </a:t>
            </a:r>
            <a:r>
              <a:rPr lang="es-PE" dirty="0">
                <a:latin typeface="NewBaskerville-Roman"/>
              </a:rPr>
              <a:t>Cuando la </a:t>
            </a:r>
            <a:r>
              <a:rPr lang="es-PE" dirty="0" smtClean="0">
                <a:latin typeface="NewBaskerville-Roman"/>
              </a:rPr>
              <a:t>válvula </a:t>
            </a:r>
            <a:r>
              <a:rPr lang="es-PE" dirty="0">
                <a:latin typeface="NewBaskerville-Roman"/>
              </a:rPr>
              <a:t>se abre, el gas circula hacia el </a:t>
            </a:r>
            <a:r>
              <a:rPr lang="es-PE" dirty="0" smtClean="0">
                <a:latin typeface="NewBaskerville-Roman"/>
              </a:rPr>
              <a:t>lado derecho</a:t>
            </a:r>
            <a:r>
              <a:rPr lang="es-PE" dirty="0">
                <a:latin typeface="NewBaskerville-Roman"/>
              </a:rPr>
              <a:t>. ¿Cual es el cambio en </a:t>
            </a:r>
            <a:r>
              <a:rPr lang="es-PE" dirty="0" smtClean="0">
                <a:latin typeface="NewBaskerville-Roman"/>
              </a:rPr>
              <a:t>entropía </a:t>
            </a:r>
            <a:r>
              <a:rPr lang="es-PE" dirty="0">
                <a:latin typeface="NewBaskerville-Roman"/>
              </a:rPr>
              <a:t>total del gas? ¿</a:t>
            </a:r>
            <a:r>
              <a:rPr lang="es-PE" dirty="0" smtClean="0">
                <a:latin typeface="NewBaskerville-Roman"/>
              </a:rPr>
              <a:t>Cambia la </a:t>
            </a:r>
            <a:r>
              <a:rPr lang="es-PE" dirty="0">
                <a:latin typeface="NewBaskerville-Roman"/>
              </a:rPr>
              <a:t>temperatura del gas? Suponga que el contenedor es </a:t>
            </a:r>
            <a:r>
              <a:rPr lang="es-PE" dirty="0" smtClean="0">
                <a:latin typeface="NewBaskerville-Roman"/>
              </a:rPr>
              <a:t>tan grande </a:t>
            </a:r>
            <a:r>
              <a:rPr lang="es-PE" dirty="0">
                <a:latin typeface="NewBaskerville-Roman"/>
              </a:rPr>
              <a:t>que el hidrogeno se comporta como un gas ideal.</a:t>
            </a:r>
            <a:endParaRPr lang="es-PE" dirty="0"/>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544" y="4797152"/>
            <a:ext cx="3319034" cy="1561007"/>
          </a:xfrm>
          <a:prstGeom prst="rect">
            <a:avLst/>
          </a:prstGeom>
        </p:spPr>
      </p:pic>
      <p:sp>
        <p:nvSpPr>
          <p:cNvPr id="7" name="Rectángulo 6"/>
          <p:cNvSpPr/>
          <p:nvPr/>
        </p:nvSpPr>
        <p:spPr>
          <a:xfrm>
            <a:off x="5169024" y="1737079"/>
            <a:ext cx="4392488" cy="2862322"/>
          </a:xfrm>
          <a:prstGeom prst="rect">
            <a:avLst/>
          </a:prstGeom>
        </p:spPr>
        <p:txBody>
          <a:bodyPr wrap="square">
            <a:spAutoFit/>
          </a:bodyPr>
          <a:lstStyle/>
          <a:p>
            <a:pPr algn="just"/>
            <a:r>
              <a:rPr lang="es-PE" dirty="0">
                <a:latin typeface="NewBaskerville-Roman"/>
              </a:rPr>
              <a:t>Un recipiente de 2.00 L tiene un separador al centro que lo </a:t>
            </a:r>
            <a:r>
              <a:rPr lang="es-PE" dirty="0" smtClean="0">
                <a:latin typeface="NewBaskerville-Roman"/>
              </a:rPr>
              <a:t>divide en </a:t>
            </a:r>
            <a:r>
              <a:rPr lang="es-PE" dirty="0">
                <a:latin typeface="NewBaskerville-Roman"/>
              </a:rPr>
              <a:t>dos partes iguales, como se muestra en la </a:t>
            </a:r>
            <a:r>
              <a:rPr lang="es-PE" dirty="0" smtClean="0">
                <a:latin typeface="NewBaskerville-Roman"/>
              </a:rPr>
              <a:t>figura. El </a:t>
            </a:r>
            <a:r>
              <a:rPr lang="es-PE" dirty="0">
                <a:latin typeface="NewBaskerville-Roman"/>
              </a:rPr>
              <a:t>lado izquierdo contiene gas H</a:t>
            </a:r>
            <a:r>
              <a:rPr lang="es-PE" sz="800" dirty="0">
                <a:latin typeface="NewBaskerville-Roman"/>
              </a:rPr>
              <a:t>2 </a:t>
            </a:r>
            <a:r>
              <a:rPr lang="es-PE" dirty="0">
                <a:latin typeface="NewBaskerville-Roman"/>
              </a:rPr>
              <a:t>y el lado derecho </a:t>
            </a:r>
            <a:r>
              <a:rPr lang="es-PE" dirty="0" smtClean="0">
                <a:latin typeface="NewBaskerville-Roman"/>
              </a:rPr>
              <a:t>contiene gas </a:t>
            </a:r>
            <a:r>
              <a:rPr lang="es-PE" dirty="0">
                <a:latin typeface="NewBaskerville-Roman"/>
              </a:rPr>
              <a:t>O</a:t>
            </a:r>
            <a:r>
              <a:rPr lang="es-PE" sz="800" dirty="0">
                <a:latin typeface="NewBaskerville-Roman"/>
              </a:rPr>
              <a:t>2</a:t>
            </a:r>
            <a:r>
              <a:rPr lang="es-PE" dirty="0">
                <a:latin typeface="NewBaskerville-Roman"/>
              </a:rPr>
              <a:t>. Ambos gases </a:t>
            </a:r>
            <a:r>
              <a:rPr lang="es-PE" dirty="0" smtClean="0">
                <a:latin typeface="NewBaskerville-Roman"/>
              </a:rPr>
              <a:t>están </a:t>
            </a:r>
            <a:r>
              <a:rPr lang="es-PE" dirty="0">
                <a:latin typeface="NewBaskerville-Roman"/>
              </a:rPr>
              <a:t>a temperatura ambiente y a </a:t>
            </a:r>
            <a:r>
              <a:rPr lang="es-PE" dirty="0" smtClean="0">
                <a:latin typeface="NewBaskerville-Roman"/>
              </a:rPr>
              <a:t>presión atmosférica. </a:t>
            </a:r>
            <a:r>
              <a:rPr lang="es-PE" dirty="0">
                <a:latin typeface="NewBaskerville-Roman"/>
              </a:rPr>
              <a:t>Se retira el separador y se permite que los </a:t>
            </a:r>
            <a:r>
              <a:rPr lang="es-PE" dirty="0" smtClean="0">
                <a:latin typeface="NewBaskerville-Roman"/>
              </a:rPr>
              <a:t>gases se </a:t>
            </a:r>
            <a:r>
              <a:rPr lang="es-PE" dirty="0">
                <a:latin typeface="NewBaskerville-Roman"/>
              </a:rPr>
              <a:t>mezclen. ¿Cual es el aumento en </a:t>
            </a:r>
            <a:r>
              <a:rPr lang="es-PE" dirty="0" smtClean="0">
                <a:latin typeface="NewBaskerville-Roman"/>
              </a:rPr>
              <a:t>entropía </a:t>
            </a:r>
            <a:r>
              <a:rPr lang="es-PE" dirty="0">
                <a:latin typeface="NewBaskerville-Roman"/>
              </a:rPr>
              <a:t>del sistema?</a:t>
            </a:r>
            <a:endParaRPr lang="es-PE" dirty="0"/>
          </a:p>
        </p:txBody>
      </p:sp>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7096" y="4702240"/>
            <a:ext cx="2826143" cy="1750829"/>
          </a:xfrm>
          <a:prstGeom prst="rect">
            <a:avLst/>
          </a:prstGeom>
        </p:spPr>
      </p:pic>
    </p:spTree>
    <p:extLst>
      <p:ext uri="{BB962C8B-B14F-4D97-AF65-F5344CB8AC3E}">
        <p14:creationId xmlns:p14="http://schemas.microsoft.com/office/powerpoint/2010/main" val="24408023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712640" y="908720"/>
            <a:ext cx="1944216"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dirty="0" smtClean="0">
                <a:solidFill>
                  <a:schemeClr val="tx1"/>
                </a:solidFill>
              </a:rPr>
              <a:t>EJERCICIO</a:t>
            </a:r>
            <a:endParaRPr lang="es-PE" sz="2400" b="1" dirty="0">
              <a:solidFill>
                <a:schemeClr val="tx1"/>
              </a:solidFill>
            </a:endParaRPr>
          </a:p>
        </p:txBody>
      </p:sp>
      <p:sp>
        <p:nvSpPr>
          <p:cNvPr id="3" name="Rectángulo 2"/>
          <p:cNvSpPr/>
          <p:nvPr/>
        </p:nvSpPr>
        <p:spPr>
          <a:xfrm>
            <a:off x="272480" y="1743151"/>
            <a:ext cx="4428491" cy="2308324"/>
          </a:xfrm>
          <a:prstGeom prst="rect">
            <a:avLst/>
          </a:prstGeom>
        </p:spPr>
        <p:txBody>
          <a:bodyPr wrap="square">
            <a:spAutoFit/>
          </a:bodyPr>
          <a:lstStyle/>
          <a:p>
            <a:pPr algn="just"/>
            <a:r>
              <a:rPr lang="es-PE" dirty="0"/>
              <a:t>Suponga que </a:t>
            </a:r>
            <a:r>
              <a:rPr lang="es-PE" dirty="0" smtClean="0"/>
              <a:t>1,00 </a:t>
            </a:r>
            <a:r>
              <a:rPr lang="es-PE" dirty="0"/>
              <a:t>kg de agua a </a:t>
            </a:r>
            <a:r>
              <a:rPr lang="es-PE" dirty="0" smtClean="0"/>
              <a:t>10,0°C </a:t>
            </a:r>
            <a:r>
              <a:rPr lang="es-PE" dirty="0"/>
              <a:t>se mezcla con </a:t>
            </a:r>
            <a:r>
              <a:rPr lang="es-PE" dirty="0" smtClean="0"/>
              <a:t>1,00 kg de </a:t>
            </a:r>
            <a:r>
              <a:rPr lang="es-PE" dirty="0"/>
              <a:t>agua a 30.0°C a </a:t>
            </a:r>
            <a:r>
              <a:rPr lang="es-PE" dirty="0" smtClean="0"/>
              <a:t>presión </a:t>
            </a:r>
            <a:r>
              <a:rPr lang="es-PE" dirty="0"/>
              <a:t>constante. Cuando la mezcla </a:t>
            </a:r>
            <a:r>
              <a:rPr lang="es-PE" dirty="0" smtClean="0"/>
              <a:t>llega al </a:t>
            </a:r>
            <a:r>
              <a:rPr lang="es-PE" dirty="0"/>
              <a:t>equilibrio, a) ¿cual es la temperatura final? b) </a:t>
            </a:r>
            <a:r>
              <a:rPr lang="es-PE" dirty="0" smtClean="0"/>
              <a:t>Considere C</a:t>
            </a:r>
            <a:r>
              <a:rPr lang="es-PE" baseline="-25000" dirty="0" smtClean="0"/>
              <a:t>P</a:t>
            </a:r>
            <a:r>
              <a:rPr lang="es-PE" dirty="0" smtClean="0"/>
              <a:t>= </a:t>
            </a:r>
            <a:r>
              <a:rPr lang="es-PE" dirty="0"/>
              <a:t>4.19 kJ/kg · K para el agua y </a:t>
            </a:r>
            <a:r>
              <a:rPr lang="es-PE" dirty="0" smtClean="0"/>
              <a:t>determine </a:t>
            </a:r>
            <a:r>
              <a:rPr lang="es-PE" dirty="0"/>
              <a:t>la </a:t>
            </a:r>
            <a:r>
              <a:rPr lang="es-PE" dirty="0" smtClean="0"/>
              <a:t>entropía del </a:t>
            </a:r>
            <a:r>
              <a:rPr lang="es-PE" dirty="0"/>
              <a:t>sistema </a:t>
            </a:r>
            <a:r>
              <a:rPr lang="es-PE" dirty="0" smtClean="0"/>
              <a:t> </a:t>
            </a:r>
            <a:r>
              <a:rPr lang="es-PE" dirty="0"/>
              <a:t>c) </a:t>
            </a:r>
            <a:r>
              <a:rPr lang="es-PE" dirty="0"/>
              <a:t>¿El mezclado es un proceso irreversible</a:t>
            </a:r>
            <a:r>
              <a:rPr lang="es-PE" dirty="0" smtClean="0"/>
              <a:t>?  Explique </a:t>
            </a:r>
            <a:r>
              <a:rPr lang="es-PE" dirty="0"/>
              <a:t>como lo sabe</a:t>
            </a:r>
            <a:r>
              <a:rPr lang="es-PE" dirty="0" smtClean="0"/>
              <a:t>. </a:t>
            </a:r>
            <a:endParaRPr lang="es-PE" dirty="0"/>
          </a:p>
        </p:txBody>
      </p:sp>
      <p:pic>
        <p:nvPicPr>
          <p:cNvPr id="18434" name="Picture 2" descr="Resultado de imagen para mezcla de agua tibia y fr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520" y="4358838"/>
            <a:ext cx="2808312" cy="153521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1032" y="4556050"/>
            <a:ext cx="1733792" cy="2295845"/>
          </a:xfrm>
          <a:prstGeom prst="rect">
            <a:avLst/>
          </a:prstGeom>
        </p:spPr>
      </p:pic>
      <p:sp>
        <p:nvSpPr>
          <p:cNvPr id="10" name="CuadroTexto 9"/>
          <p:cNvSpPr txBox="1"/>
          <p:nvPr/>
        </p:nvSpPr>
        <p:spPr>
          <a:xfrm>
            <a:off x="5097016" y="1743151"/>
            <a:ext cx="4359284" cy="2862322"/>
          </a:xfrm>
          <a:prstGeom prst="rect">
            <a:avLst/>
          </a:prstGeom>
          <a:noFill/>
        </p:spPr>
        <p:txBody>
          <a:bodyPr wrap="square" rtlCol="0">
            <a:spAutoFit/>
          </a:bodyPr>
          <a:lstStyle/>
          <a:p>
            <a:pPr algn="just"/>
            <a:r>
              <a:rPr lang="es-PE" dirty="0" smtClean="0"/>
              <a:t>En el experimento de Joule se agitan 20,0 kg de agua dentro de un recipiente aislado térmicamente, y se encuentran que deben gastarse 83660 J de trabajo externo para elevar la temperatura del agua desde 15,0 °</a:t>
            </a:r>
            <a:r>
              <a:rPr lang="es-PE" dirty="0"/>
              <a:t>C</a:t>
            </a:r>
            <a:r>
              <a:rPr lang="es-PE" dirty="0" smtClean="0"/>
              <a:t>  hasta 16,0 </a:t>
            </a:r>
            <a:r>
              <a:rPr lang="es-PE" dirty="0"/>
              <a:t>°</a:t>
            </a:r>
            <a:r>
              <a:rPr lang="es-PE" dirty="0" smtClean="0"/>
              <a:t>C. Encuentre (a) el cambio de energía interna del sistema (b)</a:t>
            </a:r>
            <a:r>
              <a:rPr lang="es-PE" dirty="0"/>
              <a:t> el cambio de energía interna </a:t>
            </a:r>
            <a:r>
              <a:rPr lang="es-PE" dirty="0" smtClean="0"/>
              <a:t>de los alrededores (c) el cambio de entropía del sistema (d)</a:t>
            </a:r>
            <a:r>
              <a:rPr lang="es-PE" dirty="0"/>
              <a:t> el cambio de </a:t>
            </a:r>
            <a:r>
              <a:rPr lang="es-PE" dirty="0" smtClean="0"/>
              <a:t>entropía de los alrededores</a:t>
            </a:r>
            <a:endParaRPr lang="es-PE" dirty="0"/>
          </a:p>
        </p:txBody>
      </p:sp>
    </p:spTree>
    <p:extLst>
      <p:ext uri="{BB962C8B-B14F-4D97-AF65-F5344CB8AC3E}">
        <p14:creationId xmlns:p14="http://schemas.microsoft.com/office/powerpoint/2010/main" val="18926892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4467322"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PROCESO ISÓCORO (REVERSIBLE)</a:t>
            </a:r>
            <a:endParaRPr lang="es-PE" sz="2400" dirty="0">
              <a:solidFill>
                <a:schemeClr val="tx1"/>
              </a:solidFill>
            </a:endParaRPr>
          </a:p>
        </p:txBody>
      </p:sp>
      <p:sp>
        <p:nvSpPr>
          <p:cNvPr id="6" name="Rectangle 3"/>
          <p:cNvSpPr txBox="1">
            <a:spLocks noChangeArrowheads="1"/>
          </p:cNvSpPr>
          <p:nvPr/>
        </p:nvSpPr>
        <p:spPr>
          <a:xfrm>
            <a:off x="776536" y="1844824"/>
            <a:ext cx="4835525" cy="4530725"/>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80000"/>
              </a:lnSpc>
              <a:buClrTx/>
              <a:defRPr/>
            </a:pPr>
            <a:r>
              <a:rPr lang="es-ES" sz="2000" dirty="0" smtClean="0">
                <a:solidFill>
                  <a:schemeClr val="tx1"/>
                </a:solidFill>
              </a:rPr>
              <a:t>El calor y la variación de entropía no son proporcionales</a:t>
            </a:r>
          </a:p>
          <a:p>
            <a:pPr>
              <a:lnSpc>
                <a:spcPct val="80000"/>
              </a:lnSpc>
              <a:defRPr/>
            </a:pPr>
            <a:endParaRPr lang="es-ES" sz="2000" dirty="0" smtClean="0">
              <a:solidFill>
                <a:schemeClr val="tx1"/>
              </a:solidFill>
            </a:endParaRPr>
          </a:p>
          <a:p>
            <a:pPr>
              <a:lnSpc>
                <a:spcPct val="80000"/>
              </a:lnSpc>
              <a:buClrTx/>
              <a:defRPr/>
            </a:pPr>
            <a:r>
              <a:rPr lang="es-ES" sz="2000" dirty="0" smtClean="0">
                <a:solidFill>
                  <a:schemeClr val="tx1"/>
                </a:solidFill>
              </a:rPr>
              <a:t>V= </a:t>
            </a:r>
            <a:r>
              <a:rPr lang="es-ES" sz="2000" dirty="0" err="1" smtClean="0">
                <a:solidFill>
                  <a:schemeClr val="tx1"/>
                </a:solidFill>
              </a:rPr>
              <a:t>cte</a:t>
            </a:r>
            <a:endParaRPr lang="es-ES" sz="2000" dirty="0" smtClean="0">
              <a:solidFill>
                <a:schemeClr val="tx1"/>
              </a:solidFill>
            </a:endParaRPr>
          </a:p>
          <a:p>
            <a:pPr>
              <a:lnSpc>
                <a:spcPct val="80000"/>
              </a:lnSpc>
              <a:buFont typeface="Wingdings" panose="05000000000000000000" pitchFamily="2" charset="2"/>
              <a:buNone/>
              <a:defRPr/>
            </a:pPr>
            <a:endParaRPr lang="es-ES" sz="2000" dirty="0" smtClean="0">
              <a:solidFill>
                <a:schemeClr val="tx1"/>
              </a:solidFill>
            </a:endParaRPr>
          </a:p>
          <a:p>
            <a:pPr>
              <a:lnSpc>
                <a:spcPct val="80000"/>
              </a:lnSpc>
              <a:buFont typeface="Wingdings" panose="05000000000000000000" pitchFamily="2" charset="2"/>
              <a:buNone/>
              <a:defRPr/>
            </a:pPr>
            <a:endParaRPr lang="es-ES" sz="2000" dirty="0" smtClean="0">
              <a:solidFill>
                <a:schemeClr val="tx1"/>
              </a:solidFill>
            </a:endParaRPr>
          </a:p>
          <a:p>
            <a:pPr>
              <a:lnSpc>
                <a:spcPct val="80000"/>
              </a:lnSpc>
              <a:buClrTx/>
              <a:defRPr/>
            </a:pPr>
            <a:r>
              <a:rPr lang="es-ES" sz="2000" dirty="0" smtClean="0">
                <a:solidFill>
                  <a:schemeClr val="tx1"/>
                </a:solidFill>
              </a:rPr>
              <a:t>Si el sistema aumenta de temperatura</a:t>
            </a:r>
          </a:p>
          <a:p>
            <a:pPr>
              <a:lnSpc>
                <a:spcPct val="80000"/>
              </a:lnSpc>
              <a:defRPr/>
            </a:pPr>
            <a:endParaRPr lang="es-ES" sz="2000" dirty="0" smtClean="0">
              <a:solidFill>
                <a:schemeClr val="tx1"/>
              </a:solidFill>
            </a:endParaRPr>
          </a:p>
          <a:p>
            <a:pPr marL="0" indent="0">
              <a:lnSpc>
                <a:spcPct val="80000"/>
              </a:lnSpc>
              <a:buNone/>
              <a:defRPr/>
            </a:pPr>
            <a:endParaRPr lang="es-ES" sz="2000" dirty="0">
              <a:solidFill>
                <a:schemeClr val="tx1"/>
              </a:solidFill>
            </a:endParaRPr>
          </a:p>
          <a:p>
            <a:pPr marL="0" indent="0">
              <a:lnSpc>
                <a:spcPct val="80000"/>
              </a:lnSpc>
              <a:buNone/>
              <a:defRPr/>
            </a:pPr>
            <a:endParaRPr lang="es-ES" sz="2000" dirty="0" smtClean="0">
              <a:solidFill>
                <a:schemeClr val="tx1"/>
              </a:solidFill>
            </a:endParaRPr>
          </a:p>
          <a:p>
            <a:pPr>
              <a:lnSpc>
                <a:spcPct val="80000"/>
              </a:lnSpc>
              <a:buClrTx/>
              <a:defRPr/>
            </a:pPr>
            <a:r>
              <a:rPr lang="es-ES" sz="2000" dirty="0" smtClean="0">
                <a:solidFill>
                  <a:schemeClr val="tx1"/>
                </a:solidFill>
              </a:rPr>
              <a:t>Si el proceso es reversible</a:t>
            </a:r>
          </a:p>
          <a:p>
            <a:pPr>
              <a:lnSpc>
                <a:spcPct val="80000"/>
              </a:lnSpc>
              <a:defRPr/>
            </a:pPr>
            <a:endParaRPr lang="es-ES" sz="2000" dirty="0" smtClean="0">
              <a:solidFill>
                <a:schemeClr val="tx1"/>
              </a:solidFill>
            </a:endParaRPr>
          </a:p>
          <a:p>
            <a:pPr>
              <a:lnSpc>
                <a:spcPct val="80000"/>
              </a:lnSpc>
              <a:defRPr/>
            </a:pPr>
            <a:endParaRPr lang="es-ES" sz="2000" dirty="0" smtClean="0">
              <a:solidFill>
                <a:schemeClr val="tx1"/>
              </a:solidFill>
            </a:endParaRPr>
          </a:p>
          <a:p>
            <a:pPr>
              <a:lnSpc>
                <a:spcPct val="80000"/>
              </a:lnSpc>
              <a:buClrTx/>
              <a:defRPr/>
            </a:pPr>
            <a:r>
              <a:rPr lang="es-ES" sz="2000" dirty="0" smtClean="0">
                <a:solidFill>
                  <a:schemeClr val="tx1"/>
                </a:solidFill>
              </a:rPr>
              <a:t>En procesos irreversibles</a:t>
            </a:r>
          </a:p>
        </p:txBody>
      </p:sp>
      <p:graphicFrame>
        <p:nvGraphicFramePr>
          <p:cNvPr id="7" name="Object 4"/>
          <p:cNvGraphicFramePr>
            <a:graphicFrameLocks noChangeAspect="1"/>
          </p:cNvGraphicFramePr>
          <p:nvPr>
            <p:extLst>
              <p:ext uri="{D42A27DB-BD31-4B8C-83A1-F6EECF244321}">
                <p14:modId xmlns:p14="http://schemas.microsoft.com/office/powerpoint/2010/main" val="2539553178"/>
              </p:ext>
            </p:extLst>
          </p:nvPr>
        </p:nvGraphicFramePr>
        <p:xfrm>
          <a:off x="6978899" y="2594124"/>
          <a:ext cx="2035175" cy="887413"/>
        </p:xfrm>
        <a:graphic>
          <a:graphicData uri="http://schemas.openxmlformats.org/presentationml/2006/ole">
            <mc:AlternateContent xmlns:mc="http://schemas.openxmlformats.org/markup-compatibility/2006">
              <mc:Choice xmlns:v="urn:schemas-microsoft-com:vml" Requires="v">
                <p:oleObj spid="_x0000_s17452" name="Ecuación" r:id="rId3" imgW="990170" imgH="431613" progId="Equation.3">
                  <p:embed/>
                </p:oleObj>
              </mc:Choice>
              <mc:Fallback>
                <p:oleObj name="Ecuación" r:id="rId3" imgW="990170" imgH="4316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8899" y="2594124"/>
                        <a:ext cx="2035175" cy="887413"/>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9" name="Object 5"/>
          <p:cNvGraphicFramePr>
            <a:graphicFrameLocks noChangeAspect="1"/>
          </p:cNvGraphicFramePr>
          <p:nvPr>
            <p:extLst>
              <p:ext uri="{D42A27DB-BD31-4B8C-83A1-F6EECF244321}">
                <p14:modId xmlns:p14="http://schemas.microsoft.com/office/powerpoint/2010/main" val="2486033948"/>
              </p:ext>
            </p:extLst>
          </p:nvPr>
        </p:nvGraphicFramePr>
        <p:xfrm>
          <a:off x="5766842" y="4110186"/>
          <a:ext cx="1296987" cy="522288"/>
        </p:xfrm>
        <a:graphic>
          <a:graphicData uri="http://schemas.openxmlformats.org/presentationml/2006/ole">
            <mc:AlternateContent xmlns:mc="http://schemas.openxmlformats.org/markup-compatibility/2006">
              <mc:Choice xmlns:v="urn:schemas-microsoft-com:vml" Requires="v">
                <p:oleObj spid="_x0000_s17453" name="Ecuación" r:id="rId5" imgW="596900" imgH="241300" progId="Equation.3">
                  <p:embed/>
                </p:oleObj>
              </mc:Choice>
              <mc:Fallback>
                <p:oleObj name="Ecuación" r:id="rId5" imgW="5969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6842" y="4110186"/>
                        <a:ext cx="1296987" cy="522288"/>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10" name="Object 6"/>
          <p:cNvGraphicFramePr>
            <a:graphicFrameLocks noChangeAspect="1"/>
          </p:cNvGraphicFramePr>
          <p:nvPr>
            <p:extLst>
              <p:ext uri="{D42A27DB-BD31-4B8C-83A1-F6EECF244321}">
                <p14:modId xmlns:p14="http://schemas.microsoft.com/office/powerpoint/2010/main" val="2028328410"/>
              </p:ext>
            </p:extLst>
          </p:nvPr>
        </p:nvGraphicFramePr>
        <p:xfrm>
          <a:off x="5529064" y="4918938"/>
          <a:ext cx="3725863" cy="522288"/>
        </p:xfrm>
        <a:graphic>
          <a:graphicData uri="http://schemas.openxmlformats.org/presentationml/2006/ole">
            <mc:AlternateContent xmlns:mc="http://schemas.openxmlformats.org/markup-compatibility/2006">
              <mc:Choice xmlns:v="urn:schemas-microsoft-com:vml" Requires="v">
                <p:oleObj spid="_x0000_s17454" name="Ecuación" r:id="rId7" imgW="1714500" imgH="241300" progId="Equation.3">
                  <p:embed/>
                </p:oleObj>
              </mc:Choice>
              <mc:Fallback>
                <p:oleObj name="Ecuación" r:id="rId7" imgW="1714500" imgH="241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9064" y="4918938"/>
                        <a:ext cx="3725863" cy="522288"/>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
        <p:nvSpPr>
          <p:cNvPr id="11" name="AutoShape 7"/>
          <p:cNvSpPr>
            <a:spLocks noChangeArrowheads="1"/>
          </p:cNvSpPr>
          <p:nvPr/>
        </p:nvSpPr>
        <p:spPr bwMode="auto">
          <a:xfrm>
            <a:off x="3866779" y="4081584"/>
            <a:ext cx="647700" cy="504825"/>
          </a:xfrm>
          <a:prstGeom prst="rightArrow">
            <a:avLst>
              <a:gd name="adj1" fmla="val 50000"/>
              <a:gd name="adj2" fmla="val 32075"/>
            </a:avLst>
          </a:prstGeom>
          <a:solidFill>
            <a:schemeClr val="tx2">
              <a:lumMod val="60000"/>
              <a:lumOff val="40000"/>
            </a:schemeClr>
          </a:solidFill>
          <a:ln w="9525">
            <a:no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graphicFrame>
        <p:nvGraphicFramePr>
          <p:cNvPr id="12" name="Object 8"/>
          <p:cNvGraphicFramePr>
            <a:graphicFrameLocks noChangeAspect="1"/>
          </p:cNvGraphicFramePr>
          <p:nvPr>
            <p:extLst>
              <p:ext uri="{D42A27DB-BD31-4B8C-83A1-F6EECF244321}">
                <p14:modId xmlns:p14="http://schemas.microsoft.com/office/powerpoint/2010/main" val="2880225892"/>
              </p:ext>
            </p:extLst>
          </p:nvPr>
        </p:nvGraphicFramePr>
        <p:xfrm>
          <a:off x="3019674" y="2521099"/>
          <a:ext cx="3036887" cy="950913"/>
        </p:xfrm>
        <a:graphic>
          <a:graphicData uri="http://schemas.openxmlformats.org/presentationml/2006/ole">
            <mc:AlternateContent xmlns:mc="http://schemas.openxmlformats.org/markup-compatibility/2006">
              <mc:Choice xmlns:v="urn:schemas-microsoft-com:vml" Requires="v">
                <p:oleObj spid="_x0000_s17455" name="Ecuación" r:id="rId9" imgW="1256755" imgH="393529" progId="Equation.3">
                  <p:embed/>
                </p:oleObj>
              </mc:Choice>
              <mc:Fallback>
                <p:oleObj name="Ecuación" r:id="rId9" imgW="1256755" imgH="39352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9674" y="2521099"/>
                        <a:ext cx="3036887" cy="950913"/>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
        <p:nvSpPr>
          <p:cNvPr id="13" name="AutoShape 9"/>
          <p:cNvSpPr>
            <a:spLocks noChangeArrowheads="1"/>
          </p:cNvSpPr>
          <p:nvPr/>
        </p:nvSpPr>
        <p:spPr bwMode="auto">
          <a:xfrm>
            <a:off x="6115299" y="2881462"/>
            <a:ext cx="792162" cy="287337"/>
          </a:xfrm>
          <a:prstGeom prst="leftRightArrow">
            <a:avLst>
              <a:gd name="adj1" fmla="val 50000"/>
              <a:gd name="adj2" fmla="val 55138"/>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graphicFrame>
        <p:nvGraphicFramePr>
          <p:cNvPr id="15" name="Object 10"/>
          <p:cNvGraphicFramePr>
            <a:graphicFrameLocks noChangeAspect="1"/>
          </p:cNvGraphicFramePr>
          <p:nvPr>
            <p:extLst>
              <p:ext uri="{D42A27DB-BD31-4B8C-83A1-F6EECF244321}">
                <p14:modId xmlns:p14="http://schemas.microsoft.com/office/powerpoint/2010/main" val="3580763539"/>
              </p:ext>
            </p:extLst>
          </p:nvPr>
        </p:nvGraphicFramePr>
        <p:xfrm>
          <a:off x="5684292" y="5926287"/>
          <a:ext cx="1379537" cy="495300"/>
        </p:xfrm>
        <a:graphic>
          <a:graphicData uri="http://schemas.openxmlformats.org/presentationml/2006/ole">
            <mc:AlternateContent xmlns:mc="http://schemas.openxmlformats.org/markup-compatibility/2006">
              <mc:Choice xmlns:v="urn:schemas-microsoft-com:vml" Requires="v">
                <p:oleObj spid="_x0000_s17456" name="Ecuación" r:id="rId11" imgW="634725" imgH="228501" progId="Equation.3">
                  <p:embed/>
                </p:oleObj>
              </mc:Choice>
              <mc:Fallback>
                <p:oleObj name="Ecuación" r:id="rId11" imgW="634725" imgH="228501"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84292" y="5926287"/>
                        <a:ext cx="1379537" cy="495300"/>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graphicFrame>
        <p:nvGraphicFramePr>
          <p:cNvPr id="16" name="Object 13"/>
          <p:cNvGraphicFramePr>
            <a:graphicFrameLocks noChangeAspect="1"/>
          </p:cNvGraphicFramePr>
          <p:nvPr>
            <p:extLst>
              <p:ext uri="{D42A27DB-BD31-4B8C-83A1-F6EECF244321}">
                <p14:modId xmlns:p14="http://schemas.microsoft.com/office/powerpoint/2010/main" val="2867772663"/>
              </p:ext>
            </p:extLst>
          </p:nvPr>
        </p:nvGraphicFramePr>
        <p:xfrm>
          <a:off x="5754936" y="1801962"/>
          <a:ext cx="2244725" cy="496887"/>
        </p:xfrm>
        <a:graphic>
          <a:graphicData uri="http://schemas.openxmlformats.org/presentationml/2006/ole">
            <mc:AlternateContent xmlns:mc="http://schemas.openxmlformats.org/markup-compatibility/2006">
              <mc:Choice xmlns:v="urn:schemas-microsoft-com:vml" Requires="v">
                <p:oleObj spid="_x0000_s17457" name="Ecuación" r:id="rId13" imgW="1091726" imgH="241195" progId="Equation.3">
                  <p:embed/>
                </p:oleObj>
              </mc:Choice>
              <mc:Fallback>
                <p:oleObj name="Ecuación" r:id="rId13" imgW="1091726" imgH="241195"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54936" y="1801962"/>
                        <a:ext cx="2244725" cy="496887"/>
                      </a:xfrm>
                      <a:prstGeom prst="rect">
                        <a:avLst/>
                      </a:prstGeom>
                      <a:solidFill>
                        <a:schemeClr val="tx2">
                          <a:lumMod val="60000"/>
                          <a:lumOff val="40000"/>
                        </a:schemeClr>
                      </a:solidFill>
                      <a:ln w="38100">
                        <a:noFill/>
                        <a:miter lim="800000"/>
                        <a:headEnd/>
                        <a:tailEnd/>
                      </a:ln>
                      <a:effectLst/>
                    </p:spPr>
                  </p:pic>
                </p:oleObj>
              </mc:Fallback>
            </mc:AlternateContent>
          </a:graphicData>
        </a:graphic>
      </p:graphicFrame>
    </p:spTree>
    <p:extLst>
      <p:ext uri="{BB962C8B-B14F-4D97-AF65-F5344CB8AC3E}">
        <p14:creationId xmlns:p14="http://schemas.microsoft.com/office/powerpoint/2010/main" val="2757460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712640" y="908720"/>
            <a:ext cx="1944216"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dirty="0" smtClean="0">
                <a:solidFill>
                  <a:schemeClr val="tx1"/>
                </a:solidFill>
              </a:rPr>
              <a:t>EJERCICIO</a:t>
            </a:r>
            <a:endParaRPr lang="es-PE" sz="2400" b="1" dirty="0">
              <a:solidFill>
                <a:schemeClr val="tx1"/>
              </a:solidFill>
            </a:endParaRPr>
          </a:p>
        </p:txBody>
      </p:sp>
      <p:sp>
        <p:nvSpPr>
          <p:cNvPr id="4" name="Rectángulo 3"/>
          <p:cNvSpPr/>
          <p:nvPr/>
        </p:nvSpPr>
        <p:spPr>
          <a:xfrm>
            <a:off x="344488" y="1786511"/>
            <a:ext cx="8928992" cy="1754326"/>
          </a:xfrm>
          <a:prstGeom prst="rect">
            <a:avLst/>
          </a:prstGeom>
        </p:spPr>
        <p:txBody>
          <a:bodyPr wrap="square">
            <a:spAutoFit/>
          </a:bodyPr>
          <a:lstStyle/>
          <a:p>
            <a:pPr algn="just"/>
            <a:r>
              <a:rPr lang="es-PE" dirty="0">
                <a:latin typeface="NewBaskerville-Roman"/>
              </a:rPr>
              <a:t>Una muestra de 1.00 mol de un gas ideal </a:t>
            </a:r>
            <a:r>
              <a:rPr lang="es-PE" dirty="0" smtClean="0">
                <a:latin typeface="NewBaskerville-Roman"/>
              </a:rPr>
              <a:t>monoatómico se lleva </a:t>
            </a:r>
            <a:r>
              <a:rPr lang="es-PE" dirty="0">
                <a:latin typeface="NewBaskerville-Roman"/>
              </a:rPr>
              <a:t>a </a:t>
            </a:r>
            <a:r>
              <a:rPr lang="es-PE" dirty="0" smtClean="0">
                <a:latin typeface="NewBaskerville-Roman"/>
              </a:rPr>
              <a:t>través </a:t>
            </a:r>
            <a:r>
              <a:rPr lang="es-PE" dirty="0">
                <a:latin typeface="NewBaskerville-Roman"/>
              </a:rPr>
              <a:t>del ciclo que se muestra en la </a:t>
            </a:r>
            <a:r>
              <a:rPr lang="es-PE" dirty="0" smtClean="0">
                <a:latin typeface="NewBaskerville-Roman"/>
              </a:rPr>
              <a:t>figura. El proceso </a:t>
            </a:r>
            <a:r>
              <a:rPr lang="es-PE" i="1" dirty="0">
                <a:latin typeface="NewBaskerville-Italic"/>
              </a:rPr>
              <a:t>A </a:t>
            </a:r>
            <a:r>
              <a:rPr lang="es-PE" i="1" dirty="0" smtClean="0">
                <a:latin typeface="Calibri" panose="020F0502020204030204" pitchFamily="34" charset="0"/>
              </a:rPr>
              <a:t>→ </a:t>
            </a:r>
            <a:r>
              <a:rPr lang="es-PE" i="1" dirty="0" smtClean="0">
                <a:latin typeface="NewBaskerville-Italic"/>
              </a:rPr>
              <a:t>B </a:t>
            </a:r>
            <a:r>
              <a:rPr lang="es-PE" dirty="0">
                <a:latin typeface="NewBaskerville-Roman"/>
              </a:rPr>
              <a:t>es una </a:t>
            </a:r>
            <a:r>
              <a:rPr lang="es-PE" dirty="0" smtClean="0">
                <a:latin typeface="NewBaskerville-Roman"/>
              </a:rPr>
              <a:t>expansión isotérmica </a:t>
            </a:r>
            <a:r>
              <a:rPr lang="es-PE" dirty="0">
                <a:latin typeface="NewBaskerville-Roman"/>
              </a:rPr>
              <a:t>reversible. </a:t>
            </a:r>
            <a:r>
              <a:rPr lang="es-PE" dirty="0" smtClean="0">
                <a:latin typeface="NewBaskerville-Roman"/>
              </a:rPr>
              <a:t>Calcule: a</a:t>
            </a:r>
            <a:r>
              <a:rPr lang="es-PE" dirty="0">
                <a:latin typeface="NewBaskerville-Roman"/>
              </a:rPr>
              <a:t>) el trabajo neto realizado por el gas, b) la </a:t>
            </a:r>
            <a:r>
              <a:rPr lang="es-PE" dirty="0" smtClean="0">
                <a:latin typeface="NewBaskerville-Roman"/>
              </a:rPr>
              <a:t>energía agregada al </a:t>
            </a:r>
            <a:r>
              <a:rPr lang="es-PE" dirty="0">
                <a:latin typeface="NewBaskerville-Roman"/>
              </a:rPr>
              <a:t>gas por calor, c) la </a:t>
            </a:r>
            <a:r>
              <a:rPr lang="es-PE" dirty="0" smtClean="0">
                <a:latin typeface="NewBaskerville-Roman"/>
              </a:rPr>
              <a:t>variación de entropía del gas </a:t>
            </a:r>
            <a:r>
              <a:rPr lang="es-PE" dirty="0">
                <a:latin typeface="NewBaskerville-Roman"/>
              </a:rPr>
              <a:t>y </a:t>
            </a:r>
            <a:r>
              <a:rPr lang="es-PE" dirty="0" smtClean="0">
                <a:latin typeface="NewBaskerville-Roman"/>
              </a:rPr>
              <a:t>d) la </a:t>
            </a:r>
            <a:r>
              <a:rPr lang="es-PE" dirty="0">
                <a:latin typeface="NewBaskerville-Roman"/>
              </a:rPr>
              <a:t>eficiencia del ciclo. e) Explique como se compara la </a:t>
            </a:r>
            <a:r>
              <a:rPr lang="es-PE" dirty="0" smtClean="0">
                <a:latin typeface="NewBaskerville-Roman"/>
              </a:rPr>
              <a:t>eficiencia con </a:t>
            </a:r>
            <a:r>
              <a:rPr lang="es-PE" dirty="0">
                <a:latin typeface="NewBaskerville-Roman"/>
              </a:rPr>
              <a:t>la de una maquina de Carnot que funciona entre </a:t>
            </a:r>
            <a:r>
              <a:rPr lang="es-PE" dirty="0" smtClean="0">
                <a:latin typeface="NewBaskerville-Roman"/>
              </a:rPr>
              <a:t>los mismos </a:t>
            </a:r>
            <a:r>
              <a:rPr lang="es-PE" dirty="0">
                <a:latin typeface="NewBaskerville-Roman"/>
              </a:rPr>
              <a:t>extremos de temperatura.</a:t>
            </a:r>
            <a:endParaRPr lang="es-PE" dirty="0"/>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512" y="3645024"/>
            <a:ext cx="3456384" cy="2905811"/>
          </a:xfrm>
          <a:prstGeom prst="rect">
            <a:avLst/>
          </a:prstGeom>
        </p:spPr>
      </p:pic>
    </p:spTree>
    <p:extLst>
      <p:ext uri="{BB962C8B-B14F-4D97-AF65-F5344CB8AC3E}">
        <p14:creationId xmlns:p14="http://schemas.microsoft.com/office/powerpoint/2010/main" val="39088294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712640" y="764704"/>
            <a:ext cx="6912768" cy="4616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b="1" dirty="0" smtClean="0">
                <a:solidFill>
                  <a:schemeClr val="tx1"/>
                </a:solidFill>
              </a:rPr>
              <a:t>ENTROPÍA Y SEGUNDA LEY DE LA TERMODINÁMICA</a:t>
            </a:r>
            <a:endParaRPr lang="es-PE" sz="2800" b="1" dirty="0">
              <a:solidFill>
                <a:schemeClr val="tx1"/>
              </a:solidFill>
            </a:endParaRPr>
          </a:p>
        </p:txBody>
      </p:sp>
      <p:sp>
        <p:nvSpPr>
          <p:cNvPr id="6" name="Rectangle 3"/>
          <p:cNvSpPr txBox="1">
            <a:spLocks noChangeArrowheads="1"/>
          </p:cNvSpPr>
          <p:nvPr/>
        </p:nvSpPr>
        <p:spPr>
          <a:xfrm>
            <a:off x="457200" y="1600200"/>
            <a:ext cx="8889678" cy="4997450"/>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lnSpc>
                <a:spcPct val="150000"/>
              </a:lnSpc>
              <a:buClrTx/>
              <a:defRPr/>
            </a:pPr>
            <a:r>
              <a:rPr lang="es-ES" sz="2400" dirty="0" smtClean="0">
                <a:solidFill>
                  <a:schemeClr val="tx1"/>
                </a:solidFill>
              </a:rPr>
              <a:t>La segunda ley de la termodinámica determina la dirección preferida de los procesos irreversibles de la naturaleza            				</a:t>
            </a:r>
            <a:r>
              <a:rPr lang="es-ES" sz="2400" b="1" dirty="0" smtClean="0">
                <a:solidFill>
                  <a:schemeClr val="tx1"/>
                </a:solidFill>
              </a:rPr>
              <a:t>Hacia el máximo desorden.</a:t>
            </a:r>
          </a:p>
          <a:p>
            <a:pPr algn="just">
              <a:lnSpc>
                <a:spcPct val="150000"/>
              </a:lnSpc>
              <a:buClrTx/>
              <a:defRPr/>
            </a:pPr>
            <a:r>
              <a:rPr lang="es-ES" sz="2400" dirty="0" smtClean="0">
                <a:solidFill>
                  <a:schemeClr val="tx1"/>
                </a:solidFill>
              </a:rPr>
              <a:t>Si se incluyen todos los sistemas que participan en un proceso, la entropía se mantiene constante o aumenta.</a:t>
            </a:r>
          </a:p>
          <a:p>
            <a:pPr marL="0" indent="0" algn="just">
              <a:lnSpc>
                <a:spcPct val="200000"/>
              </a:lnSpc>
              <a:buNone/>
              <a:defRPr/>
            </a:pPr>
            <a:endParaRPr lang="es-ES" sz="2400" dirty="0" smtClean="0">
              <a:solidFill>
                <a:schemeClr val="tx1"/>
              </a:solidFill>
            </a:endParaRPr>
          </a:p>
          <a:p>
            <a:pPr algn="just">
              <a:lnSpc>
                <a:spcPct val="150000"/>
              </a:lnSpc>
              <a:buClrTx/>
              <a:defRPr/>
            </a:pPr>
            <a:r>
              <a:rPr lang="es-ES" sz="2400" dirty="0" smtClean="0">
                <a:solidFill>
                  <a:schemeClr val="tx1"/>
                </a:solidFill>
              </a:rPr>
              <a:t>Procesos reversibles        </a:t>
            </a:r>
            <a:r>
              <a:rPr lang="es-ES" sz="2400" b="1" dirty="0" smtClean="0">
                <a:solidFill>
                  <a:schemeClr val="tx1"/>
                </a:solidFill>
                <a:latin typeface="Symbol" panose="05050102010706020507" pitchFamily="18" charset="2"/>
              </a:rPr>
              <a:t>D</a:t>
            </a:r>
            <a:r>
              <a:rPr lang="es-ES" sz="2400" b="1" dirty="0" smtClean="0">
                <a:solidFill>
                  <a:schemeClr val="tx1"/>
                </a:solidFill>
              </a:rPr>
              <a:t>S = 0</a:t>
            </a:r>
          </a:p>
          <a:p>
            <a:pPr algn="just">
              <a:lnSpc>
                <a:spcPct val="150000"/>
              </a:lnSpc>
              <a:buClrTx/>
              <a:defRPr/>
            </a:pPr>
            <a:r>
              <a:rPr lang="es-ES" sz="2400" dirty="0" smtClean="0">
                <a:solidFill>
                  <a:schemeClr val="tx1"/>
                </a:solidFill>
              </a:rPr>
              <a:t>Procesos irreversibles      </a:t>
            </a:r>
            <a:r>
              <a:rPr lang="es-ES" sz="2400" b="1" dirty="0" smtClean="0">
                <a:solidFill>
                  <a:schemeClr val="tx1"/>
                </a:solidFill>
                <a:latin typeface="Symbol" panose="05050102010706020507" pitchFamily="18" charset="2"/>
              </a:rPr>
              <a:t>D</a:t>
            </a:r>
            <a:r>
              <a:rPr lang="es-ES" sz="2400" b="1" dirty="0" smtClean="0">
                <a:solidFill>
                  <a:schemeClr val="tx1"/>
                </a:solidFill>
              </a:rPr>
              <a:t>S &gt; 0</a:t>
            </a:r>
          </a:p>
        </p:txBody>
      </p:sp>
      <p:sp>
        <p:nvSpPr>
          <p:cNvPr id="7" name="AutoShape 4"/>
          <p:cNvSpPr>
            <a:spLocks noChangeArrowheads="1"/>
          </p:cNvSpPr>
          <p:nvPr/>
        </p:nvSpPr>
        <p:spPr bwMode="auto">
          <a:xfrm>
            <a:off x="1210621" y="2769192"/>
            <a:ext cx="647700" cy="504825"/>
          </a:xfrm>
          <a:prstGeom prst="rightArrow">
            <a:avLst>
              <a:gd name="adj1" fmla="val 50000"/>
              <a:gd name="adj2" fmla="val 32075"/>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eaLnBrk="1" hangingPunct="1"/>
            <a:endParaRPr lang="es-PE"/>
          </a:p>
        </p:txBody>
      </p:sp>
      <p:sp>
        <p:nvSpPr>
          <p:cNvPr id="8" name="AutoShape 6"/>
          <p:cNvSpPr>
            <a:spLocks noChangeArrowheads="1"/>
          </p:cNvSpPr>
          <p:nvPr/>
        </p:nvSpPr>
        <p:spPr bwMode="auto">
          <a:xfrm>
            <a:off x="704528" y="4519612"/>
            <a:ext cx="8642350" cy="865188"/>
          </a:xfrm>
          <a:prstGeom prst="bevel">
            <a:avLst>
              <a:gd name="adj" fmla="val 12500"/>
            </a:avLst>
          </a:prstGeom>
          <a:solidFill>
            <a:schemeClr val="tx2">
              <a:lumMod val="60000"/>
              <a:lumOff val="40000"/>
            </a:schemeClr>
          </a:solidFill>
          <a:ln w="25400">
            <a:solidFill>
              <a:srgbClr val="FF0000"/>
            </a:solidFill>
            <a:miter lim="800000"/>
            <a:headEnd/>
            <a:tailEnd/>
          </a:ln>
          <a:effectLst/>
          <a:extLst/>
        </p:spPr>
        <p:txBody>
          <a:bodyPr wrap="none" anchor="ctr"/>
          <a:lstStyle/>
          <a:p>
            <a:pPr algn="ctr" eaLnBrk="1" hangingPunct="1">
              <a:lnSpc>
                <a:spcPct val="80000"/>
              </a:lnSpc>
              <a:spcBef>
                <a:spcPct val="20000"/>
              </a:spcBef>
              <a:buClr>
                <a:schemeClr val="hlink"/>
              </a:buClr>
              <a:buSzPct val="90000"/>
              <a:buFont typeface="Wingdings" panose="05000000000000000000" pitchFamily="2" charset="2"/>
              <a:buNone/>
              <a:defRPr/>
            </a:pPr>
            <a:endParaRPr lang="es-ES" sz="2800" b="1" dirty="0">
              <a:solidFill>
                <a:srgbClr val="311AB8"/>
              </a:solidFill>
              <a:effectLst>
                <a:outerShdw blurRad="38100" dist="38100" dir="2700000" algn="tl">
                  <a:srgbClr val="000000"/>
                </a:outerShdw>
              </a:effectLst>
            </a:endParaRPr>
          </a:p>
          <a:p>
            <a:pPr algn="ctr" eaLnBrk="1" hangingPunct="1">
              <a:lnSpc>
                <a:spcPct val="80000"/>
              </a:lnSpc>
              <a:spcBef>
                <a:spcPct val="20000"/>
              </a:spcBef>
              <a:buClr>
                <a:schemeClr val="hlink"/>
              </a:buClr>
              <a:buSzPct val="90000"/>
              <a:buFont typeface="Wingdings" panose="05000000000000000000" pitchFamily="2" charset="2"/>
              <a:buNone/>
              <a:defRPr/>
            </a:pPr>
            <a:r>
              <a:rPr lang="es-ES" sz="2800" b="1" dirty="0">
                <a:solidFill>
                  <a:srgbClr val="311AB8"/>
                </a:solidFill>
                <a:effectLst>
                  <a:outerShdw blurRad="38100" dist="38100" dir="2700000" algn="tl">
                    <a:srgbClr val="000000"/>
                  </a:outerShdw>
                </a:effectLst>
              </a:rPr>
              <a:t>La entropía del Universo nunca puede disminuir</a:t>
            </a:r>
          </a:p>
          <a:p>
            <a:pPr algn="ctr" eaLnBrk="1" hangingPunct="1">
              <a:defRPr/>
            </a:pPr>
            <a:endParaRPr lang="es-ES" dirty="0">
              <a:solidFill>
                <a:srgbClr val="311AB8"/>
              </a:solidFill>
            </a:endParaRPr>
          </a:p>
        </p:txBody>
      </p:sp>
    </p:spTree>
    <p:extLst>
      <p:ext uri="{BB962C8B-B14F-4D97-AF65-F5344CB8AC3E}">
        <p14:creationId xmlns:p14="http://schemas.microsoft.com/office/powerpoint/2010/main" val="28677960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712640" y="764704"/>
            <a:ext cx="6552728" cy="79208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b="1" dirty="0" smtClean="0">
                <a:solidFill>
                  <a:schemeClr val="tx1"/>
                </a:solidFill>
              </a:rPr>
              <a:t>OTROS ENUNCIADOS DE LA SEGUNDA LEY DE LA TERMODINÁMICA</a:t>
            </a:r>
            <a:endParaRPr lang="es-PE" sz="2800" b="1" dirty="0">
              <a:solidFill>
                <a:schemeClr val="tx1"/>
              </a:solidFill>
            </a:endParaRPr>
          </a:p>
        </p:txBody>
      </p:sp>
      <p:sp>
        <p:nvSpPr>
          <p:cNvPr id="7" name="Rectangle 4"/>
          <p:cNvSpPr txBox="1">
            <a:spLocks noChangeArrowheads="1"/>
          </p:cNvSpPr>
          <p:nvPr/>
        </p:nvSpPr>
        <p:spPr>
          <a:xfrm>
            <a:off x="457200" y="1600200"/>
            <a:ext cx="4038600" cy="4530725"/>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Tx/>
              <a:defRPr/>
            </a:pPr>
            <a:endParaRPr lang="es-ES" sz="2400" b="1" dirty="0" smtClean="0">
              <a:solidFill>
                <a:schemeClr val="tx1"/>
              </a:solidFill>
            </a:endParaRPr>
          </a:p>
          <a:p>
            <a:pPr>
              <a:buClrTx/>
              <a:defRPr/>
            </a:pPr>
            <a:r>
              <a:rPr lang="es-ES" sz="2400" b="1" dirty="0" smtClean="0">
                <a:solidFill>
                  <a:schemeClr val="tx1"/>
                </a:solidFill>
              </a:rPr>
              <a:t>Máquina térmica (Kelvin):</a:t>
            </a:r>
          </a:p>
          <a:p>
            <a:pPr algn="just">
              <a:buFont typeface="Wingdings" panose="05000000000000000000" pitchFamily="2" charset="2"/>
              <a:buNone/>
              <a:defRPr/>
            </a:pPr>
            <a:r>
              <a:rPr lang="es-ES" sz="2800" dirty="0" smtClean="0">
                <a:solidFill>
                  <a:schemeClr val="tx1"/>
                </a:solidFill>
              </a:rPr>
              <a:t>   </a:t>
            </a:r>
            <a:r>
              <a:rPr lang="es-ES" sz="1800" dirty="0" smtClean="0">
                <a:solidFill>
                  <a:schemeClr val="tx1"/>
                </a:solidFill>
              </a:rPr>
              <a:t>Es imposible extraer calor de un sistema a una sola temperatura y convertirlo en trabajo mecánico sin que el sistema o los alrededores cambien de algún modo.</a:t>
            </a:r>
          </a:p>
        </p:txBody>
      </p:sp>
      <p:sp>
        <p:nvSpPr>
          <p:cNvPr id="9" name="Rectangle 5"/>
          <p:cNvSpPr txBox="1">
            <a:spLocks noChangeArrowheads="1"/>
          </p:cNvSpPr>
          <p:nvPr/>
        </p:nvSpPr>
        <p:spPr>
          <a:xfrm>
            <a:off x="4648200" y="1600200"/>
            <a:ext cx="4038600" cy="4530725"/>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Tx/>
              <a:defRPr/>
            </a:pPr>
            <a:endParaRPr lang="es-ES" sz="2400" b="1" dirty="0" smtClean="0">
              <a:solidFill>
                <a:schemeClr val="tx1"/>
              </a:solidFill>
            </a:endParaRPr>
          </a:p>
          <a:p>
            <a:pPr>
              <a:buClrTx/>
              <a:defRPr/>
            </a:pPr>
            <a:r>
              <a:rPr lang="es-ES" sz="2400" b="1" dirty="0" smtClean="0">
                <a:solidFill>
                  <a:schemeClr val="tx1"/>
                </a:solidFill>
              </a:rPr>
              <a:t>Refrigerador térmico (</a:t>
            </a:r>
            <a:r>
              <a:rPr lang="es-ES" sz="2400" b="1" dirty="0" err="1" smtClean="0">
                <a:solidFill>
                  <a:schemeClr val="tx1"/>
                </a:solidFill>
              </a:rPr>
              <a:t>Clausius</a:t>
            </a:r>
            <a:r>
              <a:rPr lang="es-ES" sz="2400" b="1" dirty="0" smtClean="0">
                <a:solidFill>
                  <a:schemeClr val="tx1"/>
                </a:solidFill>
              </a:rPr>
              <a:t>):</a:t>
            </a:r>
          </a:p>
          <a:p>
            <a:pPr algn="just">
              <a:buFont typeface="Wingdings" panose="05000000000000000000" pitchFamily="2" charset="2"/>
              <a:buNone/>
              <a:defRPr/>
            </a:pPr>
            <a:r>
              <a:rPr lang="es-ES" sz="2800" dirty="0" smtClean="0">
                <a:solidFill>
                  <a:schemeClr val="tx1"/>
                </a:solidFill>
              </a:rPr>
              <a:t>   </a:t>
            </a:r>
            <a:r>
              <a:rPr lang="es-ES" sz="1800" dirty="0" smtClean="0">
                <a:solidFill>
                  <a:schemeClr val="tx1"/>
                </a:solidFill>
              </a:rPr>
              <a:t>Es imposible un proceso espontáneo cuyo único resultado sea el paso de calor de un objeto a otro de mayor temperatura.</a:t>
            </a:r>
          </a:p>
        </p:txBody>
      </p:sp>
      <p:grpSp>
        <p:nvGrpSpPr>
          <p:cNvPr id="10" name="Group 25"/>
          <p:cNvGrpSpPr>
            <a:grpSpLocks/>
          </p:cNvGrpSpPr>
          <p:nvPr/>
        </p:nvGrpSpPr>
        <p:grpSpPr bwMode="auto">
          <a:xfrm>
            <a:off x="1067244" y="4904581"/>
            <a:ext cx="2590800" cy="1584325"/>
            <a:chOff x="567" y="2795"/>
            <a:chExt cx="1632" cy="998"/>
          </a:xfrm>
        </p:grpSpPr>
        <p:sp>
          <p:nvSpPr>
            <p:cNvPr id="11" name="Rectangle 6"/>
            <p:cNvSpPr>
              <a:spLocks noChangeArrowheads="1"/>
            </p:cNvSpPr>
            <p:nvPr/>
          </p:nvSpPr>
          <p:spPr bwMode="auto">
            <a:xfrm>
              <a:off x="657" y="2795"/>
              <a:ext cx="908" cy="318"/>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lang="es-ES" sz="2000">
                  <a:solidFill>
                    <a:srgbClr val="311AB8"/>
                  </a:solidFill>
                </a:rPr>
                <a:t>T</a:t>
              </a:r>
            </a:p>
          </p:txBody>
        </p:sp>
        <p:sp>
          <p:nvSpPr>
            <p:cNvPr id="12" name="Oval 7"/>
            <p:cNvSpPr>
              <a:spLocks noChangeArrowheads="1"/>
            </p:cNvSpPr>
            <p:nvPr/>
          </p:nvSpPr>
          <p:spPr bwMode="auto">
            <a:xfrm>
              <a:off x="567" y="3430"/>
              <a:ext cx="1406" cy="363"/>
            </a:xfrm>
            <a:prstGeom prst="ellipse">
              <a:avLst/>
            </a:prstGeom>
            <a:gradFill rotWithShape="1">
              <a:gsLst>
                <a:gs pos="0">
                  <a:srgbClr val="681560"/>
                </a:gs>
                <a:gs pos="50000">
                  <a:srgbClr val="E02ECF"/>
                </a:gs>
                <a:gs pos="100000">
                  <a:srgbClr val="681560"/>
                </a:gs>
              </a:gsLst>
              <a:lin ang="5400000" scaled="1"/>
            </a:gra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eaLnBrk="1" hangingPunct="1"/>
              <a:r>
                <a:rPr lang="es-ES">
                  <a:solidFill>
                    <a:srgbClr val="311AB8"/>
                  </a:solidFill>
                </a:rPr>
                <a:t>Máquina</a:t>
              </a:r>
            </a:p>
          </p:txBody>
        </p:sp>
        <p:sp>
          <p:nvSpPr>
            <p:cNvPr id="13" name="AutoShape 9"/>
            <p:cNvSpPr>
              <a:spLocks noChangeArrowheads="1"/>
            </p:cNvSpPr>
            <p:nvPr/>
          </p:nvSpPr>
          <p:spPr bwMode="auto">
            <a:xfrm>
              <a:off x="884" y="3022"/>
              <a:ext cx="453" cy="454"/>
            </a:xfrm>
            <a:prstGeom prst="downArrow">
              <a:avLst>
                <a:gd name="adj1" fmla="val 50000"/>
                <a:gd name="adj2" fmla="val 25055"/>
              </a:avLst>
            </a:prstGeom>
            <a:gradFill rotWithShape="1">
              <a:gsLst>
                <a:gs pos="0">
                  <a:srgbClr val="746F09"/>
                </a:gs>
                <a:gs pos="50000">
                  <a:srgbClr val="FBF013"/>
                </a:gs>
                <a:gs pos="100000">
                  <a:srgbClr val="746F09"/>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eaLnBrk="1" hangingPunct="1"/>
              <a:r>
                <a:rPr lang="es-ES">
                  <a:solidFill>
                    <a:srgbClr val="311AB8"/>
                  </a:solidFill>
                </a:rPr>
                <a:t>Q</a:t>
              </a:r>
            </a:p>
          </p:txBody>
        </p:sp>
        <p:sp>
          <p:nvSpPr>
            <p:cNvPr id="15" name="AutoShape 10"/>
            <p:cNvSpPr>
              <a:spLocks noChangeArrowheads="1"/>
            </p:cNvSpPr>
            <p:nvPr/>
          </p:nvSpPr>
          <p:spPr bwMode="auto">
            <a:xfrm>
              <a:off x="1746" y="3385"/>
              <a:ext cx="453" cy="408"/>
            </a:xfrm>
            <a:prstGeom prst="rightArrow">
              <a:avLst>
                <a:gd name="adj1" fmla="val 50000"/>
                <a:gd name="adj2" fmla="val 27757"/>
              </a:avLst>
            </a:prstGeom>
            <a:gradFill rotWithShape="1">
              <a:gsLst>
                <a:gs pos="0">
                  <a:srgbClr val="746F09"/>
                </a:gs>
                <a:gs pos="50000">
                  <a:srgbClr val="FBF013"/>
                </a:gs>
                <a:gs pos="100000">
                  <a:srgbClr val="746F09"/>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eaLnBrk="1" hangingPunct="1"/>
              <a:r>
                <a:rPr lang="es-ES">
                  <a:solidFill>
                    <a:srgbClr val="311AB8"/>
                  </a:solidFill>
                </a:rPr>
                <a:t>W</a:t>
              </a:r>
            </a:p>
          </p:txBody>
        </p:sp>
      </p:grpSp>
      <p:grpSp>
        <p:nvGrpSpPr>
          <p:cNvPr id="16" name="Group 32"/>
          <p:cNvGrpSpPr>
            <a:grpSpLocks/>
          </p:cNvGrpSpPr>
          <p:nvPr/>
        </p:nvGrpSpPr>
        <p:grpSpPr bwMode="auto">
          <a:xfrm>
            <a:off x="5673303" y="4365104"/>
            <a:ext cx="2232025" cy="2233612"/>
            <a:chOff x="3470" y="2659"/>
            <a:chExt cx="1406" cy="1407"/>
          </a:xfrm>
        </p:grpSpPr>
        <p:sp>
          <p:nvSpPr>
            <p:cNvPr id="17" name="Rectangle 20"/>
            <p:cNvSpPr>
              <a:spLocks noChangeArrowheads="1"/>
            </p:cNvSpPr>
            <p:nvPr/>
          </p:nvSpPr>
          <p:spPr bwMode="auto">
            <a:xfrm>
              <a:off x="3651" y="2659"/>
              <a:ext cx="908" cy="318"/>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lang="es-ES" sz="2000">
                  <a:solidFill>
                    <a:srgbClr val="311AB8"/>
                  </a:solidFill>
                </a:rPr>
                <a:t>T</a:t>
              </a:r>
              <a:r>
                <a:rPr lang="es-ES" sz="2000" baseline="-25000">
                  <a:solidFill>
                    <a:srgbClr val="311AB8"/>
                  </a:solidFill>
                </a:rPr>
                <a:t>h</a:t>
              </a:r>
            </a:p>
          </p:txBody>
        </p:sp>
        <p:sp>
          <p:nvSpPr>
            <p:cNvPr id="18" name="Oval 21"/>
            <p:cNvSpPr>
              <a:spLocks noChangeArrowheads="1"/>
            </p:cNvSpPr>
            <p:nvPr/>
          </p:nvSpPr>
          <p:spPr bwMode="auto">
            <a:xfrm>
              <a:off x="3470" y="3203"/>
              <a:ext cx="1406" cy="363"/>
            </a:xfrm>
            <a:prstGeom prst="ellipse">
              <a:avLst/>
            </a:prstGeom>
            <a:gradFill rotWithShape="1">
              <a:gsLst>
                <a:gs pos="0">
                  <a:srgbClr val="681560"/>
                </a:gs>
                <a:gs pos="50000">
                  <a:srgbClr val="E02ECF"/>
                </a:gs>
                <a:gs pos="100000">
                  <a:srgbClr val="681560"/>
                </a:gs>
              </a:gsLst>
              <a:lin ang="5400000" scaled="1"/>
            </a:gra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eaLnBrk="1" hangingPunct="1"/>
              <a:r>
                <a:rPr lang="es-ES">
                  <a:solidFill>
                    <a:srgbClr val="311AB8"/>
                  </a:solidFill>
                </a:rPr>
                <a:t>Refrigerador</a:t>
              </a:r>
            </a:p>
          </p:txBody>
        </p:sp>
        <p:sp>
          <p:nvSpPr>
            <p:cNvPr id="19" name="AutoShape 26"/>
            <p:cNvSpPr>
              <a:spLocks noChangeArrowheads="1"/>
            </p:cNvSpPr>
            <p:nvPr/>
          </p:nvSpPr>
          <p:spPr bwMode="auto">
            <a:xfrm>
              <a:off x="3878" y="2931"/>
              <a:ext cx="453" cy="317"/>
            </a:xfrm>
            <a:prstGeom prst="upArrow">
              <a:avLst>
                <a:gd name="adj1" fmla="val 50000"/>
                <a:gd name="adj2" fmla="val 25000"/>
              </a:avLst>
            </a:prstGeom>
            <a:gradFill rotWithShape="1">
              <a:gsLst>
                <a:gs pos="0">
                  <a:srgbClr val="746F09"/>
                </a:gs>
                <a:gs pos="50000">
                  <a:srgbClr val="FBF013"/>
                </a:gs>
                <a:gs pos="100000">
                  <a:srgbClr val="746F09"/>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eaLnBrk="1" hangingPunct="1"/>
              <a:r>
                <a:rPr lang="es-ES">
                  <a:solidFill>
                    <a:srgbClr val="311AB8"/>
                  </a:solidFill>
                </a:rPr>
                <a:t>Q</a:t>
              </a:r>
              <a:r>
                <a:rPr lang="es-ES" baseline="-25000">
                  <a:solidFill>
                    <a:srgbClr val="311AB8"/>
                  </a:solidFill>
                </a:rPr>
                <a:t>h</a:t>
              </a:r>
            </a:p>
          </p:txBody>
        </p:sp>
        <p:sp>
          <p:nvSpPr>
            <p:cNvPr id="20" name="Rectangle 29"/>
            <p:cNvSpPr>
              <a:spLocks noChangeArrowheads="1"/>
            </p:cNvSpPr>
            <p:nvPr/>
          </p:nvSpPr>
          <p:spPr bwMode="auto">
            <a:xfrm>
              <a:off x="3742" y="3748"/>
              <a:ext cx="908" cy="318"/>
            </a:xfrm>
            <a:prstGeom prst="rect">
              <a:avLst/>
            </a:prstGeom>
            <a:gradFill rotWithShape="1">
              <a:gsLst>
                <a:gs pos="0">
                  <a:srgbClr val="170C55"/>
                </a:gs>
                <a:gs pos="50000">
                  <a:srgbClr val="311AB8"/>
                </a:gs>
                <a:gs pos="100000">
                  <a:srgbClr val="170C55"/>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eaLnBrk="1" hangingPunct="1"/>
              <a:r>
                <a:rPr lang="es-ES" sz="2000">
                  <a:solidFill>
                    <a:srgbClr val="DD031D"/>
                  </a:solidFill>
                </a:rPr>
                <a:t>T</a:t>
              </a:r>
              <a:r>
                <a:rPr lang="es-ES" sz="2000" baseline="-25000">
                  <a:solidFill>
                    <a:srgbClr val="DD031D"/>
                  </a:solidFill>
                </a:rPr>
                <a:t>c</a:t>
              </a:r>
            </a:p>
          </p:txBody>
        </p:sp>
        <p:sp>
          <p:nvSpPr>
            <p:cNvPr id="21" name="AutoShape 30"/>
            <p:cNvSpPr>
              <a:spLocks noChangeArrowheads="1"/>
            </p:cNvSpPr>
            <p:nvPr/>
          </p:nvSpPr>
          <p:spPr bwMode="auto">
            <a:xfrm>
              <a:off x="3923" y="3521"/>
              <a:ext cx="453" cy="317"/>
            </a:xfrm>
            <a:prstGeom prst="upArrow">
              <a:avLst>
                <a:gd name="adj1" fmla="val 50000"/>
                <a:gd name="adj2" fmla="val 25000"/>
              </a:avLst>
            </a:prstGeom>
            <a:gradFill rotWithShape="1">
              <a:gsLst>
                <a:gs pos="0">
                  <a:srgbClr val="746F09"/>
                </a:gs>
                <a:gs pos="50000">
                  <a:srgbClr val="FBF013"/>
                </a:gs>
                <a:gs pos="100000">
                  <a:srgbClr val="746F09"/>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eaLnBrk="1" hangingPunct="1"/>
              <a:r>
                <a:rPr lang="es-ES">
                  <a:solidFill>
                    <a:srgbClr val="311AB8"/>
                  </a:solidFill>
                </a:rPr>
                <a:t>Q</a:t>
              </a:r>
              <a:r>
                <a:rPr lang="es-ES" baseline="-25000">
                  <a:solidFill>
                    <a:srgbClr val="311AB8"/>
                  </a:solidFill>
                </a:rPr>
                <a:t>c</a:t>
              </a:r>
            </a:p>
          </p:txBody>
        </p:sp>
      </p:grpSp>
      <p:sp>
        <p:nvSpPr>
          <p:cNvPr id="22" name="Rectangle 16"/>
          <p:cNvSpPr>
            <a:spLocks noChangeArrowheads="1"/>
          </p:cNvSpPr>
          <p:nvPr/>
        </p:nvSpPr>
        <p:spPr bwMode="auto">
          <a:xfrm rot="20107051">
            <a:off x="395288" y="5512452"/>
            <a:ext cx="3113087" cy="260350"/>
          </a:xfrm>
          <a:prstGeom prst="rect">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eaLnBrk="1" hangingPunct="1"/>
            <a:r>
              <a:rPr lang="es-ES" dirty="0">
                <a:solidFill>
                  <a:srgbClr val="DD031D"/>
                </a:solidFill>
              </a:rPr>
              <a:t>No es posible</a:t>
            </a:r>
          </a:p>
        </p:txBody>
      </p:sp>
      <p:sp>
        <p:nvSpPr>
          <p:cNvPr id="23" name="Rectangle 31"/>
          <p:cNvSpPr>
            <a:spLocks noChangeArrowheads="1"/>
          </p:cNvSpPr>
          <p:nvPr/>
        </p:nvSpPr>
        <p:spPr bwMode="auto">
          <a:xfrm rot="20107051">
            <a:off x="5219700" y="5367990"/>
            <a:ext cx="3113088" cy="260350"/>
          </a:xfrm>
          <a:prstGeom prst="rect">
            <a:avLst/>
          </a:prstGeom>
          <a:solidFill>
            <a:schemeClr val="tx2">
              <a:lumMod val="60000"/>
              <a:lumOff val="40000"/>
            </a:schemeClr>
          </a:solidFill>
          <a:ln w="9525">
            <a:solidFill>
              <a:srgbClr val="FF0000"/>
            </a:solidFill>
            <a:miter lim="800000"/>
            <a:headEnd/>
            <a:tailEnd/>
          </a:ln>
          <a:effectLst/>
        </p:spPr>
        <p:txBody>
          <a:bodyPr wrap="none"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eaLnBrk="1" hangingPunct="1"/>
            <a:r>
              <a:rPr lang="es-ES">
                <a:solidFill>
                  <a:srgbClr val="DD031D"/>
                </a:solidFill>
              </a:rPr>
              <a:t>No es posible</a:t>
            </a:r>
          </a:p>
        </p:txBody>
      </p:sp>
    </p:spTree>
    <p:extLst>
      <p:ext uri="{BB962C8B-B14F-4D97-AF65-F5344CB8AC3E}">
        <p14:creationId xmlns:p14="http://schemas.microsoft.com/office/powerpoint/2010/main" val="13355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5" name="Rectángulo redondeado 14"/>
          <p:cNvSpPr/>
          <p:nvPr/>
        </p:nvSpPr>
        <p:spPr>
          <a:xfrm>
            <a:off x="1669791" y="868377"/>
            <a:ext cx="5731481"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TERCERA LEY, ENTROPIA Y PROBABILIDAD</a:t>
            </a:r>
            <a:endParaRPr lang="es-PE" sz="2400" dirty="0">
              <a:solidFill>
                <a:schemeClr val="tx1"/>
              </a:solidFill>
            </a:endParaRPr>
          </a:p>
        </p:txBody>
      </p:sp>
      <p:sp>
        <p:nvSpPr>
          <p:cNvPr id="10" name="Rectangle 5"/>
          <p:cNvSpPr>
            <a:spLocks noChangeArrowheads="1"/>
          </p:cNvSpPr>
          <p:nvPr/>
        </p:nvSpPr>
        <p:spPr bwMode="auto">
          <a:xfrm>
            <a:off x="560512" y="5157192"/>
            <a:ext cx="835292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SzPct val="80000"/>
              <a:buBlip>
                <a:blip r:embed="rId2"/>
              </a:buBlip>
              <a:defRPr sz="3200">
                <a:solidFill>
                  <a:schemeClr val="tx1"/>
                </a:solidFill>
                <a:latin typeface="Arial" panose="020B0604020202020204" pitchFamily="34" charset="0"/>
              </a:defRPr>
            </a:lvl1pPr>
            <a:lvl2pPr marL="742950" indent="-285750">
              <a:spcBef>
                <a:spcPct val="20000"/>
              </a:spcBef>
              <a:buClr>
                <a:schemeClr val="hlink"/>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SzTx/>
              <a:buFontTx/>
              <a:buNone/>
            </a:pPr>
            <a:r>
              <a:rPr lang="es-ES" sz="1800" dirty="0">
                <a:latin typeface="Times New Roman" panose="02020603050405020304" pitchFamily="18" charset="0"/>
              </a:rPr>
              <a:t>El Tercer Principio de la Termodinámica implica que si fuera posible alcanzar el “cero absoluto” de temperatura, la materia estaría totalmente “ordenada”. En el “cero absoluto de temperatura”, sólo hay una posible disposición de las moléculas, </a:t>
            </a:r>
            <a:r>
              <a:rPr lang="es-ES" sz="1800" dirty="0" err="1">
                <a:latin typeface="Times New Roman" panose="02020603050405020304" pitchFamily="18" charset="0"/>
              </a:rPr>
              <a:t>Sº</a:t>
            </a:r>
            <a:r>
              <a:rPr lang="es-ES" sz="1800" dirty="0">
                <a:latin typeface="Times New Roman" panose="02020603050405020304" pitchFamily="18" charset="0"/>
              </a:rPr>
              <a:t>(0K) =0 J/K. </a:t>
            </a:r>
          </a:p>
        </p:txBody>
      </p:sp>
      <p:sp>
        <p:nvSpPr>
          <p:cNvPr id="13" name="Text Box 2"/>
          <p:cNvSpPr txBox="1">
            <a:spLocks noChangeArrowheads="1"/>
          </p:cNvSpPr>
          <p:nvPr/>
        </p:nvSpPr>
        <p:spPr bwMode="auto">
          <a:xfrm>
            <a:off x="344489" y="1656819"/>
            <a:ext cx="912795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80000"/>
              <a:buBlip>
                <a:blip r:embed="rId2"/>
              </a:buBlip>
              <a:defRPr sz="3200">
                <a:solidFill>
                  <a:schemeClr val="tx1"/>
                </a:solidFill>
                <a:latin typeface="Arial" panose="020B0604020202020204" pitchFamily="34" charset="0"/>
              </a:defRPr>
            </a:lvl1pPr>
            <a:lvl2pPr marL="742950" indent="-285750">
              <a:spcBef>
                <a:spcPct val="20000"/>
              </a:spcBef>
              <a:buClr>
                <a:schemeClr val="hlink"/>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SzTx/>
              <a:buFontTx/>
              <a:buNone/>
            </a:pPr>
            <a:r>
              <a:rPr lang="es-ES_tradnl" sz="1800" dirty="0">
                <a:latin typeface="Times New Roman" panose="02020603050405020304" pitchFamily="18" charset="0"/>
              </a:rPr>
              <a:t>Un sistema desordenado es más probable que uno ordenado porque tiene más estados microscópicos disponibles.</a:t>
            </a:r>
            <a:endParaRPr lang="es-ES" sz="1800" dirty="0">
              <a:latin typeface="Times New Roman" panose="02020603050405020304" pitchFamily="18" charset="0"/>
            </a:endParaRPr>
          </a:p>
          <a:p>
            <a:pPr algn="just" eaLnBrk="1" hangingPunct="1">
              <a:spcBef>
                <a:spcPct val="0"/>
              </a:spcBef>
              <a:buSzTx/>
              <a:buFontTx/>
              <a:buNone/>
            </a:pPr>
            <a:r>
              <a:rPr lang="es-ES_tradnl" sz="1800" dirty="0" smtClean="0">
                <a:latin typeface="Times New Roman" panose="02020603050405020304" pitchFamily="18" charset="0"/>
              </a:rPr>
              <a:t>La </a:t>
            </a:r>
            <a:r>
              <a:rPr lang="es-ES_tradnl" sz="1800" dirty="0">
                <a:latin typeface="Times New Roman" panose="02020603050405020304" pitchFamily="18" charset="0"/>
              </a:rPr>
              <a:t>entropía tiene una tendencia natural a aumentar dado que corresponde al cambio de condiciones de baja probabilidad a estados de probabilidad mayor.</a:t>
            </a:r>
          </a:p>
        </p:txBody>
      </p:sp>
      <p:pic>
        <p:nvPicPr>
          <p:cNvPr id="16" name="Imagen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2905" y="2940168"/>
            <a:ext cx="5229955" cy="1991003"/>
          </a:xfrm>
          <a:prstGeom prst="rect">
            <a:avLst/>
          </a:prstGeom>
        </p:spPr>
      </p:pic>
    </p:spTree>
    <p:extLst>
      <p:ext uri="{BB962C8B-B14F-4D97-AF65-F5344CB8AC3E}">
        <p14:creationId xmlns:p14="http://schemas.microsoft.com/office/powerpoint/2010/main" val="1079660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5" name="Rectángulo redondeado 14"/>
          <p:cNvSpPr/>
          <p:nvPr/>
        </p:nvSpPr>
        <p:spPr>
          <a:xfrm>
            <a:off x="1669791" y="868377"/>
            <a:ext cx="5731481"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TERCERA LEY, ENTROPIA Y PROBABILIDAD</a:t>
            </a:r>
            <a:endParaRPr lang="es-PE" sz="2400" dirty="0">
              <a:solidFill>
                <a:schemeClr val="tx1"/>
              </a:solidFill>
            </a:endParaRPr>
          </a:p>
        </p:txBody>
      </p:sp>
      <p:sp>
        <p:nvSpPr>
          <p:cNvPr id="11" name="Rectangle 6"/>
          <p:cNvSpPr>
            <a:spLocks noChangeArrowheads="1"/>
          </p:cNvSpPr>
          <p:nvPr/>
        </p:nvSpPr>
        <p:spPr bwMode="auto">
          <a:xfrm>
            <a:off x="452202" y="1763030"/>
            <a:ext cx="860525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SzPct val="80000"/>
              <a:buBlip>
                <a:blip r:embed="rId2"/>
              </a:buBlip>
              <a:defRPr sz="3200">
                <a:solidFill>
                  <a:schemeClr val="tx1"/>
                </a:solidFill>
                <a:latin typeface="Arial" panose="020B0604020202020204" pitchFamily="34" charset="0"/>
              </a:defRPr>
            </a:lvl1pPr>
            <a:lvl2pPr marL="742950" indent="-285750">
              <a:spcBef>
                <a:spcPct val="20000"/>
              </a:spcBef>
              <a:buClr>
                <a:schemeClr val="hlink"/>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SzTx/>
              <a:buFontTx/>
              <a:buNone/>
            </a:pPr>
            <a:r>
              <a:rPr lang="es-ES_tradnl" sz="1800" dirty="0">
                <a:latin typeface="Times New Roman" panose="02020603050405020304" pitchFamily="18" charset="0"/>
              </a:rPr>
              <a:t>Al aumentar T, las moléculas, y los átomos que las constituyen adquieren una cierta movilidad, con lo que pueden adoptar varias orientaciones con la misma energía. Son posibles por tanto más “</a:t>
            </a:r>
            <a:r>
              <a:rPr lang="es-ES_tradnl" sz="1800" dirty="0" err="1">
                <a:latin typeface="Times New Roman" panose="02020603050405020304" pitchFamily="18" charset="0"/>
              </a:rPr>
              <a:t>microestados</a:t>
            </a:r>
            <a:r>
              <a:rPr lang="es-ES_tradnl" sz="1800" dirty="0">
                <a:latin typeface="Times New Roman" panose="02020603050405020304" pitchFamily="18" charset="0"/>
              </a:rPr>
              <a:t>”.</a:t>
            </a:r>
            <a:r>
              <a:rPr lang="es-ES" sz="1800" dirty="0">
                <a:latin typeface="Times New Roman" panose="02020603050405020304" pitchFamily="18" charset="0"/>
              </a:rPr>
              <a:t> </a:t>
            </a:r>
          </a:p>
        </p:txBody>
      </p:sp>
      <mc:AlternateContent xmlns:mc="http://schemas.openxmlformats.org/markup-compatibility/2006">
        <mc:Choice xmlns:a14="http://schemas.microsoft.com/office/drawing/2010/main" Requires="a14">
          <p:sp>
            <p:nvSpPr>
              <p:cNvPr id="4" name="CuadroTexto 3"/>
              <p:cNvSpPr txBox="1"/>
              <p:nvPr/>
            </p:nvSpPr>
            <p:spPr>
              <a:xfrm>
                <a:off x="3225498" y="2828578"/>
                <a:ext cx="131003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𝑆</m:t>
                      </m:r>
                      <m:r>
                        <a:rPr lang="es-PE" i="1" smtClean="0">
                          <a:latin typeface="Cambria Math" panose="02040503050406030204" pitchFamily="18" charset="0"/>
                        </a:rPr>
                        <m:t>=</m:t>
                      </m:r>
                      <m:r>
                        <a:rPr lang="es-PE" b="0" i="1" smtClean="0">
                          <a:latin typeface="Cambria Math" panose="02040503050406030204" pitchFamily="18" charset="0"/>
                        </a:rPr>
                        <m:t>𝑘</m:t>
                      </m:r>
                      <m:func>
                        <m:funcPr>
                          <m:ctrlPr>
                            <a:rPr lang="es-PE" b="0" i="1" smtClean="0">
                              <a:latin typeface="Cambria Math" panose="02040503050406030204" pitchFamily="18" charset="0"/>
                            </a:rPr>
                          </m:ctrlPr>
                        </m:funcPr>
                        <m:fName>
                          <m:r>
                            <m:rPr>
                              <m:sty m:val="p"/>
                            </m:rPr>
                            <a:rPr lang="es-PE" b="0" i="0" smtClean="0">
                              <a:latin typeface="Cambria Math" panose="02040503050406030204" pitchFamily="18" charset="0"/>
                            </a:rPr>
                            <m:t>ln</m:t>
                          </m:r>
                        </m:fName>
                        <m:e>
                          <m:r>
                            <a:rPr lang="es-PE" b="0" i="1" smtClean="0">
                              <a:latin typeface="Cambria Math" panose="02040503050406030204" pitchFamily="18" charset="0"/>
                            </a:rPr>
                            <m:t>𝑤</m:t>
                          </m:r>
                        </m:e>
                      </m:func>
                    </m:oMath>
                  </m:oMathPara>
                </a14:m>
                <a:endParaRPr lang="es-PE" dirty="0"/>
              </a:p>
            </p:txBody>
          </p:sp>
        </mc:Choice>
        <mc:Fallback>
          <p:sp>
            <p:nvSpPr>
              <p:cNvPr id="4" name="CuadroTexto 3"/>
              <p:cNvSpPr txBox="1">
                <a:spLocks noRot="1" noChangeAspect="1" noMove="1" noResize="1" noEditPoints="1" noAdjustHandles="1" noChangeArrowheads="1" noChangeShapeType="1" noTextEdit="1"/>
              </p:cNvSpPr>
              <p:nvPr/>
            </p:nvSpPr>
            <p:spPr>
              <a:xfrm>
                <a:off x="3225498" y="2828578"/>
                <a:ext cx="1310033" cy="276999"/>
              </a:xfrm>
              <a:prstGeom prst="rect">
                <a:avLst/>
              </a:prstGeom>
              <a:blipFill rotWithShape="0">
                <a:blip r:embed="rId3"/>
                <a:stretch>
                  <a:fillRect b="-8889"/>
                </a:stretch>
              </a:blipFill>
            </p:spPr>
            <p:txBody>
              <a:bodyPr/>
              <a:lstStyle/>
              <a:p>
                <a:r>
                  <a:rPr lang="es-PE">
                    <a:noFill/>
                  </a:rPr>
                  <a:t> </a:t>
                </a:r>
              </a:p>
            </p:txBody>
          </p:sp>
        </mc:Fallback>
      </mc:AlternateContent>
      <mc:AlternateContent xmlns:mc="http://schemas.openxmlformats.org/markup-compatibility/2006">
        <mc:Choice xmlns:a14="http://schemas.microsoft.com/office/drawing/2010/main" Requires="a14">
          <p:sp>
            <p:nvSpPr>
              <p:cNvPr id="14" name="CuadroTexto 13"/>
              <p:cNvSpPr txBox="1"/>
              <p:nvPr/>
            </p:nvSpPr>
            <p:spPr>
              <a:xfrm>
                <a:off x="560512" y="3247795"/>
                <a:ext cx="8912111" cy="2457468"/>
              </a:xfrm>
              <a:prstGeom prst="rect">
                <a:avLst/>
              </a:prstGeom>
              <a:noFill/>
            </p:spPr>
            <p:txBody>
              <a:bodyPr wrap="square" rtlCol="0">
                <a:spAutoFit/>
              </a:bodyPr>
              <a:lstStyle/>
              <a:p>
                <a:pPr algn="just"/>
                <a14:m>
                  <m:oMath xmlns:m="http://schemas.openxmlformats.org/officeDocument/2006/math">
                    <m:r>
                      <a:rPr lang="es-PE" b="0" i="1" smtClean="0">
                        <a:latin typeface="Cambria Math" panose="02040503050406030204" pitchFamily="18" charset="0"/>
                      </a:rPr>
                      <m:t>𝑘</m:t>
                    </m:r>
                    <m:r>
                      <a:rPr lang="es-PE" i="1" smtClean="0">
                        <a:latin typeface="Cambria Math" panose="02040503050406030204" pitchFamily="18" charset="0"/>
                      </a:rPr>
                      <m:t>=</m:t>
                    </m:r>
                    <m:f>
                      <m:fPr>
                        <m:ctrlPr>
                          <a:rPr lang="es-PE" i="1" smtClean="0">
                            <a:latin typeface="Cambria Math" panose="02040503050406030204" pitchFamily="18" charset="0"/>
                          </a:rPr>
                        </m:ctrlPr>
                      </m:fPr>
                      <m:num>
                        <m:r>
                          <a:rPr lang="es-PE" b="0" i="1" smtClean="0">
                            <a:latin typeface="Cambria Math" panose="02040503050406030204" pitchFamily="18" charset="0"/>
                          </a:rPr>
                          <m:t>𝑅</m:t>
                        </m:r>
                      </m:num>
                      <m:den>
                        <m:sSub>
                          <m:sSubPr>
                            <m:ctrlPr>
                              <a:rPr lang="es-PE" i="1" smtClean="0">
                                <a:latin typeface="Cambria Math" panose="02040503050406030204" pitchFamily="18" charset="0"/>
                              </a:rPr>
                            </m:ctrlPr>
                          </m:sSubPr>
                          <m:e>
                            <m:r>
                              <a:rPr lang="es-PE" b="0" i="1" smtClean="0">
                                <a:latin typeface="Cambria Math" panose="02040503050406030204" pitchFamily="18" charset="0"/>
                              </a:rPr>
                              <m:t>𝑁</m:t>
                            </m:r>
                          </m:e>
                          <m:sub>
                            <m:r>
                              <a:rPr lang="es-PE" b="0" i="1" smtClean="0">
                                <a:latin typeface="Cambria Math" panose="02040503050406030204" pitchFamily="18" charset="0"/>
                              </a:rPr>
                              <m:t>𝐴</m:t>
                            </m:r>
                          </m:sub>
                        </m:sSub>
                      </m:den>
                    </m:f>
                  </m:oMath>
                </a14:m>
                <a:r>
                  <a:rPr lang="es-PE" dirty="0" smtClean="0"/>
                  <a:t> ; k </a:t>
                </a:r>
                <a:r>
                  <a:rPr lang="es-PE" dirty="0" smtClean="0"/>
                  <a:t>es la constante de </a:t>
                </a:r>
                <a:r>
                  <a:rPr lang="es-PE" dirty="0" err="1" smtClean="0"/>
                  <a:t>Boltzmann</a:t>
                </a:r>
                <a:r>
                  <a:rPr lang="es-PE" dirty="0" smtClean="0"/>
                  <a:t>, R constante universal de los gases y </a:t>
                </a:r>
                <a14:m>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𝑁</m:t>
                        </m:r>
                      </m:e>
                      <m:sub>
                        <m:r>
                          <a:rPr lang="es-PE" b="0" i="1" smtClean="0">
                            <a:latin typeface="Cambria Math" panose="02040503050406030204" pitchFamily="18" charset="0"/>
                          </a:rPr>
                          <m:t>𝐴</m:t>
                        </m:r>
                      </m:sub>
                    </m:sSub>
                  </m:oMath>
                </a14:m>
                <a:r>
                  <a:rPr lang="es-PE" dirty="0" smtClean="0"/>
                  <a:t> número de Avogadro.</a:t>
                </a:r>
                <a:r>
                  <a:rPr lang="es-PE" dirty="0">
                    <a:latin typeface="Times New Roman" panose="02020603050405020304" pitchFamily="18" charset="0"/>
                    <a:cs typeface="Times New Roman" panose="02020603050405020304" pitchFamily="18" charset="0"/>
                  </a:rPr>
                  <a:t> En la práctica resulta difícil calcular </a:t>
                </a:r>
                <a:r>
                  <a:rPr lang="es-PE" i="1" dirty="0">
                    <a:latin typeface="Times New Roman" panose="02020603050405020304" pitchFamily="18" charset="0"/>
                    <a:cs typeface="Times New Roman" panose="02020603050405020304" pitchFamily="18" charset="0"/>
                  </a:rPr>
                  <a:t>w</a:t>
                </a:r>
                <a:r>
                  <a:rPr lang="es-PE" dirty="0">
                    <a:latin typeface="Times New Roman" panose="02020603050405020304" pitchFamily="18" charset="0"/>
                    <a:cs typeface="Times New Roman" panose="02020603050405020304" pitchFamily="18" charset="0"/>
                  </a:rPr>
                  <a:t>, por lo que la ecuación </a:t>
                </a:r>
                <a:r>
                  <a:rPr lang="es-PE" dirty="0">
                    <a:latin typeface="Times New Roman" panose="02020603050405020304" pitchFamily="18" charset="0"/>
                    <a:cs typeface="Times New Roman" panose="02020603050405020304" pitchFamily="18" charset="0"/>
                  </a:rPr>
                  <a:t> </a:t>
                </a:r>
                <a:r>
                  <a:rPr lang="es-PE" dirty="0">
                    <a:latin typeface="Times New Roman" panose="02020603050405020304" pitchFamily="18" charset="0"/>
                    <a:cs typeface="Times New Roman" panose="02020603050405020304" pitchFamily="18" charset="0"/>
                  </a:rPr>
                  <a:t>sólo </a:t>
                </a:r>
                <a:r>
                  <a:rPr lang="es-PE" dirty="0">
                    <a:latin typeface="Times New Roman" panose="02020603050405020304" pitchFamily="18" charset="0"/>
                    <a:cs typeface="Times New Roman" panose="02020603050405020304" pitchFamily="18" charset="0"/>
                  </a:rPr>
                  <a:t>suele usarse </a:t>
                </a:r>
                <a:r>
                  <a:rPr lang="es-PE" dirty="0">
                    <a:latin typeface="Times New Roman" panose="02020603050405020304" pitchFamily="18" charset="0"/>
                    <a:cs typeface="Times New Roman" panose="02020603050405020304" pitchFamily="18" charset="0"/>
                  </a:rPr>
                  <a:t>para calcular la </a:t>
                </a:r>
                <a:r>
                  <a:rPr lang="es-PE" dirty="0">
                    <a:latin typeface="Times New Roman" panose="02020603050405020304" pitchFamily="18" charset="0"/>
                    <a:cs typeface="Times New Roman" panose="02020603050405020304" pitchFamily="18" charset="0"/>
                  </a:rPr>
                  <a:t>entropía </a:t>
                </a:r>
                <a:r>
                  <a:rPr lang="es-PE" dirty="0">
                    <a:latin typeface="Times New Roman" panose="02020603050405020304" pitchFamily="18" charset="0"/>
                    <a:cs typeface="Times New Roman" panose="02020603050405020304" pitchFamily="18" charset="0"/>
                  </a:rPr>
                  <a:t>absoluta </a:t>
                </a:r>
                <a:r>
                  <a:rPr lang="es-PE" i="1" dirty="0">
                    <a:latin typeface="Times New Roman" panose="02020603050405020304" pitchFamily="18" charset="0"/>
                    <a:cs typeface="Times New Roman" panose="02020603050405020304" pitchFamily="18" charset="0"/>
                  </a:rPr>
                  <a:t>S </a:t>
                </a:r>
                <a:r>
                  <a:rPr lang="es-PE" dirty="0">
                    <a:latin typeface="Times New Roman" panose="02020603050405020304" pitchFamily="18" charset="0"/>
                    <a:cs typeface="Times New Roman" panose="02020603050405020304" pitchFamily="18" charset="0"/>
                  </a:rPr>
                  <a:t>de ciertos sistemas especiales. No </a:t>
                </a:r>
                <a:r>
                  <a:rPr lang="es-PE" dirty="0">
                    <a:latin typeface="Times New Roman" panose="02020603050405020304" pitchFamily="18" charset="0"/>
                    <a:cs typeface="Times New Roman" panose="02020603050405020304" pitchFamily="18" charset="0"/>
                  </a:rPr>
                  <a:t>obstante, podemos </a:t>
                </a:r>
                <a:r>
                  <a:rPr lang="es-PE" dirty="0">
                    <a:latin typeface="Times New Roman" panose="02020603050405020304" pitchFamily="18" charset="0"/>
                    <a:cs typeface="Times New Roman" panose="02020603050405020304" pitchFamily="18" charset="0"/>
                  </a:rPr>
                  <a:t>usar esta relación para calcular </a:t>
                </a:r>
                <a:r>
                  <a:rPr lang="es-PE" i="1" dirty="0">
                    <a:latin typeface="Times New Roman" panose="02020603050405020304" pitchFamily="18" charset="0"/>
                    <a:cs typeface="Times New Roman" panose="02020603050405020304" pitchFamily="18" charset="0"/>
                  </a:rPr>
                  <a:t>diferencias </a:t>
                </a:r>
                <a:r>
                  <a:rPr lang="es-PE" dirty="0">
                    <a:latin typeface="Times New Roman" panose="02020603050405020304" pitchFamily="18" charset="0"/>
                    <a:cs typeface="Times New Roman" panose="02020603050405020304" pitchFamily="18" charset="0"/>
                  </a:rPr>
                  <a:t>de entropía entre un estado </a:t>
                </a:r>
                <a:r>
                  <a:rPr lang="es-PE" dirty="0">
                    <a:latin typeface="Times New Roman" panose="02020603050405020304" pitchFamily="18" charset="0"/>
                    <a:cs typeface="Times New Roman" panose="02020603050405020304" pitchFamily="18" charset="0"/>
                  </a:rPr>
                  <a:t>y otro</a:t>
                </a:r>
                <a:r>
                  <a:rPr lang="es-PE" dirty="0">
                    <a:latin typeface="Times New Roman" panose="02020603050405020304" pitchFamily="18" charset="0"/>
                    <a:cs typeface="Times New Roman" panose="02020603050405020304" pitchFamily="18" charset="0"/>
                  </a:rPr>
                  <a:t>. Considere un sistema que experimenta un proceso termodinámico que lo </a:t>
                </a:r>
                <a:r>
                  <a:rPr lang="es-PE" dirty="0">
                    <a:latin typeface="Times New Roman" panose="02020603050405020304" pitchFamily="18" charset="0"/>
                    <a:cs typeface="Times New Roman" panose="02020603050405020304" pitchFamily="18" charset="0"/>
                  </a:rPr>
                  <a:t>lleva del </a:t>
                </a:r>
                <a:r>
                  <a:rPr lang="es-PE" dirty="0">
                    <a:latin typeface="Times New Roman" panose="02020603050405020304" pitchFamily="18" charset="0"/>
                    <a:cs typeface="Times New Roman" panose="02020603050405020304" pitchFamily="18" charset="0"/>
                  </a:rPr>
                  <a:t>estado macroscópico 1, que </a:t>
                </a:r>
                <a:r>
                  <a:rPr lang="es-PE" dirty="0"/>
                  <a:t>w</a:t>
                </a:r>
                <a:r>
                  <a:rPr lang="es-PE" baseline="-25000" dirty="0"/>
                  <a:t>1</a:t>
                </a:r>
                <a:r>
                  <a:rPr lang="es-PE" dirty="0">
                    <a:latin typeface="Times New Roman" panose="02020603050405020304" pitchFamily="18" charset="0"/>
                    <a:cs typeface="Times New Roman" panose="02020603050405020304" pitchFamily="18" charset="0"/>
                  </a:rPr>
                  <a:t> </a:t>
                </a:r>
                <a:r>
                  <a:rPr lang="es-PE" dirty="0">
                    <a:latin typeface="Times New Roman" panose="02020603050405020304" pitchFamily="18" charset="0"/>
                    <a:cs typeface="Times New Roman" panose="02020603050405020304" pitchFamily="18" charset="0"/>
                  </a:rPr>
                  <a:t>posibles estados microscópicos, al </a:t>
                </a:r>
                <a:r>
                  <a:rPr lang="es-PE" dirty="0">
                    <a:latin typeface="Times New Roman" panose="02020603050405020304" pitchFamily="18" charset="0"/>
                    <a:cs typeface="Times New Roman" panose="02020603050405020304" pitchFamily="18" charset="0"/>
                  </a:rPr>
                  <a:t>estado macroscópico </a:t>
                </a:r>
                <a:r>
                  <a:rPr lang="es-PE" dirty="0">
                    <a:latin typeface="Times New Roman" panose="02020603050405020304" pitchFamily="18" charset="0"/>
                    <a:cs typeface="Times New Roman" panose="02020603050405020304" pitchFamily="18" charset="0"/>
                  </a:rPr>
                  <a:t>2, que </a:t>
                </a:r>
                <a:r>
                  <a:rPr lang="es-PE" dirty="0">
                    <a:latin typeface="Times New Roman" panose="02020603050405020304" pitchFamily="18" charset="0"/>
                    <a:cs typeface="Times New Roman" panose="02020603050405020304" pitchFamily="18" charset="0"/>
                  </a:rPr>
                  <a:t>tiene </a:t>
                </a:r>
                <a:r>
                  <a:rPr lang="es-PE" dirty="0"/>
                  <a:t>w</a:t>
                </a:r>
                <a:r>
                  <a:rPr lang="es-PE" baseline="-25000" dirty="0"/>
                  <a:t>2</a:t>
                </a:r>
                <a14:m>
                  <m:oMath xmlns:m="http://schemas.openxmlformats.org/officeDocument/2006/math">
                    <m:r>
                      <a:rPr lang="es-PE">
                        <a:latin typeface="Cambria Math" panose="02040503050406030204" pitchFamily="18" charset="0"/>
                        <a:cs typeface="Times New Roman" panose="02020603050405020304" pitchFamily="18" charset="0"/>
                      </a:rPr>
                      <m:t> </m:t>
                    </m:r>
                  </m:oMath>
                </a14:m>
                <a:r>
                  <a:rPr lang="es-PE" dirty="0">
                    <a:latin typeface="Times New Roman" panose="02020603050405020304" pitchFamily="18" charset="0"/>
                    <a:cs typeface="Times New Roman" panose="02020603050405020304" pitchFamily="18" charset="0"/>
                  </a:rPr>
                  <a:t> estados microscópicos. El cambio de entropía en </a:t>
                </a:r>
                <a:r>
                  <a:rPr lang="es-PE" dirty="0">
                    <a:latin typeface="Times New Roman" panose="02020603050405020304" pitchFamily="18" charset="0"/>
                    <a:cs typeface="Times New Roman" panose="02020603050405020304" pitchFamily="18" charset="0"/>
                  </a:rPr>
                  <a:t>este proceso es: </a:t>
                </a:r>
              </a:p>
              <a:p>
                <a:pPr algn="just"/>
                <a:endParaRPr lang="es-PE" dirty="0"/>
              </a:p>
            </p:txBody>
          </p:sp>
        </mc:Choice>
        <mc:Fallback>
          <p:sp>
            <p:nvSpPr>
              <p:cNvPr id="14" name="CuadroTexto 13"/>
              <p:cNvSpPr txBox="1">
                <a:spLocks noRot="1" noChangeAspect="1" noMove="1" noResize="1" noEditPoints="1" noAdjustHandles="1" noChangeArrowheads="1" noChangeShapeType="1" noTextEdit="1"/>
              </p:cNvSpPr>
              <p:nvPr/>
            </p:nvSpPr>
            <p:spPr>
              <a:xfrm>
                <a:off x="560512" y="3247795"/>
                <a:ext cx="8912111" cy="2457468"/>
              </a:xfrm>
              <a:prstGeom prst="rect">
                <a:avLst/>
              </a:prstGeom>
              <a:blipFill rotWithShape="0">
                <a:blip r:embed="rId4"/>
                <a:stretch>
                  <a:fillRect l="-616" r="-547"/>
                </a:stretch>
              </a:blipFill>
            </p:spPr>
            <p:txBody>
              <a:bodyPr/>
              <a:lstStyle/>
              <a:p>
                <a:r>
                  <a:rPr lang="es-PE">
                    <a:noFill/>
                  </a:rPr>
                  <a:t> </a:t>
                </a:r>
              </a:p>
            </p:txBody>
          </p:sp>
        </mc:Fallback>
      </mc:AlternateContent>
      <mc:AlternateContent xmlns:mc="http://schemas.openxmlformats.org/markup-compatibility/2006">
        <mc:Choice xmlns:a14="http://schemas.microsoft.com/office/drawing/2010/main" Requires="a14">
          <p:sp>
            <p:nvSpPr>
              <p:cNvPr id="3" name="Rectángulo 2"/>
              <p:cNvSpPr/>
              <p:nvPr/>
            </p:nvSpPr>
            <p:spPr>
              <a:xfrm>
                <a:off x="249456" y="4221088"/>
                <a:ext cx="9010745" cy="2175724"/>
              </a:xfrm>
              <a:prstGeom prst="rect">
                <a:avLst/>
              </a:prstGeom>
            </p:spPr>
            <p:txBody>
              <a:bodyPr wrap="square">
                <a:spAutoFit/>
              </a:bodyPr>
              <a:lstStyle/>
              <a:p>
                <a:endParaRPr lang="es-PE" dirty="0" smtClean="0">
                  <a:latin typeface="Times New Roman" panose="02020603050405020304" pitchFamily="18" charset="0"/>
                  <a:cs typeface="Times New Roman" panose="02020603050405020304" pitchFamily="18" charset="0"/>
                </a:endParaRPr>
              </a:p>
              <a:p>
                <a:endParaRPr lang="es-PE" sz="2000" i="1" dirty="0" smtClean="0">
                  <a:latin typeface="Cambria Math" panose="02040503050406030204" pitchFamily="18" charset="0"/>
                  <a:ea typeface="Cambria Math" panose="02040503050406030204" pitchFamily="18" charset="0"/>
                  <a:cs typeface="Times New Roman" panose="02020603050405020304" pitchFamily="18" charset="0"/>
                </a:endParaRPr>
              </a:p>
              <a:p>
                <a:endParaRPr lang="es-PE" sz="2000" i="1" dirty="0" smtClean="0">
                  <a:latin typeface="Cambria Math" panose="02040503050406030204" pitchFamily="18" charset="0"/>
                  <a:ea typeface="Cambria Math" panose="02040503050406030204" pitchFamily="18" charset="0"/>
                  <a:cs typeface="Times New Roman" panose="02020603050405020304" pitchFamily="18" charset="0"/>
                </a:endParaRPr>
              </a:p>
              <a:p>
                <a:endParaRPr lang="es-PE" sz="2000" i="1" dirty="0" smtClean="0">
                  <a:latin typeface="Cambria Math" panose="02040503050406030204" pitchFamily="18" charset="0"/>
                  <a:ea typeface="Cambria Math" panose="02040503050406030204" pitchFamily="18" charset="0"/>
                  <a:cs typeface="Times New Roman" panose="02020603050405020304" pitchFamily="18" charset="0"/>
                </a:endParaRPr>
              </a:p>
              <a:p>
                <a:endParaRPr lang="es-PE" sz="2000" i="1" dirty="0" smtClean="0">
                  <a:latin typeface="Cambria Math" panose="02040503050406030204" pitchFamily="18" charset="0"/>
                  <a:ea typeface="Cambria Math" panose="020405030504060302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s-PE" sz="2000" i="1" smtClean="0">
                          <a:latin typeface="Cambria Math" panose="02040503050406030204" pitchFamily="18" charset="0"/>
                          <a:ea typeface="Cambria Math" panose="02040503050406030204" pitchFamily="18" charset="0"/>
                          <a:cs typeface="Times New Roman" panose="02020603050405020304" pitchFamily="18" charset="0"/>
                        </a:rPr>
                        <m:t>∆</m:t>
                      </m:r>
                      <m:r>
                        <a:rPr lang="es-PE" sz="2000" b="0" i="1" smtClean="0">
                          <a:latin typeface="Cambria Math" panose="02040503050406030204" pitchFamily="18" charset="0"/>
                          <a:ea typeface="Cambria Math" panose="02040503050406030204" pitchFamily="18" charset="0"/>
                          <a:cs typeface="Times New Roman" panose="02020603050405020304" pitchFamily="18" charset="0"/>
                        </a:rPr>
                        <m:t>𝑆</m:t>
                      </m:r>
                      <m:r>
                        <a:rPr lang="es-PE"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000" b="0" i="1" smtClean="0">
                              <a:latin typeface="Cambria Math" panose="02040503050406030204" pitchFamily="18" charset="0"/>
                              <a:ea typeface="Cambria Math" panose="02040503050406030204" pitchFamily="18" charset="0"/>
                              <a:cs typeface="Times New Roman" panose="02020603050405020304" pitchFamily="18" charset="0"/>
                            </a:rPr>
                            <m:t>𝑆</m:t>
                          </m:r>
                        </m:e>
                        <m:sub>
                          <m:r>
                            <a:rPr lang="es-PE" sz="2000" b="0" i="1" smtClean="0">
                              <a:latin typeface="Cambria Math" panose="02040503050406030204" pitchFamily="18" charset="0"/>
                              <a:ea typeface="Cambria Math" panose="02040503050406030204" pitchFamily="18" charset="0"/>
                              <a:cs typeface="Times New Roman" panose="02020603050405020304" pitchFamily="18" charset="0"/>
                            </a:rPr>
                            <m:t>2</m:t>
                          </m:r>
                        </m:sub>
                      </m:sSub>
                      <m:r>
                        <a:rPr lang="es-PE"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000" b="0" i="1" smtClean="0">
                              <a:latin typeface="Cambria Math" panose="02040503050406030204" pitchFamily="18" charset="0"/>
                              <a:ea typeface="Cambria Math" panose="02040503050406030204" pitchFamily="18" charset="0"/>
                              <a:cs typeface="Times New Roman" panose="02020603050405020304" pitchFamily="18" charset="0"/>
                            </a:rPr>
                            <m:t>𝑆</m:t>
                          </m:r>
                        </m:e>
                        <m:sub>
                          <m:r>
                            <a:rPr lang="es-PE" sz="20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s-PE" sz="2000" i="1" smtClean="0">
                          <a:latin typeface="Cambria Math" panose="02040503050406030204" pitchFamily="18" charset="0"/>
                          <a:cs typeface="Times New Roman" panose="02020603050405020304" pitchFamily="18" charset="0"/>
                        </a:rPr>
                        <m:t>=</m:t>
                      </m:r>
                      <m:r>
                        <a:rPr lang="es-PE" sz="2000" b="0" i="1" smtClean="0">
                          <a:latin typeface="Cambria Math" panose="02040503050406030204" pitchFamily="18" charset="0"/>
                          <a:cs typeface="Times New Roman" panose="02020603050405020304" pitchFamily="18" charset="0"/>
                        </a:rPr>
                        <m:t>𝑘</m:t>
                      </m:r>
                      <m:func>
                        <m:funcPr>
                          <m:ctrlPr>
                            <a:rPr lang="es-PE" sz="2000" b="0" i="1" smtClean="0">
                              <a:latin typeface="Cambria Math" panose="02040503050406030204" pitchFamily="18" charset="0"/>
                              <a:cs typeface="Times New Roman" panose="02020603050405020304" pitchFamily="18" charset="0"/>
                            </a:rPr>
                          </m:ctrlPr>
                        </m:funcPr>
                        <m:fName>
                          <m:r>
                            <m:rPr>
                              <m:sty m:val="p"/>
                            </m:rPr>
                            <a:rPr lang="es-PE" sz="2000" b="0" i="0" smtClean="0">
                              <a:latin typeface="Cambria Math" panose="02040503050406030204" pitchFamily="18" charset="0"/>
                              <a:cs typeface="Times New Roman" panose="02020603050405020304" pitchFamily="18" charset="0"/>
                            </a:rPr>
                            <m:t>ln</m:t>
                          </m:r>
                        </m:fName>
                        <m:e>
                          <m:sSub>
                            <m:sSubPr>
                              <m:ctrlPr>
                                <a:rPr lang="es-PE" sz="2000" b="0" i="1" smtClean="0">
                                  <a:latin typeface="Cambria Math" panose="02040503050406030204" pitchFamily="18" charset="0"/>
                                  <a:cs typeface="Times New Roman" panose="02020603050405020304" pitchFamily="18" charset="0"/>
                                </a:rPr>
                              </m:ctrlPr>
                            </m:sSubPr>
                            <m:e>
                              <m:r>
                                <a:rPr lang="es-PE" sz="2000" b="0" i="1" smtClean="0">
                                  <a:latin typeface="Cambria Math" panose="02040503050406030204" pitchFamily="18" charset="0"/>
                                  <a:cs typeface="Times New Roman" panose="02020603050405020304" pitchFamily="18" charset="0"/>
                                </a:rPr>
                                <m:t>𝑤</m:t>
                              </m:r>
                            </m:e>
                            <m:sub>
                              <m:r>
                                <a:rPr lang="es-PE" sz="2000" b="0" i="1" smtClean="0">
                                  <a:latin typeface="Cambria Math" panose="02040503050406030204" pitchFamily="18" charset="0"/>
                                  <a:cs typeface="Times New Roman" panose="02020603050405020304" pitchFamily="18" charset="0"/>
                                </a:rPr>
                                <m:t>2</m:t>
                              </m:r>
                            </m:sub>
                          </m:sSub>
                        </m:e>
                      </m:func>
                      <m:r>
                        <a:rPr lang="es-PE" sz="2000" b="0" i="1" smtClean="0">
                          <a:latin typeface="Cambria Math" panose="02040503050406030204" pitchFamily="18" charset="0"/>
                          <a:cs typeface="Times New Roman" panose="02020603050405020304" pitchFamily="18" charset="0"/>
                        </a:rPr>
                        <m:t>−</m:t>
                      </m:r>
                      <m:r>
                        <a:rPr lang="es-PE" sz="2000" i="1">
                          <a:latin typeface="Cambria Math" panose="02040503050406030204" pitchFamily="18" charset="0"/>
                          <a:cs typeface="Times New Roman" panose="02020603050405020304" pitchFamily="18" charset="0"/>
                        </a:rPr>
                        <m:t>𝑘</m:t>
                      </m:r>
                      <m:func>
                        <m:funcPr>
                          <m:ctrlPr>
                            <a:rPr lang="es-PE" sz="2000" i="1">
                              <a:latin typeface="Cambria Math" panose="02040503050406030204" pitchFamily="18" charset="0"/>
                              <a:cs typeface="Times New Roman" panose="02020603050405020304" pitchFamily="18" charset="0"/>
                            </a:rPr>
                          </m:ctrlPr>
                        </m:funcPr>
                        <m:fName>
                          <m:r>
                            <m:rPr>
                              <m:sty m:val="p"/>
                            </m:rPr>
                            <a:rPr lang="es-PE" sz="2000">
                              <a:latin typeface="Cambria Math" panose="02040503050406030204" pitchFamily="18" charset="0"/>
                              <a:cs typeface="Times New Roman" panose="02020603050405020304" pitchFamily="18" charset="0"/>
                            </a:rPr>
                            <m:t>ln</m:t>
                          </m:r>
                        </m:fName>
                        <m:e>
                          <m:sSub>
                            <m:sSubPr>
                              <m:ctrlPr>
                                <a:rPr lang="es-PE" sz="2000" i="1">
                                  <a:latin typeface="Cambria Math" panose="02040503050406030204" pitchFamily="18" charset="0"/>
                                  <a:cs typeface="Times New Roman" panose="02020603050405020304" pitchFamily="18" charset="0"/>
                                </a:rPr>
                              </m:ctrlPr>
                            </m:sSubPr>
                            <m:e>
                              <m:r>
                                <a:rPr lang="es-PE" sz="2000" i="1">
                                  <a:latin typeface="Cambria Math" panose="02040503050406030204" pitchFamily="18" charset="0"/>
                                  <a:cs typeface="Times New Roman" panose="02020603050405020304" pitchFamily="18" charset="0"/>
                                </a:rPr>
                                <m:t>𝑤</m:t>
                              </m:r>
                            </m:e>
                            <m:sub>
                              <m:r>
                                <a:rPr lang="es-PE" sz="2000" b="0" i="1" smtClean="0">
                                  <a:latin typeface="Cambria Math" panose="02040503050406030204" pitchFamily="18" charset="0"/>
                                  <a:cs typeface="Times New Roman" panose="02020603050405020304" pitchFamily="18" charset="0"/>
                                </a:rPr>
                                <m:t>1</m:t>
                              </m:r>
                            </m:sub>
                          </m:sSub>
                        </m:e>
                      </m:func>
                      <m:r>
                        <a:rPr lang="es-PE" sz="2000" b="0" i="1" smtClean="0">
                          <a:latin typeface="Cambria Math" panose="02040503050406030204" pitchFamily="18" charset="0"/>
                          <a:cs typeface="Times New Roman" panose="02020603050405020304" pitchFamily="18" charset="0"/>
                        </a:rPr>
                        <m:t>=</m:t>
                      </m:r>
                      <m:r>
                        <a:rPr lang="es-PE" sz="2000" b="0" i="1" smtClean="0">
                          <a:latin typeface="Cambria Math" panose="02040503050406030204" pitchFamily="18" charset="0"/>
                          <a:cs typeface="Times New Roman" panose="02020603050405020304" pitchFamily="18" charset="0"/>
                        </a:rPr>
                        <m:t>𝑘</m:t>
                      </m:r>
                      <m:func>
                        <m:funcPr>
                          <m:ctrlPr>
                            <a:rPr lang="es-PE" sz="2000" b="0" i="1" smtClean="0">
                              <a:latin typeface="Cambria Math" panose="02040503050406030204" pitchFamily="18" charset="0"/>
                              <a:cs typeface="Times New Roman" panose="02020603050405020304" pitchFamily="18" charset="0"/>
                            </a:rPr>
                          </m:ctrlPr>
                        </m:funcPr>
                        <m:fName>
                          <m:r>
                            <m:rPr>
                              <m:sty m:val="p"/>
                            </m:rPr>
                            <a:rPr lang="es-PE" sz="2000" b="0" i="0" smtClean="0">
                              <a:latin typeface="Cambria Math" panose="02040503050406030204" pitchFamily="18" charset="0"/>
                              <a:cs typeface="Times New Roman" panose="02020603050405020304" pitchFamily="18" charset="0"/>
                            </a:rPr>
                            <m:t>ln</m:t>
                          </m:r>
                        </m:fName>
                        <m:e>
                          <m:f>
                            <m:fPr>
                              <m:ctrlPr>
                                <a:rPr lang="es-PE" sz="2000" b="0" i="1" smtClean="0">
                                  <a:latin typeface="Cambria Math" panose="02040503050406030204" pitchFamily="18" charset="0"/>
                                  <a:cs typeface="Times New Roman" panose="02020603050405020304" pitchFamily="18" charset="0"/>
                                </a:rPr>
                              </m:ctrlPr>
                            </m:fPr>
                            <m:num>
                              <m:sSub>
                                <m:sSubPr>
                                  <m:ctrlPr>
                                    <a:rPr lang="es-PE" sz="2000" b="0" i="1" smtClean="0">
                                      <a:latin typeface="Cambria Math" panose="02040503050406030204" pitchFamily="18" charset="0"/>
                                      <a:cs typeface="Times New Roman" panose="02020603050405020304" pitchFamily="18" charset="0"/>
                                    </a:rPr>
                                  </m:ctrlPr>
                                </m:sSubPr>
                                <m:e>
                                  <m:r>
                                    <a:rPr lang="es-PE" sz="2000" b="0" i="1" smtClean="0">
                                      <a:latin typeface="Cambria Math" panose="02040503050406030204" pitchFamily="18" charset="0"/>
                                      <a:cs typeface="Times New Roman" panose="02020603050405020304" pitchFamily="18" charset="0"/>
                                    </a:rPr>
                                    <m:t>𝑤</m:t>
                                  </m:r>
                                </m:e>
                                <m:sub>
                                  <m:r>
                                    <a:rPr lang="es-PE" sz="2000" b="0" i="1" smtClean="0">
                                      <a:latin typeface="Cambria Math" panose="02040503050406030204" pitchFamily="18" charset="0"/>
                                      <a:cs typeface="Times New Roman" panose="02020603050405020304" pitchFamily="18" charset="0"/>
                                    </a:rPr>
                                    <m:t>2</m:t>
                                  </m:r>
                                </m:sub>
                              </m:sSub>
                            </m:num>
                            <m:den>
                              <m:sSub>
                                <m:sSubPr>
                                  <m:ctrlPr>
                                    <a:rPr lang="es-PE" sz="2000" b="0" i="1" smtClean="0">
                                      <a:latin typeface="Cambria Math" panose="02040503050406030204" pitchFamily="18" charset="0"/>
                                      <a:cs typeface="Times New Roman" panose="02020603050405020304" pitchFamily="18" charset="0"/>
                                    </a:rPr>
                                  </m:ctrlPr>
                                </m:sSubPr>
                                <m:e>
                                  <m:r>
                                    <a:rPr lang="es-PE" sz="2000" b="0" i="1" smtClean="0">
                                      <a:latin typeface="Cambria Math" panose="02040503050406030204" pitchFamily="18" charset="0"/>
                                      <a:cs typeface="Times New Roman" panose="02020603050405020304" pitchFamily="18" charset="0"/>
                                    </a:rPr>
                                    <m:t>𝑤</m:t>
                                  </m:r>
                                </m:e>
                                <m:sub>
                                  <m:r>
                                    <a:rPr lang="es-PE" sz="2000" b="0" i="1" smtClean="0">
                                      <a:latin typeface="Cambria Math" panose="02040503050406030204" pitchFamily="18" charset="0"/>
                                      <a:cs typeface="Times New Roman" panose="02020603050405020304" pitchFamily="18" charset="0"/>
                                    </a:rPr>
                                    <m:t>1</m:t>
                                  </m:r>
                                </m:sub>
                              </m:sSub>
                            </m:den>
                          </m:f>
                        </m:e>
                      </m:func>
                    </m:oMath>
                  </m:oMathPara>
                </a14:m>
                <a:endParaRPr lang="es-PE" sz="2000" dirty="0">
                  <a:latin typeface="Times New Roman" panose="02020603050405020304" pitchFamily="18" charset="0"/>
                  <a:cs typeface="Times New Roman" panose="02020603050405020304" pitchFamily="18" charset="0"/>
                </a:endParaRPr>
              </a:p>
            </p:txBody>
          </p:sp>
        </mc:Choice>
        <mc:Fallback>
          <p:sp>
            <p:nvSpPr>
              <p:cNvPr id="3" name="Rectángulo 2"/>
              <p:cNvSpPr>
                <a:spLocks noRot="1" noChangeAspect="1" noMove="1" noResize="1" noEditPoints="1" noAdjustHandles="1" noChangeArrowheads="1" noChangeShapeType="1" noTextEdit="1"/>
              </p:cNvSpPr>
              <p:nvPr/>
            </p:nvSpPr>
            <p:spPr>
              <a:xfrm>
                <a:off x="249456" y="4221088"/>
                <a:ext cx="9010745" cy="2175724"/>
              </a:xfrm>
              <a:prstGeom prst="rect">
                <a:avLst/>
              </a:prstGeom>
              <a:blipFill rotWithShape="0">
                <a:blip r:embed="rId5"/>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4021665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836712"/>
            <a:ext cx="1584176" cy="60073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dirty="0" smtClean="0">
                <a:solidFill>
                  <a:schemeClr val="tx1"/>
                </a:solidFill>
              </a:rPr>
              <a:t>EJEMPLO</a:t>
            </a:r>
            <a:r>
              <a:rPr lang="es-PE" sz="2400" dirty="0" smtClean="0">
                <a:solidFill>
                  <a:schemeClr val="tx1"/>
                </a:solidFill>
              </a:rPr>
              <a:t> </a:t>
            </a:r>
            <a:endParaRPr lang="es-PE" sz="2200" b="1" dirty="0">
              <a:solidFill>
                <a:schemeClr val="tx1"/>
              </a:solidFill>
              <a:latin typeface="Arial" panose="020B0604020202020204" pitchFamily="34" charset="0"/>
              <a:cs typeface="Arial" panose="020B0604020202020204" pitchFamily="34" charset="0"/>
            </a:endParaRPr>
          </a:p>
        </p:txBody>
      </p:sp>
      <p:sp>
        <p:nvSpPr>
          <p:cNvPr id="3" name="Rectángulo 2"/>
          <p:cNvSpPr/>
          <p:nvPr/>
        </p:nvSpPr>
        <p:spPr>
          <a:xfrm>
            <a:off x="748308" y="1916832"/>
            <a:ext cx="8237140" cy="923330"/>
          </a:xfrm>
          <a:prstGeom prst="rect">
            <a:avLst/>
          </a:prstGeom>
        </p:spPr>
        <p:txBody>
          <a:bodyPr wrap="square">
            <a:spAutoFit/>
          </a:bodyPr>
          <a:lstStyle/>
          <a:p>
            <a:pPr algn="just"/>
            <a:r>
              <a:rPr lang="es-PE" dirty="0">
                <a:latin typeface="Times New Roman" panose="02020603050405020304" pitchFamily="18" charset="0"/>
                <a:cs typeface="Times New Roman" panose="02020603050405020304" pitchFamily="18" charset="0"/>
              </a:rPr>
              <a:t>Dos moles de gas ideal ocupan un volumen </a:t>
            </a:r>
            <a:r>
              <a:rPr lang="es-PE" i="1" dirty="0">
                <a:latin typeface="Times New Roman" panose="02020603050405020304" pitchFamily="18" charset="0"/>
                <a:cs typeface="Times New Roman" panose="02020603050405020304" pitchFamily="18" charset="0"/>
              </a:rPr>
              <a:t>V</a:t>
            </a:r>
            <a:r>
              <a:rPr lang="es-PE" dirty="0">
                <a:latin typeface="Times New Roman" panose="02020603050405020304" pitchFamily="18" charset="0"/>
                <a:cs typeface="Times New Roman" panose="02020603050405020304" pitchFamily="18" charset="0"/>
              </a:rPr>
              <a:t>. El gas se </a:t>
            </a:r>
            <a:r>
              <a:rPr lang="es-PE" dirty="0" smtClean="0">
                <a:latin typeface="Times New Roman" panose="02020603050405020304" pitchFamily="18" charset="0"/>
                <a:cs typeface="Times New Roman" panose="02020603050405020304" pitchFamily="18" charset="0"/>
              </a:rPr>
              <a:t>expande isotérmica </a:t>
            </a:r>
            <a:r>
              <a:rPr lang="es-PE" dirty="0">
                <a:latin typeface="Times New Roman" panose="02020603050405020304" pitchFamily="18" charset="0"/>
                <a:cs typeface="Times New Roman" panose="02020603050405020304" pitchFamily="18" charset="0"/>
              </a:rPr>
              <a:t>y reversiblemente a un volumen 3 </a:t>
            </a:r>
            <a:r>
              <a:rPr lang="es-PE" i="1" dirty="0">
                <a:latin typeface="Times New Roman" panose="02020603050405020304" pitchFamily="18" charset="0"/>
                <a:cs typeface="Times New Roman" panose="02020603050405020304" pitchFamily="18" charset="0"/>
              </a:rPr>
              <a:t>V</a:t>
            </a:r>
            <a:r>
              <a:rPr lang="es-PE" dirty="0">
                <a:latin typeface="Times New Roman" panose="02020603050405020304" pitchFamily="18" charset="0"/>
                <a:cs typeface="Times New Roman" panose="02020603050405020304" pitchFamily="18" charset="0"/>
              </a:rPr>
              <a:t>. </a:t>
            </a:r>
            <a:r>
              <a:rPr lang="es-PE" i="1" dirty="0">
                <a:latin typeface="Times New Roman" panose="02020603050405020304" pitchFamily="18" charset="0"/>
                <a:cs typeface="Times New Roman" panose="02020603050405020304" pitchFamily="18" charset="0"/>
              </a:rPr>
              <a:t>a</a:t>
            </a:r>
            <a:r>
              <a:rPr lang="es-PE" dirty="0">
                <a:latin typeface="Times New Roman" panose="02020603050405020304" pitchFamily="18" charset="0"/>
                <a:cs typeface="Times New Roman" panose="02020603050405020304" pitchFamily="18" charset="0"/>
              </a:rPr>
              <a:t>) ¿Cambia la </a:t>
            </a:r>
            <a:r>
              <a:rPr lang="es-PE" dirty="0" smtClean="0">
                <a:latin typeface="Times New Roman" panose="02020603050405020304" pitchFamily="18" charset="0"/>
                <a:cs typeface="Times New Roman" panose="02020603050405020304" pitchFamily="18" charset="0"/>
              </a:rPr>
              <a:t>distribución de </a:t>
            </a:r>
            <a:r>
              <a:rPr lang="es-PE" dirty="0">
                <a:latin typeface="Times New Roman" panose="02020603050405020304" pitchFamily="18" charset="0"/>
                <a:cs typeface="Times New Roman" panose="02020603050405020304" pitchFamily="18" charset="0"/>
              </a:rPr>
              <a:t>velocidades por esta expansión isotérmica? Explique</a:t>
            </a:r>
            <a:r>
              <a:rPr lang="es-PE" dirty="0" smtClean="0">
                <a:latin typeface="Times New Roman" panose="02020603050405020304" pitchFamily="18" charset="0"/>
                <a:cs typeface="Times New Roman" panose="02020603050405020304" pitchFamily="18" charset="0"/>
              </a:rPr>
              <a:t>.</a:t>
            </a:r>
            <a:r>
              <a:rPr lang="es-PE" i="1" dirty="0">
                <a:latin typeface="Times New Roman" panose="02020603050405020304" pitchFamily="18" charset="0"/>
                <a:cs typeface="Times New Roman" panose="02020603050405020304" pitchFamily="18" charset="0"/>
              </a:rPr>
              <a:t> b</a:t>
            </a:r>
            <a:r>
              <a:rPr lang="es-PE" dirty="0">
                <a:latin typeface="Times New Roman" panose="02020603050405020304" pitchFamily="18" charset="0"/>
                <a:cs typeface="Times New Roman" panose="02020603050405020304" pitchFamily="18" charset="0"/>
              </a:rPr>
              <a:t>) </a:t>
            </a:r>
            <a:r>
              <a:rPr lang="es-PE" dirty="0" smtClean="0">
                <a:latin typeface="Times New Roman" panose="02020603050405020304" pitchFamily="18" charset="0"/>
                <a:cs typeface="Times New Roman" panose="02020603050405020304" pitchFamily="18" charset="0"/>
              </a:rPr>
              <a:t>Calcular </a:t>
            </a:r>
            <a:r>
              <a:rPr lang="es-PE" dirty="0">
                <a:latin typeface="Times New Roman" panose="02020603050405020304" pitchFamily="18" charset="0"/>
                <a:cs typeface="Times New Roman" panose="02020603050405020304" pitchFamily="18" charset="0"/>
              </a:rPr>
              <a:t>el cambio de entropía del </a:t>
            </a:r>
            <a:r>
              <a:rPr lang="es-PE" dirty="0" smtClean="0">
                <a:latin typeface="Times New Roman" panose="02020603050405020304" pitchFamily="18" charset="0"/>
                <a:cs typeface="Times New Roman" panose="02020603050405020304" pitchFamily="18" charset="0"/>
              </a:rPr>
              <a:t>gas. </a:t>
            </a:r>
            <a:endParaRPr lang="es-P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770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721702" y="788617"/>
            <a:ext cx="5112568" cy="53007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ENERGIA INTERNA DE UN GAS IDEAL</a:t>
            </a:r>
            <a:endParaRPr lang="es-PE" sz="2400" b="1" dirty="0">
              <a:solidFill>
                <a:schemeClr val="tx1"/>
              </a:solidFill>
            </a:endParaRPr>
          </a:p>
        </p:txBody>
      </p:sp>
      <p:graphicFrame>
        <p:nvGraphicFramePr>
          <p:cNvPr id="16" name="Object 8">
            <a:extLst>
              <a:ext uri="{FF2B5EF4-FFF2-40B4-BE49-F238E27FC236}">
                <a16:creationId xmlns:a16="http://schemas.microsoft.com/office/drawing/2014/main" xmlns="" id="{18708E5F-A929-41DD-A79C-09ED52478E0D}"/>
              </a:ext>
            </a:extLst>
          </p:cNvPr>
          <p:cNvGraphicFramePr>
            <a:graphicFrameLocks noChangeAspect="1"/>
          </p:cNvGraphicFramePr>
          <p:nvPr>
            <p:extLst>
              <p:ext uri="{D42A27DB-BD31-4B8C-83A1-F6EECF244321}">
                <p14:modId xmlns:p14="http://schemas.microsoft.com/office/powerpoint/2010/main" val="3665538873"/>
              </p:ext>
            </p:extLst>
          </p:nvPr>
        </p:nvGraphicFramePr>
        <p:xfrm>
          <a:off x="3655690" y="1830935"/>
          <a:ext cx="241300" cy="52388"/>
        </p:xfrm>
        <a:graphic>
          <a:graphicData uri="http://schemas.openxmlformats.org/presentationml/2006/ole">
            <mc:AlternateContent xmlns:mc="http://schemas.openxmlformats.org/markup-compatibility/2006">
              <mc:Choice xmlns:v="urn:schemas-microsoft-com:vml" Requires="v">
                <p:oleObj spid="_x0000_s9358" name="Equation" r:id="rId3" imgW="114102" imgH="177492" progId="Equation.DSMT4">
                  <p:embed/>
                </p:oleObj>
              </mc:Choice>
              <mc:Fallback>
                <p:oleObj name="Equation" r:id="rId3" imgW="114102" imgH="177492" progId="Equation.DSMT4">
                  <p:embed/>
                  <p:pic>
                    <p:nvPicPr>
                      <p:cNvPr id="2355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5690" y="1830935"/>
                        <a:ext cx="241300" cy="52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739079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3024336"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smtClean="0">
                <a:solidFill>
                  <a:schemeClr val="tx1"/>
                </a:solidFill>
                <a:latin typeface="Arial" panose="020B0604020202020204" pitchFamily="34" charset="0"/>
                <a:cs typeface="Arial" panose="020B0604020202020204" pitchFamily="34" charset="0"/>
              </a:rPr>
              <a:t>GASES REALES</a:t>
            </a:r>
            <a:endParaRPr lang="es-PE"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5944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mc:AlternateContent xmlns:mc="http://schemas.openxmlformats.org/markup-compatibility/2006" xmlns:a14="http://schemas.microsoft.com/office/drawing/2010/main">
        <mc:Choice Requires="a14">
          <p:sp>
            <p:nvSpPr>
              <p:cNvPr id="10" name="Content Placeholder 4"/>
              <p:cNvSpPr txBox="1">
                <a:spLocks/>
              </p:cNvSpPr>
              <p:nvPr/>
            </p:nvSpPr>
            <p:spPr>
              <a:xfrm>
                <a:off x="4376936" y="1772816"/>
                <a:ext cx="5214747" cy="4957920"/>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buClrTx/>
                </a:pPr>
                <a:r>
                  <a:rPr lang="es-MX" sz="1800" dirty="0" smtClean="0">
                    <a:solidFill>
                      <a:schemeClr val="tx1"/>
                    </a:solidFill>
                  </a:rPr>
                  <a:t>En todo proceso reversible, la entropía del conjunto sistema y alrededores permanece constante, por lo que</a:t>
                </a:r>
              </a:p>
              <a:p>
                <a:pPr marL="0" indent="0" algn="just">
                  <a:buNone/>
                </a:pPr>
                <a14:m>
                  <m:oMathPara xmlns:m="http://schemas.openxmlformats.org/officeDocument/2006/math">
                    <m:oMathParaPr>
                      <m:jc m:val="centerGroup"/>
                    </m:oMathParaPr>
                    <m:oMath xmlns:m="http://schemas.openxmlformats.org/officeDocument/2006/math">
                      <m:r>
                        <a:rPr lang="es-PE" sz="1800" b="0" i="1" smtClean="0">
                          <a:solidFill>
                            <a:schemeClr val="tx1"/>
                          </a:solidFill>
                          <a:latin typeface="Cambria Math" panose="02040503050406030204" pitchFamily="18" charset="0"/>
                        </a:rPr>
                        <m:t>𝑑𝑆</m:t>
                      </m:r>
                      <m:r>
                        <a:rPr lang="es-PE" sz="1800" b="0" i="1" smtClean="0">
                          <a:solidFill>
                            <a:schemeClr val="tx1"/>
                          </a:solidFill>
                          <a:latin typeface="Cambria Math" panose="02040503050406030204" pitchFamily="18" charset="0"/>
                        </a:rPr>
                        <m:t>+</m:t>
                      </m:r>
                      <m:r>
                        <a:rPr lang="es-PE" sz="1800" b="0" i="1" smtClean="0">
                          <a:solidFill>
                            <a:schemeClr val="tx1"/>
                          </a:solidFill>
                          <a:latin typeface="Cambria Math" panose="02040503050406030204" pitchFamily="18" charset="0"/>
                        </a:rPr>
                        <m:t>𝑑</m:t>
                      </m:r>
                      <m:sSup>
                        <m:sSupPr>
                          <m:ctrlPr>
                            <a:rPr lang="es-PE" sz="1800" b="0" i="1" smtClean="0">
                              <a:solidFill>
                                <a:schemeClr val="tx1"/>
                              </a:solidFill>
                              <a:latin typeface="Cambria Math" panose="02040503050406030204" pitchFamily="18" charset="0"/>
                            </a:rPr>
                          </m:ctrlPr>
                        </m:sSupPr>
                        <m:e>
                          <m:r>
                            <a:rPr lang="es-PE" sz="1800" b="0" i="1" smtClean="0">
                              <a:solidFill>
                                <a:schemeClr val="tx1"/>
                              </a:solidFill>
                              <a:latin typeface="Cambria Math" panose="02040503050406030204" pitchFamily="18" charset="0"/>
                            </a:rPr>
                            <m:t>𝑆</m:t>
                          </m:r>
                        </m:e>
                        <m:sup>
                          <m:r>
                            <a:rPr lang="es-PE" sz="1800" b="0" i="1" smtClean="0">
                              <a:solidFill>
                                <a:schemeClr val="tx1"/>
                              </a:solidFill>
                              <a:latin typeface="Cambria Math" panose="02040503050406030204" pitchFamily="18" charset="0"/>
                            </a:rPr>
                            <m:t>´</m:t>
                          </m:r>
                        </m:sup>
                      </m:sSup>
                      <m:r>
                        <a:rPr lang="es-PE" sz="1800" b="0" i="1" smtClean="0">
                          <a:solidFill>
                            <a:schemeClr val="tx1"/>
                          </a:solidFill>
                          <a:latin typeface="Cambria Math" panose="02040503050406030204" pitchFamily="18" charset="0"/>
                        </a:rPr>
                        <m:t>=0</m:t>
                      </m:r>
                    </m:oMath>
                  </m:oMathPara>
                </a14:m>
                <a:endParaRPr lang="es-MX" sz="1800" dirty="0">
                  <a:solidFill>
                    <a:schemeClr val="tx1"/>
                  </a:solidFill>
                </a:endParaRPr>
              </a:p>
              <a:p>
                <a:pPr algn="just">
                  <a:buClrTx/>
                </a:pPr>
                <a:r>
                  <a:rPr lang="es-MX" sz="1800" dirty="0" smtClean="0">
                    <a:solidFill>
                      <a:schemeClr val="tx1"/>
                    </a:solidFill>
                  </a:rPr>
                  <a:t>En </a:t>
                </a:r>
                <a:r>
                  <a:rPr lang="es-MX" sz="1800" dirty="0">
                    <a:solidFill>
                      <a:schemeClr val="tx1"/>
                    </a:solidFill>
                  </a:rPr>
                  <a:t>todo proceso </a:t>
                </a:r>
                <a:r>
                  <a:rPr lang="es-MX" sz="1800" dirty="0" smtClean="0">
                    <a:solidFill>
                      <a:schemeClr val="tx1"/>
                    </a:solidFill>
                  </a:rPr>
                  <a:t>irreversible debe aumentar la entropía del sistema y sus alrededores</a:t>
                </a:r>
              </a:p>
              <a:p>
                <a:pPr marL="0" indent="0" algn="just">
                  <a:buNone/>
                </a:pPr>
                <a14:m>
                  <m:oMathPara xmlns:m="http://schemas.openxmlformats.org/officeDocument/2006/math">
                    <m:oMathParaPr>
                      <m:jc m:val="centerGroup"/>
                    </m:oMathParaPr>
                    <m:oMath xmlns:m="http://schemas.openxmlformats.org/officeDocument/2006/math">
                      <m:r>
                        <a:rPr lang="es-PE" sz="1800" i="1">
                          <a:solidFill>
                            <a:schemeClr val="tx1"/>
                          </a:solidFill>
                          <a:latin typeface="Cambria Math" panose="02040503050406030204" pitchFamily="18" charset="0"/>
                        </a:rPr>
                        <m:t>𝑑𝑆</m:t>
                      </m:r>
                      <m:r>
                        <a:rPr lang="es-PE" sz="1800" i="1">
                          <a:solidFill>
                            <a:schemeClr val="tx1"/>
                          </a:solidFill>
                          <a:latin typeface="Cambria Math" panose="02040503050406030204" pitchFamily="18" charset="0"/>
                        </a:rPr>
                        <m:t>+</m:t>
                      </m:r>
                      <m:r>
                        <a:rPr lang="es-PE" sz="1800" i="1">
                          <a:solidFill>
                            <a:schemeClr val="tx1"/>
                          </a:solidFill>
                          <a:latin typeface="Cambria Math" panose="02040503050406030204" pitchFamily="18" charset="0"/>
                        </a:rPr>
                        <m:t>𝑑</m:t>
                      </m:r>
                      <m:sSup>
                        <m:sSupPr>
                          <m:ctrlPr>
                            <a:rPr lang="es-PE" sz="1800" i="1">
                              <a:solidFill>
                                <a:schemeClr val="tx1"/>
                              </a:solidFill>
                              <a:latin typeface="Cambria Math" panose="02040503050406030204" pitchFamily="18" charset="0"/>
                            </a:rPr>
                          </m:ctrlPr>
                        </m:sSupPr>
                        <m:e>
                          <m:r>
                            <a:rPr lang="es-PE" sz="1800" i="1">
                              <a:solidFill>
                                <a:schemeClr val="tx1"/>
                              </a:solidFill>
                              <a:latin typeface="Cambria Math" panose="02040503050406030204" pitchFamily="18" charset="0"/>
                            </a:rPr>
                            <m:t>𝑆</m:t>
                          </m:r>
                        </m:e>
                        <m:sup>
                          <m:r>
                            <a:rPr lang="es-PE" sz="1800" i="1">
                              <a:solidFill>
                                <a:schemeClr val="tx1"/>
                              </a:solidFill>
                              <a:latin typeface="Cambria Math" panose="02040503050406030204" pitchFamily="18" charset="0"/>
                            </a:rPr>
                            <m:t>´</m:t>
                          </m:r>
                        </m:sup>
                      </m:sSup>
                      <m:r>
                        <a:rPr lang="es-PE" sz="1800" i="1" smtClean="0">
                          <a:solidFill>
                            <a:schemeClr val="tx1"/>
                          </a:solidFill>
                          <a:latin typeface="Cambria Math" panose="02040503050406030204" pitchFamily="18" charset="0"/>
                          <a:ea typeface="Cambria Math" panose="02040503050406030204" pitchFamily="18" charset="0"/>
                        </a:rPr>
                        <m:t>&gt;</m:t>
                      </m:r>
                      <m:r>
                        <a:rPr lang="es-PE" sz="1800" i="1">
                          <a:solidFill>
                            <a:schemeClr val="tx1"/>
                          </a:solidFill>
                          <a:latin typeface="Cambria Math" panose="02040503050406030204" pitchFamily="18" charset="0"/>
                        </a:rPr>
                        <m:t>0</m:t>
                      </m:r>
                    </m:oMath>
                  </m:oMathPara>
                </a14:m>
                <a:endParaRPr lang="es-MX" sz="1800" dirty="0">
                  <a:solidFill>
                    <a:schemeClr val="tx1"/>
                  </a:solidFill>
                </a:endParaRPr>
              </a:p>
              <a:p>
                <a:pPr algn="just">
                  <a:spcAft>
                    <a:spcPts val="1200"/>
                  </a:spcAft>
                  <a:buClrTx/>
                </a:pPr>
                <a:r>
                  <a:rPr lang="es-PE" sz="1800" dirty="0" smtClean="0">
                    <a:solidFill>
                      <a:schemeClr val="tx1"/>
                    </a:solidFill>
                  </a:rPr>
                  <a:t>La entropía total es la suma delas entropías individuales a igual que el calor total agregado seria la suma de las entradas de calor  a los sistemas individuales.</a:t>
                </a:r>
              </a:p>
              <a:p>
                <a:pPr algn="just">
                  <a:spcAft>
                    <a:spcPts val="1200"/>
                  </a:spcAft>
                  <a:buClrTx/>
                </a:pPr>
                <a:r>
                  <a:rPr lang="es-PE" sz="1800" dirty="0" smtClean="0">
                    <a:solidFill>
                      <a:schemeClr val="tx1"/>
                    </a:solidFill>
                  </a:rPr>
                  <a:t>Es imposible reducir a cero absoluto la temperatura de cualquier sistema  en un numero finito de procesos que comprendan el gasto de una cantidad finita de trabajo</a:t>
                </a:r>
                <a:endParaRPr lang="es-PE" sz="1800" dirty="0">
                  <a:solidFill>
                    <a:schemeClr val="tx1"/>
                  </a:solidFill>
                </a:endParaRPr>
              </a:p>
            </p:txBody>
          </p:sp>
        </mc:Choice>
        <mc:Fallback xmlns="">
          <p:sp>
            <p:nvSpPr>
              <p:cNvPr id="10" name="Content Placeholder 4"/>
              <p:cNvSpPr txBox="1">
                <a:spLocks noRot="1" noChangeAspect="1" noMove="1" noResize="1" noEditPoints="1" noAdjustHandles="1" noChangeArrowheads="1" noChangeShapeType="1" noTextEdit="1"/>
              </p:cNvSpPr>
              <p:nvPr/>
            </p:nvSpPr>
            <p:spPr>
              <a:xfrm>
                <a:off x="4376936" y="1772816"/>
                <a:ext cx="5214747" cy="4957920"/>
              </a:xfrm>
              <a:prstGeom prst="rect">
                <a:avLst/>
              </a:prstGeom>
              <a:blipFill rotWithShape="0">
                <a:blip r:embed="rId2"/>
                <a:stretch>
                  <a:fillRect l="-702" t="-738" r="-1053"/>
                </a:stretch>
              </a:blipFill>
            </p:spPr>
            <p:txBody>
              <a:bodyPr/>
              <a:lstStyle/>
              <a:p>
                <a:r>
                  <a:rPr lang="es-PE">
                    <a:noFill/>
                  </a:rPr>
                  <a:t> </a:t>
                </a:r>
              </a:p>
            </p:txBody>
          </p:sp>
        </mc:Fallback>
      </mc:AlternateContent>
      <p:sp>
        <p:nvSpPr>
          <p:cNvPr id="14" name="Rectángulo redondeado 13"/>
          <p:cNvSpPr/>
          <p:nvPr/>
        </p:nvSpPr>
        <p:spPr>
          <a:xfrm>
            <a:off x="2000672" y="935200"/>
            <a:ext cx="3096343"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CONCLUSIONES</a:t>
            </a:r>
          </a:p>
        </p:txBody>
      </p:sp>
      <p:pic>
        <p:nvPicPr>
          <p:cNvPr id="15" name="Imagen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496" y="1844824"/>
            <a:ext cx="3739432" cy="3919646"/>
          </a:xfrm>
          <a:prstGeom prst="rect">
            <a:avLst/>
          </a:prstGeom>
        </p:spPr>
      </p:pic>
    </p:spTree>
    <p:extLst>
      <p:ext uri="{BB962C8B-B14F-4D97-AF65-F5344CB8AC3E}">
        <p14:creationId xmlns:p14="http://schemas.microsoft.com/office/powerpoint/2010/main" val="3270421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3312367"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METACOGNICIÓN</a:t>
            </a:r>
          </a:p>
        </p:txBody>
      </p:sp>
      <p:sp>
        <p:nvSpPr>
          <p:cNvPr id="8" name="Bocadillo: rectángulo con esquinas redondeadas 1">
            <a:extLst>
              <a:ext uri="{FF2B5EF4-FFF2-40B4-BE49-F238E27FC236}">
                <a16:creationId xmlns:a16="http://schemas.microsoft.com/office/drawing/2014/main" xmlns="" id="{82BC446B-F639-467D-A250-25259F9EF4B8}"/>
              </a:ext>
            </a:extLst>
          </p:cNvPr>
          <p:cNvSpPr/>
          <p:nvPr/>
        </p:nvSpPr>
        <p:spPr>
          <a:xfrm>
            <a:off x="992560" y="2420888"/>
            <a:ext cx="7488832" cy="2664296"/>
          </a:xfrm>
          <a:prstGeom prst="wedgeRoundRectCallout">
            <a:avLst>
              <a:gd name="adj1" fmla="val -17962"/>
              <a:gd name="adj2" fmla="val 48532"/>
              <a:gd name="adj3" fmla="val 16667"/>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Arial" panose="020B0604020202020204" pitchFamily="34" charset="0"/>
              <a:buChar char="•"/>
            </a:pPr>
            <a:r>
              <a:rPr lang="es-PE" sz="2400" dirty="0" smtClean="0">
                <a:solidFill>
                  <a:schemeClr val="tx1"/>
                </a:solidFill>
                <a:cs typeface="Arial" pitchFamily="34" charset="0"/>
              </a:rPr>
              <a:t>¿Cuáles son las diferencias entre proceso reversible e irreversible?</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a:solidFill>
                  <a:schemeClr val="tx1"/>
                </a:solidFill>
                <a:cs typeface="Arial" pitchFamily="34" charset="0"/>
              </a:rPr>
              <a:t>¿Cómo </a:t>
            </a:r>
            <a:r>
              <a:rPr lang="es-PE" sz="2400" dirty="0" smtClean="0">
                <a:solidFill>
                  <a:schemeClr val="tx1"/>
                </a:solidFill>
                <a:cs typeface="Arial" pitchFamily="34" charset="0"/>
              </a:rPr>
              <a:t>se relaciona la entropía con la probabilidad? </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smtClean="0">
                <a:solidFill>
                  <a:schemeClr val="tx1"/>
                </a:solidFill>
                <a:cs typeface="Arial" pitchFamily="34" charset="0"/>
              </a:rPr>
              <a:t>¿Por qué la entropía del universo debe aumentar?</a:t>
            </a:r>
          </a:p>
          <a:p>
            <a:pPr marL="285750" indent="-285750" algn="just">
              <a:buFont typeface="Arial" panose="020B0604020202020204" pitchFamily="34" charset="0"/>
              <a:buChar char="•"/>
            </a:pPr>
            <a:r>
              <a:rPr lang="es-PE" sz="2400" dirty="0">
                <a:solidFill>
                  <a:schemeClr val="tx1"/>
                </a:solidFill>
                <a:cs typeface="Arial" pitchFamily="34" charset="0"/>
              </a:rPr>
              <a:t>¿</a:t>
            </a:r>
            <a:r>
              <a:rPr lang="es-PE" sz="2400" dirty="0" smtClean="0">
                <a:solidFill>
                  <a:schemeClr val="tx1"/>
                </a:solidFill>
                <a:cs typeface="Arial" pitchFamily="34" charset="0"/>
              </a:rPr>
              <a:t>Es aplicable el concepto de entropía en aplicaciones a la ingeniería?</a:t>
            </a:r>
            <a:endParaRPr lang="es-PE" sz="2400" dirty="0">
              <a:solidFill>
                <a:schemeClr val="tx1"/>
              </a:solidFill>
              <a:cs typeface="Arial" pitchFamily="34" charset="0"/>
            </a:endParaRPr>
          </a:p>
        </p:txBody>
      </p:sp>
    </p:spTree>
    <p:extLst>
      <p:ext uri="{BB962C8B-B14F-4D97-AF65-F5344CB8AC3E}">
        <p14:creationId xmlns:p14="http://schemas.microsoft.com/office/powerpoint/2010/main" val="3458463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448271"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REFERENCIAS</a:t>
            </a:r>
          </a:p>
        </p:txBody>
      </p:sp>
      <p:sp>
        <p:nvSpPr>
          <p:cNvPr id="7" name="Rectángulo 6"/>
          <p:cNvSpPr/>
          <p:nvPr/>
        </p:nvSpPr>
        <p:spPr>
          <a:xfrm>
            <a:off x="272480" y="1700808"/>
            <a:ext cx="9561512" cy="4939814"/>
          </a:xfrm>
          <a:prstGeom prst="rect">
            <a:avLst/>
          </a:prstGeom>
        </p:spPr>
        <p:txBody>
          <a:bodyPr wrap="square">
            <a:spAutoFit/>
          </a:bodyPr>
          <a:lstStyle/>
          <a:p>
            <a:r>
              <a:rPr lang="es-ES" sz="1600" b="1" u="sng" dirty="0"/>
              <a:t>Bibliografía Básica:</a:t>
            </a:r>
            <a:r>
              <a:rPr lang="es-ES" sz="1600" dirty="0"/>
              <a:t> </a:t>
            </a:r>
            <a:endParaRPr lang="es-PE" sz="1600" dirty="0"/>
          </a:p>
          <a:p>
            <a:r>
              <a:rPr lang="es-ES" sz="1600" dirty="0"/>
              <a:t>1. </a:t>
            </a:r>
            <a:r>
              <a:rPr lang="es-ES" sz="1600" b="1" dirty="0" err="1"/>
              <a:t>Serway</a:t>
            </a:r>
            <a:r>
              <a:rPr lang="es-ES" sz="1600" b="1" dirty="0"/>
              <a:t>, R. A. y </a:t>
            </a:r>
            <a:r>
              <a:rPr lang="es-ES" sz="1600" b="1" dirty="0" err="1"/>
              <a:t>Jewett</a:t>
            </a:r>
            <a:r>
              <a:rPr lang="es-ES" sz="1600" b="1" dirty="0"/>
              <a:t>, J. W.</a:t>
            </a:r>
            <a:r>
              <a:rPr lang="es-ES" sz="1600" dirty="0"/>
              <a:t> </a:t>
            </a:r>
            <a:r>
              <a:rPr lang="es-ES" sz="1600" i="1" dirty="0" err="1"/>
              <a:t>Fisica</a:t>
            </a:r>
            <a:r>
              <a:rPr lang="es-ES" sz="1600" i="1" dirty="0"/>
              <a:t> para Ciencias e </a:t>
            </a:r>
            <a:r>
              <a:rPr lang="es-ES" sz="1600" i="1" dirty="0" err="1"/>
              <a:t>Ingeneiría</a:t>
            </a:r>
            <a:r>
              <a:rPr lang="es-ES" sz="1600" i="1" dirty="0"/>
              <a:t>. </a:t>
            </a:r>
            <a:r>
              <a:rPr lang="es-ES" sz="1600" dirty="0"/>
              <a:t>México : </a:t>
            </a:r>
            <a:r>
              <a:rPr lang="es-ES" sz="1600" dirty="0" err="1"/>
              <a:t>Cengage</a:t>
            </a:r>
            <a:r>
              <a:rPr lang="es-ES" sz="1600" dirty="0"/>
              <a:t> </a:t>
            </a:r>
            <a:r>
              <a:rPr lang="es-ES" sz="1600" dirty="0" err="1"/>
              <a:t>Learning</a:t>
            </a:r>
            <a:r>
              <a:rPr lang="es-ES" sz="1600" dirty="0"/>
              <a:t>, 2015. Vol. I.</a:t>
            </a:r>
            <a:endParaRPr lang="es-PE" sz="1600" dirty="0"/>
          </a:p>
          <a:p>
            <a:r>
              <a:rPr lang="es-ES" sz="1600" dirty="0"/>
              <a:t>2. </a:t>
            </a:r>
            <a:r>
              <a:rPr lang="es-ES" sz="1600" b="1" dirty="0" err="1"/>
              <a:t>Resnick</a:t>
            </a:r>
            <a:r>
              <a:rPr lang="es-ES" sz="1600" b="1" dirty="0"/>
              <a:t>, R., </a:t>
            </a:r>
            <a:r>
              <a:rPr lang="es-ES" sz="1600" b="1" dirty="0" err="1"/>
              <a:t>Halliday</a:t>
            </a:r>
            <a:r>
              <a:rPr lang="es-ES" sz="1600" b="1" dirty="0"/>
              <a:t>, D. y </a:t>
            </a:r>
            <a:r>
              <a:rPr lang="es-ES" sz="1600" b="1" dirty="0" err="1"/>
              <a:t>Krane</a:t>
            </a:r>
            <a:r>
              <a:rPr lang="es-ES" sz="1600" b="1" dirty="0"/>
              <a:t>, K. S.</a:t>
            </a:r>
            <a:r>
              <a:rPr lang="es-ES" sz="1600" dirty="0"/>
              <a:t> </a:t>
            </a:r>
            <a:r>
              <a:rPr lang="es-ES" sz="1600" i="1" dirty="0"/>
              <a:t>Física. </a:t>
            </a:r>
            <a:r>
              <a:rPr lang="es-ES" sz="1600" dirty="0"/>
              <a:t>Quinta. México : </a:t>
            </a:r>
            <a:r>
              <a:rPr lang="es-ES" sz="1600" dirty="0" err="1"/>
              <a:t>Compañia</a:t>
            </a:r>
            <a:r>
              <a:rPr lang="es-ES" sz="1600" dirty="0"/>
              <a:t> editorial Continental, 2014. Vol. I.</a:t>
            </a:r>
            <a:endParaRPr lang="es-PE" sz="1600" dirty="0"/>
          </a:p>
          <a:p>
            <a:r>
              <a:rPr lang="es-ES" sz="1600" dirty="0"/>
              <a:t>3. </a:t>
            </a:r>
            <a:r>
              <a:rPr lang="es-ES" sz="1600" b="1" dirty="0" err="1"/>
              <a:t>Tipler</a:t>
            </a:r>
            <a:r>
              <a:rPr lang="es-ES" sz="1600" b="1" dirty="0"/>
              <a:t>, P. A. y Mosca, G.</a:t>
            </a:r>
            <a:r>
              <a:rPr lang="es-ES" sz="1600" dirty="0"/>
              <a:t> </a:t>
            </a:r>
            <a:r>
              <a:rPr lang="es-ES" sz="1600" i="1" dirty="0"/>
              <a:t>Física para la Ciencia y la Tecnología. </a:t>
            </a:r>
            <a:r>
              <a:rPr lang="es-ES" sz="1600" dirty="0"/>
              <a:t>Sexta. Barcelona : </a:t>
            </a:r>
            <a:r>
              <a:rPr lang="es-ES" sz="1600" dirty="0" err="1"/>
              <a:t>Reverté</a:t>
            </a:r>
            <a:r>
              <a:rPr lang="es-ES" sz="1600" dirty="0"/>
              <a:t> S.A., 2010. Vol. I.</a:t>
            </a:r>
            <a:endParaRPr lang="es-PE" sz="1600" dirty="0"/>
          </a:p>
          <a:p>
            <a:r>
              <a:rPr lang="es-ES" sz="1600" dirty="0"/>
              <a:t>4. </a:t>
            </a:r>
            <a:r>
              <a:rPr lang="es-ES" sz="1600" b="1" dirty="0" err="1"/>
              <a:t>Zemansky</a:t>
            </a:r>
            <a:r>
              <a:rPr lang="es-ES" sz="1600" b="1" dirty="0"/>
              <a:t>, M. W. y </a:t>
            </a:r>
            <a:r>
              <a:rPr lang="es-ES" sz="1600" b="1" dirty="0" err="1"/>
              <a:t>Freedman</a:t>
            </a:r>
            <a:r>
              <a:rPr lang="es-ES" sz="1600" b="1" dirty="0"/>
              <a:t>, R.A.</a:t>
            </a:r>
            <a:r>
              <a:rPr lang="es-ES" sz="1600" dirty="0"/>
              <a:t> </a:t>
            </a:r>
            <a:r>
              <a:rPr lang="es-ES" sz="1600" i="1" dirty="0"/>
              <a:t>Física Universitaria. </a:t>
            </a:r>
            <a:r>
              <a:rPr lang="es-ES" sz="1600" dirty="0"/>
              <a:t>México : Pearson </a:t>
            </a:r>
            <a:r>
              <a:rPr lang="es-ES" sz="1600" dirty="0" err="1"/>
              <a:t>Education</a:t>
            </a:r>
            <a:r>
              <a:rPr lang="es-ES" sz="1600" dirty="0"/>
              <a:t>, 2009. Vol. I.</a:t>
            </a:r>
            <a:endParaRPr lang="es-PE" sz="1600" dirty="0"/>
          </a:p>
          <a:p>
            <a:r>
              <a:rPr lang="es-ES" sz="1600" dirty="0"/>
              <a:t>5. </a:t>
            </a:r>
            <a:r>
              <a:rPr lang="es-ES" sz="1600" b="1" dirty="0" err="1"/>
              <a:t>Fishbane</a:t>
            </a:r>
            <a:r>
              <a:rPr lang="es-ES" sz="1600" b="1" dirty="0"/>
              <a:t>, P.M., </a:t>
            </a:r>
            <a:r>
              <a:rPr lang="es-ES" sz="1600" b="1" dirty="0" err="1"/>
              <a:t>Gasiorowicz</a:t>
            </a:r>
            <a:r>
              <a:rPr lang="es-ES" sz="1600" b="1" dirty="0"/>
              <a:t>, S. y </a:t>
            </a:r>
            <a:r>
              <a:rPr lang="es-ES" sz="1600" b="1" dirty="0" err="1"/>
              <a:t>Thornton</a:t>
            </a:r>
            <a:r>
              <a:rPr lang="es-ES" sz="1600" b="1" dirty="0"/>
              <a:t>, S.T.</a:t>
            </a:r>
            <a:r>
              <a:rPr lang="es-ES" sz="1600" dirty="0"/>
              <a:t> </a:t>
            </a:r>
            <a:r>
              <a:rPr lang="es-ES" sz="1600" i="1" dirty="0"/>
              <a:t>Física para Ciencias e </a:t>
            </a:r>
            <a:r>
              <a:rPr lang="es-ES" sz="1600" i="1" dirty="0" err="1"/>
              <a:t>Ingeneiría</a:t>
            </a:r>
            <a:r>
              <a:rPr lang="es-ES" sz="1600" i="1" dirty="0"/>
              <a:t>. </a:t>
            </a:r>
            <a:r>
              <a:rPr lang="es-ES" sz="1600" dirty="0"/>
              <a:t>México : Prentice Hall Hispanoamericana, 1996. Vol. I.</a:t>
            </a:r>
            <a:endParaRPr lang="es-PE" sz="1600" dirty="0"/>
          </a:p>
          <a:p>
            <a:r>
              <a:rPr lang="es-ES" sz="1600" dirty="0"/>
              <a:t>6. </a:t>
            </a:r>
            <a:r>
              <a:rPr lang="es-ES" sz="1600" b="1" dirty="0"/>
              <a:t>Alonso, M. y </a:t>
            </a:r>
            <a:r>
              <a:rPr lang="es-ES" sz="1600" b="1" dirty="0" err="1"/>
              <a:t>Finn</a:t>
            </a:r>
            <a:r>
              <a:rPr lang="es-ES" sz="1600" b="1" dirty="0"/>
              <a:t>, E.J.</a:t>
            </a:r>
            <a:r>
              <a:rPr lang="es-ES" sz="1600" dirty="0"/>
              <a:t> </a:t>
            </a:r>
            <a:r>
              <a:rPr lang="es-ES" sz="1600" i="1" dirty="0"/>
              <a:t>Física: Mecánica. </a:t>
            </a:r>
            <a:r>
              <a:rPr lang="es-ES" sz="1600" dirty="0"/>
              <a:t>México : Fondo Educativo Interamericano S. A., 1971. Vol. I.</a:t>
            </a:r>
            <a:endParaRPr lang="es-PE" sz="1600" dirty="0"/>
          </a:p>
          <a:p>
            <a:r>
              <a:rPr lang="es-ES" sz="1600" b="1" u="sng" dirty="0"/>
              <a:t>Bibliografía Complementaria:</a:t>
            </a:r>
            <a:endParaRPr lang="es-PE" sz="1600" b="1" u="sng" dirty="0"/>
          </a:p>
          <a:p>
            <a:r>
              <a:rPr lang="es-ES" sz="1600" b="1" dirty="0"/>
              <a:t> </a:t>
            </a:r>
            <a:r>
              <a:rPr lang="es-ES" sz="1600" dirty="0"/>
              <a:t>7. </a:t>
            </a:r>
            <a:r>
              <a:rPr lang="es-ES" sz="1600" b="1" dirty="0" err="1"/>
              <a:t>Beer</a:t>
            </a:r>
            <a:r>
              <a:rPr lang="es-ES" sz="1600" b="1" dirty="0"/>
              <a:t>, F. P., y otros.</a:t>
            </a:r>
            <a:r>
              <a:rPr lang="es-ES" sz="1600" dirty="0"/>
              <a:t> </a:t>
            </a:r>
            <a:r>
              <a:rPr lang="es-ES" sz="1600" i="1" dirty="0"/>
              <a:t>Mecánica vectorial para ingenieros: Dinámica. </a:t>
            </a:r>
            <a:r>
              <a:rPr lang="es-ES" sz="1600" dirty="0"/>
              <a:t>México : Mc Graw Hill, 2010. Vol. Novena.</a:t>
            </a:r>
            <a:endParaRPr lang="es-PE" sz="1600" dirty="0"/>
          </a:p>
          <a:p>
            <a:r>
              <a:rPr lang="es-ES" sz="1600" dirty="0"/>
              <a:t>8. </a:t>
            </a:r>
            <a:r>
              <a:rPr lang="es-ES" sz="1600" b="1" dirty="0" err="1"/>
              <a:t>Beer</a:t>
            </a:r>
            <a:r>
              <a:rPr lang="es-ES" sz="1600" b="1" dirty="0"/>
              <a:t>, F.P., y otros.</a:t>
            </a:r>
            <a:r>
              <a:rPr lang="es-ES" sz="1600" dirty="0"/>
              <a:t> </a:t>
            </a:r>
            <a:r>
              <a:rPr lang="es-ES" sz="1600" i="1" dirty="0"/>
              <a:t>Mecánica Vectorial para Ingenieros: Estática. </a:t>
            </a:r>
            <a:r>
              <a:rPr lang="es-ES" sz="1600" dirty="0"/>
              <a:t>Novena. México : Mc Graw Hill, 2010.</a:t>
            </a:r>
            <a:endParaRPr lang="es-PE" sz="1600" dirty="0"/>
          </a:p>
          <a:p>
            <a:r>
              <a:rPr lang="es-ES" sz="1600" dirty="0"/>
              <a:t>9. </a:t>
            </a:r>
            <a:r>
              <a:rPr lang="es-ES" sz="1600" b="1" dirty="0"/>
              <a:t>Bedford, A. y </a:t>
            </a:r>
            <a:r>
              <a:rPr lang="es-ES" sz="1600" b="1" dirty="0" err="1"/>
              <a:t>Fowler</a:t>
            </a:r>
            <a:r>
              <a:rPr lang="es-ES" sz="1600" b="1" dirty="0"/>
              <a:t>, W.</a:t>
            </a:r>
            <a:r>
              <a:rPr lang="es-ES" sz="1600" dirty="0"/>
              <a:t> </a:t>
            </a:r>
            <a:r>
              <a:rPr lang="es-ES" sz="1600" i="1" dirty="0"/>
              <a:t>Mecánica para Ingeniería: Estática. </a:t>
            </a:r>
            <a:r>
              <a:rPr lang="es-ES" sz="1600" dirty="0"/>
              <a:t>Quinta. México : Pearson Educación, 2008.</a:t>
            </a:r>
            <a:endParaRPr lang="es-PE" sz="1600" dirty="0"/>
          </a:p>
          <a:p>
            <a:r>
              <a:rPr lang="es-ES" sz="1600" dirty="0"/>
              <a:t>10. —. </a:t>
            </a:r>
            <a:r>
              <a:rPr lang="es-ES" sz="1600" i="1" dirty="0"/>
              <a:t>Mecánica para Ingeniería: Dinámica. </a:t>
            </a:r>
            <a:r>
              <a:rPr lang="es-ES" sz="1600" dirty="0"/>
              <a:t>Quinta. México : Pearson Educación, 2008.</a:t>
            </a:r>
            <a:endParaRPr lang="es-PE" sz="1600" dirty="0"/>
          </a:p>
          <a:p>
            <a:r>
              <a:rPr lang="es-ES" sz="1600" dirty="0"/>
              <a:t>11. </a:t>
            </a:r>
            <a:r>
              <a:rPr lang="es-ES" sz="1600" b="1" dirty="0" err="1"/>
              <a:t>Hibbeler</a:t>
            </a:r>
            <a:r>
              <a:rPr lang="es-ES" sz="1600" b="1" dirty="0"/>
              <a:t>, R. C.</a:t>
            </a:r>
            <a:r>
              <a:rPr lang="es-ES" sz="1600" dirty="0"/>
              <a:t> </a:t>
            </a:r>
            <a:r>
              <a:rPr lang="es-ES" sz="1600" i="1" dirty="0"/>
              <a:t>Mecánica Vectorial para Ingenieros: Estática. </a:t>
            </a:r>
            <a:r>
              <a:rPr lang="es-ES" sz="1600" dirty="0"/>
              <a:t>Décima. México : Pearson Educación, 2004.</a:t>
            </a:r>
            <a:endParaRPr lang="es-PE" sz="1600" dirty="0"/>
          </a:p>
          <a:p>
            <a:r>
              <a:rPr lang="es-ES" sz="1600" dirty="0"/>
              <a:t>12. —. </a:t>
            </a:r>
            <a:r>
              <a:rPr lang="es-ES" sz="1600" i="1" dirty="0"/>
              <a:t>Mecánica Vectorial para Ingenieros: Dinámica. </a:t>
            </a:r>
            <a:r>
              <a:rPr lang="es-ES" sz="1600" dirty="0"/>
              <a:t>Décima. México : Pearson Educación, 2004.</a:t>
            </a:r>
            <a:r>
              <a:rPr lang="es-ES" sz="1500" dirty="0">
                <a:ea typeface="Symbol" panose="05050102010706020507" pitchFamily="18" charset="2"/>
                <a:cs typeface="Arial" panose="020B0604020202020204" pitchFamily="34" charset="0"/>
              </a:rPr>
              <a:t> </a:t>
            </a:r>
          </a:p>
          <a:p>
            <a:r>
              <a:rPr lang="es-ES" sz="1500" b="1" u="sng" dirty="0">
                <a:ea typeface="Times New Roman" panose="02020603050405020304" pitchFamily="18" charset="0"/>
              </a:rPr>
              <a:t>Fuentes </a:t>
            </a:r>
            <a:r>
              <a:rPr lang="es-ES" sz="1500" b="1" u="sng" dirty="0" err="1">
                <a:ea typeface="Times New Roman" panose="02020603050405020304" pitchFamily="18" charset="0"/>
              </a:rPr>
              <a:t>hemerográficas</a:t>
            </a:r>
            <a:endParaRPr lang="es-ES" sz="1500" b="1" u="sng" dirty="0">
              <a:ea typeface="Times New Roman" panose="02020603050405020304" pitchFamily="18" charset="0"/>
            </a:endParaRPr>
          </a:p>
          <a:p>
            <a:r>
              <a:rPr lang="es-ES" sz="1500" dirty="0" err="1">
                <a:ea typeface="Times New Roman" panose="02020603050405020304" pitchFamily="18" charset="0"/>
              </a:rPr>
              <a:t>Physics</a:t>
            </a:r>
            <a:r>
              <a:rPr lang="es-ES" sz="1500" dirty="0">
                <a:ea typeface="Times New Roman" panose="02020603050405020304" pitchFamily="18" charset="0"/>
              </a:rPr>
              <a:t> </a:t>
            </a:r>
            <a:r>
              <a:rPr lang="es-ES" sz="1500" dirty="0" err="1">
                <a:ea typeface="Times New Roman" panose="02020603050405020304" pitchFamily="18" charset="0"/>
              </a:rPr>
              <a:t>today</a:t>
            </a:r>
            <a:r>
              <a:rPr lang="es-ES" sz="1500" dirty="0">
                <a:ea typeface="Times New Roman" panose="02020603050405020304" pitchFamily="18" charset="0"/>
              </a:rPr>
              <a:t>, 68(11), 38(2015); </a:t>
            </a:r>
            <a:r>
              <a:rPr lang="es-ES" sz="1500" dirty="0" err="1">
                <a:ea typeface="Times New Roman" panose="02020603050405020304" pitchFamily="18" charset="0"/>
              </a:rPr>
              <a:t>doi</a:t>
            </a:r>
            <a:r>
              <a:rPr lang="es-ES" sz="1500" dirty="0">
                <a:ea typeface="Times New Roman" panose="02020603050405020304" pitchFamily="18" charset="0"/>
              </a:rPr>
              <a:t> 10.1063/PT 3.2980.</a:t>
            </a:r>
            <a:endParaRPr lang="es-PE" sz="1500" dirty="0">
              <a:ea typeface="Times New Roman" panose="02020603050405020304" pitchFamily="18" charset="0"/>
            </a:endParaRPr>
          </a:p>
          <a:p>
            <a:r>
              <a:rPr lang="es-ES" sz="1500" b="1" u="sng" dirty="0" err="1">
                <a:ea typeface="Times New Roman" panose="02020603050405020304" pitchFamily="18" charset="0"/>
              </a:rPr>
              <a:t>Webgrafia</a:t>
            </a:r>
            <a:endParaRPr lang="es-ES" sz="1500" b="1" u="sng" dirty="0">
              <a:ea typeface="Times New Roman" panose="02020603050405020304" pitchFamily="18" charset="0"/>
            </a:endParaRPr>
          </a:p>
          <a:p>
            <a:r>
              <a:rPr lang="es-PE" sz="1500" u="sng" dirty="0">
                <a:ea typeface="Calibri" panose="020F0502020204030204" pitchFamily="34" charset="0"/>
                <a:cs typeface="Arial" panose="020B0604020202020204" pitchFamily="34" charset="0"/>
                <a:hlinkClick r:id="rId2"/>
              </a:rPr>
              <a:t>http://www.sc.ehu.es/sbweb/fisica/</a:t>
            </a:r>
            <a:endParaRPr lang="es-PE" sz="1500" u="sng" dirty="0">
              <a:ea typeface="Calibri" panose="020F0502020204030204" pitchFamily="34" charset="0"/>
              <a:cs typeface="Arial" panose="020B0604020202020204" pitchFamily="34" charset="0"/>
            </a:endParaRPr>
          </a:p>
          <a:p>
            <a:r>
              <a:rPr lang="es-PE" sz="1500" u="sng" dirty="0">
                <a:ea typeface="Calibri" panose="020F0502020204030204" pitchFamily="34" charset="0"/>
                <a:cs typeface="Arial" panose="020B0604020202020204" pitchFamily="34" charset="0"/>
                <a:hlinkClick r:id="rId3"/>
              </a:rPr>
              <a:t>http://www.fisicarecreativa.com/</a:t>
            </a:r>
            <a:endParaRPr lang="es-PE" sz="1500" dirty="0">
              <a:effectLst/>
              <a:ea typeface="Calibri" panose="020F0502020204030204" pitchFamily="34" charset="0"/>
            </a:endParaRPr>
          </a:p>
        </p:txBody>
      </p:sp>
    </p:spTree>
    <p:extLst>
      <p:ext uri="{BB962C8B-B14F-4D97-AF65-F5344CB8AC3E}">
        <p14:creationId xmlns:p14="http://schemas.microsoft.com/office/powerpoint/2010/main" val="485000593"/>
      </p:ext>
    </p:extLst>
  </p:cSld>
  <p:clrMapOvr>
    <a:masterClrMapping/>
  </p:clrMapOvr>
</p:sld>
</file>

<file path=ppt/theme/theme1.xml><?xml version="1.0" encoding="utf-8"?>
<a:theme xmlns:a="http://schemas.openxmlformats.org/drawingml/2006/main" name="PATR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PATRON</Template>
  <TotalTime>12177</TotalTime>
  <Words>1573</Words>
  <Application>Microsoft Office PowerPoint</Application>
  <PresentationFormat>A4 (210 x 297 mm)</PresentationFormat>
  <Paragraphs>229</Paragraphs>
  <Slides>24</Slides>
  <Notes>0</Notes>
  <HiddenSlides>0</HiddenSlides>
  <MMClips>0</MMClips>
  <ScaleCrop>false</ScaleCrop>
  <HeadingPairs>
    <vt:vector size="8" baseType="variant">
      <vt:variant>
        <vt:lpstr>Fuentes usadas</vt:lpstr>
      </vt:variant>
      <vt:variant>
        <vt:i4>10</vt:i4>
      </vt:variant>
      <vt:variant>
        <vt:lpstr>Tema</vt:lpstr>
      </vt:variant>
      <vt:variant>
        <vt:i4>1</vt:i4>
      </vt:variant>
      <vt:variant>
        <vt:lpstr>Servidores OLE incrustados</vt:lpstr>
      </vt:variant>
      <vt:variant>
        <vt:i4>2</vt:i4>
      </vt:variant>
      <vt:variant>
        <vt:lpstr>Títulos de diapositiva</vt:lpstr>
      </vt:variant>
      <vt:variant>
        <vt:i4>24</vt:i4>
      </vt:variant>
    </vt:vector>
  </HeadingPairs>
  <TitlesOfParts>
    <vt:vector size="37" baseType="lpstr">
      <vt:lpstr>ＭＳ Ｐゴシック</vt:lpstr>
      <vt:lpstr>Arial</vt:lpstr>
      <vt:lpstr>Calibri</vt:lpstr>
      <vt:lpstr>Cambria Math</vt:lpstr>
      <vt:lpstr>Comic Sans MS</vt:lpstr>
      <vt:lpstr>NewBaskerville-Italic</vt:lpstr>
      <vt:lpstr>NewBaskerville-Roman</vt:lpstr>
      <vt:lpstr>Symbol</vt:lpstr>
      <vt:lpstr>Times New Roman</vt:lpstr>
      <vt:lpstr>Wingdings</vt:lpstr>
      <vt:lpstr>PATRON</vt:lpstr>
      <vt:lpstr>Ecuación</vt:lpstr>
      <vt:lpstr>Equation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Privada del Norte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Delfin Narciso</dc:creator>
  <cp:lastModifiedBy>Nelson Alberto</cp:lastModifiedBy>
  <cp:revision>624</cp:revision>
  <dcterms:created xsi:type="dcterms:W3CDTF">2012-09-19T03:34:19Z</dcterms:created>
  <dcterms:modified xsi:type="dcterms:W3CDTF">2019-11-25T04:36:03Z</dcterms:modified>
</cp:coreProperties>
</file>