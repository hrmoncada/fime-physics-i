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8" r:id="rId1"/>
  </p:sldMasterIdLst>
  <p:notesMasterIdLst>
    <p:notesMasterId r:id="rId14"/>
  </p:notesMasterIdLst>
  <p:sldIdLst>
    <p:sldId id="256" r:id="rId2"/>
    <p:sldId id="269" r:id="rId3"/>
    <p:sldId id="266" r:id="rId4"/>
    <p:sldId id="267" r:id="rId5"/>
    <p:sldId id="268" r:id="rId6"/>
    <p:sldId id="257" r:id="rId7"/>
    <p:sldId id="258" r:id="rId8"/>
    <p:sldId id="271" r:id="rId9"/>
    <p:sldId id="259" r:id="rId10"/>
    <p:sldId id="260" r:id="rId11"/>
    <p:sldId id="262" r:id="rId12"/>
    <p:sldId id="272" r:id="rId13"/>
  </p:sldIdLst>
  <p:sldSz cx="9144000" cy="6858000" type="screen4x3"/>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D55FF8-5016-4A82-9D7B-B402E3D44C86}" type="datetimeFigureOut">
              <a:rPr lang="es-MX" smtClean="0"/>
              <a:t>12/11/2014</a:t>
            </a:fld>
            <a:endParaRPr lang="es-MX"/>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F08B93-998E-4251-B951-A31B58B46DB1}" type="slidenum">
              <a:rPr lang="es-MX" smtClean="0"/>
              <a:t>‹Nº›</a:t>
            </a:fld>
            <a:endParaRPr lang="es-MX"/>
          </a:p>
        </p:txBody>
      </p:sp>
    </p:spTree>
    <p:extLst>
      <p:ext uri="{BB962C8B-B14F-4D97-AF65-F5344CB8AC3E}">
        <p14:creationId xmlns:p14="http://schemas.microsoft.com/office/powerpoint/2010/main" val="3635210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10"/>
          </p:nvPr>
        </p:nvSpPr>
        <p:spPr/>
        <p:txBody>
          <a:bodyPr/>
          <a:lstStyle/>
          <a:p>
            <a:fld id="{20F08B93-998E-4251-B951-A31B58B46DB1}" type="slidenum">
              <a:rPr lang="es-MX" smtClean="0"/>
              <a:t>10</a:t>
            </a:fld>
            <a:endParaRPr lang="es-MX"/>
          </a:p>
        </p:txBody>
      </p:sp>
    </p:spTree>
    <p:extLst>
      <p:ext uri="{BB962C8B-B14F-4D97-AF65-F5344CB8AC3E}">
        <p14:creationId xmlns:p14="http://schemas.microsoft.com/office/powerpoint/2010/main" val="10914213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23" name="22 Rectángulo"/>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23 Rectángulo"/>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24 Rectángulo"/>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25 Rectángulo"/>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26 Rectángulo"/>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29 Rectángulo redondeado"/>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30 Rectángulo redondeado"/>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6 Rectángulo"/>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9 Rectángulo"/>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Rectángulo"/>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18 Rectángulo"/>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7 Título"/>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s-ES" smtClean="0"/>
              <a:t>Haga clic para modificar el estilo de título del patrón</a:t>
            </a:r>
            <a:endParaRPr kumimoji="0" lang="en-US"/>
          </a:p>
        </p:txBody>
      </p:sp>
      <p:sp>
        <p:nvSpPr>
          <p:cNvPr id="9" name="8 Subtítulo"/>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28" name="27 Marcador de fecha"/>
          <p:cNvSpPr>
            <a:spLocks noGrp="1"/>
          </p:cNvSpPr>
          <p:nvPr>
            <p:ph type="dt" sz="half" idx="10"/>
          </p:nvPr>
        </p:nvSpPr>
        <p:spPr>
          <a:xfrm>
            <a:off x="6705600" y="4206240"/>
            <a:ext cx="960120" cy="457200"/>
          </a:xfrm>
        </p:spPr>
        <p:txBody>
          <a:bodyPr/>
          <a:lstStyle/>
          <a:p>
            <a:fld id="{3345BA33-96E9-4A55-8E87-AEDFC3424FE0}" type="datetimeFigureOut">
              <a:rPr lang="es-MX" smtClean="0"/>
              <a:t>12/11/2014</a:t>
            </a:fld>
            <a:endParaRPr lang="es-MX"/>
          </a:p>
        </p:txBody>
      </p:sp>
      <p:sp>
        <p:nvSpPr>
          <p:cNvPr id="17" name="16 Marcador de pie de página"/>
          <p:cNvSpPr>
            <a:spLocks noGrp="1"/>
          </p:cNvSpPr>
          <p:nvPr>
            <p:ph type="ftr" sz="quarter" idx="11"/>
          </p:nvPr>
        </p:nvSpPr>
        <p:spPr>
          <a:xfrm>
            <a:off x="5410200" y="4205288"/>
            <a:ext cx="1295400" cy="457200"/>
          </a:xfrm>
        </p:spPr>
        <p:txBody>
          <a:bodyPr/>
          <a:lstStyle/>
          <a:p>
            <a:endParaRPr lang="es-MX"/>
          </a:p>
        </p:txBody>
      </p:sp>
      <p:sp>
        <p:nvSpPr>
          <p:cNvPr id="29" name="28 Marcador de número de diapositiva"/>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8B001B1C-7265-48BF-922B-2254B44099AD}" type="slidenum">
              <a:rPr lang="es-MX" smtClean="0"/>
              <a:t>‹Nº›</a:t>
            </a:fld>
            <a:endParaRPr lang="es-MX"/>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contenido"/>
          <p:cNvSpPr>
            <a:spLocks noGrp="1"/>
          </p:cNvSpPr>
          <p:nvPr>
            <p:ph idx="1"/>
          </p:nvPr>
        </p:nvSpPr>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3345BA33-96E9-4A55-8E87-AEDFC3424FE0}" type="datetimeFigureOut">
              <a:rPr lang="es-MX" smtClean="0"/>
              <a:t>12/11/2014</a:t>
            </a:fld>
            <a:endParaRPr lang="es-MX"/>
          </a:p>
        </p:txBody>
      </p:sp>
      <p:sp>
        <p:nvSpPr>
          <p:cNvPr id="5" name="4 Marcador de pie de página"/>
          <p:cNvSpPr>
            <a:spLocks noGrp="1"/>
          </p:cNvSpPr>
          <p:nvPr>
            <p:ph type="ftr" sz="quarter" idx="11"/>
          </p:nvPr>
        </p:nvSpPr>
        <p:spPr/>
        <p:txBody>
          <a:bodyPr/>
          <a:lstStyle/>
          <a:p>
            <a:endParaRPr lang="es-MX"/>
          </a:p>
        </p:txBody>
      </p:sp>
      <p:sp>
        <p:nvSpPr>
          <p:cNvPr id="6" name="5 Marcador de número de diapositiva"/>
          <p:cNvSpPr>
            <a:spLocks noGrp="1"/>
          </p:cNvSpPr>
          <p:nvPr>
            <p:ph type="sldNum" sz="quarter" idx="12"/>
          </p:nvPr>
        </p:nvSpPr>
        <p:spPr/>
        <p:txBody>
          <a:bodyPr/>
          <a:lstStyle/>
          <a:p>
            <a:fld id="{8B001B1C-7265-48BF-922B-2254B44099AD}" type="slidenum">
              <a:rPr lang="es-MX" smtClean="0"/>
              <a:t>‹Nº›</a:t>
            </a:fld>
            <a:endParaRPr lang="es-MX"/>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p:txBody>
          <a:bodyPr/>
          <a:lstStyle/>
          <a:p>
            <a:fld id="{3345BA33-96E9-4A55-8E87-AEDFC3424FE0}" type="datetimeFigureOut">
              <a:rPr lang="es-MX" smtClean="0"/>
              <a:t>12/11/2014</a:t>
            </a:fld>
            <a:endParaRPr lang="es-MX"/>
          </a:p>
        </p:txBody>
      </p:sp>
      <p:sp>
        <p:nvSpPr>
          <p:cNvPr id="5" name="4 Marcador de pie de página"/>
          <p:cNvSpPr>
            <a:spLocks noGrp="1"/>
          </p:cNvSpPr>
          <p:nvPr>
            <p:ph type="ftr" sz="quarter" idx="11"/>
          </p:nvPr>
        </p:nvSpPr>
        <p:spPr/>
        <p:txBody>
          <a:bodyPr/>
          <a:lstStyle/>
          <a:p>
            <a:endParaRPr lang="es-MX"/>
          </a:p>
        </p:txBody>
      </p:sp>
      <p:sp>
        <p:nvSpPr>
          <p:cNvPr id="6" name="5 Marcador de número de diapositiva"/>
          <p:cNvSpPr>
            <a:spLocks noGrp="1"/>
          </p:cNvSpPr>
          <p:nvPr>
            <p:ph type="sldNum" sz="quarter" idx="12"/>
          </p:nvPr>
        </p:nvSpPr>
        <p:spPr/>
        <p:txBody>
          <a:bodyPr/>
          <a:lstStyle/>
          <a:p>
            <a:fld id="{8B001B1C-7265-48BF-922B-2254B44099AD}" type="slidenum">
              <a:rPr lang="es-MX" smtClean="0"/>
              <a:t>‹Nº›</a:t>
            </a:fld>
            <a:endParaRPr lang="es-MX"/>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contenido"/>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contenido"/>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p:txBody>
          <a:bodyPr/>
          <a:lstStyle/>
          <a:p>
            <a:fld id="{3345BA33-96E9-4A55-8E87-AEDFC3424FE0}" type="datetimeFigureOut">
              <a:rPr lang="es-MX" smtClean="0"/>
              <a:t>12/11/2014</a:t>
            </a:fld>
            <a:endParaRPr lang="es-MX"/>
          </a:p>
        </p:txBody>
      </p:sp>
      <p:sp>
        <p:nvSpPr>
          <p:cNvPr id="6" name="5 Marcador de pie de página"/>
          <p:cNvSpPr>
            <a:spLocks noGrp="1"/>
          </p:cNvSpPr>
          <p:nvPr>
            <p:ph type="ftr" sz="quarter" idx="11"/>
          </p:nvPr>
        </p:nvSpPr>
        <p:spPr/>
        <p:txBody>
          <a:bodyPr/>
          <a:lstStyle/>
          <a:p>
            <a:endParaRPr lang="es-MX"/>
          </a:p>
        </p:txBody>
      </p:sp>
      <p:sp>
        <p:nvSpPr>
          <p:cNvPr id="7" name="6 Marcador de número de diapositiva"/>
          <p:cNvSpPr>
            <a:spLocks noGrp="1"/>
          </p:cNvSpPr>
          <p:nvPr>
            <p:ph type="sldNum" sz="quarter" idx="12"/>
          </p:nvPr>
        </p:nvSpPr>
        <p:spPr/>
        <p:txBody>
          <a:bodyPr/>
          <a:lstStyle/>
          <a:p>
            <a:fld id="{8B001B1C-7265-48BF-922B-2254B44099AD}" type="slidenum">
              <a:rPr lang="es-MX" smtClean="0"/>
              <a:t>‹Nº›</a:t>
            </a:fld>
            <a:endParaRPr lang="es-MX"/>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381000" y="1143000"/>
            <a:ext cx="8382000" cy="1069848"/>
          </a:xfrm>
        </p:spPr>
        <p:txBody>
          <a:bodyPr anchor="ctr"/>
          <a:lstStyle>
            <a:lvl1pPr>
              <a:defRPr sz="4000" b="0" i="0" cap="none" baseline="0"/>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5" name="4 Marcador de contenido"/>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6" name="5 Marcador de contenido"/>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26" name="25 Marcador de fecha"/>
          <p:cNvSpPr>
            <a:spLocks noGrp="1"/>
          </p:cNvSpPr>
          <p:nvPr>
            <p:ph type="dt" sz="half" idx="10"/>
          </p:nvPr>
        </p:nvSpPr>
        <p:spPr/>
        <p:txBody>
          <a:bodyPr rtlCol="0"/>
          <a:lstStyle/>
          <a:p>
            <a:fld id="{3345BA33-96E9-4A55-8E87-AEDFC3424FE0}" type="datetimeFigureOut">
              <a:rPr lang="es-MX" smtClean="0"/>
              <a:t>12/11/2014</a:t>
            </a:fld>
            <a:endParaRPr lang="es-MX"/>
          </a:p>
        </p:txBody>
      </p:sp>
      <p:sp>
        <p:nvSpPr>
          <p:cNvPr id="27" name="26 Marcador de número de diapositiva"/>
          <p:cNvSpPr>
            <a:spLocks noGrp="1"/>
          </p:cNvSpPr>
          <p:nvPr>
            <p:ph type="sldNum" sz="quarter" idx="11"/>
          </p:nvPr>
        </p:nvSpPr>
        <p:spPr/>
        <p:txBody>
          <a:bodyPr rtlCol="0"/>
          <a:lstStyle/>
          <a:p>
            <a:fld id="{8B001B1C-7265-48BF-922B-2254B44099AD}" type="slidenum">
              <a:rPr lang="es-MX" smtClean="0"/>
              <a:t>‹Nº›</a:t>
            </a:fld>
            <a:endParaRPr lang="es-MX"/>
          </a:p>
        </p:txBody>
      </p:sp>
      <p:sp>
        <p:nvSpPr>
          <p:cNvPr id="28" name="27 Marcador de pie de página"/>
          <p:cNvSpPr>
            <a:spLocks noGrp="1"/>
          </p:cNvSpPr>
          <p:nvPr>
            <p:ph type="ftr" sz="quarter" idx="12"/>
          </p:nvPr>
        </p:nvSpPr>
        <p:spPr/>
        <p:txBody>
          <a:bodyPr rtlCol="0"/>
          <a:lstStyle/>
          <a:p>
            <a:endParaRPr lang="es-MX"/>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s-ES" smtClean="0"/>
              <a:t>Haga clic para modificar el estilo de título del patrón</a:t>
            </a:r>
            <a:endParaRPr kumimoji="0" lang="en-US"/>
          </a:p>
        </p:txBody>
      </p:sp>
      <p:sp>
        <p:nvSpPr>
          <p:cNvPr id="3" name="2 Marcador de fecha"/>
          <p:cNvSpPr>
            <a:spLocks noGrp="1"/>
          </p:cNvSpPr>
          <p:nvPr>
            <p:ph type="dt" sz="half" idx="10"/>
          </p:nvPr>
        </p:nvSpPr>
        <p:spPr>
          <a:xfrm>
            <a:off x="6583680" y="612648"/>
            <a:ext cx="957264" cy="457200"/>
          </a:xfrm>
        </p:spPr>
        <p:txBody>
          <a:bodyPr/>
          <a:lstStyle/>
          <a:p>
            <a:fld id="{3345BA33-96E9-4A55-8E87-AEDFC3424FE0}" type="datetimeFigureOut">
              <a:rPr lang="es-MX" smtClean="0"/>
              <a:t>12/11/2014</a:t>
            </a:fld>
            <a:endParaRPr lang="es-MX"/>
          </a:p>
        </p:txBody>
      </p:sp>
      <p:sp>
        <p:nvSpPr>
          <p:cNvPr id="4" name="3 Marcador de pie de página"/>
          <p:cNvSpPr>
            <a:spLocks noGrp="1"/>
          </p:cNvSpPr>
          <p:nvPr>
            <p:ph type="ftr" sz="quarter" idx="11"/>
          </p:nvPr>
        </p:nvSpPr>
        <p:spPr>
          <a:xfrm>
            <a:off x="5257800" y="612648"/>
            <a:ext cx="1325880" cy="457200"/>
          </a:xfrm>
        </p:spPr>
        <p:txBody>
          <a:bodyPr/>
          <a:lstStyle/>
          <a:p>
            <a:endParaRPr lang="es-MX"/>
          </a:p>
        </p:txBody>
      </p:sp>
      <p:sp>
        <p:nvSpPr>
          <p:cNvPr id="5" name="4 Marcador de número de diapositiva"/>
          <p:cNvSpPr>
            <a:spLocks noGrp="1"/>
          </p:cNvSpPr>
          <p:nvPr>
            <p:ph type="sldNum" sz="quarter" idx="12"/>
          </p:nvPr>
        </p:nvSpPr>
        <p:spPr>
          <a:xfrm>
            <a:off x="8174736" y="2272"/>
            <a:ext cx="762000" cy="365760"/>
          </a:xfrm>
        </p:spPr>
        <p:txBody>
          <a:bodyPr/>
          <a:lstStyle/>
          <a:p>
            <a:fld id="{8B001B1C-7265-48BF-922B-2254B44099AD}" type="slidenum">
              <a:rPr lang="es-MX" smtClean="0"/>
              <a:t>‹Nº›</a:t>
            </a:fld>
            <a:endParaRPr lang="es-MX"/>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3345BA33-96E9-4A55-8E87-AEDFC3424FE0}" type="datetimeFigureOut">
              <a:rPr lang="es-MX" smtClean="0"/>
              <a:t>12/11/2014</a:t>
            </a:fld>
            <a:endParaRPr lang="es-MX"/>
          </a:p>
        </p:txBody>
      </p:sp>
      <p:sp>
        <p:nvSpPr>
          <p:cNvPr id="3" name="2 Marcador de pie de página"/>
          <p:cNvSpPr>
            <a:spLocks noGrp="1"/>
          </p:cNvSpPr>
          <p:nvPr>
            <p:ph type="ftr" sz="quarter" idx="11"/>
          </p:nvPr>
        </p:nvSpPr>
        <p:spPr/>
        <p:txBody>
          <a:bodyPr/>
          <a:lstStyle/>
          <a:p>
            <a:endParaRPr lang="es-MX"/>
          </a:p>
        </p:txBody>
      </p:sp>
      <p:sp>
        <p:nvSpPr>
          <p:cNvPr id="4" name="3 Marcador de número de diapositiva"/>
          <p:cNvSpPr>
            <a:spLocks noGrp="1"/>
          </p:cNvSpPr>
          <p:nvPr>
            <p:ph type="sldNum" sz="quarter" idx="12"/>
          </p:nvPr>
        </p:nvSpPr>
        <p:spPr/>
        <p:txBody>
          <a:bodyPr/>
          <a:lstStyle/>
          <a:p>
            <a:fld id="{8B001B1C-7265-48BF-922B-2254B44099AD}" type="slidenum">
              <a:rPr lang="es-MX" smtClean="0"/>
              <a:t>‹Nº›</a:t>
            </a:fld>
            <a:endParaRPr lang="es-MX"/>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5353496" y="1101970"/>
            <a:ext cx="3383280" cy="877824"/>
          </a:xfrm>
        </p:spPr>
        <p:txBody>
          <a:bodyPr anchor="b"/>
          <a:lstStyle>
            <a:lvl1pPr algn="l">
              <a:buNone/>
              <a:defRPr sz="1800" b="1"/>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s-ES" smtClean="0"/>
              <a:t>Haga clic para modificar el estilo de texto del patrón</a:t>
            </a:r>
          </a:p>
        </p:txBody>
      </p:sp>
      <p:sp>
        <p:nvSpPr>
          <p:cNvPr id="4" name="3 Marcador de contenido"/>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p:txBody>
          <a:bodyPr/>
          <a:lstStyle/>
          <a:p>
            <a:fld id="{3345BA33-96E9-4A55-8E87-AEDFC3424FE0}" type="datetimeFigureOut">
              <a:rPr lang="es-MX" smtClean="0"/>
              <a:t>12/11/2014</a:t>
            </a:fld>
            <a:endParaRPr lang="es-MX"/>
          </a:p>
        </p:txBody>
      </p:sp>
      <p:sp>
        <p:nvSpPr>
          <p:cNvPr id="6" name="5 Marcador de pie de página"/>
          <p:cNvSpPr>
            <a:spLocks noGrp="1"/>
          </p:cNvSpPr>
          <p:nvPr>
            <p:ph type="ftr" sz="quarter" idx="11"/>
          </p:nvPr>
        </p:nvSpPr>
        <p:spPr/>
        <p:txBody>
          <a:bodyPr/>
          <a:lstStyle/>
          <a:p>
            <a:endParaRPr lang="es-MX"/>
          </a:p>
        </p:txBody>
      </p:sp>
      <p:sp>
        <p:nvSpPr>
          <p:cNvPr id="7" name="6 Marcador de número de diapositiva"/>
          <p:cNvSpPr>
            <a:spLocks noGrp="1"/>
          </p:cNvSpPr>
          <p:nvPr>
            <p:ph type="sldNum" sz="quarter" idx="12"/>
          </p:nvPr>
        </p:nvSpPr>
        <p:spPr/>
        <p:txBody>
          <a:bodyPr/>
          <a:lstStyle/>
          <a:p>
            <a:fld id="{8B001B1C-7265-48BF-922B-2254B44099AD}" type="slidenum">
              <a:rPr lang="es-MX" smtClean="0"/>
              <a:t>‹Nº›</a:t>
            </a:fld>
            <a:endParaRPr lang="es-MX"/>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s-ES" smtClean="0"/>
              <a:t>Haga clic para modificar el estilo de título del patrón</a:t>
            </a:r>
            <a:endParaRPr kumimoji="0" lang="en-US"/>
          </a:p>
        </p:txBody>
      </p:sp>
      <p:sp>
        <p:nvSpPr>
          <p:cNvPr id="3" name="2 Marcador de posición de imagen"/>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s-ES" smtClean="0"/>
              <a:t>Haga clic en el icono para agregar una imagen</a:t>
            </a:r>
            <a:endParaRPr kumimoji="0" lang="en-US" dirty="0"/>
          </a:p>
        </p:txBody>
      </p:sp>
      <p:sp>
        <p:nvSpPr>
          <p:cNvPr id="4" name="3 Marcador de texto"/>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p:txBody>
          <a:bodyPr/>
          <a:lstStyle/>
          <a:p>
            <a:fld id="{3345BA33-96E9-4A55-8E87-AEDFC3424FE0}" type="datetimeFigureOut">
              <a:rPr lang="es-MX" smtClean="0"/>
              <a:t>12/11/2014</a:t>
            </a:fld>
            <a:endParaRPr lang="es-MX"/>
          </a:p>
        </p:txBody>
      </p:sp>
      <p:sp>
        <p:nvSpPr>
          <p:cNvPr id="6" name="5 Marcador de pie de página"/>
          <p:cNvSpPr>
            <a:spLocks noGrp="1"/>
          </p:cNvSpPr>
          <p:nvPr>
            <p:ph type="ftr" sz="quarter" idx="11"/>
          </p:nvPr>
        </p:nvSpPr>
        <p:spPr/>
        <p:txBody>
          <a:bodyPr/>
          <a:lstStyle/>
          <a:p>
            <a:endParaRPr lang="es-MX"/>
          </a:p>
        </p:txBody>
      </p:sp>
      <p:sp>
        <p:nvSpPr>
          <p:cNvPr id="7" name="6 Marcador de número de diapositiva"/>
          <p:cNvSpPr>
            <a:spLocks noGrp="1"/>
          </p:cNvSpPr>
          <p:nvPr>
            <p:ph type="sldNum" sz="quarter" idx="12"/>
          </p:nvPr>
        </p:nvSpPr>
        <p:spPr/>
        <p:txBody>
          <a:bodyPr/>
          <a:lstStyle/>
          <a:p>
            <a:fld id="{8B001B1C-7265-48BF-922B-2254B44099AD}" type="slidenum">
              <a:rPr lang="es-MX" smtClean="0"/>
              <a:t>‹Nº›</a:t>
            </a:fld>
            <a:endParaRPr lang="es-MX"/>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3345BA33-96E9-4A55-8E87-AEDFC3424FE0}" type="datetimeFigureOut">
              <a:rPr lang="es-MX" smtClean="0"/>
              <a:t>12/11/2014</a:t>
            </a:fld>
            <a:endParaRPr lang="es-MX"/>
          </a:p>
        </p:txBody>
      </p:sp>
      <p:sp>
        <p:nvSpPr>
          <p:cNvPr id="5" name="4 Marcador de pie de página"/>
          <p:cNvSpPr>
            <a:spLocks noGrp="1"/>
          </p:cNvSpPr>
          <p:nvPr>
            <p:ph type="ftr" sz="quarter" idx="11"/>
          </p:nvPr>
        </p:nvSpPr>
        <p:spPr/>
        <p:txBody>
          <a:bodyPr/>
          <a:lstStyle/>
          <a:p>
            <a:endParaRPr lang="es-MX"/>
          </a:p>
        </p:txBody>
      </p:sp>
      <p:sp>
        <p:nvSpPr>
          <p:cNvPr id="6" name="5 Marcador de número de diapositiva"/>
          <p:cNvSpPr>
            <a:spLocks noGrp="1"/>
          </p:cNvSpPr>
          <p:nvPr>
            <p:ph type="sldNum" sz="quarter" idx="12"/>
          </p:nvPr>
        </p:nvSpPr>
        <p:spPr/>
        <p:txBody>
          <a:bodyPr/>
          <a:lstStyle/>
          <a:p>
            <a:fld id="{8B001B1C-7265-48BF-922B-2254B44099AD}" type="slidenum">
              <a:rPr lang="es-MX" smtClean="0"/>
              <a:t>‹Nº›</a:t>
            </a:fld>
            <a:endParaRPr lang="es-MX"/>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781800" y="1143000"/>
            <a:ext cx="1905000" cy="5486400"/>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1143000"/>
            <a:ext cx="6248400" cy="5486400"/>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3345BA33-96E9-4A55-8E87-AEDFC3424FE0}" type="datetimeFigureOut">
              <a:rPr lang="es-MX" smtClean="0"/>
              <a:t>12/11/2014</a:t>
            </a:fld>
            <a:endParaRPr lang="es-MX"/>
          </a:p>
        </p:txBody>
      </p:sp>
      <p:sp>
        <p:nvSpPr>
          <p:cNvPr id="5" name="4 Marcador de pie de página"/>
          <p:cNvSpPr>
            <a:spLocks noGrp="1"/>
          </p:cNvSpPr>
          <p:nvPr>
            <p:ph type="ftr" sz="quarter" idx="11"/>
          </p:nvPr>
        </p:nvSpPr>
        <p:spPr/>
        <p:txBody>
          <a:bodyPr/>
          <a:lstStyle/>
          <a:p>
            <a:endParaRPr lang="es-MX"/>
          </a:p>
        </p:txBody>
      </p:sp>
      <p:sp>
        <p:nvSpPr>
          <p:cNvPr id="6" name="5 Marcador de número de diapositiva"/>
          <p:cNvSpPr>
            <a:spLocks noGrp="1"/>
          </p:cNvSpPr>
          <p:nvPr>
            <p:ph type="sldNum" sz="quarter" idx="12"/>
          </p:nvPr>
        </p:nvSpPr>
        <p:spPr/>
        <p:txBody>
          <a:bodyPr/>
          <a:lstStyle/>
          <a:p>
            <a:fld id="{8B001B1C-7265-48BF-922B-2254B44099AD}" type="slidenum">
              <a:rPr lang="es-MX" smtClean="0"/>
              <a:t>‹Nº›</a:t>
            </a:fld>
            <a:endParaRPr lang="es-MX"/>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27 Rectángulo"/>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28 Rectángulo"/>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29 Rectángulo"/>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30 Rectángulo"/>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31 Rectángulo"/>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32 Rectángulo redondeado"/>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33 Rectángulo redondeado"/>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34 Rectángulo"/>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35 Rectángulo"/>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36 Rectángulo"/>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37 Rectángulo"/>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38 Rectángulo"/>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39 Rectángulo"/>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21 Marcador de título"/>
          <p:cNvSpPr>
            <a:spLocks noGrp="1"/>
          </p:cNvSpPr>
          <p:nvPr>
            <p:ph type="title"/>
          </p:nvPr>
        </p:nvSpPr>
        <p:spPr>
          <a:xfrm>
            <a:off x="457200" y="1143000"/>
            <a:ext cx="8229600" cy="1066800"/>
          </a:xfrm>
          <a:prstGeom prst="rect">
            <a:avLst/>
          </a:prstGeom>
        </p:spPr>
        <p:txBody>
          <a:bodyPr vert="horz" anchor="ctr">
            <a:normAutofit/>
          </a:bodyPr>
          <a:lstStyle/>
          <a:p>
            <a:r>
              <a:rPr kumimoji="0" lang="es-ES" smtClean="0"/>
              <a:t>Haga clic para modificar el estilo de título del patrón</a:t>
            </a:r>
            <a:endParaRPr kumimoji="0" lang="en-US"/>
          </a:p>
        </p:txBody>
      </p:sp>
      <p:sp>
        <p:nvSpPr>
          <p:cNvPr id="13" name="12 Marcador de texto"/>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4" name="13 Marcador de fecha"/>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3345BA33-96E9-4A55-8E87-AEDFC3424FE0}" type="datetimeFigureOut">
              <a:rPr lang="es-MX" smtClean="0"/>
              <a:t>12/11/2014</a:t>
            </a:fld>
            <a:endParaRPr lang="es-MX"/>
          </a:p>
        </p:txBody>
      </p:sp>
      <p:sp>
        <p:nvSpPr>
          <p:cNvPr id="3" name="2 Marcador de pie de página"/>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s-MX"/>
          </a:p>
        </p:txBody>
      </p:sp>
      <p:sp>
        <p:nvSpPr>
          <p:cNvPr id="23" name="22 Marcador de número de diapositiva"/>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8B001B1C-7265-48BF-922B-2254B44099AD}" type="slidenum">
              <a:rPr lang="es-MX" smtClean="0"/>
              <a:t>‹Nº›</a:t>
            </a:fld>
            <a:endParaRPr lang="es-MX"/>
          </a:p>
        </p:txBody>
      </p:sp>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755576" y="764704"/>
            <a:ext cx="7772400" cy="1470025"/>
          </a:xfrm>
        </p:spPr>
        <p:txBody>
          <a:bodyPr>
            <a:normAutofit/>
          </a:bodyPr>
          <a:lstStyle/>
          <a:p>
            <a:r>
              <a:rPr lang="es-MX" dirty="0" smtClean="0"/>
              <a:t>Tercera ley de la termodinámica</a:t>
            </a:r>
            <a:endParaRPr lang="es-MX" dirty="0"/>
          </a:p>
        </p:txBody>
      </p:sp>
      <p:sp>
        <p:nvSpPr>
          <p:cNvPr id="3" name="2 Subtítulo"/>
          <p:cNvSpPr>
            <a:spLocks noGrp="1"/>
          </p:cNvSpPr>
          <p:nvPr>
            <p:ph type="subTitle" idx="1"/>
          </p:nvPr>
        </p:nvSpPr>
        <p:spPr>
          <a:xfrm>
            <a:off x="2483768" y="4653136"/>
            <a:ext cx="6400800" cy="1752600"/>
          </a:xfrm>
        </p:spPr>
        <p:txBody>
          <a:bodyPr/>
          <a:lstStyle/>
          <a:p>
            <a:pPr algn="r"/>
            <a:r>
              <a:rPr lang="es-MX" dirty="0" smtClean="0"/>
              <a:t>García Obezo ramón Silverio</a:t>
            </a:r>
          </a:p>
          <a:p>
            <a:pPr algn="r"/>
            <a:r>
              <a:rPr lang="es-MX" dirty="0" smtClean="0"/>
              <a:t>Grijalva Gámez José Rubén</a:t>
            </a:r>
          </a:p>
          <a:p>
            <a:pPr algn="r"/>
            <a:r>
              <a:rPr lang="es-MX" dirty="0" err="1" smtClean="0"/>
              <a:t>Guirado</a:t>
            </a:r>
            <a:r>
              <a:rPr lang="es-MX" dirty="0" smtClean="0"/>
              <a:t> rosas Gerardo </a:t>
            </a:r>
            <a:endParaRPr lang="es-MX" dirty="0"/>
          </a:p>
        </p:txBody>
      </p:sp>
    </p:spTree>
    <p:extLst>
      <p:ext uri="{BB962C8B-B14F-4D97-AF65-F5344CB8AC3E}">
        <p14:creationId xmlns:p14="http://schemas.microsoft.com/office/powerpoint/2010/main" val="133307282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upload.wikimedia.org/wikipedia/commons/6/6d/Translational_motion.gif"/>
          <p:cNvPicPr>
            <a:picLocks noGrp="1" noChangeAspect="1" noChangeArrowheads="1" noCro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476672"/>
            <a:ext cx="9144000" cy="6343820"/>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p:cNvSpPr>
            <a:spLocks noGrp="1"/>
          </p:cNvSpPr>
          <p:nvPr>
            <p:ph type="title"/>
          </p:nvPr>
        </p:nvSpPr>
        <p:spPr/>
        <p:txBody>
          <a:bodyPr>
            <a:normAutofit/>
          </a:bodyPr>
          <a:lstStyle/>
          <a:p>
            <a:r>
              <a:rPr lang="es-MX" dirty="0" smtClean="0"/>
              <a:t>Temperatura</a:t>
            </a:r>
            <a:endParaRPr lang="es-MX" dirty="0"/>
          </a:p>
        </p:txBody>
      </p:sp>
    </p:spTree>
    <p:extLst>
      <p:ext uri="{BB962C8B-B14F-4D97-AF65-F5344CB8AC3E}">
        <p14:creationId xmlns:p14="http://schemas.microsoft.com/office/powerpoint/2010/main" val="276707810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2"/>
          <p:cNvSpPr>
            <a:spLocks noGrp="1"/>
          </p:cNvSpPr>
          <p:nvPr>
            <p:ph idx="1"/>
          </p:nvPr>
        </p:nvSpPr>
        <p:spPr>
          <a:xfrm>
            <a:off x="467544" y="908720"/>
            <a:ext cx="8229600" cy="4325112"/>
          </a:xfrm>
        </p:spPr>
        <p:txBody>
          <a:bodyPr/>
          <a:lstStyle/>
          <a:p>
            <a:r>
              <a:rPr lang="es-MX" altLang="es-MX" dirty="0"/>
              <a:t>La tercera ley se generó en 1923 por Lewis y Randall.  Su base experimental surgió del estudio de las propiedades de materiales a muy bajas temperaturas, en particular de la capacidad calorífica</a:t>
            </a:r>
            <a:endParaRPr lang="es-MX" dirty="0"/>
          </a:p>
        </p:txBody>
      </p:sp>
      <p:pic>
        <p:nvPicPr>
          <p:cNvPr id="2050" name="Picture 2" descr="http://2.bp.blogspot.com/-qFoArVKqtj8/UIgo_AqY2PI/AAAAAAAAAIY/AQVZTni4Ws8/s1600/cero.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6139" y="3284984"/>
            <a:ext cx="4272409" cy="29574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346438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23528" y="1052736"/>
            <a:ext cx="8229600" cy="5112568"/>
          </a:xfrm>
        </p:spPr>
        <p:txBody>
          <a:bodyPr/>
          <a:lstStyle/>
          <a:p>
            <a:r>
              <a:rPr lang="es-MX" dirty="0"/>
              <a:t>La tercera ley nos permite medir valores absolutos de la entropía para cualquier sustancia</a:t>
            </a:r>
          </a:p>
        </p:txBody>
      </p:sp>
      <p:sp>
        <p:nvSpPr>
          <p:cNvPr id="4" name="AutoShape 2" descr="data:image/jpeg;base64,/9j/4AAQSkZJRgABAQAAAQABAAD/2wCEAAkGBxISEhUUEBMVFBQUGR0XFBgUFxsWFxQVFBUbFhoYFRcZHCggGBoxHBgUITEhJSkrLi4vGB8zODUtNygtLisBCgoKDg0OGxAQGywmHyQsLCswLiwsLCwsLC8sLCw2LCwsLCwsLCwsLCwsLCwsLywsMiwsLCwsLCwsLCwsLCwsLP/AABEIALgBEQMBIgACEQEDEQH/xAAcAAEAAwEAAwEAAAAAAAAAAAAABAUGBwEDCAL/xAA9EAABAwICBAsHBAIDAAMAAAABAAIDBBEFEhYhMZIGBxMyQVFTYXGBwRRSY5HR4eIiM0KxcqEVI2Ikk6L/xAAaAQEAAgMBAAAAAAAAAAAAAAAAAwUBAgQG/8QAKBEAAgICAQQDAAICAwAAAAAAAAECAxESBAUhMTITQUIUURWhIiNx/9oADAMBAAIRAxEAPwDuJWTxThqyOQsiZygGouzZRfpDdRuO9XOPszRZczgHGxymxIsbi/Us/h/BenffNn1W2O8e5bxj2yyOUu+D1aeHsBv/AIpp4ewG/wDirHQ6l+JvfZNDqX4m/wDZZwjGZFdp4ewG/wDimnh7Ab/4qx0Opfib32TQ6l+JvfZMIZkV2nh7Ab/4pp4ewG/+KsdDqX4m/wDZNDqX4m99kwhmRXaeHsBv/imnh7Ab/wCKsdDqX4m99k0Opfib/wBkwhmRXaeHsBv/AIpp4ewG/wDirHQ6l+JvfZNDqX4m99kwhmRXaeHsBv8A4pp4ewG/+KsdDqX4m/8AZNDqX4m99kwhmRXaeHsBv/imnh7Ab/4qx0Opfib32TQ6l+Jv/ZMIZkV2nh7Ab/4pp4ewG/8AirHQ6l+JvfZNDqX4m99kwhmRXaeHsBv/AIpp4ewG/wDirHQ6l+Jv/ZNDqX4m99kwhmRXaeHsBv8A4pp4ewG/+KsdDqX4m99k0Opfib/2TCGZFdp4ewG/+KaeHsBv/irHQ6l+JvfZNDqX4m99kwhmRXaeHsBv/imnh7Ab/wCKsdDqX4m/9k0Opfib32TCGZFdp4ewG/8Aimnh7Ab/AOKsdDqX4m99k0Opfib/ANkwhmRXaeHsBv8A4pp4ewG/+KsdDqX4m99k0Opfib32TCGZFdp4ewG/+KaensBv/irHQ6l+Jv8A2TQ6l+JvfZMIZkV2njuwH/2fir7g/jD6i5dEIxa7f1XJ79gsFV1XBanjbmAeSCNTnXB19IsrLAec7w9UcVrkKT2wXiIijJSvxjmDx9Co+Efy8vVSMY5g8fQqPhH8vL1UsfQhl7liiLkfCnjJqHzOjw8tZGwlvKloc6QjUS0HUG32ajfaorbY1rMjq4/GsvlrBHXEXGsC4y6uGQCutNCTZzg0NkjBPOGUAOA6rXXY43hwBBuCLgjYQdYIWKro2LMTPI4tnHliaP0iIpTnCIiA9c8zWNLnua1o2ucQAPEnYotDjFPMSIZ4pCNoje1x+QK4tw9xl9bWyRlx5GB5jYzozMOV7yOl2YHX1AWVDJSGMh8ZLXtN2uabFpHSCNir7OfGM9cF3R0WdlPyZPpVFnuAeNurKKOV/wC4Lsk6LvYbE26L6j5rQrvjLZZRTTg4ScX9BERZNQiIgCIiAIiID8SSBoLnEADWSTYAd5OxQ6PGqaV2WGohkd7rJGuPyBXIuM7GpKmsdTAkQ09mlvQ+SwcXO67XAHgsrLh+UBzSQRrBGogjpBGsFV9vOjCeuC64/Rp21fJnB9LIspxa48+sowZTmlicYpHe8WgOa495a4X77rVrujJSWUVFkHCTi/KCIi2NAiIgCIiAh4r+2fL+wo2A853h6qTiv7Z8v7CjYDzneHqs/lmn7LxERRExX4xzB4+hUfCP5eXqpGMcwePoVHwj+Xl6qWPoQy9yVWsc6N7WanFrg3xLSB/tfN+EENFnCxGog6iCNRBHWvpdYThVxbRVUjpoJDBK83eMuaN56XZbgtPhq7lw8zju2PYuOlc2PFsbn4ZyfFZG5V33gnA+OipmS89sLA6+0EMGo/0snwb4sI4ZGy1UvtDmG7WBuWMEawXAkl2vo1BdCWOFxnUu5t1bnw5Ulp4QREXcVAREQHBeHGEvoq2VxaeSne6SN3QS85nNv0EOJ1dVlSzVmezWAuc7U1rRcuJ6ABtK+jquljlaWSsbIw7WvAcD5FQsN4P0lO7NBTxRuP8AJjAD89oVdZwFKe2S8o61Oun48dyBwBwV1HRRxSapDd8g6nPN8vkLDyWiRFYRiorCKWcnOTk/sKBjuJtpaeWd4uIml1vePQB4mw81PVJw0w11TQzxR63uZ+kdbmkOA87WWJ51eBWk5JS8HDsQr6mteZKiVzidjQSGMHU1uwD/AGrbgbwmnoaiNj5HPp5HBr2OJIZmIaHsvzbG2oaiLqhoKoNFjqI1EHUQRtBHQVJw+jdWVMUMQuXOGY+6wG7nHqAF/wDSoq7bfmPZ38fjfxfrwfRaJZFfnigiIgOIcZeEyU1a+exMNQQ4O6GvsA5hPQdVx137lmp8QBFhrJ1ADWST0AdJX0hUQNkaWyNa9p1FrgCCO8Haq6g4N0cDs8NNDG/3msAI8D0eSrreCpz2yXfG61Omr42in4ssCfSUdpRlkmcZXtO1lwGtae/K0X7yVrURd8IqKwinsm5ycn9hEVRwuc4UNUWXDhDJa22+Q7FlvCyaxWWkYbhBxqFsro6GJkjWmxkkJyvI1HI1trt/9E6+q22TwU4zeWmbDWRNiMhyxyMJyFx2NeHa231AG519S5nhLW5V68ZsGm2o9yplzp/Lj6PVy6PR/Hz9/wBn0ui9FCXcmzlOflbm/wAsov8A7uverlPJ5NrBDxX9s+X9hRsB5zvD1UnFf2z5f2FGwHnO8PVbflmn7LxERRExX4xzB4+hUfCP5eXqpGMcwePoVHwj+Xl6qWPoQy9yxREWDcIiIAvF1zrjU4VywFlLSvySSNzyPbzmsJsGtPQTZ2vaAO9cyayZpztllDxrzB7g6/Xe91x3cyFctWWnF6VbyIbrsfSaLFcWXCh9ZC9k5vNAQHO2cox18riB06iD91tV1QmprKK+2uVc3CXlBERbEYREQBERAZzGuA9DVPMk0NpDznRuMZd/ll1E951qdgXB2lo2kU0QZfnO1ue63vOOs+CtV6KKrjmY2SJwex3Nc03BsbavMFaaRTzg3dk3HVt4PeiItzQIiIAiKp4U4yKOlknIuWD9IP8AJ7jZo+ZHldYbwsszGLk0l9lqSvK+cqytqat5lnle5x6MxDWjqY0GzQtHwA4VT01THTzyOkgmcGDOS4xPdqaWk68t7AjZrvqsuOHOhKepa29Iurq+Q7UvDhfUdhXlF2lScmx/itmbI51A9nJuNxHIS0x36GusQ5vVex8VK4KcWcjJWzV72OyEObFHdwLgbgvcQNV9dgNfXZdPRc641e22DtfUL3X8eewREXQcRDxX9s+X9hRsB5zvD1UnFf2z5f2FGwHnO8PVZ/LNP2XiIiiJivxjmDx9Co+Efy8vVSMY5g8fQqPhH8vL1UsfQhl7liiJZYNwiIgOO8cGHvjrI6ki8cjBHf3XxlxsfEOFvArKOrW5V9C19FHOx0czGyMdzmuFwfv3rLRcWeGh+bknkXvkdI4s+V9Y7iVW8jg/JPZMvuD1j+PVpJFFxL4a8CepcCGSZY47/wAgwkucO65A8iunL8QxNY0NYA1rRZoaLAAdAA2L9ruqhpFRKfkXO6xzf2ERFIQhERAERRsRrGQRPlkNmRtL3eDRcrDYSz2JD2BwIIuDqI6wVXcHaKOGnYyFjY2C5DWDK0EuJNgFxPFuFVbWvLjK+KO/6I4nFgaOi5abuPeV+8D4X1lC4XldJD/JkpL8oO1zCTcEbbXsdi4/5te+pbf4e9VbnaarGWMqIqbLI6SYFwLW3Y1rQSS919WywG03Vko1BG0MDmHNns4vO1+Yc4nwt4DUpAK7EVJ5REWQFmOMjDH1GHysjBL25ZABtdybsxA77XWnRayjssG9c3CSkvo+baCsblU/g5Quq66BkY5sjZHn3WRuDiT1bLDvIXWsX4v8PqHmR8RY863GJxjzHrIGq/erbA8ApqNpbTRhgPOOsudb3nHWVW19P1s2bL6/re9GiXcs0RFaHngiIgCIiAh4r+2fL+wo2A853h6qTiv7Z8v7CjYDzneHqs/lmn7LxERRExX4xzB4+hUfB9jvL1UjGOYPH0Kj4R/Ly9VLH0IJe5zfjL4XzmodSUshjbHYTOYbPc9wDsocNbWgEbNd79SxdNV1VO4SQzytc3Xz3EHuc0mzh3FWvD6kdT4nMZB+mYiSM9DmloB8w4EfLrVRVVjcqoeTbarex7XgcbjPjJv+juHAfhB7dStlcAJASyUDYHt2kdxBB81frEcUWGvioS94IM8hkaD7mVrWnzyk+BC26uam3BNnlORGMbZKPjIREUhCEREBxvjD4WzzVMlNTyOjhiOR5jJa6R4513DWGg3Fh1G6y9JX1dK4SQTyNcOguLmu7nNJs4KVwoo3UuIVDZBz5HSsPvMlcXgjr2keIKgVtY3KqG+235j2fD43GfG+vB3rgpjQraWOcCxcLPb7r2nK4eFx8rK3WU4scMfT4fGJAQ6QulIO1oedQI6DYA+a1au623FNnkLlGNklHxkrsdweOrhMMxeGns3ujOrvadY7jcKBwmwATUk8UZfnfG5rM0shBdbUCC621aBVWK09S+WERPYyAZvaL3zvBtlbGRzf5XN/qNmso0i9Wmj58oKnKcpFi02dfaCNRb43Xsqs0zmxxDM+Q5WNG0uK7hjXAehqnB0kOV+oZoiYyQNQBtqPmE4JcFqSlaJIYgJHA3e4lz7X2AnYPCyrP8f/ANm2ex6J9cXw6Y7k/DsFZHFGwukJYxrSRLIAS1oGoB+rYv3gmCxUrXtiMhEj3SO5SRz/ANTyScuY2aNewf2rJFZpYPOt5eQiIsmAi8E22r0QVsTzZkjHHqa4OPyBWMjDJCIiyAiIgPTV1UcTC+V7WMbrc55DWjxJVRScMcPleGR1URc7U0ZrXPUCbAnuXMeNLFH1FcackiKnygN6C9zQ4vPfrAHVbvWXqMOGXYq67nKE9cF5xOjSuq+Rs+k0WH4pcZkqKR0cpLnU7+TDjrLoy0Obc9JGseAC3C7oTU4pop7a3XNwf0Q8V/bPl/YUbAec7w9VJxX9s+X9hRsB5zvD1Un5ZB+y8REURMV+McwePoVHwj+Xl6qRjHMHj6FR8I/l5eqlj6EMvc8Y5gdPWM5OpjD2jW07HNPW1w1tPgqDD+LTD4nh+R8hBuBK/M0H/GwB87rYoo3XFvLRPG6yK1jJ4PAHUvKLwTbatyM8ouEcKOF1RXSuEUj46dpIjaxxZmANg55Gsk7bdCiYRwirKGQPZK97L/rjkcXNeOkDMTlPeFxPnVqepbR6Pe6vk/0fQSKPQVjZomSxm7JGh7fBwuFIXYnkqX27FXj3B6mrGhtTGH25pH6Xtv7rhrCp8K4u8PgeJGxukcNbeVdnDSNhDdl/ELWItXXFvLRJG6yMdU3gIiLcjCIiA/MjbggGxItcbR3i6ruDdDNBTsjqJuXlbfM/KG3u4kWDQAABYKzRAEREAREQHGONDHpKiqdSMcWww2a9oNhJIQCc3WBcADxWP9hMdnxksc3W1zTlcD3EawtLxkYa+mr3ykf9VQc7HdGawDmk9dxfwKz1TiAyqi5MrflPZ9Phx/4q/wDDtfF3wgdW0gfJrljcY5TszOaAQ7zaWnxutQsdxW4K+morygtfO8ylp2tBaGtB6jlaDbvWxVzVnRZ8nkuQoq2WnjIREUhCcd408AliqTWMa50UoHKEC/JvaA39XU0gDX137liziGezWAuc7UGtGYk9QA1lfSpF9qjwYfCw5o4o2OO0tY1p+YC4LuDGc9i443WLKKvjxkzXFpwefR0p5YWlmdyj2+5qDWsPeALnvJWuRF2wiorCKqyx2ScpeWQ8V/bPl/YUbAec7w9VJxX9s+X9hRsB5zvD1W/5ZD+y8REURMV+McwePoVHwj+Xl6qRjHMHj6FR8I/l5eqlj6EMvcsURFg3C9c8eZrm7MwI8Liy9iID5rgidTPfDKLPicWOHe3V8ukdxXmunzWa0EuJsANZJOoADrXdOEXA+krSHTx/9gFhIw5H26iRzh3G69GAcBaKkeJI2F0g5r5XZy3vaNjT3gXVU+nt2bZPSR66lRo13LLgvQOp6Snhfzo42td/lbWPncK0RFaJYWDzknl5YREWTAREQBERAEWE4d8PvY38hTsbJPa7i7mRg7AQNbnEa7XFtSylFxoV0bgaiOKWPpDWmN1v/LrkX8QueXJrjLVs7aun32Q3iux2ZFEwnEY6mFk0JuyQXb194I6CDcEdylqdPJxNNPDCIiyCPW0cczDHMxsjHbWvAcD5FVdBwQoIXiSKlja8aw62YtPW3MTbyV4i1cU+5spySwmERFsahERAEREAREQEPFf2z5f2FGwHnO8PVScV/bPl/YUbAec7w9Vn8s0/ZeIiKImK/GOYPH0Kj4R/Ly9VIxjmDx9Co+Efy8vVSx9CCXuTKmoZG0vkc1jG7XOIa0eJOoKuoeE1FM8MhqoXvOxrZGknwF9a5LxlYs+qrnwknkac5GtvqL8oLnkddyR4DvWaqMPAbcdHoq23nqE9cHoON0WV1PyNn0qiyPFhjb6qiHKkukhcYnOO14ADmuPflcAesi61y74SUllFNZW65OL+giItjQIiIDDcOOMAUb+Qp2CWewLsxIZGDrF7a3OtrsLLM4fxq1LXj2qGN0Z53JAte3vF3EHw1LLYxm9vquV53LyberOcvlly27rL112XKqW7m2Rtwj1fF6RRPj7S84PoSgrGTRslidmZI0OaR0g7FIWM4o83/HMzbOUkyX9zN/V8y2at4S2imeYthpNx/phERbkZ8+8JgRiVVynO5V233TYt/wDzlUasLcq61w24CR1xEsb+RnAtmtdrwNgeNuroI/2sth/FPM549qqGCMHWIQ4ucOoFwAb8iqa/hTlblHquJ1emHH1l5waLieY4Yf8Aq5pleWf46gbd2bMtwo9DRshjbHE0NYwBrQOgBSFbVx1ikeZus+Sbl/bCwPDXjD9llNPTRtlmbzy4/ojJF8thrc61ukWut8F84S39pn5W+flZM19t+UN1z8y6VUMo7+l8WHItxPwjaYXxrTtePbIWGM7XRBwc0deUk5h3al1emnbIxr2EOa8BzSNha4XBHkvnXEMuVdj4rs//ABlPnv8Azy39zlXZPLLZQ8HkStypHT1jgV8fEoGrREViUZ6qqoZGxz5CGsYC5xOwNaLklcoxLjWqHvPskMbYxsMoc5zh1kAgN8Na13Gtn/4ybJfazPb3OUbfy2LkGHhuVV3O5M6u0S96PwK+RlzOocCOMIVcgp6mNsUzuYWn9ElhcgA62utc2ub2K3q+c6S/tdNyV8/LR5bdfKNX0YpuHc7IZZy9U4kOPbiHhhERdZWEPFf2z5f2FGwHnO8PVScV/bPl/YUbAec7w9Vn8s0/ZeIiKImK/GOYPH0Kj4Rsd5eqkYzzB4+hVVS4rFEXCR1ibbAT19Slj6EMvc5jxm4LJTVj6kNJgnIdmA1MksA5rj0XtcE7b26Flpa/PZrAXOdqaGi5cT0ADWSu+yY9SuBDnXB2gsJBHeCFDoqnDoSXQxRxuO0xwhp+YbdV9vAU57F5xutTpq+PGT1cXGAvo6MNlFpZXGWQe6XAAN8Q0C/fdalVOkVP7x3T9E0ip/fO6fou6ENVhFRZZvJyfllsiqdIqf3jun6JpFT++d0/RbYZplFsiqdIqf3zun6JpFT+8d0/RMMZRmuHPF/7ZJy9O8RTkWeHD9EthYEka2utYX13ACzWG8VdW949rmiZGDr5Il73DqF2gN8dfgulaRU/vndP0TSKn987p+i55cWEpbNdzsr6hdXDSMuxOoaNkMbIom5WRtDWgdACkKp0ip/eO6fomkVP753T9FOlg43LPllsiqdIqf3zun6JpFT+8d0/RZwxlFsiqdIqf3zun6JpFT++d0/RMMZRbIqnSKn947p+iaRU/vndP0TDGUWy5/w34u/aZTUUj2xyu/ca++SQgWzXGtrtl9RutVpFT+8d0/RNIqf3jun6LSdamsSRLTfKqW0H3OcYTxV1L3j22WNsYOtsRLnPHVmIAZ4611ingbGxrGANYwBrQNgaBYAKu0ip/fO6fomkVP753T9FrXRGtf8AFG/I5dl7zNlsiqdIqf3jun6JpFT++d0/RS4Zz5RYVlKyVjo5GhzHtLXNOwtcLELk2J8VdUx59jljfGdglcWPaOokNId46vBdJ0ip/fO6fomkVP7x3T9FFZRGz2R0cfl2UPMGZjgRxe+ySCoqntlmH7YaDkjJFibnW51ri9ha5W9VTpFT+8d0/RNIqf3zun6LaFagsRRpdfK2W03llsiqdIqf3jun6JpFT++d0/Rb4ZFlErFf2z5f2FGwHnO8PVemqxiGVpYxxLj/AOSNhuvfgLTdxtqta/fdZfqa/su0RFCTEPFKV0jMrCGm97nXbyWdPBKTplb8itci2UmjVxTMhoi/tG/Ipoi/tG7pWvRN2Y0RkNEX9o35FNEX9o35Fa9E3Y0RkNEX9o3dKaIv7RvyK16JuxojIaIv7RvyKaIv7Ru6VriVhsI4xOWj5aSlMVPyTpnSGogkLY2ML/2WPMl9QFsvTrTdjREvRF/aN+RTRF/aN+RX5l4cGNkjqmimpyIJKiESOjPLsgYHubeN7skliDld39Sl43wvbTXzROdan9p1ED9PKsjy6+n9YN+5N2NERtEX9o3dKaIv7RvyKvMMxcTSVLA0g00giJJ5xMTJbjqFngeSy1RxjgMgcylc/l4XT2M0UeRkcmQ65HNDjsNgbpuxoiboi/tG/Ipoi/tG7pUPE+MdsTjlpZHsbBHUvLpYoXMjla5wHJyuaXOAa79Lb9HWFZVHDSNvLAQyPdG+GONjbZ55KmMSMa0OIDbAm9zqyk9CbsaI9OiL+0b8imiL+0b8irXAMdNQ6SOWB9NPFlL4pCxxyyA5HtdG4tc05XDbtaVU0PDcveOUpJY4HzupmVBfG5hlbI6IBzA7O0F7coJG0jrum7GiPOiL+0bulNEX9q35FeMP4exSyQxmJ7DPC6ZhJBaCx72cm4jY45HEeFl6qvhuy2HvDZGtq2tmkDcp5KKQsjbypI1Nzys1t16j0Apuxoj3aIv7RvyKaIv7Ru6V76nhnHHVVNO+J49mhM2e4LZLMa8saOh1nBQaHjFifG2SSGSMOhmmI1OcPZ6gU5jDRznl7hZN2NEe/RF/aN+RTRF/aN+RXuPC58ccj6qhqYC3JybTycnLulfybGRujeWiQuLRlcRa4OxTcD4QOmkfDPTyU07GiTk5HMfmjcS0PY+NzmnWCCNoTdjRFZoi/tG7pTRF/aN+RWvRN2NEZDRF/aN+RTRF/aN3SteibsaIyGiL+0b8imiL+0b8iteibsaIyGiL+0bulNEX9o35Fa9E3Y0Rl6Lgu5jw50gIG2wN/K60sUYaAGiwGxftFhts2UUvAREWDIREQBERAEREAREQHghc7wLiy5BvJSy00kRidDJydCyGd7HsLddQJC697G/TZEQE08B5pJL1da6pi5KWAMdGIyxk0QjL2uabGWwsTa1idQOs+ZeA8skcoqax00j4RTxv5FrBHEJBJra1363ktbc3A1agERATYuDtXHVTTQ1jWQ1ErZZITTB7jljZGWiUyC1wwa8uq6pari1Lm0zW1EJ9nidD/wB9Gyoa8Pk5TM1r5LMcNl9fSiICUeLeA5uUeZHCCGGCR7A6aB9MXETMkJ2kuaS2wH6LG4U2Xgc55me+oPLSSQzMkZGG8lNTxCPMGuLg4H9V2nocR3oiAssAwN8D5Zp5jUVEwYHyZBG0MivlYyNt8ou551km7tqp8O4FytcGzVfKUzKh1SyFsDWHlHTOmaHyF7i4B7r6g3YPBeEQH5h4ANEfJvmLv/j8g1zWZXMeJ3Tsmacxs4OIsP8Azt12XqZxbROiMc88j3CmipYnRukhDGwsIzFjJbSEyHPZ1wLAd5IgJk/AvlJHSSTkudJBI/KzLmFPFyb2H9R/S/WT1bNaiwcXjLBsk7nN5Koj/SwMcDU1YqmvaS4gOY5oAuDe19WxEQE53BOaVkgq66WZ7snJOaxkTYXQycoyRsYu10mYNJcdRtawGpTcCwCSKZ9RU1BqZ3sEYdybYmMia4uDWMbfWSbkkm5tsGpEQF8iIgCIiAIiIAiIgCIiAIiID//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pic>
        <p:nvPicPr>
          <p:cNvPr id="4100" name="Picture 4" descr="http://www.genomasur.com/BCH/BCH_libro/imagenescap_5/Copia%20de%20dif-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2264689"/>
            <a:ext cx="5764151" cy="3888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16883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95536" y="908720"/>
            <a:ext cx="8229600" cy="4325112"/>
          </a:xfrm>
        </p:spPr>
        <p:txBody>
          <a:bodyPr/>
          <a:lstStyle/>
          <a:p>
            <a:r>
              <a:rPr lang="es-MX" altLang="es-MX" dirty="0"/>
              <a:t>Más aún que la 1ª. o 2ª ley, la 3ª ley está íntimamente relacionada con la </a:t>
            </a:r>
            <a:r>
              <a:rPr lang="es-MX" altLang="es-MX" dirty="0" err="1"/>
              <a:t>cuantización</a:t>
            </a:r>
            <a:r>
              <a:rPr lang="es-MX" altLang="es-MX" dirty="0"/>
              <a:t> de la energía y la teoría cinética del calor. </a:t>
            </a:r>
          </a:p>
          <a:p>
            <a:endParaRPr lang="es-MX" dirty="0"/>
          </a:p>
        </p:txBody>
      </p:sp>
      <p:pic>
        <p:nvPicPr>
          <p:cNvPr id="5122" name="Picture 2" descr="http://1.bp.blogspot.com/-DEK2DBqM5bA/U_wTekHP9JI/AAAAAAAAABk/C5Nt07R-NrM/s1600/043-calor-e-INTERN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2492896"/>
            <a:ext cx="6455887" cy="37444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9602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31409" y="764704"/>
            <a:ext cx="8229600" cy="4325112"/>
          </a:xfrm>
        </p:spPr>
        <p:txBody>
          <a:bodyPr/>
          <a:lstStyle/>
          <a:p>
            <a:r>
              <a:rPr lang="es-MX" i="1" dirty="0"/>
              <a:t>L</a:t>
            </a:r>
            <a:r>
              <a:rPr lang="es-MX" i="1" dirty="0" smtClean="0"/>
              <a:t>a entropía</a:t>
            </a:r>
            <a:r>
              <a:rPr lang="es-MX" dirty="0"/>
              <a:t> </a:t>
            </a:r>
            <a:r>
              <a:rPr lang="es-MX" i="1" dirty="0" smtClean="0"/>
              <a:t>de </a:t>
            </a:r>
            <a:r>
              <a:rPr lang="es-MX" i="1" dirty="0"/>
              <a:t>una sustancia pura cristalina a una temperatura absoluta de cero es </a:t>
            </a:r>
            <a:r>
              <a:rPr lang="es-MX" i="1" dirty="0" smtClean="0"/>
              <a:t>cero</a:t>
            </a:r>
            <a:endParaRPr lang="es-MX" dirty="0"/>
          </a:p>
          <a:p>
            <a:pPr marL="109728" indent="0">
              <a:buNone/>
            </a:pPr>
            <a:r>
              <a:rPr lang="es-MX" dirty="0" smtClean="0"/>
              <a:t>                                                                                                        </a:t>
            </a:r>
          </a:p>
          <a:p>
            <a:endParaRPr lang="es-MX" dirty="0"/>
          </a:p>
          <a:p>
            <a:r>
              <a:rPr lang="es-MX" dirty="0" smtClean="0"/>
              <a:t>  </a:t>
            </a:r>
            <a:r>
              <a:rPr lang="es-MX" sz="2000" dirty="0" smtClean="0"/>
              <a:t>Ecuación para calcular la entropía</a:t>
            </a:r>
          </a:p>
          <a:p>
            <a:pPr marL="109728" indent="0">
              <a:buNone/>
            </a:pPr>
            <a:r>
              <a:rPr lang="es-MX" sz="2000" dirty="0" smtClean="0"/>
              <a:t> con respecto al cero absoluto</a:t>
            </a:r>
            <a:endParaRPr lang="es-MX" sz="20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2120" y="3352475"/>
            <a:ext cx="2981325" cy="286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3573016"/>
            <a:ext cx="2160240" cy="946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7560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MX" dirty="0" smtClean="0"/>
              <a:t>Cero absoluto</a:t>
            </a:r>
            <a:endParaRPr lang="es-MX" dirty="0"/>
          </a:p>
        </p:txBody>
      </p:sp>
      <p:sp>
        <p:nvSpPr>
          <p:cNvPr id="3" name="2 Marcador de contenido"/>
          <p:cNvSpPr>
            <a:spLocks noGrp="1"/>
          </p:cNvSpPr>
          <p:nvPr>
            <p:ph idx="1"/>
          </p:nvPr>
        </p:nvSpPr>
        <p:spPr>
          <a:xfrm>
            <a:off x="539552" y="2204864"/>
            <a:ext cx="8229600" cy="4325112"/>
          </a:xfrm>
        </p:spPr>
        <p:txBody>
          <a:bodyPr>
            <a:normAutofit/>
          </a:bodyPr>
          <a:lstStyle/>
          <a:p>
            <a:endParaRPr lang="es-MX" dirty="0"/>
          </a:p>
        </p:txBody>
      </p:sp>
      <p:pic>
        <p:nvPicPr>
          <p:cNvPr id="2050" name="Picture 2" descr="http://2.bp.blogspot.com/-et3i6wZp6RA/TbqNzPSvF1I/AAAAAAAAAAk/oP2bnowBybw/s1600/cero+absolut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2348880"/>
            <a:ext cx="4238618" cy="4078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1858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798" name="Group 390"/>
          <p:cNvGraphicFramePr>
            <a:graphicFrameLocks noGrp="1"/>
          </p:cNvGraphicFramePr>
          <p:nvPr>
            <p:extLst>
              <p:ext uri="{D42A27DB-BD31-4B8C-83A1-F6EECF244321}">
                <p14:modId xmlns:p14="http://schemas.microsoft.com/office/powerpoint/2010/main" val="1209702404"/>
              </p:ext>
            </p:extLst>
          </p:nvPr>
        </p:nvGraphicFramePr>
        <p:xfrm>
          <a:off x="467543" y="548676"/>
          <a:ext cx="8352929" cy="6224590"/>
        </p:xfrm>
        <a:graphic>
          <a:graphicData uri="http://schemas.openxmlformats.org/drawingml/2006/table">
            <a:tbl>
              <a:tblPr/>
              <a:tblGrid>
                <a:gridCol w="2087777"/>
                <a:gridCol w="2089599"/>
                <a:gridCol w="2087776"/>
                <a:gridCol w="2087777"/>
              </a:tblGrid>
              <a:tr h="327610">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1" i="0" u="none" strike="noStrike" cap="none" normalizeH="0" baseline="0" dirty="0" err="1" smtClean="0">
                          <a:ln>
                            <a:noFill/>
                          </a:ln>
                          <a:solidFill>
                            <a:schemeClr val="tx1"/>
                          </a:solidFill>
                          <a:effectLst/>
                          <a:latin typeface="Times New Roman" panose="02020603050405020304" pitchFamily="18" charset="0"/>
                        </a:rPr>
                        <a:t>sustancia</a:t>
                      </a:r>
                      <a:endParaRPr kumimoji="0" lang="en-US" altLang="es-MX" sz="1900" b="1" i="0" u="none" strike="noStrike" cap="none" normalizeH="0" baseline="0" dirty="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1" i="0" u="none" strike="noStrike" cap="none" normalizeH="0" baseline="0" smtClean="0">
                          <a:ln>
                            <a:noFill/>
                          </a:ln>
                          <a:solidFill>
                            <a:schemeClr val="tx1"/>
                          </a:solidFill>
                          <a:effectLst/>
                          <a:latin typeface="Times New Roman" panose="02020603050405020304" pitchFamily="18" charset="0"/>
                        </a:rPr>
                        <a:t>S</a:t>
                      </a:r>
                      <a:r>
                        <a:rPr kumimoji="0" lang="en-US" altLang="es-MX" sz="1500" b="1" i="0" u="none" strike="noStrike" cap="none" normalizeH="0" baseline="30000" smtClean="0">
                          <a:ln>
                            <a:noFill/>
                          </a:ln>
                          <a:solidFill>
                            <a:schemeClr val="tx1"/>
                          </a:solidFill>
                          <a:effectLst/>
                          <a:latin typeface="Times New Roman" panose="02020603050405020304" pitchFamily="18" charset="0"/>
                        </a:rPr>
                        <a:t>o</a:t>
                      </a:r>
                      <a:r>
                        <a:rPr kumimoji="0" lang="en-US" altLang="es-MX" sz="1500" b="1" i="0" u="none" strike="noStrike" cap="none" normalizeH="0" baseline="0" smtClean="0">
                          <a:ln>
                            <a:noFill/>
                          </a:ln>
                          <a:solidFill>
                            <a:schemeClr val="tx1"/>
                          </a:solidFill>
                          <a:effectLst/>
                          <a:latin typeface="Times New Roman" panose="02020603050405020304" pitchFamily="18" charset="0"/>
                        </a:rPr>
                        <a:t> (J/K</a:t>
                      </a:r>
                      <a:r>
                        <a:rPr kumimoji="0" lang="en-US" altLang="es-MX" sz="1500" b="1" i="0" u="none" strike="noStrike" cap="none" normalizeH="0" baseline="0" smtClean="0">
                          <a:ln>
                            <a:noFill/>
                          </a:ln>
                          <a:solidFill>
                            <a:schemeClr val="tx1"/>
                          </a:solidFill>
                          <a:effectLst/>
                          <a:latin typeface="Times New Roman" panose="02020603050405020304" pitchFamily="18" charset="0"/>
                          <a:sym typeface="Symbol" panose="05050102010706020507" pitchFamily="18" charset="2"/>
                        </a:rPr>
                        <a:t></a:t>
                      </a:r>
                      <a:r>
                        <a:rPr kumimoji="0" lang="en-US" altLang="es-MX" sz="1500" b="1" i="0" u="none" strike="noStrike" cap="none" normalizeH="0" baseline="0" smtClean="0">
                          <a:ln>
                            <a:noFill/>
                          </a:ln>
                          <a:solidFill>
                            <a:schemeClr val="tx1"/>
                          </a:solidFill>
                          <a:effectLst/>
                          <a:latin typeface="Times New Roman" panose="02020603050405020304" pitchFamily="18" charset="0"/>
                        </a:rPr>
                        <a:t>mol)</a:t>
                      </a:r>
                      <a:endParaRPr kumimoji="0" lang="en-US" altLang="es-MX" sz="1500" b="1" i="0" u="none" strike="noStrike" cap="none" normalizeH="0" baseline="0" smtClean="0">
                        <a:ln>
                          <a:noFill/>
                        </a:ln>
                        <a:solidFill>
                          <a:schemeClr val="tx1"/>
                        </a:solidFill>
                        <a:effectLst/>
                        <a:latin typeface="Times New Roman" panose="02020603050405020304" pitchFamily="18" charset="0"/>
                        <a:sym typeface="Symbol" panose="05050102010706020507" pitchFamily="18" charset="2"/>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1" i="0" u="none" strike="noStrike" cap="none" normalizeH="0" baseline="0" smtClean="0">
                          <a:ln>
                            <a:noFill/>
                          </a:ln>
                          <a:solidFill>
                            <a:schemeClr val="tx1"/>
                          </a:solidFill>
                          <a:effectLst/>
                          <a:latin typeface="Times New Roman" panose="02020603050405020304" pitchFamily="18" charset="0"/>
                        </a:rPr>
                        <a:t>sustancia</a:t>
                      </a:r>
                      <a:endParaRPr kumimoji="0" lang="en-US" altLang="es-MX" sz="1900" b="1"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1" i="0" u="none" strike="noStrike" cap="none" normalizeH="0" baseline="0" smtClean="0">
                          <a:ln>
                            <a:noFill/>
                          </a:ln>
                          <a:solidFill>
                            <a:schemeClr val="tx1"/>
                          </a:solidFill>
                          <a:effectLst/>
                          <a:latin typeface="Times New Roman" panose="02020603050405020304" pitchFamily="18" charset="0"/>
                        </a:rPr>
                        <a:t>S</a:t>
                      </a:r>
                      <a:r>
                        <a:rPr kumimoji="0" lang="en-US" altLang="es-MX" sz="1500" b="1" i="0" u="none" strike="noStrike" cap="none" normalizeH="0" baseline="30000" smtClean="0">
                          <a:ln>
                            <a:noFill/>
                          </a:ln>
                          <a:solidFill>
                            <a:schemeClr val="tx1"/>
                          </a:solidFill>
                          <a:effectLst/>
                          <a:latin typeface="Times New Roman" panose="02020603050405020304" pitchFamily="18" charset="0"/>
                        </a:rPr>
                        <a:t>o</a:t>
                      </a:r>
                      <a:r>
                        <a:rPr kumimoji="0" lang="en-US" altLang="es-MX" sz="1500" b="1" i="0" u="none" strike="noStrike" cap="none" normalizeH="0" baseline="0" smtClean="0">
                          <a:ln>
                            <a:noFill/>
                          </a:ln>
                          <a:solidFill>
                            <a:schemeClr val="tx1"/>
                          </a:solidFill>
                          <a:effectLst/>
                          <a:latin typeface="Times New Roman" panose="02020603050405020304" pitchFamily="18" charset="0"/>
                        </a:rPr>
                        <a:t> (J/K</a:t>
                      </a:r>
                      <a:r>
                        <a:rPr kumimoji="0" lang="en-US" altLang="es-MX" sz="1500" b="1" i="0" u="none" strike="noStrike" cap="none" normalizeH="0" baseline="0" smtClean="0">
                          <a:ln>
                            <a:noFill/>
                          </a:ln>
                          <a:solidFill>
                            <a:schemeClr val="tx1"/>
                          </a:solidFill>
                          <a:effectLst/>
                          <a:latin typeface="Times New Roman" panose="02020603050405020304" pitchFamily="18" charset="0"/>
                          <a:sym typeface="Symbol" panose="05050102010706020507" pitchFamily="18" charset="2"/>
                        </a:rPr>
                        <a:t></a:t>
                      </a:r>
                      <a:r>
                        <a:rPr kumimoji="0" lang="en-US" altLang="es-MX" sz="1500" b="1" i="0" u="none" strike="noStrike" cap="none" normalizeH="0" baseline="0" smtClean="0">
                          <a:ln>
                            <a:noFill/>
                          </a:ln>
                          <a:solidFill>
                            <a:schemeClr val="tx1"/>
                          </a:solidFill>
                          <a:effectLst/>
                          <a:latin typeface="Times New Roman" panose="02020603050405020304" pitchFamily="18" charset="0"/>
                        </a:rPr>
                        <a:t>mol)</a:t>
                      </a:r>
                      <a:endParaRPr kumimoji="0" lang="en-US" altLang="es-MX" sz="1500" b="1" i="0" u="none" strike="noStrike" cap="none" normalizeH="0" baseline="0" smtClean="0">
                        <a:ln>
                          <a:noFill/>
                        </a:ln>
                        <a:solidFill>
                          <a:schemeClr val="tx1"/>
                        </a:solidFill>
                        <a:effectLst/>
                        <a:latin typeface="Times New Roman" panose="02020603050405020304" pitchFamily="18" charset="0"/>
                        <a:sym typeface="Symbol" panose="05050102010706020507" pitchFamily="18" charset="2"/>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r h="327610">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Al</a:t>
                      </a:r>
                      <a:r>
                        <a:rPr kumimoji="0" lang="en-US" altLang="es-MX" sz="1500" b="0" i="0" u="none" strike="noStrike" cap="none" normalizeH="0" baseline="-30000" smtClean="0">
                          <a:ln>
                            <a:noFill/>
                          </a:ln>
                          <a:solidFill>
                            <a:schemeClr val="tx1"/>
                          </a:solidFill>
                          <a:effectLst/>
                          <a:latin typeface="Times New Roman" panose="02020603050405020304" pitchFamily="18" charset="0"/>
                        </a:rPr>
                        <a:t>2</a:t>
                      </a:r>
                      <a:r>
                        <a:rPr kumimoji="0" lang="en-US" altLang="es-MX" sz="1500" b="0" i="0" u="none" strike="noStrike" cap="none" normalizeH="0" baseline="0" smtClean="0">
                          <a:ln>
                            <a:noFill/>
                          </a:ln>
                          <a:solidFill>
                            <a:schemeClr val="tx1"/>
                          </a:solidFill>
                          <a:effectLst/>
                          <a:latin typeface="Times New Roman" panose="02020603050405020304" pitchFamily="18" charset="0"/>
                        </a:rPr>
                        <a:t>O</a:t>
                      </a:r>
                      <a:r>
                        <a:rPr kumimoji="0" lang="en-US" altLang="es-MX" sz="1500" b="0" i="0" u="none" strike="noStrike" cap="none" normalizeH="0" baseline="-30000" smtClean="0">
                          <a:ln>
                            <a:noFill/>
                          </a:ln>
                          <a:solidFill>
                            <a:schemeClr val="tx1"/>
                          </a:solidFill>
                          <a:effectLst/>
                          <a:latin typeface="Times New Roman" panose="02020603050405020304" pitchFamily="18" charset="0"/>
                        </a:rPr>
                        <a:t>3</a:t>
                      </a:r>
                      <a:r>
                        <a:rPr kumimoji="0" lang="en-US" altLang="es-MX" sz="1500" b="0" i="0" u="none" strike="noStrike" cap="none" normalizeH="0" baseline="0" smtClean="0">
                          <a:ln>
                            <a:noFill/>
                          </a:ln>
                          <a:solidFill>
                            <a:schemeClr val="tx1"/>
                          </a:solidFill>
                          <a:effectLst/>
                          <a:latin typeface="Times New Roman" panose="02020603050405020304" pitchFamily="18" charset="0"/>
                        </a:rPr>
                        <a:t>(s)</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50.99</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HCl(g)</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186.7</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r h="327610">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Br</a:t>
                      </a:r>
                      <a:r>
                        <a:rPr kumimoji="0" lang="en-US" altLang="es-MX" sz="1500" b="0" i="0" u="none" strike="noStrike" cap="none" normalizeH="0" baseline="-30000" smtClean="0">
                          <a:ln>
                            <a:noFill/>
                          </a:ln>
                          <a:solidFill>
                            <a:schemeClr val="tx1"/>
                          </a:solidFill>
                          <a:effectLst/>
                          <a:latin typeface="Times New Roman" panose="02020603050405020304" pitchFamily="18" charset="0"/>
                        </a:rPr>
                        <a:t>2</a:t>
                      </a:r>
                      <a:r>
                        <a:rPr kumimoji="0" lang="en-US" altLang="es-MX" sz="1500" b="0" i="0" u="none" strike="noStrike" cap="none" normalizeH="0" baseline="0" smtClean="0">
                          <a:ln>
                            <a:noFill/>
                          </a:ln>
                          <a:solidFill>
                            <a:schemeClr val="tx1"/>
                          </a:solidFill>
                          <a:effectLst/>
                          <a:latin typeface="Times New Roman" panose="02020603050405020304" pitchFamily="18" charset="0"/>
                        </a:rPr>
                        <a:t>(g)</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245.3</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H</a:t>
                      </a:r>
                      <a:r>
                        <a:rPr kumimoji="0" lang="en-US" altLang="es-MX" sz="1500" b="0" i="0" u="none" strike="noStrike" cap="none" normalizeH="0" baseline="-30000" smtClean="0">
                          <a:ln>
                            <a:noFill/>
                          </a:ln>
                          <a:solidFill>
                            <a:schemeClr val="tx1"/>
                          </a:solidFill>
                          <a:effectLst/>
                          <a:latin typeface="Times New Roman" panose="02020603050405020304" pitchFamily="18" charset="0"/>
                        </a:rPr>
                        <a:t>2</a:t>
                      </a:r>
                      <a:r>
                        <a:rPr kumimoji="0" lang="en-US" altLang="es-MX" sz="1500" b="0" i="0" u="none" strike="noStrike" cap="none" normalizeH="0" baseline="0" smtClean="0">
                          <a:ln>
                            <a:noFill/>
                          </a:ln>
                          <a:solidFill>
                            <a:schemeClr val="tx1"/>
                          </a:solidFill>
                          <a:effectLst/>
                          <a:latin typeface="Times New Roman" panose="02020603050405020304" pitchFamily="18" charset="0"/>
                        </a:rPr>
                        <a:t>S(g)</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205.6</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r h="327610">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Br</a:t>
                      </a:r>
                      <a:r>
                        <a:rPr kumimoji="0" lang="en-US" altLang="es-MX" sz="1500" b="0" i="0" u="none" strike="noStrike" cap="none" normalizeH="0" baseline="-30000" smtClean="0">
                          <a:ln>
                            <a:noFill/>
                          </a:ln>
                          <a:solidFill>
                            <a:schemeClr val="tx1"/>
                          </a:solidFill>
                          <a:effectLst/>
                          <a:latin typeface="Times New Roman" panose="02020603050405020304" pitchFamily="18" charset="0"/>
                        </a:rPr>
                        <a:t>2</a:t>
                      </a:r>
                      <a:r>
                        <a:rPr kumimoji="0" lang="en-US" altLang="es-MX" sz="1500" b="0" i="0" u="none" strike="noStrike" cap="none" normalizeH="0" baseline="0" smtClean="0">
                          <a:ln>
                            <a:noFill/>
                          </a:ln>
                          <a:solidFill>
                            <a:schemeClr val="tx1"/>
                          </a:solidFill>
                          <a:effectLst/>
                          <a:latin typeface="Times New Roman" panose="02020603050405020304" pitchFamily="18" charset="0"/>
                        </a:rPr>
                        <a:t>(l)</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152.3</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I</a:t>
                      </a:r>
                      <a:r>
                        <a:rPr kumimoji="0" lang="en-US" altLang="es-MX" sz="1500" b="0" i="0" u="none" strike="noStrike" cap="none" normalizeH="0" baseline="-30000" smtClean="0">
                          <a:ln>
                            <a:noFill/>
                          </a:ln>
                          <a:solidFill>
                            <a:schemeClr val="tx1"/>
                          </a:solidFill>
                          <a:effectLst/>
                          <a:latin typeface="Times New Roman" panose="02020603050405020304" pitchFamily="18" charset="0"/>
                        </a:rPr>
                        <a:t>2</a:t>
                      </a:r>
                      <a:r>
                        <a:rPr kumimoji="0" lang="en-US" altLang="es-MX" sz="1500" b="0" i="0" u="none" strike="noStrike" cap="none" normalizeH="0" baseline="0" smtClean="0">
                          <a:ln>
                            <a:noFill/>
                          </a:ln>
                          <a:solidFill>
                            <a:schemeClr val="tx1"/>
                          </a:solidFill>
                          <a:effectLst/>
                          <a:latin typeface="Times New Roman" panose="02020603050405020304" pitchFamily="18" charset="0"/>
                        </a:rPr>
                        <a:t>(g)</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260.6</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r h="327610">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dirty="0" smtClean="0">
                          <a:ln>
                            <a:noFill/>
                          </a:ln>
                          <a:solidFill>
                            <a:schemeClr val="tx1"/>
                          </a:solidFill>
                          <a:effectLst/>
                          <a:latin typeface="Times New Roman" panose="02020603050405020304" pitchFamily="18" charset="0"/>
                        </a:rPr>
                        <a:t>C(s, diamond)</a:t>
                      </a:r>
                      <a:endParaRPr kumimoji="0" lang="en-US" altLang="es-MX" sz="1900" b="0" i="0" u="none" strike="noStrike" cap="none" normalizeH="0" baseline="0" dirty="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2.439</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I</a:t>
                      </a:r>
                      <a:r>
                        <a:rPr kumimoji="0" lang="en-US" altLang="es-MX" sz="1500" b="0" i="0" u="none" strike="noStrike" cap="none" normalizeH="0" baseline="-30000" smtClean="0">
                          <a:ln>
                            <a:noFill/>
                          </a:ln>
                          <a:solidFill>
                            <a:schemeClr val="tx1"/>
                          </a:solidFill>
                          <a:effectLst/>
                          <a:latin typeface="Times New Roman" panose="02020603050405020304" pitchFamily="18" charset="0"/>
                        </a:rPr>
                        <a:t>2</a:t>
                      </a:r>
                      <a:r>
                        <a:rPr kumimoji="0" lang="en-US" altLang="es-MX" sz="1500" b="0" i="0" u="none" strike="noStrike" cap="none" normalizeH="0" baseline="0" smtClean="0">
                          <a:ln>
                            <a:noFill/>
                          </a:ln>
                          <a:solidFill>
                            <a:schemeClr val="tx1"/>
                          </a:solidFill>
                          <a:effectLst/>
                          <a:latin typeface="Times New Roman" panose="02020603050405020304" pitchFamily="18" charset="0"/>
                        </a:rPr>
                        <a:t>(s)</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117</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r h="327610">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C(s, graphite)</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5.694</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N</a:t>
                      </a:r>
                      <a:r>
                        <a:rPr kumimoji="0" lang="en-US" altLang="es-MX" sz="1500" b="0" i="0" u="none" strike="noStrike" cap="none" normalizeH="0" baseline="-30000" smtClean="0">
                          <a:ln>
                            <a:noFill/>
                          </a:ln>
                          <a:solidFill>
                            <a:schemeClr val="tx1"/>
                          </a:solidFill>
                          <a:effectLst/>
                          <a:latin typeface="Times New Roman" panose="02020603050405020304" pitchFamily="18" charset="0"/>
                        </a:rPr>
                        <a:t>2</a:t>
                      </a:r>
                      <a:r>
                        <a:rPr kumimoji="0" lang="en-US" altLang="es-MX" sz="1500" b="0" i="0" u="none" strike="noStrike" cap="none" normalizeH="0" baseline="0" smtClean="0">
                          <a:ln>
                            <a:noFill/>
                          </a:ln>
                          <a:solidFill>
                            <a:schemeClr val="tx1"/>
                          </a:solidFill>
                          <a:effectLst/>
                          <a:latin typeface="Times New Roman" panose="02020603050405020304" pitchFamily="18" charset="0"/>
                        </a:rPr>
                        <a:t>(g)</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191.5</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r h="327610">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CH</a:t>
                      </a:r>
                      <a:r>
                        <a:rPr kumimoji="0" lang="en-US" altLang="es-MX" sz="1500" b="0" i="0" u="none" strike="noStrike" cap="none" normalizeH="0" baseline="-30000" smtClean="0">
                          <a:ln>
                            <a:noFill/>
                          </a:ln>
                          <a:solidFill>
                            <a:schemeClr val="tx1"/>
                          </a:solidFill>
                          <a:effectLst/>
                          <a:latin typeface="Times New Roman" panose="02020603050405020304" pitchFamily="18" charset="0"/>
                        </a:rPr>
                        <a:t>4</a:t>
                      </a:r>
                      <a:r>
                        <a:rPr kumimoji="0" lang="en-US" altLang="es-MX" sz="1500" b="0" i="0" u="none" strike="noStrike" cap="none" normalizeH="0" baseline="0" smtClean="0">
                          <a:ln>
                            <a:noFill/>
                          </a:ln>
                          <a:solidFill>
                            <a:schemeClr val="tx1"/>
                          </a:solidFill>
                          <a:effectLst/>
                          <a:latin typeface="Times New Roman" panose="02020603050405020304" pitchFamily="18" charset="0"/>
                        </a:rPr>
                        <a:t>(g)</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186.2</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NH</a:t>
                      </a:r>
                      <a:r>
                        <a:rPr kumimoji="0" lang="en-US" altLang="es-MX" sz="1500" b="0" i="0" u="none" strike="noStrike" cap="none" normalizeH="0" baseline="-30000" smtClean="0">
                          <a:ln>
                            <a:noFill/>
                          </a:ln>
                          <a:solidFill>
                            <a:schemeClr val="tx1"/>
                          </a:solidFill>
                          <a:effectLst/>
                          <a:latin typeface="Times New Roman" panose="02020603050405020304" pitchFamily="18" charset="0"/>
                        </a:rPr>
                        <a:t>3</a:t>
                      </a:r>
                      <a:r>
                        <a:rPr kumimoji="0" lang="en-US" altLang="es-MX" sz="1500" b="0" i="0" u="none" strike="noStrike" cap="none" normalizeH="0" baseline="0" smtClean="0">
                          <a:ln>
                            <a:noFill/>
                          </a:ln>
                          <a:solidFill>
                            <a:schemeClr val="tx1"/>
                          </a:solidFill>
                          <a:effectLst/>
                          <a:latin typeface="Times New Roman" panose="02020603050405020304" pitchFamily="18" charset="0"/>
                        </a:rPr>
                        <a:t>(g)</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192.5</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r h="327610">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CO(g)</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197.9</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NO(g)</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210.6</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r h="327610">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CO</a:t>
                      </a:r>
                      <a:r>
                        <a:rPr kumimoji="0" lang="en-US" altLang="es-MX" sz="1500" b="0" i="0" u="none" strike="noStrike" cap="none" normalizeH="0" baseline="-30000" smtClean="0">
                          <a:ln>
                            <a:noFill/>
                          </a:ln>
                          <a:solidFill>
                            <a:schemeClr val="tx1"/>
                          </a:solidFill>
                          <a:effectLst/>
                          <a:latin typeface="Times New Roman" panose="02020603050405020304" pitchFamily="18" charset="0"/>
                        </a:rPr>
                        <a:t>2</a:t>
                      </a:r>
                      <a:r>
                        <a:rPr kumimoji="0" lang="en-US" altLang="es-MX" sz="1500" b="0" i="0" u="none" strike="noStrike" cap="none" normalizeH="0" baseline="0" smtClean="0">
                          <a:ln>
                            <a:noFill/>
                          </a:ln>
                          <a:solidFill>
                            <a:schemeClr val="tx1"/>
                          </a:solidFill>
                          <a:effectLst/>
                          <a:latin typeface="Times New Roman" panose="02020603050405020304" pitchFamily="18" charset="0"/>
                        </a:rPr>
                        <a:t>(g)</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213.6</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NO</a:t>
                      </a:r>
                      <a:r>
                        <a:rPr kumimoji="0" lang="en-US" altLang="es-MX" sz="1500" b="0" i="0" u="none" strike="noStrike" cap="none" normalizeH="0" baseline="-30000" smtClean="0">
                          <a:ln>
                            <a:noFill/>
                          </a:ln>
                          <a:solidFill>
                            <a:schemeClr val="tx1"/>
                          </a:solidFill>
                          <a:effectLst/>
                          <a:latin typeface="Times New Roman" panose="02020603050405020304" pitchFamily="18" charset="0"/>
                        </a:rPr>
                        <a:t>2</a:t>
                      </a:r>
                      <a:r>
                        <a:rPr kumimoji="0" lang="en-US" altLang="es-MX" sz="1500" b="0" i="0" u="none" strike="noStrike" cap="none" normalizeH="0" baseline="0" smtClean="0">
                          <a:ln>
                            <a:noFill/>
                          </a:ln>
                          <a:solidFill>
                            <a:schemeClr val="tx1"/>
                          </a:solidFill>
                          <a:effectLst/>
                          <a:latin typeface="Times New Roman" panose="02020603050405020304" pitchFamily="18" charset="0"/>
                        </a:rPr>
                        <a:t>(g)</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240.5</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r h="327610">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CaCO</a:t>
                      </a:r>
                      <a:r>
                        <a:rPr kumimoji="0" lang="en-US" altLang="es-MX" sz="1500" b="0" i="0" u="none" strike="noStrike" cap="none" normalizeH="0" baseline="-30000" smtClean="0">
                          <a:ln>
                            <a:noFill/>
                          </a:ln>
                          <a:solidFill>
                            <a:schemeClr val="tx1"/>
                          </a:solidFill>
                          <a:effectLst/>
                          <a:latin typeface="Times New Roman" panose="02020603050405020304" pitchFamily="18" charset="0"/>
                        </a:rPr>
                        <a:t>3</a:t>
                      </a:r>
                      <a:r>
                        <a:rPr kumimoji="0" lang="en-US" altLang="es-MX" sz="1500" b="0" i="0" u="none" strike="noStrike" cap="none" normalizeH="0" baseline="0" smtClean="0">
                          <a:ln>
                            <a:noFill/>
                          </a:ln>
                          <a:solidFill>
                            <a:schemeClr val="tx1"/>
                          </a:solidFill>
                          <a:effectLst/>
                          <a:latin typeface="Times New Roman" panose="02020603050405020304" pitchFamily="18" charset="0"/>
                        </a:rPr>
                        <a:t>(s)</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88.7</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Na</a:t>
                      </a:r>
                      <a:r>
                        <a:rPr kumimoji="0" lang="en-US" altLang="es-MX" sz="1500" b="0" i="0" u="none" strike="noStrike" cap="none" normalizeH="0" baseline="-30000" smtClean="0">
                          <a:ln>
                            <a:noFill/>
                          </a:ln>
                          <a:solidFill>
                            <a:schemeClr val="tx1"/>
                          </a:solidFill>
                          <a:effectLst/>
                          <a:latin typeface="Times New Roman" panose="02020603050405020304" pitchFamily="18" charset="0"/>
                        </a:rPr>
                        <a:t>2</a:t>
                      </a:r>
                      <a:r>
                        <a:rPr kumimoji="0" lang="en-US" altLang="es-MX" sz="1500" b="0" i="0" u="none" strike="noStrike" cap="none" normalizeH="0" baseline="0" smtClean="0">
                          <a:ln>
                            <a:noFill/>
                          </a:ln>
                          <a:solidFill>
                            <a:schemeClr val="tx1"/>
                          </a:solidFill>
                          <a:effectLst/>
                          <a:latin typeface="Times New Roman" panose="02020603050405020304" pitchFamily="18" charset="0"/>
                        </a:rPr>
                        <a:t>CO</a:t>
                      </a:r>
                      <a:r>
                        <a:rPr kumimoji="0" lang="en-US" altLang="es-MX" sz="1500" b="0" i="0" u="none" strike="noStrike" cap="none" normalizeH="0" baseline="-30000" smtClean="0">
                          <a:ln>
                            <a:noFill/>
                          </a:ln>
                          <a:solidFill>
                            <a:schemeClr val="tx1"/>
                          </a:solidFill>
                          <a:effectLst/>
                          <a:latin typeface="Times New Roman" panose="02020603050405020304" pitchFamily="18" charset="0"/>
                        </a:rPr>
                        <a:t>3</a:t>
                      </a:r>
                      <a:r>
                        <a:rPr kumimoji="0" lang="en-US" altLang="es-MX" sz="1500" b="0" i="0" u="none" strike="noStrike" cap="none" normalizeH="0" baseline="0" smtClean="0">
                          <a:ln>
                            <a:noFill/>
                          </a:ln>
                          <a:solidFill>
                            <a:schemeClr val="tx1"/>
                          </a:solidFill>
                          <a:effectLst/>
                          <a:latin typeface="Times New Roman" panose="02020603050405020304" pitchFamily="18" charset="0"/>
                        </a:rPr>
                        <a:t>(s)</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136</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r h="327610">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CaO(s)</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dirty="0" smtClean="0">
                          <a:ln>
                            <a:noFill/>
                          </a:ln>
                          <a:solidFill>
                            <a:schemeClr val="tx1"/>
                          </a:solidFill>
                          <a:effectLst/>
                          <a:latin typeface="Times New Roman" panose="02020603050405020304" pitchFamily="18" charset="0"/>
                        </a:rPr>
                        <a:t>39.75</a:t>
                      </a:r>
                      <a:endParaRPr kumimoji="0" lang="en-US" altLang="es-MX" sz="1900" b="0" i="0" u="none" strike="noStrike" cap="none" normalizeH="0" baseline="0" dirty="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NaCl(s)</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72.4</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r h="327610">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Cl</a:t>
                      </a:r>
                      <a:r>
                        <a:rPr kumimoji="0" lang="en-US" altLang="es-MX" sz="1500" b="0" i="0" u="none" strike="noStrike" cap="none" normalizeH="0" baseline="-30000" smtClean="0">
                          <a:ln>
                            <a:noFill/>
                          </a:ln>
                          <a:solidFill>
                            <a:schemeClr val="tx1"/>
                          </a:solidFill>
                          <a:effectLst/>
                          <a:latin typeface="Times New Roman" panose="02020603050405020304" pitchFamily="18" charset="0"/>
                        </a:rPr>
                        <a:t>2</a:t>
                      </a:r>
                      <a:r>
                        <a:rPr kumimoji="0" lang="en-US" altLang="es-MX" sz="1500" b="0" i="0" u="none" strike="noStrike" cap="none" normalizeH="0" baseline="0" smtClean="0">
                          <a:ln>
                            <a:noFill/>
                          </a:ln>
                          <a:solidFill>
                            <a:schemeClr val="tx1"/>
                          </a:solidFill>
                          <a:effectLst/>
                          <a:latin typeface="Times New Roman" panose="02020603050405020304" pitchFamily="18" charset="0"/>
                        </a:rPr>
                        <a:t>(g)</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dirty="0" smtClean="0">
                          <a:ln>
                            <a:noFill/>
                          </a:ln>
                          <a:solidFill>
                            <a:schemeClr val="tx1"/>
                          </a:solidFill>
                          <a:effectLst/>
                          <a:latin typeface="Times New Roman" panose="02020603050405020304" pitchFamily="18" charset="0"/>
                        </a:rPr>
                        <a:t>223.0</a:t>
                      </a:r>
                      <a:endParaRPr kumimoji="0" lang="en-US" altLang="es-MX" sz="1900" b="0" i="0" u="none" strike="noStrike" cap="none" normalizeH="0" baseline="0" dirty="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O</a:t>
                      </a:r>
                      <a:r>
                        <a:rPr kumimoji="0" lang="en-US" altLang="es-MX" sz="1500" b="0" i="0" u="none" strike="noStrike" cap="none" normalizeH="0" baseline="-30000" smtClean="0">
                          <a:ln>
                            <a:noFill/>
                          </a:ln>
                          <a:solidFill>
                            <a:schemeClr val="tx1"/>
                          </a:solidFill>
                          <a:effectLst/>
                          <a:latin typeface="Times New Roman" panose="02020603050405020304" pitchFamily="18" charset="0"/>
                        </a:rPr>
                        <a:t>2</a:t>
                      </a:r>
                      <a:r>
                        <a:rPr kumimoji="0" lang="en-US" altLang="es-MX" sz="1500" b="0" i="0" u="none" strike="noStrike" cap="none" normalizeH="0" baseline="0" smtClean="0">
                          <a:ln>
                            <a:noFill/>
                          </a:ln>
                          <a:solidFill>
                            <a:schemeClr val="tx1"/>
                          </a:solidFill>
                          <a:effectLst/>
                          <a:latin typeface="Times New Roman" panose="02020603050405020304" pitchFamily="18" charset="0"/>
                        </a:rPr>
                        <a:t>(g)</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205.0</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r h="327610">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F</a:t>
                      </a:r>
                      <a:r>
                        <a:rPr kumimoji="0" lang="en-US" altLang="es-MX" sz="1500" b="0" i="0" u="none" strike="noStrike" cap="none" normalizeH="0" baseline="-30000" smtClean="0">
                          <a:ln>
                            <a:noFill/>
                          </a:ln>
                          <a:solidFill>
                            <a:schemeClr val="tx1"/>
                          </a:solidFill>
                          <a:effectLst/>
                          <a:latin typeface="Times New Roman" panose="02020603050405020304" pitchFamily="18" charset="0"/>
                        </a:rPr>
                        <a:t>2</a:t>
                      </a:r>
                      <a:r>
                        <a:rPr kumimoji="0" lang="en-US" altLang="es-MX" sz="1500" b="0" i="0" u="none" strike="noStrike" cap="none" normalizeH="0" baseline="0" smtClean="0">
                          <a:ln>
                            <a:noFill/>
                          </a:ln>
                          <a:solidFill>
                            <a:schemeClr val="tx1"/>
                          </a:solidFill>
                          <a:effectLst/>
                          <a:latin typeface="Times New Roman" panose="02020603050405020304" pitchFamily="18" charset="0"/>
                        </a:rPr>
                        <a:t>(g)</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dirty="0" smtClean="0">
                          <a:ln>
                            <a:noFill/>
                          </a:ln>
                          <a:solidFill>
                            <a:schemeClr val="tx1"/>
                          </a:solidFill>
                          <a:effectLst/>
                          <a:latin typeface="Times New Roman" panose="02020603050405020304" pitchFamily="18" charset="0"/>
                        </a:rPr>
                        <a:t>203</a:t>
                      </a:r>
                      <a:endParaRPr kumimoji="0" lang="en-US" altLang="es-MX" sz="1900" b="0" i="0" u="none" strike="noStrike" cap="none" normalizeH="0" baseline="0" dirty="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O</a:t>
                      </a:r>
                      <a:r>
                        <a:rPr kumimoji="0" lang="en-US" altLang="es-MX" sz="1500" b="0" i="0" u="none" strike="noStrike" cap="none" normalizeH="0" baseline="-30000" smtClean="0">
                          <a:ln>
                            <a:noFill/>
                          </a:ln>
                          <a:solidFill>
                            <a:schemeClr val="tx1"/>
                          </a:solidFill>
                          <a:effectLst/>
                          <a:latin typeface="Times New Roman" panose="02020603050405020304" pitchFamily="18" charset="0"/>
                        </a:rPr>
                        <a:t>3</a:t>
                      </a:r>
                      <a:r>
                        <a:rPr kumimoji="0" lang="en-US" altLang="es-MX" sz="1500" b="0" i="0" u="none" strike="noStrike" cap="none" normalizeH="0" baseline="0" smtClean="0">
                          <a:ln>
                            <a:noFill/>
                          </a:ln>
                          <a:solidFill>
                            <a:schemeClr val="tx1"/>
                          </a:solidFill>
                          <a:effectLst/>
                          <a:latin typeface="Times New Roman" panose="02020603050405020304" pitchFamily="18" charset="0"/>
                        </a:rPr>
                        <a:t>(g)</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238</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r h="327610">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Fe(s)</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27.2</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P(s, white)</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44.4</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r h="327610">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Fe</a:t>
                      </a:r>
                      <a:r>
                        <a:rPr kumimoji="0" lang="en-US" altLang="es-MX" sz="1500" b="0" i="0" u="none" strike="noStrike" cap="none" normalizeH="0" baseline="-30000" smtClean="0">
                          <a:ln>
                            <a:noFill/>
                          </a:ln>
                          <a:solidFill>
                            <a:schemeClr val="tx1"/>
                          </a:solidFill>
                          <a:effectLst/>
                          <a:latin typeface="Times New Roman" panose="02020603050405020304" pitchFamily="18" charset="0"/>
                        </a:rPr>
                        <a:t>2</a:t>
                      </a:r>
                      <a:r>
                        <a:rPr kumimoji="0" lang="en-US" altLang="es-MX" sz="1500" b="0" i="0" u="none" strike="noStrike" cap="none" normalizeH="0" baseline="0" smtClean="0">
                          <a:ln>
                            <a:noFill/>
                          </a:ln>
                          <a:solidFill>
                            <a:schemeClr val="tx1"/>
                          </a:solidFill>
                          <a:effectLst/>
                          <a:latin typeface="Times New Roman" panose="02020603050405020304" pitchFamily="18" charset="0"/>
                        </a:rPr>
                        <a:t>O</a:t>
                      </a:r>
                      <a:r>
                        <a:rPr kumimoji="0" lang="en-US" altLang="es-MX" sz="1500" b="0" i="0" u="none" strike="noStrike" cap="none" normalizeH="0" baseline="-30000" smtClean="0">
                          <a:ln>
                            <a:noFill/>
                          </a:ln>
                          <a:solidFill>
                            <a:schemeClr val="tx1"/>
                          </a:solidFill>
                          <a:effectLst/>
                          <a:latin typeface="Times New Roman" panose="02020603050405020304" pitchFamily="18" charset="0"/>
                        </a:rPr>
                        <a:t>3</a:t>
                      </a:r>
                      <a:r>
                        <a:rPr kumimoji="0" lang="en-US" altLang="es-MX" sz="1500" b="0" i="0" u="none" strike="noStrike" cap="none" normalizeH="0" baseline="0" smtClean="0">
                          <a:ln>
                            <a:noFill/>
                          </a:ln>
                          <a:solidFill>
                            <a:schemeClr val="tx1"/>
                          </a:solidFill>
                          <a:effectLst/>
                          <a:latin typeface="Times New Roman" panose="02020603050405020304" pitchFamily="18" charset="0"/>
                        </a:rPr>
                        <a:t>(s)</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90.0</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P(s, red)</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29</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r h="327610">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H</a:t>
                      </a:r>
                      <a:r>
                        <a:rPr kumimoji="0" lang="en-US" altLang="es-MX" sz="1500" b="0" i="0" u="none" strike="noStrike" cap="none" normalizeH="0" baseline="-30000" smtClean="0">
                          <a:ln>
                            <a:noFill/>
                          </a:ln>
                          <a:solidFill>
                            <a:schemeClr val="tx1"/>
                          </a:solidFill>
                          <a:effectLst/>
                          <a:latin typeface="Times New Roman" panose="02020603050405020304" pitchFamily="18" charset="0"/>
                        </a:rPr>
                        <a:t>2</a:t>
                      </a:r>
                      <a:r>
                        <a:rPr kumimoji="0" lang="en-US" altLang="es-MX" sz="1500" b="0" i="0" u="none" strike="noStrike" cap="none" normalizeH="0" baseline="0" smtClean="0">
                          <a:ln>
                            <a:noFill/>
                          </a:ln>
                          <a:solidFill>
                            <a:schemeClr val="tx1"/>
                          </a:solidFill>
                          <a:effectLst/>
                          <a:latin typeface="Times New Roman" panose="02020603050405020304" pitchFamily="18" charset="0"/>
                        </a:rPr>
                        <a:t>(g)</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130.6</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S(s, rhombic)</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31.9</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r h="327610">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H</a:t>
                      </a:r>
                      <a:r>
                        <a:rPr kumimoji="0" lang="en-US" altLang="es-MX" sz="1500" b="0" i="0" u="none" strike="noStrike" cap="none" normalizeH="0" baseline="-30000" smtClean="0">
                          <a:ln>
                            <a:noFill/>
                          </a:ln>
                          <a:solidFill>
                            <a:schemeClr val="tx1"/>
                          </a:solidFill>
                          <a:effectLst/>
                          <a:latin typeface="Times New Roman" panose="02020603050405020304" pitchFamily="18" charset="0"/>
                        </a:rPr>
                        <a:t>2</a:t>
                      </a:r>
                      <a:r>
                        <a:rPr kumimoji="0" lang="en-US" altLang="es-MX" sz="1500" b="0" i="0" u="none" strike="noStrike" cap="none" normalizeH="0" baseline="0" smtClean="0">
                          <a:ln>
                            <a:noFill/>
                          </a:ln>
                          <a:solidFill>
                            <a:schemeClr val="tx1"/>
                          </a:solidFill>
                          <a:effectLst/>
                          <a:latin typeface="Times New Roman" panose="02020603050405020304" pitchFamily="18" charset="0"/>
                        </a:rPr>
                        <a:t>O(g)</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188.7</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S(s, monoclinic)</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32.6</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r h="327610">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H</a:t>
                      </a:r>
                      <a:r>
                        <a:rPr kumimoji="0" lang="en-US" altLang="es-MX" sz="1500" b="0" i="0" u="none" strike="noStrike" cap="none" normalizeH="0" baseline="-30000" smtClean="0">
                          <a:ln>
                            <a:noFill/>
                          </a:ln>
                          <a:solidFill>
                            <a:schemeClr val="tx1"/>
                          </a:solidFill>
                          <a:effectLst/>
                          <a:latin typeface="Times New Roman" panose="02020603050405020304" pitchFamily="18" charset="0"/>
                        </a:rPr>
                        <a:t>2</a:t>
                      </a:r>
                      <a:r>
                        <a:rPr kumimoji="0" lang="en-US" altLang="es-MX" sz="1500" b="0" i="0" u="none" strike="noStrike" cap="none" normalizeH="0" baseline="0" smtClean="0">
                          <a:ln>
                            <a:noFill/>
                          </a:ln>
                          <a:solidFill>
                            <a:schemeClr val="tx1"/>
                          </a:solidFill>
                          <a:effectLst/>
                          <a:latin typeface="Times New Roman" panose="02020603050405020304" pitchFamily="18" charset="0"/>
                        </a:rPr>
                        <a:t>O(l)</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69.94</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SO</a:t>
                      </a:r>
                      <a:r>
                        <a:rPr kumimoji="0" lang="en-US" altLang="es-MX" sz="1500" b="0" i="0" u="none" strike="noStrike" cap="none" normalizeH="0" baseline="-30000" smtClean="0">
                          <a:ln>
                            <a:noFill/>
                          </a:ln>
                          <a:solidFill>
                            <a:schemeClr val="tx1"/>
                          </a:solidFill>
                          <a:effectLst/>
                          <a:latin typeface="Times New Roman" panose="02020603050405020304" pitchFamily="18" charset="0"/>
                        </a:rPr>
                        <a:t>2</a:t>
                      </a:r>
                      <a:r>
                        <a:rPr kumimoji="0" lang="en-US" altLang="es-MX" sz="1500" b="0" i="0" u="none" strike="noStrike" cap="none" normalizeH="0" baseline="0" smtClean="0">
                          <a:ln>
                            <a:noFill/>
                          </a:ln>
                          <a:solidFill>
                            <a:schemeClr val="tx1"/>
                          </a:solidFill>
                          <a:effectLst/>
                          <a:latin typeface="Times New Roman" panose="02020603050405020304" pitchFamily="18" charset="0"/>
                        </a:rPr>
                        <a:t>(g)</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248.5</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10000"/>
                      </a:solidFill>
                      <a:prstDash val="solid"/>
                      <a:round/>
                      <a:headEnd type="none" w="med" len="med"/>
                      <a:tailEnd type="none" w="med" len="med"/>
                    </a:lnB>
                    <a:lnTlToBr>
                      <a:noFill/>
                    </a:lnTlToBr>
                    <a:lnBlToTr>
                      <a:noFill/>
                    </a:lnBlToTr>
                    <a:noFill/>
                  </a:tcPr>
                </a:tc>
              </a:tr>
              <a:tr h="327610">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H</a:t>
                      </a:r>
                      <a:r>
                        <a:rPr kumimoji="0" lang="en-US" altLang="es-MX" sz="1500" b="0" i="0" u="none" strike="noStrike" cap="none" normalizeH="0" baseline="-30000" smtClean="0">
                          <a:ln>
                            <a:noFill/>
                          </a:ln>
                          <a:solidFill>
                            <a:schemeClr val="tx1"/>
                          </a:solidFill>
                          <a:effectLst/>
                          <a:latin typeface="Times New Roman" panose="02020603050405020304" pitchFamily="18" charset="0"/>
                        </a:rPr>
                        <a:t>2</a:t>
                      </a:r>
                      <a:r>
                        <a:rPr kumimoji="0" lang="en-US" altLang="es-MX" sz="1500" b="0" i="0" u="none" strike="noStrike" cap="none" normalizeH="0" baseline="0" smtClean="0">
                          <a:ln>
                            <a:noFill/>
                          </a:ln>
                          <a:solidFill>
                            <a:schemeClr val="tx1"/>
                          </a:solidFill>
                          <a:effectLst/>
                          <a:latin typeface="Times New Roman" panose="02020603050405020304" pitchFamily="18" charset="0"/>
                        </a:rPr>
                        <a:t>O</a:t>
                      </a:r>
                      <a:r>
                        <a:rPr kumimoji="0" lang="en-US" altLang="es-MX" sz="1500" b="0" i="0" u="none" strike="noStrike" cap="none" normalizeH="0" baseline="-30000" smtClean="0">
                          <a:ln>
                            <a:noFill/>
                          </a:ln>
                          <a:solidFill>
                            <a:schemeClr val="tx1"/>
                          </a:solidFill>
                          <a:effectLst/>
                          <a:latin typeface="Times New Roman" panose="02020603050405020304" pitchFamily="18" charset="0"/>
                        </a:rPr>
                        <a:t>2</a:t>
                      </a:r>
                      <a:r>
                        <a:rPr kumimoji="0" lang="en-US" altLang="es-MX" sz="1500" b="0" i="0" u="none" strike="noStrike" cap="none" normalizeH="0" baseline="0" smtClean="0">
                          <a:ln>
                            <a:noFill/>
                          </a:ln>
                          <a:solidFill>
                            <a:schemeClr val="tx1"/>
                          </a:solidFill>
                          <a:effectLst/>
                          <a:latin typeface="Times New Roman" panose="02020603050405020304" pitchFamily="18" charset="0"/>
                        </a:rPr>
                        <a:t>(l)</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92</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smtClean="0">
                          <a:ln>
                            <a:noFill/>
                          </a:ln>
                          <a:solidFill>
                            <a:schemeClr val="tx1"/>
                          </a:solidFill>
                          <a:effectLst/>
                          <a:latin typeface="Times New Roman" panose="02020603050405020304" pitchFamily="18" charset="0"/>
                        </a:rPr>
                        <a:t>SO</a:t>
                      </a:r>
                      <a:r>
                        <a:rPr kumimoji="0" lang="en-US" altLang="es-MX" sz="1500" b="0" i="0" u="none" strike="noStrike" cap="none" normalizeH="0" baseline="-30000" smtClean="0">
                          <a:ln>
                            <a:noFill/>
                          </a:ln>
                          <a:solidFill>
                            <a:schemeClr val="tx1"/>
                          </a:solidFill>
                          <a:effectLst/>
                          <a:latin typeface="Times New Roman" panose="02020603050405020304" pitchFamily="18" charset="0"/>
                        </a:rPr>
                        <a:t>3</a:t>
                      </a:r>
                      <a:r>
                        <a:rPr kumimoji="0" lang="en-US" altLang="es-MX" sz="1500" b="0" i="0" u="none" strike="noStrike" cap="none" normalizeH="0" baseline="0" smtClean="0">
                          <a:ln>
                            <a:noFill/>
                          </a:ln>
                          <a:solidFill>
                            <a:schemeClr val="tx1"/>
                          </a:solidFill>
                          <a:effectLst/>
                          <a:latin typeface="Times New Roman" panose="02020603050405020304" pitchFamily="18" charset="0"/>
                        </a:rPr>
                        <a:t>(g)</a:t>
                      </a:r>
                      <a:endParaRPr kumimoji="0" lang="en-US" altLang="es-MX" sz="1900" b="0" i="0" u="none" strike="noStrike" cap="none" normalizeH="0" baseline="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1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bg2"/>
                        </a:buClr>
                        <a:buSzPct val="70000"/>
                        <a:buFont typeface="Wingdings" panose="05000000000000000000" pitchFamily="2" charset="2"/>
                        <a:defRPr sz="2700">
                          <a:solidFill>
                            <a:schemeClr val="tx1"/>
                          </a:solidFill>
                          <a:latin typeface="Arial" panose="020B0604020202020204" pitchFamily="34" charset="0"/>
                        </a:defRPr>
                      </a:lvl1pPr>
                      <a:lvl2pPr marL="742950" indent="-285750">
                        <a:spcBef>
                          <a:spcPct val="20000"/>
                        </a:spcBef>
                        <a:buClr>
                          <a:schemeClr val="accent1"/>
                        </a:buClr>
                        <a:buSzPct val="150000"/>
                        <a:defRPr sz="2200">
                          <a:solidFill>
                            <a:schemeClr val="tx1"/>
                          </a:solidFill>
                          <a:latin typeface="Arial" panose="020B0604020202020204" pitchFamily="34" charset="0"/>
                        </a:defRPr>
                      </a:lvl2pPr>
                      <a:lvl3pPr marL="1143000" indent="-228600">
                        <a:spcBef>
                          <a:spcPct val="20000"/>
                        </a:spcBef>
                        <a:buClr>
                          <a:schemeClr val="tx1"/>
                        </a:buClr>
                        <a:buSzPct val="150000"/>
                        <a:defRPr sz="2000">
                          <a:solidFill>
                            <a:schemeClr val="tx1"/>
                          </a:solidFill>
                          <a:latin typeface="Arial" panose="020B0604020202020204" pitchFamily="34" charset="0"/>
                        </a:defRPr>
                      </a:lvl3pPr>
                      <a:lvl4pPr marL="1600200" indent="-228600">
                        <a:spcBef>
                          <a:spcPct val="20000"/>
                        </a:spcBef>
                        <a:buClr>
                          <a:schemeClr val="tx2"/>
                        </a:buClr>
                        <a:buSzPct val="150000"/>
                        <a:defRPr>
                          <a:solidFill>
                            <a:schemeClr val="tx1"/>
                          </a:solidFill>
                          <a:latin typeface="Arial" panose="020B0604020202020204" pitchFamily="34" charset="0"/>
                        </a:defRPr>
                      </a:lvl4pPr>
                      <a:lvl5pPr marL="2057400" indent="-228600">
                        <a:spcBef>
                          <a:spcPct val="20000"/>
                        </a:spcBef>
                        <a:buClr>
                          <a:schemeClr val="folHlink"/>
                        </a:buClr>
                        <a:buSzPct val="150000"/>
                        <a:defRPr>
                          <a:solidFill>
                            <a:schemeClr val="tx1"/>
                          </a:solidFill>
                          <a:latin typeface="Arial" panose="020B0604020202020204" pitchFamily="34" charset="0"/>
                        </a:defRPr>
                      </a:lvl5pPr>
                      <a:lvl6pPr marL="2514600" indent="-228600" fontAlgn="base">
                        <a:spcBef>
                          <a:spcPct val="20000"/>
                        </a:spcBef>
                        <a:spcAft>
                          <a:spcPct val="0"/>
                        </a:spcAft>
                        <a:buClr>
                          <a:schemeClr val="folHlink"/>
                        </a:buClr>
                        <a:buSzPct val="150000"/>
                        <a:defRPr>
                          <a:solidFill>
                            <a:schemeClr val="tx1"/>
                          </a:solidFill>
                          <a:latin typeface="Arial" panose="020B0604020202020204" pitchFamily="34" charset="0"/>
                        </a:defRPr>
                      </a:lvl6pPr>
                      <a:lvl7pPr marL="2971800" indent="-228600" fontAlgn="base">
                        <a:spcBef>
                          <a:spcPct val="20000"/>
                        </a:spcBef>
                        <a:spcAft>
                          <a:spcPct val="0"/>
                        </a:spcAft>
                        <a:buClr>
                          <a:schemeClr val="folHlink"/>
                        </a:buClr>
                        <a:buSzPct val="150000"/>
                        <a:defRPr>
                          <a:solidFill>
                            <a:schemeClr val="tx1"/>
                          </a:solidFill>
                          <a:latin typeface="Arial" panose="020B0604020202020204" pitchFamily="34" charset="0"/>
                        </a:defRPr>
                      </a:lvl7pPr>
                      <a:lvl8pPr marL="3429000" indent="-228600" fontAlgn="base">
                        <a:spcBef>
                          <a:spcPct val="20000"/>
                        </a:spcBef>
                        <a:spcAft>
                          <a:spcPct val="0"/>
                        </a:spcAft>
                        <a:buClr>
                          <a:schemeClr val="folHlink"/>
                        </a:buClr>
                        <a:buSzPct val="150000"/>
                        <a:defRPr>
                          <a:solidFill>
                            <a:schemeClr val="tx1"/>
                          </a:solidFill>
                          <a:latin typeface="Arial" panose="020B0604020202020204" pitchFamily="34" charset="0"/>
                        </a:defRPr>
                      </a:lvl8pPr>
                      <a:lvl9pPr marL="3886200" indent="-228600" fontAlgn="base">
                        <a:spcBef>
                          <a:spcPct val="20000"/>
                        </a:spcBef>
                        <a:spcAft>
                          <a:spcPct val="0"/>
                        </a:spcAft>
                        <a:buClr>
                          <a:schemeClr val="folHlink"/>
                        </a:buClr>
                        <a:buSzPct val="150000"/>
                        <a:defRPr>
                          <a:solidFill>
                            <a:schemeClr val="tx1"/>
                          </a:solidFill>
                          <a:latin typeface="Arial" panose="020B0604020202020204" pitchFamily="34"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es-MX" sz="1500" b="0" i="0" u="none" strike="noStrike" cap="none" normalizeH="0" baseline="0" dirty="0" smtClean="0">
                          <a:ln>
                            <a:noFill/>
                          </a:ln>
                          <a:solidFill>
                            <a:schemeClr val="tx1"/>
                          </a:solidFill>
                          <a:effectLst/>
                          <a:latin typeface="Times New Roman" panose="02020603050405020304" pitchFamily="18" charset="0"/>
                        </a:rPr>
                        <a:t>256.2</a:t>
                      </a:r>
                      <a:endParaRPr kumimoji="0" lang="en-US" altLang="es-MX" sz="1900" b="0" i="0" u="none" strike="noStrike" cap="none" normalizeH="0" baseline="0" dirty="0" smtClean="0">
                        <a:ln>
                          <a:noFill/>
                        </a:ln>
                        <a:solidFill>
                          <a:schemeClr val="tx1"/>
                        </a:solidFill>
                        <a:effectLst/>
                        <a:latin typeface="Times New Roman" panose="02020603050405020304" pitchFamily="18" charset="0"/>
                      </a:endParaRPr>
                    </a:p>
                  </a:txBody>
                  <a:tcPr marT="45715" marB="45715" horzOverflow="overflow">
                    <a:lnL w="12700" cap="flat" cmpd="sng" algn="ctr">
                      <a:solidFill>
                        <a:srgbClr val="01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1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250728156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23528" y="-99392"/>
            <a:ext cx="8229600" cy="1066800"/>
          </a:xfrm>
        </p:spPr>
        <p:txBody>
          <a:bodyPr/>
          <a:lstStyle/>
          <a:p>
            <a:endParaRPr lang="es-MX" dirty="0"/>
          </a:p>
        </p:txBody>
      </p:sp>
      <p:sp>
        <p:nvSpPr>
          <p:cNvPr id="3" name="2 Marcador de contenido"/>
          <p:cNvSpPr>
            <a:spLocks noGrp="1"/>
          </p:cNvSpPr>
          <p:nvPr>
            <p:ph idx="1"/>
          </p:nvPr>
        </p:nvSpPr>
        <p:spPr>
          <a:xfrm>
            <a:off x="457200" y="980728"/>
            <a:ext cx="8229600" cy="5593808"/>
          </a:xfrm>
        </p:spPr>
        <p:txBody>
          <a:bodyPr>
            <a:normAutofit fontScale="92500"/>
          </a:bodyPr>
          <a:lstStyle/>
          <a:p>
            <a:r>
              <a:rPr lang="es-MX" dirty="0"/>
              <a:t>Los valores de entropía absoluta a otras presiones </a:t>
            </a:r>
            <a:r>
              <a:rPr lang="es-MX" i="1" dirty="0"/>
              <a:t>P </a:t>
            </a:r>
            <a:r>
              <a:rPr lang="es-MX" dirty="0"/>
              <a:t>para cualquier temperatura </a:t>
            </a:r>
            <a:r>
              <a:rPr lang="es-MX" i="1" dirty="0"/>
              <a:t>T </a:t>
            </a:r>
            <a:r>
              <a:rPr lang="es-MX" dirty="0"/>
              <a:t>se determinan </a:t>
            </a:r>
            <a:r>
              <a:rPr lang="es-MX" dirty="0" smtClean="0"/>
              <a:t>de:</a:t>
            </a:r>
          </a:p>
          <a:p>
            <a:endParaRPr lang="es-MX" dirty="0" smtClean="0"/>
          </a:p>
          <a:p>
            <a:endParaRPr lang="es-MX" dirty="0"/>
          </a:p>
          <a:p>
            <a:endParaRPr lang="es-MX" dirty="0"/>
          </a:p>
          <a:p>
            <a:r>
              <a:rPr lang="es-MX" dirty="0"/>
              <a:t>Para el componente </a:t>
            </a:r>
            <a:r>
              <a:rPr lang="es-MX" i="1" dirty="0"/>
              <a:t>i </a:t>
            </a:r>
            <a:r>
              <a:rPr lang="es-MX" dirty="0"/>
              <a:t>de una mezcla de gases ideales, esta relación puede escribirse </a:t>
            </a:r>
            <a:r>
              <a:rPr lang="es-MX" dirty="0" smtClean="0"/>
              <a:t>como:</a:t>
            </a:r>
          </a:p>
          <a:p>
            <a:endParaRPr lang="es-MX" dirty="0"/>
          </a:p>
          <a:p>
            <a:pPr marL="109728" indent="0">
              <a:buNone/>
            </a:pPr>
            <a:endParaRPr lang="es-MX" dirty="0" smtClean="0"/>
          </a:p>
          <a:p>
            <a:pPr marL="109728" indent="0">
              <a:buNone/>
            </a:pPr>
            <a:endParaRPr lang="es-MX" dirty="0" smtClean="0"/>
          </a:p>
          <a:p>
            <a:r>
              <a:rPr lang="es-MX" dirty="0" smtClean="0"/>
              <a:t>donde </a:t>
            </a:r>
            <a:r>
              <a:rPr lang="es-MX" i="1" dirty="0"/>
              <a:t>Pi </a:t>
            </a:r>
            <a:r>
              <a:rPr lang="es-MX" dirty="0"/>
              <a:t>es la presión parcial, </a:t>
            </a:r>
            <a:r>
              <a:rPr lang="es-MX" i="1" dirty="0" err="1"/>
              <a:t>yi</a:t>
            </a:r>
            <a:r>
              <a:rPr lang="es-MX" i="1" dirty="0"/>
              <a:t> </a:t>
            </a:r>
            <a:r>
              <a:rPr lang="es-MX" dirty="0"/>
              <a:t>es la fracción molar del componente y </a:t>
            </a:r>
            <a:r>
              <a:rPr lang="es-MX" i="1" dirty="0"/>
              <a:t>Pm </a:t>
            </a:r>
            <a:r>
              <a:rPr lang="es-MX" dirty="0"/>
              <a:t>es la presión total de la mezcla en atmósferas.</a:t>
            </a:r>
          </a:p>
          <a:p>
            <a:endParaRPr lang="es-MX" dirty="0"/>
          </a:p>
        </p:txBody>
      </p:sp>
      <p:pic>
        <p:nvPicPr>
          <p:cNvPr id="4" name="3 Imagen"/>
          <p:cNvPicPr/>
          <p:nvPr/>
        </p:nvPicPr>
        <p:blipFill>
          <a:blip r:embed="rId2">
            <a:extLst>
              <a:ext uri="{28A0092B-C50C-407E-A947-70E740481C1C}">
                <a14:useLocalDpi xmlns:a14="http://schemas.microsoft.com/office/drawing/2010/main" val="0"/>
              </a:ext>
            </a:extLst>
          </a:blip>
          <a:srcRect/>
          <a:stretch>
            <a:fillRect/>
          </a:stretch>
        </p:blipFill>
        <p:spPr bwMode="auto">
          <a:xfrm>
            <a:off x="873309" y="2060848"/>
            <a:ext cx="3456384" cy="864096"/>
          </a:xfrm>
          <a:prstGeom prst="rect">
            <a:avLst/>
          </a:prstGeom>
          <a:noFill/>
          <a:ln>
            <a:noFill/>
          </a:ln>
        </p:spPr>
      </p:pic>
      <p:pic>
        <p:nvPicPr>
          <p:cNvPr id="5" name="4 Imagen"/>
          <p:cNvPicPr/>
          <p:nvPr/>
        </p:nvPicPr>
        <p:blipFill>
          <a:blip r:embed="rId3">
            <a:extLst>
              <a:ext uri="{28A0092B-C50C-407E-A947-70E740481C1C}">
                <a14:useLocalDpi xmlns:a14="http://schemas.microsoft.com/office/drawing/2010/main" val="0"/>
              </a:ext>
            </a:extLst>
          </a:blip>
          <a:srcRect/>
          <a:stretch>
            <a:fillRect/>
          </a:stretch>
        </p:blipFill>
        <p:spPr bwMode="auto">
          <a:xfrm>
            <a:off x="876222" y="4007346"/>
            <a:ext cx="3278297" cy="1003548"/>
          </a:xfrm>
          <a:prstGeom prst="rect">
            <a:avLst/>
          </a:prstGeom>
          <a:noFill/>
          <a:ln>
            <a:noFill/>
          </a:ln>
        </p:spPr>
      </p:pic>
    </p:spTree>
    <p:extLst>
      <p:ext uri="{BB962C8B-B14F-4D97-AF65-F5344CB8AC3E}">
        <p14:creationId xmlns:p14="http://schemas.microsoft.com/office/powerpoint/2010/main" val="34505300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95536" y="1700808"/>
            <a:ext cx="8229600" cy="4325112"/>
          </a:xfrm>
        </p:spPr>
        <p:txBody>
          <a:bodyPr>
            <a:normAutofit fontScale="92500" lnSpcReduction="10000"/>
          </a:bodyPr>
          <a:lstStyle/>
          <a:p>
            <a:pPr marL="109728" indent="0">
              <a:buNone/>
            </a:pPr>
            <a:endParaRPr lang="es-MX" dirty="0"/>
          </a:p>
          <a:p>
            <a:r>
              <a:rPr lang="es-MX" dirty="0" smtClean="0"/>
              <a:t>Los </a:t>
            </a:r>
            <a:r>
              <a:rPr lang="es-MX" dirty="0"/>
              <a:t>materiales presentan propiedades extrañas cuando se enfrían a temperaturas muy bajas. Algunos pierden por completo su resistencia eléctrica. La medida de las temperaturas en valores cercanos al cero absoluto presenta problemas especiales. Los termómetros de gas sólo pueden usarse por encima del punto de condensación del helio. </a:t>
            </a:r>
            <a:endParaRPr lang="es-MX" dirty="0" smtClean="0"/>
          </a:p>
          <a:p>
            <a:endParaRPr lang="es-MX" dirty="0"/>
          </a:p>
          <a:p>
            <a:pPr marL="109728" indent="0">
              <a:buNone/>
            </a:pPr>
            <a:r>
              <a:rPr lang="es-MX" dirty="0" smtClean="0"/>
              <a:t>.</a:t>
            </a:r>
            <a:endParaRPr lang="es-MX" dirty="0"/>
          </a:p>
        </p:txBody>
      </p:sp>
    </p:spTree>
    <p:extLst>
      <p:ext uri="{BB962C8B-B14F-4D97-AF65-F5344CB8AC3E}">
        <p14:creationId xmlns:p14="http://schemas.microsoft.com/office/powerpoint/2010/main" val="3981562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r>
              <a:rPr lang="es-MX" dirty="0"/>
              <a:t>A temperaturas más bajas hay que usar medidas eléctricas y magnéticas para determinar la temperatura real</a:t>
            </a:r>
          </a:p>
        </p:txBody>
      </p:sp>
    </p:spTree>
    <p:extLst>
      <p:ext uri="{BB962C8B-B14F-4D97-AF65-F5344CB8AC3E}">
        <p14:creationId xmlns:p14="http://schemas.microsoft.com/office/powerpoint/2010/main" val="2490582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MX" dirty="0" err="1" smtClean="0"/>
              <a:t>Bibliografia</a:t>
            </a:r>
            <a:endParaRPr lang="es-MX" dirty="0"/>
          </a:p>
        </p:txBody>
      </p:sp>
      <p:sp>
        <p:nvSpPr>
          <p:cNvPr id="3" name="Marcador de contenido 2"/>
          <p:cNvSpPr>
            <a:spLocks noGrp="1"/>
          </p:cNvSpPr>
          <p:nvPr>
            <p:ph idx="1"/>
          </p:nvPr>
        </p:nvSpPr>
        <p:spPr/>
        <p:txBody>
          <a:bodyPr/>
          <a:lstStyle/>
          <a:p>
            <a:r>
              <a:rPr lang="es-MX" dirty="0" smtClean="0"/>
              <a:t>Libro fisicoquímica </a:t>
            </a:r>
          </a:p>
          <a:p>
            <a:r>
              <a:rPr lang="es-MX" dirty="0" smtClean="0"/>
              <a:t>De Gilbert w </a:t>
            </a:r>
            <a:r>
              <a:rPr lang="es-MX" dirty="0" err="1" smtClean="0"/>
              <a:t>castellan</a:t>
            </a:r>
            <a:endParaRPr lang="es-MX" dirty="0" smtClean="0"/>
          </a:p>
          <a:p>
            <a:r>
              <a:rPr lang="es-MX" smtClean="0"/>
              <a:t>Capitulo 9</a:t>
            </a:r>
            <a:endParaRPr lang="es-MX" dirty="0"/>
          </a:p>
        </p:txBody>
      </p:sp>
    </p:spTree>
    <p:extLst>
      <p:ext uri="{BB962C8B-B14F-4D97-AF65-F5344CB8AC3E}">
        <p14:creationId xmlns:p14="http://schemas.microsoft.com/office/powerpoint/2010/main" val="20033001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o">
  <a:themeElements>
    <a:clrScheme name="Urbano">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o">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Urbano">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Urban</Template>
  <TotalTime>129</TotalTime>
  <Words>397</Words>
  <Application>Microsoft Office PowerPoint</Application>
  <PresentationFormat>Presentación en pantalla (4:3)</PresentationFormat>
  <Paragraphs>109</Paragraphs>
  <Slides>12</Slides>
  <Notes>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12</vt:i4>
      </vt:variant>
    </vt:vector>
  </HeadingPairs>
  <TitlesOfParts>
    <vt:vector size="19" baseType="lpstr">
      <vt:lpstr>Calibri</vt:lpstr>
      <vt:lpstr>Georgia</vt:lpstr>
      <vt:lpstr>Symbol</vt:lpstr>
      <vt:lpstr>Times New Roman</vt:lpstr>
      <vt:lpstr>Trebuchet MS</vt:lpstr>
      <vt:lpstr>Wingdings 2</vt:lpstr>
      <vt:lpstr>Urbano</vt:lpstr>
      <vt:lpstr>Tercera ley de la termodinámica</vt:lpstr>
      <vt:lpstr>Temperatura</vt:lpstr>
      <vt:lpstr>Presentación de PowerPoint</vt:lpstr>
      <vt:lpstr>Presentación de PowerPoint</vt:lpstr>
      <vt:lpstr>Presentación de PowerPoint</vt:lpstr>
      <vt:lpstr>Presentación de PowerPoint</vt:lpstr>
      <vt:lpstr>Cero absoluto</vt:lpstr>
      <vt:lpstr>Presentación de PowerPoint</vt:lpstr>
      <vt:lpstr>Presentación de PowerPoint</vt:lpstr>
      <vt:lpstr>Presentación de PowerPoint</vt:lpstr>
      <vt:lpstr>Presentación de PowerPoint</vt:lpstr>
      <vt:lpstr>Bibliografia</vt:lpstr>
    </vt:vector>
  </TitlesOfParts>
  <Company>Luffi</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Tercera ley de la termodinámica</dc:title>
  <dc:creator>Luffi</dc:creator>
  <cp:lastModifiedBy>jose ruben grijalva gamez</cp:lastModifiedBy>
  <cp:revision>11</cp:revision>
  <dcterms:created xsi:type="dcterms:W3CDTF">2014-11-07T18:50:13Z</dcterms:created>
  <dcterms:modified xsi:type="dcterms:W3CDTF">2014-11-13T01:34:42Z</dcterms:modified>
</cp:coreProperties>
</file>